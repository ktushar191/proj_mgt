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69" r:id="rId15"/>
    <p:sldId id="370" r:id="rId16"/>
    <p:sldId id="371" r:id="rId17"/>
    <p:sldId id="372"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302"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4" r:id="rId53"/>
    <p:sldId id="305" r:id="rId54"/>
    <p:sldId id="306" r:id="rId55"/>
    <p:sldId id="307" r:id="rId56"/>
    <p:sldId id="308" r:id="rId57"/>
    <p:sldId id="303" r:id="rId58"/>
    <p:sldId id="309" r:id="rId59"/>
    <p:sldId id="323" r:id="rId60"/>
    <p:sldId id="322" r:id="rId61"/>
    <p:sldId id="324" r:id="rId62"/>
    <p:sldId id="325" r:id="rId63"/>
    <p:sldId id="326" r:id="rId64"/>
    <p:sldId id="327" r:id="rId65"/>
    <p:sldId id="328" r:id="rId66"/>
    <p:sldId id="329" r:id="rId67"/>
    <p:sldId id="330" r:id="rId68"/>
    <p:sldId id="331" r:id="rId69"/>
    <p:sldId id="373" r:id="rId70"/>
    <p:sldId id="332" r:id="rId71"/>
    <p:sldId id="333" r:id="rId72"/>
    <p:sldId id="334" r:id="rId73"/>
    <p:sldId id="335" r:id="rId74"/>
    <p:sldId id="336" r:id="rId75"/>
    <p:sldId id="314" r:id="rId76"/>
    <p:sldId id="337" r:id="rId77"/>
    <p:sldId id="338" r:id="rId78"/>
    <p:sldId id="339" r:id="rId79"/>
    <p:sldId id="340" r:id="rId80"/>
    <p:sldId id="341" r:id="rId81"/>
    <p:sldId id="342" r:id="rId82"/>
    <p:sldId id="343" r:id="rId83"/>
    <p:sldId id="344" r:id="rId84"/>
    <p:sldId id="345" r:id="rId85"/>
    <p:sldId id="346" r:id="rId86"/>
    <p:sldId id="374" r:id="rId87"/>
    <p:sldId id="375" r:id="rId88"/>
    <p:sldId id="376" r:id="rId89"/>
    <p:sldId id="377" r:id="rId90"/>
    <p:sldId id="378" r:id="rId91"/>
    <p:sldId id="379" r:id="rId92"/>
    <p:sldId id="380" r:id="rId93"/>
    <p:sldId id="381" r:id="rId94"/>
    <p:sldId id="382" r:id="rId95"/>
    <p:sldId id="383" r:id="rId96"/>
    <p:sldId id="384" r:id="rId97"/>
    <p:sldId id="385" r:id="rId98"/>
    <p:sldId id="386" r:id="rId99"/>
    <p:sldId id="387" r:id="rId100"/>
    <p:sldId id="347" r:id="rId101"/>
    <p:sldId id="348" r:id="rId102"/>
    <p:sldId id="350" r:id="rId103"/>
    <p:sldId id="351" r:id="rId104"/>
    <p:sldId id="352" r:id="rId105"/>
    <p:sldId id="353" r:id="rId106"/>
    <p:sldId id="354" r:id="rId107"/>
    <p:sldId id="355" r:id="rId108"/>
    <p:sldId id="359" r:id="rId109"/>
    <p:sldId id="360" r:id="rId110"/>
    <p:sldId id="361" r:id="rId111"/>
    <p:sldId id="362" r:id="rId112"/>
    <p:sldId id="363" r:id="rId113"/>
    <p:sldId id="364" r:id="rId114"/>
    <p:sldId id="365" r:id="rId115"/>
    <p:sldId id="356" r:id="rId116"/>
    <p:sldId id="357" r:id="rId117"/>
    <p:sldId id="358" r:id="rId118"/>
    <p:sldId id="366" r:id="rId119"/>
    <p:sldId id="367" r:id="rId120"/>
    <p:sldId id="368"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88" d="100"/>
          <a:sy n="88" d="100"/>
        </p:scale>
        <p:origin x="32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C5AD17E-7BCA-4D9B-8979-4EFBADFFF8B6}" type="datetimeFigureOut">
              <a:rPr lang="en-IN" smtClean="0"/>
              <a:t>11-09-2023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2100520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C5AD17E-7BCA-4D9B-8979-4EFBADFFF8B6}" type="datetimeFigureOut">
              <a:rPr lang="en-IN" smtClean="0"/>
              <a:t>11-09-2023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224626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5AD17E-7BCA-4D9B-8979-4EFBADFFF8B6}" type="datetimeFigureOut">
              <a:rPr lang="en-IN" smtClean="0"/>
              <a:t>11-09-2023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2397132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C5AD17E-7BCA-4D9B-8979-4EFBADFFF8B6}" type="datetimeFigureOut">
              <a:rPr lang="en-IN" smtClean="0"/>
              <a:t>11-09-2023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2656596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C5AD17E-7BCA-4D9B-8979-4EFBADFFF8B6}" type="datetimeFigureOut">
              <a:rPr lang="en-IN" smtClean="0"/>
              <a:t>11-09-2023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3923495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C5AD17E-7BCA-4D9B-8979-4EFBADFFF8B6}" type="datetimeFigureOut">
              <a:rPr lang="en-IN" smtClean="0"/>
              <a:t>11-09-2023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1183035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5AD17E-7BCA-4D9B-8979-4EFBADFFF8B6}" type="datetimeFigureOut">
              <a:rPr lang="en-IN" smtClean="0"/>
              <a:t>11-09-2023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1916996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5AD17E-7BCA-4D9B-8979-4EFBADFFF8B6}" type="datetimeFigureOut">
              <a:rPr lang="en-IN" smtClean="0"/>
              <a:t>11-09-2023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716906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5AD17E-7BCA-4D9B-8979-4EFBADFFF8B6}" type="datetimeFigureOut">
              <a:rPr lang="en-IN" smtClean="0"/>
              <a:t>11-09-2023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4250407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C5AD17E-7BCA-4D9B-8979-4EFBADFFF8B6}" type="datetimeFigureOut">
              <a:rPr lang="en-IN" smtClean="0"/>
              <a:t>11-09-2023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3225645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C5AD17E-7BCA-4D9B-8979-4EFBADFFF8B6}" type="datetimeFigureOut">
              <a:rPr lang="en-IN" smtClean="0"/>
              <a:t>11-09-2023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06F3B9-4BF5-4F5B-B7B0-844BBC65AFBB}" type="slidenum">
              <a:rPr lang="en-IN" smtClean="0"/>
              <a:t>‹#›</a:t>
            </a:fld>
            <a:endParaRPr lang="en-IN"/>
          </a:p>
        </p:txBody>
      </p:sp>
    </p:spTree>
    <p:extLst>
      <p:ext uri="{BB962C8B-B14F-4D97-AF65-F5344CB8AC3E}">
        <p14:creationId xmlns:p14="http://schemas.microsoft.com/office/powerpoint/2010/main" val="1530584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5AD17E-7BCA-4D9B-8979-4EFBADFFF8B6}" type="datetimeFigureOut">
              <a:rPr lang="en-IN" smtClean="0"/>
              <a:t>11-09-2023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06F3B9-4BF5-4F5B-B7B0-844BBC65AFBB}" type="slidenum">
              <a:rPr lang="en-IN" smtClean="0"/>
              <a:t>‹#›</a:t>
            </a:fld>
            <a:endParaRPr lang="en-IN"/>
          </a:p>
        </p:txBody>
      </p:sp>
    </p:spTree>
    <p:extLst>
      <p:ext uri="{BB962C8B-B14F-4D97-AF65-F5344CB8AC3E}">
        <p14:creationId xmlns:p14="http://schemas.microsoft.com/office/powerpoint/2010/main" val="4141157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www.javatpoint.com/rr-rotation-in-avl-tree" TargetMode="External"/><Relationship Id="rId2" Type="http://schemas.openxmlformats.org/officeDocument/2006/relationships/hyperlink" Target="https://www.javatpoint.com/ll-rotation-in-avl-tree" TargetMode="External"/><Relationship Id="rId1" Type="http://schemas.openxmlformats.org/officeDocument/2006/relationships/slideLayout" Target="../slideLayouts/slideLayout2.xml"/><Relationship Id="rId5" Type="http://schemas.openxmlformats.org/officeDocument/2006/relationships/hyperlink" Target="https://www.javatpoint.com/rl-rotation-in-avl-tree" TargetMode="External"/><Relationship Id="rId4" Type="http://schemas.openxmlformats.org/officeDocument/2006/relationships/hyperlink" Target="https://www.javatpoint.com/lr-rotation-in-avl-tree"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s://www.javatpoint.com/insertion-sort" TargetMode="External"/><Relationship Id="rId2" Type="http://schemas.openxmlformats.org/officeDocument/2006/relationships/hyperlink" Target="https://www.javatpoint.com/binary-search-tree" TargetMode="Externa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hyperlink" Target="https://www.javatpoint.com/avl-tree" TargetMode="Externa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Tree(Chapter 1)</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8611005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Tree as data structure:</a:t>
            </a:r>
            <a:endParaRPr lang="en-IN" dirty="0"/>
          </a:p>
        </p:txBody>
      </p:sp>
      <p:sp>
        <p:nvSpPr>
          <p:cNvPr id="3" name="Content Placeholder 2"/>
          <p:cNvSpPr>
            <a:spLocks noGrp="1"/>
          </p:cNvSpPr>
          <p:nvPr>
            <p:ph idx="1"/>
          </p:nvPr>
        </p:nvSpPr>
        <p:spPr/>
        <p:txBody>
          <a:bodyPr/>
          <a:lstStyle/>
          <a:p>
            <a:r>
              <a:rPr lang="en-US" b="1" i="1" dirty="0"/>
              <a:t>A tree</a:t>
            </a:r>
            <a:r>
              <a:rPr lang="en-US" dirty="0"/>
              <a:t> is also one of the data structures that represent hierarchical data. </a:t>
            </a:r>
            <a:endParaRPr lang="en-US" dirty="0" smtClean="0"/>
          </a:p>
          <a:p>
            <a:r>
              <a:rPr lang="en-US" dirty="0" smtClean="0"/>
              <a:t>Suppose </a:t>
            </a:r>
            <a:r>
              <a:rPr lang="en-US" dirty="0"/>
              <a:t>we want to show the employees and their positions in the hierarchical </a:t>
            </a:r>
            <a:r>
              <a:rPr lang="en-US" dirty="0" smtClean="0"/>
              <a:t>form.</a:t>
            </a:r>
            <a:endParaRPr lang="en-IN" dirty="0"/>
          </a:p>
        </p:txBody>
      </p:sp>
    </p:spTree>
    <p:extLst>
      <p:ext uri="{BB962C8B-B14F-4D97-AF65-F5344CB8AC3E}">
        <p14:creationId xmlns:p14="http://schemas.microsoft.com/office/powerpoint/2010/main" val="30960900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Key Points of Tree data structure</a:t>
            </a:r>
            <a:endParaRPr lang="en-IN" dirty="0"/>
          </a:p>
        </p:txBody>
      </p:sp>
      <p:sp>
        <p:nvSpPr>
          <p:cNvPr id="3" name="Content Placeholder 2"/>
          <p:cNvSpPr>
            <a:spLocks noGrp="1"/>
          </p:cNvSpPr>
          <p:nvPr>
            <p:ph idx="1"/>
          </p:nvPr>
        </p:nvSpPr>
        <p:spPr/>
        <p:txBody>
          <a:bodyPr>
            <a:normAutofit/>
          </a:bodyPr>
          <a:lstStyle/>
          <a:p>
            <a:r>
              <a:rPr lang="en-US" dirty="0"/>
              <a:t>A tree data structure is defined as a collection of objects or entities known as nodes that are linked together to represent or simulate hierarchy.</a:t>
            </a:r>
          </a:p>
          <a:p>
            <a:r>
              <a:rPr lang="en-US" dirty="0"/>
              <a:t>A tree data structure is a non-linear data structure because it does not store in a sequential manner. It is a hierarchical structure as elements in a Tree are arranged in multiple levels.</a:t>
            </a:r>
          </a:p>
          <a:p>
            <a:pPr marL="0" indent="0">
              <a:buNone/>
            </a:pPr>
            <a:endParaRPr lang="en-IN" dirty="0"/>
          </a:p>
        </p:txBody>
      </p:sp>
    </p:spTree>
    <p:extLst>
      <p:ext uri="{BB962C8B-B14F-4D97-AF65-F5344CB8AC3E}">
        <p14:creationId xmlns:p14="http://schemas.microsoft.com/office/powerpoint/2010/main" val="17488903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In the Tree data structure, the topmost node is known as a root node. Each node contains some data, and data can be of any type. </a:t>
            </a:r>
          </a:p>
          <a:p>
            <a:r>
              <a:rPr lang="en-US" dirty="0" smtClean="0"/>
              <a:t>Each node contains some data and the link or reference of other nodes that can be called children.</a:t>
            </a:r>
          </a:p>
          <a:p>
            <a:pPr marL="0" indent="0">
              <a:buNone/>
            </a:pPr>
            <a:endParaRPr lang="en-IN" dirty="0"/>
          </a:p>
        </p:txBody>
      </p:sp>
    </p:spTree>
    <p:extLst>
      <p:ext uri="{BB962C8B-B14F-4D97-AF65-F5344CB8AC3E}">
        <p14:creationId xmlns:p14="http://schemas.microsoft.com/office/powerpoint/2010/main" val="12714501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8249" y="1858169"/>
            <a:ext cx="6582763"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25922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Root:</a:t>
            </a:r>
            <a:r>
              <a:rPr lang="en-US" dirty="0"/>
              <a:t> The root node is the topmost node in the tree hierarchy. In other words, the root node is the one that doesn't have any parent. In the above structure, node numbered 1 is </a:t>
            </a:r>
            <a:r>
              <a:rPr lang="en-US" b="1" dirty="0"/>
              <a:t>the root node of the tree.</a:t>
            </a:r>
            <a:r>
              <a:rPr lang="en-US" dirty="0"/>
              <a:t> If a node is directly linked to some other node, it would be called a parent-child relationship.</a:t>
            </a:r>
          </a:p>
          <a:p>
            <a:r>
              <a:rPr lang="en-US" b="1" dirty="0"/>
              <a:t>Child node:</a:t>
            </a:r>
            <a:r>
              <a:rPr lang="en-US" dirty="0"/>
              <a:t> If the node is a descendant of any node, then the node is known as a child node.</a:t>
            </a:r>
          </a:p>
          <a:p>
            <a:r>
              <a:rPr lang="en-US" b="1" dirty="0"/>
              <a:t>Parent:</a:t>
            </a:r>
            <a:r>
              <a:rPr lang="en-US" dirty="0"/>
              <a:t> If the node contains any sub-node, then that node is said to be the parent of that sub-node.</a:t>
            </a:r>
          </a:p>
          <a:p>
            <a:pPr marL="0" indent="0">
              <a:buNone/>
            </a:pPr>
            <a:endParaRPr lang="en-IN" dirty="0"/>
          </a:p>
        </p:txBody>
      </p:sp>
    </p:spTree>
    <p:extLst>
      <p:ext uri="{BB962C8B-B14F-4D97-AF65-F5344CB8AC3E}">
        <p14:creationId xmlns:p14="http://schemas.microsoft.com/office/powerpoint/2010/main" val="4310514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Sibling:</a:t>
            </a:r>
            <a:r>
              <a:rPr lang="en-US" dirty="0"/>
              <a:t> The nodes that have the same parent are known as siblings.</a:t>
            </a:r>
          </a:p>
          <a:p>
            <a:r>
              <a:rPr lang="en-US" b="1" dirty="0"/>
              <a:t>Leaf Node:-</a:t>
            </a:r>
            <a:r>
              <a:rPr lang="en-US" dirty="0"/>
              <a:t> The node of the tree, which doesn't have any child node, is called a leaf node. A leaf node is the bottom-most node of the tree. There can be any number of leaf nodes present in a general tree. Leaf nodes can also be called external nodes.</a:t>
            </a:r>
          </a:p>
          <a:p>
            <a:r>
              <a:rPr lang="en-US" b="1" dirty="0"/>
              <a:t>Internal nodes:</a:t>
            </a:r>
            <a:r>
              <a:rPr lang="en-US" dirty="0"/>
              <a:t> A node has </a:t>
            </a:r>
            <a:r>
              <a:rPr lang="en-US" dirty="0" err="1"/>
              <a:t>atleast</a:t>
            </a:r>
            <a:r>
              <a:rPr lang="en-US" dirty="0"/>
              <a:t> one child node known as an </a:t>
            </a:r>
            <a:r>
              <a:rPr lang="en-US" b="1" i="1" dirty="0"/>
              <a:t>internal</a:t>
            </a:r>
            <a:endParaRPr lang="en-US" dirty="0"/>
          </a:p>
          <a:p>
            <a:pPr marL="0" indent="0">
              <a:buNone/>
            </a:pPr>
            <a:endParaRPr lang="en-IN" dirty="0"/>
          </a:p>
        </p:txBody>
      </p:sp>
    </p:spTree>
    <p:extLst>
      <p:ext uri="{BB962C8B-B14F-4D97-AF65-F5344CB8AC3E}">
        <p14:creationId xmlns:p14="http://schemas.microsoft.com/office/powerpoint/2010/main" val="23568737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Ancestor node:-</a:t>
            </a:r>
            <a:r>
              <a:rPr lang="en-US" dirty="0"/>
              <a:t> An ancestor of a node is any predecessor node on a path from the root to that node. The root node doesn't have any ancestors. In the tree shown in the above image, nodes 1, 2, and 5 are the ancestors of node 10.</a:t>
            </a:r>
          </a:p>
          <a:p>
            <a:r>
              <a:rPr lang="en-US" b="1" dirty="0"/>
              <a:t>Descendant:</a:t>
            </a:r>
            <a:r>
              <a:rPr lang="en-US" dirty="0"/>
              <a:t> The immediate successor of the given node is known as a descendant of a node. In the above figure, 10 is the descendant of node 5.</a:t>
            </a:r>
          </a:p>
          <a:p>
            <a:pPr marL="0" indent="0">
              <a:buNone/>
            </a:pPr>
            <a:endParaRPr lang="en-IN" dirty="0"/>
          </a:p>
        </p:txBody>
      </p:sp>
    </p:spTree>
    <p:extLst>
      <p:ext uri="{BB962C8B-B14F-4D97-AF65-F5344CB8AC3E}">
        <p14:creationId xmlns:p14="http://schemas.microsoft.com/office/powerpoint/2010/main" val="36362431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Tree data structure</a:t>
            </a:r>
            <a:br>
              <a:rPr lang="en-US" dirty="0"/>
            </a:br>
            <a:endParaRPr lang="en-IN" dirty="0"/>
          </a:p>
        </p:txBody>
      </p:sp>
      <p:sp>
        <p:nvSpPr>
          <p:cNvPr id="3" name="Content Placeholder 2"/>
          <p:cNvSpPr>
            <a:spLocks noGrp="1"/>
          </p:cNvSpPr>
          <p:nvPr>
            <p:ph idx="1"/>
          </p:nvPr>
        </p:nvSpPr>
        <p:spPr/>
        <p:txBody>
          <a:bodyPr>
            <a:normAutofit/>
          </a:bodyPr>
          <a:lstStyle/>
          <a:p>
            <a:r>
              <a:rPr lang="en-US" b="1" dirty="0"/>
              <a:t>Recursive data structure:</a:t>
            </a:r>
            <a:r>
              <a:rPr lang="en-US" dirty="0"/>
              <a:t> The tree is also known as a </a:t>
            </a:r>
            <a:r>
              <a:rPr lang="en-US" b="1" i="1" dirty="0"/>
              <a:t>recursive data structure</a:t>
            </a:r>
            <a:r>
              <a:rPr lang="en-US" dirty="0"/>
              <a:t>. </a:t>
            </a:r>
            <a:endParaRPr lang="en-US" dirty="0" smtClean="0"/>
          </a:p>
          <a:p>
            <a:r>
              <a:rPr lang="en-US" dirty="0" smtClean="0"/>
              <a:t>A </a:t>
            </a:r>
            <a:r>
              <a:rPr lang="en-US" dirty="0"/>
              <a:t>tree can be defined as recursively because the distinguished node in a tree data structure is known as a </a:t>
            </a:r>
            <a:r>
              <a:rPr lang="en-US" b="1" i="1" dirty="0"/>
              <a:t>root node</a:t>
            </a:r>
            <a:r>
              <a:rPr lang="en-US" dirty="0"/>
              <a:t>. </a:t>
            </a:r>
            <a:endParaRPr lang="en-US" dirty="0" smtClean="0"/>
          </a:p>
          <a:p>
            <a:r>
              <a:rPr lang="en-US" dirty="0" smtClean="0"/>
              <a:t>The </a:t>
            </a:r>
            <a:r>
              <a:rPr lang="en-US" dirty="0"/>
              <a:t>root node of the tree contains a link to all the roots of its </a:t>
            </a:r>
            <a:r>
              <a:rPr lang="en-US" dirty="0" err="1"/>
              <a:t>subtrees</a:t>
            </a:r>
            <a:r>
              <a:rPr lang="en-US" dirty="0"/>
              <a:t>. The left </a:t>
            </a:r>
            <a:r>
              <a:rPr lang="en-US" dirty="0" err="1"/>
              <a:t>subtree</a:t>
            </a:r>
            <a:r>
              <a:rPr lang="en-US" dirty="0"/>
              <a:t> is shown in the yellow color in the below figure, and the right </a:t>
            </a:r>
            <a:r>
              <a:rPr lang="en-US" dirty="0" err="1"/>
              <a:t>subtree</a:t>
            </a:r>
            <a:r>
              <a:rPr lang="en-US" dirty="0"/>
              <a:t> is shown in the red color</a:t>
            </a:r>
            <a:r>
              <a:rPr lang="en-US" dirty="0" smtClean="0"/>
              <a:t>.</a:t>
            </a:r>
          </a:p>
        </p:txBody>
      </p:sp>
    </p:spTree>
    <p:extLst>
      <p:ext uri="{BB962C8B-B14F-4D97-AF65-F5344CB8AC3E}">
        <p14:creationId xmlns:p14="http://schemas.microsoft.com/office/powerpoint/2010/main" val="20274181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 The left </a:t>
            </a:r>
            <a:r>
              <a:rPr lang="en-US" dirty="0" err="1" smtClean="0"/>
              <a:t>subtree</a:t>
            </a:r>
            <a:r>
              <a:rPr lang="en-US" dirty="0" smtClean="0"/>
              <a:t> can be further split into </a:t>
            </a:r>
            <a:r>
              <a:rPr lang="en-US" dirty="0" err="1" smtClean="0"/>
              <a:t>subtrees</a:t>
            </a:r>
            <a:r>
              <a:rPr lang="en-US" dirty="0" smtClean="0"/>
              <a:t> shown in three different colors. </a:t>
            </a:r>
          </a:p>
          <a:p>
            <a:r>
              <a:rPr lang="en-US" dirty="0" smtClean="0"/>
              <a:t>Recursion means reducing something in a self-similar manner. So, this recursive property of the tree data structure is implemented in various applications.</a:t>
            </a:r>
            <a:endParaRPr lang="en-IN" dirty="0" smtClean="0"/>
          </a:p>
          <a:p>
            <a:pPr marL="0" indent="0">
              <a:buNone/>
            </a:pPr>
            <a:endParaRPr lang="en-IN" dirty="0"/>
          </a:p>
        </p:txBody>
      </p:sp>
    </p:spTree>
    <p:extLst>
      <p:ext uri="{BB962C8B-B14F-4D97-AF65-F5344CB8AC3E}">
        <p14:creationId xmlns:p14="http://schemas.microsoft.com/office/powerpoint/2010/main" val="3604096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0392" y="1601924"/>
            <a:ext cx="6608733" cy="4056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47093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Number of edges:</a:t>
            </a:r>
            <a:r>
              <a:rPr lang="en-US" dirty="0"/>
              <a:t> If there are n nodes, then there would n-1 edges. Each arrow in the structure represents the link or path. </a:t>
            </a:r>
            <a:endParaRPr lang="en-US" dirty="0" smtClean="0"/>
          </a:p>
          <a:p>
            <a:r>
              <a:rPr lang="en-US" dirty="0" smtClean="0"/>
              <a:t>Each </a:t>
            </a:r>
            <a:r>
              <a:rPr lang="en-US" dirty="0"/>
              <a:t>node, except the root node, will have </a:t>
            </a:r>
            <a:r>
              <a:rPr lang="en-US" dirty="0" err="1"/>
              <a:t>atleast</a:t>
            </a:r>
            <a:r>
              <a:rPr lang="en-US" dirty="0"/>
              <a:t> one incoming link known as an edge. There would be one link for the parent-child relationship.</a:t>
            </a:r>
          </a:p>
          <a:p>
            <a:pPr marL="0" indent="0">
              <a:buNone/>
            </a:pPr>
            <a:endParaRPr lang="en-IN" dirty="0"/>
          </a:p>
        </p:txBody>
      </p:sp>
    </p:spTree>
    <p:extLst>
      <p:ext uri="{BB962C8B-B14F-4D97-AF65-F5344CB8AC3E}">
        <p14:creationId xmlns:p14="http://schemas.microsoft.com/office/powerpoint/2010/main" val="8534306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a:t>Height</a:t>
            </a:r>
          </a:p>
          <a:p>
            <a:r>
              <a:rPr lang="en-US" dirty="0"/>
              <a:t>In a tree data structure, the number of edges from the leaf node to the particular node in the longest path is known as the height of that node.</a:t>
            </a:r>
          </a:p>
          <a:p>
            <a:r>
              <a:rPr lang="en-US" dirty="0"/>
              <a:t>In the tree, the height of the root node is called "Height of Tree".</a:t>
            </a:r>
          </a:p>
          <a:p>
            <a:r>
              <a:rPr lang="en-US" dirty="0"/>
              <a:t>The tree height of all leaf nodes is 0.</a:t>
            </a:r>
          </a:p>
          <a:p>
            <a:r>
              <a:rPr lang="en-US" b="1" dirty="0" smtClean="0"/>
              <a:t>Height </a:t>
            </a:r>
            <a:r>
              <a:rPr lang="en-US" b="1" dirty="0"/>
              <a:t>of node x:</a:t>
            </a:r>
            <a:r>
              <a:rPr lang="en-US" dirty="0"/>
              <a:t> The height of node x can be defined as the longest path from the node x to the leaf node.</a:t>
            </a:r>
          </a:p>
          <a:p>
            <a:pPr marL="0" indent="0">
              <a:buNone/>
            </a:pPr>
            <a:endParaRPr lang="en-IN" dirty="0"/>
          </a:p>
        </p:txBody>
      </p:sp>
    </p:spTree>
    <p:extLst>
      <p:ext uri="{BB962C8B-B14F-4D97-AF65-F5344CB8AC3E}">
        <p14:creationId xmlns:p14="http://schemas.microsoft.com/office/powerpoint/2010/main" val="19888536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228144" y="1825625"/>
            <a:ext cx="7735712" cy="4351338"/>
          </a:xfrm>
          <a:prstGeom prst="rect">
            <a:avLst/>
          </a:prstGeom>
        </p:spPr>
      </p:pic>
    </p:spTree>
    <p:extLst>
      <p:ext uri="{BB962C8B-B14F-4D97-AF65-F5344CB8AC3E}">
        <p14:creationId xmlns:p14="http://schemas.microsoft.com/office/powerpoint/2010/main" val="1858907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One edge contributes one-unit length in the path. </a:t>
            </a:r>
          </a:p>
          <a:p>
            <a:r>
              <a:rPr lang="en-US" dirty="0"/>
              <a:t>So, the depth of node x can also be defined as the number of edges between the root node and the node x. The root node has 0 depth</a:t>
            </a:r>
            <a:r>
              <a:rPr lang="en-US" dirty="0" smtClean="0"/>
              <a:t>.</a:t>
            </a:r>
          </a:p>
          <a:p>
            <a:r>
              <a:rPr lang="en-US" dirty="0"/>
              <a:t>In a tree, many edges from the root node to the particular node are called the depth of the tree.</a:t>
            </a:r>
          </a:p>
          <a:p>
            <a:r>
              <a:rPr lang="en-US" dirty="0"/>
              <a:t>In the tree, the total number of edges from the root node to the leaf node in the longest path is known as "Depth of Tree".</a:t>
            </a:r>
          </a:p>
          <a:p>
            <a:r>
              <a:rPr lang="en-US" dirty="0"/>
              <a:t>In the tree data structures, the depth of the root node is 0.</a:t>
            </a:r>
          </a:p>
          <a:p>
            <a:pPr marL="0" indent="0">
              <a:buNone/>
            </a:pPr>
            <a:endParaRPr lang="en-US" dirty="0"/>
          </a:p>
          <a:p>
            <a:endParaRPr lang="en-IN" dirty="0"/>
          </a:p>
        </p:txBody>
      </p:sp>
    </p:spTree>
    <p:extLst>
      <p:ext uri="{BB962C8B-B14F-4D97-AF65-F5344CB8AC3E}">
        <p14:creationId xmlns:p14="http://schemas.microsoft.com/office/powerpoint/2010/main" val="488640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depth-of-tree-data-struc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8144" y="1825625"/>
            <a:ext cx="773571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4150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A tree, with height and depth of each nod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14775" y="1825625"/>
            <a:ext cx="539153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297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Implementation of Tree</a:t>
            </a:r>
            <a:br>
              <a:rPr lang="en-IN" dirty="0"/>
            </a:br>
            <a:endParaRPr lang="en-IN" dirty="0"/>
          </a:p>
        </p:txBody>
      </p:sp>
      <p:sp>
        <p:nvSpPr>
          <p:cNvPr id="3" name="Content Placeholder 2"/>
          <p:cNvSpPr>
            <a:spLocks noGrp="1"/>
          </p:cNvSpPr>
          <p:nvPr>
            <p:ph idx="1"/>
          </p:nvPr>
        </p:nvSpPr>
        <p:spPr/>
        <p:txBody>
          <a:bodyPr/>
          <a:lstStyle/>
          <a:p>
            <a:r>
              <a:rPr lang="en-US" dirty="0"/>
              <a:t>The tree data structure can be created by creating the nodes dynamically with the help of the pointers. The tree in the memory can be represented as shown below:</a:t>
            </a:r>
            <a:endParaRPr lang="en-IN" dirty="0"/>
          </a:p>
        </p:txBody>
      </p:sp>
    </p:spTree>
    <p:extLst>
      <p:ext uri="{BB962C8B-B14F-4D97-AF65-F5344CB8AC3E}">
        <p14:creationId xmlns:p14="http://schemas.microsoft.com/office/powerpoint/2010/main" val="26373638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0725" y="1931421"/>
            <a:ext cx="6346525" cy="3312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4542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above figure shows the representation of the tree data structure in the memory. In the above structure, the node contains three fields. The second field stores the data; the first field stores the address of the left child, and the third field stores the address of the right child.</a:t>
            </a:r>
            <a:endParaRPr lang="en-IN" dirty="0"/>
          </a:p>
        </p:txBody>
      </p:sp>
    </p:spTree>
    <p:extLst>
      <p:ext uri="{BB962C8B-B14F-4D97-AF65-F5344CB8AC3E}">
        <p14:creationId xmlns:p14="http://schemas.microsoft.com/office/powerpoint/2010/main" val="27515437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Tree data structure</a:t>
            </a:r>
            <a:br>
              <a:rPr lang="en-US" dirty="0"/>
            </a:br>
            <a:endParaRPr lang="en-IN" dirty="0"/>
          </a:p>
        </p:txBody>
      </p:sp>
      <p:sp>
        <p:nvSpPr>
          <p:cNvPr id="3" name="Content Placeholder 2"/>
          <p:cNvSpPr>
            <a:spLocks noGrp="1"/>
          </p:cNvSpPr>
          <p:nvPr>
            <p:ph idx="1"/>
          </p:nvPr>
        </p:nvSpPr>
        <p:spPr/>
        <p:txBody>
          <a:bodyPr/>
          <a:lstStyle/>
          <a:p>
            <a:r>
              <a:rPr lang="en-US" b="1" dirty="0"/>
              <a:t>General tree:</a:t>
            </a:r>
            <a:r>
              <a:rPr lang="en-US" dirty="0"/>
              <a:t> The general tree is one of the types of tree data structure. In the general tree, a node can have either 0 or maximum n number of nodes. </a:t>
            </a:r>
            <a:endParaRPr lang="en-US" dirty="0" smtClean="0"/>
          </a:p>
          <a:p>
            <a:r>
              <a:rPr lang="en-US" dirty="0" smtClean="0"/>
              <a:t>There </a:t>
            </a:r>
            <a:r>
              <a:rPr lang="en-US" dirty="0"/>
              <a:t>is no restriction imposed on the degree of the node (the number of nodes that a node can contain). </a:t>
            </a:r>
            <a:endParaRPr lang="en-US" dirty="0" smtClean="0"/>
          </a:p>
          <a:p>
            <a:r>
              <a:rPr lang="en-US" dirty="0" smtClean="0"/>
              <a:t>The </a:t>
            </a:r>
            <a:r>
              <a:rPr lang="en-US" dirty="0"/>
              <a:t>topmost node in a general tree is known as a root node. The children of the parent node are known as </a:t>
            </a:r>
            <a:r>
              <a:rPr lang="en-US" b="1" i="1" dirty="0" err="1"/>
              <a:t>subtrees</a:t>
            </a:r>
            <a:r>
              <a:rPr lang="en-US" dirty="0"/>
              <a:t>.</a:t>
            </a:r>
            <a:endParaRPr lang="en-IN" dirty="0"/>
          </a:p>
        </p:txBody>
      </p:sp>
    </p:spTree>
    <p:extLst>
      <p:ext uri="{BB962C8B-B14F-4D97-AF65-F5344CB8AC3E}">
        <p14:creationId xmlns:p14="http://schemas.microsoft.com/office/powerpoint/2010/main" val="14013729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descr="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6625" y="2563019"/>
            <a:ext cx="5238750" cy="2876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96253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There can be </a:t>
            </a:r>
            <a:r>
              <a:rPr lang="en-US" b="1" i="1" dirty="0"/>
              <a:t>n</a:t>
            </a:r>
            <a:r>
              <a:rPr lang="en-US" dirty="0"/>
              <a:t> number of </a:t>
            </a:r>
            <a:r>
              <a:rPr lang="en-US" dirty="0" err="1"/>
              <a:t>subtrees</a:t>
            </a:r>
            <a:r>
              <a:rPr lang="en-US" dirty="0"/>
              <a:t> in a general tree. </a:t>
            </a:r>
            <a:endParaRPr lang="en-US" dirty="0" smtClean="0"/>
          </a:p>
          <a:p>
            <a:r>
              <a:rPr lang="en-US" dirty="0" smtClean="0"/>
              <a:t>In </a:t>
            </a:r>
            <a:r>
              <a:rPr lang="en-US" dirty="0"/>
              <a:t>the general tree, the </a:t>
            </a:r>
            <a:r>
              <a:rPr lang="en-US" dirty="0" err="1"/>
              <a:t>subtrees</a:t>
            </a:r>
            <a:r>
              <a:rPr lang="en-US" dirty="0"/>
              <a:t> are unordered as the nodes in the </a:t>
            </a:r>
            <a:r>
              <a:rPr lang="en-US" dirty="0" err="1"/>
              <a:t>subtree</a:t>
            </a:r>
            <a:r>
              <a:rPr lang="en-US" dirty="0"/>
              <a:t> cannot be ordered.</a:t>
            </a:r>
            <a:r>
              <a:rPr lang="en-US" dirty="0" smtClean="0"/>
              <a:t/>
            </a:r>
            <a:br>
              <a:rPr lang="en-US" dirty="0" smtClean="0"/>
            </a:br>
            <a:r>
              <a:rPr lang="en-US" dirty="0"/>
              <a:t>Every non-empty tree has a downward edge, and these edges are connected to the nodes known as </a:t>
            </a:r>
            <a:r>
              <a:rPr lang="en-US" b="1" i="1" dirty="0"/>
              <a:t>child nodes</a:t>
            </a:r>
            <a:r>
              <a:rPr lang="en-US"/>
              <a:t>. </a:t>
            </a:r>
            <a:endParaRPr lang="en-US" smtClean="0"/>
          </a:p>
          <a:p>
            <a:r>
              <a:rPr lang="en-US" smtClean="0"/>
              <a:t>The </a:t>
            </a:r>
            <a:r>
              <a:rPr lang="en-US" dirty="0"/>
              <a:t>root node is labeled with level 0. The nodes that have the same parent are known as </a:t>
            </a:r>
            <a:r>
              <a:rPr lang="en-US" b="1" i="1" dirty="0"/>
              <a:t>siblings</a:t>
            </a:r>
            <a:r>
              <a:rPr lang="en-US" dirty="0"/>
              <a:t>.</a:t>
            </a:r>
            <a:endParaRPr lang="en-IN" dirty="0"/>
          </a:p>
        </p:txBody>
      </p:sp>
    </p:spTree>
    <p:extLst>
      <p:ext uri="{BB962C8B-B14F-4D97-AF65-F5344CB8AC3E}">
        <p14:creationId xmlns:p14="http://schemas.microsoft.com/office/powerpoint/2010/main" val="31744532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Binary Tree</a:t>
            </a:r>
            <a:endParaRPr lang="en-IN" dirty="0"/>
          </a:p>
        </p:txBody>
      </p:sp>
      <p:sp>
        <p:nvSpPr>
          <p:cNvPr id="3" name="Content Placeholder 2"/>
          <p:cNvSpPr>
            <a:spLocks noGrp="1"/>
          </p:cNvSpPr>
          <p:nvPr>
            <p:ph idx="1"/>
          </p:nvPr>
        </p:nvSpPr>
        <p:spPr/>
        <p:txBody>
          <a:bodyPr/>
          <a:lstStyle/>
          <a:p>
            <a:r>
              <a:rPr lang="en-US" dirty="0"/>
              <a:t>The Binary tree means that the node can have maximum two children. Here, binary name itself suggests that 'two'; therefore, each node can have either 0, 1 or 2 children</a:t>
            </a:r>
            <a:r>
              <a:rPr lang="en-US" dirty="0" smtClean="0"/>
              <a:t>.</a:t>
            </a:r>
            <a:r>
              <a:rPr lang="en-US" dirty="0"/>
              <a:t> </a:t>
            </a:r>
            <a:endParaRPr lang="en-US" dirty="0" smtClean="0"/>
          </a:p>
          <a:p>
            <a:r>
              <a:rPr lang="en-US" dirty="0" smtClean="0"/>
              <a:t>The </a:t>
            </a:r>
            <a:r>
              <a:rPr lang="en-US" dirty="0"/>
              <a:t>Binary tree means that the node can have maximum two children. </a:t>
            </a:r>
            <a:endParaRPr lang="en-US" dirty="0" smtClean="0"/>
          </a:p>
          <a:p>
            <a:r>
              <a:rPr lang="en-US" dirty="0" smtClean="0"/>
              <a:t>Here</a:t>
            </a:r>
            <a:r>
              <a:rPr lang="en-US" dirty="0"/>
              <a:t>, binary name itself suggests that 'two'; therefore, each node can have either 0, 1 or 2 children.</a:t>
            </a:r>
            <a:endParaRPr lang="en-IN" dirty="0"/>
          </a:p>
        </p:txBody>
      </p:sp>
    </p:spTree>
    <p:extLst>
      <p:ext uri="{BB962C8B-B14F-4D97-AF65-F5344CB8AC3E}">
        <p14:creationId xmlns:p14="http://schemas.microsoft.com/office/powerpoint/2010/main" val="28685277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Binary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9549" y="1726604"/>
            <a:ext cx="6191451" cy="4246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69213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Binary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0180" y="1714527"/>
            <a:ext cx="8001601" cy="4522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4712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Properties of Binary Tree</a:t>
            </a:r>
            <a:br>
              <a:rPr lang="en-IN" dirty="0"/>
            </a:br>
            <a:endParaRPr lang="en-IN" dirty="0"/>
          </a:p>
        </p:txBody>
      </p:sp>
      <p:sp>
        <p:nvSpPr>
          <p:cNvPr id="3" name="Content Placeholder 2"/>
          <p:cNvSpPr>
            <a:spLocks noGrp="1"/>
          </p:cNvSpPr>
          <p:nvPr>
            <p:ph idx="1"/>
          </p:nvPr>
        </p:nvSpPr>
        <p:spPr/>
        <p:txBody>
          <a:bodyPr/>
          <a:lstStyle/>
          <a:p>
            <a:r>
              <a:rPr lang="en-US" dirty="0"/>
              <a:t>At each level of </a:t>
            </a:r>
            <a:r>
              <a:rPr lang="en-US" dirty="0" err="1"/>
              <a:t>i</a:t>
            </a:r>
            <a:r>
              <a:rPr lang="en-US" dirty="0"/>
              <a:t>, the maximum number of nodes is 2</a:t>
            </a:r>
            <a:r>
              <a:rPr lang="en-US" baseline="30000" dirty="0"/>
              <a:t>i</a:t>
            </a:r>
            <a:r>
              <a:rPr lang="en-US" dirty="0"/>
              <a:t>.</a:t>
            </a:r>
          </a:p>
          <a:p>
            <a:r>
              <a:rPr lang="en-US" dirty="0"/>
              <a:t>The height of the tree is defined as the longest path from the root node to the leaf node. </a:t>
            </a:r>
            <a:endParaRPr lang="en-US" dirty="0" smtClean="0"/>
          </a:p>
          <a:p>
            <a:r>
              <a:rPr lang="en-US" dirty="0" smtClean="0"/>
              <a:t>The </a:t>
            </a:r>
            <a:r>
              <a:rPr lang="en-US" dirty="0"/>
              <a:t>tree which is shown above has a height equal to 3. Therefore, the maximum number of nodes at height 3 is equal to (1+2+4+8) = 15. In general, the maximum number of nodes possible at height h is (2</a:t>
            </a:r>
            <a:r>
              <a:rPr lang="en-US" baseline="30000" dirty="0"/>
              <a:t>0</a:t>
            </a:r>
            <a:r>
              <a:rPr lang="en-US" dirty="0"/>
              <a:t> + 2</a:t>
            </a:r>
            <a:r>
              <a:rPr lang="en-US" baseline="30000" dirty="0"/>
              <a:t>1</a:t>
            </a:r>
            <a:r>
              <a:rPr lang="en-US" dirty="0"/>
              <a:t> + 2</a:t>
            </a:r>
            <a:r>
              <a:rPr lang="en-US" baseline="30000" dirty="0"/>
              <a:t>2</a:t>
            </a:r>
            <a:r>
              <a:rPr lang="en-US" dirty="0"/>
              <a:t>+….2</a:t>
            </a:r>
            <a:r>
              <a:rPr lang="en-US" baseline="30000" dirty="0"/>
              <a:t>h</a:t>
            </a:r>
            <a:r>
              <a:rPr lang="en-US" dirty="0"/>
              <a:t>) = 2</a:t>
            </a:r>
            <a:r>
              <a:rPr lang="en-US" baseline="30000" dirty="0"/>
              <a:t>h+1</a:t>
            </a:r>
            <a:r>
              <a:rPr lang="en-US" dirty="0"/>
              <a:t> -1.</a:t>
            </a:r>
          </a:p>
          <a:p>
            <a:pPr marL="0" indent="0">
              <a:buNone/>
            </a:pPr>
            <a:endParaRPr lang="en-IN" dirty="0"/>
          </a:p>
        </p:txBody>
      </p:sp>
    </p:spTree>
    <p:extLst>
      <p:ext uri="{BB962C8B-B14F-4D97-AF65-F5344CB8AC3E}">
        <p14:creationId xmlns:p14="http://schemas.microsoft.com/office/powerpoint/2010/main" val="858965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minimum number of nodes possible at height h is equal to </a:t>
            </a:r>
            <a:r>
              <a:rPr lang="en-US" b="1" dirty="0"/>
              <a:t>h+1</a:t>
            </a:r>
            <a:r>
              <a:rPr lang="en-US" dirty="0"/>
              <a:t>.</a:t>
            </a:r>
          </a:p>
          <a:p>
            <a:r>
              <a:rPr lang="en-US" dirty="0"/>
              <a:t>If the number of nodes is minimum, then the height of the tree would be maximum. </a:t>
            </a:r>
            <a:r>
              <a:rPr lang="en-US"/>
              <a:t>Conversely, if the number of nodes is maximum, then the height of the tree would be minimum.</a:t>
            </a:r>
          </a:p>
          <a:p>
            <a:pPr marL="0" indent="0">
              <a:buNone/>
            </a:pPr>
            <a:endParaRPr lang="en-IN"/>
          </a:p>
        </p:txBody>
      </p:sp>
    </p:spTree>
    <p:extLst>
      <p:ext uri="{BB962C8B-B14F-4D97-AF65-F5344CB8AC3E}">
        <p14:creationId xmlns:p14="http://schemas.microsoft.com/office/powerpoint/2010/main" val="39063847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Depth and Height</a:t>
            </a:r>
            <a:endParaRPr lang="en-IN" dirty="0"/>
          </a:p>
        </p:txBody>
      </p:sp>
      <p:sp>
        <p:nvSpPr>
          <p:cNvPr id="3" name="Content Placeholder 2"/>
          <p:cNvSpPr>
            <a:spLocks noGrp="1"/>
          </p:cNvSpPr>
          <p:nvPr>
            <p:ph idx="1"/>
          </p:nvPr>
        </p:nvSpPr>
        <p:spPr/>
        <p:txBody>
          <a:bodyPr/>
          <a:lstStyle/>
          <a:p>
            <a:r>
              <a:rPr lang="en-IN" dirty="0" smtClean="0"/>
              <a:t>The depth of a node M in the tree is the length of the path from the root to the node M.</a:t>
            </a:r>
          </a:p>
          <a:p>
            <a:r>
              <a:rPr lang="en-IN" dirty="0" smtClean="0"/>
              <a:t>The height of the tree is one more than the depth of the deepest node in the tree.</a:t>
            </a:r>
          </a:p>
          <a:p>
            <a:endParaRPr lang="en-IN" dirty="0"/>
          </a:p>
        </p:txBody>
      </p:sp>
    </p:spTree>
    <p:extLst>
      <p:ext uri="{BB962C8B-B14F-4D97-AF65-F5344CB8AC3E}">
        <p14:creationId xmlns:p14="http://schemas.microsoft.com/office/powerpoint/2010/main" val="27324701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Binary Tree</a:t>
            </a:r>
            <a:br>
              <a:rPr lang="en-IN" b="1" dirty="0"/>
            </a:br>
            <a:endParaRPr lang="en-IN" dirty="0"/>
          </a:p>
        </p:txBody>
      </p:sp>
      <p:sp>
        <p:nvSpPr>
          <p:cNvPr id="3" name="Content Placeholder 2"/>
          <p:cNvSpPr>
            <a:spLocks noGrp="1"/>
          </p:cNvSpPr>
          <p:nvPr>
            <p:ph idx="1"/>
          </p:nvPr>
        </p:nvSpPr>
        <p:spPr/>
        <p:txBody>
          <a:bodyPr/>
          <a:lstStyle/>
          <a:p>
            <a:pPr fontAlgn="base"/>
            <a:r>
              <a:rPr lang="en-US" b="1" dirty="0"/>
              <a:t>Types of Binary Tree based on the number of children:</a:t>
            </a:r>
          </a:p>
          <a:p>
            <a:pPr fontAlgn="base"/>
            <a:r>
              <a:rPr lang="en-US" dirty="0"/>
              <a:t>Following are the types of Binary Tree based on the number of children:</a:t>
            </a:r>
          </a:p>
          <a:p>
            <a:pPr fontAlgn="base"/>
            <a:r>
              <a:rPr lang="en-US" dirty="0"/>
              <a:t>Full Binary Tree</a:t>
            </a:r>
          </a:p>
          <a:p>
            <a:pPr fontAlgn="base"/>
            <a:r>
              <a:rPr lang="en-US" dirty="0"/>
              <a:t>Degenerate Binary Tree</a:t>
            </a:r>
          </a:p>
          <a:p>
            <a:pPr fontAlgn="base"/>
            <a:r>
              <a:rPr lang="en-US" dirty="0"/>
              <a:t>Skewed Binary Trees</a:t>
            </a:r>
          </a:p>
          <a:p>
            <a:pPr marL="0" indent="0">
              <a:buNone/>
            </a:pPr>
            <a:endParaRPr lang="en-IN" dirty="0"/>
          </a:p>
        </p:txBody>
      </p:sp>
    </p:spTree>
    <p:extLst>
      <p:ext uri="{BB962C8B-B14F-4D97-AF65-F5344CB8AC3E}">
        <p14:creationId xmlns:p14="http://schemas.microsoft.com/office/powerpoint/2010/main" val="34113613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1. Full Binary Tree</a:t>
            </a:r>
          </a:p>
          <a:p>
            <a:pPr fontAlgn="base"/>
            <a:r>
              <a:rPr lang="en-US" dirty="0"/>
              <a:t> A Binary Tree is a full binary tree if every node has 0 or 2 children. The following are examples of a full binary tree. We can also say a full binary tree is a binary tree in which all nodes except leaf nodes have two children. </a:t>
            </a:r>
          </a:p>
          <a:p>
            <a:pPr fontAlgn="base"/>
            <a:r>
              <a:rPr lang="en-US" dirty="0"/>
              <a:t>A full Binary tree is a special type of binary tree in which every parent node/internal node has either two or no children. It is also known as a proper binary tree.</a:t>
            </a:r>
          </a:p>
          <a:p>
            <a:pPr marL="0" indent="0">
              <a:buNone/>
            </a:pPr>
            <a:endParaRPr lang="en-IN" dirty="0"/>
          </a:p>
        </p:txBody>
      </p:sp>
    </p:spTree>
    <p:extLst>
      <p:ext uri="{BB962C8B-B14F-4D97-AF65-F5344CB8AC3E}">
        <p14:creationId xmlns:p14="http://schemas.microsoft.com/office/powerpoint/2010/main" val="49746537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Full Binary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6531" y="1455493"/>
            <a:ext cx="6865419" cy="4269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86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Degenerate (or pathological) tree</a:t>
            </a:r>
            <a:br>
              <a:rPr lang="en-IN" b="1" dirty="0"/>
            </a:br>
            <a:endParaRPr lang="en-IN" dirty="0"/>
          </a:p>
        </p:txBody>
      </p:sp>
      <p:sp>
        <p:nvSpPr>
          <p:cNvPr id="3" name="Content Placeholder 2"/>
          <p:cNvSpPr>
            <a:spLocks noGrp="1"/>
          </p:cNvSpPr>
          <p:nvPr>
            <p:ph idx="1"/>
          </p:nvPr>
        </p:nvSpPr>
        <p:spPr/>
        <p:txBody>
          <a:bodyPr/>
          <a:lstStyle/>
          <a:p>
            <a:pPr fontAlgn="base"/>
            <a:r>
              <a:rPr lang="en-US" dirty="0"/>
              <a:t>A Tree where every internal node has one child. Such trees are performance-wise same as linked list. A degenerate or pathological tree is a tree having a single child either left or right.</a:t>
            </a:r>
          </a:p>
          <a:p>
            <a:pPr marL="0" indent="0">
              <a:buNone/>
            </a:pPr>
            <a:endParaRPr lang="en-IN" dirty="0"/>
          </a:p>
        </p:txBody>
      </p:sp>
    </p:spTree>
    <p:extLst>
      <p:ext uri="{BB962C8B-B14F-4D97-AF65-F5344CB8AC3E}">
        <p14:creationId xmlns:p14="http://schemas.microsoft.com/office/powerpoint/2010/main" val="199254175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Degenerate (or pathological)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9903" y="1485485"/>
            <a:ext cx="10323897" cy="4520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1458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3. Skewed Binary Tree</a:t>
            </a:r>
            <a:br>
              <a:rPr lang="en-IN" b="1" dirty="0"/>
            </a:br>
            <a:endParaRPr lang="en-IN" dirty="0"/>
          </a:p>
        </p:txBody>
      </p:sp>
      <p:sp>
        <p:nvSpPr>
          <p:cNvPr id="3" name="Content Placeholder 2"/>
          <p:cNvSpPr>
            <a:spLocks noGrp="1"/>
          </p:cNvSpPr>
          <p:nvPr>
            <p:ph idx="1"/>
          </p:nvPr>
        </p:nvSpPr>
        <p:spPr/>
        <p:txBody>
          <a:bodyPr/>
          <a:lstStyle/>
          <a:p>
            <a:r>
              <a:rPr lang="en-US" dirty="0"/>
              <a:t>A skewed binary tree is a pathological/degenerate tree in which the tree is either dominated by the left nodes or the right nodes. </a:t>
            </a:r>
            <a:endParaRPr lang="en-US" dirty="0" smtClean="0"/>
          </a:p>
          <a:p>
            <a:r>
              <a:rPr lang="en-US" dirty="0" smtClean="0"/>
              <a:t>Thus</a:t>
            </a:r>
            <a:r>
              <a:rPr lang="en-US" dirty="0"/>
              <a:t>, there are two types of skewed binary tree: left-skewed binary tree and right-skewed binary tree.</a:t>
            </a:r>
            <a:endParaRPr lang="en-IN" dirty="0"/>
          </a:p>
        </p:txBody>
      </p:sp>
    </p:spTree>
    <p:extLst>
      <p:ext uri="{BB962C8B-B14F-4D97-AF65-F5344CB8AC3E}">
        <p14:creationId xmlns:p14="http://schemas.microsoft.com/office/powerpoint/2010/main" val="282419650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Skewed Binary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81778" y="1967706"/>
            <a:ext cx="8576560" cy="406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64960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Binary Tree On the basis of the completion of levels:</a:t>
            </a:r>
            <a:br>
              <a:rPr lang="en-US" b="1" dirty="0"/>
            </a:br>
            <a:endParaRPr lang="en-IN" dirty="0"/>
          </a:p>
        </p:txBody>
      </p:sp>
      <p:sp>
        <p:nvSpPr>
          <p:cNvPr id="3" name="Content Placeholder 2"/>
          <p:cNvSpPr>
            <a:spLocks noGrp="1"/>
          </p:cNvSpPr>
          <p:nvPr>
            <p:ph idx="1"/>
          </p:nvPr>
        </p:nvSpPr>
        <p:spPr/>
        <p:txBody>
          <a:bodyPr/>
          <a:lstStyle/>
          <a:p>
            <a:pPr fontAlgn="base"/>
            <a:r>
              <a:rPr lang="en-US" dirty="0"/>
              <a:t>Complete Binary Tree</a:t>
            </a:r>
          </a:p>
          <a:p>
            <a:pPr fontAlgn="base"/>
            <a:r>
              <a:rPr lang="en-US" dirty="0"/>
              <a:t>Perfect Binary Tree</a:t>
            </a:r>
          </a:p>
          <a:p>
            <a:pPr fontAlgn="base"/>
            <a:r>
              <a:rPr lang="en-US" dirty="0"/>
              <a:t>Balanced Binary Tree</a:t>
            </a:r>
          </a:p>
          <a:p>
            <a:pPr marL="0" indent="0">
              <a:buNone/>
            </a:pPr>
            <a:endParaRPr lang="en-IN" dirty="0"/>
          </a:p>
        </p:txBody>
      </p:sp>
    </p:spTree>
    <p:extLst>
      <p:ext uri="{BB962C8B-B14F-4D97-AF65-F5344CB8AC3E}">
        <p14:creationId xmlns:p14="http://schemas.microsoft.com/office/powerpoint/2010/main" val="382246741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1. Complete Binary Tree</a:t>
            </a:r>
            <a:br>
              <a:rPr lang="en-IN" b="1" dirty="0"/>
            </a:br>
            <a:endParaRPr lang="en-IN" dirty="0"/>
          </a:p>
        </p:txBody>
      </p:sp>
      <p:sp>
        <p:nvSpPr>
          <p:cNvPr id="3" name="Content Placeholder 2"/>
          <p:cNvSpPr>
            <a:spLocks noGrp="1"/>
          </p:cNvSpPr>
          <p:nvPr>
            <p:ph idx="1"/>
          </p:nvPr>
        </p:nvSpPr>
        <p:spPr/>
        <p:txBody>
          <a:bodyPr/>
          <a:lstStyle/>
          <a:p>
            <a:pPr fontAlgn="base"/>
            <a:r>
              <a:rPr lang="en-US" dirty="0"/>
              <a:t>A binary tree is said to be a complete binary tree when all the levels are completely filled except the last level, which is filled from the left.</a:t>
            </a:r>
            <a:r>
              <a:rPr lang="en-US" dirty="0" smtClean="0"/>
              <a:t>.</a:t>
            </a:r>
            <a:endParaRPr lang="en-US" dirty="0"/>
          </a:p>
          <a:p>
            <a:r>
              <a:rPr lang="en-US" dirty="0"/>
              <a:t>The complete binary tree is similar to the full binary tree except for the two differences which are given below:</a:t>
            </a:r>
          </a:p>
          <a:p>
            <a:r>
              <a:rPr lang="en-US" dirty="0"/>
              <a:t>The filling of the leaf node must start from the leftmost side.</a:t>
            </a:r>
          </a:p>
          <a:p>
            <a:r>
              <a:rPr lang="en-US" dirty="0"/>
              <a:t>It is not mandatory that the last leaf node must have the right sibling.</a:t>
            </a:r>
          </a:p>
          <a:p>
            <a:pPr marL="0" indent="0">
              <a:buNone/>
            </a:pPr>
            <a:endParaRPr lang="en-IN" dirty="0"/>
          </a:p>
        </p:txBody>
      </p:sp>
    </p:spTree>
    <p:extLst>
      <p:ext uri="{BB962C8B-B14F-4D97-AF65-F5344CB8AC3E}">
        <p14:creationId xmlns:p14="http://schemas.microsoft.com/office/powerpoint/2010/main" val="168331876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Full Binary Tree vs. Complete Binary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2875" y="2234406"/>
            <a:ext cx="4286250" cy="3533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257038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2. Perfect Binary Tree</a:t>
            </a:r>
            <a:br>
              <a:rPr lang="en-IN" b="1" dirty="0"/>
            </a:br>
            <a:endParaRPr lang="en-IN" dirty="0"/>
          </a:p>
        </p:txBody>
      </p:sp>
      <p:sp>
        <p:nvSpPr>
          <p:cNvPr id="3" name="Content Placeholder 2"/>
          <p:cNvSpPr>
            <a:spLocks noGrp="1"/>
          </p:cNvSpPr>
          <p:nvPr>
            <p:ph idx="1"/>
          </p:nvPr>
        </p:nvSpPr>
        <p:spPr/>
        <p:txBody>
          <a:bodyPr/>
          <a:lstStyle/>
          <a:p>
            <a:pPr fontAlgn="base"/>
            <a:r>
              <a:rPr lang="en-US" dirty="0"/>
              <a:t>A Binary tree is a Perfect Binary Tree in which all the internal nodes have two children and all leaf nodes are at the same level. </a:t>
            </a:r>
            <a:br>
              <a:rPr lang="en-US" dirty="0"/>
            </a:br>
            <a:endParaRPr lang="en-US" dirty="0" smtClean="0"/>
          </a:p>
          <a:p>
            <a:pPr fontAlgn="base"/>
            <a:r>
              <a:rPr lang="en-US" dirty="0" smtClean="0"/>
              <a:t>The </a:t>
            </a:r>
            <a:r>
              <a:rPr lang="en-US" dirty="0"/>
              <a:t>following are examples of Perfect Binary Trees. </a:t>
            </a:r>
          </a:p>
          <a:p>
            <a:pPr fontAlgn="base"/>
            <a:r>
              <a:rPr lang="en-US" dirty="0"/>
              <a:t>A perfect binary tree is a type of binary tree in which every internal node has exactly two child nodes and all the leaf nodes are at the same level.</a:t>
            </a:r>
          </a:p>
          <a:p>
            <a:pPr marL="0" indent="0">
              <a:buNone/>
            </a:pPr>
            <a:endParaRPr lang="en-IN" dirty="0"/>
          </a:p>
        </p:txBody>
      </p:sp>
    </p:spTree>
    <p:extLst>
      <p:ext uri="{BB962C8B-B14F-4D97-AF65-F5344CB8AC3E}">
        <p14:creationId xmlns:p14="http://schemas.microsoft.com/office/powerpoint/2010/main" val="101504816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731520" y="925652"/>
            <a:ext cx="7283768" cy="4990167"/>
          </a:xfrm>
          <a:prstGeom prst="rect">
            <a:avLst/>
          </a:prstGeom>
        </p:spPr>
      </p:pic>
    </p:spTree>
    <p:extLst>
      <p:ext uri="{BB962C8B-B14F-4D97-AF65-F5344CB8AC3E}">
        <p14:creationId xmlns:p14="http://schemas.microsoft.com/office/powerpoint/2010/main" val="120923406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Balanced Binary Tree</a:t>
            </a:r>
            <a:br>
              <a:rPr lang="en-IN" b="1" dirty="0"/>
            </a:br>
            <a:endParaRPr lang="en-IN" dirty="0"/>
          </a:p>
        </p:txBody>
      </p:sp>
      <p:sp>
        <p:nvSpPr>
          <p:cNvPr id="3" name="Content Placeholder 2"/>
          <p:cNvSpPr>
            <a:spLocks noGrp="1"/>
          </p:cNvSpPr>
          <p:nvPr>
            <p:ph idx="1"/>
          </p:nvPr>
        </p:nvSpPr>
        <p:spPr/>
        <p:txBody>
          <a:bodyPr/>
          <a:lstStyle/>
          <a:p>
            <a:r>
              <a:rPr lang="en-US" dirty="0"/>
              <a:t>A binary tree is balanced if the height of the tree is O(Log n) where n is the number of nodes. </a:t>
            </a:r>
            <a:endParaRPr lang="en-US" dirty="0" smtClean="0"/>
          </a:p>
          <a:p>
            <a:r>
              <a:rPr lang="en-US" dirty="0" smtClean="0"/>
              <a:t>For </a:t>
            </a:r>
            <a:r>
              <a:rPr lang="en-US" dirty="0"/>
              <a:t>Example, the AVL tree maintains O(Log n) height by making sure that the difference between the heights of the left and right </a:t>
            </a:r>
            <a:r>
              <a:rPr lang="en-US" dirty="0" err="1"/>
              <a:t>subtrees</a:t>
            </a:r>
            <a:r>
              <a:rPr lang="en-US" dirty="0"/>
              <a:t> is at most 1.</a:t>
            </a:r>
            <a:endParaRPr lang="en-IN" dirty="0"/>
          </a:p>
        </p:txBody>
      </p:sp>
    </p:spTree>
    <p:extLst>
      <p:ext uri="{BB962C8B-B14F-4D97-AF65-F5344CB8AC3E}">
        <p14:creationId xmlns:p14="http://schemas.microsoft.com/office/powerpoint/2010/main" val="319666140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52750" y="2234406"/>
            <a:ext cx="6286500" cy="3533775"/>
          </a:xfrm>
          <a:prstGeom prst="rect">
            <a:avLst/>
          </a:prstGeom>
        </p:spPr>
      </p:pic>
    </p:spTree>
    <p:extLst>
      <p:ext uri="{BB962C8B-B14F-4D97-AF65-F5344CB8AC3E}">
        <p14:creationId xmlns:p14="http://schemas.microsoft.com/office/powerpoint/2010/main" val="723224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Binary tree:</a:t>
            </a:r>
            <a:endParaRPr lang="en-IN" dirty="0"/>
          </a:p>
        </p:txBody>
      </p:sp>
      <p:sp>
        <p:nvSpPr>
          <p:cNvPr id="3" name="Content Placeholder 2"/>
          <p:cNvSpPr>
            <a:spLocks noGrp="1"/>
          </p:cNvSpPr>
          <p:nvPr>
            <p:ph idx="1"/>
          </p:nvPr>
        </p:nvSpPr>
        <p:spPr/>
        <p:txBody>
          <a:bodyPr/>
          <a:lstStyle/>
          <a:p>
            <a:r>
              <a:rPr lang="en-US" i="1" dirty="0"/>
              <a:t>A binary tree is a tree data structure composed of nodes, each of which has at most, two children, referred to as left and right nodes and the tree begins from root node.</a:t>
            </a:r>
            <a:endParaRPr lang="en-IN" dirty="0"/>
          </a:p>
        </p:txBody>
      </p:sp>
    </p:spTree>
    <p:extLst>
      <p:ext uri="{BB962C8B-B14F-4D97-AF65-F5344CB8AC3E}">
        <p14:creationId xmlns:p14="http://schemas.microsoft.com/office/powerpoint/2010/main" val="31419335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Representation of Binary Tree:</a:t>
            </a:r>
          </a:p>
          <a:p>
            <a:pPr fontAlgn="base"/>
            <a:r>
              <a:rPr lang="en-US" dirty="0"/>
              <a:t>Each node in the tree contains the following:</a:t>
            </a:r>
          </a:p>
          <a:p>
            <a:pPr fontAlgn="base"/>
            <a:r>
              <a:rPr lang="en-US" dirty="0"/>
              <a:t>Data</a:t>
            </a:r>
          </a:p>
          <a:p>
            <a:pPr fontAlgn="base"/>
            <a:r>
              <a:rPr lang="en-US" dirty="0"/>
              <a:t>Pointer to the left child</a:t>
            </a:r>
          </a:p>
          <a:p>
            <a:pPr fontAlgn="base"/>
            <a:r>
              <a:rPr lang="en-US" dirty="0"/>
              <a:t>Pointer to the right child</a:t>
            </a:r>
          </a:p>
          <a:p>
            <a:endParaRPr lang="en-IN" dirty="0"/>
          </a:p>
        </p:txBody>
      </p:sp>
    </p:spTree>
    <p:extLst>
      <p:ext uri="{BB962C8B-B14F-4D97-AF65-F5344CB8AC3E}">
        <p14:creationId xmlns:p14="http://schemas.microsoft.com/office/powerpoint/2010/main" val="32166041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Operations On Binary Tree:</a:t>
            </a:r>
            <a:br>
              <a:rPr lang="en-US" b="1" dirty="0"/>
            </a:br>
            <a:endParaRPr lang="en-IN" dirty="0"/>
          </a:p>
        </p:txBody>
      </p:sp>
      <p:sp>
        <p:nvSpPr>
          <p:cNvPr id="3" name="Content Placeholder 2"/>
          <p:cNvSpPr>
            <a:spLocks noGrp="1"/>
          </p:cNvSpPr>
          <p:nvPr>
            <p:ph idx="1"/>
          </p:nvPr>
        </p:nvSpPr>
        <p:spPr/>
        <p:txBody>
          <a:bodyPr/>
          <a:lstStyle/>
          <a:p>
            <a:pPr fontAlgn="base"/>
            <a:r>
              <a:rPr lang="en-US" dirty="0"/>
              <a:t>Inserting an element.</a:t>
            </a:r>
          </a:p>
          <a:p>
            <a:pPr fontAlgn="base"/>
            <a:r>
              <a:rPr lang="en-US" dirty="0"/>
              <a:t>Removing an element.</a:t>
            </a:r>
          </a:p>
          <a:p>
            <a:pPr fontAlgn="base"/>
            <a:r>
              <a:rPr lang="en-US" dirty="0"/>
              <a:t>Searching for an element.</a:t>
            </a:r>
          </a:p>
          <a:p>
            <a:pPr fontAlgn="base"/>
            <a:r>
              <a:rPr lang="en-US" dirty="0"/>
              <a:t>Deletion for an element.</a:t>
            </a:r>
          </a:p>
          <a:p>
            <a:pPr fontAlgn="base"/>
            <a:r>
              <a:rPr lang="en-US" dirty="0"/>
              <a:t>Traversing an element. There are four (mainly three) types of traversals in a binary tree which will be discussed ahead.</a:t>
            </a:r>
          </a:p>
          <a:p>
            <a:pPr marL="0" indent="0">
              <a:buNone/>
            </a:pPr>
            <a:endParaRPr lang="en-IN" dirty="0"/>
          </a:p>
        </p:txBody>
      </p:sp>
    </p:spTree>
    <p:extLst>
      <p:ext uri="{BB962C8B-B14F-4D97-AF65-F5344CB8AC3E}">
        <p14:creationId xmlns:p14="http://schemas.microsoft.com/office/powerpoint/2010/main" val="27539267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Binary Tree Traversals:</a:t>
            </a:r>
            <a:br>
              <a:rPr lang="en-IN" b="1" dirty="0"/>
            </a:br>
            <a:endParaRPr lang="en-IN" dirty="0"/>
          </a:p>
        </p:txBody>
      </p:sp>
      <p:sp>
        <p:nvSpPr>
          <p:cNvPr id="3" name="Content Placeholder 2"/>
          <p:cNvSpPr>
            <a:spLocks noGrp="1"/>
          </p:cNvSpPr>
          <p:nvPr>
            <p:ph idx="1"/>
          </p:nvPr>
        </p:nvSpPr>
        <p:spPr/>
        <p:txBody>
          <a:bodyPr/>
          <a:lstStyle/>
          <a:p>
            <a:pPr fontAlgn="base"/>
            <a:r>
              <a:rPr lang="en-US" dirty="0"/>
              <a:t>Tree Traversal algorithms can be classified broadly into two categories:</a:t>
            </a:r>
          </a:p>
          <a:p>
            <a:pPr fontAlgn="base"/>
            <a:r>
              <a:rPr lang="en-US" dirty="0"/>
              <a:t>Depth-First Search (DFS) Algorithms</a:t>
            </a:r>
          </a:p>
          <a:p>
            <a:pPr fontAlgn="base"/>
            <a:r>
              <a:rPr lang="en-US" dirty="0"/>
              <a:t>Breadth-First Search (BFS) Algorithms</a:t>
            </a:r>
          </a:p>
          <a:p>
            <a:endParaRPr lang="en-IN" dirty="0"/>
          </a:p>
        </p:txBody>
      </p:sp>
    </p:spTree>
    <p:extLst>
      <p:ext uri="{BB962C8B-B14F-4D97-AF65-F5344CB8AC3E}">
        <p14:creationId xmlns:p14="http://schemas.microsoft.com/office/powerpoint/2010/main" val="3818214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4379"/>
            <a:ext cx="10515600" cy="1546309"/>
          </a:xfrm>
        </p:spPr>
        <p:txBody>
          <a:bodyPr>
            <a:normAutofit fontScale="90000"/>
          </a:bodyPr>
          <a:lstStyle/>
          <a:p>
            <a:r>
              <a:rPr lang="en-US" b="1" dirty="0" smtClean="0"/>
              <a:t/>
            </a:r>
            <a:br>
              <a:rPr lang="en-US" b="1" dirty="0" smtClean="0"/>
            </a:br>
            <a:r>
              <a:rPr lang="en-US" b="1" dirty="0" smtClean="0"/>
              <a:t>Tree </a:t>
            </a:r>
            <a:r>
              <a:rPr lang="en-US" b="1" dirty="0"/>
              <a:t>Traversal using Depth-First Search (DFS) algorithm can be further classified into three categories:</a:t>
            </a:r>
            <a:br>
              <a:rPr lang="en-US" b="1" dirty="0"/>
            </a:br>
            <a:endParaRPr lang="en-IN" dirty="0"/>
          </a:p>
        </p:txBody>
      </p:sp>
      <p:sp>
        <p:nvSpPr>
          <p:cNvPr id="3" name="Content Placeholder 2"/>
          <p:cNvSpPr>
            <a:spLocks noGrp="1"/>
          </p:cNvSpPr>
          <p:nvPr>
            <p:ph idx="1"/>
          </p:nvPr>
        </p:nvSpPr>
        <p:spPr/>
        <p:txBody>
          <a:bodyPr/>
          <a:lstStyle/>
          <a:p>
            <a:pPr fontAlgn="base"/>
            <a:r>
              <a:rPr lang="en-US" b="1" dirty="0"/>
              <a:t>Preorder Traversal (current-left-right:</a:t>
            </a:r>
            <a:r>
              <a:rPr lang="en-US" dirty="0"/>
              <a:t> Visit the current node before visiting any nodes inside the left or right </a:t>
            </a:r>
            <a:r>
              <a:rPr lang="en-US" dirty="0" err="1"/>
              <a:t>subtrees</a:t>
            </a:r>
            <a:r>
              <a:rPr lang="en-US" dirty="0"/>
              <a:t>. Here, the traversal is root – left child – right child. It means that the root node is traversed first then its left child and finally the right child.</a:t>
            </a:r>
          </a:p>
          <a:p>
            <a:pPr fontAlgn="base"/>
            <a:r>
              <a:rPr lang="en-US" b="1" dirty="0" err="1"/>
              <a:t>Inorder</a:t>
            </a:r>
            <a:r>
              <a:rPr lang="en-US" b="1" dirty="0"/>
              <a:t> Traversal (left-current-right): </a:t>
            </a:r>
            <a:r>
              <a:rPr lang="en-US" dirty="0"/>
              <a:t>Visit the current node after visiting all nodes inside the left </a:t>
            </a:r>
            <a:r>
              <a:rPr lang="en-US" dirty="0" err="1"/>
              <a:t>subtree</a:t>
            </a:r>
            <a:r>
              <a:rPr lang="en-US" dirty="0"/>
              <a:t> but before visiting any node within the right </a:t>
            </a:r>
            <a:r>
              <a:rPr lang="en-US" dirty="0" err="1"/>
              <a:t>subtree</a:t>
            </a:r>
            <a:r>
              <a:rPr lang="en-US" dirty="0"/>
              <a:t>. Here, the traversal is left child – root – right child.  It means that the left child is traversed first then its root node and finally the right child.</a:t>
            </a:r>
          </a:p>
          <a:p>
            <a:pPr marL="0" indent="0">
              <a:buNone/>
            </a:pPr>
            <a:endParaRPr lang="en-IN" dirty="0"/>
          </a:p>
        </p:txBody>
      </p:sp>
    </p:spTree>
    <p:extLst>
      <p:ext uri="{BB962C8B-B14F-4D97-AF65-F5344CB8AC3E}">
        <p14:creationId xmlns:p14="http://schemas.microsoft.com/office/powerpoint/2010/main" val="13727566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err="1"/>
              <a:t>Postorder</a:t>
            </a:r>
            <a:r>
              <a:rPr lang="en-US" b="1" dirty="0"/>
              <a:t> Traversal (left-right-current):</a:t>
            </a:r>
            <a:r>
              <a:rPr lang="en-US" dirty="0"/>
              <a:t> Visit the current node after visiting all the nodes of the left and right </a:t>
            </a:r>
            <a:r>
              <a:rPr lang="en-US" dirty="0" err="1"/>
              <a:t>subtrees</a:t>
            </a:r>
            <a:r>
              <a:rPr lang="en-US" dirty="0"/>
              <a:t>. </a:t>
            </a:r>
            <a:r>
              <a:rPr lang="en-US" b="1" dirty="0"/>
              <a:t> </a:t>
            </a:r>
            <a:r>
              <a:rPr lang="en-US" dirty="0"/>
              <a:t>Here, the traversal is left child – right child – root.  It means that the left child has traversed first then the right child and finally its root node.</a:t>
            </a:r>
          </a:p>
          <a:p>
            <a:pPr marL="0" indent="0">
              <a:buNone/>
            </a:pPr>
            <a:endParaRPr lang="en-IN" dirty="0"/>
          </a:p>
        </p:txBody>
      </p:sp>
    </p:spTree>
    <p:extLst>
      <p:ext uri="{BB962C8B-B14F-4D97-AF65-F5344CB8AC3E}">
        <p14:creationId xmlns:p14="http://schemas.microsoft.com/office/powerpoint/2010/main" val="7319272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Tree Traversal using Breadth-First Search (BFS) algorithm can be further classified into one category:</a:t>
            </a:r>
          </a:p>
          <a:p>
            <a:pPr fontAlgn="base"/>
            <a:r>
              <a:rPr lang="en-US" b="1" dirty="0" smtClean="0"/>
              <a:t>Level Order Traversal: </a:t>
            </a:r>
            <a:r>
              <a:rPr lang="en-US" dirty="0" smtClean="0"/>
              <a:t> Visit nodes level-by-level and left-to-right fashion at the same level. Here, the traversal is level-wise. It means that the most left child has traversed first and then the other children of the same level from left to right have traversed. </a:t>
            </a:r>
          </a:p>
          <a:p>
            <a:pPr marL="0" indent="0">
              <a:buNone/>
            </a:pPr>
            <a:endParaRPr lang="en-IN" dirty="0"/>
          </a:p>
        </p:txBody>
      </p:sp>
    </p:spTree>
    <p:extLst>
      <p:ext uri="{BB962C8B-B14F-4D97-AF65-F5344CB8AC3E}">
        <p14:creationId xmlns:p14="http://schemas.microsoft.com/office/powerpoint/2010/main" val="377760999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Binary Search tree?</a:t>
            </a:r>
            <a:br>
              <a:rPr lang="en-US" dirty="0"/>
            </a:br>
            <a:endParaRPr lang="en-IN" dirty="0"/>
          </a:p>
        </p:txBody>
      </p:sp>
      <p:sp>
        <p:nvSpPr>
          <p:cNvPr id="3" name="Content Placeholder 2"/>
          <p:cNvSpPr>
            <a:spLocks noGrp="1"/>
          </p:cNvSpPr>
          <p:nvPr>
            <p:ph idx="1"/>
          </p:nvPr>
        </p:nvSpPr>
        <p:spPr/>
        <p:txBody>
          <a:bodyPr/>
          <a:lstStyle/>
          <a:p>
            <a:r>
              <a:rPr lang="en-US" dirty="0"/>
              <a:t>A binary search tree follows some order to arrange the elements. In a Binary search tree, the value of left node must be smaller than the parent node, and the value of right node must be greater than the parent node. </a:t>
            </a:r>
            <a:endParaRPr lang="en-US" dirty="0" smtClean="0"/>
          </a:p>
          <a:p>
            <a:r>
              <a:rPr lang="en-US" dirty="0" smtClean="0"/>
              <a:t>This </a:t>
            </a:r>
            <a:r>
              <a:rPr lang="en-US" dirty="0"/>
              <a:t>rule is applied recursively to the left and right </a:t>
            </a:r>
            <a:r>
              <a:rPr lang="en-US" dirty="0" err="1"/>
              <a:t>subtrees</a:t>
            </a:r>
            <a:r>
              <a:rPr lang="en-US" dirty="0"/>
              <a:t> of the root.</a:t>
            </a:r>
            <a:endParaRPr lang="en-IN" dirty="0"/>
          </a:p>
        </p:txBody>
      </p:sp>
    </p:spTree>
    <p:extLst>
      <p:ext uri="{BB962C8B-B14F-4D97-AF65-F5344CB8AC3E}">
        <p14:creationId xmlns:p14="http://schemas.microsoft.com/office/powerpoint/2010/main" val="195232454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2050" name="Picture 2" descr="Binary Search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17559" y="1309706"/>
            <a:ext cx="7567838" cy="5119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90003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creating a binary search tree</a:t>
            </a:r>
            <a:br>
              <a:rPr lang="en-US" dirty="0"/>
            </a:br>
            <a:endParaRPr lang="en-IN" dirty="0"/>
          </a:p>
        </p:txBody>
      </p:sp>
      <p:sp>
        <p:nvSpPr>
          <p:cNvPr id="3" name="Content Placeholder 2"/>
          <p:cNvSpPr>
            <a:spLocks noGrp="1"/>
          </p:cNvSpPr>
          <p:nvPr>
            <p:ph idx="1"/>
          </p:nvPr>
        </p:nvSpPr>
        <p:spPr/>
        <p:txBody>
          <a:bodyPr/>
          <a:lstStyle/>
          <a:p>
            <a:r>
              <a:rPr lang="en-US" dirty="0"/>
              <a:t>Suppose the data elements are - 45, 15, 79, 90, 10, 55, 12, 20, </a:t>
            </a:r>
            <a:r>
              <a:rPr lang="en-US" dirty="0" smtClean="0"/>
              <a:t>50</a:t>
            </a:r>
            <a:endParaRPr lang="en-US" dirty="0"/>
          </a:p>
          <a:p>
            <a:r>
              <a:rPr lang="en-US" dirty="0"/>
              <a:t>First, we have to insert 45 into the tree as the root of the tree.</a:t>
            </a:r>
          </a:p>
          <a:p>
            <a:r>
              <a:rPr lang="en-US" dirty="0"/>
              <a:t>Then, read the next element; if it is smaller than the root node, insert it as the root of the left </a:t>
            </a:r>
            <a:r>
              <a:rPr lang="en-US" dirty="0" err="1"/>
              <a:t>subtree</a:t>
            </a:r>
            <a:r>
              <a:rPr lang="en-US" dirty="0"/>
              <a:t>, and move to the next element.</a:t>
            </a:r>
          </a:p>
          <a:p>
            <a:r>
              <a:rPr lang="en-US" dirty="0"/>
              <a:t>Otherwise, if the element is larger than the root node, then insert it as the root of the right </a:t>
            </a:r>
            <a:r>
              <a:rPr lang="en-US" dirty="0" err="1"/>
              <a:t>subtree</a:t>
            </a:r>
            <a:r>
              <a:rPr lang="en-US" dirty="0"/>
              <a:t>.</a:t>
            </a:r>
            <a:endParaRPr lang="en-IN" dirty="0"/>
          </a:p>
        </p:txBody>
      </p:sp>
    </p:spTree>
    <p:extLst>
      <p:ext uri="{BB962C8B-B14F-4D97-AF65-F5344CB8AC3E}">
        <p14:creationId xmlns:p14="http://schemas.microsoft.com/office/powerpoint/2010/main" val="145134572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eaLnBrk="0" fontAlgn="base" hangingPunct="0">
              <a:lnSpc>
                <a:spcPct val="100000"/>
              </a:lnSpc>
              <a:spcAft>
                <a:spcPct val="0"/>
              </a:spcAft>
            </a:pPr>
            <a:r>
              <a:rPr lang="en-US" b="1" dirty="0" smtClean="0">
                <a:solidFill>
                  <a:srgbClr val="333333"/>
                </a:solidFill>
                <a:latin typeface="inter-bold"/>
              </a:rPr>
              <a:t/>
            </a:r>
            <a:br>
              <a:rPr lang="en-US" b="1" dirty="0" smtClean="0">
                <a:solidFill>
                  <a:srgbClr val="333333"/>
                </a:solidFill>
                <a:latin typeface="inter-bold"/>
              </a:rPr>
            </a:br>
            <a:r>
              <a:rPr lang="en-US" b="1" dirty="0">
                <a:solidFill>
                  <a:srgbClr val="333333"/>
                </a:solidFill>
                <a:latin typeface="inter-bold"/>
              </a:rPr>
              <a:t/>
            </a:r>
            <a:br>
              <a:rPr lang="en-US" b="1" dirty="0">
                <a:solidFill>
                  <a:srgbClr val="333333"/>
                </a:solidFill>
                <a:latin typeface="inter-bold"/>
              </a:rPr>
            </a:br>
            <a:r>
              <a:rPr lang="en-US" b="1" dirty="0" smtClean="0">
                <a:solidFill>
                  <a:srgbClr val="333333"/>
                </a:solidFill>
                <a:latin typeface="inter-bold"/>
              </a:rPr>
              <a:t/>
            </a:r>
            <a:br>
              <a:rPr lang="en-US" b="1" dirty="0" smtClean="0">
                <a:solidFill>
                  <a:srgbClr val="333333"/>
                </a:solidFill>
                <a:latin typeface="inter-bold"/>
              </a:rPr>
            </a:br>
            <a:r>
              <a:rPr lang="en-US" b="1" dirty="0" smtClean="0">
                <a:solidFill>
                  <a:srgbClr val="333333"/>
                </a:solidFill>
                <a:latin typeface="inter-bold"/>
              </a:rPr>
              <a:t>Step </a:t>
            </a:r>
            <a:r>
              <a:rPr lang="en-US" b="1" dirty="0">
                <a:solidFill>
                  <a:srgbClr val="333333"/>
                </a:solidFill>
                <a:latin typeface="inter-bold"/>
              </a:rPr>
              <a:t>1 - Insert </a:t>
            </a:r>
            <a:r>
              <a:rPr lang="en-US" b="1" dirty="0" smtClean="0">
                <a:solidFill>
                  <a:srgbClr val="333333"/>
                </a:solidFill>
                <a:latin typeface="inter-bold"/>
              </a:rPr>
              <a:t>45. 50</a:t>
            </a:r>
            <a:r>
              <a:rPr lang="en-US" sz="2400" dirty="0"/>
              <a:t/>
            </a:r>
            <a:br>
              <a:rPr lang="en-US" sz="2400" dirty="0"/>
            </a:br>
            <a:r>
              <a:rPr lang="en-US" sz="6000" dirty="0">
                <a:latin typeface="Arial" panose="020B0604020202020204" pitchFamily="34" charset="0"/>
              </a:rPr>
              <a:t>  </a:t>
            </a:r>
            <a:r>
              <a:rPr lang="en-US" sz="9600" dirty="0">
                <a:latin typeface="Arial" panose="020B0604020202020204" pitchFamily="34" charset="0"/>
              </a:rPr>
              <a:t> </a:t>
            </a:r>
            <a:r>
              <a:rPr lang="en-US" sz="6000" dirty="0">
                <a:latin typeface="Arial" panose="020B0604020202020204" pitchFamily="34" charset="0"/>
              </a:rPr>
              <a:t/>
            </a:r>
            <a:br>
              <a:rPr lang="en-US" sz="6000" dirty="0">
                <a:latin typeface="Arial" panose="020B0604020202020204" pitchFamily="34" charset="0"/>
              </a:rPr>
            </a:br>
            <a:endParaRPr lang="en-IN" dirty="0"/>
          </a:p>
        </p:txBody>
      </p:sp>
      <p:sp>
        <p:nvSpPr>
          <p:cNvPr id="4" name="Rectangle 1"/>
          <p:cNvSpPr>
            <a:spLocks noChangeArrowheads="1"/>
          </p:cNvSpPr>
          <p:nvPr/>
        </p:nvSpPr>
        <p:spPr bwMode="auto">
          <a:xfrm>
            <a:off x="-115503"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pic>
        <p:nvPicPr>
          <p:cNvPr id="6" name="Picture 2" descr="Binary Search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49805" y="1453415"/>
            <a:ext cx="1611296" cy="3086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4548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690688"/>
          </a:xfrm>
        </p:spPr>
        <p:txBody>
          <a:bodyPr>
            <a:normAutofit fontScale="90000"/>
          </a:bodyPr>
          <a:lstStyle/>
          <a:p>
            <a:r>
              <a:rPr lang="en-US" b="1" dirty="0" smtClean="0"/>
              <a:t/>
            </a:r>
            <a:br>
              <a:rPr lang="en-US" b="1" dirty="0" smtClean="0"/>
            </a:br>
            <a:r>
              <a:rPr lang="en-US" b="1" dirty="0" smtClean="0"/>
              <a:t>Step </a:t>
            </a:r>
            <a:r>
              <a:rPr lang="en-US" b="1" dirty="0"/>
              <a:t>2 - Insert 15.</a:t>
            </a:r>
            <a:r>
              <a:rPr lang="en-US" dirty="0"/>
              <a:t/>
            </a:r>
            <a:br>
              <a:rPr lang="en-US" dirty="0"/>
            </a:br>
            <a:r>
              <a:rPr lang="en-US" dirty="0"/>
              <a:t>As 15 is smaller than 45, so insert it as the root node of the left </a:t>
            </a:r>
            <a:r>
              <a:rPr lang="en-US" dirty="0" err="1"/>
              <a:t>subtree</a:t>
            </a:r>
            <a:r>
              <a:rPr lang="en-US" dirty="0"/>
              <a:t>.</a:t>
            </a:r>
            <a:br>
              <a:rPr lang="en-US" dirty="0"/>
            </a:br>
            <a:endParaRPr lang="en-IN" dirty="0"/>
          </a:p>
        </p:txBody>
      </p:sp>
      <p:pic>
        <p:nvPicPr>
          <p:cNvPr id="5122" name="Picture 2" descr="Binary Search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19650" y="2572544"/>
            <a:ext cx="25527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45075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1800" b="1" dirty="0"/>
              <a:t>Step 3 - Insert 79</a:t>
            </a:r>
            <a:r>
              <a:rPr lang="en-IN" sz="1800" b="1" dirty="0" smtClean="0"/>
              <a:t>.</a:t>
            </a:r>
            <a:r>
              <a:rPr lang="en-US" sz="1800" dirty="0"/>
              <a:t> As 79 is greater than 45, so insert it as the root node of the right </a:t>
            </a:r>
            <a:r>
              <a:rPr lang="en-US" sz="1800" dirty="0" err="1"/>
              <a:t>subtree</a:t>
            </a:r>
            <a:r>
              <a:rPr lang="en-US" sz="1800" dirty="0"/>
              <a:t>.</a:t>
            </a:r>
            <a:endParaRPr lang="en-IN" sz="1800" dirty="0"/>
          </a:p>
        </p:txBody>
      </p:sp>
      <p:pic>
        <p:nvPicPr>
          <p:cNvPr id="6146" name="Picture 2" descr="Binary Search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38349" y="2166248"/>
            <a:ext cx="3886401" cy="2901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09048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in Binary search tree</a:t>
            </a:r>
            <a:br>
              <a:rPr lang="en-US" dirty="0"/>
            </a:br>
            <a:endParaRPr lang="en-IN" dirty="0"/>
          </a:p>
        </p:txBody>
      </p:sp>
      <p:sp>
        <p:nvSpPr>
          <p:cNvPr id="3" name="Content Placeholder 2"/>
          <p:cNvSpPr>
            <a:spLocks noGrp="1"/>
          </p:cNvSpPr>
          <p:nvPr>
            <p:ph idx="1"/>
          </p:nvPr>
        </p:nvSpPr>
        <p:spPr/>
        <p:txBody>
          <a:bodyPr/>
          <a:lstStyle/>
          <a:p>
            <a:r>
              <a:rPr lang="en-US" dirty="0"/>
              <a:t>Searching means to find or locate a specific element or node in a data structure. </a:t>
            </a:r>
            <a:endParaRPr lang="en-US" dirty="0" smtClean="0"/>
          </a:p>
          <a:p>
            <a:r>
              <a:rPr lang="en-US" dirty="0" smtClean="0"/>
              <a:t>In </a:t>
            </a:r>
            <a:r>
              <a:rPr lang="en-US" dirty="0"/>
              <a:t>Binary search tree, searching a node is easy because elements in BST are stored in a specific order. </a:t>
            </a:r>
            <a:endParaRPr lang="en-US" dirty="0" smtClean="0"/>
          </a:p>
          <a:p>
            <a:r>
              <a:rPr lang="en-US" dirty="0" smtClean="0"/>
              <a:t>The </a:t>
            </a:r>
            <a:r>
              <a:rPr lang="en-US" dirty="0"/>
              <a:t>steps of searching a node in Binary Search tree are listed as follows -</a:t>
            </a:r>
            <a:endParaRPr lang="en-IN" dirty="0"/>
          </a:p>
        </p:txBody>
      </p:sp>
    </p:spTree>
    <p:extLst>
      <p:ext uri="{BB962C8B-B14F-4D97-AF65-F5344CB8AC3E}">
        <p14:creationId xmlns:p14="http://schemas.microsoft.com/office/powerpoint/2010/main" val="88194386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US" dirty="0"/>
              <a:t>First, compare the element to be searched with the root element of the tree.</a:t>
            </a:r>
          </a:p>
          <a:p>
            <a:r>
              <a:rPr lang="en-US" dirty="0"/>
              <a:t>If root is matched with the target element, then return the node's location.</a:t>
            </a:r>
          </a:p>
          <a:p>
            <a:r>
              <a:rPr lang="en-US" dirty="0"/>
              <a:t>If it is not matched, then check whether the item is less than the root element, if it is smaller than the root element, then move to the left </a:t>
            </a:r>
            <a:r>
              <a:rPr lang="en-US" dirty="0" err="1"/>
              <a:t>subtree</a:t>
            </a:r>
            <a:r>
              <a:rPr lang="en-US" dirty="0"/>
              <a:t>.</a:t>
            </a:r>
          </a:p>
          <a:p>
            <a:r>
              <a:rPr lang="en-US" dirty="0"/>
              <a:t>If it is larger than the root element, then move to the right </a:t>
            </a:r>
            <a:r>
              <a:rPr lang="en-US" dirty="0" err="1"/>
              <a:t>subtree</a:t>
            </a:r>
            <a:r>
              <a:rPr lang="en-US" dirty="0"/>
              <a:t>.</a:t>
            </a:r>
          </a:p>
          <a:p>
            <a:r>
              <a:rPr lang="en-US" dirty="0"/>
              <a:t>Repeat the above procedure recursively until the match is found.</a:t>
            </a:r>
          </a:p>
          <a:p>
            <a:r>
              <a:rPr lang="en-US" dirty="0"/>
              <a:t>If the element is not found or not present in the tree, then return NULL.</a:t>
            </a:r>
          </a:p>
          <a:p>
            <a:pPr marL="0" indent="0">
              <a:buNone/>
            </a:pPr>
            <a:endParaRPr lang="en-IN" dirty="0"/>
          </a:p>
        </p:txBody>
      </p:sp>
    </p:spTree>
    <p:extLst>
      <p:ext uri="{BB962C8B-B14F-4D97-AF65-F5344CB8AC3E}">
        <p14:creationId xmlns:p14="http://schemas.microsoft.com/office/powerpoint/2010/main" val="9532679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IN" dirty="0"/>
              <a:t>insert (element, root)</a:t>
            </a:r>
          </a:p>
          <a:p>
            <a:r>
              <a:rPr lang="en-IN" dirty="0"/>
              <a:t>    Node x = root</a:t>
            </a:r>
          </a:p>
          <a:p>
            <a:r>
              <a:rPr lang="en-IN" dirty="0"/>
              <a:t>    Node y = NULL</a:t>
            </a:r>
          </a:p>
          <a:p>
            <a:r>
              <a:rPr lang="en-IN" dirty="0"/>
              <a:t>    while x:</a:t>
            </a:r>
          </a:p>
          <a:p>
            <a:r>
              <a:rPr lang="en-IN" dirty="0"/>
              <a:t>    	y = x</a:t>
            </a:r>
          </a:p>
          <a:p>
            <a:r>
              <a:rPr lang="en-IN" dirty="0"/>
              <a:t>    if </a:t>
            </a:r>
            <a:r>
              <a:rPr lang="en-IN" dirty="0" err="1"/>
              <a:t>x.value</a:t>
            </a:r>
            <a:r>
              <a:rPr lang="en-IN" dirty="0"/>
              <a:t> &lt; </a:t>
            </a:r>
            <a:r>
              <a:rPr lang="en-IN" dirty="0" err="1"/>
              <a:t>element.value</a:t>
            </a:r>
            <a:endParaRPr lang="en-IN" dirty="0"/>
          </a:p>
          <a:p>
            <a:r>
              <a:rPr lang="en-IN" dirty="0"/>
              <a:t>        x = </a:t>
            </a:r>
            <a:r>
              <a:rPr lang="en-IN" dirty="0" err="1"/>
              <a:t>x.right</a:t>
            </a:r>
            <a:endParaRPr lang="en-IN" dirty="0"/>
          </a:p>
          <a:p>
            <a:r>
              <a:rPr lang="en-IN" dirty="0"/>
              <a:t>    else</a:t>
            </a:r>
          </a:p>
          <a:p>
            <a:r>
              <a:rPr lang="en-IN" dirty="0"/>
              <a:t>        x = </a:t>
            </a:r>
            <a:r>
              <a:rPr lang="en-IN" dirty="0" err="1"/>
              <a:t>x.left</a:t>
            </a:r>
            <a:endParaRPr lang="en-IN" dirty="0"/>
          </a:p>
          <a:p>
            <a:r>
              <a:rPr lang="en-IN" dirty="0"/>
              <a:t>    if </a:t>
            </a:r>
            <a:r>
              <a:rPr lang="en-IN" dirty="0" err="1"/>
              <a:t>y.value</a:t>
            </a:r>
            <a:r>
              <a:rPr lang="en-IN" dirty="0"/>
              <a:t> &lt; element</a:t>
            </a:r>
          </a:p>
          <a:p>
            <a:r>
              <a:rPr lang="en-IN" dirty="0"/>
              <a:t>    	</a:t>
            </a:r>
            <a:r>
              <a:rPr lang="en-IN" dirty="0" err="1"/>
              <a:t>y.right</a:t>
            </a:r>
            <a:r>
              <a:rPr lang="en-IN" dirty="0"/>
              <a:t> = element</a:t>
            </a:r>
          </a:p>
          <a:p>
            <a:r>
              <a:rPr lang="en-IN" dirty="0"/>
              <a:t>    else</a:t>
            </a:r>
          </a:p>
          <a:p>
            <a:r>
              <a:rPr lang="en-IN" dirty="0"/>
              <a:t>    	</a:t>
            </a:r>
            <a:r>
              <a:rPr lang="en-IN" dirty="0" err="1"/>
              <a:t>y.left</a:t>
            </a:r>
            <a:r>
              <a:rPr lang="en-IN" dirty="0"/>
              <a:t> = element</a:t>
            </a:r>
          </a:p>
        </p:txBody>
      </p:sp>
    </p:spTree>
    <p:extLst>
      <p:ext uri="{BB962C8B-B14F-4D97-AF65-F5344CB8AC3E}">
        <p14:creationId xmlns:p14="http://schemas.microsoft.com/office/powerpoint/2010/main" val="354560857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3314" name="Picture 2" descr="https://www.guru99.com/images/1/020820_0600_BinarySearc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1056" y="1825625"/>
            <a:ext cx="812988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04134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Delete Operations</a:t>
            </a:r>
          </a:p>
          <a:p>
            <a:r>
              <a:rPr lang="en-US" dirty="0"/>
              <a:t>For deleting a node from a BST, there are some cases, i.e. deleting a root or deleting a leaf node. Also, after deleting a root, we need to think about the root node.</a:t>
            </a:r>
          </a:p>
          <a:p>
            <a:r>
              <a:rPr lang="en-US" dirty="0"/>
              <a:t>Say we want to delete a leaf node, we can just delete it, but if we want to delete a root, we need to replace the root’s value with another node. Let’s take the following example:</a:t>
            </a:r>
          </a:p>
          <a:p>
            <a:pPr marL="0" indent="0">
              <a:buNone/>
            </a:pPr>
            <a:endParaRPr lang="en-IN" dirty="0"/>
          </a:p>
        </p:txBody>
      </p:sp>
    </p:spTree>
    <p:extLst>
      <p:ext uri="{BB962C8B-B14F-4D97-AF65-F5344CB8AC3E}">
        <p14:creationId xmlns:p14="http://schemas.microsoft.com/office/powerpoint/2010/main" val="219905361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Case 1- Node with zero children: this is the easiest situation, you just need to delete the node which has no further children on the right or left.</a:t>
            </a:r>
          </a:p>
          <a:p>
            <a:pPr marL="0" indent="0">
              <a:buNone/>
            </a:pPr>
            <a:endParaRPr lang="en-IN" dirty="0"/>
          </a:p>
        </p:txBody>
      </p:sp>
    </p:spTree>
    <p:extLst>
      <p:ext uri="{BB962C8B-B14F-4D97-AF65-F5344CB8AC3E}">
        <p14:creationId xmlns:p14="http://schemas.microsoft.com/office/powerpoint/2010/main" val="197158759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5362" name="Picture 2" descr="https://www.guru99.com/images/1/020820_0600_BinarySearc4.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94985" y="1825625"/>
            <a:ext cx="660203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969514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This is the first case of deletion in which you delete a node that has no children. As you can see in the diagram that 19, 10 and 5 have no children. But we will delete 19.</a:t>
            </a:r>
          </a:p>
          <a:p>
            <a:r>
              <a:rPr lang="en-US" dirty="0"/>
              <a:t>Delete the value 19 and remove the link from the node.</a:t>
            </a:r>
          </a:p>
          <a:p>
            <a:r>
              <a:rPr lang="en-US" dirty="0"/>
              <a:t>View the new structure of the BST without 19</a:t>
            </a:r>
          </a:p>
          <a:p>
            <a:pPr marL="0" indent="0">
              <a:buNone/>
            </a:pPr>
            <a:endParaRPr lang="en-IN" dirty="0"/>
          </a:p>
        </p:txBody>
      </p:sp>
    </p:spTree>
    <p:extLst>
      <p:ext uri="{BB962C8B-B14F-4D97-AF65-F5344CB8AC3E}">
        <p14:creationId xmlns:p14="http://schemas.microsoft.com/office/powerpoint/2010/main" val="71800689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Case 2</a:t>
            </a:r>
            <a:endParaRPr lang="en-IN" dirty="0"/>
          </a:p>
        </p:txBody>
      </p:sp>
      <p:sp>
        <p:nvSpPr>
          <p:cNvPr id="3" name="Content Placeholder 2"/>
          <p:cNvSpPr>
            <a:spLocks noGrp="1"/>
          </p:cNvSpPr>
          <p:nvPr>
            <p:ph idx="1"/>
          </p:nvPr>
        </p:nvSpPr>
        <p:spPr/>
        <p:txBody>
          <a:bodyPr/>
          <a:lstStyle/>
          <a:p>
            <a:r>
              <a:rPr lang="en-US" dirty="0"/>
              <a:t>Case 2 – Node with one child: once you delete the node, simply connect its child node with the parent node of the deleted value.</a:t>
            </a:r>
          </a:p>
          <a:p>
            <a:endParaRPr lang="en-IN" dirty="0"/>
          </a:p>
        </p:txBody>
      </p:sp>
    </p:spTree>
    <p:extLst>
      <p:ext uri="{BB962C8B-B14F-4D97-AF65-F5344CB8AC3E}">
        <p14:creationId xmlns:p14="http://schemas.microsoft.com/office/powerpoint/2010/main" val="9759377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794985" y="1825625"/>
            <a:ext cx="6602030" cy="4351338"/>
          </a:xfrm>
          <a:prstGeom prst="rect">
            <a:avLst/>
          </a:prstGeom>
        </p:spPr>
      </p:pic>
    </p:spTree>
    <p:extLst>
      <p:ext uri="{BB962C8B-B14F-4D97-AF65-F5344CB8AC3E}">
        <p14:creationId xmlns:p14="http://schemas.microsoft.com/office/powerpoint/2010/main" val="223473537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This is the second case of deletion in which you delete a node that has 1 child, as you can see in the diagram that 9 has one child.</a:t>
            </a:r>
          </a:p>
          <a:p>
            <a:r>
              <a:rPr lang="en-US" dirty="0"/>
              <a:t>Delete the node 9 and replace it with its child 10 and add a link from 7 to 10</a:t>
            </a:r>
          </a:p>
          <a:p>
            <a:r>
              <a:rPr lang="en-US" dirty="0"/>
              <a:t>View the new structure of the BST without 9</a:t>
            </a:r>
          </a:p>
          <a:p>
            <a:pPr marL="0" indent="0">
              <a:buNone/>
            </a:pPr>
            <a:endParaRPr lang="en-IN" dirty="0"/>
          </a:p>
        </p:txBody>
      </p:sp>
    </p:spTree>
    <p:extLst>
      <p:ext uri="{BB962C8B-B14F-4D97-AF65-F5344CB8AC3E}">
        <p14:creationId xmlns:p14="http://schemas.microsoft.com/office/powerpoint/2010/main" val="197150802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Case 3 Node with two children: this is the most difficult situation, and it works on the following two rules</a:t>
            </a:r>
          </a:p>
          <a:p>
            <a:r>
              <a:rPr lang="en-US" dirty="0"/>
              <a:t>3a – In Order Predecessor: you need to delete the node with two children and replace it with the largest value on the left-</a:t>
            </a:r>
            <a:r>
              <a:rPr lang="en-US" dirty="0" err="1"/>
              <a:t>subtree</a:t>
            </a:r>
            <a:r>
              <a:rPr lang="en-US" dirty="0"/>
              <a:t> of the deleted node</a:t>
            </a:r>
          </a:p>
          <a:p>
            <a:r>
              <a:rPr lang="en-US" dirty="0"/>
              <a:t>3b – In Order Successor: you need to delete the node with two children and replace it with the largest value on the right-</a:t>
            </a:r>
            <a:r>
              <a:rPr lang="en-US" dirty="0" err="1"/>
              <a:t>subtree</a:t>
            </a:r>
            <a:r>
              <a:rPr lang="en-US" dirty="0"/>
              <a:t> of the deleted node</a:t>
            </a:r>
          </a:p>
          <a:p>
            <a:pPr marL="0" indent="0">
              <a:buNone/>
            </a:pPr>
            <a:endParaRPr lang="en-IN" dirty="0"/>
          </a:p>
        </p:txBody>
      </p:sp>
    </p:spTree>
    <p:extLst>
      <p:ext uri="{BB962C8B-B14F-4D97-AF65-F5344CB8AC3E}">
        <p14:creationId xmlns:p14="http://schemas.microsoft.com/office/powerpoint/2010/main" val="354319227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Deletion in binary search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20567"/>
            <a:ext cx="10515600" cy="4161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5988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6386" name="Picture 2" descr="https://www.guru99.com/images/1/020820_0600_BinarySearc6.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32766" y="1825625"/>
            <a:ext cx="712646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91423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Here you will be deleting the node 12 that has two children</a:t>
            </a:r>
          </a:p>
          <a:p>
            <a:r>
              <a:rPr lang="en-US" dirty="0"/>
              <a:t>The deletion of the node will occur based upon the in order predecessor rule, which means that the largest element on the left </a:t>
            </a:r>
            <a:r>
              <a:rPr lang="en-US" dirty="0" err="1"/>
              <a:t>subtree</a:t>
            </a:r>
            <a:r>
              <a:rPr lang="en-US" dirty="0"/>
              <a:t> of 12 will replace it.</a:t>
            </a:r>
          </a:p>
          <a:p>
            <a:r>
              <a:rPr lang="en-US" dirty="0"/>
              <a:t>Delete the node 12 and replace it with 10 as it is the largest value on the left </a:t>
            </a:r>
            <a:r>
              <a:rPr lang="en-US" dirty="0" err="1"/>
              <a:t>subtree</a:t>
            </a:r>
            <a:endParaRPr lang="en-US" dirty="0"/>
          </a:p>
          <a:p>
            <a:r>
              <a:rPr lang="en-US" dirty="0"/>
              <a:t>View the new structure of the BST after deleting 12</a:t>
            </a:r>
          </a:p>
          <a:p>
            <a:pPr marL="0" indent="0">
              <a:buNone/>
            </a:pPr>
            <a:endParaRPr lang="en-IN" dirty="0"/>
          </a:p>
        </p:txBody>
      </p:sp>
    </p:spTree>
    <p:extLst>
      <p:ext uri="{BB962C8B-B14F-4D97-AF65-F5344CB8AC3E}">
        <p14:creationId xmlns:p14="http://schemas.microsoft.com/office/powerpoint/2010/main" val="76116844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7410" name="Picture 2" descr="https://www.guru99.com/images/1/020820_0600_BinarySearc7.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0996" y="1825625"/>
            <a:ext cx="671000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895967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1 Delete a node 12 that has two children</a:t>
            </a:r>
          </a:p>
          <a:p>
            <a:r>
              <a:rPr lang="en-US" dirty="0"/>
              <a:t>2 The deletion of the node will occur based upon the In Order Successor rule, which means that the largest element on the right </a:t>
            </a:r>
            <a:r>
              <a:rPr lang="en-US" dirty="0" err="1"/>
              <a:t>subtree</a:t>
            </a:r>
            <a:r>
              <a:rPr lang="en-US" dirty="0"/>
              <a:t> of 12 will replace it</a:t>
            </a:r>
          </a:p>
          <a:p>
            <a:r>
              <a:rPr lang="en-US" dirty="0"/>
              <a:t>3 Delete the node 12 and replace it with 19 as it is the largest value on the right </a:t>
            </a:r>
            <a:r>
              <a:rPr lang="en-US" dirty="0" err="1"/>
              <a:t>subtree</a:t>
            </a:r>
            <a:endParaRPr lang="en-US" dirty="0"/>
          </a:p>
          <a:p>
            <a:r>
              <a:rPr lang="en-US" dirty="0"/>
              <a:t>4 View the new structure of the BST after deleting 12</a:t>
            </a:r>
          </a:p>
          <a:p>
            <a:pPr marL="0" indent="0">
              <a:buNone/>
            </a:pPr>
            <a:endParaRPr lang="en-IN" dirty="0"/>
          </a:p>
        </p:txBody>
      </p:sp>
    </p:spTree>
    <p:extLst>
      <p:ext uri="{BB962C8B-B14F-4D97-AF65-F5344CB8AC3E}">
        <p14:creationId xmlns:p14="http://schemas.microsoft.com/office/powerpoint/2010/main" val="374193128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Search Operation</a:t>
            </a:r>
            <a:br>
              <a:rPr lang="en-US" b="1" dirty="0"/>
            </a:br>
            <a:endParaRPr lang="en-IN" dirty="0"/>
          </a:p>
        </p:txBody>
      </p:sp>
      <p:sp>
        <p:nvSpPr>
          <p:cNvPr id="3" name="Content Placeholder 2"/>
          <p:cNvSpPr>
            <a:spLocks noGrp="1"/>
          </p:cNvSpPr>
          <p:nvPr>
            <p:ph idx="1"/>
          </p:nvPr>
        </p:nvSpPr>
        <p:spPr/>
        <p:txBody>
          <a:bodyPr/>
          <a:lstStyle/>
          <a:p>
            <a:r>
              <a:rPr lang="en-US" dirty="0" smtClean="0"/>
              <a:t>Always </a:t>
            </a:r>
            <a:r>
              <a:rPr lang="en-US" dirty="0"/>
              <a:t>initiate analyzing tree at the root node and then move further to either the right or left </a:t>
            </a:r>
            <a:r>
              <a:rPr lang="en-US" dirty="0" err="1"/>
              <a:t>subtree</a:t>
            </a:r>
            <a:r>
              <a:rPr lang="en-US" dirty="0"/>
              <a:t> of the root node depending upon the element to be located is either less or greater than the root.</a:t>
            </a:r>
          </a:p>
          <a:p>
            <a:endParaRPr lang="en-IN" dirty="0"/>
          </a:p>
        </p:txBody>
      </p:sp>
    </p:spTree>
    <p:extLst>
      <p:ext uri="{BB962C8B-B14F-4D97-AF65-F5344CB8AC3E}">
        <p14:creationId xmlns:p14="http://schemas.microsoft.com/office/powerpoint/2010/main" val="390120973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Algorithm to search an element in Binary search tree</a:t>
            </a:r>
            <a:br>
              <a:rPr lang="en-US" dirty="0"/>
            </a:br>
            <a:endParaRPr lang="en-IN" dirty="0"/>
          </a:p>
        </p:txBody>
      </p:sp>
      <p:sp>
        <p:nvSpPr>
          <p:cNvPr id="3" name="Content Placeholder 2"/>
          <p:cNvSpPr>
            <a:spLocks noGrp="1"/>
          </p:cNvSpPr>
          <p:nvPr>
            <p:ph idx="1"/>
          </p:nvPr>
        </p:nvSpPr>
        <p:spPr/>
        <p:txBody>
          <a:bodyPr>
            <a:normAutofit lnSpcReduction="10000"/>
          </a:bodyPr>
          <a:lstStyle/>
          <a:p>
            <a:r>
              <a:rPr lang="en-US" dirty="0"/>
              <a:t>Search (root, item)  </a:t>
            </a:r>
          </a:p>
          <a:p>
            <a:r>
              <a:rPr lang="en-US" dirty="0"/>
              <a:t>Step 1 - if (item = root → data) or (root = NULL)  </a:t>
            </a:r>
          </a:p>
          <a:p>
            <a:r>
              <a:rPr lang="en-US" dirty="0"/>
              <a:t>return root  </a:t>
            </a:r>
          </a:p>
          <a:p>
            <a:r>
              <a:rPr lang="en-US" dirty="0"/>
              <a:t>else if (item </a:t>
            </a:r>
            <a:r>
              <a:rPr lang="en-US" b="1" dirty="0"/>
              <a:t>&lt;</a:t>
            </a:r>
            <a:r>
              <a:rPr lang="en-US" dirty="0"/>
              <a:t> </a:t>
            </a:r>
            <a:r>
              <a:rPr lang="en-US" b="1" dirty="0"/>
              <a:t>root</a:t>
            </a:r>
            <a:r>
              <a:rPr lang="en-US" dirty="0"/>
              <a:t> → data)  </a:t>
            </a:r>
          </a:p>
          <a:p>
            <a:r>
              <a:rPr lang="en-US" dirty="0"/>
              <a:t>return Search(root → left, item)  </a:t>
            </a:r>
          </a:p>
          <a:p>
            <a:r>
              <a:rPr lang="en-US" dirty="0"/>
              <a:t>else  </a:t>
            </a:r>
          </a:p>
          <a:p>
            <a:r>
              <a:rPr lang="en-US" dirty="0"/>
              <a:t>return Search(root → right, item)  </a:t>
            </a:r>
          </a:p>
          <a:p>
            <a:r>
              <a:rPr lang="en-US" dirty="0"/>
              <a:t>END if  </a:t>
            </a:r>
          </a:p>
          <a:p>
            <a:r>
              <a:rPr lang="en-US" dirty="0"/>
              <a:t>Step 2 - END  </a:t>
            </a:r>
          </a:p>
          <a:p>
            <a:endParaRPr lang="en-IN" dirty="0"/>
          </a:p>
        </p:txBody>
      </p:sp>
    </p:spTree>
    <p:extLst>
      <p:ext uri="{BB962C8B-B14F-4D97-AF65-F5344CB8AC3E}">
        <p14:creationId xmlns:p14="http://schemas.microsoft.com/office/powerpoint/2010/main" val="273352299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8434" name="Picture 2" descr="https://www.guru99.com/images/1/020820_0600_BinarySearc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24686" y="1825625"/>
            <a:ext cx="634262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664285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element to be searched is 10</a:t>
            </a:r>
          </a:p>
          <a:p>
            <a:r>
              <a:rPr lang="en-US" dirty="0"/>
              <a:t>Compare the element with the root node 12, 10 &lt; 12, hence you move to the left </a:t>
            </a:r>
            <a:r>
              <a:rPr lang="en-US" dirty="0" err="1"/>
              <a:t>subtree</a:t>
            </a:r>
            <a:r>
              <a:rPr lang="en-US" dirty="0"/>
              <a:t>. No need to analyze the right-</a:t>
            </a:r>
            <a:r>
              <a:rPr lang="en-US" dirty="0" err="1"/>
              <a:t>subtree</a:t>
            </a:r>
            <a:endParaRPr lang="en-US" dirty="0"/>
          </a:p>
          <a:p>
            <a:r>
              <a:rPr lang="en-US" dirty="0"/>
              <a:t>Now compare 10 with node 7, 10 &gt; 7, so move to the right-</a:t>
            </a:r>
            <a:r>
              <a:rPr lang="en-US" dirty="0" err="1"/>
              <a:t>subtree</a:t>
            </a:r>
            <a:endParaRPr lang="en-US" dirty="0"/>
          </a:p>
          <a:p>
            <a:r>
              <a:rPr lang="en-US" dirty="0"/>
              <a:t>Then compare 10 with the next node, which is 9, 10 &gt; 9, look in the right </a:t>
            </a:r>
            <a:r>
              <a:rPr lang="en-US" dirty="0" err="1"/>
              <a:t>subtree</a:t>
            </a:r>
            <a:r>
              <a:rPr lang="en-US" dirty="0"/>
              <a:t> child</a:t>
            </a:r>
          </a:p>
          <a:p>
            <a:r>
              <a:rPr lang="en-US" dirty="0"/>
              <a:t>10 matches with the value in the node, 10 = 10, return the value to the user.</a:t>
            </a:r>
          </a:p>
          <a:p>
            <a:endParaRPr lang="en-IN" dirty="0"/>
          </a:p>
        </p:txBody>
      </p:sp>
    </p:spTree>
    <p:extLst>
      <p:ext uri="{BB962C8B-B14F-4D97-AF65-F5344CB8AC3E}">
        <p14:creationId xmlns:p14="http://schemas.microsoft.com/office/powerpoint/2010/main" val="54498298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search(element, root)</a:t>
            </a:r>
          </a:p>
          <a:p>
            <a:r>
              <a:rPr lang="en-US" dirty="0"/>
              <a:t>     if !root</a:t>
            </a:r>
          </a:p>
          <a:p>
            <a:r>
              <a:rPr lang="en-US" dirty="0"/>
              <a:t>    	return -1</a:t>
            </a:r>
          </a:p>
          <a:p>
            <a:r>
              <a:rPr lang="en-US" dirty="0"/>
              <a:t>     if </a:t>
            </a:r>
            <a:r>
              <a:rPr lang="en-US" dirty="0" err="1"/>
              <a:t>root.value</a:t>
            </a:r>
            <a:r>
              <a:rPr lang="en-US" dirty="0"/>
              <a:t> == element</a:t>
            </a:r>
          </a:p>
          <a:p>
            <a:r>
              <a:rPr lang="en-US" dirty="0"/>
              <a:t>    	return 1</a:t>
            </a:r>
          </a:p>
          <a:p>
            <a:r>
              <a:rPr lang="en-US" dirty="0"/>
              <a:t>     if </a:t>
            </a:r>
            <a:r>
              <a:rPr lang="en-US" dirty="0" err="1"/>
              <a:t>root.value</a:t>
            </a:r>
            <a:r>
              <a:rPr lang="en-US" dirty="0"/>
              <a:t> &lt; element</a:t>
            </a:r>
          </a:p>
          <a:p>
            <a:r>
              <a:rPr lang="en-US" dirty="0"/>
              <a:t>    	search(element, </a:t>
            </a:r>
            <a:r>
              <a:rPr lang="en-US" dirty="0" err="1"/>
              <a:t>root.right</a:t>
            </a:r>
            <a:r>
              <a:rPr lang="en-US" dirty="0"/>
              <a:t>)</a:t>
            </a:r>
          </a:p>
          <a:p>
            <a:r>
              <a:rPr lang="en-US" dirty="0"/>
              <a:t>      else</a:t>
            </a:r>
          </a:p>
          <a:p>
            <a:r>
              <a:rPr lang="en-US" dirty="0"/>
              <a:t>    	search(element, </a:t>
            </a:r>
            <a:r>
              <a:rPr lang="en-US" dirty="0" err="1"/>
              <a:t>root.left</a:t>
            </a:r>
            <a:r>
              <a:rPr lang="en-US" dirty="0"/>
              <a:t>)</a:t>
            </a:r>
            <a:endParaRPr lang="en-IN" dirty="0"/>
          </a:p>
        </p:txBody>
      </p:sp>
    </p:spTree>
    <p:extLst>
      <p:ext uri="{BB962C8B-B14F-4D97-AF65-F5344CB8AC3E}">
        <p14:creationId xmlns:p14="http://schemas.microsoft.com/office/powerpoint/2010/main" val="13240937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AVL Tree:</a:t>
            </a:r>
            <a:r>
              <a:rPr lang="en-US" b="1" dirty="0"/>
              <a:t/>
            </a:r>
            <a:br>
              <a:rPr lang="en-US" b="1" dirty="0"/>
            </a:br>
            <a:endParaRPr lang="en-IN" dirty="0"/>
          </a:p>
        </p:txBody>
      </p:sp>
      <p:sp>
        <p:nvSpPr>
          <p:cNvPr id="3" name="Content Placeholder 2"/>
          <p:cNvSpPr>
            <a:spLocks noGrp="1"/>
          </p:cNvSpPr>
          <p:nvPr>
            <p:ph idx="1"/>
          </p:nvPr>
        </p:nvSpPr>
        <p:spPr/>
        <p:txBody>
          <a:bodyPr/>
          <a:lstStyle/>
          <a:p>
            <a:pPr fontAlgn="base"/>
            <a:r>
              <a:rPr lang="en-US" dirty="0" smtClean="0"/>
              <a:t>AVL </a:t>
            </a:r>
            <a:r>
              <a:rPr lang="en-US" dirty="0"/>
              <a:t>tree is a self-balancing Binary Search Tree (</a:t>
            </a:r>
            <a:r>
              <a:rPr lang="en-US" b="1" dirty="0"/>
              <a:t>BST</a:t>
            </a:r>
            <a:r>
              <a:rPr lang="en-US" dirty="0"/>
              <a:t>) where the difference between heights of left and right </a:t>
            </a:r>
            <a:r>
              <a:rPr lang="en-US" dirty="0" err="1"/>
              <a:t>subtrees</a:t>
            </a:r>
            <a:r>
              <a:rPr lang="en-US" dirty="0"/>
              <a:t> cannot be more than </a:t>
            </a:r>
            <a:r>
              <a:rPr lang="en-US" b="1" dirty="0"/>
              <a:t>one</a:t>
            </a:r>
            <a:r>
              <a:rPr lang="en-US" dirty="0"/>
              <a:t> for all nodes</a:t>
            </a:r>
            <a:r>
              <a:rPr lang="en-US" dirty="0" smtClean="0"/>
              <a:t>.</a:t>
            </a:r>
          </a:p>
          <a:p>
            <a:pPr fontAlgn="base"/>
            <a:r>
              <a:rPr lang="en-US" b="1" dirty="0"/>
              <a:t>AVL trees</a:t>
            </a:r>
            <a:r>
              <a:rPr lang="en-US" dirty="0"/>
              <a:t> are binary search trees in which the difference between the height of the left and right </a:t>
            </a:r>
            <a:r>
              <a:rPr lang="en-US" dirty="0" err="1"/>
              <a:t>subtree</a:t>
            </a:r>
            <a:r>
              <a:rPr lang="en-US" dirty="0"/>
              <a:t> is either -1, 0, or +1. </a:t>
            </a:r>
            <a:endParaRPr lang="en-US" dirty="0" smtClean="0"/>
          </a:p>
          <a:p>
            <a:pPr fontAlgn="base"/>
            <a:r>
              <a:rPr lang="en-US" dirty="0"/>
              <a:t>AVL trees are also called a self-balancing binary search tree. These trees help to maintain the logarithmic search time. It is named after its inventors (AVL) </a:t>
            </a:r>
            <a:r>
              <a:rPr lang="en-US" dirty="0" err="1"/>
              <a:t>Adelson</a:t>
            </a:r>
            <a:r>
              <a:rPr lang="en-US" dirty="0"/>
              <a:t>, </a:t>
            </a:r>
            <a:r>
              <a:rPr lang="en-US" dirty="0" err="1"/>
              <a:t>Velsky</a:t>
            </a:r>
            <a:r>
              <a:rPr lang="en-US" dirty="0"/>
              <a:t>, and Landis.</a:t>
            </a:r>
          </a:p>
          <a:p>
            <a:pPr marL="0" indent="0">
              <a:buNone/>
            </a:pPr>
            <a:endParaRPr lang="en-IN" dirty="0"/>
          </a:p>
        </p:txBody>
      </p:sp>
    </p:spTree>
    <p:extLst>
      <p:ext uri="{BB962C8B-B14F-4D97-AF65-F5344CB8AC3E}">
        <p14:creationId xmlns:p14="http://schemas.microsoft.com/office/powerpoint/2010/main" val="2398089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482" name="Picture 2" descr="https://media.geeksforgeeks.org/wp-content/cdn-uploads/AVL-Tree1.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81412" y="1953419"/>
            <a:ext cx="4829175" cy="4095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10880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above tree is AVL because the differences between the heights of left and right </a:t>
            </a:r>
            <a:r>
              <a:rPr lang="en-US" dirty="0" err="1"/>
              <a:t>subtrees</a:t>
            </a:r>
            <a:r>
              <a:rPr lang="en-US" dirty="0"/>
              <a:t> for every node are less than or equal to 1.</a:t>
            </a:r>
            <a:endParaRPr lang="en-IN" dirty="0"/>
          </a:p>
        </p:txBody>
      </p:sp>
    </p:spTree>
    <p:extLst>
      <p:ext uri="{BB962C8B-B14F-4D97-AF65-F5344CB8AC3E}">
        <p14:creationId xmlns:p14="http://schemas.microsoft.com/office/powerpoint/2010/main" val="7611837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1506" name="Picture 2" descr="https://media.geeksforgeeks.org/wp-content/cdn-uploads/Not-AVL1.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9572" y="1825625"/>
            <a:ext cx="571285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00704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Balance Factor:</a:t>
            </a:r>
            <a:endParaRPr lang="en-IN" dirty="0"/>
          </a:p>
        </p:txBody>
      </p:sp>
      <p:sp>
        <p:nvSpPr>
          <p:cNvPr id="3" name="Content Placeholder 2"/>
          <p:cNvSpPr>
            <a:spLocks noGrp="1"/>
          </p:cNvSpPr>
          <p:nvPr>
            <p:ph idx="1"/>
          </p:nvPr>
        </p:nvSpPr>
        <p:spPr/>
        <p:txBody>
          <a:bodyPr/>
          <a:lstStyle/>
          <a:p>
            <a:r>
              <a:rPr lang="en-IN" dirty="0" smtClean="0"/>
              <a:t>Balance factor =height of left sub-tree - height of right </a:t>
            </a:r>
            <a:r>
              <a:rPr lang="en-IN" dirty="0" err="1" smtClean="0"/>
              <a:t>subtree</a:t>
            </a:r>
            <a:endParaRPr lang="en-IN" dirty="0" smtClean="0"/>
          </a:p>
          <a:p>
            <a:r>
              <a:rPr lang="en-IN" dirty="0" smtClean="0"/>
              <a:t>Balance factor=-1,0,1</a:t>
            </a:r>
            <a:endParaRPr lang="en-IN" dirty="0"/>
          </a:p>
        </p:txBody>
      </p:sp>
    </p:spTree>
    <p:extLst>
      <p:ext uri="{BB962C8B-B14F-4D97-AF65-F5344CB8AC3E}">
        <p14:creationId xmlns:p14="http://schemas.microsoft.com/office/powerpoint/2010/main" val="42236681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Insertion</a:t>
            </a:r>
          </a:p>
        </p:txBody>
      </p:sp>
      <p:sp>
        <p:nvSpPr>
          <p:cNvPr id="3" name="Content Placeholder 2"/>
          <p:cNvSpPr>
            <a:spLocks noGrp="1"/>
          </p:cNvSpPr>
          <p:nvPr>
            <p:ph idx="1"/>
          </p:nvPr>
        </p:nvSpPr>
        <p:spPr/>
        <p:txBody>
          <a:bodyPr/>
          <a:lstStyle/>
          <a:p>
            <a:r>
              <a:rPr lang="en-US" dirty="0"/>
              <a:t>Insertion in AVL tree is performed in the same way as it is performed in a binary search tree. </a:t>
            </a:r>
            <a:endParaRPr lang="en-US" dirty="0" smtClean="0"/>
          </a:p>
          <a:p>
            <a:r>
              <a:rPr lang="en-US" dirty="0" smtClean="0"/>
              <a:t>The </a:t>
            </a:r>
            <a:r>
              <a:rPr lang="en-US" dirty="0"/>
              <a:t>new node is added into AVL tree as the leaf node. </a:t>
            </a:r>
            <a:endParaRPr lang="en-US" dirty="0" smtClean="0"/>
          </a:p>
          <a:p>
            <a:r>
              <a:rPr lang="en-US" dirty="0" smtClean="0"/>
              <a:t>However</a:t>
            </a:r>
            <a:r>
              <a:rPr lang="en-US" dirty="0"/>
              <a:t>, it may lead to violation in the AVL tree property and therefore the tree may need balancing.</a:t>
            </a:r>
          </a:p>
          <a:p>
            <a:r>
              <a:rPr lang="en-US" dirty="0"/>
              <a:t>The tree can be balanced by applying rotations. </a:t>
            </a:r>
            <a:endParaRPr lang="en-US" dirty="0" smtClean="0"/>
          </a:p>
          <a:p>
            <a:r>
              <a:rPr lang="en-US" dirty="0" smtClean="0"/>
              <a:t>Rotation </a:t>
            </a:r>
            <a:r>
              <a:rPr lang="en-US" dirty="0"/>
              <a:t>is required only if, the balance factor of any node is disturbed upon inserting the new node, otherwise the rotation is not required.</a:t>
            </a:r>
          </a:p>
          <a:p>
            <a:endParaRPr lang="en-IN" dirty="0"/>
          </a:p>
        </p:txBody>
      </p:sp>
    </p:spTree>
    <p:extLst>
      <p:ext uri="{BB962C8B-B14F-4D97-AF65-F5344CB8AC3E}">
        <p14:creationId xmlns:p14="http://schemas.microsoft.com/office/powerpoint/2010/main" val="11722822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838200" y="1882934"/>
          <a:ext cx="10515600" cy="4236720"/>
        </p:xfrm>
        <a:graphic>
          <a:graphicData uri="http://schemas.openxmlformats.org/drawingml/2006/table">
            <a:tbl>
              <a:tblPr/>
              <a:tblGrid>
                <a:gridCol w="3505200"/>
                <a:gridCol w="3505200"/>
                <a:gridCol w="3505200"/>
              </a:tblGrid>
              <a:tr h="0">
                <a:tc>
                  <a:txBody>
                    <a:bodyPr/>
                    <a:lstStyle/>
                    <a:p>
                      <a:pPr algn="l" fontAlgn="t"/>
                      <a:r>
                        <a:rPr lang="en-IN">
                          <a:solidFill>
                            <a:srgbClr val="000000"/>
                          </a:solidFill>
                          <a:effectLst/>
                          <a:latin typeface="times new roman" panose="02020603050405020304" pitchFamily="18" charset="0"/>
                        </a:rPr>
                        <a:t>SN</a:t>
                      </a:r>
                    </a:p>
                  </a:txBody>
                  <a:tcPr marT="91440" marB="91440">
                    <a:lnL>
                      <a:noFill/>
                    </a:lnL>
                    <a:lnR>
                      <a:noFill/>
                    </a:lnR>
                    <a:lnT>
                      <a:noFill/>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Rotation</a:t>
                      </a:r>
                    </a:p>
                  </a:txBody>
                  <a:tcPr marT="91440" marB="91440">
                    <a:lnL>
                      <a:noFill/>
                    </a:lnL>
                    <a:lnR>
                      <a:noFill/>
                    </a:lnR>
                    <a:lnT>
                      <a:noFill/>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Description</a:t>
                      </a:r>
                    </a:p>
                  </a:txBody>
                  <a:tcPr marT="91440" marB="91440">
                    <a:lnL>
                      <a:noFill/>
                    </a:lnL>
                    <a:lnR>
                      <a:noFill/>
                    </a:lnR>
                    <a:lnT>
                      <a:noFill/>
                    </a:lnT>
                    <a:lnB w="7620" cap="flat" cmpd="sng" algn="ctr">
                      <a:solidFill>
                        <a:srgbClr val="C7CCBE"/>
                      </a:solidFill>
                      <a:prstDash val="solid"/>
                      <a:round/>
                      <a:headEnd type="none" w="med" len="med"/>
                      <a:tailEnd type="none" w="med" len="med"/>
                    </a:lnB>
                    <a:solidFill>
                      <a:srgbClr val="C7CCBE"/>
                    </a:solidFill>
                  </a:tcPr>
                </a:tc>
              </a:tr>
              <a:tr h="0">
                <a:tc>
                  <a:txBody>
                    <a:bodyPr/>
                    <a:lstStyle/>
                    <a:p>
                      <a:pPr algn="just" fontAlgn="t"/>
                      <a:r>
                        <a:rPr lang="en-IN">
                          <a:solidFill>
                            <a:srgbClr val="333333"/>
                          </a:solidFill>
                          <a:effectLst/>
                          <a:latin typeface="inter-regular"/>
                        </a:rPr>
                        <a:t>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u="none" strike="noStrike">
                          <a:solidFill>
                            <a:srgbClr val="008000"/>
                          </a:solidFill>
                          <a:effectLst/>
                          <a:latin typeface="inter-regular"/>
                          <a:hlinkClick r:id="rId2"/>
                        </a:rPr>
                        <a:t>LL Rotation</a:t>
                      </a:r>
                      <a:endParaRPr lang="en-IN">
                        <a:solidFill>
                          <a:srgbClr val="333333"/>
                        </a:solidFill>
                        <a:effectLst/>
                        <a:latin typeface="inter-regular"/>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rgbClr val="333333"/>
                          </a:solidFill>
                          <a:effectLst/>
                          <a:latin typeface="inter-regular"/>
                        </a:rPr>
                        <a:t>The new node is inserted to the left sub-tree of left sub-tree of critical node.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u="none" strike="noStrike">
                          <a:solidFill>
                            <a:srgbClr val="008000"/>
                          </a:solidFill>
                          <a:effectLst/>
                          <a:latin typeface="inter-regular"/>
                          <a:hlinkClick r:id="rId3"/>
                        </a:rPr>
                        <a:t>RR Rotation</a:t>
                      </a:r>
                      <a:endParaRPr lang="en-IN">
                        <a:solidFill>
                          <a:srgbClr val="333333"/>
                        </a:solidFill>
                        <a:effectLst/>
                        <a:latin typeface="inter-regular"/>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a:solidFill>
                            <a:srgbClr val="333333"/>
                          </a:solidFill>
                          <a:effectLst/>
                          <a:latin typeface="inter-regular"/>
                        </a:rPr>
                        <a:t>The new node is inserted to the right sub-tree of the right sub-tree of the critical node.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r h="0">
                <a:tc>
                  <a:txBody>
                    <a:bodyPr/>
                    <a:lstStyle/>
                    <a:p>
                      <a:pPr algn="just" fontAlgn="t"/>
                      <a:r>
                        <a:rPr lang="en-IN">
                          <a:solidFill>
                            <a:srgbClr val="333333"/>
                          </a:solidFill>
                          <a:effectLst/>
                          <a:latin typeface="inter-regular"/>
                        </a:rPr>
                        <a:t>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u="none" strike="noStrike">
                          <a:solidFill>
                            <a:srgbClr val="008000"/>
                          </a:solidFill>
                          <a:effectLst/>
                          <a:latin typeface="inter-regular"/>
                          <a:hlinkClick r:id="rId4"/>
                        </a:rPr>
                        <a:t>LR Rotation</a:t>
                      </a:r>
                      <a:endParaRPr lang="en-IN">
                        <a:solidFill>
                          <a:srgbClr val="333333"/>
                        </a:solidFill>
                        <a:effectLst/>
                        <a:latin typeface="inter-regular"/>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rgbClr val="333333"/>
                          </a:solidFill>
                          <a:effectLst/>
                          <a:latin typeface="inter-regular"/>
                        </a:rPr>
                        <a:t>The new node is inserted to the right sub-tree of the left sub-tree of the critical node.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r>
              <a:tr h="0">
                <a:tc>
                  <a:txBody>
                    <a:bodyPr/>
                    <a:lstStyle/>
                    <a:p>
                      <a:pPr algn="just" fontAlgn="t"/>
                      <a:r>
                        <a:rPr lang="en-IN">
                          <a:solidFill>
                            <a:srgbClr val="333333"/>
                          </a:solidFill>
                          <a:effectLst/>
                          <a:latin typeface="inter-regular"/>
                        </a:rPr>
                        <a:t>4</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u="none" strike="noStrike">
                          <a:solidFill>
                            <a:srgbClr val="008000"/>
                          </a:solidFill>
                          <a:effectLst/>
                          <a:latin typeface="inter-regular"/>
                          <a:hlinkClick r:id="rId5"/>
                        </a:rPr>
                        <a:t>RL Rotation</a:t>
                      </a:r>
                      <a:endParaRPr lang="en-IN">
                        <a:solidFill>
                          <a:srgbClr val="333333"/>
                        </a:solidFill>
                        <a:effectLst/>
                        <a:latin typeface="inter-regular"/>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rgbClr val="333333"/>
                          </a:solidFill>
                          <a:effectLst/>
                          <a:latin typeface="inter-regular"/>
                        </a:rPr>
                        <a:t>The new node is inserted to the left sub-tree of the right sub-tree of the critical node.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r>
            </a:tbl>
          </a:graphicData>
        </a:graphic>
      </p:graphicFrame>
    </p:spTree>
    <p:extLst>
      <p:ext uri="{BB962C8B-B14F-4D97-AF65-F5344CB8AC3E}">
        <p14:creationId xmlns:p14="http://schemas.microsoft.com/office/powerpoint/2010/main" val="29172652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Why AVL Tree?</a:t>
            </a:r>
          </a:p>
          <a:p>
            <a:r>
              <a:rPr lang="en-US" dirty="0"/>
              <a:t>AVL tree controls the height of the binary search tree by not letting it to be skewed. </a:t>
            </a:r>
            <a:endParaRPr lang="en-US" dirty="0" smtClean="0"/>
          </a:p>
          <a:p>
            <a:r>
              <a:rPr lang="en-US" dirty="0" smtClean="0"/>
              <a:t>The </a:t>
            </a:r>
            <a:r>
              <a:rPr lang="en-US" dirty="0"/>
              <a:t>time taken for all operations in a binary search tree of height h is </a:t>
            </a:r>
            <a:r>
              <a:rPr lang="en-US" b="1" dirty="0"/>
              <a:t>O(h)</a:t>
            </a:r>
            <a:r>
              <a:rPr lang="en-US" dirty="0"/>
              <a:t>. </a:t>
            </a:r>
            <a:endParaRPr lang="en-US" dirty="0" smtClean="0"/>
          </a:p>
          <a:p>
            <a:r>
              <a:rPr lang="en-US" dirty="0"/>
              <a:t> </a:t>
            </a:r>
            <a:r>
              <a:rPr lang="en-US" dirty="0" smtClean="0"/>
              <a:t>However</a:t>
            </a:r>
            <a:r>
              <a:rPr lang="en-US" dirty="0"/>
              <a:t>, it can be extended to </a:t>
            </a:r>
            <a:r>
              <a:rPr lang="en-US" b="1" dirty="0"/>
              <a:t>O(n)</a:t>
            </a:r>
            <a:r>
              <a:rPr lang="en-US" dirty="0"/>
              <a:t> if the BST becomes skewed (i.e. worst case). By limiting this height to log n, AVL tree imposes an upper bound on each operation to be </a:t>
            </a:r>
            <a:r>
              <a:rPr lang="en-US" b="1" dirty="0"/>
              <a:t>O(log n)</a:t>
            </a:r>
            <a:r>
              <a:rPr lang="en-US" dirty="0"/>
              <a:t> where n is the number of nodes.</a:t>
            </a:r>
          </a:p>
          <a:p>
            <a:pPr marL="0" indent="0">
              <a:buNone/>
            </a:pPr>
            <a:endParaRPr lang="en-IN" dirty="0"/>
          </a:p>
        </p:txBody>
      </p:sp>
    </p:spTree>
    <p:extLst>
      <p:ext uri="{BB962C8B-B14F-4D97-AF65-F5344CB8AC3E}">
        <p14:creationId xmlns:p14="http://schemas.microsoft.com/office/powerpoint/2010/main" val="19306071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Algorithm to insert a </a:t>
            </a:r>
            <a:r>
              <a:rPr lang="en-IN" b="1" dirty="0" err="1"/>
              <a:t>newNode</a:t>
            </a:r>
            <a:endParaRPr lang="en-IN" b="1" dirty="0"/>
          </a:p>
          <a:p>
            <a:r>
              <a:rPr lang="en-US" dirty="0"/>
              <a:t>A </a:t>
            </a:r>
            <a:r>
              <a:rPr lang="en-US" dirty="0" err="1"/>
              <a:t>newNode</a:t>
            </a:r>
            <a:r>
              <a:rPr lang="en-US" dirty="0"/>
              <a:t> is always inserted as a leaf node with balance factor equal to 0.</a:t>
            </a:r>
          </a:p>
          <a:p>
            <a:r>
              <a:rPr lang="en-US" dirty="0"/>
              <a:t>Let the initial tree be</a:t>
            </a:r>
          </a:p>
          <a:p>
            <a:pPr marL="0" indent="0">
              <a:buNone/>
            </a:pPr>
            <a:endParaRPr lang="en-IN" dirty="0"/>
          </a:p>
        </p:txBody>
      </p:sp>
    </p:spTree>
    <p:extLst>
      <p:ext uri="{BB962C8B-B14F-4D97-AF65-F5344CB8AC3E}">
        <p14:creationId xmlns:p14="http://schemas.microsoft.com/office/powerpoint/2010/main" val="24204396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initial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05067" y="2127947"/>
            <a:ext cx="5181866" cy="3746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53622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 the node to be inserted be:</a:t>
            </a:r>
            <a:r>
              <a:rPr lang="en-US" dirty="0"/>
              <a:t/>
            </a:r>
            <a:br>
              <a:rPr lang="en-US" dirty="0"/>
            </a:br>
            <a:endParaRPr lang="en-IN" dirty="0"/>
          </a:p>
        </p:txBody>
      </p:sp>
      <p:pic>
        <p:nvPicPr>
          <p:cNvPr id="2050" name="Picture 2" descr="new nod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32981" y="3175751"/>
            <a:ext cx="3899657" cy="1651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2783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Go to the appropriate leaf node to insert a </a:t>
            </a:r>
            <a:r>
              <a:rPr lang="en-US" dirty="0" err="1"/>
              <a:t>newNode</a:t>
            </a:r>
            <a:r>
              <a:rPr lang="en-US" dirty="0"/>
              <a:t> using the following recursive steps. Compare </a:t>
            </a:r>
            <a:r>
              <a:rPr lang="en-US" dirty="0" err="1"/>
              <a:t>newKey</a:t>
            </a:r>
            <a:r>
              <a:rPr lang="en-US" dirty="0"/>
              <a:t> with </a:t>
            </a:r>
            <a:r>
              <a:rPr lang="en-US" dirty="0" err="1"/>
              <a:t>rootKey</a:t>
            </a:r>
            <a:r>
              <a:rPr lang="en-US" dirty="0"/>
              <a:t> of the current tree</a:t>
            </a:r>
            <a:r>
              <a:rPr lang="en-US" dirty="0" smtClean="0"/>
              <a:t>.</a:t>
            </a:r>
          </a:p>
          <a:p>
            <a:r>
              <a:rPr lang="en-US" dirty="0" smtClean="0"/>
              <a:t>If</a:t>
            </a:r>
            <a:r>
              <a:rPr lang="en-US" dirty="0"/>
              <a:t> </a:t>
            </a:r>
            <a:r>
              <a:rPr lang="en-US" dirty="0" err="1"/>
              <a:t>newKey</a:t>
            </a:r>
            <a:r>
              <a:rPr lang="en-US" dirty="0"/>
              <a:t> &lt; </a:t>
            </a:r>
            <a:r>
              <a:rPr lang="en-US" dirty="0" err="1"/>
              <a:t>rootKey</a:t>
            </a:r>
            <a:r>
              <a:rPr lang="en-US" dirty="0"/>
              <a:t>, call insertion algorithm on the left </a:t>
            </a:r>
            <a:r>
              <a:rPr lang="en-US" dirty="0" err="1"/>
              <a:t>subtree</a:t>
            </a:r>
            <a:r>
              <a:rPr lang="en-US" dirty="0"/>
              <a:t> of the current node until the leaf node is reached.</a:t>
            </a:r>
          </a:p>
          <a:p>
            <a:r>
              <a:rPr lang="en-US" dirty="0"/>
              <a:t>Else if </a:t>
            </a:r>
            <a:r>
              <a:rPr lang="en-US" dirty="0" err="1"/>
              <a:t>newKey</a:t>
            </a:r>
            <a:r>
              <a:rPr lang="en-US" dirty="0"/>
              <a:t> &gt; </a:t>
            </a:r>
            <a:r>
              <a:rPr lang="en-US" dirty="0" err="1"/>
              <a:t>rootKey</a:t>
            </a:r>
            <a:r>
              <a:rPr lang="en-US" dirty="0"/>
              <a:t>, call insertion algorithm on the right </a:t>
            </a:r>
            <a:r>
              <a:rPr lang="en-US" dirty="0" err="1"/>
              <a:t>subtree</a:t>
            </a:r>
            <a:r>
              <a:rPr lang="en-US" dirty="0"/>
              <a:t> of current node until the leaf node is reached.</a:t>
            </a:r>
          </a:p>
          <a:p>
            <a:r>
              <a:rPr lang="en-US" dirty="0"/>
              <a:t>Else, return </a:t>
            </a:r>
            <a:r>
              <a:rPr lang="en-US" dirty="0" err="1"/>
              <a:t>leafNode</a:t>
            </a:r>
            <a:endParaRPr lang="en-US" dirty="0"/>
          </a:p>
          <a:p>
            <a:endParaRPr lang="en-IN" dirty="0"/>
          </a:p>
        </p:txBody>
      </p:sp>
    </p:spTree>
    <p:extLst>
      <p:ext uri="{BB962C8B-B14F-4D97-AF65-F5344CB8AC3E}">
        <p14:creationId xmlns:p14="http://schemas.microsoft.com/office/powerpoint/2010/main" val="40141378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avl tree inser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54123" y="2102546"/>
            <a:ext cx="6883754" cy="3797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6593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Compare </a:t>
            </a:r>
            <a:r>
              <a:rPr lang="en-US" dirty="0" err="1"/>
              <a:t>leafKey</a:t>
            </a:r>
            <a:r>
              <a:rPr lang="en-US" dirty="0"/>
              <a:t> obtained from the above steps with </a:t>
            </a:r>
            <a:r>
              <a:rPr lang="en-US" dirty="0" err="1"/>
              <a:t>newKey</a:t>
            </a:r>
            <a:r>
              <a:rPr lang="en-US" dirty="0" smtClean="0"/>
              <a:t>:</a:t>
            </a:r>
          </a:p>
          <a:p>
            <a:r>
              <a:rPr lang="en-US" dirty="0" smtClean="0"/>
              <a:t>If</a:t>
            </a:r>
            <a:r>
              <a:rPr lang="en-US" dirty="0"/>
              <a:t> </a:t>
            </a:r>
            <a:r>
              <a:rPr lang="en-US" dirty="0" err="1"/>
              <a:t>newKey</a:t>
            </a:r>
            <a:r>
              <a:rPr lang="en-US" dirty="0"/>
              <a:t> &lt; </a:t>
            </a:r>
            <a:r>
              <a:rPr lang="en-US" dirty="0" err="1"/>
              <a:t>leafKey</a:t>
            </a:r>
            <a:r>
              <a:rPr lang="en-US" dirty="0"/>
              <a:t>, make </a:t>
            </a:r>
            <a:r>
              <a:rPr lang="en-US" dirty="0" err="1"/>
              <a:t>newNode</a:t>
            </a:r>
            <a:r>
              <a:rPr lang="en-US" dirty="0"/>
              <a:t> as the </a:t>
            </a:r>
            <a:r>
              <a:rPr lang="en-US" dirty="0" err="1"/>
              <a:t>leftChild</a:t>
            </a:r>
            <a:r>
              <a:rPr lang="en-US" dirty="0"/>
              <a:t> of </a:t>
            </a:r>
            <a:r>
              <a:rPr lang="en-US" dirty="0" err="1"/>
              <a:t>leafNode</a:t>
            </a:r>
            <a:r>
              <a:rPr lang="en-US" dirty="0"/>
              <a:t>.</a:t>
            </a:r>
          </a:p>
          <a:p>
            <a:r>
              <a:rPr lang="en-US" dirty="0"/>
              <a:t>Else, make </a:t>
            </a:r>
            <a:r>
              <a:rPr lang="en-US" dirty="0" err="1"/>
              <a:t>newNode</a:t>
            </a:r>
            <a:r>
              <a:rPr lang="en-US" dirty="0"/>
              <a:t> as </a:t>
            </a:r>
            <a:r>
              <a:rPr lang="en-US" dirty="0" err="1"/>
              <a:t>rightChild</a:t>
            </a:r>
            <a:r>
              <a:rPr lang="en-US" dirty="0"/>
              <a:t> of </a:t>
            </a:r>
            <a:r>
              <a:rPr lang="en-US" dirty="0" err="1"/>
              <a:t>leafNode</a:t>
            </a:r>
            <a:r>
              <a:rPr lang="en-US" dirty="0"/>
              <a:t>.</a:t>
            </a:r>
            <a:r>
              <a:rPr lang="en-US" dirty="0"/>
              <a:t/>
            </a:r>
            <a:br>
              <a:rPr lang="en-US" dirty="0"/>
            </a:br>
            <a:endParaRPr lang="en-IN" dirty="0"/>
          </a:p>
        </p:txBody>
      </p:sp>
    </p:spTree>
    <p:extLst>
      <p:ext uri="{BB962C8B-B14F-4D97-AF65-F5344CB8AC3E}">
        <p14:creationId xmlns:p14="http://schemas.microsoft.com/office/powerpoint/2010/main" val="35359597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descr="avl tree inser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10877" y="1825625"/>
            <a:ext cx="537024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87908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 </a:t>
            </a:r>
            <a:r>
              <a:rPr lang="en-US" dirty="0" err="1"/>
              <a:t>balanceFactor</a:t>
            </a:r>
            <a:r>
              <a:rPr lang="en-US" dirty="0"/>
              <a:t> of the nodes</a:t>
            </a:r>
            <a:endParaRPr lang="en-IN" dirty="0"/>
          </a:p>
        </p:txBody>
      </p:sp>
      <p:pic>
        <p:nvPicPr>
          <p:cNvPr id="5122" name="Picture 2" descr="avl tree inser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50620" y="1825625"/>
            <a:ext cx="489075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4433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If the nodes are unbalanced, then rebalance the </a:t>
            </a:r>
            <a:r>
              <a:rPr lang="en-US" dirty="0" err="1"/>
              <a:t>node.If</a:t>
            </a:r>
            <a:r>
              <a:rPr lang="en-US" dirty="0"/>
              <a:t> </a:t>
            </a:r>
            <a:r>
              <a:rPr lang="en-US" dirty="0" err="1"/>
              <a:t>balanceFactor</a:t>
            </a:r>
            <a:r>
              <a:rPr lang="en-US" dirty="0"/>
              <a:t> &gt; 1, it means the height of the left </a:t>
            </a:r>
            <a:r>
              <a:rPr lang="en-US" dirty="0" err="1"/>
              <a:t>subtree</a:t>
            </a:r>
            <a:r>
              <a:rPr lang="en-US" dirty="0"/>
              <a:t> is greater than that of the right </a:t>
            </a:r>
            <a:r>
              <a:rPr lang="en-US" dirty="0" err="1"/>
              <a:t>subtree</a:t>
            </a:r>
            <a:r>
              <a:rPr lang="en-US" dirty="0"/>
              <a:t>. So, do a right rotation or left-right rotation</a:t>
            </a:r>
          </a:p>
          <a:p>
            <a:pPr lvl="1"/>
            <a:r>
              <a:rPr lang="en-US" dirty="0"/>
              <a:t>If </a:t>
            </a:r>
            <a:r>
              <a:rPr lang="en-US" dirty="0" err="1"/>
              <a:t>newNodeKey</a:t>
            </a:r>
            <a:r>
              <a:rPr lang="en-US" dirty="0"/>
              <a:t> &lt; </a:t>
            </a:r>
            <a:r>
              <a:rPr lang="en-US" dirty="0" err="1"/>
              <a:t>leftChildKey</a:t>
            </a:r>
            <a:r>
              <a:rPr lang="en-US" dirty="0"/>
              <a:t> do right rotation.</a:t>
            </a:r>
          </a:p>
          <a:p>
            <a:r>
              <a:rPr lang="en-US" dirty="0"/>
              <a:t>Else, do left-right rotation.</a:t>
            </a:r>
            <a:r>
              <a:rPr lang="en-US" dirty="0"/>
              <a:t/>
            </a:r>
            <a:br>
              <a:rPr lang="en-US" dirty="0"/>
            </a:br>
            <a:endParaRPr lang="en-IN" dirty="0"/>
          </a:p>
        </p:txBody>
      </p:sp>
    </p:spTree>
    <p:extLst>
      <p:ext uri="{BB962C8B-B14F-4D97-AF65-F5344CB8AC3E}">
        <p14:creationId xmlns:p14="http://schemas.microsoft.com/office/powerpoint/2010/main" val="2169892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838200" y="1984901"/>
            <a:ext cx="10515600" cy="4032786"/>
          </a:xfrm>
          <a:prstGeom prst="rect">
            <a:avLst/>
          </a:prstGeom>
        </p:spPr>
      </p:pic>
    </p:spTree>
    <p:extLst>
      <p:ext uri="{BB962C8B-B14F-4D97-AF65-F5344CB8AC3E}">
        <p14:creationId xmlns:p14="http://schemas.microsoft.com/office/powerpoint/2010/main" val="14000478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838200" y="1947110"/>
            <a:ext cx="10515600" cy="4108367"/>
          </a:xfrm>
          <a:prstGeom prst="rect">
            <a:avLst/>
          </a:prstGeom>
        </p:spPr>
      </p:pic>
    </p:spTree>
    <p:extLst>
      <p:ext uri="{BB962C8B-B14F-4D97-AF65-F5344CB8AC3E}">
        <p14:creationId xmlns:p14="http://schemas.microsoft.com/office/powerpoint/2010/main" val="38737209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If </a:t>
            </a:r>
            <a:r>
              <a:rPr lang="en-US" dirty="0" err="1"/>
              <a:t>balanceFactor</a:t>
            </a:r>
            <a:r>
              <a:rPr lang="en-US" dirty="0"/>
              <a:t> &lt; -1, it means the height of the right </a:t>
            </a:r>
            <a:r>
              <a:rPr lang="en-US" dirty="0" err="1"/>
              <a:t>subtree</a:t>
            </a:r>
            <a:r>
              <a:rPr lang="en-US" dirty="0"/>
              <a:t> is greater than that of the left </a:t>
            </a:r>
            <a:r>
              <a:rPr lang="en-US" dirty="0" err="1"/>
              <a:t>subtree</a:t>
            </a:r>
            <a:r>
              <a:rPr lang="en-US" dirty="0"/>
              <a:t>. So, do right rotation or right-left rotation</a:t>
            </a:r>
          </a:p>
          <a:p>
            <a:pPr lvl="1"/>
            <a:r>
              <a:rPr lang="en-US" dirty="0"/>
              <a:t>If </a:t>
            </a:r>
            <a:r>
              <a:rPr lang="en-US" dirty="0" err="1"/>
              <a:t>newNodeKey</a:t>
            </a:r>
            <a:r>
              <a:rPr lang="en-US" dirty="0"/>
              <a:t> &gt; </a:t>
            </a:r>
            <a:r>
              <a:rPr lang="en-US" dirty="0" err="1"/>
              <a:t>rightChildKey</a:t>
            </a:r>
            <a:r>
              <a:rPr lang="en-US" dirty="0"/>
              <a:t> do left rotation.</a:t>
            </a:r>
          </a:p>
          <a:p>
            <a:pPr lvl="1"/>
            <a:r>
              <a:rPr lang="en-US" dirty="0"/>
              <a:t>Else, do right-left rotation</a:t>
            </a:r>
          </a:p>
          <a:p>
            <a:endParaRPr lang="en-IN" dirty="0"/>
          </a:p>
        </p:txBody>
      </p:sp>
    </p:spTree>
    <p:extLst>
      <p:ext uri="{BB962C8B-B14F-4D97-AF65-F5344CB8AC3E}">
        <p14:creationId xmlns:p14="http://schemas.microsoft.com/office/powerpoint/2010/main" val="8975093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127194" y="1825625"/>
            <a:ext cx="5937611" cy="4351338"/>
          </a:xfrm>
          <a:prstGeom prst="rect">
            <a:avLst/>
          </a:prstGeom>
        </p:spPr>
      </p:pic>
    </p:spTree>
    <p:extLst>
      <p:ext uri="{BB962C8B-B14F-4D97-AF65-F5344CB8AC3E}">
        <p14:creationId xmlns:p14="http://schemas.microsoft.com/office/powerpoint/2010/main" val="125902447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Q. Construct an AVL tree by inserting the following elements in the given order.</a:t>
            </a:r>
          </a:p>
          <a:p>
            <a:r>
              <a:rPr lang="en-US" b="1" dirty="0"/>
              <a:t>63, 9, 19, 27, 18, 108, 99, 81</a:t>
            </a:r>
            <a:endParaRPr lang="en-US" dirty="0"/>
          </a:p>
          <a:p>
            <a:pPr marL="0" indent="0">
              <a:buNone/>
            </a:pPr>
            <a:endParaRPr lang="en-IN" dirty="0"/>
          </a:p>
        </p:txBody>
      </p:sp>
    </p:spTree>
    <p:extLst>
      <p:ext uri="{BB962C8B-B14F-4D97-AF65-F5344CB8AC3E}">
        <p14:creationId xmlns:p14="http://schemas.microsoft.com/office/powerpoint/2010/main" val="108061216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3554" name="Picture 2" descr="Insertion in avl 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43276" y="712269"/>
            <a:ext cx="10664791" cy="5464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66707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Deletion in AVL Trees</a:t>
            </a:r>
            <a:br>
              <a:rPr lang="en-IN" b="1" dirty="0"/>
            </a:br>
            <a:endParaRPr lang="en-IN" dirty="0"/>
          </a:p>
        </p:txBody>
      </p:sp>
      <p:sp>
        <p:nvSpPr>
          <p:cNvPr id="3" name="Content Placeholder 2"/>
          <p:cNvSpPr>
            <a:spLocks noGrp="1"/>
          </p:cNvSpPr>
          <p:nvPr>
            <p:ph idx="1"/>
          </p:nvPr>
        </p:nvSpPr>
        <p:spPr/>
        <p:txBody>
          <a:bodyPr/>
          <a:lstStyle/>
          <a:p>
            <a:r>
              <a:rPr lang="en-US" dirty="0"/>
              <a:t>Deletion is also very straight forward. We delete using the same logic as in simple binary search trees. </a:t>
            </a:r>
            <a:endParaRPr lang="en-US" dirty="0" smtClean="0"/>
          </a:p>
          <a:p>
            <a:r>
              <a:rPr lang="en-US" dirty="0" smtClean="0"/>
              <a:t>After </a:t>
            </a:r>
            <a:r>
              <a:rPr lang="en-US" dirty="0"/>
              <a:t>deletion, we restructure the tree, if needed, to maintain its balanced height.</a:t>
            </a:r>
            <a:endParaRPr lang="en-IN" dirty="0"/>
          </a:p>
        </p:txBody>
      </p:sp>
    </p:spTree>
    <p:extLst>
      <p:ext uri="{BB962C8B-B14F-4D97-AF65-F5344CB8AC3E}">
        <p14:creationId xmlns:p14="http://schemas.microsoft.com/office/powerpoint/2010/main" val="194801483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Step 1: </a:t>
            </a:r>
            <a:r>
              <a:rPr lang="en-US" dirty="0"/>
              <a:t>Find the element in the tree.</a:t>
            </a:r>
          </a:p>
          <a:p>
            <a:r>
              <a:rPr lang="en-US" b="1" dirty="0"/>
              <a:t>Step 2: </a:t>
            </a:r>
            <a:r>
              <a:rPr lang="en-US" dirty="0"/>
              <a:t>Delete the node, as per the BST Deletion.</a:t>
            </a:r>
          </a:p>
          <a:p>
            <a:r>
              <a:rPr lang="en-US" b="1" dirty="0"/>
              <a:t>Step 3: </a:t>
            </a:r>
            <a:r>
              <a:rPr lang="en-US" dirty="0"/>
              <a:t>Two cases are possible:-</a:t>
            </a:r>
          </a:p>
          <a:p>
            <a:pPr marL="0" indent="0">
              <a:buNone/>
            </a:pPr>
            <a:endParaRPr lang="en-IN" dirty="0"/>
          </a:p>
        </p:txBody>
      </p:sp>
    </p:spTree>
    <p:extLst>
      <p:ext uri="{BB962C8B-B14F-4D97-AF65-F5344CB8AC3E}">
        <p14:creationId xmlns:p14="http://schemas.microsoft.com/office/powerpoint/2010/main" val="408095383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Case 1: </a:t>
            </a:r>
            <a:r>
              <a:rPr lang="en-US" dirty="0"/>
              <a:t>Deleting from the right </a:t>
            </a:r>
            <a:r>
              <a:rPr lang="en-US" dirty="0" err="1"/>
              <a:t>subtree</a:t>
            </a:r>
            <a:r>
              <a:rPr lang="en-US" dirty="0"/>
              <a:t>.</a:t>
            </a:r>
          </a:p>
          <a:p>
            <a:r>
              <a:rPr lang="en-US" dirty="0"/>
              <a:t>1A. If BF(node) = +2 and BF(node -&gt; left-child) = +1, perform LL rotation.</a:t>
            </a:r>
          </a:p>
          <a:p>
            <a:r>
              <a:rPr lang="en-US" dirty="0"/>
              <a:t>1B. If BF(node) = +2 and BF(node -&gt; left-child) = -1, perform LR rotation.</a:t>
            </a:r>
          </a:p>
          <a:p>
            <a:r>
              <a:rPr lang="en-US" dirty="0"/>
              <a:t>1C. If BF(node) = +2 and BF(node -&gt; left-child) = 0, perform LL rotation.</a:t>
            </a:r>
          </a:p>
          <a:p>
            <a:pPr marL="0" indent="0">
              <a:buNone/>
            </a:pPr>
            <a:r>
              <a:rPr lang="en-IN" dirty="0" smtClean="0"/>
              <a:t> </a:t>
            </a:r>
            <a:endParaRPr lang="en-IN" dirty="0"/>
          </a:p>
        </p:txBody>
      </p:sp>
    </p:spTree>
    <p:extLst>
      <p:ext uri="{BB962C8B-B14F-4D97-AF65-F5344CB8AC3E}">
        <p14:creationId xmlns:p14="http://schemas.microsoft.com/office/powerpoint/2010/main" val="29173168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Case 2</a:t>
            </a:r>
            <a:r>
              <a:rPr lang="en-US" dirty="0"/>
              <a:t>: Deleting from left </a:t>
            </a:r>
            <a:r>
              <a:rPr lang="en-US" dirty="0" err="1"/>
              <a:t>subtree</a:t>
            </a:r>
            <a:r>
              <a:rPr lang="en-US" dirty="0"/>
              <a:t>.</a:t>
            </a:r>
          </a:p>
          <a:p>
            <a:r>
              <a:rPr lang="en-US" dirty="0"/>
              <a:t>2A. If BF(node) = -2 and BF(node -&gt; right-child) = -1, perform RR rotation.</a:t>
            </a:r>
          </a:p>
          <a:p>
            <a:r>
              <a:rPr lang="en-US" dirty="0"/>
              <a:t>2B. If BF(node) = -2 and BF(node -&gt; right-child) = +1, perform RL rotation.</a:t>
            </a:r>
          </a:p>
          <a:p>
            <a:r>
              <a:rPr lang="en-US" dirty="0"/>
              <a:t>2C. If BF(node) = -2 and BF(node -&gt; right-child) = 0, perform RR rotation.</a:t>
            </a:r>
          </a:p>
          <a:p>
            <a:pPr marL="0" indent="0">
              <a:buNone/>
            </a:pPr>
            <a:endParaRPr lang="en-IN" dirty="0"/>
          </a:p>
        </p:txBody>
      </p:sp>
    </p:spTree>
    <p:extLst>
      <p:ext uri="{BB962C8B-B14F-4D97-AF65-F5344CB8AC3E}">
        <p14:creationId xmlns:p14="http://schemas.microsoft.com/office/powerpoint/2010/main" val="41106645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Red and Black Tree</a:t>
            </a:r>
            <a:endParaRPr lang="en-IN" dirty="0"/>
          </a:p>
        </p:txBody>
      </p:sp>
      <p:sp>
        <p:nvSpPr>
          <p:cNvPr id="3" name="Content Placeholder 2"/>
          <p:cNvSpPr>
            <a:spLocks noGrp="1"/>
          </p:cNvSpPr>
          <p:nvPr>
            <p:ph idx="1"/>
          </p:nvPr>
        </p:nvSpPr>
        <p:spPr/>
        <p:txBody>
          <a:bodyPr/>
          <a:lstStyle/>
          <a:p>
            <a:r>
              <a:rPr lang="en-US" dirty="0"/>
              <a:t>A red-black tree is a kind of self-balancing binary search tree where each node has an extra bit, and that bit is often interpreted as the color (red or black</a:t>
            </a:r>
            <a:r>
              <a:rPr lang="en-US" dirty="0" smtClean="0"/>
              <a:t>).</a:t>
            </a:r>
          </a:p>
          <a:p>
            <a:r>
              <a:rPr lang="en-US" dirty="0" smtClean="0"/>
              <a:t> </a:t>
            </a:r>
            <a:r>
              <a:rPr lang="en-US" dirty="0"/>
              <a:t>These colors are used to ensure that the tree remains balanced during insertions and deletions. </a:t>
            </a:r>
            <a:endParaRPr lang="en-US" dirty="0" smtClean="0"/>
          </a:p>
          <a:p>
            <a:r>
              <a:rPr lang="en-US" dirty="0" smtClean="0"/>
              <a:t>Although </a:t>
            </a:r>
            <a:r>
              <a:rPr lang="en-US" dirty="0"/>
              <a:t>the balance of the tree is not perfect, it is good enough to reduce the searching time and maintain it around O(log n) time, where n is the total number of elements in the tree. </a:t>
            </a:r>
            <a:endParaRPr lang="en-US" dirty="0" smtClean="0"/>
          </a:p>
          <a:p>
            <a:r>
              <a:rPr lang="en-US" dirty="0" smtClean="0"/>
              <a:t>This </a:t>
            </a:r>
            <a:r>
              <a:rPr lang="en-US" dirty="0"/>
              <a:t>tree was invented in 1972 by Rudolf Bayer. </a:t>
            </a:r>
            <a:endParaRPr lang="en-IN" dirty="0"/>
          </a:p>
        </p:txBody>
      </p:sp>
    </p:spTree>
    <p:extLst>
      <p:ext uri="{BB962C8B-B14F-4D97-AF65-F5344CB8AC3E}">
        <p14:creationId xmlns:p14="http://schemas.microsoft.com/office/powerpoint/2010/main" val="305340142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It must be noted that as each node requires only 1 bit of space to store the color information, these types of trees show identical memory footprints to the classic (uncolored) binary search tree.</a:t>
            </a:r>
            <a:endParaRPr lang="en-IN" dirty="0"/>
          </a:p>
        </p:txBody>
      </p:sp>
    </p:spTree>
    <p:extLst>
      <p:ext uri="{BB962C8B-B14F-4D97-AF65-F5344CB8AC3E}">
        <p14:creationId xmlns:p14="http://schemas.microsoft.com/office/powerpoint/2010/main" val="211656719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Understanding BST problem</a:t>
            </a:r>
            <a:endParaRPr lang="en-IN" dirty="0"/>
          </a:p>
        </p:txBody>
      </p:sp>
      <p:sp>
        <p:nvSpPr>
          <p:cNvPr id="3" name="Content Placeholder 2"/>
          <p:cNvSpPr>
            <a:spLocks noGrp="1"/>
          </p:cNvSpPr>
          <p:nvPr>
            <p:ph idx="1"/>
          </p:nvPr>
        </p:nvSpPr>
        <p:spPr/>
        <p:txBody>
          <a:bodyPr/>
          <a:lstStyle/>
          <a:p>
            <a:r>
              <a:rPr lang="en-US" dirty="0"/>
              <a:t>In a </a:t>
            </a:r>
            <a:r>
              <a:rPr lang="en-US" dirty="0">
                <a:hlinkClick r:id="rId2"/>
              </a:rPr>
              <a:t>binary search tree</a:t>
            </a:r>
            <a:r>
              <a:rPr lang="en-US" dirty="0"/>
              <a:t>, the searching, </a:t>
            </a:r>
            <a:r>
              <a:rPr lang="en-US" dirty="0">
                <a:hlinkClick r:id="rId3"/>
              </a:rPr>
              <a:t>insertion</a:t>
            </a:r>
            <a:r>
              <a:rPr lang="en-US" dirty="0"/>
              <a:t> and deletion take </a:t>
            </a:r>
            <a:r>
              <a:rPr lang="en-US" b="1" dirty="0"/>
              <a:t>O(log2n)</a:t>
            </a:r>
            <a:r>
              <a:rPr lang="en-US" dirty="0"/>
              <a:t> time in the average case, </a:t>
            </a:r>
            <a:r>
              <a:rPr lang="en-US" b="1" dirty="0"/>
              <a:t>O(1)</a:t>
            </a:r>
            <a:r>
              <a:rPr lang="en-US" dirty="0"/>
              <a:t> in the best case and </a:t>
            </a:r>
            <a:r>
              <a:rPr lang="en-US" b="1" dirty="0"/>
              <a:t>O(n)</a:t>
            </a:r>
            <a:r>
              <a:rPr lang="en-US" dirty="0"/>
              <a:t> in the worst case.</a:t>
            </a:r>
            <a:endParaRPr lang="en-IN" dirty="0"/>
          </a:p>
        </p:txBody>
      </p:sp>
    </p:spTree>
    <p:extLst>
      <p:ext uri="{BB962C8B-B14F-4D97-AF65-F5344CB8AC3E}">
        <p14:creationId xmlns:p14="http://schemas.microsoft.com/office/powerpoint/2010/main" val="28441461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4578" name="Picture 2" descr="Red-black tree in Data Struc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6295" y="651561"/>
            <a:ext cx="7652084" cy="5747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9079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In the above tree, if we want to search the 80. We will first compare 80 with the root node. </a:t>
            </a:r>
            <a:endParaRPr lang="en-US" dirty="0" smtClean="0"/>
          </a:p>
          <a:p>
            <a:r>
              <a:rPr lang="en-US" dirty="0" smtClean="0"/>
              <a:t>80 </a:t>
            </a:r>
            <a:r>
              <a:rPr lang="en-US" dirty="0"/>
              <a:t>is greater than the root node, i.e., 10, so searching will be performed on the right </a:t>
            </a:r>
            <a:r>
              <a:rPr lang="en-US" dirty="0" err="1"/>
              <a:t>subtree</a:t>
            </a:r>
            <a:r>
              <a:rPr lang="en-US" dirty="0" smtClean="0"/>
              <a:t>.</a:t>
            </a:r>
          </a:p>
          <a:p>
            <a:r>
              <a:rPr lang="en-US" dirty="0" smtClean="0"/>
              <a:t> </a:t>
            </a:r>
            <a:r>
              <a:rPr lang="en-US" dirty="0"/>
              <a:t>Again, 80 is compared with 15; 80 is greater than 15, so we move to the right of the 15, i.e., 20. </a:t>
            </a:r>
            <a:endParaRPr lang="en-US" dirty="0" smtClean="0"/>
          </a:p>
          <a:p>
            <a:r>
              <a:rPr lang="en-US" dirty="0" smtClean="0"/>
              <a:t>Now</a:t>
            </a:r>
            <a:r>
              <a:rPr lang="en-US" dirty="0"/>
              <a:t>, we reach the leaf node 20, and 20 is not equal to 80. Therefore, it will show that the element is not found in the tree. </a:t>
            </a:r>
            <a:endParaRPr lang="en-US" dirty="0" smtClean="0"/>
          </a:p>
          <a:p>
            <a:r>
              <a:rPr lang="en-US" dirty="0" smtClean="0"/>
              <a:t>After </a:t>
            </a:r>
            <a:r>
              <a:rPr lang="en-US" dirty="0"/>
              <a:t>each operation, the search is divided into half. The above BST will take O(</a:t>
            </a:r>
            <a:r>
              <a:rPr lang="en-US" dirty="0" err="1"/>
              <a:t>logn</a:t>
            </a:r>
            <a:r>
              <a:rPr lang="en-US" dirty="0"/>
              <a:t>) time to search the element.</a:t>
            </a:r>
            <a:endParaRPr lang="en-IN" dirty="0"/>
          </a:p>
        </p:txBody>
      </p:sp>
    </p:spTree>
    <p:extLst>
      <p:ext uri="{BB962C8B-B14F-4D97-AF65-F5344CB8AC3E}">
        <p14:creationId xmlns:p14="http://schemas.microsoft.com/office/powerpoint/2010/main" val="299092733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5602" name="Picture 2" descr="Red-black tree in Data Struc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19174" y="1528512"/>
            <a:ext cx="8373979" cy="4841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623984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above tree shows the right-skewed BST. If we want to search the 80 in the tree, we will compare 80 with all the nodes until we find the element or reach the leaf node. </a:t>
            </a:r>
            <a:endParaRPr lang="en-US" dirty="0" smtClean="0"/>
          </a:p>
          <a:p>
            <a:r>
              <a:rPr lang="en-US" dirty="0" smtClean="0"/>
              <a:t>So</a:t>
            </a:r>
            <a:r>
              <a:rPr lang="en-US" dirty="0"/>
              <a:t>, the above right-skewed BST will take </a:t>
            </a:r>
            <a:r>
              <a:rPr lang="en-US" b="1" dirty="0"/>
              <a:t>O(N)</a:t>
            </a:r>
            <a:r>
              <a:rPr lang="en-US" dirty="0"/>
              <a:t> time to search the element.</a:t>
            </a:r>
          </a:p>
          <a:p>
            <a:r>
              <a:rPr lang="en-US" dirty="0"/>
              <a:t>In the above BST, the first one is the balanced BST, whereas the second one is the unbalanced BST. </a:t>
            </a:r>
            <a:endParaRPr lang="en-US" dirty="0" smtClean="0"/>
          </a:p>
          <a:p>
            <a:r>
              <a:rPr lang="en-US" dirty="0" smtClean="0"/>
              <a:t>We </a:t>
            </a:r>
            <a:r>
              <a:rPr lang="en-US" dirty="0"/>
              <a:t>conclude from the above two binary search trees that a balanced tree takes less time than an unbalanced tree for performing any operation on the tree.</a:t>
            </a:r>
          </a:p>
          <a:p>
            <a:pPr marL="0" indent="0">
              <a:buNone/>
            </a:pPr>
            <a:endParaRPr lang="en-IN" dirty="0"/>
          </a:p>
        </p:txBody>
      </p:sp>
    </p:spTree>
    <p:extLst>
      <p:ext uri="{BB962C8B-B14F-4D97-AF65-F5344CB8AC3E}">
        <p14:creationId xmlns:p14="http://schemas.microsoft.com/office/powerpoint/2010/main" val="30227423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5763"/>
          </a:xfrm>
        </p:spPr>
        <p:txBody>
          <a:bodyPr>
            <a:normAutofit fontScale="90000"/>
          </a:bodyPr>
          <a:lstStyle/>
          <a:p>
            <a:endParaRPr lang="en-IN" dirty="0"/>
          </a:p>
        </p:txBody>
      </p:sp>
      <p:sp>
        <p:nvSpPr>
          <p:cNvPr id="3" name="Content Placeholder 2"/>
          <p:cNvSpPr>
            <a:spLocks noGrp="1"/>
          </p:cNvSpPr>
          <p:nvPr>
            <p:ph idx="1"/>
          </p:nvPr>
        </p:nvSpPr>
        <p:spPr>
          <a:xfrm>
            <a:off x="838200" y="693019"/>
            <a:ext cx="10515600" cy="5483944"/>
          </a:xfrm>
        </p:spPr>
        <p:txBody>
          <a:bodyPr>
            <a:normAutofit/>
          </a:bodyPr>
          <a:lstStyle/>
          <a:p>
            <a:r>
              <a:rPr lang="en-US" dirty="0"/>
              <a:t>Therefore, we need a balanced tree, and the Red-Black tree is a self-balanced binary search tree. Now, the question arises that </a:t>
            </a:r>
            <a:r>
              <a:rPr lang="en-US" b="1" i="1" dirty="0"/>
              <a:t>why do we require a Red-Black tree</a:t>
            </a:r>
            <a:r>
              <a:rPr lang="en-US" dirty="0"/>
              <a:t> if AVL is also a height-balanced tree. </a:t>
            </a:r>
            <a:endParaRPr lang="en-US" dirty="0" smtClean="0"/>
          </a:p>
          <a:p>
            <a:r>
              <a:rPr lang="en-US" dirty="0" smtClean="0"/>
              <a:t>The </a:t>
            </a:r>
            <a:r>
              <a:rPr lang="en-US" dirty="0"/>
              <a:t>Red-Black tree is used because the AVL tree requires many rotations when the tree is large, whereas the Red-Black tree requires a maximum of two rotations to balance the tree. </a:t>
            </a:r>
            <a:endParaRPr lang="en-US" dirty="0" smtClean="0"/>
          </a:p>
          <a:p>
            <a:r>
              <a:rPr lang="en-US" dirty="0" smtClean="0"/>
              <a:t>The </a:t>
            </a:r>
            <a:r>
              <a:rPr lang="en-US" dirty="0"/>
              <a:t>main difference between the </a:t>
            </a:r>
            <a:r>
              <a:rPr lang="en-US" dirty="0">
                <a:hlinkClick r:id="rId2"/>
              </a:rPr>
              <a:t>AVL tree</a:t>
            </a:r>
            <a:r>
              <a:rPr lang="en-US" dirty="0"/>
              <a:t> and the Red-Black tree is that the AVL tree is strictly balanced, while the Red-Black tree is not completely height-balanced. </a:t>
            </a:r>
            <a:endParaRPr lang="en-US" dirty="0" smtClean="0"/>
          </a:p>
          <a:p>
            <a:r>
              <a:rPr lang="en-US" dirty="0" smtClean="0"/>
              <a:t>So</a:t>
            </a:r>
            <a:r>
              <a:rPr lang="en-US" dirty="0"/>
              <a:t>, the AVL tree is more balanced than the Red-Black tree, but the Red-Black tree guarantees O(log2n) time for all operations like insertion, deletion, and searching.</a:t>
            </a:r>
            <a:endParaRPr lang="en-IN" dirty="0"/>
          </a:p>
        </p:txBody>
      </p:sp>
    </p:spTree>
    <p:extLst>
      <p:ext uri="{BB962C8B-B14F-4D97-AF65-F5344CB8AC3E}">
        <p14:creationId xmlns:p14="http://schemas.microsoft.com/office/powerpoint/2010/main" val="46888816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Insertion is easier in the AVL tree as the AVL tree is strictly balanced, whereas deletion and searching are easier in the Red-Black tree as the Red-Black tree requires fewer rotations.</a:t>
            </a:r>
          </a:p>
          <a:p>
            <a:r>
              <a:rPr lang="en-US" dirty="0"/>
              <a:t>As the name suggests that the node is either colored in </a:t>
            </a:r>
            <a:r>
              <a:rPr lang="en-US" b="1" dirty="0"/>
              <a:t>Red</a:t>
            </a:r>
            <a:r>
              <a:rPr lang="en-US" dirty="0"/>
              <a:t> or </a:t>
            </a:r>
            <a:r>
              <a:rPr lang="en-US" b="1" dirty="0"/>
              <a:t>Black</a:t>
            </a:r>
            <a:r>
              <a:rPr lang="en-US" dirty="0"/>
              <a:t> color. Sometimes no rotation is required, and only recoloring is needed to balance the tree.</a:t>
            </a:r>
          </a:p>
          <a:p>
            <a:pPr marL="0" indent="0">
              <a:buNone/>
            </a:pPr>
            <a:r>
              <a:rPr lang="en-IN" dirty="0" smtClean="0"/>
              <a:t>0</a:t>
            </a:r>
            <a:endParaRPr lang="en-IN" dirty="0"/>
          </a:p>
        </p:txBody>
      </p:sp>
    </p:spTree>
    <p:extLst>
      <p:ext uri="{BB962C8B-B14F-4D97-AF65-F5344CB8AC3E}">
        <p14:creationId xmlns:p14="http://schemas.microsoft.com/office/powerpoint/2010/main" val="297759881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Rules That Every Red-Black Tree Follows: </a:t>
            </a:r>
          </a:p>
          <a:p>
            <a:pPr fontAlgn="base"/>
            <a:r>
              <a:rPr lang="en-US" dirty="0"/>
              <a:t>Every node has a color either red or black.</a:t>
            </a:r>
          </a:p>
          <a:p>
            <a:pPr fontAlgn="base"/>
            <a:r>
              <a:rPr lang="en-US" dirty="0"/>
              <a:t>The root of the tree is always black.</a:t>
            </a:r>
          </a:p>
          <a:p>
            <a:pPr fontAlgn="base"/>
            <a:r>
              <a:rPr lang="en-US" dirty="0"/>
              <a:t>There are no two adjacent red nodes (A red node cannot have a red parent or red child).</a:t>
            </a:r>
          </a:p>
          <a:p>
            <a:pPr fontAlgn="base"/>
            <a:r>
              <a:rPr lang="en-US" dirty="0"/>
              <a:t>Every path from a node (including root) to any of its descendants </a:t>
            </a:r>
            <a:r>
              <a:rPr lang="en-US" dirty="0" smtClean="0"/>
              <a:t>(immediate successor of a node)NULL </a:t>
            </a:r>
            <a:r>
              <a:rPr lang="en-US" dirty="0"/>
              <a:t>nodes has the same number of black nodes.</a:t>
            </a:r>
          </a:p>
          <a:p>
            <a:pPr fontAlgn="base"/>
            <a:r>
              <a:rPr lang="en-US" dirty="0"/>
              <a:t>All leaf nodes are black nodes.</a:t>
            </a:r>
          </a:p>
          <a:p>
            <a:pPr marL="0" indent="0">
              <a:buNone/>
            </a:pPr>
            <a:endParaRPr lang="en-IN" dirty="0"/>
          </a:p>
        </p:txBody>
      </p:sp>
    </p:spTree>
    <p:extLst>
      <p:ext uri="{BB962C8B-B14F-4D97-AF65-F5344CB8AC3E}">
        <p14:creationId xmlns:p14="http://schemas.microsoft.com/office/powerpoint/2010/main" val="4464784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fontAlgn="base"/>
            <a:r>
              <a:rPr lang="en-US" b="1" dirty="0"/>
              <a:t>Why Red-Black Trees?</a:t>
            </a:r>
          </a:p>
          <a:p>
            <a:pPr fontAlgn="base"/>
            <a:r>
              <a:rPr lang="en-US" dirty="0"/>
              <a:t>Most of the BST operations (e.g., search, max, min, insert, delete.. </a:t>
            </a:r>
            <a:r>
              <a:rPr lang="en-US" dirty="0" err="1"/>
              <a:t>etc</a:t>
            </a:r>
            <a:r>
              <a:rPr lang="en-US" dirty="0"/>
              <a:t>) take O(h) time where h is the height of the BST. </a:t>
            </a:r>
            <a:endParaRPr lang="en-US" dirty="0" smtClean="0"/>
          </a:p>
          <a:p>
            <a:pPr fontAlgn="base"/>
            <a:r>
              <a:rPr lang="en-US" dirty="0" smtClean="0"/>
              <a:t>The </a:t>
            </a:r>
            <a:r>
              <a:rPr lang="en-US" dirty="0"/>
              <a:t>cost of these operations may become O(n) for a skewed Binary tree</a:t>
            </a:r>
            <a:r>
              <a:rPr lang="en-US" dirty="0" smtClean="0"/>
              <a:t>.</a:t>
            </a:r>
          </a:p>
          <a:p>
            <a:pPr fontAlgn="base"/>
            <a:r>
              <a:rPr lang="en-US" dirty="0" smtClean="0"/>
              <a:t> </a:t>
            </a:r>
            <a:r>
              <a:rPr lang="en-US" dirty="0"/>
              <a:t>If we make sure that the height of the tree remains O(log n) after every insertion and deletion, then we can guarantee an upper bound of O(log n) for all these operations. </a:t>
            </a:r>
            <a:endParaRPr lang="en-US" dirty="0" smtClean="0"/>
          </a:p>
          <a:p>
            <a:pPr fontAlgn="base"/>
            <a:r>
              <a:rPr lang="en-US" dirty="0" smtClean="0"/>
              <a:t>The </a:t>
            </a:r>
            <a:r>
              <a:rPr lang="en-US" dirty="0"/>
              <a:t>height of a Red-Black tree is always O(log n) where n is the number of nodes in the tree. </a:t>
            </a:r>
          </a:p>
          <a:p>
            <a:pPr marL="0" indent="0">
              <a:buNone/>
            </a:pPr>
            <a:endParaRPr lang="en-IN" dirty="0"/>
          </a:p>
        </p:txBody>
      </p:sp>
    </p:spTree>
    <p:extLst>
      <p:ext uri="{BB962C8B-B14F-4D97-AF65-F5344CB8AC3E}">
        <p14:creationId xmlns:p14="http://schemas.microsoft.com/office/powerpoint/2010/main" val="232920298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Segment Tree</a:t>
            </a:r>
            <a:endParaRPr lang="en-IN" dirty="0"/>
          </a:p>
        </p:txBody>
      </p:sp>
      <p:sp>
        <p:nvSpPr>
          <p:cNvPr id="3" name="Content Placeholder 2"/>
          <p:cNvSpPr>
            <a:spLocks noGrp="1"/>
          </p:cNvSpPr>
          <p:nvPr>
            <p:ph idx="1"/>
          </p:nvPr>
        </p:nvSpPr>
        <p:spPr/>
        <p:txBody>
          <a:bodyPr/>
          <a:lstStyle/>
          <a:p>
            <a:r>
              <a:rPr lang="en-US" dirty="0"/>
              <a:t>A </a:t>
            </a:r>
            <a:r>
              <a:rPr lang="en-US" b="1" dirty="0"/>
              <a:t>segment tree</a:t>
            </a:r>
            <a:r>
              <a:rPr lang="en-US" dirty="0"/>
              <a:t> is a data structure used to store information about array segments and answer segment queries efficiently. There are two main operations performed on a segment tree:</a:t>
            </a:r>
          </a:p>
          <a:p>
            <a:r>
              <a:rPr lang="en-US" b="1" dirty="0"/>
              <a:t>range(</a:t>
            </a:r>
            <a:r>
              <a:rPr lang="en-US" b="1" dirty="0" err="1"/>
              <a:t>i</a:t>
            </a:r>
            <a:r>
              <a:rPr lang="en-US" b="1" dirty="0"/>
              <a:t>, j)</a:t>
            </a:r>
            <a:r>
              <a:rPr lang="en-US" dirty="0"/>
              <a:t>: gives the sum of the array elements starting at index </a:t>
            </a:r>
            <a:r>
              <a:rPr lang="en-US" dirty="0" err="1"/>
              <a:t>i</a:t>
            </a:r>
            <a:r>
              <a:rPr lang="en-US" dirty="0"/>
              <a:t> and ending at index j.</a:t>
            </a:r>
          </a:p>
          <a:p>
            <a:r>
              <a:rPr lang="en-US" b="1" dirty="0"/>
              <a:t>update(</a:t>
            </a:r>
            <a:r>
              <a:rPr lang="en-US" b="1" dirty="0" err="1"/>
              <a:t>i</a:t>
            </a:r>
            <a:r>
              <a:rPr lang="en-US" b="1" dirty="0"/>
              <a:t>, </a:t>
            </a:r>
            <a:r>
              <a:rPr lang="en-US" b="1" dirty="0" err="1"/>
              <a:t>val</a:t>
            </a:r>
            <a:r>
              <a:rPr lang="en-US" b="1" dirty="0"/>
              <a:t>)</a:t>
            </a:r>
            <a:r>
              <a:rPr lang="en-US" dirty="0"/>
              <a:t>: updates the value at index </a:t>
            </a:r>
            <a:r>
              <a:rPr lang="en-US" dirty="0" err="1"/>
              <a:t>i</a:t>
            </a:r>
            <a:r>
              <a:rPr lang="en-US" dirty="0"/>
              <a:t> to the </a:t>
            </a:r>
            <a:r>
              <a:rPr lang="en-US" dirty="0" err="1"/>
              <a:t>val</a:t>
            </a:r>
            <a:r>
              <a:rPr lang="en-US" dirty="0"/>
              <a:t> in the original array and updates the segment tree accordingly.</a:t>
            </a:r>
          </a:p>
          <a:p>
            <a:pPr marL="0" indent="0">
              <a:buNone/>
            </a:pPr>
            <a:endParaRPr lang="en-IN" dirty="0"/>
          </a:p>
        </p:txBody>
      </p:sp>
    </p:spTree>
    <p:extLst>
      <p:ext uri="{BB962C8B-B14F-4D97-AF65-F5344CB8AC3E}">
        <p14:creationId xmlns:p14="http://schemas.microsoft.com/office/powerpoint/2010/main" val="41878247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u="sng" dirty="0"/>
              <a:t>Representation of Segment trees </a:t>
            </a:r>
            <a:endParaRPr lang="en-US" b="1" dirty="0"/>
          </a:p>
          <a:p>
            <a:pPr fontAlgn="base"/>
            <a:r>
              <a:rPr lang="en-US" dirty="0"/>
              <a:t>Leaf Nodes are the elements of the input array. </a:t>
            </a:r>
          </a:p>
          <a:p>
            <a:pPr fontAlgn="base"/>
            <a:r>
              <a:rPr lang="en-US" dirty="0"/>
              <a:t>Each internal node represents some merging of the leaf nodes. The merging may be different for different problems. For this problem, merging is sum of leaf nodes under a node.</a:t>
            </a:r>
          </a:p>
          <a:p>
            <a:pPr fontAlgn="base"/>
            <a:r>
              <a:rPr lang="en-US" dirty="0"/>
              <a:t>An array representation of tree is used to represent Segment Trees. For each node at index </a:t>
            </a:r>
            <a:r>
              <a:rPr lang="en-US" dirty="0" err="1"/>
              <a:t>i</a:t>
            </a:r>
            <a:r>
              <a:rPr lang="en-US" dirty="0"/>
              <a:t>, the left child is at index </a:t>
            </a:r>
            <a:r>
              <a:rPr lang="en-US" b="1" dirty="0"/>
              <a:t>(2*i+1)</a:t>
            </a:r>
            <a:r>
              <a:rPr lang="en-US" dirty="0"/>
              <a:t>, right child at </a:t>
            </a:r>
            <a:r>
              <a:rPr lang="en-US" b="1" dirty="0"/>
              <a:t>(2*i+2)</a:t>
            </a:r>
            <a:r>
              <a:rPr lang="en-US" dirty="0"/>
              <a:t> and the parent is </a:t>
            </a:r>
            <a:r>
              <a:rPr lang="en-US" dirty="0" smtClean="0"/>
              <a:t>at 0 to n.</a:t>
            </a:r>
            <a:endParaRPr lang="en-IN" dirty="0"/>
          </a:p>
        </p:txBody>
      </p:sp>
    </p:spTree>
    <p:extLst>
      <p:ext uri="{BB962C8B-B14F-4D97-AF65-F5344CB8AC3E}">
        <p14:creationId xmlns:p14="http://schemas.microsoft.com/office/powerpoint/2010/main" val="200300854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https://media.geeksforgeeks.org/wp-content/cdn-uploads/segment-tree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56296" y="1885889"/>
            <a:ext cx="6079407" cy="423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43123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4195381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20596</TotalTime>
  <Words>3174</Words>
  <Application>Microsoft Office PowerPoint</Application>
  <PresentationFormat>Widescreen</PresentationFormat>
  <Paragraphs>305</Paragraphs>
  <Slides>120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120</vt:i4>
      </vt:variant>
    </vt:vector>
  </HeadingPairs>
  <TitlesOfParts>
    <vt:vector size="127" baseType="lpstr">
      <vt:lpstr>Arial</vt:lpstr>
      <vt:lpstr>Calibri</vt:lpstr>
      <vt:lpstr>Calibri Light</vt:lpstr>
      <vt:lpstr>inter-bold</vt:lpstr>
      <vt:lpstr>inter-regular</vt:lpstr>
      <vt:lpstr>times new roman</vt:lpstr>
      <vt:lpstr>Office Theme</vt:lpstr>
      <vt:lpstr>Tree(Chapter 1)</vt:lpstr>
      <vt:lpstr>Tree as data structure:</vt:lpstr>
      <vt:lpstr>Key Points of Tree data structure</vt:lpstr>
      <vt:lpstr>PowerPoint Presentation</vt:lpstr>
      <vt:lpstr>PowerPoint Presentation</vt:lpstr>
      <vt:lpstr>PowerPoint Presentation</vt:lpstr>
      <vt:lpstr>PowerPoint Presentation</vt:lpstr>
      <vt:lpstr>PowerPoint Presentation</vt:lpstr>
      <vt:lpstr>Properties of Tree data structure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of Tree </vt:lpstr>
      <vt:lpstr>PowerPoint Presentation</vt:lpstr>
      <vt:lpstr>PowerPoint Presentation</vt:lpstr>
      <vt:lpstr>Types of Tree data structure </vt:lpstr>
      <vt:lpstr>PowerPoint Presentation</vt:lpstr>
      <vt:lpstr>PowerPoint Presentation</vt:lpstr>
      <vt:lpstr>Binary Tree</vt:lpstr>
      <vt:lpstr>PowerPoint Presentation</vt:lpstr>
      <vt:lpstr>PowerPoint Presentation</vt:lpstr>
      <vt:lpstr>Properties of Binary Tree </vt:lpstr>
      <vt:lpstr>PowerPoint Presentation</vt:lpstr>
      <vt:lpstr>Depth and Height</vt:lpstr>
      <vt:lpstr>Types of Binary Tree </vt:lpstr>
      <vt:lpstr>PowerPoint Presentation</vt:lpstr>
      <vt:lpstr>PowerPoint Presentation</vt:lpstr>
      <vt:lpstr>Degenerate (or pathological) tree </vt:lpstr>
      <vt:lpstr>PowerPoint Presentation</vt:lpstr>
      <vt:lpstr>3. Skewed Binary Tree </vt:lpstr>
      <vt:lpstr>PowerPoint Presentation</vt:lpstr>
      <vt:lpstr>Types of Binary Tree On the basis of the completion of levels: </vt:lpstr>
      <vt:lpstr>1. Complete Binary Tree </vt:lpstr>
      <vt:lpstr>PowerPoint Presentation</vt:lpstr>
      <vt:lpstr>2. Perfect Binary Tree </vt:lpstr>
      <vt:lpstr>PowerPoint Presentation</vt:lpstr>
      <vt:lpstr>Balanced Binary Tree </vt:lpstr>
      <vt:lpstr>PowerPoint Presentation</vt:lpstr>
      <vt:lpstr>Binary tree:</vt:lpstr>
      <vt:lpstr>PowerPoint Presentation</vt:lpstr>
      <vt:lpstr>Basic Operations On Binary Tree: </vt:lpstr>
      <vt:lpstr>Binary Tree Traversals: </vt:lpstr>
      <vt:lpstr> Tree Traversal using Depth-First Search (DFS) algorithm can be further classified into three categories: </vt:lpstr>
      <vt:lpstr>PowerPoint Presentation</vt:lpstr>
      <vt:lpstr>PowerPoint Presentation</vt:lpstr>
      <vt:lpstr>What is a Binary Search tree? </vt:lpstr>
      <vt:lpstr>PowerPoint Presentation</vt:lpstr>
      <vt:lpstr>Example of creating a binary search tree </vt:lpstr>
      <vt:lpstr>   Step 1 - Insert 45. 50     </vt:lpstr>
      <vt:lpstr> Step 2 - Insert 15. As 15 is smaller than 45, so insert it as the root node of the left subtree. </vt:lpstr>
      <vt:lpstr>Step 3 - Insert 79. As 79 is greater than 45, so insert it as the root node of the right subtree.</vt:lpstr>
      <vt:lpstr>Searching in Binary search tree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Search Operation </vt:lpstr>
      <vt:lpstr>Algorithm to search an element in Binary search tree </vt:lpstr>
      <vt:lpstr>PowerPoint Presentation</vt:lpstr>
      <vt:lpstr>PowerPoint Presentation</vt:lpstr>
      <vt:lpstr>PowerPoint Presentation</vt:lpstr>
      <vt:lpstr>AVL Tree: </vt:lpstr>
      <vt:lpstr>PowerPoint Presentation</vt:lpstr>
      <vt:lpstr>PowerPoint Presentation</vt:lpstr>
      <vt:lpstr>PowerPoint Presentation</vt:lpstr>
      <vt:lpstr>Balance Factor:</vt:lpstr>
      <vt:lpstr>Insertion</vt:lpstr>
      <vt:lpstr>PowerPoint Presentation</vt:lpstr>
      <vt:lpstr>PowerPoint Presentation</vt:lpstr>
      <vt:lpstr>PowerPoint Presentation</vt:lpstr>
      <vt:lpstr>PowerPoint Presentation</vt:lpstr>
      <vt:lpstr>Let the node to be inserted be: </vt:lpstr>
      <vt:lpstr>PowerPoint Presentation</vt:lpstr>
      <vt:lpstr>PowerPoint Presentation</vt:lpstr>
      <vt:lpstr>PowerPoint Presentation</vt:lpstr>
      <vt:lpstr>PowerPoint Presentation</vt:lpstr>
      <vt:lpstr>Update balanceFactor of the nodes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Deletion in AVL Trees </vt:lpstr>
      <vt:lpstr>PowerPoint Presentation</vt:lpstr>
      <vt:lpstr>PowerPoint Presentation</vt:lpstr>
      <vt:lpstr>PowerPoint Presentation</vt:lpstr>
      <vt:lpstr>Red and Black Tree</vt:lpstr>
      <vt:lpstr>PowerPoint Presentation</vt:lpstr>
      <vt:lpstr>Understanding BST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Segment Tree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Tree(Chapter 1)</dc:title>
  <dc:creator>Sapna Sharma E0069</dc:creator>
  <cp:lastModifiedBy>Sapna Sharma E0069</cp:lastModifiedBy>
  <cp:revision>54</cp:revision>
  <dcterms:created xsi:type="dcterms:W3CDTF">2022-12-26T04:12:34Z</dcterms:created>
  <dcterms:modified xsi:type="dcterms:W3CDTF">2023-09-12T01:59:54Z</dcterms:modified>
</cp:coreProperties>
</file>