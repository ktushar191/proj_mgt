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341" r:id="rId14"/>
    <p:sldId id="271" r:id="rId15"/>
    <p:sldId id="272" r:id="rId16"/>
    <p:sldId id="273" r:id="rId17"/>
    <p:sldId id="275" r:id="rId18"/>
    <p:sldId id="342" r:id="rId19"/>
    <p:sldId id="343" r:id="rId20"/>
    <p:sldId id="344" r:id="rId21"/>
    <p:sldId id="277" r:id="rId22"/>
    <p:sldId id="278" r:id="rId23"/>
    <p:sldId id="279" r:id="rId24"/>
    <p:sldId id="280" r:id="rId25"/>
    <p:sldId id="282" r:id="rId26"/>
    <p:sldId id="283" r:id="rId27"/>
    <p:sldId id="284" r:id="rId28"/>
    <p:sldId id="285" r:id="rId29"/>
    <p:sldId id="287" r:id="rId30"/>
    <p:sldId id="288" r:id="rId31"/>
    <p:sldId id="289" r:id="rId32"/>
    <p:sldId id="290" r:id="rId33"/>
    <p:sldId id="291" r:id="rId34"/>
    <p:sldId id="292" r:id="rId35"/>
    <p:sldId id="293" r:id="rId36"/>
    <p:sldId id="294" r:id="rId37"/>
    <p:sldId id="295" r:id="rId38"/>
    <p:sldId id="296" r:id="rId39"/>
    <p:sldId id="297" r:id="rId40"/>
    <p:sldId id="298" r:id="rId41"/>
    <p:sldId id="299" r:id="rId42"/>
    <p:sldId id="286" r:id="rId43"/>
    <p:sldId id="300" r:id="rId44"/>
    <p:sldId id="301" r:id="rId45"/>
    <p:sldId id="302" r:id="rId46"/>
    <p:sldId id="303" r:id="rId47"/>
    <p:sldId id="305" r:id="rId48"/>
    <p:sldId id="306" r:id="rId49"/>
    <p:sldId id="307" r:id="rId50"/>
    <p:sldId id="308" r:id="rId51"/>
    <p:sldId id="309" r:id="rId52"/>
    <p:sldId id="310" r:id="rId53"/>
    <p:sldId id="312" r:id="rId54"/>
    <p:sldId id="313" r:id="rId55"/>
    <p:sldId id="314" r:id="rId56"/>
    <p:sldId id="315" r:id="rId57"/>
    <p:sldId id="316" r:id="rId58"/>
    <p:sldId id="317" r:id="rId59"/>
    <p:sldId id="319" r:id="rId60"/>
    <p:sldId id="320" r:id="rId61"/>
    <p:sldId id="318" r:id="rId62"/>
    <p:sldId id="321" r:id="rId63"/>
    <p:sldId id="322" r:id="rId64"/>
    <p:sldId id="323" r:id="rId65"/>
    <p:sldId id="324" r:id="rId66"/>
    <p:sldId id="325" r:id="rId67"/>
    <p:sldId id="326" r:id="rId68"/>
    <p:sldId id="327" r:id="rId69"/>
    <p:sldId id="328" r:id="rId70"/>
    <p:sldId id="329" r:id="rId71"/>
    <p:sldId id="330" r:id="rId72"/>
    <p:sldId id="331" r:id="rId73"/>
    <p:sldId id="332" r:id="rId74"/>
    <p:sldId id="333" r:id="rId75"/>
    <p:sldId id="334" r:id="rId76"/>
    <p:sldId id="335" r:id="rId77"/>
    <p:sldId id="336" r:id="rId78"/>
    <p:sldId id="340" r:id="rId79"/>
    <p:sldId id="337" r:id="rId80"/>
    <p:sldId id="338" r:id="rId81"/>
    <p:sldId id="339" r:id="rId8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73" autoAdjust="0"/>
    <p:restoredTop sz="94660"/>
  </p:normalViewPr>
  <p:slideViewPr>
    <p:cSldViewPr snapToGrid="0">
      <p:cViewPr varScale="1">
        <p:scale>
          <a:sx n="88" d="100"/>
          <a:sy n="88" d="100"/>
        </p:scale>
        <p:origin x="326"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88B1C2A6-002D-4C1D-9605-9721889BDBB5}" type="datetimeFigureOut">
              <a:rPr lang="en-IN" smtClean="0"/>
              <a:t>02-09-2023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50F0714-C665-4A30-A04D-46FA69989CA2}" type="slidenum">
              <a:rPr lang="en-IN" smtClean="0"/>
              <a:t>‹#›</a:t>
            </a:fld>
            <a:endParaRPr lang="en-IN"/>
          </a:p>
        </p:txBody>
      </p:sp>
    </p:spTree>
    <p:extLst>
      <p:ext uri="{BB962C8B-B14F-4D97-AF65-F5344CB8AC3E}">
        <p14:creationId xmlns:p14="http://schemas.microsoft.com/office/powerpoint/2010/main" val="30225568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8B1C2A6-002D-4C1D-9605-9721889BDBB5}" type="datetimeFigureOut">
              <a:rPr lang="en-IN" smtClean="0"/>
              <a:t>02-09-2023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50F0714-C665-4A30-A04D-46FA69989CA2}" type="slidenum">
              <a:rPr lang="en-IN" smtClean="0"/>
              <a:t>‹#›</a:t>
            </a:fld>
            <a:endParaRPr lang="en-IN"/>
          </a:p>
        </p:txBody>
      </p:sp>
    </p:spTree>
    <p:extLst>
      <p:ext uri="{BB962C8B-B14F-4D97-AF65-F5344CB8AC3E}">
        <p14:creationId xmlns:p14="http://schemas.microsoft.com/office/powerpoint/2010/main" val="23655963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8B1C2A6-002D-4C1D-9605-9721889BDBB5}" type="datetimeFigureOut">
              <a:rPr lang="en-IN" smtClean="0"/>
              <a:t>02-09-2023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50F0714-C665-4A30-A04D-46FA69989CA2}" type="slidenum">
              <a:rPr lang="en-IN" smtClean="0"/>
              <a:t>‹#›</a:t>
            </a:fld>
            <a:endParaRPr lang="en-IN"/>
          </a:p>
        </p:txBody>
      </p:sp>
    </p:spTree>
    <p:extLst>
      <p:ext uri="{BB962C8B-B14F-4D97-AF65-F5344CB8AC3E}">
        <p14:creationId xmlns:p14="http://schemas.microsoft.com/office/powerpoint/2010/main" val="32768265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88B1C2A6-002D-4C1D-9605-9721889BDBB5}" type="datetimeFigureOut">
              <a:rPr lang="en-IN" smtClean="0"/>
              <a:t>02-09-2023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50F0714-C665-4A30-A04D-46FA69989CA2}" type="slidenum">
              <a:rPr lang="en-IN" smtClean="0"/>
              <a:t>‹#›</a:t>
            </a:fld>
            <a:endParaRPr lang="en-IN"/>
          </a:p>
        </p:txBody>
      </p:sp>
    </p:spTree>
    <p:extLst>
      <p:ext uri="{BB962C8B-B14F-4D97-AF65-F5344CB8AC3E}">
        <p14:creationId xmlns:p14="http://schemas.microsoft.com/office/powerpoint/2010/main" val="40497839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88B1C2A6-002D-4C1D-9605-9721889BDBB5}" type="datetimeFigureOut">
              <a:rPr lang="en-IN" smtClean="0"/>
              <a:t>02-09-2023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50F0714-C665-4A30-A04D-46FA69989CA2}" type="slidenum">
              <a:rPr lang="en-IN" smtClean="0"/>
              <a:t>‹#›</a:t>
            </a:fld>
            <a:endParaRPr lang="en-IN"/>
          </a:p>
        </p:txBody>
      </p:sp>
    </p:spTree>
    <p:extLst>
      <p:ext uri="{BB962C8B-B14F-4D97-AF65-F5344CB8AC3E}">
        <p14:creationId xmlns:p14="http://schemas.microsoft.com/office/powerpoint/2010/main" val="38123942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88B1C2A6-002D-4C1D-9605-9721889BDBB5}" type="datetimeFigureOut">
              <a:rPr lang="en-IN" smtClean="0"/>
              <a:t>02-09-2023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50F0714-C665-4A30-A04D-46FA69989CA2}" type="slidenum">
              <a:rPr lang="en-IN" smtClean="0"/>
              <a:t>‹#›</a:t>
            </a:fld>
            <a:endParaRPr lang="en-IN"/>
          </a:p>
        </p:txBody>
      </p:sp>
    </p:spTree>
    <p:extLst>
      <p:ext uri="{BB962C8B-B14F-4D97-AF65-F5344CB8AC3E}">
        <p14:creationId xmlns:p14="http://schemas.microsoft.com/office/powerpoint/2010/main" val="3077177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B1C2A6-002D-4C1D-9605-9721889BDBB5}" type="datetimeFigureOut">
              <a:rPr lang="en-IN" smtClean="0"/>
              <a:t>02-09-2023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50F0714-C665-4A30-A04D-46FA69989CA2}" type="slidenum">
              <a:rPr lang="en-IN" smtClean="0"/>
              <a:t>‹#›</a:t>
            </a:fld>
            <a:endParaRPr lang="en-IN"/>
          </a:p>
        </p:txBody>
      </p:sp>
    </p:spTree>
    <p:extLst>
      <p:ext uri="{BB962C8B-B14F-4D97-AF65-F5344CB8AC3E}">
        <p14:creationId xmlns:p14="http://schemas.microsoft.com/office/powerpoint/2010/main" val="25500628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8B1C2A6-002D-4C1D-9605-9721889BDBB5}" type="datetimeFigureOut">
              <a:rPr lang="en-IN" smtClean="0"/>
              <a:t>02-09-2023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50F0714-C665-4A30-A04D-46FA69989CA2}" type="slidenum">
              <a:rPr lang="en-IN" smtClean="0"/>
              <a:t>‹#›</a:t>
            </a:fld>
            <a:endParaRPr lang="en-IN"/>
          </a:p>
        </p:txBody>
      </p:sp>
    </p:spTree>
    <p:extLst>
      <p:ext uri="{BB962C8B-B14F-4D97-AF65-F5344CB8AC3E}">
        <p14:creationId xmlns:p14="http://schemas.microsoft.com/office/powerpoint/2010/main" val="25936210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8B1C2A6-002D-4C1D-9605-9721889BDBB5}" type="datetimeFigureOut">
              <a:rPr lang="en-IN" smtClean="0"/>
              <a:t>02-09-2023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50F0714-C665-4A30-A04D-46FA69989CA2}" type="slidenum">
              <a:rPr lang="en-IN" smtClean="0"/>
              <a:t>‹#›</a:t>
            </a:fld>
            <a:endParaRPr lang="en-IN"/>
          </a:p>
        </p:txBody>
      </p:sp>
    </p:spTree>
    <p:extLst>
      <p:ext uri="{BB962C8B-B14F-4D97-AF65-F5344CB8AC3E}">
        <p14:creationId xmlns:p14="http://schemas.microsoft.com/office/powerpoint/2010/main" val="38428523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8B1C2A6-002D-4C1D-9605-9721889BDBB5}" type="datetimeFigureOut">
              <a:rPr lang="en-IN" smtClean="0"/>
              <a:t>02-09-2023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50F0714-C665-4A30-A04D-46FA69989CA2}" type="slidenum">
              <a:rPr lang="en-IN" smtClean="0"/>
              <a:t>‹#›</a:t>
            </a:fld>
            <a:endParaRPr lang="en-IN"/>
          </a:p>
        </p:txBody>
      </p:sp>
    </p:spTree>
    <p:extLst>
      <p:ext uri="{BB962C8B-B14F-4D97-AF65-F5344CB8AC3E}">
        <p14:creationId xmlns:p14="http://schemas.microsoft.com/office/powerpoint/2010/main" val="22209362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8B1C2A6-002D-4C1D-9605-9721889BDBB5}" type="datetimeFigureOut">
              <a:rPr lang="en-IN" smtClean="0"/>
              <a:t>02-09-2023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50F0714-C665-4A30-A04D-46FA69989CA2}" type="slidenum">
              <a:rPr lang="en-IN" smtClean="0"/>
              <a:t>‹#›</a:t>
            </a:fld>
            <a:endParaRPr lang="en-IN"/>
          </a:p>
        </p:txBody>
      </p:sp>
    </p:spTree>
    <p:extLst>
      <p:ext uri="{BB962C8B-B14F-4D97-AF65-F5344CB8AC3E}">
        <p14:creationId xmlns:p14="http://schemas.microsoft.com/office/powerpoint/2010/main" val="23149881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8B1C2A6-002D-4C1D-9605-9721889BDBB5}" type="datetimeFigureOut">
              <a:rPr lang="en-IN" smtClean="0"/>
              <a:t>02-09-2023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0F0714-C665-4A30-A04D-46FA69989CA2}" type="slidenum">
              <a:rPr lang="en-IN" smtClean="0"/>
              <a:t>‹#›</a:t>
            </a:fld>
            <a:endParaRPr lang="en-IN"/>
          </a:p>
        </p:txBody>
      </p:sp>
    </p:spTree>
    <p:extLst>
      <p:ext uri="{BB962C8B-B14F-4D97-AF65-F5344CB8AC3E}">
        <p14:creationId xmlns:p14="http://schemas.microsoft.com/office/powerpoint/2010/main" val="7530467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s://www.javatpoint.com/data-structure-queue"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Chapter2:Stack and Queue</a:t>
            </a:r>
            <a:endParaRPr lang="en-IN" dirty="0"/>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423946165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What is stack</a:t>
            </a:r>
            <a:endParaRPr lang="en-IN" dirty="0"/>
          </a:p>
        </p:txBody>
      </p:sp>
      <p:sp>
        <p:nvSpPr>
          <p:cNvPr id="3" name="Content Placeholder 2"/>
          <p:cNvSpPr>
            <a:spLocks noGrp="1"/>
          </p:cNvSpPr>
          <p:nvPr>
            <p:ph idx="1"/>
          </p:nvPr>
        </p:nvSpPr>
        <p:spPr/>
        <p:txBody>
          <a:bodyPr/>
          <a:lstStyle/>
          <a:p>
            <a:r>
              <a:rPr lang="en-US" dirty="0" smtClean="0"/>
              <a:t>A stack is a list of elements that are accessible only from one end of the list, which is called the top. </a:t>
            </a:r>
          </a:p>
          <a:p>
            <a:r>
              <a:rPr lang="en-US" dirty="0" smtClean="0"/>
              <a:t>One common, real-world example of a stack is the stack of trays at a cafeteria. </a:t>
            </a:r>
          </a:p>
          <a:p>
            <a:r>
              <a:rPr lang="en-US" dirty="0" smtClean="0"/>
              <a:t>Trays are always removed from the top, and when trays are put back on the stack after being washed, they are placed on the top of the stack. </a:t>
            </a:r>
          </a:p>
          <a:p>
            <a:r>
              <a:rPr lang="en-US" dirty="0" smtClean="0"/>
              <a:t>The stack is known as a last-in, first-out (LIFO) data structure.</a:t>
            </a:r>
            <a:endParaRPr lang="en-IN" dirty="0"/>
          </a:p>
        </p:txBody>
      </p:sp>
    </p:spTree>
    <p:extLst>
      <p:ext uri="{BB962C8B-B14F-4D97-AF65-F5344CB8AC3E}">
        <p14:creationId xmlns:p14="http://schemas.microsoft.com/office/powerpoint/2010/main" val="383229581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Because of the last-in, first-out nature of the stack, any element that is not currently at the top of the stack cannot be accessed. </a:t>
            </a:r>
            <a:endParaRPr lang="en-US" dirty="0" smtClean="0"/>
          </a:p>
          <a:p>
            <a:r>
              <a:rPr lang="en-US" dirty="0" smtClean="0"/>
              <a:t>To </a:t>
            </a:r>
            <a:r>
              <a:rPr lang="en-US" dirty="0"/>
              <a:t>get to an element at the bottom of the stack, you have to dispose of all the elements above it first.</a:t>
            </a:r>
            <a:endParaRPr lang="en-IN" dirty="0"/>
          </a:p>
        </p:txBody>
      </p:sp>
    </p:spTree>
    <p:extLst>
      <p:ext uri="{BB962C8B-B14F-4D97-AF65-F5344CB8AC3E}">
        <p14:creationId xmlns:p14="http://schemas.microsoft.com/office/powerpoint/2010/main" val="231303077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1203158" y="2358231"/>
            <a:ext cx="7274092" cy="3286125"/>
          </a:xfrm>
          <a:prstGeom prst="rect">
            <a:avLst/>
          </a:prstGeom>
        </p:spPr>
      </p:pic>
    </p:spTree>
    <p:extLst>
      <p:ext uri="{BB962C8B-B14F-4D97-AF65-F5344CB8AC3E}">
        <p14:creationId xmlns:p14="http://schemas.microsoft.com/office/powerpoint/2010/main" val="123502055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A stack can be implemented by means of Array, Structure, Pointer, and Linked List. </a:t>
            </a:r>
            <a:endParaRPr lang="en-US" dirty="0" smtClean="0"/>
          </a:p>
          <a:p>
            <a:r>
              <a:rPr lang="en-US" dirty="0" smtClean="0"/>
              <a:t>Stack </a:t>
            </a:r>
            <a:r>
              <a:rPr lang="en-US" dirty="0"/>
              <a:t>can either be a fixed size one or it may have a sense of dynamic resizing.</a:t>
            </a:r>
            <a:endParaRPr lang="en-IN" dirty="0"/>
          </a:p>
        </p:txBody>
      </p:sp>
    </p:spTree>
    <p:extLst>
      <p:ext uri="{BB962C8B-B14F-4D97-AF65-F5344CB8AC3E}">
        <p14:creationId xmlns:p14="http://schemas.microsoft.com/office/powerpoint/2010/main" val="114094057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Basic Operations</a:t>
            </a:r>
          </a:p>
          <a:p>
            <a:r>
              <a:rPr lang="en-US" dirty="0"/>
              <a:t>Stack operations may involve initializing the stack, using it and then de-initializing it. Apart from these basic stuffs, a stack is used for the following two primary operations −</a:t>
            </a:r>
          </a:p>
          <a:p>
            <a:r>
              <a:rPr lang="en-US" b="1" dirty="0"/>
              <a:t>push()</a:t>
            </a:r>
            <a:r>
              <a:rPr lang="en-US" dirty="0"/>
              <a:t> − Pushing (storing) an element on the stack.</a:t>
            </a:r>
          </a:p>
          <a:p>
            <a:r>
              <a:rPr lang="en-US" b="1" dirty="0"/>
              <a:t>pop()</a:t>
            </a:r>
            <a:r>
              <a:rPr lang="en-US" dirty="0"/>
              <a:t> − Removing (accessing) an element from the stack.</a:t>
            </a:r>
          </a:p>
          <a:p>
            <a:pPr marL="0" indent="0">
              <a:buNone/>
            </a:pPr>
            <a:endParaRPr lang="en-IN" dirty="0"/>
          </a:p>
        </p:txBody>
      </p:sp>
    </p:spTree>
    <p:extLst>
      <p:ext uri="{BB962C8B-B14F-4D97-AF65-F5344CB8AC3E}">
        <p14:creationId xmlns:p14="http://schemas.microsoft.com/office/powerpoint/2010/main" val="8231513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To use a stack efficiently, we need to check the status of stack as well. For the same purpose, the following functionality is added to stacks −</a:t>
            </a:r>
          </a:p>
          <a:p>
            <a:r>
              <a:rPr lang="en-US" b="1" dirty="0"/>
              <a:t>peek()</a:t>
            </a:r>
            <a:r>
              <a:rPr lang="en-US" dirty="0"/>
              <a:t> − get the top data element of the stack, without removing it.</a:t>
            </a:r>
          </a:p>
          <a:p>
            <a:r>
              <a:rPr lang="en-US" b="1" dirty="0" err="1"/>
              <a:t>isFull</a:t>
            </a:r>
            <a:r>
              <a:rPr lang="en-US" b="1" dirty="0"/>
              <a:t>()</a:t>
            </a:r>
            <a:r>
              <a:rPr lang="en-US" dirty="0"/>
              <a:t> − check if stack is full.</a:t>
            </a:r>
          </a:p>
          <a:p>
            <a:r>
              <a:rPr lang="en-US" b="1" dirty="0" err="1"/>
              <a:t>isEmpty</a:t>
            </a:r>
            <a:r>
              <a:rPr lang="en-US" b="1" dirty="0"/>
              <a:t>()</a:t>
            </a:r>
            <a:r>
              <a:rPr lang="en-US" dirty="0"/>
              <a:t> − check if stack is empty.</a:t>
            </a:r>
          </a:p>
          <a:p>
            <a:pPr marL="0" indent="0">
              <a:buNone/>
            </a:pPr>
            <a:endParaRPr lang="en-IN" dirty="0"/>
          </a:p>
        </p:txBody>
      </p:sp>
    </p:spTree>
    <p:extLst>
      <p:ext uri="{BB962C8B-B14F-4D97-AF65-F5344CB8AC3E}">
        <p14:creationId xmlns:p14="http://schemas.microsoft.com/office/powerpoint/2010/main" val="34862522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Push Operation</a:t>
            </a:r>
            <a:br>
              <a:rPr lang="en-IN" dirty="0"/>
            </a:br>
            <a:endParaRPr lang="en-IN" dirty="0"/>
          </a:p>
        </p:txBody>
      </p:sp>
      <p:sp>
        <p:nvSpPr>
          <p:cNvPr id="3" name="Content Placeholder 2"/>
          <p:cNvSpPr>
            <a:spLocks noGrp="1"/>
          </p:cNvSpPr>
          <p:nvPr>
            <p:ph idx="1"/>
          </p:nvPr>
        </p:nvSpPr>
        <p:spPr/>
        <p:txBody>
          <a:bodyPr/>
          <a:lstStyle/>
          <a:p>
            <a:r>
              <a:rPr lang="en-US" b="1" dirty="0"/>
              <a:t>Step 1</a:t>
            </a:r>
            <a:r>
              <a:rPr lang="en-US" dirty="0"/>
              <a:t> − Checks if the stack is full.</a:t>
            </a:r>
          </a:p>
          <a:p>
            <a:r>
              <a:rPr lang="en-US" b="1" dirty="0"/>
              <a:t>Step 2</a:t>
            </a:r>
            <a:r>
              <a:rPr lang="en-US" dirty="0"/>
              <a:t> − If the stack is full, produces an error and exit.</a:t>
            </a:r>
          </a:p>
          <a:p>
            <a:r>
              <a:rPr lang="en-US" b="1" dirty="0"/>
              <a:t>Step 3</a:t>
            </a:r>
            <a:r>
              <a:rPr lang="en-US" dirty="0"/>
              <a:t> − If the stack is not full, increments </a:t>
            </a:r>
            <a:r>
              <a:rPr lang="en-US" b="1" dirty="0"/>
              <a:t>top</a:t>
            </a:r>
            <a:r>
              <a:rPr lang="en-US" dirty="0"/>
              <a:t> to point next empty space.</a:t>
            </a:r>
          </a:p>
          <a:p>
            <a:r>
              <a:rPr lang="en-US" b="1" dirty="0"/>
              <a:t>Step 4</a:t>
            </a:r>
            <a:r>
              <a:rPr lang="en-US" dirty="0"/>
              <a:t> − Adds data element to the stack location, where top is pointing.</a:t>
            </a:r>
          </a:p>
          <a:p>
            <a:r>
              <a:rPr lang="en-US" b="1" dirty="0"/>
              <a:t>Step 5</a:t>
            </a:r>
            <a:r>
              <a:rPr lang="en-US" dirty="0"/>
              <a:t> − Returns success.</a:t>
            </a:r>
          </a:p>
          <a:p>
            <a:pPr marL="0" indent="0">
              <a:buNone/>
            </a:pPr>
            <a:endParaRPr lang="en-IN" dirty="0"/>
          </a:p>
        </p:txBody>
      </p:sp>
    </p:spTree>
    <p:extLst>
      <p:ext uri="{BB962C8B-B14F-4D97-AF65-F5344CB8AC3E}">
        <p14:creationId xmlns:p14="http://schemas.microsoft.com/office/powerpoint/2010/main" val="107317226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2050" name="Picture 2" descr="Stack Push Operation"/>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556000" y="2439194"/>
            <a:ext cx="5080000" cy="3124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311937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Implementation of stack</a:t>
            </a:r>
            <a:endParaRPr lang="en-IN" dirty="0"/>
          </a:p>
        </p:txBody>
      </p:sp>
      <p:sp>
        <p:nvSpPr>
          <p:cNvPr id="3" name="Content Placeholder 2"/>
          <p:cNvSpPr>
            <a:spLocks noGrp="1"/>
          </p:cNvSpPr>
          <p:nvPr>
            <p:ph idx="1"/>
          </p:nvPr>
        </p:nvSpPr>
        <p:spPr/>
        <p:txBody>
          <a:bodyPr/>
          <a:lstStyle/>
          <a:p>
            <a:pPr fontAlgn="base"/>
            <a:r>
              <a:rPr lang="en-US" i="1" dirty="0" err="1"/>
              <a:t>Initialise</a:t>
            </a:r>
            <a:r>
              <a:rPr lang="en-US" i="1" dirty="0"/>
              <a:t> a node</a:t>
            </a:r>
          </a:p>
          <a:p>
            <a:pPr fontAlgn="base"/>
            <a:r>
              <a:rPr lang="en-US" i="1" dirty="0"/>
              <a:t>Update the value of that node by data i.e. </a:t>
            </a:r>
            <a:r>
              <a:rPr lang="en-US" b="1" i="1" dirty="0"/>
              <a:t>node-&gt;data = data</a:t>
            </a:r>
            <a:endParaRPr lang="en-US" i="1" dirty="0"/>
          </a:p>
          <a:p>
            <a:pPr fontAlgn="base"/>
            <a:r>
              <a:rPr lang="en-US" i="1" dirty="0"/>
              <a:t>Now link this node to the top of the linked list</a:t>
            </a:r>
          </a:p>
          <a:p>
            <a:pPr fontAlgn="base"/>
            <a:r>
              <a:rPr lang="en-US" i="1" dirty="0"/>
              <a:t>And update top pointer to the current node</a:t>
            </a:r>
          </a:p>
          <a:p>
            <a:pPr marL="0" indent="0">
              <a:buNone/>
            </a:pPr>
            <a:endParaRPr lang="en-IN" dirty="0"/>
          </a:p>
        </p:txBody>
      </p:sp>
    </p:spTree>
    <p:extLst>
      <p:ext uri="{BB962C8B-B14F-4D97-AF65-F5344CB8AC3E}">
        <p14:creationId xmlns:p14="http://schemas.microsoft.com/office/powerpoint/2010/main" val="412184477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smtClean="0"/>
              <a:t>Step 1:  </a:t>
            </a:r>
            <a:r>
              <a:rPr lang="en-US" i="1" dirty="0" err="1" smtClean="0"/>
              <a:t>Initialise</a:t>
            </a:r>
            <a:r>
              <a:rPr lang="en-US" i="1" dirty="0" smtClean="0"/>
              <a:t> a node</a:t>
            </a:r>
            <a:br>
              <a:rPr lang="en-US" i="1" dirty="0" smtClean="0"/>
            </a:br>
            <a:endParaRPr lang="en-IN" dirty="0"/>
          </a:p>
        </p:txBody>
      </p:sp>
      <p:sp>
        <p:nvSpPr>
          <p:cNvPr id="3" name="Content Placeholder 2"/>
          <p:cNvSpPr>
            <a:spLocks noGrp="1"/>
          </p:cNvSpPr>
          <p:nvPr>
            <p:ph idx="1"/>
          </p:nvPr>
        </p:nvSpPr>
        <p:spPr/>
        <p:txBody>
          <a:bodyPr>
            <a:normAutofit lnSpcReduction="10000"/>
          </a:bodyPr>
          <a:lstStyle/>
          <a:p>
            <a:pPr marL="0" indent="0">
              <a:buNone/>
            </a:pPr>
            <a:r>
              <a:rPr lang="en-IN" dirty="0" smtClean="0"/>
              <a:t>// A linked list node</a:t>
            </a:r>
          </a:p>
          <a:p>
            <a:pPr marL="0" indent="0">
              <a:buNone/>
            </a:pPr>
            <a:r>
              <a:rPr lang="en-IN" dirty="0" smtClean="0"/>
              <a:t>class Node</a:t>
            </a:r>
          </a:p>
          <a:p>
            <a:pPr marL="0" indent="0">
              <a:buNone/>
            </a:pPr>
            <a:r>
              <a:rPr lang="en-IN" dirty="0" smtClean="0"/>
              <a:t>{</a:t>
            </a:r>
          </a:p>
          <a:p>
            <a:pPr marL="0" indent="0">
              <a:buNone/>
            </a:pPr>
            <a:r>
              <a:rPr lang="en-IN" dirty="0" smtClean="0"/>
              <a:t>    constructor()</a:t>
            </a:r>
          </a:p>
          <a:p>
            <a:pPr marL="0" indent="0">
              <a:buNone/>
            </a:pPr>
            <a:r>
              <a:rPr lang="en-IN" dirty="0" smtClean="0"/>
              <a:t>    {</a:t>
            </a:r>
          </a:p>
          <a:p>
            <a:pPr marL="0" indent="0">
              <a:buNone/>
            </a:pPr>
            <a:r>
              <a:rPr lang="en-IN" dirty="0" smtClean="0"/>
              <a:t>        </a:t>
            </a:r>
            <a:r>
              <a:rPr lang="en-IN" dirty="0" err="1" smtClean="0"/>
              <a:t>this.data</a:t>
            </a:r>
            <a:r>
              <a:rPr lang="en-IN" dirty="0" smtClean="0"/>
              <a:t>=0;</a:t>
            </a:r>
          </a:p>
          <a:p>
            <a:pPr marL="0" indent="0">
              <a:buNone/>
            </a:pPr>
            <a:r>
              <a:rPr lang="en-IN" dirty="0" smtClean="0"/>
              <a:t>        </a:t>
            </a:r>
            <a:r>
              <a:rPr lang="en-IN" dirty="0" err="1" smtClean="0"/>
              <a:t>this.next</a:t>
            </a:r>
            <a:r>
              <a:rPr lang="en-IN" dirty="0" smtClean="0"/>
              <a:t>=null;</a:t>
            </a:r>
          </a:p>
          <a:p>
            <a:pPr marL="0" indent="0">
              <a:buNone/>
            </a:pPr>
            <a:r>
              <a:rPr lang="en-IN" dirty="0" smtClean="0"/>
              <a:t>    }</a:t>
            </a:r>
          </a:p>
          <a:p>
            <a:pPr marL="0" indent="0">
              <a:buNone/>
            </a:pPr>
            <a:r>
              <a:rPr lang="en-IN" dirty="0" smtClean="0"/>
              <a:t>}</a:t>
            </a:r>
            <a:endParaRPr lang="en-IN" dirty="0"/>
          </a:p>
        </p:txBody>
      </p:sp>
    </p:spTree>
    <p:extLst>
      <p:ext uri="{BB962C8B-B14F-4D97-AF65-F5344CB8AC3E}">
        <p14:creationId xmlns:p14="http://schemas.microsoft.com/office/powerpoint/2010/main" val="108632483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Step two create a link list</a:t>
            </a:r>
            <a:endParaRPr lang="en-IN" dirty="0"/>
          </a:p>
        </p:txBody>
      </p:sp>
      <p:sp>
        <p:nvSpPr>
          <p:cNvPr id="3" name="Content Placeholder 2"/>
          <p:cNvSpPr>
            <a:spLocks noGrp="1"/>
          </p:cNvSpPr>
          <p:nvPr>
            <p:ph idx="1"/>
          </p:nvPr>
        </p:nvSpPr>
        <p:spPr/>
        <p:txBody>
          <a:bodyPr/>
          <a:lstStyle/>
          <a:p>
            <a:r>
              <a:rPr lang="en-IN" dirty="0" smtClean="0"/>
              <a:t>// Create Stack Using Linked list</a:t>
            </a:r>
          </a:p>
          <a:p>
            <a:r>
              <a:rPr lang="en-IN" dirty="0" smtClean="0"/>
              <a:t>class </a:t>
            </a:r>
            <a:r>
              <a:rPr lang="en-IN" dirty="0" err="1" smtClean="0"/>
              <a:t>StackUsingLinkedlist</a:t>
            </a:r>
            <a:endParaRPr lang="en-IN" dirty="0" smtClean="0"/>
          </a:p>
          <a:p>
            <a:r>
              <a:rPr lang="en-IN" dirty="0" smtClean="0"/>
              <a:t>{</a:t>
            </a:r>
          </a:p>
          <a:p>
            <a:r>
              <a:rPr lang="en-IN" dirty="0" smtClean="0"/>
              <a:t>    constructor()</a:t>
            </a:r>
          </a:p>
          <a:p>
            <a:r>
              <a:rPr lang="en-IN" dirty="0" smtClean="0"/>
              <a:t>    {</a:t>
            </a:r>
          </a:p>
          <a:p>
            <a:r>
              <a:rPr lang="en-IN" dirty="0" smtClean="0"/>
              <a:t>        </a:t>
            </a:r>
            <a:r>
              <a:rPr lang="en-IN" dirty="0" err="1" smtClean="0"/>
              <a:t>this.top</a:t>
            </a:r>
            <a:r>
              <a:rPr lang="en-IN" dirty="0" smtClean="0"/>
              <a:t>=null;</a:t>
            </a:r>
          </a:p>
          <a:p>
            <a:r>
              <a:rPr lang="en-IN" dirty="0" smtClean="0"/>
              <a:t>    }</a:t>
            </a:r>
            <a:endParaRPr lang="en-IN" dirty="0"/>
          </a:p>
        </p:txBody>
      </p:sp>
    </p:spTree>
    <p:extLst>
      <p:ext uri="{BB962C8B-B14F-4D97-AF65-F5344CB8AC3E}">
        <p14:creationId xmlns:p14="http://schemas.microsoft.com/office/powerpoint/2010/main" val="280680394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85000" lnSpcReduction="20000"/>
          </a:bodyPr>
          <a:lstStyle/>
          <a:p>
            <a:r>
              <a:rPr lang="en-IN" dirty="0"/>
              <a:t>  push(value) {</a:t>
            </a:r>
          </a:p>
          <a:p>
            <a:r>
              <a:rPr lang="en-IN" dirty="0"/>
              <a:t>    </a:t>
            </a:r>
            <a:r>
              <a:rPr lang="en-IN" dirty="0" err="1"/>
              <a:t>const</a:t>
            </a:r>
            <a:r>
              <a:rPr lang="en-IN" dirty="0"/>
              <a:t> </a:t>
            </a:r>
            <a:r>
              <a:rPr lang="en-IN" dirty="0" err="1"/>
              <a:t>newNode</a:t>
            </a:r>
            <a:r>
              <a:rPr lang="en-IN" dirty="0"/>
              <a:t> = new Node(value);</a:t>
            </a:r>
          </a:p>
          <a:p>
            <a:r>
              <a:rPr lang="en-IN" dirty="0"/>
              <a:t>    if (!</a:t>
            </a:r>
            <a:r>
              <a:rPr lang="en-IN" dirty="0" err="1"/>
              <a:t>this.length</a:t>
            </a:r>
            <a:r>
              <a:rPr lang="en-IN" dirty="0"/>
              <a:t>) {</a:t>
            </a:r>
          </a:p>
          <a:p>
            <a:r>
              <a:rPr lang="en-IN" dirty="0"/>
              <a:t>      </a:t>
            </a:r>
            <a:r>
              <a:rPr lang="en-IN" dirty="0" err="1"/>
              <a:t>this.top</a:t>
            </a:r>
            <a:r>
              <a:rPr lang="en-IN" dirty="0"/>
              <a:t> = </a:t>
            </a:r>
            <a:r>
              <a:rPr lang="en-IN" dirty="0" err="1"/>
              <a:t>newNode</a:t>
            </a:r>
            <a:r>
              <a:rPr lang="en-IN" dirty="0"/>
              <a:t>;</a:t>
            </a:r>
          </a:p>
          <a:p>
            <a:r>
              <a:rPr lang="en-IN" dirty="0"/>
              <a:t>    } else {</a:t>
            </a:r>
          </a:p>
          <a:p>
            <a:r>
              <a:rPr lang="en-IN" dirty="0"/>
              <a:t>      </a:t>
            </a:r>
            <a:r>
              <a:rPr lang="en-IN" dirty="0" err="1"/>
              <a:t>newNode.next</a:t>
            </a:r>
            <a:r>
              <a:rPr lang="en-IN" dirty="0"/>
              <a:t> = </a:t>
            </a:r>
            <a:r>
              <a:rPr lang="en-IN" dirty="0" err="1"/>
              <a:t>this.top</a:t>
            </a:r>
            <a:r>
              <a:rPr lang="en-IN" dirty="0"/>
              <a:t>;</a:t>
            </a:r>
          </a:p>
          <a:p>
            <a:r>
              <a:rPr lang="en-IN" dirty="0"/>
              <a:t>      </a:t>
            </a:r>
            <a:r>
              <a:rPr lang="en-IN" dirty="0" err="1"/>
              <a:t>this.top</a:t>
            </a:r>
            <a:r>
              <a:rPr lang="en-IN" dirty="0"/>
              <a:t> = </a:t>
            </a:r>
            <a:r>
              <a:rPr lang="en-IN" dirty="0" err="1"/>
              <a:t>newNode</a:t>
            </a:r>
            <a:r>
              <a:rPr lang="en-IN" dirty="0"/>
              <a:t>;</a:t>
            </a:r>
          </a:p>
          <a:p>
            <a:r>
              <a:rPr lang="en-IN" dirty="0"/>
              <a:t>    }</a:t>
            </a:r>
          </a:p>
          <a:p>
            <a:r>
              <a:rPr lang="en-IN" dirty="0"/>
              <a:t>    </a:t>
            </a:r>
            <a:r>
              <a:rPr lang="en-IN" dirty="0" err="1"/>
              <a:t>this.length</a:t>
            </a:r>
            <a:r>
              <a:rPr lang="en-IN" dirty="0"/>
              <a:t>++;</a:t>
            </a:r>
          </a:p>
          <a:p>
            <a:r>
              <a:rPr lang="en-IN" dirty="0"/>
              <a:t>    return this;</a:t>
            </a:r>
          </a:p>
          <a:p>
            <a:r>
              <a:rPr lang="en-IN" dirty="0"/>
              <a:t>  }</a:t>
            </a:r>
          </a:p>
          <a:p>
            <a:endParaRPr lang="en-IN" dirty="0"/>
          </a:p>
        </p:txBody>
      </p:sp>
    </p:spTree>
    <p:extLst>
      <p:ext uri="{BB962C8B-B14F-4D97-AF65-F5344CB8AC3E}">
        <p14:creationId xmlns:p14="http://schemas.microsoft.com/office/powerpoint/2010/main" val="220518334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Pop Operation</a:t>
            </a:r>
            <a:br>
              <a:rPr lang="en-IN" dirty="0"/>
            </a:br>
            <a:endParaRPr lang="en-IN" dirty="0"/>
          </a:p>
        </p:txBody>
      </p:sp>
      <p:sp>
        <p:nvSpPr>
          <p:cNvPr id="3" name="Content Placeholder 2"/>
          <p:cNvSpPr>
            <a:spLocks noGrp="1"/>
          </p:cNvSpPr>
          <p:nvPr>
            <p:ph idx="1"/>
          </p:nvPr>
        </p:nvSpPr>
        <p:spPr/>
        <p:txBody>
          <a:bodyPr/>
          <a:lstStyle/>
          <a:p>
            <a:r>
              <a:rPr lang="en-US" dirty="0"/>
              <a:t>Accessing the content while removing it from the stack, is known as a Pop Operation. </a:t>
            </a:r>
            <a:endParaRPr lang="en-US" dirty="0" smtClean="0"/>
          </a:p>
          <a:p>
            <a:r>
              <a:rPr lang="en-US" dirty="0" smtClean="0"/>
              <a:t>In </a:t>
            </a:r>
            <a:r>
              <a:rPr lang="en-US" dirty="0"/>
              <a:t>an array implementation of pop() operation, the data element is not actually removed, instead </a:t>
            </a:r>
            <a:r>
              <a:rPr lang="en-US" b="1" dirty="0"/>
              <a:t>top</a:t>
            </a:r>
            <a:r>
              <a:rPr lang="en-US" dirty="0"/>
              <a:t> is decremented to a lower position in the stack to point to the next value. </a:t>
            </a:r>
            <a:endParaRPr lang="en-US" dirty="0" smtClean="0"/>
          </a:p>
          <a:p>
            <a:r>
              <a:rPr lang="en-US" dirty="0" smtClean="0"/>
              <a:t>But </a:t>
            </a:r>
            <a:r>
              <a:rPr lang="en-US" dirty="0"/>
              <a:t>in linked-list implementation, pop() actually removes data element and </a:t>
            </a:r>
            <a:r>
              <a:rPr lang="en-US" dirty="0" err="1"/>
              <a:t>deallocates</a:t>
            </a:r>
            <a:r>
              <a:rPr lang="en-US" dirty="0"/>
              <a:t> memory space.</a:t>
            </a:r>
            <a:endParaRPr lang="en-IN" dirty="0"/>
          </a:p>
        </p:txBody>
      </p:sp>
    </p:spTree>
    <p:extLst>
      <p:ext uri="{BB962C8B-B14F-4D97-AF65-F5344CB8AC3E}">
        <p14:creationId xmlns:p14="http://schemas.microsoft.com/office/powerpoint/2010/main" val="401352576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A Pop operation may involve the following steps −</a:t>
            </a:r>
          </a:p>
          <a:p>
            <a:r>
              <a:rPr lang="en-US" b="1" dirty="0"/>
              <a:t>Step 1</a:t>
            </a:r>
            <a:r>
              <a:rPr lang="en-US" dirty="0"/>
              <a:t> − Checks if the stack is empty.</a:t>
            </a:r>
          </a:p>
          <a:p>
            <a:r>
              <a:rPr lang="en-US" b="1" dirty="0"/>
              <a:t>Step 2</a:t>
            </a:r>
            <a:r>
              <a:rPr lang="en-US" dirty="0"/>
              <a:t> − If the stack is empty, produces an error and exit.</a:t>
            </a:r>
          </a:p>
          <a:p>
            <a:r>
              <a:rPr lang="en-US" b="1" dirty="0"/>
              <a:t>Step 3</a:t>
            </a:r>
            <a:r>
              <a:rPr lang="en-US" dirty="0"/>
              <a:t> − If the stack is not empty, accesses the data element at which </a:t>
            </a:r>
            <a:r>
              <a:rPr lang="en-US" b="1" dirty="0"/>
              <a:t>top</a:t>
            </a:r>
            <a:r>
              <a:rPr lang="en-US" dirty="0"/>
              <a:t> is pointing.</a:t>
            </a:r>
          </a:p>
          <a:p>
            <a:r>
              <a:rPr lang="en-US" b="1" dirty="0"/>
              <a:t>Step 4</a:t>
            </a:r>
            <a:r>
              <a:rPr lang="en-US" dirty="0"/>
              <a:t> − Decreases the value of top by 1.</a:t>
            </a:r>
          </a:p>
          <a:p>
            <a:r>
              <a:rPr lang="en-US" b="1" dirty="0"/>
              <a:t>Step 5</a:t>
            </a:r>
            <a:r>
              <a:rPr lang="en-US" dirty="0"/>
              <a:t> − Returns success.</a:t>
            </a:r>
          </a:p>
          <a:p>
            <a:pPr marL="0" indent="0">
              <a:buNone/>
            </a:pPr>
            <a:endParaRPr lang="en-IN" dirty="0"/>
          </a:p>
        </p:txBody>
      </p:sp>
    </p:spTree>
    <p:extLst>
      <p:ext uri="{BB962C8B-B14F-4D97-AF65-F5344CB8AC3E}">
        <p14:creationId xmlns:p14="http://schemas.microsoft.com/office/powerpoint/2010/main" val="307290335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  </a:t>
            </a:r>
            <a:endParaRPr lang="en-IN" dirty="0"/>
          </a:p>
        </p:txBody>
      </p:sp>
      <p:pic>
        <p:nvPicPr>
          <p:cNvPr id="4" name="Content Placeholder 3"/>
          <p:cNvPicPr>
            <a:picLocks noGrp="1" noChangeAspect="1"/>
          </p:cNvPicPr>
          <p:nvPr>
            <p:ph idx="1"/>
          </p:nvPr>
        </p:nvPicPr>
        <p:blipFill>
          <a:blip r:embed="rId2"/>
          <a:stretch>
            <a:fillRect/>
          </a:stretch>
        </p:blipFill>
        <p:spPr>
          <a:xfrm>
            <a:off x="1645920" y="1749360"/>
            <a:ext cx="7383069" cy="4150925"/>
          </a:xfrm>
          <a:prstGeom prst="rect">
            <a:avLst/>
          </a:prstGeom>
        </p:spPr>
      </p:pic>
    </p:spTree>
    <p:extLst>
      <p:ext uri="{BB962C8B-B14F-4D97-AF65-F5344CB8AC3E}">
        <p14:creationId xmlns:p14="http://schemas.microsoft.com/office/powerpoint/2010/main" val="362777527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smtClean="0"/>
              <a:t>Pop Operation:</a:t>
            </a:r>
          </a:p>
          <a:p>
            <a:r>
              <a:rPr lang="en-US" dirty="0" smtClean="0"/>
              <a:t>First Check whether there is any node present in the linked list or not, if not then return</a:t>
            </a:r>
          </a:p>
          <a:p>
            <a:r>
              <a:rPr lang="en-US" dirty="0" smtClean="0"/>
              <a:t>Otherwise make pointer let say temp to the top node and move forward the top node by 1 step</a:t>
            </a:r>
          </a:p>
          <a:p>
            <a:r>
              <a:rPr lang="en-US" dirty="0" smtClean="0"/>
              <a:t>Now free this temp node</a:t>
            </a:r>
            <a:endParaRPr lang="en-IN" dirty="0"/>
          </a:p>
        </p:txBody>
      </p:sp>
    </p:spTree>
    <p:extLst>
      <p:ext uri="{BB962C8B-B14F-4D97-AF65-F5344CB8AC3E}">
        <p14:creationId xmlns:p14="http://schemas.microsoft.com/office/powerpoint/2010/main" val="224662374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peek()</a:t>
            </a:r>
          </a:p>
          <a:p>
            <a:r>
              <a:rPr lang="en-US" dirty="0"/>
              <a:t>The peek() is an operation retrieves the topmost element within the stack, without deleting it. This operation is used to check the status of the stack with the help of the top pointer.</a:t>
            </a:r>
          </a:p>
          <a:p>
            <a:endParaRPr lang="en-US" dirty="0"/>
          </a:p>
          <a:p>
            <a:r>
              <a:rPr lang="en-US" dirty="0"/>
              <a:t>Algorithm</a:t>
            </a:r>
          </a:p>
          <a:p>
            <a:r>
              <a:rPr lang="en-US" dirty="0"/>
              <a:t>1. START</a:t>
            </a:r>
          </a:p>
          <a:p>
            <a:r>
              <a:rPr lang="en-US" dirty="0"/>
              <a:t>2. return the element at the top of the stack</a:t>
            </a:r>
          </a:p>
          <a:p>
            <a:r>
              <a:rPr lang="en-US" dirty="0"/>
              <a:t>3. END</a:t>
            </a:r>
            <a:endParaRPr lang="en-IN" dirty="0"/>
          </a:p>
        </p:txBody>
      </p:sp>
    </p:spTree>
    <p:extLst>
      <p:ext uri="{BB962C8B-B14F-4D97-AF65-F5344CB8AC3E}">
        <p14:creationId xmlns:p14="http://schemas.microsoft.com/office/powerpoint/2010/main" val="361134279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10000"/>
          </a:bodyPr>
          <a:lstStyle/>
          <a:p>
            <a:r>
              <a:rPr lang="en-US" dirty="0" err="1"/>
              <a:t>isFull</a:t>
            </a:r>
            <a:r>
              <a:rPr lang="en-US" dirty="0"/>
              <a:t>()</a:t>
            </a:r>
          </a:p>
          <a:p>
            <a:r>
              <a:rPr lang="en-US" dirty="0" err="1"/>
              <a:t>isFull</a:t>
            </a:r>
            <a:r>
              <a:rPr lang="en-US" dirty="0"/>
              <a:t>() operation checks whether the stack is full. This operation is used to check the status of the stack with the help of top pointer.</a:t>
            </a:r>
          </a:p>
          <a:p>
            <a:endParaRPr lang="en-US" dirty="0"/>
          </a:p>
          <a:p>
            <a:r>
              <a:rPr lang="en-US" dirty="0"/>
              <a:t>Algorithm</a:t>
            </a:r>
          </a:p>
          <a:p>
            <a:r>
              <a:rPr lang="en-US" dirty="0"/>
              <a:t>1. START</a:t>
            </a:r>
          </a:p>
          <a:p>
            <a:r>
              <a:rPr lang="en-US" dirty="0"/>
              <a:t>2. If the size of the stack is equal to the top position of the stack, the stack is full. Return 1.</a:t>
            </a:r>
          </a:p>
          <a:p>
            <a:r>
              <a:rPr lang="en-US" dirty="0"/>
              <a:t>3. Otherwise, return 0.</a:t>
            </a:r>
          </a:p>
          <a:p>
            <a:r>
              <a:rPr lang="en-US" dirty="0"/>
              <a:t>4. END</a:t>
            </a:r>
            <a:endParaRPr lang="en-IN" dirty="0"/>
          </a:p>
        </p:txBody>
      </p:sp>
    </p:spTree>
    <p:extLst>
      <p:ext uri="{BB962C8B-B14F-4D97-AF65-F5344CB8AC3E}">
        <p14:creationId xmlns:p14="http://schemas.microsoft.com/office/powerpoint/2010/main" val="190823239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a:bodyPr>
          <a:lstStyle/>
          <a:p>
            <a:r>
              <a:rPr lang="en-US" dirty="0" err="1"/>
              <a:t>isEmpty</a:t>
            </a:r>
            <a:r>
              <a:rPr lang="en-US" dirty="0"/>
              <a:t>()</a:t>
            </a:r>
          </a:p>
          <a:p>
            <a:r>
              <a:rPr lang="en-US" dirty="0"/>
              <a:t>The </a:t>
            </a:r>
            <a:r>
              <a:rPr lang="en-US" dirty="0" err="1"/>
              <a:t>isEmpty</a:t>
            </a:r>
            <a:r>
              <a:rPr lang="en-US" dirty="0"/>
              <a:t>() operation verifies whether the stack is empty. This operation is used to check the status of the stack with the help of top pointer.</a:t>
            </a:r>
          </a:p>
          <a:p>
            <a:endParaRPr lang="en-US" dirty="0"/>
          </a:p>
          <a:p>
            <a:r>
              <a:rPr lang="en-US" dirty="0"/>
              <a:t>Algorithm</a:t>
            </a:r>
          </a:p>
          <a:p>
            <a:r>
              <a:rPr lang="en-US" dirty="0"/>
              <a:t>1. START</a:t>
            </a:r>
          </a:p>
          <a:p>
            <a:r>
              <a:rPr lang="en-US" dirty="0"/>
              <a:t>2. If the top value is -1, the stack is empty. Return 1.</a:t>
            </a:r>
          </a:p>
          <a:p>
            <a:r>
              <a:rPr lang="en-US" dirty="0"/>
              <a:t>3. Otherwise, return 0.</a:t>
            </a:r>
          </a:p>
          <a:p>
            <a:r>
              <a:rPr lang="en-US" dirty="0"/>
              <a:t>4. END</a:t>
            </a:r>
            <a:endParaRPr lang="en-IN" dirty="0"/>
          </a:p>
        </p:txBody>
      </p:sp>
    </p:spTree>
    <p:extLst>
      <p:ext uri="{BB962C8B-B14F-4D97-AF65-F5344CB8AC3E}">
        <p14:creationId xmlns:p14="http://schemas.microsoft.com/office/powerpoint/2010/main" val="343442091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Queue Data structure</a:t>
            </a:r>
            <a:endParaRPr lang="en-IN" dirty="0"/>
          </a:p>
        </p:txBody>
      </p:sp>
      <p:sp>
        <p:nvSpPr>
          <p:cNvPr id="3" name="Content Placeholder 2"/>
          <p:cNvSpPr>
            <a:spLocks noGrp="1"/>
          </p:cNvSpPr>
          <p:nvPr>
            <p:ph idx="1"/>
          </p:nvPr>
        </p:nvSpPr>
        <p:spPr/>
        <p:txBody>
          <a:bodyPr/>
          <a:lstStyle/>
          <a:p>
            <a:r>
              <a:rPr lang="en-US" dirty="0"/>
              <a:t>Queue is an abstract data structure, somewhat similar to Stacks. Unlike stacks, a queue is open at both its ends. </a:t>
            </a:r>
            <a:endParaRPr lang="en-US" dirty="0" smtClean="0"/>
          </a:p>
          <a:p>
            <a:r>
              <a:rPr lang="en-US" dirty="0" smtClean="0"/>
              <a:t>One </a:t>
            </a:r>
            <a:r>
              <a:rPr lang="en-US" dirty="0"/>
              <a:t>end is always used to insert data (</a:t>
            </a:r>
            <a:r>
              <a:rPr lang="en-US" dirty="0" err="1"/>
              <a:t>enqueue</a:t>
            </a:r>
            <a:r>
              <a:rPr lang="en-US" dirty="0"/>
              <a:t>) and the other is used to remove data (</a:t>
            </a:r>
            <a:r>
              <a:rPr lang="en-US" dirty="0" err="1"/>
              <a:t>dequeue</a:t>
            </a:r>
            <a:r>
              <a:rPr lang="en-US" dirty="0"/>
              <a:t>). </a:t>
            </a:r>
            <a:endParaRPr lang="en-US" dirty="0" smtClean="0"/>
          </a:p>
          <a:p>
            <a:r>
              <a:rPr lang="en-US" dirty="0" smtClean="0"/>
              <a:t>Queue </a:t>
            </a:r>
            <a:r>
              <a:rPr lang="en-US" dirty="0"/>
              <a:t>follows First-In-First-Out methodology, i.e., the data item stored first will be accessed first.</a:t>
            </a:r>
            <a:endParaRPr lang="en-IN" dirty="0"/>
          </a:p>
        </p:txBody>
      </p:sp>
    </p:spTree>
    <p:extLst>
      <p:ext uri="{BB962C8B-B14F-4D97-AF65-F5344CB8AC3E}">
        <p14:creationId xmlns:p14="http://schemas.microsoft.com/office/powerpoint/2010/main" val="73361904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A real-world example of queue can be a single-lane one-way road, where the vehicle enters first, exits first. </a:t>
            </a:r>
            <a:endParaRPr lang="en-US" dirty="0" smtClean="0"/>
          </a:p>
          <a:p>
            <a:r>
              <a:rPr lang="en-US" dirty="0" smtClean="0"/>
              <a:t>More </a:t>
            </a:r>
            <a:r>
              <a:rPr lang="en-US" dirty="0"/>
              <a:t>real-world examples can be seen as queues at the ticket windows and bus-stops.</a:t>
            </a:r>
            <a:endParaRPr lang="en-IN" dirty="0"/>
          </a:p>
        </p:txBody>
      </p:sp>
    </p:spTree>
    <p:extLst>
      <p:ext uri="{BB962C8B-B14F-4D97-AF65-F5344CB8AC3E}">
        <p14:creationId xmlns:p14="http://schemas.microsoft.com/office/powerpoint/2010/main" val="412327874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026" name="Picture 2" descr="Queue Exampl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86000" y="3074194"/>
            <a:ext cx="7620000" cy="1854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83516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r>
              <a:rPr lang="en-US" dirty="0"/>
              <a:t>Queue Representation</a:t>
            </a:r>
          </a:p>
          <a:p>
            <a:r>
              <a:rPr lang="en-US" dirty="0"/>
              <a:t>As we now understand that in queue, we access both ends for different reasons. The following diagram given below tries to explain queue representation as data structure −</a:t>
            </a:r>
          </a:p>
          <a:p>
            <a:endParaRPr lang="en-IN" dirty="0"/>
          </a:p>
        </p:txBody>
      </p:sp>
    </p:spTree>
    <p:extLst>
      <p:ext uri="{BB962C8B-B14F-4D97-AF65-F5344CB8AC3E}">
        <p14:creationId xmlns:p14="http://schemas.microsoft.com/office/powerpoint/2010/main" val="310639997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3074" name="Picture 2" descr="Queue Exampl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86000" y="3201194"/>
            <a:ext cx="7620000"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155143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Basic Operations</a:t>
            </a:r>
          </a:p>
          <a:p>
            <a:r>
              <a:rPr lang="en-US" dirty="0"/>
              <a:t>Queue operations may involve initializing or defining the queue, utilizing it, and then completely erasing it from the memory. Here we shall try to understand the basic operations associated with queues −</a:t>
            </a:r>
          </a:p>
          <a:p>
            <a:r>
              <a:rPr lang="en-US" b="1" dirty="0" err="1"/>
              <a:t>enqueue</a:t>
            </a:r>
            <a:r>
              <a:rPr lang="en-US" b="1" dirty="0"/>
              <a:t>()</a:t>
            </a:r>
            <a:r>
              <a:rPr lang="en-US" dirty="0"/>
              <a:t> − add (store) an item to the queue.</a:t>
            </a:r>
          </a:p>
          <a:p>
            <a:r>
              <a:rPr lang="en-US" b="1" dirty="0" err="1"/>
              <a:t>dequeue</a:t>
            </a:r>
            <a:r>
              <a:rPr lang="en-US" b="1" dirty="0"/>
              <a:t>()</a:t>
            </a:r>
            <a:r>
              <a:rPr lang="en-US" dirty="0"/>
              <a:t> − remove (access) an item from the queue.</a:t>
            </a:r>
          </a:p>
          <a:p>
            <a:endParaRPr lang="en-IN" dirty="0"/>
          </a:p>
        </p:txBody>
      </p:sp>
    </p:spTree>
    <p:extLst>
      <p:ext uri="{BB962C8B-B14F-4D97-AF65-F5344CB8AC3E}">
        <p14:creationId xmlns:p14="http://schemas.microsoft.com/office/powerpoint/2010/main" val="85585385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b="1" dirty="0"/>
              <a:t>peek()</a:t>
            </a:r>
            <a:r>
              <a:rPr lang="en-US" dirty="0"/>
              <a:t> − Gets the element at the front of the queue without removing it.</a:t>
            </a:r>
          </a:p>
          <a:p>
            <a:r>
              <a:rPr lang="en-US" b="1" dirty="0" err="1"/>
              <a:t>isfull</a:t>
            </a:r>
            <a:r>
              <a:rPr lang="en-US" b="1" dirty="0"/>
              <a:t>()</a:t>
            </a:r>
            <a:r>
              <a:rPr lang="en-US" dirty="0"/>
              <a:t> − Checks if the queue is full.</a:t>
            </a:r>
          </a:p>
          <a:p>
            <a:r>
              <a:rPr lang="en-US" b="1" dirty="0" err="1"/>
              <a:t>isempty</a:t>
            </a:r>
            <a:r>
              <a:rPr lang="en-US" b="1" dirty="0"/>
              <a:t>()</a:t>
            </a:r>
            <a:r>
              <a:rPr lang="en-US" dirty="0"/>
              <a:t> − Checks if the queue is empty.</a:t>
            </a:r>
          </a:p>
          <a:p>
            <a:pPr marL="0" indent="0">
              <a:buNone/>
            </a:pPr>
            <a:endParaRPr lang="en-IN" dirty="0"/>
          </a:p>
        </p:txBody>
      </p:sp>
    </p:spTree>
    <p:extLst>
      <p:ext uri="{BB962C8B-B14F-4D97-AF65-F5344CB8AC3E}">
        <p14:creationId xmlns:p14="http://schemas.microsoft.com/office/powerpoint/2010/main" val="5491290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Enqueue</a:t>
            </a:r>
            <a:r>
              <a:rPr lang="en-US" dirty="0"/>
              <a:t> Operation</a:t>
            </a:r>
            <a:br>
              <a:rPr lang="en-US" dirty="0"/>
            </a:br>
            <a:endParaRPr lang="en-IN" dirty="0"/>
          </a:p>
        </p:txBody>
      </p:sp>
      <p:sp>
        <p:nvSpPr>
          <p:cNvPr id="3" name="Content Placeholder 2"/>
          <p:cNvSpPr>
            <a:spLocks noGrp="1"/>
          </p:cNvSpPr>
          <p:nvPr>
            <p:ph idx="1"/>
          </p:nvPr>
        </p:nvSpPr>
        <p:spPr/>
        <p:txBody>
          <a:bodyPr>
            <a:normAutofit fontScale="92500" lnSpcReduction="20000"/>
          </a:bodyPr>
          <a:lstStyle/>
          <a:p>
            <a:r>
              <a:rPr lang="en-US" dirty="0" smtClean="0"/>
              <a:t>Queues </a:t>
            </a:r>
            <a:r>
              <a:rPr lang="en-US" dirty="0"/>
              <a:t>maintain two data pointers, </a:t>
            </a:r>
            <a:r>
              <a:rPr lang="en-US" b="1" dirty="0"/>
              <a:t>front</a:t>
            </a:r>
            <a:r>
              <a:rPr lang="en-US" dirty="0"/>
              <a:t> and </a:t>
            </a:r>
            <a:r>
              <a:rPr lang="en-US" b="1" dirty="0"/>
              <a:t>rear</a:t>
            </a:r>
            <a:r>
              <a:rPr lang="en-US" dirty="0"/>
              <a:t>. Therefore, its operations are comparatively difficult to implement than that of stacks.</a:t>
            </a:r>
          </a:p>
          <a:p>
            <a:r>
              <a:rPr lang="en-US" dirty="0"/>
              <a:t>The following steps should be taken to </a:t>
            </a:r>
            <a:r>
              <a:rPr lang="en-US" dirty="0" err="1"/>
              <a:t>enqueue</a:t>
            </a:r>
            <a:r>
              <a:rPr lang="en-US" dirty="0"/>
              <a:t> (insert) data into a queue −</a:t>
            </a:r>
          </a:p>
          <a:p>
            <a:r>
              <a:rPr lang="en-US" b="1" dirty="0"/>
              <a:t>Step 1</a:t>
            </a:r>
            <a:r>
              <a:rPr lang="en-US" dirty="0"/>
              <a:t> − Check if the queue is full.</a:t>
            </a:r>
          </a:p>
          <a:p>
            <a:r>
              <a:rPr lang="en-US" b="1" dirty="0"/>
              <a:t>Step 2</a:t>
            </a:r>
            <a:r>
              <a:rPr lang="en-US" dirty="0"/>
              <a:t> − If the queue is full, produce overflow error and exit.</a:t>
            </a:r>
          </a:p>
          <a:p>
            <a:r>
              <a:rPr lang="en-US" b="1" dirty="0"/>
              <a:t>Step 3</a:t>
            </a:r>
            <a:r>
              <a:rPr lang="en-US" dirty="0"/>
              <a:t> − If the queue is not full, increment </a:t>
            </a:r>
            <a:r>
              <a:rPr lang="en-US" b="1" dirty="0"/>
              <a:t>rear</a:t>
            </a:r>
            <a:r>
              <a:rPr lang="en-US" dirty="0"/>
              <a:t> pointer to point the next empty space.</a:t>
            </a:r>
          </a:p>
          <a:p>
            <a:r>
              <a:rPr lang="en-US" b="1" dirty="0"/>
              <a:t>Step 4</a:t>
            </a:r>
            <a:r>
              <a:rPr lang="en-US" dirty="0"/>
              <a:t> − Add data element to the queue location, where the rear is pointing.</a:t>
            </a:r>
          </a:p>
          <a:p>
            <a:r>
              <a:rPr lang="en-US" b="1" dirty="0"/>
              <a:t>Step 5</a:t>
            </a:r>
            <a:r>
              <a:rPr lang="en-US" dirty="0"/>
              <a:t> − return success.</a:t>
            </a:r>
          </a:p>
          <a:p>
            <a:pPr marL="0" indent="0">
              <a:buNone/>
            </a:pPr>
            <a:r>
              <a:rPr lang="en-US" dirty="0"/>
              <a:t/>
            </a:r>
            <a:br>
              <a:rPr lang="en-US" dirty="0"/>
            </a:br>
            <a:endParaRPr lang="en-IN" dirty="0"/>
          </a:p>
        </p:txBody>
      </p:sp>
    </p:spTree>
    <p:extLst>
      <p:ext uri="{BB962C8B-B14F-4D97-AF65-F5344CB8AC3E}">
        <p14:creationId xmlns:p14="http://schemas.microsoft.com/office/powerpoint/2010/main" val="271181262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3803884" y="2775176"/>
            <a:ext cx="5238750" cy="2952750"/>
          </a:xfrm>
          <a:prstGeom prst="rect">
            <a:avLst/>
          </a:prstGeom>
        </p:spPr>
      </p:pic>
    </p:spTree>
    <p:extLst>
      <p:ext uri="{BB962C8B-B14F-4D97-AF65-F5344CB8AC3E}">
        <p14:creationId xmlns:p14="http://schemas.microsoft.com/office/powerpoint/2010/main" val="317487468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Algorithm for </a:t>
            </a:r>
            <a:r>
              <a:rPr lang="en-IN" dirty="0" err="1"/>
              <a:t>enqueue</a:t>
            </a:r>
            <a:r>
              <a:rPr lang="en-IN" dirty="0"/>
              <a:t> operation</a:t>
            </a:r>
            <a:br>
              <a:rPr lang="en-IN" dirty="0"/>
            </a:br>
            <a:endParaRPr lang="en-IN" dirty="0"/>
          </a:p>
        </p:txBody>
      </p:sp>
      <p:sp>
        <p:nvSpPr>
          <p:cNvPr id="3" name="Content Placeholder 2"/>
          <p:cNvSpPr>
            <a:spLocks noGrp="1"/>
          </p:cNvSpPr>
          <p:nvPr>
            <p:ph idx="1"/>
          </p:nvPr>
        </p:nvSpPr>
        <p:spPr/>
        <p:txBody>
          <a:bodyPr>
            <a:normAutofit fontScale="85000" lnSpcReduction="20000"/>
          </a:bodyPr>
          <a:lstStyle/>
          <a:p>
            <a:pPr marL="0" indent="0">
              <a:buNone/>
            </a:pPr>
            <a:r>
              <a:rPr lang="en-US" dirty="0"/>
              <a:t>procedure </a:t>
            </a:r>
            <a:r>
              <a:rPr lang="en-US" dirty="0" err="1"/>
              <a:t>enqueue</a:t>
            </a:r>
            <a:r>
              <a:rPr lang="en-US" dirty="0"/>
              <a:t>(data)      </a:t>
            </a:r>
          </a:p>
          <a:p>
            <a:pPr marL="0" indent="0">
              <a:buNone/>
            </a:pPr>
            <a:r>
              <a:rPr lang="en-US" dirty="0"/>
              <a:t>   </a:t>
            </a:r>
          </a:p>
          <a:p>
            <a:pPr marL="0" indent="0">
              <a:buNone/>
            </a:pPr>
            <a:r>
              <a:rPr lang="en-US" dirty="0"/>
              <a:t>   if queue is full</a:t>
            </a:r>
          </a:p>
          <a:p>
            <a:pPr marL="0" indent="0">
              <a:buNone/>
            </a:pPr>
            <a:r>
              <a:rPr lang="en-US" dirty="0"/>
              <a:t>      return overflow</a:t>
            </a:r>
          </a:p>
          <a:p>
            <a:pPr marL="0" indent="0">
              <a:buNone/>
            </a:pPr>
            <a:r>
              <a:rPr lang="en-US" dirty="0"/>
              <a:t>   </a:t>
            </a:r>
            <a:r>
              <a:rPr lang="en-US" dirty="0" err="1"/>
              <a:t>endif</a:t>
            </a:r>
            <a:endParaRPr lang="en-US" dirty="0"/>
          </a:p>
          <a:p>
            <a:pPr marL="0" indent="0">
              <a:buNone/>
            </a:pPr>
            <a:r>
              <a:rPr lang="en-US" dirty="0"/>
              <a:t>   </a:t>
            </a:r>
          </a:p>
          <a:p>
            <a:pPr marL="0" indent="0">
              <a:buNone/>
            </a:pPr>
            <a:r>
              <a:rPr lang="en-US" dirty="0"/>
              <a:t>   rear ← rear + 1</a:t>
            </a:r>
          </a:p>
          <a:p>
            <a:pPr marL="0" indent="0">
              <a:buNone/>
            </a:pPr>
            <a:r>
              <a:rPr lang="en-US" dirty="0"/>
              <a:t>   queue[rear] ← data</a:t>
            </a:r>
          </a:p>
          <a:p>
            <a:pPr marL="0" indent="0">
              <a:buNone/>
            </a:pPr>
            <a:r>
              <a:rPr lang="en-US" dirty="0"/>
              <a:t>   return true</a:t>
            </a:r>
          </a:p>
          <a:p>
            <a:pPr marL="0" indent="0">
              <a:buNone/>
            </a:pPr>
            <a:r>
              <a:rPr lang="en-US" dirty="0"/>
              <a:t>   </a:t>
            </a:r>
          </a:p>
          <a:p>
            <a:pPr marL="0" indent="0">
              <a:buNone/>
            </a:pPr>
            <a:r>
              <a:rPr lang="en-US" dirty="0"/>
              <a:t>end procedure</a:t>
            </a:r>
            <a:endParaRPr lang="en-IN" dirty="0"/>
          </a:p>
        </p:txBody>
      </p:sp>
    </p:spTree>
    <p:extLst>
      <p:ext uri="{BB962C8B-B14F-4D97-AF65-F5344CB8AC3E}">
        <p14:creationId xmlns:p14="http://schemas.microsoft.com/office/powerpoint/2010/main" val="120012211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Dequeue</a:t>
            </a:r>
            <a:r>
              <a:rPr lang="en-IN" dirty="0"/>
              <a:t> Operation</a:t>
            </a:r>
            <a:br>
              <a:rPr lang="en-IN" dirty="0"/>
            </a:br>
            <a:endParaRPr lang="en-IN" dirty="0"/>
          </a:p>
        </p:txBody>
      </p:sp>
      <p:sp>
        <p:nvSpPr>
          <p:cNvPr id="3" name="Content Placeholder 2"/>
          <p:cNvSpPr>
            <a:spLocks noGrp="1"/>
          </p:cNvSpPr>
          <p:nvPr>
            <p:ph idx="1"/>
          </p:nvPr>
        </p:nvSpPr>
        <p:spPr/>
        <p:txBody>
          <a:bodyPr>
            <a:normAutofit lnSpcReduction="10000"/>
          </a:bodyPr>
          <a:lstStyle/>
          <a:p>
            <a:r>
              <a:rPr lang="en-US" dirty="0"/>
              <a:t>Accessing data from the queue is a process of two tasks − access the data where </a:t>
            </a:r>
            <a:r>
              <a:rPr lang="en-US" b="1" dirty="0"/>
              <a:t>front</a:t>
            </a:r>
            <a:r>
              <a:rPr lang="en-US" dirty="0"/>
              <a:t> is pointing and remove the data after access. The following steps are taken to perform </a:t>
            </a:r>
            <a:r>
              <a:rPr lang="en-US" b="1" dirty="0" err="1"/>
              <a:t>dequeue</a:t>
            </a:r>
            <a:r>
              <a:rPr lang="en-US" dirty="0"/>
              <a:t> operation −</a:t>
            </a:r>
          </a:p>
          <a:p>
            <a:r>
              <a:rPr lang="en-US" b="1" dirty="0"/>
              <a:t>Step 1</a:t>
            </a:r>
            <a:r>
              <a:rPr lang="en-US" dirty="0"/>
              <a:t> − Check if the queue is empty.</a:t>
            </a:r>
          </a:p>
          <a:p>
            <a:r>
              <a:rPr lang="en-US" b="1" dirty="0"/>
              <a:t>Step 2</a:t>
            </a:r>
            <a:r>
              <a:rPr lang="en-US" dirty="0"/>
              <a:t> − If the queue is empty, produce underflow error and exit.</a:t>
            </a:r>
          </a:p>
          <a:p>
            <a:r>
              <a:rPr lang="en-US" b="1" dirty="0"/>
              <a:t>Step 3</a:t>
            </a:r>
            <a:r>
              <a:rPr lang="en-US" dirty="0"/>
              <a:t> − If the queue is not empty, access the data where </a:t>
            </a:r>
            <a:r>
              <a:rPr lang="en-US" b="1" dirty="0"/>
              <a:t>front</a:t>
            </a:r>
            <a:r>
              <a:rPr lang="en-US" dirty="0"/>
              <a:t> is pointing.</a:t>
            </a:r>
          </a:p>
          <a:p>
            <a:r>
              <a:rPr lang="en-US" b="1" dirty="0"/>
              <a:t>Step 4</a:t>
            </a:r>
            <a:r>
              <a:rPr lang="en-US" dirty="0"/>
              <a:t> − Increment </a:t>
            </a:r>
            <a:r>
              <a:rPr lang="en-US" b="1" dirty="0"/>
              <a:t>front</a:t>
            </a:r>
            <a:r>
              <a:rPr lang="en-US" dirty="0"/>
              <a:t> pointer to point to the next available data element.</a:t>
            </a:r>
          </a:p>
          <a:p>
            <a:r>
              <a:rPr lang="en-US" b="1" dirty="0"/>
              <a:t>Step 5</a:t>
            </a:r>
            <a:r>
              <a:rPr lang="en-US" dirty="0"/>
              <a:t> − Return success.</a:t>
            </a:r>
          </a:p>
          <a:p>
            <a:pPr marL="0" indent="0">
              <a:buNone/>
            </a:pPr>
            <a:endParaRPr lang="en-IN" dirty="0"/>
          </a:p>
        </p:txBody>
      </p:sp>
    </p:spTree>
    <p:extLst>
      <p:ext uri="{BB962C8B-B14F-4D97-AF65-F5344CB8AC3E}">
        <p14:creationId xmlns:p14="http://schemas.microsoft.com/office/powerpoint/2010/main" val="130217994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5122" name="Picture 2" descr="Remove Operation"/>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37567" y="1825625"/>
            <a:ext cx="6916866"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570808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Algorithm for </a:t>
            </a:r>
            <a:r>
              <a:rPr lang="en-IN" dirty="0" err="1"/>
              <a:t>dequeue</a:t>
            </a:r>
            <a:r>
              <a:rPr lang="en-IN" dirty="0"/>
              <a:t> operation</a:t>
            </a:r>
          </a:p>
        </p:txBody>
      </p:sp>
      <p:sp>
        <p:nvSpPr>
          <p:cNvPr id="3" name="Content Placeholder 2"/>
          <p:cNvSpPr>
            <a:spLocks noGrp="1"/>
          </p:cNvSpPr>
          <p:nvPr>
            <p:ph idx="1"/>
          </p:nvPr>
        </p:nvSpPr>
        <p:spPr/>
        <p:txBody>
          <a:bodyPr>
            <a:normAutofit fontScale="85000" lnSpcReduction="20000"/>
          </a:bodyPr>
          <a:lstStyle/>
          <a:p>
            <a:pPr marL="0" indent="0">
              <a:buNone/>
            </a:pPr>
            <a:r>
              <a:rPr lang="en-US" dirty="0"/>
              <a:t>procedure </a:t>
            </a:r>
            <a:r>
              <a:rPr lang="en-US" dirty="0" err="1"/>
              <a:t>dequeue</a:t>
            </a:r>
            <a:endParaRPr lang="en-US" dirty="0"/>
          </a:p>
          <a:p>
            <a:pPr marL="0" indent="0">
              <a:buNone/>
            </a:pPr>
            <a:r>
              <a:rPr lang="en-US" dirty="0"/>
              <a:t>   </a:t>
            </a:r>
          </a:p>
          <a:p>
            <a:pPr marL="0" indent="0">
              <a:buNone/>
            </a:pPr>
            <a:r>
              <a:rPr lang="en-US" dirty="0"/>
              <a:t>   if queue is empty</a:t>
            </a:r>
          </a:p>
          <a:p>
            <a:pPr marL="0" indent="0">
              <a:buNone/>
            </a:pPr>
            <a:r>
              <a:rPr lang="en-US" dirty="0"/>
              <a:t>      return underflow</a:t>
            </a:r>
          </a:p>
          <a:p>
            <a:pPr marL="0" indent="0">
              <a:buNone/>
            </a:pPr>
            <a:r>
              <a:rPr lang="en-US" dirty="0"/>
              <a:t>   end if</a:t>
            </a:r>
          </a:p>
          <a:p>
            <a:pPr marL="0" indent="0">
              <a:buNone/>
            </a:pPr>
            <a:endParaRPr lang="en-US" dirty="0"/>
          </a:p>
          <a:p>
            <a:pPr marL="0" indent="0">
              <a:buNone/>
            </a:pPr>
            <a:r>
              <a:rPr lang="en-US" dirty="0"/>
              <a:t>   data = queue[front]</a:t>
            </a:r>
          </a:p>
          <a:p>
            <a:pPr marL="0" indent="0">
              <a:buNone/>
            </a:pPr>
            <a:r>
              <a:rPr lang="en-US" dirty="0"/>
              <a:t>   front ← front + 1</a:t>
            </a:r>
          </a:p>
          <a:p>
            <a:pPr marL="0" indent="0">
              <a:buNone/>
            </a:pPr>
            <a:r>
              <a:rPr lang="en-US" dirty="0"/>
              <a:t>   return true</a:t>
            </a:r>
          </a:p>
          <a:p>
            <a:pPr marL="0" indent="0">
              <a:buNone/>
            </a:pPr>
            <a:endParaRPr lang="en-US" dirty="0"/>
          </a:p>
          <a:p>
            <a:pPr marL="0" indent="0">
              <a:buNone/>
            </a:pPr>
            <a:r>
              <a:rPr lang="en-US" dirty="0"/>
              <a:t>end procedure</a:t>
            </a:r>
            <a:endParaRPr lang="en-IN" dirty="0"/>
          </a:p>
        </p:txBody>
      </p:sp>
    </p:spTree>
    <p:extLst>
      <p:ext uri="{BB962C8B-B14F-4D97-AF65-F5344CB8AC3E}">
        <p14:creationId xmlns:p14="http://schemas.microsoft.com/office/powerpoint/2010/main" val="277357267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err="1"/>
              <a:t>isfull</a:t>
            </a:r>
            <a:r>
              <a:rPr lang="en-US" dirty="0"/>
              <a:t>()</a:t>
            </a:r>
          </a:p>
          <a:p>
            <a:r>
              <a:rPr lang="en-US" dirty="0"/>
              <a:t>As we are using single dimension array to implement queue, we just check for the rear pointer to reach at MAXSIZE to determine that the queue is full. </a:t>
            </a:r>
            <a:endParaRPr lang="en-US" dirty="0" smtClean="0"/>
          </a:p>
          <a:p>
            <a:r>
              <a:rPr lang="en-US" dirty="0" smtClean="0"/>
              <a:t>case </a:t>
            </a:r>
            <a:r>
              <a:rPr lang="en-US" dirty="0"/>
              <a:t>we maintain the queue in a circular linked-list, the algorithm will differ. </a:t>
            </a:r>
            <a:endParaRPr lang="en-US" dirty="0" smtClean="0"/>
          </a:p>
          <a:p>
            <a:r>
              <a:rPr lang="en-US" dirty="0" smtClean="0"/>
              <a:t>Algorithm </a:t>
            </a:r>
            <a:r>
              <a:rPr lang="en-US" dirty="0"/>
              <a:t>of </a:t>
            </a:r>
            <a:r>
              <a:rPr lang="en-US" dirty="0" err="1"/>
              <a:t>isfull</a:t>
            </a:r>
            <a:r>
              <a:rPr lang="en-US" dirty="0"/>
              <a:t>() function −</a:t>
            </a:r>
          </a:p>
          <a:p>
            <a:pPr marL="0" indent="0">
              <a:buNone/>
            </a:pPr>
            <a:endParaRPr lang="en-IN" dirty="0"/>
          </a:p>
        </p:txBody>
      </p:sp>
    </p:spTree>
    <p:extLst>
      <p:ext uri="{BB962C8B-B14F-4D97-AF65-F5344CB8AC3E}">
        <p14:creationId xmlns:p14="http://schemas.microsoft.com/office/powerpoint/2010/main" val="279746359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Algorithm</a:t>
            </a:r>
            <a:endParaRPr lang="en-IN" dirty="0"/>
          </a:p>
        </p:txBody>
      </p:sp>
      <p:sp>
        <p:nvSpPr>
          <p:cNvPr id="3" name="Content Placeholder 2"/>
          <p:cNvSpPr>
            <a:spLocks noGrp="1"/>
          </p:cNvSpPr>
          <p:nvPr>
            <p:ph idx="1"/>
          </p:nvPr>
        </p:nvSpPr>
        <p:spPr/>
        <p:txBody>
          <a:bodyPr>
            <a:normAutofit lnSpcReduction="10000"/>
          </a:bodyPr>
          <a:lstStyle/>
          <a:p>
            <a:pPr marL="0" indent="0">
              <a:buNone/>
            </a:pPr>
            <a:r>
              <a:rPr lang="en-US" dirty="0"/>
              <a:t>begin procedure </a:t>
            </a:r>
            <a:r>
              <a:rPr lang="en-US" dirty="0" err="1"/>
              <a:t>isfull</a:t>
            </a:r>
            <a:endParaRPr lang="en-US" dirty="0"/>
          </a:p>
          <a:p>
            <a:pPr marL="0" indent="0">
              <a:buNone/>
            </a:pPr>
            <a:endParaRPr lang="en-US" dirty="0"/>
          </a:p>
          <a:p>
            <a:pPr marL="0" indent="0">
              <a:buNone/>
            </a:pPr>
            <a:r>
              <a:rPr lang="en-US" dirty="0"/>
              <a:t>   if rear equals to MAXSIZE</a:t>
            </a:r>
          </a:p>
          <a:p>
            <a:pPr marL="0" indent="0">
              <a:buNone/>
            </a:pPr>
            <a:r>
              <a:rPr lang="en-US" dirty="0"/>
              <a:t>      return true</a:t>
            </a:r>
          </a:p>
          <a:p>
            <a:pPr marL="0" indent="0">
              <a:buNone/>
            </a:pPr>
            <a:r>
              <a:rPr lang="en-US" dirty="0"/>
              <a:t>   else</a:t>
            </a:r>
          </a:p>
          <a:p>
            <a:pPr marL="0" indent="0">
              <a:buNone/>
            </a:pPr>
            <a:r>
              <a:rPr lang="en-US" dirty="0"/>
              <a:t>      return false</a:t>
            </a:r>
          </a:p>
          <a:p>
            <a:pPr marL="0" indent="0">
              <a:buNone/>
            </a:pPr>
            <a:r>
              <a:rPr lang="en-US" dirty="0"/>
              <a:t>   </a:t>
            </a:r>
            <a:r>
              <a:rPr lang="en-US" dirty="0" err="1"/>
              <a:t>endif</a:t>
            </a:r>
            <a:endParaRPr lang="en-US" dirty="0"/>
          </a:p>
          <a:p>
            <a:pPr marL="0" indent="0">
              <a:buNone/>
            </a:pPr>
            <a:r>
              <a:rPr lang="en-US" dirty="0"/>
              <a:t>   </a:t>
            </a:r>
          </a:p>
          <a:p>
            <a:pPr marL="0" indent="0">
              <a:buNone/>
            </a:pPr>
            <a:r>
              <a:rPr lang="en-US" dirty="0"/>
              <a:t>end procedure</a:t>
            </a:r>
            <a:endParaRPr lang="en-IN" dirty="0"/>
          </a:p>
        </p:txBody>
      </p:sp>
    </p:spTree>
    <p:extLst>
      <p:ext uri="{BB962C8B-B14F-4D97-AF65-F5344CB8AC3E}">
        <p14:creationId xmlns:p14="http://schemas.microsoft.com/office/powerpoint/2010/main" val="151132746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16999"/>
            <a:ext cx="10515600" cy="183515"/>
          </a:xfrm>
        </p:spPr>
        <p:txBody>
          <a:bodyPr>
            <a:normAutofit fontScale="90000"/>
          </a:bodyPr>
          <a:lstStyle/>
          <a:p>
            <a:endParaRPr lang="en-IN" dirty="0"/>
          </a:p>
        </p:txBody>
      </p:sp>
      <p:sp>
        <p:nvSpPr>
          <p:cNvPr id="3" name="Content Placeholder 2"/>
          <p:cNvSpPr>
            <a:spLocks noGrp="1"/>
          </p:cNvSpPr>
          <p:nvPr>
            <p:ph idx="1"/>
          </p:nvPr>
        </p:nvSpPr>
        <p:spPr>
          <a:xfrm>
            <a:off x="838200" y="635267"/>
            <a:ext cx="10515600" cy="5541696"/>
          </a:xfrm>
        </p:spPr>
        <p:txBody>
          <a:bodyPr>
            <a:normAutofit fontScale="85000" lnSpcReduction="20000"/>
          </a:bodyPr>
          <a:lstStyle/>
          <a:p>
            <a:pPr marL="0" indent="0">
              <a:buNone/>
            </a:pPr>
            <a:r>
              <a:rPr lang="en-US" dirty="0" err="1"/>
              <a:t>isempty</a:t>
            </a:r>
            <a:r>
              <a:rPr lang="en-US" dirty="0"/>
              <a:t>()</a:t>
            </a:r>
          </a:p>
          <a:p>
            <a:pPr marL="0" indent="0">
              <a:buNone/>
            </a:pPr>
            <a:r>
              <a:rPr lang="en-US" dirty="0"/>
              <a:t>Algorithm of </a:t>
            </a:r>
            <a:r>
              <a:rPr lang="en-US" dirty="0" err="1"/>
              <a:t>isempty</a:t>
            </a:r>
            <a:r>
              <a:rPr lang="en-US" dirty="0"/>
              <a:t>() function −</a:t>
            </a:r>
          </a:p>
          <a:p>
            <a:pPr marL="0" indent="0">
              <a:buNone/>
            </a:pPr>
            <a:endParaRPr lang="en-US" dirty="0"/>
          </a:p>
          <a:p>
            <a:pPr marL="0" indent="0">
              <a:buNone/>
            </a:pPr>
            <a:r>
              <a:rPr lang="en-US" dirty="0"/>
              <a:t>Algorithm</a:t>
            </a:r>
          </a:p>
          <a:p>
            <a:pPr marL="0" indent="0">
              <a:buNone/>
            </a:pPr>
            <a:endParaRPr lang="en-US" dirty="0"/>
          </a:p>
          <a:p>
            <a:pPr marL="0" indent="0">
              <a:buNone/>
            </a:pPr>
            <a:r>
              <a:rPr lang="en-US" dirty="0"/>
              <a:t>begin procedure </a:t>
            </a:r>
            <a:r>
              <a:rPr lang="en-US" dirty="0" err="1"/>
              <a:t>isempty</a:t>
            </a:r>
            <a:endParaRPr lang="en-US" dirty="0"/>
          </a:p>
          <a:p>
            <a:pPr marL="0" indent="0">
              <a:buNone/>
            </a:pPr>
            <a:endParaRPr lang="en-US" dirty="0"/>
          </a:p>
          <a:p>
            <a:pPr marL="0" indent="0">
              <a:buNone/>
            </a:pPr>
            <a:r>
              <a:rPr lang="en-US" dirty="0"/>
              <a:t>   if front is less than MIN  OR front is greater than rear</a:t>
            </a:r>
          </a:p>
          <a:p>
            <a:pPr marL="0" indent="0">
              <a:buNone/>
            </a:pPr>
            <a:r>
              <a:rPr lang="en-US" dirty="0"/>
              <a:t>      return true</a:t>
            </a:r>
          </a:p>
          <a:p>
            <a:pPr marL="0" indent="0">
              <a:buNone/>
            </a:pPr>
            <a:r>
              <a:rPr lang="en-US" dirty="0"/>
              <a:t>   else</a:t>
            </a:r>
          </a:p>
          <a:p>
            <a:pPr marL="0" indent="0">
              <a:buNone/>
            </a:pPr>
            <a:r>
              <a:rPr lang="en-US" dirty="0"/>
              <a:t>      return false</a:t>
            </a:r>
          </a:p>
          <a:p>
            <a:pPr marL="0" indent="0">
              <a:buNone/>
            </a:pPr>
            <a:r>
              <a:rPr lang="en-US" dirty="0"/>
              <a:t>   </a:t>
            </a:r>
            <a:r>
              <a:rPr lang="en-US" dirty="0" err="1"/>
              <a:t>endif</a:t>
            </a:r>
            <a:endParaRPr lang="en-US" dirty="0"/>
          </a:p>
          <a:p>
            <a:pPr marL="0" indent="0">
              <a:buNone/>
            </a:pPr>
            <a:r>
              <a:rPr lang="en-US" dirty="0"/>
              <a:t>   </a:t>
            </a:r>
          </a:p>
          <a:p>
            <a:pPr marL="0" indent="0">
              <a:buNone/>
            </a:pPr>
            <a:r>
              <a:rPr lang="en-US" dirty="0"/>
              <a:t>end procedure</a:t>
            </a:r>
            <a:endParaRPr lang="en-IN" dirty="0"/>
          </a:p>
        </p:txBody>
      </p:sp>
    </p:spTree>
    <p:extLst>
      <p:ext uri="{BB962C8B-B14F-4D97-AF65-F5344CB8AC3E}">
        <p14:creationId xmlns:p14="http://schemas.microsoft.com/office/powerpoint/2010/main" val="338277935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r>
              <a:rPr lang="en-US" dirty="0"/>
              <a:t>peek()</a:t>
            </a:r>
          </a:p>
          <a:p>
            <a:r>
              <a:rPr lang="en-US" dirty="0"/>
              <a:t>This function helps to see the data at the front of the queue. The algorithm of peek() function is as follows −</a:t>
            </a:r>
          </a:p>
          <a:p>
            <a:endParaRPr lang="en-US" dirty="0"/>
          </a:p>
          <a:p>
            <a:r>
              <a:rPr lang="en-US" dirty="0"/>
              <a:t>Algorithm</a:t>
            </a:r>
          </a:p>
          <a:p>
            <a:endParaRPr lang="en-US" dirty="0"/>
          </a:p>
          <a:p>
            <a:r>
              <a:rPr lang="en-US" dirty="0"/>
              <a:t>begin procedure peek</a:t>
            </a:r>
          </a:p>
          <a:p>
            <a:r>
              <a:rPr lang="en-US" dirty="0"/>
              <a:t>   return queue[front]</a:t>
            </a:r>
          </a:p>
          <a:p>
            <a:r>
              <a:rPr lang="en-US" dirty="0"/>
              <a:t>end procedure</a:t>
            </a:r>
            <a:endParaRPr lang="en-IN" dirty="0"/>
          </a:p>
        </p:txBody>
      </p:sp>
    </p:spTree>
    <p:extLst>
      <p:ext uri="{BB962C8B-B14F-4D97-AF65-F5344CB8AC3E}">
        <p14:creationId xmlns:p14="http://schemas.microsoft.com/office/powerpoint/2010/main" val="140621782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Circular Queue</a:t>
            </a:r>
            <a:br>
              <a:rPr lang="en-IN" dirty="0"/>
            </a:br>
            <a:endParaRPr lang="en-IN" dirty="0"/>
          </a:p>
        </p:txBody>
      </p:sp>
      <p:sp>
        <p:nvSpPr>
          <p:cNvPr id="3" name="Content Placeholder 2"/>
          <p:cNvSpPr>
            <a:spLocks noGrp="1"/>
          </p:cNvSpPr>
          <p:nvPr>
            <p:ph idx="1"/>
          </p:nvPr>
        </p:nvSpPr>
        <p:spPr/>
        <p:txBody>
          <a:bodyPr/>
          <a:lstStyle/>
          <a:p>
            <a:r>
              <a:rPr lang="en-US" dirty="0"/>
              <a:t>There was one limitation in the array implementation of </a:t>
            </a:r>
            <a:r>
              <a:rPr lang="en-US" dirty="0">
                <a:hlinkClick r:id="rId2"/>
              </a:rPr>
              <a:t>Queue</a:t>
            </a:r>
            <a:r>
              <a:rPr lang="en-US" dirty="0"/>
              <a:t>. </a:t>
            </a:r>
            <a:endParaRPr lang="en-US" dirty="0" smtClean="0"/>
          </a:p>
          <a:p>
            <a:r>
              <a:rPr lang="en-US" dirty="0" smtClean="0"/>
              <a:t>If </a:t>
            </a:r>
            <a:r>
              <a:rPr lang="en-US" dirty="0"/>
              <a:t>the rear reaches to the end position of the Queue then there might be possibility that some vacant spaces are left in the beginning which cannot be utilized. </a:t>
            </a:r>
            <a:endParaRPr lang="en-US" dirty="0" smtClean="0"/>
          </a:p>
          <a:p>
            <a:r>
              <a:rPr lang="en-US" dirty="0" smtClean="0"/>
              <a:t>So</a:t>
            </a:r>
            <a:r>
              <a:rPr lang="en-US" dirty="0"/>
              <a:t>, to overcome such limitations, the concept of the circular queue was introduced.</a:t>
            </a:r>
            <a:endParaRPr lang="en-IN" dirty="0"/>
          </a:p>
        </p:txBody>
      </p:sp>
    </p:spTree>
    <p:extLst>
      <p:ext uri="{BB962C8B-B14F-4D97-AF65-F5344CB8AC3E}">
        <p14:creationId xmlns:p14="http://schemas.microsoft.com/office/powerpoint/2010/main" val="326509314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7170" name="Picture 2" descr="Circular Queu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89439" y="1825625"/>
            <a:ext cx="4413121"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50764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260517"/>
          </a:xfrm>
        </p:spPr>
        <p:txBody>
          <a:bodyPr>
            <a:normAutofit fontScale="90000"/>
          </a:bodyPr>
          <a:lstStyle/>
          <a:p>
            <a:endParaRPr lang="en-IN" dirty="0"/>
          </a:p>
        </p:txBody>
      </p:sp>
      <p:sp>
        <p:nvSpPr>
          <p:cNvPr id="3" name="Content Placeholder 2"/>
          <p:cNvSpPr>
            <a:spLocks noGrp="1"/>
          </p:cNvSpPr>
          <p:nvPr>
            <p:ph idx="1"/>
          </p:nvPr>
        </p:nvSpPr>
        <p:spPr>
          <a:xfrm>
            <a:off x="838200" y="798897"/>
            <a:ext cx="10515600" cy="5881036"/>
          </a:xfrm>
        </p:spPr>
        <p:txBody>
          <a:bodyPr>
            <a:normAutofit lnSpcReduction="10000"/>
          </a:bodyPr>
          <a:lstStyle/>
          <a:p>
            <a:r>
              <a:rPr lang="en-US" dirty="0"/>
              <a:t>As we can see in the above image, the rear is at the last position of the Queue and front is pointing somewhere rather than the 0</a:t>
            </a:r>
            <a:r>
              <a:rPr lang="en-US" baseline="30000" dirty="0"/>
              <a:t>th</a:t>
            </a:r>
            <a:r>
              <a:rPr lang="en-US" dirty="0"/>
              <a:t> position. </a:t>
            </a:r>
            <a:endParaRPr lang="en-US" dirty="0" smtClean="0"/>
          </a:p>
          <a:p>
            <a:r>
              <a:rPr lang="en-US" dirty="0" smtClean="0"/>
              <a:t>In </a:t>
            </a:r>
            <a:r>
              <a:rPr lang="en-US" dirty="0"/>
              <a:t>the above array, there are only two elements and other three positions are empty. </a:t>
            </a:r>
            <a:endParaRPr lang="en-US" dirty="0" smtClean="0"/>
          </a:p>
          <a:p>
            <a:r>
              <a:rPr lang="en-US" dirty="0" smtClean="0"/>
              <a:t>The </a:t>
            </a:r>
            <a:r>
              <a:rPr lang="en-US" dirty="0"/>
              <a:t>rear is at the last position of the Queue; if we try to insert the element then it will show that there are no empty spaces in the Queue. </a:t>
            </a:r>
            <a:endParaRPr lang="en-US" dirty="0" smtClean="0"/>
          </a:p>
          <a:p>
            <a:r>
              <a:rPr lang="en-US" dirty="0" smtClean="0"/>
              <a:t>There is </a:t>
            </a:r>
            <a:r>
              <a:rPr lang="en-US" dirty="0"/>
              <a:t>one solution to avoid such wastage of memory space by shifting both the elements at the left and adjust the front and rear end accordingly. </a:t>
            </a:r>
            <a:endParaRPr lang="en-US" dirty="0" smtClean="0"/>
          </a:p>
          <a:p>
            <a:r>
              <a:rPr lang="en-US" dirty="0" smtClean="0"/>
              <a:t>It is </a:t>
            </a:r>
            <a:r>
              <a:rPr lang="en-US" dirty="0"/>
              <a:t>not a practically good approach because shifting all the elements will consume lots of time. </a:t>
            </a:r>
            <a:endParaRPr lang="en-US" dirty="0" smtClean="0"/>
          </a:p>
          <a:p>
            <a:r>
              <a:rPr lang="en-US" dirty="0" smtClean="0"/>
              <a:t>The </a:t>
            </a:r>
            <a:r>
              <a:rPr lang="en-US" dirty="0"/>
              <a:t>efficient approach to avoid the wastage of the memory is to use the circular queue data structure.</a:t>
            </a:r>
            <a:endParaRPr lang="en-IN" dirty="0"/>
          </a:p>
        </p:txBody>
      </p:sp>
    </p:spTree>
    <p:extLst>
      <p:ext uri="{BB962C8B-B14F-4D97-AF65-F5344CB8AC3E}">
        <p14:creationId xmlns:p14="http://schemas.microsoft.com/office/powerpoint/2010/main" val="52459072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Operations on Circular Queue</a:t>
            </a:r>
            <a:br>
              <a:rPr lang="en-IN" dirty="0"/>
            </a:br>
            <a:endParaRPr lang="en-IN" dirty="0"/>
          </a:p>
        </p:txBody>
      </p:sp>
      <p:sp>
        <p:nvSpPr>
          <p:cNvPr id="3" name="Content Placeholder 2"/>
          <p:cNvSpPr>
            <a:spLocks noGrp="1"/>
          </p:cNvSpPr>
          <p:nvPr>
            <p:ph idx="1"/>
          </p:nvPr>
        </p:nvSpPr>
        <p:spPr/>
        <p:txBody>
          <a:bodyPr/>
          <a:lstStyle/>
          <a:p>
            <a:r>
              <a:rPr lang="en-US" b="1" dirty="0" smtClean="0"/>
              <a:t>Front():</a:t>
            </a:r>
            <a:r>
              <a:rPr lang="en-US" dirty="0"/>
              <a:t> It is used to get the front element from the Queue.</a:t>
            </a:r>
          </a:p>
          <a:p>
            <a:r>
              <a:rPr lang="en-US" b="1" dirty="0" smtClean="0"/>
              <a:t>Rear():</a:t>
            </a:r>
            <a:r>
              <a:rPr lang="en-US" dirty="0"/>
              <a:t> It is used to get the rear element from the Queue.</a:t>
            </a:r>
          </a:p>
          <a:p>
            <a:r>
              <a:rPr lang="en-US" b="1" dirty="0" err="1"/>
              <a:t>enQueue</a:t>
            </a:r>
            <a:r>
              <a:rPr lang="en-US" b="1" dirty="0"/>
              <a:t>(value):</a:t>
            </a:r>
            <a:r>
              <a:rPr lang="en-US" dirty="0"/>
              <a:t> This function is used to insert the new value in the Queue. The new element is always inserted from the rear end.</a:t>
            </a:r>
          </a:p>
          <a:p>
            <a:r>
              <a:rPr lang="en-US" b="1" dirty="0" err="1"/>
              <a:t>deQueue</a:t>
            </a:r>
            <a:r>
              <a:rPr lang="en-US" b="1" dirty="0"/>
              <a:t>():</a:t>
            </a:r>
            <a:r>
              <a:rPr lang="en-US" dirty="0"/>
              <a:t> This function deletes an element from the Queue. The deletion in a Queue always takes place from the front end.</a:t>
            </a:r>
          </a:p>
          <a:p>
            <a:pPr marL="0" indent="0">
              <a:buNone/>
            </a:pPr>
            <a:endParaRPr lang="en-IN" dirty="0"/>
          </a:p>
        </p:txBody>
      </p:sp>
    </p:spTree>
    <p:extLst>
      <p:ext uri="{BB962C8B-B14F-4D97-AF65-F5344CB8AC3E}">
        <p14:creationId xmlns:p14="http://schemas.microsoft.com/office/powerpoint/2010/main" val="75664968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Applications of Circular Queue</a:t>
            </a:r>
          </a:p>
          <a:p>
            <a:r>
              <a:rPr lang="en-US" b="1" dirty="0"/>
              <a:t>The circular Queue can be used in the following scenarios:</a:t>
            </a:r>
            <a:endParaRPr lang="en-US" dirty="0"/>
          </a:p>
          <a:p>
            <a:r>
              <a:rPr lang="en-US" b="1" dirty="0"/>
              <a:t>Memory management:</a:t>
            </a:r>
            <a:r>
              <a:rPr lang="en-US" dirty="0"/>
              <a:t> The circular queue provides memory management. As we have already seen that in linear queue, the memory is not managed very efficiently. But in case of a circular queue, the memory is managed efficiently by placing the elements in a location which is unused.</a:t>
            </a:r>
          </a:p>
          <a:p>
            <a:pPr marL="0" indent="0">
              <a:buNone/>
            </a:pPr>
            <a:endParaRPr lang="en-IN" dirty="0"/>
          </a:p>
        </p:txBody>
      </p:sp>
    </p:spTree>
    <p:extLst>
      <p:ext uri="{BB962C8B-B14F-4D97-AF65-F5344CB8AC3E}">
        <p14:creationId xmlns:p14="http://schemas.microsoft.com/office/powerpoint/2010/main" val="139396124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b="1" dirty="0"/>
              <a:t>CPU Scheduling:</a:t>
            </a:r>
            <a:r>
              <a:rPr lang="en-US" dirty="0"/>
              <a:t> The operating system also uses the circular queue to insert the processes and then execute them.</a:t>
            </a:r>
          </a:p>
          <a:p>
            <a:r>
              <a:rPr lang="en-US" b="1" dirty="0"/>
              <a:t>Traffic system:</a:t>
            </a:r>
            <a:r>
              <a:rPr lang="en-US" dirty="0"/>
              <a:t> In a computer-control traffic system, traffic light is one of the best examples of the circular queue. Each light of traffic light gets ON one by one after every </a:t>
            </a:r>
            <a:r>
              <a:rPr lang="en-US" dirty="0" err="1"/>
              <a:t>jinterval</a:t>
            </a:r>
            <a:r>
              <a:rPr lang="en-US" dirty="0"/>
              <a:t> of time. Like red light gets ON for one minute then yellow light for one minute and then green light. After green light, the red light gets ON.</a:t>
            </a:r>
          </a:p>
          <a:p>
            <a:pPr marL="0" indent="0">
              <a:buNone/>
            </a:pPr>
            <a:endParaRPr lang="en-IN" dirty="0"/>
          </a:p>
        </p:txBody>
      </p:sp>
    </p:spTree>
    <p:extLst>
      <p:ext uri="{BB962C8B-B14F-4D97-AF65-F5344CB8AC3E}">
        <p14:creationId xmlns:p14="http://schemas.microsoft.com/office/powerpoint/2010/main" val="209630856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err="1"/>
              <a:t>Enqueue</a:t>
            </a:r>
            <a:r>
              <a:rPr lang="en-US" dirty="0"/>
              <a:t> operation</a:t>
            </a:r>
          </a:p>
          <a:p>
            <a:r>
              <a:rPr lang="en-US" b="1" dirty="0"/>
              <a:t>The steps of </a:t>
            </a:r>
            <a:r>
              <a:rPr lang="en-US" b="1" dirty="0" err="1"/>
              <a:t>enqueue</a:t>
            </a:r>
            <a:r>
              <a:rPr lang="en-US" b="1" dirty="0"/>
              <a:t> operation are given below:</a:t>
            </a:r>
            <a:endParaRPr lang="en-US" dirty="0"/>
          </a:p>
          <a:p>
            <a:r>
              <a:rPr lang="en-US" dirty="0"/>
              <a:t>First, we will check whether the Queue is full or not.</a:t>
            </a:r>
          </a:p>
          <a:p>
            <a:r>
              <a:rPr lang="en-US" dirty="0"/>
              <a:t>Initially the front and rear are set to -1. When we insert the first element in a Queue, front and rear both are set to 0.</a:t>
            </a:r>
          </a:p>
          <a:p>
            <a:r>
              <a:rPr lang="en-US" dirty="0"/>
              <a:t>When we insert a new element, the rear gets incremented, i.e., </a:t>
            </a:r>
            <a:r>
              <a:rPr lang="en-US" b="1" i="1" dirty="0"/>
              <a:t>rear=rear+1</a:t>
            </a:r>
            <a:r>
              <a:rPr lang="en-US" dirty="0"/>
              <a:t>.</a:t>
            </a:r>
          </a:p>
          <a:p>
            <a:pPr marL="0" indent="0">
              <a:buNone/>
            </a:pPr>
            <a:endParaRPr lang="en-IN" dirty="0"/>
          </a:p>
        </p:txBody>
      </p:sp>
    </p:spTree>
    <p:extLst>
      <p:ext uri="{BB962C8B-B14F-4D97-AF65-F5344CB8AC3E}">
        <p14:creationId xmlns:p14="http://schemas.microsoft.com/office/powerpoint/2010/main" val="226621678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Scenarios for inserting an element</a:t>
            </a:r>
            <a:br>
              <a:rPr lang="en-IN" dirty="0"/>
            </a:br>
            <a:endParaRPr lang="en-IN" dirty="0"/>
          </a:p>
        </p:txBody>
      </p:sp>
      <p:sp>
        <p:nvSpPr>
          <p:cNvPr id="3" name="Content Placeholder 2"/>
          <p:cNvSpPr>
            <a:spLocks noGrp="1"/>
          </p:cNvSpPr>
          <p:nvPr>
            <p:ph idx="1"/>
          </p:nvPr>
        </p:nvSpPr>
        <p:spPr/>
        <p:txBody>
          <a:bodyPr/>
          <a:lstStyle/>
          <a:p>
            <a:r>
              <a:rPr lang="en-US" b="1" dirty="0"/>
              <a:t>There are two scenarios in which queue is not full:</a:t>
            </a:r>
            <a:endParaRPr lang="en-US" dirty="0"/>
          </a:p>
          <a:p>
            <a:r>
              <a:rPr lang="en-US" b="1" dirty="0"/>
              <a:t>If rear != max - 1</a:t>
            </a:r>
            <a:r>
              <a:rPr lang="en-US" dirty="0"/>
              <a:t>, then rear will be incremented to </a:t>
            </a:r>
            <a:r>
              <a:rPr lang="en-US" b="1" dirty="0"/>
              <a:t>mod(</a:t>
            </a:r>
            <a:r>
              <a:rPr lang="en-US" b="1" dirty="0" err="1"/>
              <a:t>maxsize</a:t>
            </a:r>
            <a:r>
              <a:rPr lang="en-US" b="1" dirty="0"/>
              <a:t>)</a:t>
            </a:r>
            <a:r>
              <a:rPr lang="en-US" dirty="0"/>
              <a:t> and the new value will be inserted at the rear end of the queue.</a:t>
            </a:r>
          </a:p>
          <a:p>
            <a:r>
              <a:rPr lang="en-US" b="1" dirty="0"/>
              <a:t>If front != 0 and rear = max - 1</a:t>
            </a:r>
            <a:r>
              <a:rPr lang="en-US" dirty="0"/>
              <a:t>, it means that queue is not full, then set the value of rear to 0 and insert the new element there</a:t>
            </a:r>
            <a:r>
              <a:rPr lang="en-US" dirty="0" smtClean="0"/>
              <a:t>.</a:t>
            </a:r>
          </a:p>
          <a:p>
            <a:r>
              <a:rPr lang="en-US" dirty="0" smtClean="0"/>
              <a:t>In a circular queue I have set </a:t>
            </a:r>
            <a:r>
              <a:rPr lang="en-US" b="1" dirty="0" smtClean="0"/>
              <a:t>max </a:t>
            </a:r>
            <a:r>
              <a:rPr lang="en-US" b="1" dirty="0" smtClean="0"/>
              <a:t>size=6-1=5</a:t>
            </a:r>
            <a:endParaRPr lang="en-US" b="1" dirty="0" smtClean="0"/>
          </a:p>
          <a:p>
            <a:r>
              <a:rPr lang="en-US" b="1" dirty="0" smtClean="0"/>
              <a:t>0-   1-  2-  3-   4-   5</a:t>
            </a:r>
          </a:p>
          <a:p>
            <a:r>
              <a:rPr lang="en-US" b="1" dirty="0"/>
              <a:t> </a:t>
            </a:r>
            <a:r>
              <a:rPr lang="en-US" b="1" dirty="0" smtClean="0"/>
              <a:t>G-&gt;  B-&gt;c-&gt;D-&gt;E-&gt;  F(R)</a:t>
            </a:r>
            <a:endParaRPr lang="en-US" b="1" dirty="0"/>
          </a:p>
          <a:p>
            <a:pPr marL="0" indent="0">
              <a:buNone/>
            </a:pPr>
            <a:endParaRPr lang="en-IN" dirty="0"/>
          </a:p>
        </p:txBody>
      </p:sp>
    </p:spTree>
    <p:extLst>
      <p:ext uri="{BB962C8B-B14F-4D97-AF65-F5344CB8AC3E}">
        <p14:creationId xmlns:p14="http://schemas.microsoft.com/office/powerpoint/2010/main" val="271058705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b="1" dirty="0"/>
              <a:t>There are two cases in which the element cannot be inserted:</a:t>
            </a:r>
            <a:endParaRPr lang="en-US" dirty="0"/>
          </a:p>
          <a:p>
            <a:r>
              <a:rPr lang="en-US" dirty="0"/>
              <a:t>When </a:t>
            </a:r>
            <a:r>
              <a:rPr lang="en-US" b="1" dirty="0"/>
              <a:t>front ==0</a:t>
            </a:r>
            <a:r>
              <a:rPr lang="en-US" dirty="0"/>
              <a:t> &amp;&amp; </a:t>
            </a:r>
            <a:r>
              <a:rPr lang="en-US" b="1" dirty="0"/>
              <a:t>rear = max-1</a:t>
            </a:r>
            <a:r>
              <a:rPr lang="en-US" dirty="0"/>
              <a:t>, which means that front is at the first position of the Queue and rear is at the last position of the Queue.</a:t>
            </a:r>
          </a:p>
          <a:p>
            <a:r>
              <a:rPr lang="en-US" dirty="0"/>
              <a:t>front== rear + 1</a:t>
            </a:r>
            <a:r>
              <a:rPr lang="en-US" dirty="0" smtClean="0"/>
              <a:t>;</a:t>
            </a:r>
          </a:p>
          <a:p>
            <a:endParaRPr lang="en-US" dirty="0"/>
          </a:p>
        </p:txBody>
      </p:sp>
    </p:spTree>
    <p:extLst>
      <p:ext uri="{BB962C8B-B14F-4D97-AF65-F5344CB8AC3E}">
        <p14:creationId xmlns:p14="http://schemas.microsoft.com/office/powerpoint/2010/main" val="182461070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Algorithm to insert an element in a circular queue</a:t>
            </a:r>
            <a:endParaRPr lang="en-IN" dirty="0"/>
          </a:p>
        </p:txBody>
      </p:sp>
      <p:sp>
        <p:nvSpPr>
          <p:cNvPr id="3" name="Content Placeholder 2"/>
          <p:cNvSpPr>
            <a:spLocks noGrp="1"/>
          </p:cNvSpPr>
          <p:nvPr>
            <p:ph idx="1"/>
          </p:nvPr>
        </p:nvSpPr>
        <p:spPr/>
        <p:txBody>
          <a:bodyPr/>
          <a:lstStyle/>
          <a:p>
            <a:r>
              <a:rPr lang="en-US" b="1" dirty="0"/>
              <a:t>Step 1:</a:t>
            </a:r>
            <a:r>
              <a:rPr lang="en-US" dirty="0"/>
              <a:t> IF (REAR+1)%MAX = FRONT</a:t>
            </a:r>
            <a:br>
              <a:rPr lang="en-US" dirty="0"/>
            </a:br>
            <a:r>
              <a:rPr lang="en-US" dirty="0"/>
              <a:t>Write " OVERFLOW "</a:t>
            </a:r>
            <a:br>
              <a:rPr lang="en-US" dirty="0"/>
            </a:br>
            <a:r>
              <a:rPr lang="en-US" dirty="0" err="1"/>
              <a:t>Goto</a:t>
            </a:r>
            <a:r>
              <a:rPr lang="en-US" dirty="0"/>
              <a:t> step 4</a:t>
            </a:r>
            <a:br>
              <a:rPr lang="en-US" dirty="0"/>
            </a:br>
            <a:r>
              <a:rPr lang="en-US" dirty="0"/>
              <a:t>[End OF IF]</a:t>
            </a:r>
            <a:endParaRPr lang="en-IN" dirty="0"/>
          </a:p>
        </p:txBody>
      </p:sp>
    </p:spTree>
    <p:extLst>
      <p:ext uri="{BB962C8B-B14F-4D97-AF65-F5344CB8AC3E}">
        <p14:creationId xmlns:p14="http://schemas.microsoft.com/office/powerpoint/2010/main" val="151776053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b="1" dirty="0"/>
              <a:t>Step 2:</a:t>
            </a:r>
            <a:r>
              <a:rPr lang="en-US" dirty="0"/>
              <a:t> IF FRONT = -1 and REAR = -1</a:t>
            </a:r>
            <a:br>
              <a:rPr lang="en-US" dirty="0"/>
            </a:br>
            <a:r>
              <a:rPr lang="en-US" dirty="0"/>
              <a:t>SET FRONT = REAR = 0</a:t>
            </a:r>
            <a:br>
              <a:rPr lang="en-US" dirty="0"/>
            </a:br>
            <a:r>
              <a:rPr lang="en-US" dirty="0"/>
              <a:t>ELSE IF REAR = MAX - 1 and FRONT ! = 0</a:t>
            </a:r>
            <a:br>
              <a:rPr lang="en-US" dirty="0"/>
            </a:br>
            <a:r>
              <a:rPr lang="en-US" dirty="0"/>
              <a:t>SET REAR = 0</a:t>
            </a:r>
            <a:br>
              <a:rPr lang="en-US" dirty="0"/>
            </a:br>
            <a:r>
              <a:rPr lang="en-US" dirty="0"/>
              <a:t>ELSE</a:t>
            </a:r>
            <a:br>
              <a:rPr lang="en-US" dirty="0"/>
            </a:br>
            <a:r>
              <a:rPr lang="en-US" dirty="0"/>
              <a:t>SET REAR = (REAR + 1) % MAX</a:t>
            </a:r>
            <a:br>
              <a:rPr lang="en-US" dirty="0"/>
            </a:br>
            <a:r>
              <a:rPr lang="en-US" dirty="0"/>
              <a:t>[END OF IF]</a:t>
            </a:r>
            <a:endParaRPr lang="en-IN" dirty="0"/>
          </a:p>
        </p:txBody>
      </p:sp>
    </p:spTree>
    <p:extLst>
      <p:ext uri="{BB962C8B-B14F-4D97-AF65-F5344CB8AC3E}">
        <p14:creationId xmlns:p14="http://schemas.microsoft.com/office/powerpoint/2010/main" val="129978823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b="1" dirty="0"/>
              <a:t>Step 3:</a:t>
            </a:r>
            <a:r>
              <a:rPr lang="en-US" dirty="0"/>
              <a:t> SET QUEUE[REAR] = </a:t>
            </a:r>
            <a:r>
              <a:rPr lang="en-US" dirty="0" smtClean="0"/>
              <a:t>VAL</a:t>
            </a:r>
          </a:p>
          <a:p>
            <a:r>
              <a:rPr lang="en-IN" b="1" dirty="0"/>
              <a:t>Step 4:</a:t>
            </a:r>
            <a:r>
              <a:rPr lang="en-IN" dirty="0"/>
              <a:t> EXIT</a:t>
            </a:r>
          </a:p>
        </p:txBody>
      </p:sp>
    </p:spTree>
    <p:extLst>
      <p:ext uri="{BB962C8B-B14F-4D97-AF65-F5344CB8AC3E}">
        <p14:creationId xmlns:p14="http://schemas.microsoft.com/office/powerpoint/2010/main" val="185893068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Dequeue</a:t>
            </a:r>
            <a:r>
              <a:rPr lang="en-IN" dirty="0"/>
              <a:t> Operation</a:t>
            </a:r>
          </a:p>
        </p:txBody>
      </p:sp>
      <p:sp>
        <p:nvSpPr>
          <p:cNvPr id="3" name="Content Placeholder 2"/>
          <p:cNvSpPr>
            <a:spLocks noGrp="1"/>
          </p:cNvSpPr>
          <p:nvPr>
            <p:ph idx="1"/>
          </p:nvPr>
        </p:nvSpPr>
        <p:spPr/>
        <p:txBody>
          <a:bodyPr/>
          <a:lstStyle/>
          <a:p>
            <a:r>
              <a:rPr lang="en-US" dirty="0"/>
              <a:t>The steps of </a:t>
            </a:r>
            <a:r>
              <a:rPr lang="en-US" dirty="0" err="1"/>
              <a:t>dequeue</a:t>
            </a:r>
            <a:r>
              <a:rPr lang="en-US" dirty="0"/>
              <a:t> operation are given below:</a:t>
            </a:r>
          </a:p>
          <a:p>
            <a:r>
              <a:rPr lang="en-US" dirty="0"/>
              <a:t>First, we check whether the Queue is empty or not. If the queue is empty, we cannot perform the </a:t>
            </a:r>
            <a:r>
              <a:rPr lang="en-US" dirty="0" err="1"/>
              <a:t>dequeue</a:t>
            </a:r>
            <a:r>
              <a:rPr lang="en-US" dirty="0"/>
              <a:t> operation.</a:t>
            </a:r>
          </a:p>
          <a:p>
            <a:r>
              <a:rPr lang="en-US" dirty="0"/>
              <a:t>When the element is deleted, the value of front gets </a:t>
            </a:r>
            <a:r>
              <a:rPr lang="en-US" dirty="0" smtClean="0"/>
              <a:t>incremented </a:t>
            </a:r>
            <a:r>
              <a:rPr lang="en-US" dirty="0"/>
              <a:t>by 1.</a:t>
            </a:r>
          </a:p>
          <a:p>
            <a:r>
              <a:rPr lang="en-US" dirty="0"/>
              <a:t>If there is only one element left which is to be deleted, then the front and rear are reset to -1.</a:t>
            </a:r>
          </a:p>
          <a:p>
            <a:pPr marL="0" indent="0">
              <a:buNone/>
            </a:pPr>
            <a:endParaRPr lang="en-IN" dirty="0"/>
          </a:p>
        </p:txBody>
      </p:sp>
    </p:spTree>
    <p:extLst>
      <p:ext uri="{BB962C8B-B14F-4D97-AF65-F5344CB8AC3E}">
        <p14:creationId xmlns:p14="http://schemas.microsoft.com/office/powerpoint/2010/main" val="102427717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b="1" dirty="0"/>
              <a:t>Algorithm to delete an element from the circular queue</a:t>
            </a:r>
            <a:endParaRPr lang="en-US" dirty="0"/>
          </a:p>
          <a:p>
            <a:r>
              <a:rPr lang="en-US" b="1" dirty="0"/>
              <a:t>Step 1:</a:t>
            </a:r>
            <a:r>
              <a:rPr lang="en-US" dirty="0"/>
              <a:t> IF FRONT = -1</a:t>
            </a:r>
            <a:br>
              <a:rPr lang="en-US" dirty="0"/>
            </a:br>
            <a:r>
              <a:rPr lang="en-US" dirty="0"/>
              <a:t>Write " UNDERFLOW "</a:t>
            </a:r>
            <a:br>
              <a:rPr lang="en-US" dirty="0"/>
            </a:br>
            <a:r>
              <a:rPr lang="en-US" dirty="0" err="1"/>
              <a:t>Goto</a:t>
            </a:r>
            <a:r>
              <a:rPr lang="en-US" dirty="0"/>
              <a:t> Step 4</a:t>
            </a:r>
            <a:br>
              <a:rPr lang="en-US" dirty="0"/>
            </a:br>
            <a:r>
              <a:rPr lang="en-US" dirty="0"/>
              <a:t>[END of IF]</a:t>
            </a:r>
          </a:p>
        </p:txBody>
      </p:sp>
    </p:spTree>
    <p:extLst>
      <p:ext uri="{BB962C8B-B14F-4D97-AF65-F5344CB8AC3E}">
        <p14:creationId xmlns:p14="http://schemas.microsoft.com/office/powerpoint/2010/main" val="130101626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r>
              <a:rPr lang="en-US" b="1" dirty="0"/>
              <a:t>Step 3:</a:t>
            </a:r>
            <a:r>
              <a:rPr lang="en-US" dirty="0"/>
              <a:t> IF FRONT = REAR</a:t>
            </a:r>
            <a:br>
              <a:rPr lang="en-US" dirty="0"/>
            </a:br>
            <a:r>
              <a:rPr lang="en-US" dirty="0"/>
              <a:t>SET FRONT = REAR = -1</a:t>
            </a:r>
            <a:br>
              <a:rPr lang="en-US" dirty="0"/>
            </a:br>
            <a:r>
              <a:rPr lang="en-US" dirty="0"/>
              <a:t>ELSE</a:t>
            </a:r>
            <a:br>
              <a:rPr lang="en-US" dirty="0"/>
            </a:br>
            <a:r>
              <a:rPr lang="en-US" dirty="0"/>
              <a:t>IF FRONT = MAX -1</a:t>
            </a:r>
            <a:br>
              <a:rPr lang="en-US" dirty="0"/>
            </a:br>
            <a:r>
              <a:rPr lang="en-US" dirty="0"/>
              <a:t>SET FRONT = 0</a:t>
            </a:r>
            <a:br>
              <a:rPr lang="en-US" dirty="0"/>
            </a:br>
            <a:r>
              <a:rPr lang="en-US" dirty="0"/>
              <a:t>ELSE</a:t>
            </a:r>
            <a:br>
              <a:rPr lang="en-US" dirty="0"/>
            </a:br>
            <a:r>
              <a:rPr lang="en-US" dirty="0"/>
              <a:t>SET FRONT = FRONT + 1</a:t>
            </a:r>
            <a:br>
              <a:rPr lang="en-US" dirty="0"/>
            </a:br>
            <a:r>
              <a:rPr lang="en-US" dirty="0"/>
              <a:t>[END of IF]</a:t>
            </a:r>
            <a:br>
              <a:rPr lang="en-US" dirty="0"/>
            </a:br>
            <a:r>
              <a:rPr lang="en-US" dirty="0"/>
              <a:t>[END OF IF]</a:t>
            </a:r>
          </a:p>
          <a:p>
            <a:r>
              <a:rPr lang="en-US" b="1" dirty="0"/>
              <a:t>Step 4:</a:t>
            </a:r>
            <a:r>
              <a:rPr lang="en-US" dirty="0"/>
              <a:t> </a:t>
            </a:r>
            <a:r>
              <a:rPr lang="en-US" dirty="0" smtClean="0"/>
              <a:t>EXIT</a:t>
            </a:r>
          </a:p>
          <a:p>
            <a:pPr marL="0" indent="0">
              <a:buNone/>
            </a:pPr>
            <a:r>
              <a:rPr lang="en-IN" dirty="0" smtClean="0"/>
              <a:t>5                </a:t>
            </a:r>
            <a:endParaRPr lang="en-IN" dirty="0"/>
          </a:p>
        </p:txBody>
      </p:sp>
    </p:spTree>
    <p:extLst>
      <p:ext uri="{BB962C8B-B14F-4D97-AF65-F5344CB8AC3E}">
        <p14:creationId xmlns:p14="http://schemas.microsoft.com/office/powerpoint/2010/main" val="336880946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Example</a:t>
            </a:r>
            <a:endParaRPr lang="en-IN" dirty="0"/>
          </a:p>
        </p:txBody>
      </p:sp>
      <p:pic>
        <p:nvPicPr>
          <p:cNvPr id="8194" name="Picture 2" descr="Circular Queu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714750" y="2572544"/>
            <a:ext cx="4762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746503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9218" name="Picture 2" descr="Circular Queu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714750" y="2572544"/>
            <a:ext cx="4762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6488146"/>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0242" name="Picture 2" descr="Circular Queu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714750" y="2839244"/>
            <a:ext cx="4762500" cy="2324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3685527"/>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1268" name="Picture 4" descr="Circular Queu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90299" y="1417873"/>
            <a:ext cx="6686951" cy="40121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3803032"/>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2290" name="Picture 2" descr="Circular Queu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69432" y="1698097"/>
            <a:ext cx="6407818" cy="36652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2074856"/>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3314" name="Picture 2" descr="Circular Queu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80160" y="1111790"/>
            <a:ext cx="7197090" cy="43182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641349"/>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4338" name="Picture 2" descr="Circular Queu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94046" y="1360122"/>
            <a:ext cx="6783204" cy="40699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8676793"/>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Priority Queue</a:t>
            </a:r>
            <a:endParaRPr lang="en-IN" dirty="0"/>
          </a:p>
        </p:txBody>
      </p:sp>
      <p:sp>
        <p:nvSpPr>
          <p:cNvPr id="3" name="Content Placeholder 2"/>
          <p:cNvSpPr>
            <a:spLocks noGrp="1"/>
          </p:cNvSpPr>
          <p:nvPr>
            <p:ph idx="1"/>
          </p:nvPr>
        </p:nvSpPr>
        <p:spPr/>
        <p:txBody>
          <a:bodyPr/>
          <a:lstStyle/>
          <a:p>
            <a:r>
              <a:rPr lang="en-US" dirty="0"/>
              <a:t>A priority queue is an abstract data type that behaves similarly to the normal queue except that each element has some priority, i.e</a:t>
            </a:r>
            <a:r>
              <a:rPr lang="en-US" dirty="0" smtClean="0"/>
              <a:t>.,</a:t>
            </a:r>
          </a:p>
          <a:p>
            <a:r>
              <a:rPr lang="en-US" dirty="0" smtClean="0"/>
              <a:t> </a:t>
            </a:r>
            <a:r>
              <a:rPr lang="en-US" dirty="0"/>
              <a:t>the element with the highest priority would come first in a priority queue. </a:t>
            </a:r>
            <a:endParaRPr lang="en-US" dirty="0" smtClean="0"/>
          </a:p>
          <a:p>
            <a:r>
              <a:rPr lang="en-US" dirty="0" smtClean="0"/>
              <a:t>The </a:t>
            </a:r>
            <a:r>
              <a:rPr lang="en-US" dirty="0"/>
              <a:t>priority of the elements in a priority queue will determine the order in which elements are removed from the priority queue.</a:t>
            </a:r>
            <a:endParaRPr lang="en-IN" dirty="0"/>
          </a:p>
        </p:txBody>
      </p:sp>
    </p:spTree>
    <p:extLst>
      <p:ext uri="{BB962C8B-B14F-4D97-AF65-F5344CB8AC3E}">
        <p14:creationId xmlns:p14="http://schemas.microsoft.com/office/powerpoint/2010/main" val="1066613941"/>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The priority queue supports only comparable elements, which means that the elements are either arranged in an ascending or descending order.</a:t>
            </a:r>
          </a:p>
          <a:p>
            <a:r>
              <a:rPr lang="en-US" dirty="0"/>
              <a:t>For example, suppose we have some values like 1, 3, 4, 8, 14, 22 inserted in a priority queue with an ordering imposed on the values is from least to the greatest</a:t>
            </a:r>
            <a:r>
              <a:rPr lang="en-US" dirty="0" smtClean="0"/>
              <a:t>.</a:t>
            </a:r>
          </a:p>
          <a:p>
            <a:r>
              <a:rPr lang="en-US" dirty="0" smtClean="0"/>
              <a:t> </a:t>
            </a:r>
            <a:r>
              <a:rPr lang="en-US" dirty="0"/>
              <a:t>Therefore, the 1 number would be having the highest priority while 22 will be having the lowest priority.</a:t>
            </a:r>
          </a:p>
          <a:p>
            <a:endParaRPr lang="en-IN" dirty="0"/>
          </a:p>
        </p:txBody>
      </p:sp>
    </p:spTree>
    <p:extLst>
      <p:ext uri="{BB962C8B-B14F-4D97-AF65-F5344CB8AC3E}">
        <p14:creationId xmlns:p14="http://schemas.microsoft.com/office/powerpoint/2010/main" val="2959456762"/>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Characteristics of a Priority queue</a:t>
            </a:r>
            <a:br>
              <a:rPr lang="en-US" dirty="0"/>
            </a:br>
            <a:endParaRPr lang="en-IN" dirty="0"/>
          </a:p>
        </p:txBody>
      </p:sp>
      <p:sp>
        <p:nvSpPr>
          <p:cNvPr id="3" name="Content Placeholder 2"/>
          <p:cNvSpPr>
            <a:spLocks noGrp="1"/>
          </p:cNvSpPr>
          <p:nvPr>
            <p:ph idx="1"/>
          </p:nvPr>
        </p:nvSpPr>
        <p:spPr/>
        <p:txBody>
          <a:bodyPr/>
          <a:lstStyle/>
          <a:p>
            <a:r>
              <a:rPr lang="en-US" dirty="0"/>
              <a:t>Every element in a priority queue has some priority associated with it.</a:t>
            </a:r>
          </a:p>
          <a:p>
            <a:r>
              <a:rPr lang="en-US" dirty="0"/>
              <a:t>An element with the higher priority will be deleted before the deletion of the lesser priority.</a:t>
            </a:r>
          </a:p>
          <a:p>
            <a:r>
              <a:rPr lang="en-US" dirty="0"/>
              <a:t>If two elements in a priority queue have the same priority, they will be arranged using the FIFO principle.</a:t>
            </a:r>
          </a:p>
          <a:p>
            <a:pPr marL="0" indent="0">
              <a:buNone/>
            </a:pPr>
            <a:endParaRPr lang="en-IN" dirty="0"/>
          </a:p>
        </p:txBody>
      </p:sp>
    </p:spTree>
    <p:extLst>
      <p:ext uri="{BB962C8B-B14F-4D97-AF65-F5344CB8AC3E}">
        <p14:creationId xmlns:p14="http://schemas.microsoft.com/office/powerpoint/2010/main" val="1045914161"/>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US" dirty="0"/>
              <a:t>We have a priority queue that contains the following values:</a:t>
            </a:r>
          </a:p>
          <a:p>
            <a:r>
              <a:rPr lang="en-US" b="1" dirty="0"/>
              <a:t>1, 3, 4, 8, 14, 22</a:t>
            </a:r>
            <a:endParaRPr lang="en-US" dirty="0"/>
          </a:p>
          <a:p>
            <a:r>
              <a:rPr lang="en-US" dirty="0"/>
              <a:t>All the values are arranged in ascending order. Now, we will observe how the priority queue will look after performing the following operations:</a:t>
            </a:r>
          </a:p>
          <a:p>
            <a:r>
              <a:rPr lang="en-US" b="1" dirty="0"/>
              <a:t>poll():</a:t>
            </a:r>
            <a:r>
              <a:rPr lang="en-US" dirty="0"/>
              <a:t> This function will remove the highest priority element from the priority queue. In the above priority queue, the '1' element has the highest priority, so it will be removed from the priority queue.</a:t>
            </a:r>
          </a:p>
          <a:p>
            <a:pPr marL="0" indent="0">
              <a:buNone/>
            </a:pPr>
            <a:endParaRPr lang="en-IN" dirty="0"/>
          </a:p>
        </p:txBody>
      </p:sp>
    </p:spTree>
    <p:extLst>
      <p:ext uri="{BB962C8B-B14F-4D97-AF65-F5344CB8AC3E}">
        <p14:creationId xmlns:p14="http://schemas.microsoft.com/office/powerpoint/2010/main" val="2044836356"/>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b="1" dirty="0"/>
              <a:t>add(2):</a:t>
            </a:r>
            <a:r>
              <a:rPr lang="en-US" dirty="0"/>
              <a:t> This function will insert '2' element in a priority queue. As 2 is the smallest element among all the numbers so it will obtain the highest priority.</a:t>
            </a:r>
          </a:p>
          <a:p>
            <a:r>
              <a:rPr lang="en-US" b="1" dirty="0"/>
              <a:t>poll():</a:t>
            </a:r>
            <a:r>
              <a:rPr lang="en-US" dirty="0"/>
              <a:t> It will remove '2' element from the priority queue as it has the highest priority queue.</a:t>
            </a:r>
          </a:p>
          <a:p>
            <a:r>
              <a:rPr lang="en-US" b="1" dirty="0"/>
              <a:t>add(5):</a:t>
            </a:r>
            <a:r>
              <a:rPr lang="en-US" dirty="0"/>
              <a:t> It will insert 5 element after 4 as 5 is larger than 4 and lesser than 8, so it will obtain the third highest priority in a priority queue.</a:t>
            </a:r>
          </a:p>
          <a:p>
            <a:pPr marL="0" indent="0">
              <a:buNone/>
            </a:pPr>
            <a:endParaRPr lang="en-IN" dirty="0"/>
          </a:p>
        </p:txBody>
      </p:sp>
    </p:spTree>
    <p:extLst>
      <p:ext uri="{BB962C8B-B14F-4D97-AF65-F5344CB8AC3E}">
        <p14:creationId xmlns:p14="http://schemas.microsoft.com/office/powerpoint/2010/main" val="644196559"/>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Types of Priority Queue</a:t>
            </a:r>
            <a:br>
              <a:rPr lang="en-IN" dirty="0"/>
            </a:br>
            <a:endParaRPr lang="en-IN" dirty="0"/>
          </a:p>
        </p:txBody>
      </p:sp>
      <p:sp>
        <p:nvSpPr>
          <p:cNvPr id="3" name="Content Placeholder 2"/>
          <p:cNvSpPr>
            <a:spLocks noGrp="1"/>
          </p:cNvSpPr>
          <p:nvPr>
            <p:ph idx="1"/>
          </p:nvPr>
        </p:nvSpPr>
        <p:spPr/>
        <p:txBody>
          <a:bodyPr/>
          <a:lstStyle/>
          <a:p>
            <a:r>
              <a:rPr lang="en-US" b="1" dirty="0"/>
              <a:t>Ascending order priority queue:</a:t>
            </a:r>
            <a:r>
              <a:rPr lang="en-US" dirty="0"/>
              <a:t> In ascending order priority queue, a lower priority number is given as a higher priority in a priority. </a:t>
            </a:r>
            <a:endParaRPr lang="en-US" dirty="0" smtClean="0"/>
          </a:p>
          <a:p>
            <a:r>
              <a:rPr lang="en-US" dirty="0" smtClean="0"/>
              <a:t>For </a:t>
            </a:r>
            <a:r>
              <a:rPr lang="en-US" dirty="0"/>
              <a:t>example, we take the numbers from 1 to 5 arranged in an ascending order like 1,2,3,4,5; therefore, the smallest number, i.e., 1 is given as the highest priority in a priority queue.</a:t>
            </a:r>
            <a:endParaRPr lang="en-IN" dirty="0"/>
          </a:p>
        </p:txBody>
      </p:sp>
    </p:spTree>
    <p:extLst>
      <p:ext uri="{BB962C8B-B14F-4D97-AF65-F5344CB8AC3E}">
        <p14:creationId xmlns:p14="http://schemas.microsoft.com/office/powerpoint/2010/main" val="3846032260"/>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026" name="Picture 2" descr="Priority Queu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38500" y="2615406"/>
            <a:ext cx="5715000" cy="2771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0987119"/>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b="1" dirty="0"/>
              <a:t>Descending order priority queue:</a:t>
            </a:r>
            <a:r>
              <a:rPr lang="en-US" dirty="0"/>
              <a:t> In descending order priority queue, a higher priority number is given as a higher priority in a priority</a:t>
            </a:r>
            <a:r>
              <a:rPr lang="en-US" dirty="0" smtClean="0"/>
              <a:t>.</a:t>
            </a:r>
          </a:p>
          <a:p>
            <a:r>
              <a:rPr lang="en-US" dirty="0" smtClean="0"/>
              <a:t> </a:t>
            </a:r>
            <a:r>
              <a:rPr lang="en-US" dirty="0"/>
              <a:t>For example, we take the numbers from 1 to 5 arranged in descending order like 5, 4, 3, 2, 1; therefore, the largest number, i.e., 5 is given as the highest priority in a priority queue.</a:t>
            </a:r>
            <a:endParaRPr lang="en-IN" dirty="0"/>
          </a:p>
        </p:txBody>
      </p:sp>
    </p:spTree>
    <p:extLst>
      <p:ext uri="{BB962C8B-B14F-4D97-AF65-F5344CB8AC3E}">
        <p14:creationId xmlns:p14="http://schemas.microsoft.com/office/powerpoint/2010/main" val="386507373"/>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2050" name="Picture 2" descr="Priority Queu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38500" y="2615406"/>
            <a:ext cx="5715000" cy="2771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4248317"/>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Representation of priority queue</a:t>
            </a:r>
          </a:p>
          <a:p>
            <a:r>
              <a:rPr lang="en-US" dirty="0"/>
              <a:t>Now, we will see how to represent the priority queue through a one-way list.</a:t>
            </a:r>
          </a:p>
          <a:p>
            <a:r>
              <a:rPr lang="en-US" dirty="0"/>
              <a:t>We will create the priority queue by using the list given below in which </a:t>
            </a:r>
            <a:r>
              <a:rPr lang="en-US" b="1" dirty="0"/>
              <a:t>INFO</a:t>
            </a:r>
            <a:r>
              <a:rPr lang="en-US" dirty="0"/>
              <a:t> list contains the data elements, </a:t>
            </a:r>
            <a:r>
              <a:rPr lang="en-US" b="1" dirty="0"/>
              <a:t>PRN</a:t>
            </a:r>
            <a:r>
              <a:rPr lang="en-US" dirty="0"/>
              <a:t> list contains the priority numbers of each data element available in the </a:t>
            </a:r>
            <a:r>
              <a:rPr lang="en-US" b="1" dirty="0"/>
              <a:t>INFO</a:t>
            </a:r>
            <a:r>
              <a:rPr lang="en-US" dirty="0"/>
              <a:t> list, and LINK basically contains the address of the next node.</a:t>
            </a:r>
          </a:p>
          <a:p>
            <a:pPr marL="0" indent="0">
              <a:buNone/>
            </a:pPr>
            <a:endParaRPr lang="en-IN" dirty="0"/>
          </a:p>
        </p:txBody>
      </p:sp>
    </p:spTree>
    <p:extLst>
      <p:ext uri="{BB962C8B-B14F-4D97-AF65-F5344CB8AC3E}">
        <p14:creationId xmlns:p14="http://schemas.microsoft.com/office/powerpoint/2010/main" val="3440228488"/>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3074" name="Picture 2" descr="Priority Queu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76625" y="2358231"/>
            <a:ext cx="5238750" cy="3286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5963635"/>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b="1" dirty="0"/>
              <a:t>In the case of priority queue, lower priority number is considered the higher priority, i.e.,</a:t>
            </a:r>
            <a:r>
              <a:rPr lang="en-US" dirty="0"/>
              <a:t> lower priority number = higher priority.</a:t>
            </a:r>
            <a:endParaRPr lang="en-IN" dirty="0"/>
          </a:p>
        </p:txBody>
      </p:sp>
    </p:spTree>
    <p:extLst>
      <p:ext uri="{BB962C8B-B14F-4D97-AF65-F5344CB8AC3E}">
        <p14:creationId xmlns:p14="http://schemas.microsoft.com/office/powerpoint/2010/main" val="2000098985"/>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b="1" dirty="0"/>
              <a:t>Step 1:</a:t>
            </a:r>
            <a:r>
              <a:rPr lang="en-US" dirty="0"/>
              <a:t> In the list, lower priority number is 1, whose data value is 333, so it will be inserted in the list as shown in the below diagram:</a:t>
            </a:r>
          </a:p>
          <a:p>
            <a:r>
              <a:rPr lang="en-US" b="1" dirty="0"/>
              <a:t>Step 2:</a:t>
            </a:r>
            <a:r>
              <a:rPr lang="en-US" dirty="0"/>
              <a:t> After inserting 333, priority number 2 is having a higher priority, and data values associated with this priority are 222 and 111. So, this data will be inserted based on the FIFO principle; therefore 222 will be added first and then 111.</a:t>
            </a:r>
          </a:p>
          <a:p>
            <a:pPr marL="0" indent="0">
              <a:buNone/>
            </a:pPr>
            <a:endParaRPr lang="en-IN" dirty="0"/>
          </a:p>
        </p:txBody>
      </p:sp>
    </p:spTree>
    <p:extLst>
      <p:ext uri="{BB962C8B-B14F-4D97-AF65-F5344CB8AC3E}">
        <p14:creationId xmlns:p14="http://schemas.microsoft.com/office/powerpoint/2010/main" val="1329608027"/>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b="1" dirty="0"/>
              <a:t>Step 3:</a:t>
            </a:r>
            <a:r>
              <a:rPr lang="en-US" dirty="0"/>
              <a:t> After inserting the elements of priority 2, the next higher priority number is 4 and data elements associated with 4 priority numbers are 444, 555, 777. In this case, elements would be inserted based on the FIFO principle; therefore, 444 will be added first, then 555, and then 777.</a:t>
            </a:r>
          </a:p>
          <a:p>
            <a:r>
              <a:rPr lang="en-US" b="1" dirty="0"/>
              <a:t>Step 4:</a:t>
            </a:r>
            <a:r>
              <a:rPr lang="en-US" dirty="0"/>
              <a:t> After inserting the elements of priority 4, the next higher priority number is 5, and the value associated with priority 5 is 666, so it will be inserted at the end of the queue.</a:t>
            </a:r>
          </a:p>
          <a:p>
            <a:pPr marL="0" indent="0">
              <a:buNone/>
            </a:pPr>
            <a:endParaRPr lang="en-IN" dirty="0"/>
          </a:p>
        </p:txBody>
      </p:sp>
    </p:spTree>
    <p:extLst>
      <p:ext uri="{BB962C8B-B14F-4D97-AF65-F5344CB8AC3E}">
        <p14:creationId xmlns:p14="http://schemas.microsoft.com/office/powerpoint/2010/main" val="1837175809"/>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098" name="Picture 2" descr="Priority Queu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09750" y="3015456"/>
            <a:ext cx="8572500" cy="1971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08392"/>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Implementation of Priority Queue</a:t>
            </a:r>
            <a:br>
              <a:rPr lang="en-IN" dirty="0"/>
            </a:br>
            <a:endParaRPr lang="en-IN" dirty="0"/>
          </a:p>
        </p:txBody>
      </p:sp>
      <p:sp>
        <p:nvSpPr>
          <p:cNvPr id="3" name="Content Placeholder 2"/>
          <p:cNvSpPr>
            <a:spLocks noGrp="1"/>
          </p:cNvSpPr>
          <p:nvPr>
            <p:ph idx="1"/>
          </p:nvPr>
        </p:nvSpPr>
        <p:spPr/>
        <p:txBody>
          <a:bodyPr/>
          <a:lstStyle/>
          <a:p>
            <a:r>
              <a:rPr lang="en-US" dirty="0"/>
              <a:t>The priority queue can be implemented in four ways that include arrays, linked list, heap data structure and binary search tree</a:t>
            </a:r>
            <a:r>
              <a:rPr lang="en-US" dirty="0" smtClean="0"/>
              <a:t>.</a:t>
            </a:r>
          </a:p>
          <a:p>
            <a:r>
              <a:rPr lang="en-US" dirty="0" smtClean="0"/>
              <a:t> </a:t>
            </a:r>
            <a:r>
              <a:rPr lang="en-US" dirty="0"/>
              <a:t>The heap data structure is the most efficient way of implementing the priority queue, so we will implement the priority queue using a heap data structure in this topic</a:t>
            </a:r>
            <a:r>
              <a:rPr lang="en-US" dirty="0" smtClean="0"/>
              <a:t>.</a:t>
            </a:r>
          </a:p>
        </p:txBody>
      </p:sp>
    </p:spTree>
    <p:extLst>
      <p:ext uri="{BB962C8B-B14F-4D97-AF65-F5344CB8AC3E}">
        <p14:creationId xmlns:p14="http://schemas.microsoft.com/office/powerpoint/2010/main" val="3507802248"/>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328655390"/>
              </p:ext>
            </p:extLst>
          </p:nvPr>
        </p:nvGraphicFramePr>
        <p:xfrm>
          <a:off x="931654" y="2113472"/>
          <a:ext cx="8398084" cy="2954622"/>
        </p:xfrm>
        <a:graphic>
          <a:graphicData uri="http://schemas.openxmlformats.org/drawingml/2006/table">
            <a:tbl>
              <a:tblPr/>
              <a:tblGrid>
                <a:gridCol w="2099521"/>
                <a:gridCol w="2099521"/>
                <a:gridCol w="2099521"/>
                <a:gridCol w="2099521"/>
              </a:tblGrid>
              <a:tr h="928595">
                <a:tc>
                  <a:txBody>
                    <a:bodyPr/>
                    <a:lstStyle/>
                    <a:p>
                      <a:pPr algn="just" fontAlgn="t"/>
                      <a:r>
                        <a:rPr lang="en-IN">
                          <a:solidFill>
                            <a:srgbClr val="333333"/>
                          </a:solidFill>
                          <a:effectLst/>
                          <a:latin typeface="inter-regular"/>
                        </a:rPr>
                        <a:t>Implementation</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add</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Remove</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peek</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r>
              <a:tr h="548716">
                <a:tc>
                  <a:txBody>
                    <a:bodyPr/>
                    <a:lstStyle/>
                    <a:p>
                      <a:pPr algn="just" fontAlgn="t"/>
                      <a:r>
                        <a:rPr lang="en-IN">
                          <a:solidFill>
                            <a:srgbClr val="333333"/>
                          </a:solidFill>
                          <a:effectLst/>
                          <a:latin typeface="inter-regular"/>
                        </a:rPr>
                        <a:t>Linked list</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O(1)</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O(n)</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O(n)</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r>
              <a:tr h="548716">
                <a:tc>
                  <a:txBody>
                    <a:bodyPr/>
                    <a:lstStyle/>
                    <a:p>
                      <a:pPr algn="just" fontAlgn="t"/>
                      <a:r>
                        <a:rPr lang="en-IN">
                          <a:solidFill>
                            <a:srgbClr val="333333"/>
                          </a:solidFill>
                          <a:effectLst/>
                          <a:latin typeface="inter-regular"/>
                        </a:rPr>
                        <a:t>Binary heap</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O(logn)</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O(logn)</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O(1)</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r>
              <a:tr h="928595">
                <a:tc>
                  <a:txBody>
                    <a:bodyPr/>
                    <a:lstStyle/>
                    <a:p>
                      <a:pPr algn="just" fontAlgn="t"/>
                      <a:r>
                        <a:rPr lang="en-IN">
                          <a:solidFill>
                            <a:srgbClr val="333333"/>
                          </a:solidFill>
                          <a:effectLst/>
                          <a:latin typeface="inter-regular"/>
                        </a:rPr>
                        <a:t>Binary search tree</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O(logn)</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O(logn)</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dirty="0">
                          <a:solidFill>
                            <a:srgbClr val="333333"/>
                          </a:solidFill>
                          <a:effectLst/>
                          <a:latin typeface="inter-regular"/>
                        </a:rPr>
                        <a:t>O(1)</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3169767459"/>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fontAlgn="base"/>
            <a:r>
              <a:rPr lang="en-US" b="1" i="1" dirty="0"/>
              <a:t>PUSH(HEAD, DATA, PRIORITY):</a:t>
            </a:r>
            <a:endParaRPr lang="en-US" i="1" dirty="0"/>
          </a:p>
          <a:p>
            <a:pPr fontAlgn="base"/>
            <a:r>
              <a:rPr lang="en-US" b="1" i="1" dirty="0"/>
              <a:t>Step 1: </a:t>
            </a:r>
            <a:r>
              <a:rPr lang="en-US" i="1" dirty="0"/>
              <a:t>Create new node with DATA and PRIORITY </a:t>
            </a:r>
          </a:p>
          <a:p>
            <a:pPr fontAlgn="base"/>
            <a:r>
              <a:rPr lang="en-US" b="1" i="1" dirty="0"/>
              <a:t>Step 2:</a:t>
            </a:r>
            <a:r>
              <a:rPr lang="en-US" i="1" dirty="0"/>
              <a:t> Check if HEAD has lower priority. If true follow Steps 3-4 and end. Else </a:t>
            </a:r>
            <a:r>
              <a:rPr lang="en-US" i="1" dirty="0" err="1"/>
              <a:t>goto</a:t>
            </a:r>
            <a:r>
              <a:rPr lang="en-US" i="1" dirty="0"/>
              <a:t> Step 5. </a:t>
            </a:r>
          </a:p>
          <a:p>
            <a:pPr fontAlgn="base"/>
            <a:r>
              <a:rPr lang="en-US" b="1" i="1" dirty="0"/>
              <a:t>Step 3: </a:t>
            </a:r>
            <a:r>
              <a:rPr lang="en-US" i="1" dirty="0"/>
              <a:t>NEW -&gt; NEXT = HEAD </a:t>
            </a:r>
          </a:p>
          <a:p>
            <a:pPr fontAlgn="base"/>
            <a:r>
              <a:rPr lang="en-US" b="1" i="1" dirty="0"/>
              <a:t>Step 4: </a:t>
            </a:r>
            <a:r>
              <a:rPr lang="en-US" i="1" dirty="0"/>
              <a:t>HEAD = NEW </a:t>
            </a:r>
          </a:p>
          <a:p>
            <a:endParaRPr lang="en-IN" dirty="0"/>
          </a:p>
        </p:txBody>
      </p:sp>
    </p:spTree>
    <p:extLst>
      <p:ext uri="{BB962C8B-B14F-4D97-AF65-F5344CB8AC3E}">
        <p14:creationId xmlns:p14="http://schemas.microsoft.com/office/powerpoint/2010/main" val="3134938280"/>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fontAlgn="base"/>
            <a:r>
              <a:rPr lang="en-US" b="1" i="1" dirty="0"/>
              <a:t>Step 5:</a:t>
            </a:r>
            <a:r>
              <a:rPr lang="en-US" i="1" dirty="0"/>
              <a:t> Set TEMP to head of the list </a:t>
            </a:r>
          </a:p>
          <a:p>
            <a:pPr fontAlgn="base"/>
            <a:r>
              <a:rPr lang="en-US" b="1" i="1" dirty="0"/>
              <a:t>Step 6:</a:t>
            </a:r>
            <a:r>
              <a:rPr lang="en-US" i="1" dirty="0"/>
              <a:t> While TEMP -&gt; NEXT != NULL and TEMP -&gt; NEXT -&gt; PRIORITY &gt; PRIORITY </a:t>
            </a:r>
          </a:p>
          <a:p>
            <a:pPr fontAlgn="base"/>
            <a:r>
              <a:rPr lang="en-US" b="1" i="1"/>
              <a:t>Step 7:</a:t>
            </a:r>
            <a:r>
              <a:rPr lang="en-US" i="1"/>
              <a:t> TEMP = TEMP -&gt; NEXT </a:t>
            </a:r>
            <a:br>
              <a:rPr lang="en-US" i="1"/>
            </a:br>
            <a:r>
              <a:rPr lang="en-US" i="1"/>
              <a:t>[END OF LOOP] </a:t>
            </a:r>
          </a:p>
          <a:p>
            <a:pPr marL="0" indent="0">
              <a:buNone/>
            </a:pPr>
            <a:endParaRPr lang="en-IN"/>
          </a:p>
        </p:txBody>
      </p:sp>
    </p:spTree>
    <p:extLst>
      <p:ext uri="{BB962C8B-B14F-4D97-AF65-F5344CB8AC3E}">
        <p14:creationId xmlns:p14="http://schemas.microsoft.com/office/powerpoint/2010/main" val="3474806463"/>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fontAlgn="base"/>
            <a:r>
              <a:rPr lang="en-US" b="1" i="1" dirty="0"/>
              <a:t>Step 8: </a:t>
            </a:r>
            <a:r>
              <a:rPr lang="en-US" i="1" dirty="0"/>
              <a:t>NEW -&gt; NEXT = TEMP -&gt; NEXT </a:t>
            </a:r>
          </a:p>
          <a:p>
            <a:pPr fontAlgn="base"/>
            <a:r>
              <a:rPr lang="en-US" b="1" i="1" dirty="0"/>
              <a:t>Step 9: </a:t>
            </a:r>
            <a:r>
              <a:rPr lang="en-US" i="1" dirty="0"/>
              <a:t>TEMP -&gt; NEXT = NEW </a:t>
            </a:r>
          </a:p>
          <a:p>
            <a:pPr fontAlgn="base"/>
            <a:r>
              <a:rPr lang="en-US" b="1" i="1" dirty="0"/>
              <a:t>Step 10</a:t>
            </a:r>
            <a:r>
              <a:rPr lang="en-US" i="1" dirty="0"/>
              <a:t>: End</a:t>
            </a:r>
          </a:p>
          <a:p>
            <a:endParaRPr lang="en-IN" dirty="0"/>
          </a:p>
        </p:txBody>
      </p:sp>
    </p:spTree>
    <p:extLst>
      <p:ext uri="{BB962C8B-B14F-4D97-AF65-F5344CB8AC3E}">
        <p14:creationId xmlns:p14="http://schemas.microsoft.com/office/powerpoint/2010/main" val="1925915764"/>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fontAlgn="base"/>
            <a:r>
              <a:rPr lang="en-US" b="1" i="1" dirty="0"/>
              <a:t>POP(HEAD):</a:t>
            </a:r>
            <a:endParaRPr lang="en-US" i="1" dirty="0"/>
          </a:p>
          <a:p>
            <a:pPr fontAlgn="base"/>
            <a:r>
              <a:rPr lang="en-US" b="1" i="1" dirty="0"/>
              <a:t>Step 1:</a:t>
            </a:r>
            <a:r>
              <a:rPr lang="en-US" i="1" dirty="0"/>
              <a:t> Set the head of the list to the next node in the list. HEAD = HEAD -&gt; NEXT. </a:t>
            </a:r>
          </a:p>
          <a:p>
            <a:pPr fontAlgn="base"/>
            <a:r>
              <a:rPr lang="en-US" b="1" i="1" dirty="0"/>
              <a:t>Step 2:</a:t>
            </a:r>
            <a:r>
              <a:rPr lang="en-US" i="1" dirty="0"/>
              <a:t> Free the node at the head of the list </a:t>
            </a:r>
          </a:p>
          <a:p>
            <a:pPr fontAlgn="base"/>
            <a:r>
              <a:rPr lang="en-US" b="1" i="1" dirty="0"/>
              <a:t>Step 3:</a:t>
            </a:r>
            <a:r>
              <a:rPr lang="en-US" i="1" dirty="0"/>
              <a:t> End</a:t>
            </a:r>
          </a:p>
          <a:p>
            <a:endParaRPr lang="en-IN" dirty="0"/>
          </a:p>
        </p:txBody>
      </p:sp>
    </p:spTree>
    <p:extLst>
      <p:ext uri="{BB962C8B-B14F-4D97-AF65-F5344CB8AC3E}">
        <p14:creationId xmlns:p14="http://schemas.microsoft.com/office/powerpoint/2010/main" val="1381991561"/>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fontAlgn="base"/>
            <a:r>
              <a:rPr lang="en-US" b="1" i="1" dirty="0"/>
              <a:t>PEEK(HEAD): </a:t>
            </a:r>
            <a:endParaRPr lang="en-US" i="1" dirty="0"/>
          </a:p>
          <a:p>
            <a:pPr fontAlgn="base"/>
            <a:r>
              <a:rPr lang="en-US" b="1" i="1" dirty="0"/>
              <a:t>Step 1: </a:t>
            </a:r>
            <a:r>
              <a:rPr lang="en-US" i="1" dirty="0"/>
              <a:t>Return HEAD -&gt; DATA </a:t>
            </a:r>
          </a:p>
          <a:p>
            <a:pPr fontAlgn="base"/>
            <a:r>
              <a:rPr lang="en-US" b="1" i="1" dirty="0"/>
              <a:t>Step 2:</a:t>
            </a:r>
            <a:r>
              <a:rPr lang="en-US" i="1" dirty="0"/>
              <a:t> End</a:t>
            </a:r>
          </a:p>
          <a:p>
            <a:endParaRPr lang="en-IN" dirty="0"/>
          </a:p>
        </p:txBody>
      </p:sp>
    </p:spTree>
    <p:extLst>
      <p:ext uri="{BB962C8B-B14F-4D97-AF65-F5344CB8AC3E}">
        <p14:creationId xmlns:p14="http://schemas.microsoft.com/office/powerpoint/2010/main" val="347959912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16433</TotalTime>
  <Words>1751</Words>
  <Application>Microsoft Office PowerPoint</Application>
  <PresentationFormat>Widescreen</PresentationFormat>
  <Paragraphs>306</Paragraphs>
  <Slides>81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81</vt:i4>
      </vt:variant>
    </vt:vector>
  </HeadingPairs>
  <TitlesOfParts>
    <vt:vector size="86" baseType="lpstr">
      <vt:lpstr>Arial</vt:lpstr>
      <vt:lpstr>Calibri</vt:lpstr>
      <vt:lpstr>Calibri Light</vt:lpstr>
      <vt:lpstr>inter-regular</vt:lpstr>
      <vt:lpstr>Office Theme</vt:lpstr>
      <vt:lpstr>Chapter2:Stack and Queue</vt:lpstr>
      <vt:lpstr>What is stack</vt:lpstr>
      <vt:lpstr>PowerPoint Presentation</vt:lpstr>
      <vt:lpstr>PowerPoint Presentation</vt:lpstr>
      <vt:lpstr>PowerPoint Presentation</vt:lpstr>
      <vt:lpstr>PowerPoint Presentation</vt:lpstr>
      <vt:lpstr>PowerPoint Presentation</vt:lpstr>
      <vt:lpstr>Push Operation </vt:lpstr>
      <vt:lpstr>PowerPoint Presentation</vt:lpstr>
      <vt:lpstr>Implementation of stack</vt:lpstr>
      <vt:lpstr>Step 1:  Initialise a node </vt:lpstr>
      <vt:lpstr>Step two create a link list</vt:lpstr>
      <vt:lpstr>PowerPoint Presentation</vt:lpstr>
      <vt:lpstr>Pop Operation </vt:lpstr>
      <vt:lpstr>PowerPoint Presentation</vt:lpstr>
      <vt:lpstr>  </vt:lpstr>
      <vt:lpstr>PowerPoint Presentation</vt:lpstr>
      <vt:lpstr>PowerPoint Presentation</vt:lpstr>
      <vt:lpstr>PowerPoint Presentation</vt:lpstr>
      <vt:lpstr>PowerPoint Presentation</vt:lpstr>
      <vt:lpstr>Queue Data structure</vt:lpstr>
      <vt:lpstr>PowerPoint Presentation</vt:lpstr>
      <vt:lpstr>PowerPoint Presentation</vt:lpstr>
      <vt:lpstr>PowerPoint Presentation</vt:lpstr>
      <vt:lpstr>PowerPoint Presentation</vt:lpstr>
      <vt:lpstr>PowerPoint Presentation</vt:lpstr>
      <vt:lpstr>PowerPoint Presentation</vt:lpstr>
      <vt:lpstr>Enqueue Operation </vt:lpstr>
      <vt:lpstr>PowerPoint Presentation</vt:lpstr>
      <vt:lpstr>Algorithm for enqueue operation </vt:lpstr>
      <vt:lpstr>Dequeue Operation </vt:lpstr>
      <vt:lpstr>PowerPoint Presentation</vt:lpstr>
      <vt:lpstr>Algorithm for dequeue operation</vt:lpstr>
      <vt:lpstr>PowerPoint Presentation</vt:lpstr>
      <vt:lpstr>Algorithm</vt:lpstr>
      <vt:lpstr>PowerPoint Presentation</vt:lpstr>
      <vt:lpstr>PowerPoint Presentation</vt:lpstr>
      <vt:lpstr>Circular Queue </vt:lpstr>
      <vt:lpstr>PowerPoint Presentation</vt:lpstr>
      <vt:lpstr>PowerPoint Presentation</vt:lpstr>
      <vt:lpstr>Operations on Circular Queue </vt:lpstr>
      <vt:lpstr>PowerPoint Presentation</vt:lpstr>
      <vt:lpstr>PowerPoint Presentation</vt:lpstr>
      <vt:lpstr>PowerPoint Presentation</vt:lpstr>
      <vt:lpstr>Scenarios for inserting an element </vt:lpstr>
      <vt:lpstr>PowerPoint Presentation</vt:lpstr>
      <vt:lpstr>Algorithm to insert an element in a circular queue</vt:lpstr>
      <vt:lpstr>PowerPoint Presentation</vt:lpstr>
      <vt:lpstr>PowerPoint Presentation</vt:lpstr>
      <vt:lpstr>Dequeue Operation</vt:lpstr>
      <vt:lpstr>PowerPoint Presentation</vt:lpstr>
      <vt:lpstr>PowerPoint Presentation</vt:lpstr>
      <vt:lpstr>Example</vt:lpstr>
      <vt:lpstr>PowerPoint Presentation</vt:lpstr>
      <vt:lpstr>PowerPoint Presentation</vt:lpstr>
      <vt:lpstr>PowerPoint Presentation</vt:lpstr>
      <vt:lpstr>PowerPoint Presentation</vt:lpstr>
      <vt:lpstr>PowerPoint Presentation</vt:lpstr>
      <vt:lpstr>PowerPoint Presentation</vt:lpstr>
      <vt:lpstr>Priority Queue</vt:lpstr>
      <vt:lpstr>PowerPoint Presentation</vt:lpstr>
      <vt:lpstr>Characteristics of a Priority queue </vt:lpstr>
      <vt:lpstr>PowerPoint Presentation</vt:lpstr>
      <vt:lpstr>PowerPoint Presentation</vt:lpstr>
      <vt:lpstr>Types of Priority Queue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Implementation of Priority Queue </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Chapter2:Stack and Queue</dc:title>
  <dc:creator>Sapna Sharma E0069</dc:creator>
  <cp:lastModifiedBy>Sapna Sharma E0069</cp:lastModifiedBy>
  <cp:revision>27</cp:revision>
  <dcterms:created xsi:type="dcterms:W3CDTF">2022-12-14T16:45:03Z</dcterms:created>
  <dcterms:modified xsi:type="dcterms:W3CDTF">2023-09-05T06:44:42Z</dcterms:modified>
</cp:coreProperties>
</file>