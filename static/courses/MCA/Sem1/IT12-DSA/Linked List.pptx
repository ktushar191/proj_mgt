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2" r:id="rId14"/>
    <p:sldId id="268" r:id="rId15"/>
    <p:sldId id="269" r:id="rId16"/>
    <p:sldId id="270" r:id="rId17"/>
    <p:sldId id="271" r:id="rId18"/>
    <p:sldId id="273" r:id="rId19"/>
    <p:sldId id="274" r:id="rId20"/>
    <p:sldId id="301" r:id="rId21"/>
    <p:sldId id="302" r:id="rId22"/>
    <p:sldId id="303" r:id="rId23"/>
    <p:sldId id="304" r:id="rId24"/>
    <p:sldId id="305" r:id="rId25"/>
    <p:sldId id="306" r:id="rId26"/>
    <p:sldId id="307" r:id="rId27"/>
    <p:sldId id="308" r:id="rId28"/>
    <p:sldId id="309" r:id="rId29"/>
    <p:sldId id="310" r:id="rId30"/>
    <p:sldId id="312" r:id="rId31"/>
    <p:sldId id="311" r:id="rId32"/>
    <p:sldId id="313" r:id="rId33"/>
    <p:sldId id="314" r:id="rId34"/>
    <p:sldId id="315" r:id="rId35"/>
    <p:sldId id="316" r:id="rId36"/>
    <p:sldId id="317" r:id="rId37"/>
    <p:sldId id="318" r:id="rId38"/>
    <p:sldId id="319" r:id="rId39"/>
    <p:sldId id="320" r:id="rId40"/>
    <p:sldId id="321" r:id="rId41"/>
    <p:sldId id="322" r:id="rId42"/>
    <p:sldId id="323" r:id="rId43"/>
    <p:sldId id="286" r:id="rId44"/>
    <p:sldId id="287" r:id="rId45"/>
    <p:sldId id="288" r:id="rId46"/>
    <p:sldId id="289" r:id="rId47"/>
    <p:sldId id="290" r:id="rId48"/>
    <p:sldId id="291" r:id="rId49"/>
    <p:sldId id="292" r:id="rId50"/>
    <p:sldId id="293" r:id="rId51"/>
    <p:sldId id="296" r:id="rId52"/>
    <p:sldId id="299" r:id="rId53"/>
    <p:sldId id="300"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5" autoAdjust="0"/>
    <p:restoredTop sz="94660"/>
  </p:normalViewPr>
  <p:slideViewPr>
    <p:cSldViewPr snapToGrid="0">
      <p:cViewPr varScale="1">
        <p:scale>
          <a:sx n="77" d="100"/>
          <a:sy n="77" d="100"/>
        </p:scale>
        <p:origin x="91" y="3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318A1C9-44E6-4305-9B4C-F9E55321A437}" type="datetimeFigureOut">
              <a:rPr lang="en-IN" smtClean="0"/>
              <a:t>24-08-2023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723675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318A1C9-44E6-4305-9B4C-F9E55321A437}" type="datetimeFigureOut">
              <a:rPr lang="en-IN" smtClean="0"/>
              <a:t>24-08-2023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1290545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318A1C9-44E6-4305-9B4C-F9E55321A437}" type="datetimeFigureOut">
              <a:rPr lang="en-IN" smtClean="0"/>
              <a:t>24-08-2023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4130566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318A1C9-44E6-4305-9B4C-F9E55321A437}" type="datetimeFigureOut">
              <a:rPr lang="en-IN" smtClean="0"/>
              <a:t>24-08-2023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4257360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318A1C9-44E6-4305-9B4C-F9E55321A437}" type="datetimeFigureOut">
              <a:rPr lang="en-IN" smtClean="0"/>
              <a:t>24-08-2023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2739613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318A1C9-44E6-4305-9B4C-F9E55321A437}" type="datetimeFigureOut">
              <a:rPr lang="en-IN" smtClean="0"/>
              <a:t>24-08-2023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1572241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18A1C9-44E6-4305-9B4C-F9E55321A437}" type="datetimeFigureOut">
              <a:rPr lang="en-IN" smtClean="0"/>
              <a:t>24-08-2023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49614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18A1C9-44E6-4305-9B4C-F9E55321A437}" type="datetimeFigureOut">
              <a:rPr lang="en-IN" smtClean="0"/>
              <a:t>24-08-2023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3283984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18A1C9-44E6-4305-9B4C-F9E55321A437}" type="datetimeFigureOut">
              <a:rPr lang="en-IN" smtClean="0"/>
              <a:t>24-08-2023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2733325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318A1C9-44E6-4305-9B4C-F9E55321A437}" type="datetimeFigureOut">
              <a:rPr lang="en-IN" smtClean="0"/>
              <a:t>24-08-2023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2821865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318A1C9-44E6-4305-9B4C-F9E55321A437}" type="datetimeFigureOut">
              <a:rPr lang="en-IN" smtClean="0"/>
              <a:t>24-08-2023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A78C349-600B-49F6-B6ED-F502D9B07B4F}" type="slidenum">
              <a:rPr lang="en-IN" smtClean="0"/>
              <a:t>‹#›</a:t>
            </a:fld>
            <a:endParaRPr lang="en-IN"/>
          </a:p>
        </p:txBody>
      </p:sp>
    </p:spTree>
    <p:extLst>
      <p:ext uri="{BB962C8B-B14F-4D97-AF65-F5344CB8AC3E}">
        <p14:creationId xmlns:p14="http://schemas.microsoft.com/office/powerpoint/2010/main" val="3147078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18A1C9-44E6-4305-9B4C-F9E55321A437}" type="datetimeFigureOut">
              <a:rPr lang="en-IN" smtClean="0"/>
              <a:t>24-08-2023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78C349-600B-49F6-B6ED-F502D9B07B4F}" type="slidenum">
              <a:rPr lang="en-IN" smtClean="0"/>
              <a:t>‹#›</a:t>
            </a:fld>
            <a:endParaRPr lang="en-IN"/>
          </a:p>
        </p:txBody>
      </p:sp>
    </p:spTree>
    <p:extLst>
      <p:ext uri="{BB962C8B-B14F-4D97-AF65-F5344CB8AC3E}">
        <p14:creationId xmlns:p14="http://schemas.microsoft.com/office/powerpoint/2010/main" val="28454756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eeksforgeeks.org/data-structures/linked-list/singly-linked-list/"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geeksforgeeks.org/doubly-linked-list/"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geeksforgeeks.org/xor-linked-list-a-memory-efficient-doubly-linked-list-set-2/" TargetMode="External"/><Relationship Id="rId2" Type="http://schemas.openxmlformats.org/officeDocument/2006/relationships/hyperlink" Target="https://www.geeksforgeeks.org/xor-linked-list-a-memory-efficient-doubly-linked-list-set-1/"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Linked List</a:t>
            </a:r>
            <a:endParaRPr lang="en-IN" dirty="0"/>
          </a:p>
        </p:txBody>
      </p:sp>
      <p:sp>
        <p:nvSpPr>
          <p:cNvPr id="3" name="Subtitle 2"/>
          <p:cNvSpPr>
            <a:spLocks noGrp="1"/>
          </p:cNvSpPr>
          <p:nvPr>
            <p:ph type="subTitle" idx="1"/>
          </p:nvPr>
        </p:nvSpPr>
        <p:spPr/>
        <p:txBody>
          <a:bodyPr/>
          <a:lstStyle/>
          <a:p>
            <a:r>
              <a:rPr lang="en-IN" dirty="0" err="1" smtClean="0"/>
              <a:t>Prof.</a:t>
            </a:r>
            <a:r>
              <a:rPr lang="en-IN" dirty="0" smtClean="0"/>
              <a:t> Sapna Sharma</a:t>
            </a:r>
            <a:endParaRPr lang="en-IN" dirty="0"/>
          </a:p>
        </p:txBody>
      </p:sp>
    </p:spTree>
    <p:extLst>
      <p:ext uri="{BB962C8B-B14F-4D97-AF65-F5344CB8AC3E}">
        <p14:creationId xmlns:p14="http://schemas.microsoft.com/office/powerpoint/2010/main" val="11954443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data structure?</a:t>
            </a:r>
            <a:endParaRPr lang="en-IN" dirty="0"/>
          </a:p>
        </p:txBody>
      </p:sp>
      <p:sp>
        <p:nvSpPr>
          <p:cNvPr id="3" name="Content Placeholder 2"/>
          <p:cNvSpPr>
            <a:spLocks noGrp="1"/>
          </p:cNvSpPr>
          <p:nvPr>
            <p:ph idx="1"/>
          </p:nvPr>
        </p:nvSpPr>
        <p:spPr/>
        <p:txBody>
          <a:bodyPr/>
          <a:lstStyle/>
          <a:p>
            <a:r>
              <a:rPr lang="en-US" i="1" dirty="0" smtClean="0"/>
              <a:t>A </a:t>
            </a:r>
            <a:r>
              <a:rPr lang="en-US" i="1" dirty="0"/>
              <a:t>storage that is used to store and organize data</a:t>
            </a:r>
            <a:r>
              <a:rPr lang="en-US" i="1" dirty="0" smtClean="0"/>
              <a:t>.</a:t>
            </a:r>
          </a:p>
          <a:p>
            <a:r>
              <a:rPr lang="en-US" i="1" dirty="0" smtClean="0"/>
              <a:t>Arrangement of data on the computer, so that data cane accessed efficiently and easily.</a:t>
            </a:r>
          </a:p>
          <a:p>
            <a:pPr marL="0" indent="0">
              <a:buNone/>
            </a:pPr>
            <a:endParaRPr lang="en-IN" dirty="0"/>
          </a:p>
        </p:txBody>
      </p:sp>
    </p:spTree>
    <p:extLst>
      <p:ext uri="{BB962C8B-B14F-4D97-AF65-F5344CB8AC3E}">
        <p14:creationId xmlns:p14="http://schemas.microsoft.com/office/powerpoint/2010/main" val="1508634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71588"/>
          </a:xfrm>
        </p:spPr>
        <p:txBody>
          <a:bodyPr>
            <a:normAutofit fontScale="90000"/>
          </a:bodyPr>
          <a:lstStyle/>
          <a:p>
            <a:endParaRPr lang="en-IN" dirty="0"/>
          </a:p>
        </p:txBody>
      </p:sp>
      <p:pic>
        <p:nvPicPr>
          <p:cNvPr id="1026" name="Picture 2" descr="Classification of Data Struc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870" y="646043"/>
            <a:ext cx="11005930" cy="5655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5551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Need Of Data structure :</a:t>
            </a:r>
            <a:br>
              <a:rPr lang="en-IN" b="1" dirty="0"/>
            </a:br>
            <a:endParaRPr lang="en-IN" dirty="0"/>
          </a:p>
        </p:txBody>
      </p:sp>
      <p:sp>
        <p:nvSpPr>
          <p:cNvPr id="3" name="Content Placeholder 2"/>
          <p:cNvSpPr>
            <a:spLocks noGrp="1"/>
          </p:cNvSpPr>
          <p:nvPr>
            <p:ph idx="1"/>
          </p:nvPr>
        </p:nvSpPr>
        <p:spPr/>
        <p:txBody>
          <a:bodyPr/>
          <a:lstStyle/>
          <a:p>
            <a:pPr fontAlgn="base"/>
            <a:r>
              <a:rPr lang="en-US" dirty="0"/>
              <a:t>Data structure modification is easy. </a:t>
            </a:r>
          </a:p>
          <a:p>
            <a:pPr fontAlgn="base"/>
            <a:r>
              <a:rPr lang="en-US" dirty="0"/>
              <a:t>It requires less time. </a:t>
            </a:r>
          </a:p>
          <a:p>
            <a:pPr fontAlgn="base"/>
            <a:r>
              <a:rPr lang="en-US" dirty="0"/>
              <a:t>Save storage memory space. </a:t>
            </a:r>
          </a:p>
          <a:p>
            <a:pPr fontAlgn="base"/>
            <a:r>
              <a:rPr lang="en-US" dirty="0"/>
              <a:t>Data representation is easy. </a:t>
            </a:r>
          </a:p>
          <a:p>
            <a:pPr fontAlgn="base"/>
            <a:r>
              <a:rPr lang="en-US" dirty="0"/>
              <a:t>Easy access to the large database.</a:t>
            </a:r>
          </a:p>
          <a:p>
            <a:pPr marL="0" indent="0">
              <a:buNone/>
            </a:pPr>
            <a:endParaRPr lang="en-IN" dirty="0"/>
          </a:p>
        </p:txBody>
      </p:sp>
    </p:spTree>
    <p:extLst>
      <p:ext uri="{BB962C8B-B14F-4D97-AF65-F5344CB8AC3E}">
        <p14:creationId xmlns:p14="http://schemas.microsoft.com/office/powerpoint/2010/main" val="3638269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Arrays</a:t>
            </a:r>
            <a:r>
              <a:rPr lang="en-IN" b="1" dirty="0" smtClean="0"/>
              <a:t>: </a:t>
            </a:r>
            <a:r>
              <a:rPr lang="en-IN" b="1" dirty="0" err="1" smtClean="0"/>
              <a:t>Contigenous</a:t>
            </a:r>
            <a:r>
              <a:rPr lang="en-IN" b="1" dirty="0"/>
              <a:t/>
            </a:r>
            <a:br>
              <a:rPr lang="en-IN" b="1" dirty="0"/>
            </a:br>
            <a:endParaRPr lang="en-IN" dirty="0"/>
          </a:p>
        </p:txBody>
      </p:sp>
      <p:pic>
        <p:nvPicPr>
          <p:cNvPr id="2050" name="Picture 2" descr="Array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86409" y="1690688"/>
            <a:ext cx="7552703" cy="3239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917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Linked list</a:t>
            </a:r>
            <a:r>
              <a:rPr lang="en-IN" b="1" dirty="0" smtClean="0"/>
              <a:t>: Non </a:t>
            </a:r>
            <a:r>
              <a:rPr lang="en-IN" b="1" dirty="0" err="1" smtClean="0"/>
              <a:t>Contigenous</a:t>
            </a:r>
            <a:r>
              <a:rPr lang="en-IN" b="1" dirty="0"/>
              <a:t> </a:t>
            </a:r>
            <a:br>
              <a:rPr lang="en-IN" b="1" dirty="0"/>
            </a:br>
            <a:endParaRPr lang="en-IN" dirty="0"/>
          </a:p>
        </p:txBody>
      </p:sp>
      <p:pic>
        <p:nvPicPr>
          <p:cNvPr id="3074" name="Picture 2" descr="Linked Lis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7078" y="1690689"/>
            <a:ext cx="9233659" cy="449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0396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Stack</a:t>
            </a:r>
            <a:r>
              <a:rPr lang="en-IN" b="1" dirty="0" smtClean="0"/>
              <a:t>: Entry and exit from one end only</a:t>
            </a:r>
            <a:r>
              <a:rPr lang="en-IN" b="1" dirty="0"/>
              <a:t> </a:t>
            </a:r>
            <a:br>
              <a:rPr lang="en-IN" b="1" dirty="0"/>
            </a:br>
            <a:endParaRPr lang="en-IN" dirty="0"/>
          </a:p>
        </p:txBody>
      </p:sp>
      <p:pic>
        <p:nvPicPr>
          <p:cNvPr id="4098" name="Picture 2" descr="stack"/>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33671" y="1789042"/>
            <a:ext cx="9124742" cy="4750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9599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Queue: </a:t>
            </a:r>
            <a:br>
              <a:rPr lang="en-IN" b="1" dirty="0"/>
            </a:br>
            <a:endParaRPr lang="en-IN" dirty="0"/>
          </a:p>
        </p:txBody>
      </p:sp>
      <p:pic>
        <p:nvPicPr>
          <p:cNvPr id="5122" name="Picture 2" descr="Queu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2937" y="1878496"/>
            <a:ext cx="9312076" cy="3418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8510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Tree:</a:t>
            </a:r>
            <a:br>
              <a:rPr lang="en-IN" b="1" dirty="0"/>
            </a:br>
            <a:endParaRPr lang="en-IN" dirty="0"/>
          </a:p>
        </p:txBody>
      </p:sp>
      <p:pic>
        <p:nvPicPr>
          <p:cNvPr id="6146" name="Picture 2" descr="Tre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62062" y="1905794"/>
            <a:ext cx="9667875" cy="4191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0660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Graph:</a:t>
            </a:r>
            <a:br>
              <a:rPr lang="en-IN" b="1" dirty="0"/>
            </a:br>
            <a:endParaRPr lang="en-IN" dirty="0"/>
          </a:p>
        </p:txBody>
      </p:sp>
      <p:pic>
        <p:nvPicPr>
          <p:cNvPr id="7170" name="Picture 2" descr="Graph"/>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1052" y="2000054"/>
            <a:ext cx="6973335" cy="3010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214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link list?</a:t>
            </a:r>
            <a:endParaRPr lang="en-IN" dirty="0"/>
          </a:p>
        </p:txBody>
      </p:sp>
      <p:sp>
        <p:nvSpPr>
          <p:cNvPr id="3" name="Content Placeholder 2"/>
          <p:cNvSpPr>
            <a:spLocks noGrp="1"/>
          </p:cNvSpPr>
          <p:nvPr>
            <p:ph idx="1"/>
          </p:nvPr>
        </p:nvSpPr>
        <p:spPr/>
        <p:txBody>
          <a:bodyPr/>
          <a:lstStyle/>
          <a:p>
            <a:r>
              <a:rPr lang="en-US" dirty="0"/>
              <a:t>The </a:t>
            </a:r>
            <a:r>
              <a:rPr lang="en-US" u="sng" dirty="0"/>
              <a:t>linked list</a:t>
            </a:r>
            <a:r>
              <a:rPr lang="en-US" dirty="0"/>
              <a:t> stores data in sequential storage, like </a:t>
            </a:r>
            <a:r>
              <a:rPr lang="en-US" u="sng" dirty="0"/>
              <a:t>arrays</a:t>
            </a:r>
            <a:r>
              <a:rPr lang="en-US" dirty="0"/>
              <a:t>. </a:t>
            </a:r>
            <a:endParaRPr lang="en-US" dirty="0" smtClean="0"/>
          </a:p>
          <a:p>
            <a:r>
              <a:rPr lang="en-US" dirty="0" smtClean="0"/>
              <a:t>Though </a:t>
            </a:r>
            <a:r>
              <a:rPr lang="en-US" dirty="0"/>
              <a:t>the data are stored sequentially, the memory locations are not contiguous.</a:t>
            </a:r>
            <a:r>
              <a:rPr lang="en-US" dirty="0" smtClean="0"/>
              <a:t/>
            </a:r>
            <a:br>
              <a:rPr lang="en-US" dirty="0" smtClean="0"/>
            </a:br>
            <a:endParaRPr lang="en-US" dirty="0" smtClean="0"/>
          </a:p>
          <a:p>
            <a:r>
              <a:rPr lang="en-US" dirty="0" smtClean="0"/>
              <a:t>Unlike </a:t>
            </a:r>
            <a:r>
              <a:rPr lang="en-US" dirty="0"/>
              <a:t>an array, the linked list can store data of different data types.</a:t>
            </a:r>
            <a:endParaRPr lang="en-IN" dirty="0"/>
          </a:p>
        </p:txBody>
      </p:sp>
    </p:spTree>
    <p:extLst>
      <p:ext uri="{BB962C8B-B14F-4D97-AF65-F5344CB8AC3E}">
        <p14:creationId xmlns:p14="http://schemas.microsoft.com/office/powerpoint/2010/main" val="1834447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descr="https://media.geeksforgeeks.org/wp-content/cdn-uploads/gq/2013/03/Linkedlis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5635" y="2057400"/>
            <a:ext cx="9979703" cy="3607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084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Linked lis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49465" y="2596551"/>
            <a:ext cx="8337385" cy="2190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221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Add a node at the front</a:t>
            </a:r>
            <a:br>
              <a:rPr lang="en-US" b="1" dirty="0"/>
            </a:br>
            <a:endParaRPr lang="en-IN" dirty="0"/>
          </a:p>
        </p:txBody>
      </p:sp>
      <p:sp>
        <p:nvSpPr>
          <p:cNvPr id="3" name="Content Placeholder 2"/>
          <p:cNvSpPr>
            <a:spLocks noGrp="1"/>
          </p:cNvSpPr>
          <p:nvPr>
            <p:ph idx="1"/>
          </p:nvPr>
        </p:nvSpPr>
        <p:spPr>
          <a:xfrm>
            <a:off x="838200" y="1152939"/>
            <a:ext cx="10515600" cy="5536096"/>
          </a:xfrm>
        </p:spPr>
        <p:txBody>
          <a:bodyPr/>
          <a:lstStyle/>
          <a:p>
            <a:r>
              <a:rPr lang="en-US" dirty="0"/>
              <a:t>The new node is always added before the head of the given Linked List. </a:t>
            </a:r>
            <a:endParaRPr lang="en-US" dirty="0" smtClean="0"/>
          </a:p>
          <a:p>
            <a:r>
              <a:rPr lang="en-US" dirty="0" smtClean="0"/>
              <a:t>And </a:t>
            </a:r>
            <a:r>
              <a:rPr lang="en-US" dirty="0"/>
              <a:t>newly added node becomes the new head of the Linked List. For example, if the given Linked List is 10-&gt;15-&gt;20-&gt;25 and we add an item 5 at the front, then the Linked List becomes 5-&gt;10-&gt;15-&gt;20-&gt;25. </a:t>
            </a:r>
            <a:endParaRPr lang="en-US" dirty="0" smtClean="0"/>
          </a:p>
          <a:p>
            <a:r>
              <a:rPr lang="en-US" dirty="0" smtClean="0"/>
              <a:t>Let </a:t>
            </a:r>
            <a:r>
              <a:rPr lang="en-US" dirty="0"/>
              <a:t>us call the function that adds at the front of the list is push(). </a:t>
            </a:r>
            <a:endParaRPr lang="en-US" dirty="0" smtClean="0"/>
          </a:p>
          <a:p>
            <a:r>
              <a:rPr lang="en-US" dirty="0" smtClean="0"/>
              <a:t>The </a:t>
            </a:r>
            <a:r>
              <a:rPr lang="en-US" dirty="0"/>
              <a:t>push() must receive a pointer to the head pointer because the push must change the head pointer to point to the new node</a:t>
            </a:r>
            <a:endParaRPr lang="en-IN" dirty="0"/>
          </a:p>
        </p:txBody>
      </p:sp>
    </p:spTree>
    <p:extLst>
      <p:ext uri="{BB962C8B-B14F-4D97-AF65-F5344CB8AC3E}">
        <p14:creationId xmlns:p14="http://schemas.microsoft.com/office/powerpoint/2010/main" val="29189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descr="linkedlist_insert_at_star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3304" y="2107096"/>
            <a:ext cx="8616981" cy="3906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715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linked list over array?</a:t>
            </a:r>
            <a:br>
              <a:rPr lang="en-US" dirty="0"/>
            </a:br>
            <a:endParaRPr lang="en-IN" dirty="0"/>
          </a:p>
        </p:txBody>
      </p:sp>
      <p:sp>
        <p:nvSpPr>
          <p:cNvPr id="3" name="Content Placeholder 2"/>
          <p:cNvSpPr>
            <a:spLocks noGrp="1"/>
          </p:cNvSpPr>
          <p:nvPr>
            <p:ph idx="1"/>
          </p:nvPr>
        </p:nvSpPr>
        <p:spPr/>
        <p:txBody>
          <a:bodyPr/>
          <a:lstStyle/>
          <a:p>
            <a:r>
              <a:rPr lang="en-US" dirty="0"/>
              <a:t>Array contains following limitations:</a:t>
            </a:r>
          </a:p>
          <a:p>
            <a:r>
              <a:rPr lang="en-US" dirty="0"/>
              <a:t>The size of array must be known in advance before using it in the program.</a:t>
            </a:r>
          </a:p>
          <a:p>
            <a:r>
              <a:rPr lang="en-US" dirty="0"/>
              <a:t>Increasing size of the array is a time taking process. It is almost impossible to expand the size of the array at run time.</a:t>
            </a:r>
          </a:p>
          <a:p>
            <a:r>
              <a:rPr lang="en-US" dirty="0"/>
              <a:t>All the elements in the array need to be contiguously stored in the memory. Inserting any element in the array needs shifting of all its predecessors.</a:t>
            </a:r>
          </a:p>
          <a:p>
            <a:pPr marL="0" indent="0">
              <a:buNone/>
            </a:pPr>
            <a:endParaRPr lang="en-IN" dirty="0"/>
          </a:p>
        </p:txBody>
      </p:sp>
    </p:spTree>
    <p:extLst>
      <p:ext uri="{BB962C8B-B14F-4D97-AF65-F5344CB8AC3E}">
        <p14:creationId xmlns:p14="http://schemas.microsoft.com/office/powerpoint/2010/main" val="4145958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Linked list is the data structure which can overcome all the limitations of an array. Using linked list is useful because,</a:t>
            </a:r>
          </a:p>
          <a:p>
            <a:r>
              <a:rPr lang="en-US" dirty="0"/>
              <a:t>It allocates the memory dynamically. All the nodes of linked list are non-contiguously stored in the memory and linked together with the help of pointers.</a:t>
            </a:r>
          </a:p>
          <a:p>
            <a:r>
              <a:rPr lang="en-US" dirty="0"/>
              <a:t>Sizing is no longer a problem since we do not need to define its size at the time of declaration. List grows as per the program's demand and limited to the available memory space.</a:t>
            </a:r>
          </a:p>
          <a:p>
            <a:pPr marL="0" indent="0">
              <a:buNone/>
            </a:pPr>
            <a:endParaRPr lang="en-IN" dirty="0"/>
          </a:p>
        </p:txBody>
      </p:sp>
    </p:spTree>
    <p:extLst>
      <p:ext uri="{BB962C8B-B14F-4D97-AF65-F5344CB8AC3E}">
        <p14:creationId xmlns:p14="http://schemas.microsoft.com/office/powerpoint/2010/main" val="35822104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Linked list</a:t>
            </a:r>
            <a:br>
              <a:rPr lang="en-IN" dirty="0"/>
            </a:br>
            <a:endParaRPr lang="en-IN" dirty="0"/>
          </a:p>
        </p:txBody>
      </p:sp>
      <p:pic>
        <p:nvPicPr>
          <p:cNvPr id="5" name="Content Placeholder 4"/>
          <p:cNvPicPr>
            <a:picLocks noGrp="1" noChangeAspect="1"/>
          </p:cNvPicPr>
          <p:nvPr>
            <p:ph idx="1"/>
          </p:nvPr>
        </p:nvPicPr>
        <p:blipFill>
          <a:blip r:embed="rId2"/>
          <a:stretch>
            <a:fillRect/>
          </a:stretch>
        </p:blipFill>
        <p:spPr>
          <a:xfrm>
            <a:off x="1845479" y="2018581"/>
            <a:ext cx="8273306" cy="3859195"/>
          </a:xfrm>
          <a:prstGeom prst="rect">
            <a:avLst/>
          </a:prstGeom>
        </p:spPr>
      </p:pic>
    </p:spTree>
    <p:extLst>
      <p:ext uri="{BB962C8B-B14F-4D97-AF65-F5344CB8AC3E}">
        <p14:creationId xmlns:p14="http://schemas.microsoft.com/office/powerpoint/2010/main" val="2857301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a:t>
            </a:r>
            <a:r>
              <a:rPr lang="en-IN" b="1" u="sng" dirty="0">
                <a:hlinkClick r:id="rId2"/>
              </a:rPr>
              <a:t>Singly Linked List</a:t>
            </a:r>
            <a:r>
              <a:rPr lang="en-IN" b="1" dirty="0"/>
              <a:t/>
            </a:r>
            <a:br>
              <a:rPr lang="en-IN" b="1" dirty="0"/>
            </a:br>
            <a:endParaRPr lang="en-IN" dirty="0"/>
          </a:p>
        </p:txBody>
      </p:sp>
      <p:sp>
        <p:nvSpPr>
          <p:cNvPr id="3" name="Content Placeholder 2"/>
          <p:cNvSpPr>
            <a:spLocks noGrp="1"/>
          </p:cNvSpPr>
          <p:nvPr>
            <p:ph idx="1"/>
          </p:nvPr>
        </p:nvSpPr>
        <p:spPr/>
        <p:txBody>
          <a:bodyPr/>
          <a:lstStyle/>
          <a:p>
            <a:r>
              <a:rPr lang="en-US" dirty="0"/>
              <a:t>The node contains a pointer to the next node means that the node stores the address of the next node in the sequence. </a:t>
            </a:r>
            <a:endParaRPr lang="en-US" dirty="0" smtClean="0"/>
          </a:p>
          <a:p>
            <a:r>
              <a:rPr lang="en-US" dirty="0" smtClean="0"/>
              <a:t>A </a:t>
            </a:r>
            <a:r>
              <a:rPr lang="en-US" dirty="0"/>
              <a:t>single linked list allows the traversal of data only in one way. </a:t>
            </a:r>
            <a:endParaRPr lang="en-US" dirty="0" smtClean="0"/>
          </a:p>
        </p:txBody>
      </p:sp>
    </p:spTree>
    <p:extLst>
      <p:ext uri="{BB962C8B-B14F-4D97-AF65-F5344CB8AC3E}">
        <p14:creationId xmlns:p14="http://schemas.microsoft.com/office/powerpoint/2010/main" val="1161148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US" b="1" dirty="0"/>
              <a:t>Operations on Single Linked List</a:t>
            </a:r>
          </a:p>
          <a:p>
            <a:r>
              <a:rPr lang="en-US" dirty="0"/>
              <a:t>The following operations are performed on a Single Linked List</a:t>
            </a:r>
          </a:p>
          <a:p>
            <a:r>
              <a:rPr lang="en-US" b="1" dirty="0"/>
              <a:t>Insertion</a:t>
            </a:r>
            <a:endParaRPr lang="en-US" dirty="0"/>
          </a:p>
          <a:p>
            <a:r>
              <a:rPr lang="en-US" b="1" dirty="0"/>
              <a:t>Deletion</a:t>
            </a:r>
            <a:endParaRPr lang="en-US" dirty="0"/>
          </a:p>
          <a:p>
            <a:r>
              <a:rPr lang="en-US" b="1" dirty="0"/>
              <a:t>Display</a:t>
            </a:r>
            <a:endParaRPr lang="en-US" dirty="0"/>
          </a:p>
          <a:p>
            <a:pPr marL="0" indent="0">
              <a:buNone/>
            </a:pPr>
            <a:endParaRPr lang="en-IN" dirty="0"/>
          </a:p>
        </p:txBody>
      </p:sp>
    </p:spTree>
    <p:extLst>
      <p:ext uri="{BB962C8B-B14F-4D97-AF65-F5344CB8AC3E}">
        <p14:creationId xmlns:p14="http://schemas.microsoft.com/office/powerpoint/2010/main" val="347781725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Insertion</a:t>
            </a:r>
          </a:p>
          <a:p>
            <a:r>
              <a:rPr lang="en-US" dirty="0"/>
              <a:t>In a single linked list, the insertion operation can be performed in three ways. They are as follows...</a:t>
            </a:r>
          </a:p>
          <a:p>
            <a:r>
              <a:rPr lang="en-US" dirty="0"/>
              <a:t>Inserting At Beginning of the list</a:t>
            </a:r>
          </a:p>
          <a:p>
            <a:r>
              <a:rPr lang="en-US" dirty="0"/>
              <a:t>Inserting At End of the list</a:t>
            </a:r>
          </a:p>
          <a:p>
            <a:r>
              <a:rPr lang="en-US" dirty="0"/>
              <a:t>Inserting At Specific location in the list</a:t>
            </a:r>
          </a:p>
          <a:p>
            <a:pPr marL="0" indent="0">
              <a:buNone/>
            </a:pPr>
            <a:endParaRPr lang="en-IN" dirty="0"/>
          </a:p>
        </p:txBody>
      </p:sp>
    </p:spTree>
    <p:extLst>
      <p:ext uri="{BB962C8B-B14F-4D97-AF65-F5344CB8AC3E}">
        <p14:creationId xmlns:p14="http://schemas.microsoft.com/office/powerpoint/2010/main" val="3972191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b="1" dirty="0"/>
              <a:t>Inserting At Beginning of the list</a:t>
            </a:r>
          </a:p>
          <a:p>
            <a:r>
              <a:rPr lang="en-US" dirty="0"/>
              <a:t>We can use the following steps to insert a new node at beginning of the single linked list...</a:t>
            </a:r>
          </a:p>
          <a:p>
            <a:r>
              <a:rPr lang="en-US" b="1" dirty="0"/>
              <a:t>Step 1 - </a:t>
            </a:r>
            <a:r>
              <a:rPr lang="en-US" dirty="0"/>
              <a:t>Create a </a:t>
            </a:r>
            <a:r>
              <a:rPr lang="en-US" b="1" dirty="0" err="1"/>
              <a:t>newNode</a:t>
            </a:r>
            <a:r>
              <a:rPr lang="en-US" dirty="0"/>
              <a:t> with given value.</a:t>
            </a:r>
          </a:p>
          <a:p>
            <a:r>
              <a:rPr lang="en-US" b="1" dirty="0"/>
              <a:t>Step 2 - </a:t>
            </a:r>
            <a:r>
              <a:rPr lang="en-US" dirty="0"/>
              <a:t>Check whether list is </a:t>
            </a:r>
            <a:r>
              <a:rPr lang="en-US" b="1" dirty="0"/>
              <a:t>Empty</a:t>
            </a:r>
            <a:r>
              <a:rPr lang="en-US" dirty="0"/>
              <a:t> (</a:t>
            </a:r>
            <a:r>
              <a:rPr lang="en-US" b="1" dirty="0"/>
              <a:t>head</a:t>
            </a:r>
            <a:r>
              <a:rPr lang="en-US" dirty="0"/>
              <a:t> == </a:t>
            </a:r>
            <a:r>
              <a:rPr lang="en-US" b="1" dirty="0"/>
              <a:t>NULL</a:t>
            </a:r>
            <a:r>
              <a:rPr lang="en-US" dirty="0"/>
              <a:t>)</a:t>
            </a:r>
          </a:p>
          <a:p>
            <a:r>
              <a:rPr lang="en-US" b="1" dirty="0"/>
              <a:t>Step 3 - </a:t>
            </a:r>
            <a:r>
              <a:rPr lang="en-US" dirty="0"/>
              <a:t>If it is </a:t>
            </a:r>
            <a:r>
              <a:rPr lang="en-US" b="1" dirty="0"/>
              <a:t>Empty</a:t>
            </a:r>
            <a:r>
              <a:rPr lang="en-US" dirty="0"/>
              <a:t> then, set </a:t>
            </a:r>
            <a:r>
              <a:rPr lang="en-US" b="1" dirty="0" err="1"/>
              <a:t>newNode→next</a:t>
            </a:r>
            <a:r>
              <a:rPr lang="en-US" dirty="0"/>
              <a:t> = </a:t>
            </a:r>
            <a:r>
              <a:rPr lang="en-US" b="1" dirty="0"/>
              <a:t>NULL</a:t>
            </a:r>
            <a:r>
              <a:rPr lang="en-US" dirty="0"/>
              <a:t> and </a:t>
            </a:r>
            <a:r>
              <a:rPr lang="en-US" b="1" dirty="0"/>
              <a:t>head</a:t>
            </a:r>
            <a:r>
              <a:rPr lang="en-US" dirty="0"/>
              <a:t> = </a:t>
            </a:r>
            <a:r>
              <a:rPr lang="en-US" b="1" dirty="0" err="1"/>
              <a:t>newNode</a:t>
            </a:r>
            <a:r>
              <a:rPr lang="en-US" dirty="0"/>
              <a:t>.</a:t>
            </a:r>
          </a:p>
          <a:p>
            <a:r>
              <a:rPr lang="en-US" b="1" dirty="0"/>
              <a:t>Step 4 - </a:t>
            </a:r>
            <a:r>
              <a:rPr lang="en-US" dirty="0"/>
              <a:t>If it is </a:t>
            </a:r>
            <a:r>
              <a:rPr lang="en-US" b="1" dirty="0"/>
              <a:t>Not Empty</a:t>
            </a:r>
            <a:r>
              <a:rPr lang="en-US" dirty="0"/>
              <a:t> then, set </a:t>
            </a:r>
            <a:r>
              <a:rPr lang="en-US" b="1" dirty="0" err="1"/>
              <a:t>newNode→next</a:t>
            </a:r>
            <a:r>
              <a:rPr lang="en-US" dirty="0"/>
              <a:t> = </a:t>
            </a:r>
            <a:r>
              <a:rPr lang="en-US" b="1" dirty="0"/>
              <a:t>head</a:t>
            </a:r>
            <a:r>
              <a:rPr lang="en-US" dirty="0"/>
              <a:t> and </a:t>
            </a:r>
            <a:r>
              <a:rPr lang="en-US" b="1" dirty="0"/>
              <a:t>head</a:t>
            </a:r>
            <a:r>
              <a:rPr lang="en-US" dirty="0"/>
              <a:t> = </a:t>
            </a:r>
            <a:r>
              <a:rPr lang="en-US" b="1" dirty="0" err="1"/>
              <a:t>newNode</a:t>
            </a:r>
            <a:r>
              <a:rPr lang="en-US" dirty="0"/>
              <a:t>.</a:t>
            </a:r>
          </a:p>
          <a:p>
            <a:pPr marL="0" indent="0">
              <a:buNone/>
            </a:pPr>
            <a:endParaRPr lang="en-IN" dirty="0"/>
          </a:p>
        </p:txBody>
      </p:sp>
    </p:spTree>
    <p:extLst>
      <p:ext uri="{BB962C8B-B14F-4D97-AF65-F5344CB8AC3E}">
        <p14:creationId xmlns:p14="http://schemas.microsoft.com/office/powerpoint/2010/main" val="5980665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Insertion Operation</a:t>
            </a:r>
          </a:p>
          <a:p>
            <a:r>
              <a:rPr lang="en-US" dirty="0"/>
              <a:t>Adding a new node in linked list is a more than one step activity. We shall learn this with diagrams here. </a:t>
            </a:r>
            <a:endParaRPr lang="en-US" dirty="0" smtClean="0"/>
          </a:p>
          <a:p>
            <a:r>
              <a:rPr lang="en-US" dirty="0" smtClean="0"/>
              <a:t>First</a:t>
            </a:r>
            <a:r>
              <a:rPr lang="en-US" dirty="0"/>
              <a:t>, create a node using the same structure and find the location where it has to be inserted.</a:t>
            </a:r>
          </a:p>
          <a:p>
            <a:pPr marL="0" indent="0">
              <a:buNone/>
            </a:pPr>
            <a:endParaRPr lang="en-IN" dirty="0"/>
          </a:p>
        </p:txBody>
      </p:sp>
    </p:spTree>
    <p:extLst>
      <p:ext uri="{BB962C8B-B14F-4D97-AF65-F5344CB8AC3E}">
        <p14:creationId xmlns:p14="http://schemas.microsoft.com/office/powerpoint/2010/main" val="12576306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descr="Insertion Opera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8500" y="3172619"/>
            <a:ext cx="5715000" cy="165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7650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Imagine that we are inserting a node B (</a:t>
            </a:r>
            <a:r>
              <a:rPr lang="en-US" dirty="0" err="1"/>
              <a:t>NewNode</a:t>
            </a:r>
            <a:r>
              <a:rPr lang="en-US" dirty="0"/>
              <a:t>), between A (</a:t>
            </a:r>
            <a:r>
              <a:rPr lang="en-US" dirty="0" err="1"/>
              <a:t>LeftNode</a:t>
            </a:r>
            <a:r>
              <a:rPr lang="en-US" dirty="0"/>
              <a:t>) and C (</a:t>
            </a:r>
            <a:r>
              <a:rPr lang="en-US" dirty="0" err="1"/>
              <a:t>RightNode</a:t>
            </a:r>
            <a:r>
              <a:rPr lang="en-US" dirty="0"/>
              <a:t>). Then point </a:t>
            </a:r>
            <a:r>
              <a:rPr lang="en-US" dirty="0" err="1"/>
              <a:t>B.next</a:t>
            </a:r>
            <a:r>
              <a:rPr lang="en-US" dirty="0"/>
              <a:t> to C </a:t>
            </a:r>
            <a:r>
              <a:rPr lang="en-US" dirty="0" smtClean="0"/>
              <a:t>−</a:t>
            </a:r>
          </a:p>
          <a:p>
            <a:r>
              <a:rPr lang="en-IN" dirty="0" err="1"/>
              <a:t>NewNode.next</a:t>
            </a:r>
            <a:r>
              <a:rPr lang="en-IN" dirty="0"/>
              <a:t> −&gt; </a:t>
            </a:r>
            <a:r>
              <a:rPr lang="en-IN" dirty="0" err="1"/>
              <a:t>RightNode</a:t>
            </a:r>
            <a:r>
              <a:rPr lang="en-IN" dirty="0"/>
              <a:t>;</a:t>
            </a:r>
          </a:p>
        </p:txBody>
      </p:sp>
    </p:spTree>
    <p:extLst>
      <p:ext uri="{BB962C8B-B14F-4D97-AF65-F5344CB8AC3E}">
        <p14:creationId xmlns:p14="http://schemas.microsoft.com/office/powerpoint/2010/main" val="23781594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Point To The New Nod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8500" y="3172619"/>
            <a:ext cx="5715000" cy="165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0156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Now, the next node at the left should point to the new node.</a:t>
            </a:r>
          </a:p>
          <a:p>
            <a:endParaRPr lang="en-US" dirty="0"/>
          </a:p>
          <a:p>
            <a:r>
              <a:rPr lang="en-US" dirty="0" err="1"/>
              <a:t>LeftNode.next</a:t>
            </a:r>
            <a:r>
              <a:rPr lang="en-US" dirty="0"/>
              <a:t> −&gt; </a:t>
            </a:r>
            <a:r>
              <a:rPr lang="en-US" dirty="0" err="1"/>
              <a:t>NewNode</a:t>
            </a:r>
            <a:r>
              <a:rPr lang="en-US" dirty="0"/>
              <a:t>;</a:t>
            </a:r>
            <a:endParaRPr lang="en-IN" dirty="0"/>
          </a:p>
        </p:txBody>
      </p:sp>
    </p:spTree>
    <p:extLst>
      <p:ext uri="{BB962C8B-B14F-4D97-AF65-F5344CB8AC3E}">
        <p14:creationId xmlns:p14="http://schemas.microsoft.com/office/powerpoint/2010/main" val="24708888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to create node in </a:t>
            </a:r>
            <a:r>
              <a:rPr lang="en-IN" dirty="0" err="1" smtClean="0"/>
              <a:t>javascript</a:t>
            </a:r>
            <a:endParaRPr lang="en-IN" dirty="0"/>
          </a:p>
        </p:txBody>
      </p:sp>
      <p:sp>
        <p:nvSpPr>
          <p:cNvPr id="3" name="Content Placeholder 2"/>
          <p:cNvSpPr>
            <a:spLocks noGrp="1"/>
          </p:cNvSpPr>
          <p:nvPr>
            <p:ph idx="1"/>
          </p:nvPr>
        </p:nvSpPr>
        <p:spPr/>
        <p:txBody>
          <a:bodyPr/>
          <a:lstStyle/>
          <a:p>
            <a:pPr marL="0" indent="0">
              <a:buNone/>
            </a:pPr>
            <a:r>
              <a:rPr lang="en-IN" dirty="0"/>
              <a:t>class Node {</a:t>
            </a:r>
          </a:p>
          <a:p>
            <a:pPr marL="0" indent="0">
              <a:buNone/>
            </a:pPr>
            <a:r>
              <a:rPr lang="en-IN" dirty="0"/>
              <a:t>  constructor(data) {</a:t>
            </a:r>
          </a:p>
          <a:p>
            <a:pPr marL="0" indent="0">
              <a:buNone/>
            </a:pPr>
            <a:r>
              <a:rPr lang="en-IN" dirty="0"/>
              <a:t>    </a:t>
            </a:r>
            <a:r>
              <a:rPr lang="en-IN" dirty="0" err="1"/>
              <a:t>this.value</a:t>
            </a:r>
            <a:r>
              <a:rPr lang="en-IN" dirty="0"/>
              <a:t> = data;</a:t>
            </a:r>
          </a:p>
          <a:p>
            <a:pPr marL="0" indent="0">
              <a:buNone/>
            </a:pPr>
            <a:r>
              <a:rPr lang="en-IN" dirty="0"/>
              <a:t>    </a:t>
            </a:r>
            <a:r>
              <a:rPr lang="en-IN" dirty="0" err="1"/>
              <a:t>this.next</a:t>
            </a:r>
            <a:r>
              <a:rPr lang="en-IN" dirty="0"/>
              <a:t> = null;</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20757445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to create a linked list</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dirty="0"/>
              <a:t>class </a:t>
            </a:r>
            <a:r>
              <a:rPr lang="en-IN" dirty="0" err="1"/>
              <a:t>Linkedlist</a:t>
            </a:r>
            <a:r>
              <a:rPr lang="en-IN" dirty="0"/>
              <a:t> {</a:t>
            </a:r>
          </a:p>
          <a:p>
            <a:pPr marL="0" indent="0">
              <a:buNone/>
            </a:pPr>
            <a:r>
              <a:rPr lang="en-IN" dirty="0"/>
              <a:t>  constructor(data) {</a:t>
            </a:r>
          </a:p>
          <a:p>
            <a:pPr marL="0" indent="0">
              <a:buNone/>
            </a:pPr>
            <a:r>
              <a:rPr lang="en-IN" dirty="0"/>
              <a:t>    //create a node</a:t>
            </a:r>
          </a:p>
          <a:p>
            <a:pPr marL="0" indent="0">
              <a:buNone/>
            </a:pPr>
            <a:r>
              <a:rPr lang="en-IN" dirty="0"/>
              <a:t>    </a:t>
            </a:r>
            <a:r>
              <a:rPr lang="en-IN" dirty="0" err="1"/>
              <a:t>const</a:t>
            </a:r>
            <a:r>
              <a:rPr lang="en-IN" dirty="0"/>
              <a:t> </a:t>
            </a:r>
            <a:r>
              <a:rPr lang="en-IN" dirty="0" err="1"/>
              <a:t>newnode</a:t>
            </a:r>
            <a:r>
              <a:rPr lang="en-IN" dirty="0"/>
              <a:t> = new Node(data);</a:t>
            </a:r>
          </a:p>
          <a:p>
            <a:pPr marL="0" indent="0">
              <a:buNone/>
            </a:pPr>
            <a:r>
              <a:rPr lang="en-IN" dirty="0"/>
              <a:t>    //initialize head and tail</a:t>
            </a:r>
          </a:p>
          <a:p>
            <a:pPr marL="0" indent="0">
              <a:buNone/>
            </a:pPr>
            <a:r>
              <a:rPr lang="en-IN" dirty="0"/>
              <a:t>    </a:t>
            </a:r>
            <a:r>
              <a:rPr lang="en-IN" dirty="0" err="1"/>
              <a:t>this.head</a:t>
            </a:r>
            <a:r>
              <a:rPr lang="en-IN" dirty="0"/>
              <a:t> = </a:t>
            </a:r>
            <a:r>
              <a:rPr lang="en-IN" dirty="0" err="1"/>
              <a:t>newnode</a:t>
            </a:r>
            <a:r>
              <a:rPr lang="en-IN" dirty="0"/>
              <a:t>;</a:t>
            </a:r>
          </a:p>
          <a:p>
            <a:pPr marL="0" indent="0">
              <a:buNone/>
            </a:pPr>
            <a:r>
              <a:rPr lang="en-IN" dirty="0"/>
              <a:t>    </a:t>
            </a:r>
            <a:r>
              <a:rPr lang="en-IN" dirty="0" err="1"/>
              <a:t>this.tail</a:t>
            </a:r>
            <a:r>
              <a:rPr lang="en-IN" dirty="0"/>
              <a:t> = </a:t>
            </a:r>
            <a:r>
              <a:rPr lang="en-IN" dirty="0" err="1"/>
              <a:t>newnode</a:t>
            </a:r>
            <a:r>
              <a:rPr lang="en-IN" dirty="0"/>
              <a:t>;</a:t>
            </a:r>
          </a:p>
          <a:p>
            <a:pPr marL="0" indent="0">
              <a:buNone/>
            </a:pPr>
            <a:r>
              <a:rPr lang="en-IN" dirty="0"/>
              <a:t>    //initialize </a:t>
            </a:r>
            <a:r>
              <a:rPr lang="en-IN" dirty="0" err="1"/>
              <a:t>lenth</a:t>
            </a:r>
            <a:endParaRPr lang="en-IN" dirty="0"/>
          </a:p>
          <a:p>
            <a:pPr marL="0" indent="0">
              <a:buNone/>
            </a:pPr>
            <a:r>
              <a:rPr lang="en-IN" dirty="0"/>
              <a:t>    </a:t>
            </a:r>
            <a:r>
              <a:rPr lang="en-IN" dirty="0" err="1"/>
              <a:t>this.length</a:t>
            </a:r>
            <a:r>
              <a:rPr lang="en-IN" dirty="0"/>
              <a:t> = 1;</a:t>
            </a:r>
          </a:p>
          <a:p>
            <a:pPr marL="0" indent="0">
              <a:buNone/>
            </a:pPr>
            <a:r>
              <a:rPr lang="en-IN" dirty="0"/>
              <a:t>  }</a:t>
            </a:r>
          </a:p>
          <a:p>
            <a:endParaRPr lang="en-IN" dirty="0"/>
          </a:p>
        </p:txBody>
      </p:sp>
    </p:spTree>
    <p:extLst>
      <p:ext uri="{BB962C8B-B14F-4D97-AF65-F5344CB8AC3E}">
        <p14:creationId xmlns:p14="http://schemas.microsoft.com/office/powerpoint/2010/main" val="36959706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Algo</a:t>
            </a:r>
            <a:r>
              <a:rPr lang="en-IN" dirty="0" smtClean="0"/>
              <a:t> for the </a:t>
            </a:r>
            <a:r>
              <a:rPr lang="en-IN" dirty="0"/>
              <a:t>Insertion at Beginning</a:t>
            </a:r>
            <a:br>
              <a:rPr lang="en-IN" dirty="0"/>
            </a:br>
            <a:endParaRPr lang="en-IN" dirty="0"/>
          </a:p>
        </p:txBody>
      </p:sp>
      <p:sp>
        <p:nvSpPr>
          <p:cNvPr id="3" name="Content Placeholder 2"/>
          <p:cNvSpPr>
            <a:spLocks noGrp="1"/>
          </p:cNvSpPr>
          <p:nvPr>
            <p:ph idx="1"/>
          </p:nvPr>
        </p:nvSpPr>
        <p:spPr/>
        <p:txBody>
          <a:bodyPr/>
          <a:lstStyle/>
          <a:p>
            <a:r>
              <a:rPr lang="en-US" dirty="0"/>
              <a:t>1. START</a:t>
            </a:r>
          </a:p>
          <a:p>
            <a:r>
              <a:rPr lang="en-US" dirty="0"/>
              <a:t>2. Create a node to store the data</a:t>
            </a:r>
          </a:p>
          <a:p>
            <a:r>
              <a:rPr lang="en-US" dirty="0"/>
              <a:t>3. Check if the list is empty</a:t>
            </a:r>
          </a:p>
          <a:p>
            <a:r>
              <a:rPr lang="en-US" dirty="0"/>
              <a:t>4. If the list is empty, add the data to the node and assign the head pointer to it.</a:t>
            </a:r>
          </a:p>
          <a:p>
            <a:r>
              <a:rPr lang="en-US" dirty="0"/>
              <a:t>5 If the list is not empty, add the data to a node and link to the current head. Assign the head to the newly added node.</a:t>
            </a:r>
          </a:p>
          <a:p>
            <a:r>
              <a:rPr lang="en-US" dirty="0"/>
              <a:t>6. </a:t>
            </a:r>
            <a:r>
              <a:rPr lang="en-US"/>
              <a:t>END</a:t>
            </a:r>
            <a:endParaRPr lang="en-IN" dirty="0"/>
          </a:p>
        </p:txBody>
      </p:sp>
    </p:spTree>
    <p:extLst>
      <p:ext uri="{BB962C8B-B14F-4D97-AF65-F5344CB8AC3E}">
        <p14:creationId xmlns:p14="http://schemas.microsoft.com/office/powerpoint/2010/main" val="40744922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Insert at the start</a:t>
            </a:r>
            <a:endParaRPr lang="en-IN" dirty="0"/>
          </a:p>
        </p:txBody>
      </p:sp>
      <p:sp>
        <p:nvSpPr>
          <p:cNvPr id="3" name="Content Placeholder 2"/>
          <p:cNvSpPr>
            <a:spLocks noGrp="1"/>
          </p:cNvSpPr>
          <p:nvPr>
            <p:ph idx="1"/>
          </p:nvPr>
        </p:nvSpPr>
        <p:spPr>
          <a:xfrm>
            <a:off x="838200" y="487017"/>
            <a:ext cx="10515600" cy="6768548"/>
          </a:xfrm>
        </p:spPr>
        <p:txBody>
          <a:bodyPr>
            <a:normAutofit lnSpcReduction="10000"/>
          </a:bodyPr>
          <a:lstStyle/>
          <a:p>
            <a:pPr marL="0" indent="0">
              <a:buNone/>
            </a:pPr>
            <a:r>
              <a:rPr lang="en-IN" dirty="0"/>
              <a:t>push(value) {</a:t>
            </a:r>
          </a:p>
          <a:p>
            <a:pPr marL="0" indent="0">
              <a:buNone/>
            </a:pPr>
            <a:r>
              <a:rPr lang="en-IN" dirty="0"/>
              <a:t>    </a:t>
            </a:r>
            <a:r>
              <a:rPr lang="en-IN" dirty="0" err="1"/>
              <a:t>const</a:t>
            </a:r>
            <a:r>
              <a:rPr lang="en-IN" dirty="0"/>
              <a:t> </a:t>
            </a:r>
            <a:r>
              <a:rPr lang="en-IN" dirty="0" err="1"/>
              <a:t>newNode</a:t>
            </a:r>
            <a:r>
              <a:rPr lang="en-IN" dirty="0"/>
              <a:t> = new Node(value);</a:t>
            </a:r>
          </a:p>
          <a:p>
            <a:pPr marL="0" indent="0">
              <a:buNone/>
            </a:pPr>
            <a:r>
              <a:rPr lang="en-IN" dirty="0"/>
              <a:t>    // adding a node to an empty </a:t>
            </a:r>
            <a:r>
              <a:rPr lang="en-IN" dirty="0" err="1"/>
              <a:t>linkedlist</a:t>
            </a:r>
            <a:endParaRPr lang="en-IN" dirty="0"/>
          </a:p>
          <a:p>
            <a:pPr marL="0" indent="0">
              <a:buNone/>
            </a:pPr>
            <a:r>
              <a:rPr lang="en-IN" dirty="0"/>
              <a:t>    if (!</a:t>
            </a:r>
            <a:r>
              <a:rPr lang="en-IN" dirty="0" err="1"/>
              <a:t>this.length</a:t>
            </a:r>
            <a:r>
              <a:rPr lang="en-IN" dirty="0"/>
              <a:t>) {</a:t>
            </a:r>
          </a:p>
          <a:p>
            <a:pPr marL="0" indent="0">
              <a:buNone/>
            </a:pPr>
            <a:r>
              <a:rPr lang="en-IN" dirty="0"/>
              <a:t>      </a:t>
            </a:r>
            <a:r>
              <a:rPr lang="en-IN" dirty="0" err="1"/>
              <a:t>this.head</a:t>
            </a:r>
            <a:r>
              <a:rPr lang="en-IN" dirty="0"/>
              <a:t> = </a:t>
            </a:r>
            <a:r>
              <a:rPr lang="en-IN" dirty="0" err="1"/>
              <a:t>newNode</a:t>
            </a:r>
            <a:r>
              <a:rPr lang="en-IN" dirty="0"/>
              <a:t>;</a:t>
            </a:r>
          </a:p>
          <a:p>
            <a:pPr marL="0" indent="0">
              <a:buNone/>
            </a:pPr>
            <a:r>
              <a:rPr lang="en-IN" dirty="0"/>
              <a:t>      </a:t>
            </a:r>
            <a:r>
              <a:rPr lang="en-IN" dirty="0" err="1"/>
              <a:t>this.tail</a:t>
            </a:r>
            <a:r>
              <a:rPr lang="en-IN" dirty="0"/>
              <a:t> = </a:t>
            </a:r>
            <a:r>
              <a:rPr lang="en-IN" dirty="0" err="1"/>
              <a:t>this.head</a:t>
            </a:r>
            <a:r>
              <a:rPr lang="en-IN" dirty="0"/>
              <a:t>;</a:t>
            </a:r>
          </a:p>
          <a:p>
            <a:pPr marL="0" indent="0">
              <a:buNone/>
            </a:pPr>
            <a:r>
              <a:rPr lang="en-IN" dirty="0"/>
              <a:t>    } else {</a:t>
            </a:r>
          </a:p>
          <a:p>
            <a:pPr marL="0" indent="0">
              <a:buNone/>
            </a:pPr>
            <a:r>
              <a:rPr lang="en-IN" dirty="0"/>
              <a:t>      </a:t>
            </a:r>
            <a:r>
              <a:rPr lang="en-IN" dirty="0" err="1"/>
              <a:t>this.tail.next</a:t>
            </a:r>
            <a:r>
              <a:rPr lang="en-IN" dirty="0"/>
              <a:t> = </a:t>
            </a:r>
            <a:r>
              <a:rPr lang="en-IN" dirty="0" err="1"/>
              <a:t>newNode</a:t>
            </a:r>
            <a:r>
              <a:rPr lang="en-IN" dirty="0"/>
              <a:t>;</a:t>
            </a:r>
          </a:p>
          <a:p>
            <a:pPr marL="0" indent="0">
              <a:buNone/>
            </a:pPr>
            <a:r>
              <a:rPr lang="en-IN" dirty="0"/>
              <a:t>      </a:t>
            </a:r>
            <a:r>
              <a:rPr lang="en-IN" dirty="0" err="1"/>
              <a:t>this.tail</a:t>
            </a:r>
            <a:r>
              <a:rPr lang="en-IN" dirty="0"/>
              <a:t> = </a:t>
            </a:r>
            <a:r>
              <a:rPr lang="en-IN" dirty="0" err="1"/>
              <a:t>newNode</a:t>
            </a:r>
            <a:r>
              <a:rPr lang="en-IN" dirty="0"/>
              <a:t>;</a:t>
            </a:r>
          </a:p>
          <a:p>
            <a:pPr marL="0" indent="0">
              <a:buNone/>
            </a:pPr>
            <a:r>
              <a:rPr lang="en-IN" dirty="0"/>
              <a:t>    }</a:t>
            </a:r>
          </a:p>
          <a:p>
            <a:pPr marL="0" indent="0">
              <a:buNone/>
            </a:pPr>
            <a:r>
              <a:rPr lang="en-IN" dirty="0"/>
              <a:t>    </a:t>
            </a:r>
            <a:r>
              <a:rPr lang="en-IN" dirty="0" err="1"/>
              <a:t>this.length</a:t>
            </a:r>
            <a:r>
              <a:rPr lang="en-IN" dirty="0"/>
              <a:t>++;</a:t>
            </a:r>
          </a:p>
          <a:p>
            <a:pPr marL="0" indent="0">
              <a:buNone/>
            </a:pPr>
            <a:r>
              <a:rPr lang="en-IN" dirty="0"/>
              <a:t>    return this;</a:t>
            </a:r>
          </a:p>
          <a:p>
            <a:pPr marL="0" indent="0">
              <a:buNone/>
            </a:pPr>
            <a:r>
              <a:rPr lang="en-IN" dirty="0"/>
              <a:t>  }</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19012261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 from end</a:t>
            </a:r>
            <a:endParaRPr lang="en-IN" dirty="0"/>
          </a:p>
        </p:txBody>
      </p:sp>
      <p:sp>
        <p:nvSpPr>
          <p:cNvPr id="3" name="Content Placeholder 2"/>
          <p:cNvSpPr>
            <a:spLocks noGrp="1"/>
          </p:cNvSpPr>
          <p:nvPr>
            <p:ph idx="1"/>
          </p:nvPr>
        </p:nvSpPr>
        <p:spPr/>
        <p:txBody>
          <a:bodyPr/>
          <a:lstStyle/>
          <a:p>
            <a:r>
              <a:rPr lang="en-US" dirty="0"/>
              <a:t>1. START</a:t>
            </a:r>
          </a:p>
          <a:p>
            <a:r>
              <a:rPr lang="en-US" dirty="0"/>
              <a:t>2. Create a new node and assign the data</a:t>
            </a:r>
          </a:p>
          <a:p>
            <a:r>
              <a:rPr lang="en-US" dirty="0"/>
              <a:t>3. Find the last node</a:t>
            </a:r>
          </a:p>
          <a:p>
            <a:r>
              <a:rPr lang="en-US" dirty="0"/>
              <a:t>4. Point the last node to new node</a:t>
            </a:r>
          </a:p>
          <a:p>
            <a:r>
              <a:rPr lang="en-US" dirty="0"/>
              <a:t>5. END</a:t>
            </a:r>
            <a:endParaRPr lang="en-IN" dirty="0"/>
          </a:p>
        </p:txBody>
      </p:sp>
    </p:spTree>
    <p:extLst>
      <p:ext uri="{BB962C8B-B14F-4D97-AF65-F5344CB8AC3E}">
        <p14:creationId xmlns:p14="http://schemas.microsoft.com/office/powerpoint/2010/main" val="39964692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pPr marL="0" indent="0">
              <a:buNone/>
            </a:pPr>
            <a:r>
              <a:rPr lang="en-IN" dirty="0"/>
              <a:t>shift() {</a:t>
            </a:r>
          </a:p>
          <a:p>
            <a:pPr marL="0" indent="0">
              <a:buNone/>
            </a:pPr>
            <a:r>
              <a:rPr lang="en-IN" dirty="0"/>
              <a:t>    if (!</a:t>
            </a:r>
            <a:r>
              <a:rPr lang="en-IN" dirty="0" err="1"/>
              <a:t>this.length</a:t>
            </a:r>
            <a:r>
              <a:rPr lang="en-IN" dirty="0"/>
              <a:t>) return undefined;</a:t>
            </a:r>
          </a:p>
          <a:p>
            <a:pPr marL="0" indent="0">
              <a:buNone/>
            </a:pPr>
            <a:r>
              <a:rPr lang="en-IN" dirty="0"/>
              <a:t>    let temp = </a:t>
            </a:r>
            <a:r>
              <a:rPr lang="en-IN" dirty="0" err="1"/>
              <a:t>this.head</a:t>
            </a:r>
            <a:r>
              <a:rPr lang="en-IN" dirty="0"/>
              <a:t>;</a:t>
            </a:r>
          </a:p>
          <a:p>
            <a:pPr marL="0" indent="0">
              <a:buNone/>
            </a:pPr>
            <a:r>
              <a:rPr lang="en-IN" dirty="0"/>
              <a:t>    if (</a:t>
            </a:r>
            <a:r>
              <a:rPr lang="en-IN" dirty="0" err="1"/>
              <a:t>this.length</a:t>
            </a:r>
            <a:r>
              <a:rPr lang="en-IN" dirty="0"/>
              <a:t> === 1) {</a:t>
            </a:r>
          </a:p>
          <a:p>
            <a:pPr marL="0" indent="0">
              <a:buNone/>
            </a:pPr>
            <a:r>
              <a:rPr lang="en-IN" dirty="0"/>
              <a:t>      </a:t>
            </a:r>
            <a:r>
              <a:rPr lang="en-IN" dirty="0" err="1"/>
              <a:t>this.head</a:t>
            </a:r>
            <a:r>
              <a:rPr lang="en-IN" dirty="0"/>
              <a:t> = null; // this will beak pointer which head is pointing</a:t>
            </a:r>
          </a:p>
          <a:p>
            <a:pPr marL="0" indent="0">
              <a:buNone/>
            </a:pPr>
            <a:r>
              <a:rPr lang="en-IN" dirty="0"/>
              <a:t>      </a:t>
            </a:r>
            <a:r>
              <a:rPr lang="en-IN" dirty="0" err="1"/>
              <a:t>this.tail</a:t>
            </a:r>
            <a:r>
              <a:rPr lang="en-IN" dirty="0"/>
              <a:t> = null;</a:t>
            </a:r>
          </a:p>
          <a:p>
            <a:pPr marL="0" indent="0">
              <a:buNone/>
            </a:pPr>
            <a:r>
              <a:rPr lang="en-IN" dirty="0"/>
              <a:t>    } else {</a:t>
            </a:r>
          </a:p>
          <a:p>
            <a:pPr marL="0" indent="0">
              <a:buNone/>
            </a:pPr>
            <a:r>
              <a:rPr lang="en-IN" dirty="0"/>
              <a:t>      </a:t>
            </a:r>
            <a:r>
              <a:rPr lang="en-IN" dirty="0" err="1"/>
              <a:t>this.head</a:t>
            </a:r>
            <a:r>
              <a:rPr lang="en-IN" dirty="0"/>
              <a:t> = </a:t>
            </a:r>
            <a:r>
              <a:rPr lang="en-IN" dirty="0" err="1"/>
              <a:t>this.head.next</a:t>
            </a:r>
            <a:r>
              <a:rPr lang="en-IN" dirty="0"/>
              <a:t>;</a:t>
            </a:r>
          </a:p>
          <a:p>
            <a:pPr marL="0" indent="0">
              <a:buNone/>
            </a:pPr>
            <a:r>
              <a:rPr lang="en-IN" dirty="0"/>
              <a:t>      </a:t>
            </a:r>
            <a:r>
              <a:rPr lang="en-IN" dirty="0" err="1"/>
              <a:t>temp.next</a:t>
            </a:r>
            <a:r>
              <a:rPr lang="en-IN" dirty="0"/>
              <a:t> = null;</a:t>
            </a:r>
          </a:p>
          <a:p>
            <a:pPr marL="0" indent="0">
              <a:buNone/>
            </a:pPr>
            <a:r>
              <a:rPr lang="en-IN" dirty="0"/>
              <a:t>    }</a:t>
            </a:r>
          </a:p>
          <a:p>
            <a:pPr marL="0" indent="0">
              <a:buNone/>
            </a:pPr>
            <a:r>
              <a:rPr lang="en-IN" dirty="0"/>
              <a:t>    </a:t>
            </a:r>
            <a:r>
              <a:rPr lang="en-IN" dirty="0" err="1"/>
              <a:t>this.length</a:t>
            </a:r>
            <a:r>
              <a:rPr lang="en-IN" dirty="0"/>
              <a:t>--;</a:t>
            </a:r>
          </a:p>
          <a:p>
            <a:pPr marL="0" indent="0">
              <a:buNone/>
            </a:pPr>
            <a:r>
              <a:rPr lang="en-IN" dirty="0"/>
              <a:t>    return temp;</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301070949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Deletion</a:t>
            </a:r>
            <a:endParaRPr lang="en-IN" dirty="0"/>
          </a:p>
        </p:txBody>
      </p:sp>
      <p:sp>
        <p:nvSpPr>
          <p:cNvPr id="3" name="Content Placeholder 2"/>
          <p:cNvSpPr>
            <a:spLocks noGrp="1"/>
          </p:cNvSpPr>
          <p:nvPr>
            <p:ph idx="1"/>
          </p:nvPr>
        </p:nvSpPr>
        <p:spPr/>
        <p:txBody>
          <a:bodyPr/>
          <a:lstStyle/>
          <a:p>
            <a:r>
              <a:rPr lang="en-US" dirty="0"/>
              <a:t>First, locate the target node to be removed, by using searching algorithms</a:t>
            </a:r>
            <a:r>
              <a:rPr lang="en-US" dirty="0" smtClean="0"/>
              <a:t>.</a:t>
            </a:r>
          </a:p>
          <a:p>
            <a:endParaRPr lang="en-IN" dirty="0"/>
          </a:p>
        </p:txBody>
      </p:sp>
      <p:pic>
        <p:nvPicPr>
          <p:cNvPr id="4" name="Picture 3"/>
          <p:cNvPicPr>
            <a:picLocks noChangeAspect="1"/>
          </p:cNvPicPr>
          <p:nvPr/>
        </p:nvPicPr>
        <p:blipFill>
          <a:blip r:embed="rId2"/>
          <a:stretch>
            <a:fillRect/>
          </a:stretch>
        </p:blipFill>
        <p:spPr>
          <a:xfrm>
            <a:off x="3238500" y="2919412"/>
            <a:ext cx="7028622" cy="2646501"/>
          </a:xfrm>
          <a:prstGeom prst="rect">
            <a:avLst/>
          </a:prstGeom>
        </p:spPr>
      </p:pic>
    </p:spTree>
    <p:extLst>
      <p:ext uri="{BB962C8B-B14F-4D97-AF65-F5344CB8AC3E}">
        <p14:creationId xmlns:p14="http://schemas.microsoft.com/office/powerpoint/2010/main" val="1950177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The left (previous) node of the target node now should point to the next node of the target node </a:t>
            </a:r>
            <a:r>
              <a:rPr lang="en-US" dirty="0" smtClean="0"/>
              <a:t>−</a:t>
            </a:r>
          </a:p>
          <a:p>
            <a:r>
              <a:rPr lang="en-IN" dirty="0" err="1"/>
              <a:t>LeftNode.next</a:t>
            </a:r>
            <a:r>
              <a:rPr lang="en-IN" dirty="0"/>
              <a:t> −&gt; </a:t>
            </a:r>
            <a:r>
              <a:rPr lang="en-IN" dirty="0" err="1"/>
              <a:t>TargetNode.next</a:t>
            </a:r>
            <a:r>
              <a:rPr lang="en-IN" dirty="0" smtClean="0"/>
              <a:t>;</a:t>
            </a:r>
          </a:p>
          <a:p>
            <a:endParaRPr lang="en-IN" dirty="0" smtClean="0"/>
          </a:p>
          <a:p>
            <a:endParaRPr lang="en-IN" dirty="0"/>
          </a:p>
        </p:txBody>
      </p:sp>
    </p:spTree>
    <p:extLst>
      <p:ext uri="{BB962C8B-B14F-4D97-AF65-F5344CB8AC3E}">
        <p14:creationId xmlns:p14="http://schemas.microsoft.com/office/powerpoint/2010/main" val="3456503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Linked List Delet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0687" y="1987826"/>
            <a:ext cx="7432813" cy="2523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908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This will remove the link that was pointing to the target node. Now, using the following code, we will remove what the target node is pointing at.</a:t>
            </a:r>
          </a:p>
          <a:p>
            <a:endParaRPr lang="en-US" dirty="0"/>
          </a:p>
          <a:p>
            <a:r>
              <a:rPr lang="en-US" dirty="0" err="1"/>
              <a:t>TargetNode.next</a:t>
            </a:r>
            <a:r>
              <a:rPr lang="en-US" dirty="0"/>
              <a:t> −&gt; NULL;</a:t>
            </a:r>
            <a:endParaRPr lang="en-IN" dirty="0"/>
          </a:p>
        </p:txBody>
      </p:sp>
    </p:spTree>
    <p:extLst>
      <p:ext uri="{BB962C8B-B14F-4D97-AF65-F5344CB8AC3E}">
        <p14:creationId xmlns:p14="http://schemas.microsoft.com/office/powerpoint/2010/main" val="1777505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descr="Pointing Target Nod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2574" y="2047462"/>
            <a:ext cx="7740926" cy="2463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78514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Deletion at Beginning</a:t>
            </a:r>
          </a:p>
          <a:p>
            <a:r>
              <a:rPr lang="en-US" dirty="0"/>
              <a:t>In this deletion operation of the linked, we are deleting an element from the beginning of the list. For this, we point the head to the second node.</a:t>
            </a:r>
          </a:p>
          <a:p>
            <a:r>
              <a:rPr lang="en-US" dirty="0"/>
              <a:t>Algorithm</a:t>
            </a:r>
          </a:p>
          <a:p>
            <a:r>
              <a:rPr lang="en-US" dirty="0"/>
              <a:t>1. START</a:t>
            </a:r>
          </a:p>
          <a:p>
            <a:r>
              <a:rPr lang="en-US" dirty="0"/>
              <a:t>2. Assign the head pointer to the next node in the list</a:t>
            </a:r>
          </a:p>
          <a:p>
            <a:r>
              <a:rPr lang="en-US" dirty="0"/>
              <a:t>3. END</a:t>
            </a:r>
            <a:endParaRPr lang="en-IN" dirty="0"/>
          </a:p>
        </p:txBody>
      </p:sp>
    </p:spTree>
    <p:extLst>
      <p:ext uri="{BB962C8B-B14F-4D97-AF65-F5344CB8AC3E}">
        <p14:creationId xmlns:p14="http://schemas.microsoft.com/office/powerpoint/2010/main" val="25327882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pPr marL="0" indent="0">
              <a:buNone/>
            </a:pPr>
            <a:r>
              <a:rPr lang="en-IN" dirty="0"/>
              <a:t>shift() {</a:t>
            </a:r>
          </a:p>
          <a:p>
            <a:pPr marL="0" indent="0">
              <a:buNone/>
            </a:pPr>
            <a:r>
              <a:rPr lang="en-IN" dirty="0"/>
              <a:t>    if (!</a:t>
            </a:r>
            <a:r>
              <a:rPr lang="en-IN" dirty="0" err="1"/>
              <a:t>this.length</a:t>
            </a:r>
            <a:r>
              <a:rPr lang="en-IN" dirty="0"/>
              <a:t>) return undefined;</a:t>
            </a:r>
          </a:p>
          <a:p>
            <a:pPr marL="0" indent="0">
              <a:buNone/>
            </a:pPr>
            <a:r>
              <a:rPr lang="en-IN" dirty="0"/>
              <a:t>    let temp = </a:t>
            </a:r>
            <a:r>
              <a:rPr lang="en-IN" dirty="0" err="1"/>
              <a:t>this.head</a:t>
            </a:r>
            <a:r>
              <a:rPr lang="en-IN" dirty="0"/>
              <a:t>;</a:t>
            </a:r>
          </a:p>
          <a:p>
            <a:pPr marL="0" indent="0">
              <a:buNone/>
            </a:pPr>
            <a:r>
              <a:rPr lang="en-IN" dirty="0"/>
              <a:t>    if (</a:t>
            </a:r>
            <a:r>
              <a:rPr lang="en-IN" dirty="0" err="1"/>
              <a:t>this.length</a:t>
            </a:r>
            <a:r>
              <a:rPr lang="en-IN" dirty="0"/>
              <a:t> === 1) {</a:t>
            </a:r>
          </a:p>
          <a:p>
            <a:pPr marL="0" indent="0">
              <a:buNone/>
            </a:pPr>
            <a:r>
              <a:rPr lang="en-IN" dirty="0"/>
              <a:t>      </a:t>
            </a:r>
            <a:r>
              <a:rPr lang="en-IN" dirty="0" err="1"/>
              <a:t>this.head</a:t>
            </a:r>
            <a:r>
              <a:rPr lang="en-IN" dirty="0"/>
              <a:t> = null; // this will beak pointer which head is pointing</a:t>
            </a:r>
          </a:p>
          <a:p>
            <a:pPr marL="0" indent="0">
              <a:buNone/>
            </a:pPr>
            <a:r>
              <a:rPr lang="en-IN" dirty="0"/>
              <a:t>      </a:t>
            </a:r>
            <a:r>
              <a:rPr lang="en-IN" dirty="0" err="1"/>
              <a:t>this.tail</a:t>
            </a:r>
            <a:r>
              <a:rPr lang="en-IN" dirty="0"/>
              <a:t> = null;</a:t>
            </a:r>
          </a:p>
          <a:p>
            <a:pPr marL="0" indent="0">
              <a:buNone/>
            </a:pPr>
            <a:r>
              <a:rPr lang="en-IN" dirty="0"/>
              <a:t>    } else {</a:t>
            </a:r>
          </a:p>
          <a:p>
            <a:pPr marL="0" indent="0">
              <a:buNone/>
            </a:pPr>
            <a:r>
              <a:rPr lang="en-IN" dirty="0"/>
              <a:t>      </a:t>
            </a:r>
            <a:r>
              <a:rPr lang="en-IN" dirty="0" err="1"/>
              <a:t>this.head</a:t>
            </a:r>
            <a:r>
              <a:rPr lang="en-IN" dirty="0"/>
              <a:t> = </a:t>
            </a:r>
            <a:r>
              <a:rPr lang="en-IN" dirty="0" err="1"/>
              <a:t>this.head.next</a:t>
            </a:r>
            <a:r>
              <a:rPr lang="en-IN" dirty="0"/>
              <a:t>;</a:t>
            </a:r>
          </a:p>
          <a:p>
            <a:pPr marL="0" indent="0">
              <a:buNone/>
            </a:pPr>
            <a:r>
              <a:rPr lang="en-IN" dirty="0"/>
              <a:t>      </a:t>
            </a:r>
            <a:r>
              <a:rPr lang="en-IN" dirty="0" err="1"/>
              <a:t>temp.next</a:t>
            </a:r>
            <a:r>
              <a:rPr lang="en-IN" dirty="0"/>
              <a:t> = null;</a:t>
            </a:r>
          </a:p>
          <a:p>
            <a:pPr marL="0" indent="0">
              <a:buNone/>
            </a:pPr>
            <a:r>
              <a:rPr lang="en-IN" dirty="0"/>
              <a:t>    }</a:t>
            </a:r>
          </a:p>
          <a:p>
            <a:pPr marL="0" indent="0">
              <a:buNone/>
            </a:pPr>
            <a:r>
              <a:rPr lang="en-IN" dirty="0"/>
              <a:t>    </a:t>
            </a:r>
            <a:r>
              <a:rPr lang="en-IN" dirty="0" err="1"/>
              <a:t>this.length</a:t>
            </a:r>
            <a:r>
              <a:rPr lang="en-IN" dirty="0"/>
              <a:t>--;</a:t>
            </a:r>
          </a:p>
          <a:p>
            <a:pPr marL="0" indent="0">
              <a:buNone/>
            </a:pPr>
            <a:r>
              <a:rPr lang="en-IN" dirty="0"/>
              <a:t>    return temp;</a:t>
            </a:r>
          </a:p>
          <a:p>
            <a:pPr marL="0" indent="0">
              <a:buNone/>
            </a:pPr>
            <a:r>
              <a:rPr lang="en-IN" dirty="0"/>
              <a:t>  }</a:t>
            </a:r>
          </a:p>
          <a:p>
            <a:pPr marL="0" indent="0">
              <a:buNone/>
            </a:pPr>
            <a:r>
              <a:rPr lang="en-IN" dirty="0"/>
              <a:t>}</a:t>
            </a:r>
          </a:p>
          <a:p>
            <a:endParaRPr lang="en-IN" dirty="0"/>
          </a:p>
        </p:txBody>
      </p:sp>
    </p:spTree>
    <p:extLst>
      <p:ext uri="{BB962C8B-B14F-4D97-AF65-F5344CB8AC3E}">
        <p14:creationId xmlns:p14="http://schemas.microsoft.com/office/powerpoint/2010/main" val="22506231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Deletion from End</a:t>
            </a:r>
            <a:endParaRPr lang="en-IN" dirty="0"/>
          </a:p>
        </p:txBody>
      </p:sp>
      <p:sp>
        <p:nvSpPr>
          <p:cNvPr id="3" name="Content Placeholder 2"/>
          <p:cNvSpPr>
            <a:spLocks noGrp="1"/>
          </p:cNvSpPr>
          <p:nvPr>
            <p:ph idx="1"/>
          </p:nvPr>
        </p:nvSpPr>
        <p:spPr/>
        <p:txBody>
          <a:bodyPr>
            <a:normAutofit lnSpcReduction="10000"/>
          </a:bodyPr>
          <a:lstStyle/>
          <a:p>
            <a:r>
              <a:rPr lang="en-US" dirty="0"/>
              <a:t>Deletion at Ending</a:t>
            </a:r>
          </a:p>
          <a:p>
            <a:r>
              <a:rPr lang="en-US" dirty="0"/>
              <a:t>In this deletion operation of the linked, we are deleting an element from the ending of the list.</a:t>
            </a:r>
          </a:p>
          <a:p>
            <a:endParaRPr lang="en-US" dirty="0"/>
          </a:p>
          <a:p>
            <a:r>
              <a:rPr lang="en-US" dirty="0"/>
              <a:t>Algorithm</a:t>
            </a:r>
          </a:p>
          <a:p>
            <a:r>
              <a:rPr lang="en-US" dirty="0"/>
              <a:t>1. START</a:t>
            </a:r>
          </a:p>
          <a:p>
            <a:r>
              <a:rPr lang="en-US" dirty="0"/>
              <a:t>2. Iterate until you find the second last element in the list.</a:t>
            </a:r>
          </a:p>
          <a:p>
            <a:r>
              <a:rPr lang="en-US" dirty="0"/>
              <a:t>3. Assign NULL to the second last element in the list.</a:t>
            </a:r>
          </a:p>
          <a:p>
            <a:r>
              <a:rPr lang="en-US" dirty="0"/>
              <a:t>4. END</a:t>
            </a:r>
            <a:endParaRPr lang="en-IN" dirty="0"/>
          </a:p>
        </p:txBody>
      </p:sp>
    </p:spTree>
    <p:extLst>
      <p:ext uri="{BB962C8B-B14F-4D97-AF65-F5344CB8AC3E}">
        <p14:creationId xmlns:p14="http://schemas.microsoft.com/office/powerpoint/2010/main" val="10438143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36311705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 </a:t>
            </a:r>
            <a:r>
              <a:rPr lang="en-IN" b="1" u="sng" dirty="0">
                <a:hlinkClick r:id="rId2"/>
              </a:rPr>
              <a:t>Doubly Linked List</a:t>
            </a:r>
            <a:r>
              <a:rPr lang="en-IN" b="1" dirty="0"/>
              <a:t/>
            </a:r>
            <a:br>
              <a:rPr lang="en-IN" b="1" dirty="0"/>
            </a:br>
            <a:endParaRPr lang="en-IN" dirty="0"/>
          </a:p>
        </p:txBody>
      </p:sp>
      <p:sp>
        <p:nvSpPr>
          <p:cNvPr id="3" name="Content Placeholder 2"/>
          <p:cNvSpPr>
            <a:spLocks noGrp="1"/>
          </p:cNvSpPr>
          <p:nvPr>
            <p:ph idx="1"/>
          </p:nvPr>
        </p:nvSpPr>
        <p:spPr/>
        <p:txBody>
          <a:bodyPr/>
          <a:lstStyle/>
          <a:p>
            <a:r>
              <a:rPr lang="en-US" dirty="0"/>
              <a:t>A Doubly Linked List (DLL) contains an extra pointer, typically called the previous pointer, together with the next pointer and data which are there in the singly linked list.</a:t>
            </a:r>
            <a:endParaRPr lang="en-IN" dirty="0"/>
          </a:p>
        </p:txBody>
      </p:sp>
    </p:spTree>
    <p:extLst>
      <p:ext uri="{BB962C8B-B14F-4D97-AF65-F5344CB8AC3E}">
        <p14:creationId xmlns:p14="http://schemas.microsoft.com/office/powerpoint/2010/main" val="16746005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descr="https://media.geeksforgeeks.org/wp-content/cdn-uploads/20200922124412/Doubly-Linked-List.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1922" y="2833070"/>
            <a:ext cx="9769787" cy="2696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71285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779253" y="1903263"/>
            <a:ext cx="10515600" cy="4351338"/>
          </a:xfrm>
        </p:spPr>
        <p:txBody>
          <a:bodyPr>
            <a:normAutofit lnSpcReduction="10000"/>
          </a:bodyPr>
          <a:lstStyle/>
          <a:p>
            <a:pPr marL="0" indent="0">
              <a:buNone/>
            </a:pPr>
            <a:r>
              <a:rPr lang="en-US" dirty="0"/>
              <a:t>class Node {</a:t>
            </a:r>
          </a:p>
          <a:p>
            <a:pPr marL="0" indent="0">
              <a:buNone/>
            </a:pPr>
            <a:r>
              <a:rPr lang="en-US" dirty="0"/>
              <a:t>        // Constructor to create a new node</a:t>
            </a:r>
          </a:p>
          <a:p>
            <a:pPr marL="0" indent="0">
              <a:buNone/>
            </a:pPr>
            <a:r>
              <a:rPr lang="en-US" dirty="0"/>
              <a:t>            // next and </a:t>
            </a:r>
            <a:r>
              <a:rPr lang="en-US" dirty="0" err="1"/>
              <a:t>prev</a:t>
            </a:r>
            <a:r>
              <a:rPr lang="en-US" dirty="0"/>
              <a:t> is by default initialized as null</a:t>
            </a:r>
          </a:p>
          <a:p>
            <a:pPr marL="0" indent="0">
              <a:buNone/>
            </a:pPr>
            <a:r>
              <a:rPr lang="en-US" dirty="0"/>
              <a:t>            constructor(</a:t>
            </a:r>
            <a:r>
              <a:rPr lang="en-US" dirty="0" err="1"/>
              <a:t>val</a:t>
            </a:r>
            <a:r>
              <a:rPr lang="en-US" dirty="0"/>
              <a:t>) {</a:t>
            </a:r>
          </a:p>
          <a:p>
            <a:pPr marL="0" indent="0">
              <a:buNone/>
            </a:pPr>
            <a:r>
              <a:rPr lang="en-US" dirty="0"/>
              <a:t>                </a:t>
            </a:r>
            <a:r>
              <a:rPr lang="en-US" dirty="0" err="1"/>
              <a:t>this.data</a:t>
            </a:r>
            <a:r>
              <a:rPr lang="en-US" dirty="0"/>
              <a:t> = </a:t>
            </a:r>
            <a:r>
              <a:rPr lang="en-US" dirty="0" err="1"/>
              <a:t>val</a:t>
            </a:r>
            <a:r>
              <a:rPr lang="en-US" dirty="0"/>
              <a:t>;</a:t>
            </a:r>
          </a:p>
          <a:p>
            <a:pPr marL="0" indent="0">
              <a:buNone/>
            </a:pPr>
            <a:r>
              <a:rPr lang="en-US" dirty="0"/>
              <a:t>                </a:t>
            </a:r>
            <a:r>
              <a:rPr lang="en-US" dirty="0" err="1"/>
              <a:t>this.prev</a:t>
            </a:r>
            <a:r>
              <a:rPr lang="en-US" dirty="0"/>
              <a:t> = null;</a:t>
            </a:r>
          </a:p>
          <a:p>
            <a:pPr marL="0" indent="0">
              <a:buNone/>
            </a:pPr>
            <a:r>
              <a:rPr lang="en-US" dirty="0"/>
              <a:t>                </a:t>
            </a:r>
            <a:r>
              <a:rPr lang="en-US" dirty="0" err="1"/>
              <a:t>this.next</a:t>
            </a:r>
            <a:r>
              <a:rPr lang="en-US" dirty="0"/>
              <a:t> = null;</a:t>
            </a:r>
          </a:p>
          <a:p>
            <a:pPr marL="0" indent="0">
              <a:buNone/>
            </a:pPr>
            <a:r>
              <a:rPr lang="en-US" dirty="0"/>
              <a:t>            }</a:t>
            </a:r>
          </a:p>
          <a:p>
            <a:pPr marL="0" indent="0">
              <a:buNone/>
            </a:pPr>
            <a:r>
              <a:rPr lang="en-US" dirty="0"/>
              <a:t>        }</a:t>
            </a:r>
            <a:endParaRPr lang="en-IN" dirty="0"/>
          </a:p>
        </p:txBody>
      </p:sp>
    </p:spTree>
    <p:extLst>
      <p:ext uri="{BB962C8B-B14F-4D97-AF65-F5344CB8AC3E}">
        <p14:creationId xmlns:p14="http://schemas.microsoft.com/office/powerpoint/2010/main" val="15325051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fontAlgn="base"/>
            <a:r>
              <a:rPr lang="en-US" b="1" dirty="0"/>
              <a:t>Advantages of DLL over the singly linked list:</a:t>
            </a:r>
          </a:p>
          <a:p>
            <a:pPr fontAlgn="base"/>
            <a:r>
              <a:rPr lang="en-US" dirty="0"/>
              <a:t>A DLL can be traversed in both forward and backward directions. </a:t>
            </a:r>
          </a:p>
          <a:p>
            <a:pPr fontAlgn="base"/>
            <a:r>
              <a:rPr lang="en-US" dirty="0"/>
              <a:t>The delete operation in DLL is more efficient if a pointer to the node to be deleted is given. </a:t>
            </a:r>
          </a:p>
          <a:p>
            <a:pPr fontAlgn="base"/>
            <a:r>
              <a:rPr lang="en-US" dirty="0"/>
              <a:t>We can quickly insert a new node before a given node. </a:t>
            </a:r>
          </a:p>
          <a:p>
            <a:pPr fontAlgn="base"/>
            <a:r>
              <a:rPr lang="en-US" dirty="0"/>
              <a:t>In a singly linked list, to delete a node, a pointer to the previous node is needed. To get this previous node, sometimes the list is traversed. In DLL, we can get the previous node using the previous pointer. </a:t>
            </a:r>
          </a:p>
          <a:p>
            <a:pPr marL="0" indent="0">
              <a:buNone/>
            </a:pPr>
            <a:endParaRPr lang="en-IN" dirty="0"/>
          </a:p>
        </p:txBody>
      </p:sp>
    </p:spTree>
    <p:extLst>
      <p:ext uri="{BB962C8B-B14F-4D97-AF65-F5344CB8AC3E}">
        <p14:creationId xmlns:p14="http://schemas.microsoft.com/office/powerpoint/2010/main" val="8466394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Disadvantages of DLL over the singly linked list:</a:t>
            </a:r>
          </a:p>
          <a:p>
            <a:pPr fontAlgn="base"/>
            <a:r>
              <a:rPr lang="en-US" dirty="0"/>
              <a:t>Every node of DLL Requires extra space for a previous pointer. It is possible to implement DLL with a single pointer though (See </a:t>
            </a:r>
            <a:r>
              <a:rPr lang="en-US" u="sng" dirty="0">
                <a:hlinkClick r:id="rId2"/>
              </a:rPr>
              <a:t>this </a:t>
            </a:r>
            <a:r>
              <a:rPr lang="en-US" dirty="0"/>
              <a:t>and </a:t>
            </a:r>
            <a:r>
              <a:rPr lang="en-US" u="sng" dirty="0">
                <a:hlinkClick r:id="rId3"/>
              </a:rPr>
              <a:t>this</a:t>
            </a:r>
            <a:r>
              <a:rPr lang="en-US" dirty="0"/>
              <a:t>). </a:t>
            </a:r>
          </a:p>
          <a:p>
            <a:pPr fontAlgn="base"/>
            <a:r>
              <a:rPr lang="en-US" dirty="0"/>
              <a:t>All operations require an extra pointer previous to be maintained. For example, in insertion, we need to modify previous pointers together with the next pointers. For example in the following functions for insertions at different positions, we need 1 or 2 extra steps to set the previous pointer.</a:t>
            </a:r>
          </a:p>
          <a:p>
            <a:pPr marL="0" indent="0">
              <a:buNone/>
            </a:pPr>
            <a:endParaRPr lang="en-IN" dirty="0"/>
          </a:p>
        </p:txBody>
      </p:sp>
    </p:spTree>
    <p:extLst>
      <p:ext uri="{BB962C8B-B14F-4D97-AF65-F5344CB8AC3E}">
        <p14:creationId xmlns:p14="http://schemas.microsoft.com/office/powerpoint/2010/main" val="38855462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u="sng" dirty="0"/>
              <a:t>Insertion in DLL:</a:t>
            </a:r>
            <a:endParaRPr lang="en-US" b="1" dirty="0"/>
          </a:p>
          <a:p>
            <a:pPr fontAlgn="base"/>
            <a:r>
              <a:rPr lang="en-US" dirty="0"/>
              <a:t>A node can be added in four ways:</a:t>
            </a:r>
          </a:p>
          <a:p>
            <a:pPr fontAlgn="base"/>
            <a:r>
              <a:rPr lang="en-US" dirty="0"/>
              <a:t>At the front of the DLL </a:t>
            </a:r>
          </a:p>
          <a:p>
            <a:pPr fontAlgn="base"/>
            <a:r>
              <a:rPr lang="en-US" dirty="0"/>
              <a:t>After a given node. </a:t>
            </a:r>
          </a:p>
          <a:p>
            <a:pPr fontAlgn="base"/>
            <a:r>
              <a:rPr lang="en-US" dirty="0"/>
              <a:t>At the end of the DLL </a:t>
            </a:r>
          </a:p>
          <a:p>
            <a:pPr fontAlgn="base"/>
            <a:r>
              <a:rPr lang="en-US" dirty="0"/>
              <a:t>Before a given node.</a:t>
            </a:r>
          </a:p>
          <a:p>
            <a:pPr marL="0" indent="0">
              <a:buNone/>
            </a:pPr>
            <a:endParaRPr lang="en-IN" dirty="0"/>
          </a:p>
        </p:txBody>
      </p:sp>
    </p:spTree>
    <p:extLst>
      <p:ext uri="{BB962C8B-B14F-4D97-AF65-F5344CB8AC3E}">
        <p14:creationId xmlns:p14="http://schemas.microsoft.com/office/powerpoint/2010/main" val="1061897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1) Add a node at the front:</a:t>
            </a:r>
          </a:p>
          <a:p>
            <a:pPr fontAlgn="base"/>
            <a:r>
              <a:rPr lang="en-US" dirty="0"/>
              <a:t>The new node is always added before the head of the given Linked List. </a:t>
            </a:r>
            <a:endParaRPr lang="en-US" dirty="0" smtClean="0"/>
          </a:p>
          <a:p>
            <a:pPr fontAlgn="base"/>
            <a:r>
              <a:rPr lang="en-US" dirty="0" smtClean="0"/>
              <a:t>And </a:t>
            </a:r>
            <a:r>
              <a:rPr lang="en-US" dirty="0"/>
              <a:t>newly added node becomes the new head of DLL. </a:t>
            </a:r>
            <a:endParaRPr lang="en-US" dirty="0" smtClean="0"/>
          </a:p>
          <a:p>
            <a:pPr fontAlgn="base"/>
            <a:r>
              <a:rPr lang="en-US" dirty="0" smtClean="0"/>
              <a:t>For </a:t>
            </a:r>
            <a:r>
              <a:rPr lang="en-US" dirty="0"/>
              <a:t>example, if the given Linked List is </a:t>
            </a:r>
            <a:r>
              <a:rPr lang="en-US" b="1" dirty="0"/>
              <a:t>1-&gt;0-&gt;1-&gt;5 </a:t>
            </a:r>
            <a:r>
              <a:rPr lang="en-US" dirty="0"/>
              <a:t>and we add an item </a:t>
            </a:r>
            <a:r>
              <a:rPr lang="en-US" b="1" dirty="0"/>
              <a:t>5 </a:t>
            </a:r>
            <a:r>
              <a:rPr lang="en-US" dirty="0"/>
              <a:t>at the front, then the Linked List becomes </a:t>
            </a:r>
            <a:r>
              <a:rPr lang="en-US" b="1" dirty="0"/>
              <a:t>5-&gt;1-&gt;0-&gt;1-&gt;5</a:t>
            </a:r>
            <a:r>
              <a:rPr lang="en-US" dirty="0"/>
              <a:t>. Let us call the function that adds at the front of the list push</a:t>
            </a:r>
            <a:r>
              <a:rPr lang="en-US" dirty="0" smtClean="0"/>
              <a:t>().</a:t>
            </a:r>
          </a:p>
          <a:p>
            <a:pPr fontAlgn="base"/>
            <a:r>
              <a:rPr lang="en-US" dirty="0" smtClean="0"/>
              <a:t> </a:t>
            </a:r>
            <a:r>
              <a:rPr lang="en-US" dirty="0"/>
              <a:t>The push() must receive a pointer to the head pointer because the push must change the head pointer to point to the new node </a:t>
            </a:r>
          </a:p>
          <a:p>
            <a:pPr marL="0" indent="0">
              <a:buNone/>
            </a:pPr>
            <a:endParaRPr lang="en-IN" dirty="0"/>
          </a:p>
        </p:txBody>
      </p:sp>
    </p:spTree>
    <p:extLst>
      <p:ext uri="{BB962C8B-B14F-4D97-AF65-F5344CB8AC3E}">
        <p14:creationId xmlns:p14="http://schemas.microsoft.com/office/powerpoint/2010/main" val="36017482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876300" y="2382044"/>
            <a:ext cx="10439400" cy="3238500"/>
          </a:xfrm>
          <a:prstGeom prst="rect">
            <a:avLst/>
          </a:prstGeom>
        </p:spPr>
      </p:pic>
    </p:spTree>
    <p:extLst>
      <p:ext uri="{BB962C8B-B14F-4D97-AF65-F5344CB8AC3E}">
        <p14:creationId xmlns:p14="http://schemas.microsoft.com/office/powerpoint/2010/main" val="24899483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descr="linkedlist_insert_las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4500" y="2147977"/>
            <a:ext cx="11090580" cy="3579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4430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Application of singly linked list</a:t>
            </a:r>
            <a:endParaRPr lang="en-IN" dirty="0"/>
          </a:p>
        </p:txBody>
      </p:sp>
      <p:sp>
        <p:nvSpPr>
          <p:cNvPr id="3" name="Content Placeholder 2"/>
          <p:cNvSpPr>
            <a:spLocks noGrp="1"/>
          </p:cNvSpPr>
          <p:nvPr>
            <p:ph idx="1"/>
          </p:nvPr>
        </p:nvSpPr>
        <p:spPr/>
        <p:txBody>
          <a:bodyPr/>
          <a:lstStyle/>
          <a:p>
            <a:pPr fontAlgn="base"/>
            <a:r>
              <a:rPr lang="en-US" b="1" dirty="0"/>
              <a:t>Applications of linked list in the real world:</a:t>
            </a:r>
          </a:p>
          <a:p>
            <a:pPr fontAlgn="base"/>
            <a:r>
              <a:rPr lang="en-US" dirty="0"/>
              <a:t>Image viewer – Previous and next images are linked and can be accessed by the next and previous buttons.</a:t>
            </a:r>
          </a:p>
          <a:p>
            <a:pPr fontAlgn="base"/>
            <a:r>
              <a:rPr lang="en-US" dirty="0"/>
              <a:t>Previous and next page in a web browser – We can access the previous and next URL searched in a web browser by pressing the back and next buttons since they are linked as a linked list.</a:t>
            </a:r>
          </a:p>
          <a:p>
            <a:pPr fontAlgn="base"/>
            <a:r>
              <a:rPr lang="en-US" dirty="0"/>
              <a:t>Music Player – Songs in the music player are linked to the previous and next songs. So you can play songs either from starting or ending of the list.</a:t>
            </a:r>
          </a:p>
          <a:p>
            <a:pPr marL="0" indent="0">
              <a:buNone/>
            </a:pPr>
            <a:endParaRPr lang="en-IN" dirty="0"/>
          </a:p>
        </p:txBody>
      </p:sp>
    </p:spTree>
    <p:extLst>
      <p:ext uri="{BB962C8B-B14F-4D97-AF65-F5344CB8AC3E}">
        <p14:creationId xmlns:p14="http://schemas.microsoft.com/office/powerpoint/2010/main" val="4431141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Application of Doubly Linked Lists:</a:t>
            </a:r>
          </a:p>
          <a:p>
            <a:pPr fontAlgn="base"/>
            <a:r>
              <a:rPr lang="en-US" dirty="0"/>
              <a:t>Redo and undo functionality.</a:t>
            </a:r>
          </a:p>
          <a:p>
            <a:pPr fontAlgn="base"/>
            <a:r>
              <a:rPr lang="en-US" dirty="0"/>
              <a:t>Use of the Back and forward button in a browser.</a:t>
            </a:r>
          </a:p>
          <a:p>
            <a:pPr fontAlgn="base"/>
            <a:r>
              <a:rPr lang="en-US" dirty="0"/>
              <a:t>The most recently used section is represented by the Doubly Linked list.</a:t>
            </a:r>
          </a:p>
          <a:p>
            <a:pPr fontAlgn="base"/>
            <a:r>
              <a:rPr lang="en-US" dirty="0"/>
              <a:t>Other Data structures like Stack, </a:t>
            </a:r>
            <a:r>
              <a:rPr lang="en-US" dirty="0" err="1"/>
              <a:t>HashTable</a:t>
            </a:r>
            <a:r>
              <a:rPr lang="en-US" dirty="0"/>
              <a:t>, and </a:t>
            </a:r>
            <a:r>
              <a:rPr lang="en-US" dirty="0" err="1"/>
              <a:t>BinaryTree</a:t>
            </a:r>
            <a:r>
              <a:rPr lang="en-US"/>
              <a:t> can also be applied by Doubly Linked List.</a:t>
            </a:r>
          </a:p>
          <a:p>
            <a:pPr marL="0" indent="0">
              <a:buNone/>
            </a:pPr>
            <a:endParaRPr lang="en-IN"/>
          </a:p>
        </p:txBody>
      </p:sp>
    </p:spTree>
    <p:extLst>
      <p:ext uri="{BB962C8B-B14F-4D97-AF65-F5344CB8AC3E}">
        <p14:creationId xmlns:p14="http://schemas.microsoft.com/office/powerpoint/2010/main" val="2038482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4089</TotalTime>
  <Words>1264</Words>
  <Application>Microsoft Office PowerPoint</Application>
  <PresentationFormat>Widescreen</PresentationFormat>
  <Paragraphs>198</Paragraphs>
  <Slides>53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Calibri</vt:lpstr>
      <vt:lpstr>Calibri Light</vt:lpstr>
      <vt:lpstr>Office Theme</vt:lpstr>
      <vt:lpstr>Linked List</vt:lpstr>
      <vt:lpstr>What is data structure?</vt:lpstr>
      <vt:lpstr>PowerPoint Presentation</vt:lpstr>
      <vt:lpstr>Need Of Data structure : </vt:lpstr>
      <vt:lpstr>Arrays: Contigenous </vt:lpstr>
      <vt:lpstr>Linked list: Non Contigenous  </vt:lpstr>
      <vt:lpstr>Stack: Entry and exit from one end only  </vt:lpstr>
      <vt:lpstr>Queue:  </vt:lpstr>
      <vt:lpstr>Tree: </vt:lpstr>
      <vt:lpstr>Graph: </vt:lpstr>
      <vt:lpstr>What is link list?</vt:lpstr>
      <vt:lpstr>PowerPoint Presentation</vt:lpstr>
      <vt:lpstr>PowerPoint Presentation</vt:lpstr>
      <vt:lpstr>Add a node at the front </vt:lpstr>
      <vt:lpstr>PowerPoint Presentation</vt:lpstr>
      <vt:lpstr>Why use linked list over array? </vt:lpstr>
      <vt:lpstr>PowerPoint Presentation</vt:lpstr>
      <vt:lpstr>Types of Linked list </vt:lpstr>
      <vt:lpstr> Singly Linked List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create node in javascript</vt:lpstr>
      <vt:lpstr>How to create a linked list</vt:lpstr>
      <vt:lpstr>Algo for the Insertion at Beginning </vt:lpstr>
      <vt:lpstr>Insert at the start</vt:lpstr>
      <vt:lpstr>Insert from end</vt:lpstr>
      <vt:lpstr>PowerPoint Presentation</vt:lpstr>
      <vt:lpstr>Deletion</vt:lpstr>
      <vt:lpstr>PowerPoint Presentation</vt:lpstr>
      <vt:lpstr>PowerPoint Presentation</vt:lpstr>
      <vt:lpstr>PowerPoint Presentation</vt:lpstr>
      <vt:lpstr>PowerPoint Presentation</vt:lpstr>
      <vt:lpstr>PowerPoint Presentation</vt:lpstr>
      <vt:lpstr>PowerPoint Presentation</vt:lpstr>
      <vt:lpstr>Deletion from End</vt:lpstr>
      <vt:lpstr>PowerPoint Presentation</vt:lpstr>
      <vt:lpstr> Doubly Linked List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 of singly linked list</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List</dc:title>
  <dc:creator>Sapna Sharma E0069</dc:creator>
  <cp:lastModifiedBy>Sapna Sharma E0069</cp:lastModifiedBy>
  <cp:revision>26</cp:revision>
  <dcterms:created xsi:type="dcterms:W3CDTF">2022-11-02T05:45:40Z</dcterms:created>
  <dcterms:modified xsi:type="dcterms:W3CDTF">2023-08-24T16:16:35Z</dcterms:modified>
</cp:coreProperties>
</file>