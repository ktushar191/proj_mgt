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>
      <p:cViewPr varScale="1">
        <p:scale>
          <a:sx n="70" d="100"/>
          <a:sy n="70" d="100"/>
        </p:scale>
        <p:origin x="141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612E1-50BB-4D39-A947-2FA1985E3DC1}" type="datetimeFigureOut">
              <a:rPr lang="en-US" smtClean="0"/>
              <a:t>12-Oct-23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4A13E-E486-4652-91A6-C373BCC914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07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mbria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Cambria" pitchFamily="18" charset="0"/>
              </a:defRPr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1"/>
          </a:solidFill>
        </p:spPr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dirty="0" smtClean="0"/>
              <a:t>Click to edit Master text styles</a:t>
            </a:r>
          </a:p>
          <a:p>
            <a:pPr lvl="1" eaLnBrk="1" latinLnBrk="0" hangingPunct="1"/>
            <a:r>
              <a:rPr lang="en-US" dirty="0" smtClean="0"/>
              <a:t>Second level</a:t>
            </a:r>
          </a:p>
          <a:p>
            <a:pPr lvl="2" eaLnBrk="1" latinLnBrk="0" hangingPunct="1"/>
            <a:r>
              <a:rPr lang="en-US" dirty="0" smtClean="0"/>
              <a:t>Third level</a:t>
            </a:r>
          </a:p>
          <a:p>
            <a:pPr lvl="3" eaLnBrk="1" latinLnBrk="0" hangingPunct="1"/>
            <a:r>
              <a:rPr lang="en-US" dirty="0" smtClean="0"/>
              <a:t>Fourth level</a:t>
            </a:r>
          </a:p>
          <a:p>
            <a:pPr lvl="4" eaLnBrk="1" latinLnBrk="0" hangingPunct="1"/>
            <a:r>
              <a:rPr lang="en-US" dirty="0" smtClean="0"/>
              <a:t>Fifth level</a:t>
            </a:r>
            <a:endParaRPr kumimoji="0"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dirty="0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dirty="0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487362"/>
          </a:xfrm>
          <a:prstGeom prst="rect">
            <a:avLst/>
          </a:prstGeom>
          <a:solidFill>
            <a:schemeClr val="accent1">
              <a:alpha val="72000"/>
            </a:schemeClr>
          </a:solidFill>
        </p:spPr>
        <p:txBody>
          <a:bodyPr bIns="91440" anchor="b" anchorCtr="0">
            <a:noAutofit/>
          </a:bodyPr>
          <a:lstStyle/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65F0D8-3483-4E75-BE56-B8181858E28A}" type="datetimeFigureOut">
              <a:rPr lang="en-US" smtClean="0"/>
              <a:pPr/>
              <a:t>12-Oct-23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48ED27E2-38FA-439A-8819-60CEBB2B9B5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2800" b="1" kern="1200">
          <a:solidFill>
            <a:schemeClr val="bg1"/>
          </a:solidFill>
          <a:latin typeface="Cambria" pitchFamily="18" charset="0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Cambria" pitchFamily="18" charset="0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Cambria" pitchFamily="18" charset="0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Cambria" pitchFamily="18" charset="0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holarhat.com/tutorial/java/exception-handling-in-jav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StringBuilder-class" TargetMode="External"/><Relationship Id="rId2" Type="http://schemas.openxmlformats.org/officeDocument/2006/relationships/hyperlink" Target="https://www.javatpoint.com/StringBuffer-clas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jvm-java-virtual-machine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stringbuilder-class-in-java-with-examples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524000"/>
            <a:ext cx="8229600" cy="1470025"/>
          </a:xfrm>
        </p:spPr>
        <p:txBody>
          <a:bodyPr/>
          <a:lstStyle/>
          <a:p>
            <a:r>
              <a:rPr lang="en-US" b="0" dirty="0"/>
              <a:t>Java Programming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81000" y="3105835"/>
            <a:ext cx="83058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Java Programming</a:t>
            </a: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dirty="0"/>
              <a:t>IT-11</a:t>
            </a:r>
            <a:endParaRPr lang="en-US" sz="4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534400" cy="563562"/>
          </a:xfrm>
        </p:spPr>
        <p:txBody>
          <a:bodyPr>
            <a:noAutofit/>
          </a:bodyPr>
          <a:lstStyle/>
          <a:p>
            <a:pPr fontAlgn="base"/>
            <a:r>
              <a:rPr lang="en-US" sz="2400" dirty="0" smtClean="0"/>
              <a:t>Arrays in Java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1860" y="1066800"/>
            <a:ext cx="8610600" cy="55626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An array is a type of data structure that is used to store the elements of a particular type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For example, an integer array will hold only the value of any integer, but a character array will hold the characters only.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structure of an array is linear and holds similar elements in "contiguous memory addresses</a:t>
            </a:r>
            <a:r>
              <a:rPr lang="en-US" dirty="0" smtClean="0"/>
              <a:t>".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In Java, not only array but also</a:t>
            </a:r>
            <a:r>
              <a:rPr lang="en-US" dirty="0">
                <a:hlinkClick r:id="rId2"/>
              </a:rPr>
              <a:t> </a:t>
            </a:r>
            <a:r>
              <a:rPr lang="en-US" dirty="0"/>
              <a:t>exception handling is essential to manage and deal with unexpected errors that may occur during the execution of a program which helps the process of execution easy.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using Java </a:t>
            </a:r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48519" y="1219200"/>
            <a:ext cx="7772400" cy="4572000"/>
          </a:xfrm>
        </p:spPr>
        <p:txBody>
          <a:bodyPr/>
          <a:lstStyle/>
          <a:p>
            <a:r>
              <a:rPr lang="en-US" dirty="0"/>
              <a:t>Arrays help to increase code optimization</a:t>
            </a:r>
          </a:p>
          <a:p>
            <a:r>
              <a:rPr lang="en-US" dirty="0"/>
              <a:t>It helps in ordering and indexing data structure to store a particular type of element</a:t>
            </a:r>
          </a:p>
          <a:p>
            <a:r>
              <a:rPr lang="en-US" dirty="0"/>
              <a:t>It can also store variables and objects of class in java</a:t>
            </a:r>
          </a:p>
          <a:p>
            <a:r>
              <a:rPr lang="en-US" dirty="0"/>
              <a:t>Every element of an array is held in a definite memory location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1664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using Java </a:t>
            </a:r>
            <a:r>
              <a:rPr lang="en-US" dirty="0" smtClean="0"/>
              <a:t>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An array can only hold the same type of elements</a:t>
            </a:r>
          </a:p>
          <a:p>
            <a:r>
              <a:rPr lang="en-US" dirty="0"/>
              <a:t>Removing and adding elements </a:t>
            </a:r>
            <a:r>
              <a:rPr lang="en-US" dirty="0" smtClean="0"/>
              <a:t>is some what </a:t>
            </a:r>
            <a:r>
              <a:rPr lang="en-US" dirty="0"/>
              <a:t>tough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912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Array in </a:t>
            </a:r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1224" y="990600"/>
            <a:ext cx="7772400" cy="53340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There are two types of arrays in Java: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Single dimensional array in Java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Multi dimensional array in Java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Single Dimensional Array in </a:t>
            </a:r>
            <a:r>
              <a:rPr lang="en-US" b="1" dirty="0" smtClean="0"/>
              <a:t>Java: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Single Dimensional Array in Java is basically a linear array that allows its user to store multiple values of the same data type.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It's a collection of data that stores elements of the same type in a sequentially allocated space in memory</a:t>
            </a:r>
            <a:r>
              <a:rPr lang="en-US" dirty="0" smtClean="0"/>
              <a:t>.</a:t>
            </a:r>
            <a:endParaRPr lang="en-US" b="1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589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Dimensional Array in Java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5334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Single-dimensional arrays can be utilized to store both simple and complex data types, anything from strings, integers, and </a:t>
            </a:r>
            <a:r>
              <a:rPr lang="en-US" dirty="0" smtClean="0"/>
              <a:t>Booleans </a:t>
            </a:r>
            <a:r>
              <a:rPr lang="en-US" dirty="0"/>
              <a:t>to custom-made classes depending on the user's requirements.</a:t>
            </a:r>
          </a:p>
          <a:p>
            <a:pPr>
              <a:lnSpc>
                <a:spcPct val="150000"/>
              </a:lnSpc>
            </a:pPr>
            <a:r>
              <a:rPr lang="en-US" dirty="0"/>
              <a:t>In memory, a one or single-dimensional array holds the data in a linear list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Single-Dimensional Arrays are initialized just like regular variables, but instead of assigning a single value the programmers can pass several values separated by commas or define an array with static size.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34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Dimensional Array in Java: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50292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Single-Dimensional Arrays are one of the handy tools contained within Java.</a:t>
            </a:r>
          </a:p>
          <a:p>
            <a:pPr>
              <a:lnSpc>
                <a:spcPct val="150000"/>
              </a:lnSpc>
            </a:pPr>
            <a:r>
              <a:rPr lang="en-US" dirty="0"/>
              <a:t>They are useful for organizing data quickly and efficiently as well as giving us access to stored data using looping structures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b="1" dirty="0"/>
              <a:t>The syntax for one-dimensional array in Java</a:t>
            </a:r>
            <a:r>
              <a:rPr lang="en-US" b="1" dirty="0" smtClean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err="1"/>
              <a:t>arrayName</a:t>
            </a:r>
            <a:r>
              <a:rPr lang="en-US" b="1" dirty="0"/>
              <a:t> = new </a:t>
            </a:r>
            <a:r>
              <a:rPr lang="en-US" b="1" dirty="0" err="1"/>
              <a:t>DataTye</a:t>
            </a:r>
            <a:r>
              <a:rPr lang="en-US" b="1" dirty="0"/>
              <a:t>[length 1][length 2]....[length N</a:t>
            </a:r>
            <a:r>
              <a:rPr lang="en-US" b="1" dirty="0" smtClean="0"/>
              <a:t>];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(</a:t>
            </a:r>
            <a:r>
              <a:rPr lang="en-US" b="1" dirty="0"/>
              <a:t>OR</a:t>
            </a:r>
            <a:r>
              <a:rPr lang="en-US" b="1" dirty="0" smtClean="0"/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err="1" smtClean="0"/>
              <a:t>DataType</a:t>
            </a:r>
            <a:r>
              <a:rPr lang="en-US" b="1" dirty="0" smtClean="0"/>
              <a:t>[1st </a:t>
            </a:r>
            <a:r>
              <a:rPr lang="en-US" b="1" dirty="0"/>
              <a:t>Dimension][2nd Dimension]....[Nth Dimension] </a:t>
            </a:r>
            <a:r>
              <a:rPr lang="en-US" b="1" dirty="0" err="1"/>
              <a:t>arrayName</a:t>
            </a:r>
            <a:r>
              <a:rPr lang="en-US" b="1" dirty="0"/>
              <a:t> = new </a:t>
            </a:r>
            <a:r>
              <a:rPr lang="en-US" b="1" dirty="0" err="1"/>
              <a:t>DataTye</a:t>
            </a:r>
            <a:r>
              <a:rPr lang="en-US" b="1" dirty="0"/>
              <a:t>[length 1][length 2]....[length N</a:t>
            </a:r>
            <a:r>
              <a:rPr lang="en-US" b="1" dirty="0" smtClean="0"/>
              <a:t>];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 smtClean="0"/>
              <a:t>Ex : </a:t>
            </a:r>
            <a:r>
              <a:rPr lang="en-US" dirty="0" err="1"/>
              <a:t>int</a:t>
            </a:r>
            <a:r>
              <a:rPr lang="en-US" dirty="0"/>
              <a:t> iArray1[] =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b="1" dirty="0" err="1"/>
              <a:t>int</a:t>
            </a:r>
            <a:r>
              <a:rPr lang="en-US" dirty="0"/>
              <a:t>[4];</a:t>
            </a:r>
            <a:endParaRPr lang="en-US" b="1" dirty="0"/>
          </a:p>
          <a:p>
            <a:pPr>
              <a:lnSpc>
                <a:spcPct val="150000"/>
              </a:lnSpc>
            </a:pPr>
            <a:endParaRPr lang="en-US" b="1" dirty="0"/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389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Multi Dimensional Array in </a:t>
            </a:r>
            <a:r>
              <a:rPr lang="it-IT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029200"/>
          </a:xfrm>
        </p:spPr>
        <p:txBody>
          <a:bodyPr>
            <a:normAutofit/>
          </a:bodyPr>
          <a:lstStyle/>
          <a:p>
            <a:r>
              <a:rPr lang="en-US" dirty="0"/>
              <a:t>Multi Dimensional Array in Java is basically an array of arrays, which means that it is an array object that has multiple dimensions.</a:t>
            </a:r>
          </a:p>
          <a:p>
            <a:r>
              <a:rPr lang="en-US" dirty="0"/>
              <a:t>Multi-Dimensional Arrays are useful when dealing with a large amount of data since they give the ability to store and access data from a single variable but with multiple levels of hierarchy.</a:t>
            </a:r>
          </a:p>
          <a:p>
            <a:r>
              <a:rPr lang="en-US" dirty="0"/>
              <a:t>This multi-dimensional array can be expanded to a certain number of dimensions such as two dimensions, three dimensions, etc</a:t>
            </a:r>
            <a:r>
              <a:rPr lang="en-US" dirty="0" smtClean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41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Multi Dimensional Array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Multi-Dimensional Arrays in Java can hold any type of item, i.e. two-dimensional arrays can hold </a:t>
            </a:r>
            <a:r>
              <a:rPr lang="en-US" dirty="0" err="1"/>
              <a:t>int</a:t>
            </a:r>
            <a:r>
              <a:rPr lang="en-US" dirty="0"/>
              <a:t> values or objects such as strings and objects.</a:t>
            </a:r>
          </a:p>
          <a:p>
            <a:pPr>
              <a:lnSpc>
                <a:spcPct val="150000"/>
              </a:lnSpc>
            </a:pPr>
            <a:r>
              <a:rPr lang="en-US" dirty="0"/>
              <a:t>Multi-dimensional arrays also have several methods available to help search and arrange the data within the array, making them very flexible and efficient when dealing with complex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834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Multi Dimensional Array in Java</a:t>
            </a:r>
            <a:endParaRPr lang="en-US" b="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The syntax for multi-dimensional array in Java:</a:t>
            </a:r>
          </a:p>
          <a:p>
            <a:pPr marL="0" indent="0">
              <a:buNone/>
            </a:pPr>
            <a:r>
              <a:rPr lang="en-US" dirty="0" err="1"/>
              <a:t>Datatype</a:t>
            </a:r>
            <a:r>
              <a:rPr lang="en-US" dirty="0"/>
              <a:t> [][]</a:t>
            </a:r>
            <a:r>
              <a:rPr lang="en-US" dirty="0" err="1"/>
              <a:t>Array_Name</a:t>
            </a:r>
            <a:r>
              <a:rPr lang="en-US" dirty="0"/>
              <a:t> =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b="1" dirty="0" err="1"/>
              <a:t>Datatype</a:t>
            </a:r>
            <a:r>
              <a:rPr lang="en-US" dirty="0"/>
              <a:t>[</a:t>
            </a:r>
            <a:r>
              <a:rPr lang="en-US" dirty="0" err="1"/>
              <a:t>row_size</a:t>
            </a:r>
            <a:r>
              <a:rPr lang="en-US" dirty="0"/>
              <a:t>][</a:t>
            </a:r>
            <a:r>
              <a:rPr lang="en-US" dirty="0" err="1"/>
              <a:t>col_size</a:t>
            </a:r>
            <a:r>
              <a:rPr lang="en-US" dirty="0"/>
              <a:t>(optional</a:t>
            </a:r>
            <a:r>
              <a:rPr lang="en-US" dirty="0" smtClean="0"/>
              <a:t>)];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(OR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/>
              <a:t>Datatype</a:t>
            </a:r>
            <a:r>
              <a:rPr lang="en-US" dirty="0"/>
              <a:t> </a:t>
            </a:r>
            <a:r>
              <a:rPr lang="en-US" dirty="0" err="1"/>
              <a:t>Array_Name</a:t>
            </a:r>
            <a:r>
              <a:rPr lang="en-US" dirty="0"/>
              <a:t>[] = [{Value separated by comma},{Value separated by comma},....}];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754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 an Array in </a:t>
            </a:r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3499" y="990600"/>
            <a:ext cx="77724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Single </a:t>
            </a:r>
            <a:r>
              <a:rPr lang="en-US" b="1" dirty="0" err="1" smtClean="0"/>
              <a:t>Dimention</a:t>
            </a:r>
            <a:r>
              <a:rPr lang="en-US" b="1" dirty="0" smtClean="0"/>
              <a:t> Array 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//</a:t>
            </a:r>
            <a:r>
              <a:rPr lang="en-US" dirty="0" smtClean="0"/>
              <a:t>declaration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err="1"/>
              <a:t>int</a:t>
            </a:r>
            <a:r>
              <a:rPr lang="en-US" dirty="0"/>
              <a:t> iArray1[] =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b="1" dirty="0" err="1"/>
              <a:t>int</a:t>
            </a:r>
            <a:r>
              <a:rPr lang="en-US" dirty="0"/>
              <a:t>[4];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//</a:t>
            </a:r>
            <a:r>
              <a:rPr lang="en-US" dirty="0"/>
              <a:t>initialization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iArray1[0</a:t>
            </a:r>
            <a:r>
              <a:rPr lang="en-US" dirty="0"/>
              <a:t>] = 32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 smtClean="0"/>
              <a:t>iArray1[1</a:t>
            </a:r>
            <a:r>
              <a:rPr lang="en-US" dirty="0"/>
              <a:t>] = 13;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iArray1[2</a:t>
            </a:r>
            <a:r>
              <a:rPr lang="en-US" dirty="0"/>
              <a:t>] = 56;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iArray1[3</a:t>
            </a:r>
            <a:r>
              <a:rPr lang="en-US" dirty="0"/>
              <a:t>] = 78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 this example, a size-4 integer array named "iArray1" is declared and initialized with predetermined values, with each element's index denoting a different integer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25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Initialize an Array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30322" y="990600"/>
            <a:ext cx="7772400" cy="5562600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//</a:t>
            </a:r>
            <a:r>
              <a:rPr lang="fr-FR" dirty="0" err="1"/>
              <a:t>declaration</a:t>
            </a:r>
            <a:r>
              <a:rPr lang="fr-FR" dirty="0"/>
              <a:t> </a:t>
            </a:r>
            <a:endParaRPr lang="fr-FR" dirty="0" smtClean="0"/>
          </a:p>
          <a:p>
            <a:pPr marL="0" indent="0">
              <a:buNone/>
            </a:pPr>
            <a:r>
              <a:rPr lang="fr-FR" dirty="0" err="1" smtClean="0"/>
              <a:t>int</a:t>
            </a:r>
            <a:r>
              <a:rPr lang="fr-FR" dirty="0" smtClean="0"/>
              <a:t> </a:t>
            </a:r>
            <a:r>
              <a:rPr lang="fr-FR" dirty="0"/>
              <a:t>matrix[] = </a:t>
            </a:r>
            <a:r>
              <a:rPr lang="fr-FR" b="1" dirty="0"/>
              <a:t>new</a:t>
            </a:r>
            <a:r>
              <a:rPr lang="fr-FR" dirty="0"/>
              <a:t> </a:t>
            </a:r>
            <a:r>
              <a:rPr lang="fr-FR" b="1" dirty="0" err="1"/>
              <a:t>int</a:t>
            </a:r>
            <a:r>
              <a:rPr lang="fr-FR" dirty="0"/>
              <a:t>[2][2]; </a:t>
            </a:r>
            <a:endParaRPr lang="fr-FR" dirty="0" smtClean="0"/>
          </a:p>
          <a:p>
            <a:endParaRPr lang="fr-FR" dirty="0"/>
          </a:p>
          <a:p>
            <a:r>
              <a:rPr lang="fr-FR" dirty="0" smtClean="0"/>
              <a:t>//</a:t>
            </a:r>
            <a:r>
              <a:rPr lang="fr-FR" dirty="0" err="1"/>
              <a:t>initialization</a:t>
            </a:r>
            <a:r>
              <a:rPr lang="fr-FR" dirty="0"/>
              <a:t> </a:t>
            </a:r>
            <a:endParaRPr lang="fr-FR" dirty="0" smtClean="0"/>
          </a:p>
          <a:p>
            <a:endParaRPr lang="fr-FR" dirty="0"/>
          </a:p>
          <a:p>
            <a:pPr marL="0" indent="0">
              <a:buNone/>
            </a:pPr>
            <a:r>
              <a:rPr lang="fr-FR" dirty="0" smtClean="0"/>
              <a:t>matrix[0</a:t>
            </a:r>
            <a:r>
              <a:rPr lang="fr-FR" dirty="0"/>
              <a:t>][0] = 1; 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matrix[0</a:t>
            </a:r>
            <a:r>
              <a:rPr lang="fr-FR" dirty="0"/>
              <a:t>][1] = 2; 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matrix[1</a:t>
            </a:r>
            <a:r>
              <a:rPr lang="fr-FR" dirty="0"/>
              <a:t>][0] = 3; </a:t>
            </a:r>
            <a:endParaRPr lang="fr-FR" dirty="0" smtClean="0"/>
          </a:p>
          <a:p>
            <a:pPr marL="0" indent="0">
              <a:buNone/>
            </a:pPr>
            <a:r>
              <a:rPr lang="fr-FR" dirty="0" smtClean="0"/>
              <a:t>matrix[1</a:t>
            </a:r>
            <a:r>
              <a:rPr lang="fr-FR" dirty="0"/>
              <a:t>][1] = 4</a:t>
            </a:r>
            <a:r>
              <a:rPr lang="fr-FR" dirty="0" smtClean="0"/>
              <a:t>;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en-US" dirty="0"/>
              <a:t>This example declares and initializes a 2x2 integer matrix (a 2-dimensional array), where each member at a given row and column index corresponds to a different integer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307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 of Array in </a:t>
            </a:r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638800"/>
          </a:xfrm>
        </p:spPr>
        <p:txBody>
          <a:bodyPr>
            <a:normAutofit/>
          </a:bodyPr>
          <a:lstStyle/>
          <a:p>
            <a:r>
              <a:rPr lang="en-US" dirty="0"/>
              <a:t>There are three types of Accessing Element:</a:t>
            </a:r>
          </a:p>
          <a:p>
            <a:pPr lvl="1"/>
            <a:r>
              <a:rPr lang="en-US" dirty="0"/>
              <a:t>Direct access to an element</a:t>
            </a:r>
          </a:p>
          <a:p>
            <a:pPr lvl="1"/>
            <a:r>
              <a:rPr lang="en-US" dirty="0"/>
              <a:t>Accessing elements using a loop</a:t>
            </a:r>
          </a:p>
          <a:p>
            <a:pPr lvl="1"/>
            <a:r>
              <a:rPr lang="en-US" dirty="0"/>
              <a:t>Accessing elements using for-each </a:t>
            </a:r>
            <a:r>
              <a:rPr lang="en-US" dirty="0" smtClean="0"/>
              <a:t>loop</a:t>
            </a:r>
          </a:p>
          <a:p>
            <a:r>
              <a:rPr lang="en-US" b="1" dirty="0"/>
              <a:t>Direct access to an </a:t>
            </a:r>
            <a:r>
              <a:rPr lang="en-US" b="1" dirty="0" smtClean="0"/>
              <a:t>element:</a:t>
            </a:r>
            <a:endParaRPr lang="en-US" b="1" dirty="0"/>
          </a:p>
          <a:p>
            <a:pPr lvl="1"/>
            <a:r>
              <a:rPr lang="en-US" dirty="0"/>
              <a:t>This access method gives the user the authority to access the exact element directly of an array by using an index number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Syntax :</a:t>
            </a:r>
          </a:p>
          <a:p>
            <a:pPr lvl="1"/>
            <a:r>
              <a:rPr lang="en-US" b="1" dirty="0" err="1"/>
              <a:t>Array_Name</a:t>
            </a:r>
            <a:r>
              <a:rPr lang="en-US" b="1" dirty="0"/>
              <a:t>[index</a:t>
            </a:r>
            <a:r>
              <a:rPr lang="en-US" b="1" dirty="0" smtClean="0"/>
              <a:t>]</a:t>
            </a:r>
          </a:p>
          <a:p>
            <a:r>
              <a:rPr lang="en-US" b="1" dirty="0" smtClean="0"/>
              <a:t>Example:</a:t>
            </a:r>
          </a:p>
          <a:p>
            <a:pPr lvl="1"/>
            <a:r>
              <a:rPr lang="en-US" b="1" dirty="0" err="1" smtClean="0"/>
              <a:t>iArray</a:t>
            </a:r>
            <a:r>
              <a:rPr lang="en-US" b="1" dirty="0" smtClean="0"/>
              <a:t>[1</a:t>
            </a:r>
            <a:r>
              <a:rPr lang="en-US" b="1" dirty="0"/>
              <a:t>];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2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 of Array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638800"/>
          </a:xfrm>
        </p:spPr>
        <p:txBody>
          <a:bodyPr>
            <a:normAutofit/>
          </a:bodyPr>
          <a:lstStyle/>
          <a:p>
            <a:r>
              <a:rPr lang="en-US" b="1" dirty="0"/>
              <a:t>Accessing elements using for </a:t>
            </a:r>
            <a:r>
              <a:rPr lang="en-US" b="1" dirty="0" smtClean="0"/>
              <a:t>loop</a:t>
            </a:r>
          </a:p>
          <a:p>
            <a:pPr lvl="1"/>
            <a:r>
              <a:rPr lang="en-US" dirty="0"/>
              <a:t>In this access method, any particular array can be accessed by using iteration statements such </a:t>
            </a:r>
            <a:r>
              <a:rPr lang="en-US" dirty="0" err="1"/>
              <a:t>as,for</a:t>
            </a:r>
            <a:r>
              <a:rPr lang="en-US" dirty="0"/>
              <a:t> </a:t>
            </a:r>
            <a:r>
              <a:rPr lang="en-US" dirty="0" smtClean="0"/>
              <a:t>loop</a:t>
            </a:r>
          </a:p>
          <a:p>
            <a:pPr lvl="1"/>
            <a:endParaRPr lang="en-US" dirty="0" smtClean="0"/>
          </a:p>
          <a:p>
            <a:pPr marL="320040" lvl="1" indent="0">
              <a:buNone/>
            </a:pPr>
            <a:r>
              <a:rPr lang="en-US" dirty="0"/>
              <a:t>class </a:t>
            </a:r>
            <a:r>
              <a:rPr lang="en-US" dirty="0" err="1"/>
              <a:t>MainDemo</a:t>
            </a:r>
            <a:r>
              <a:rPr lang="en-US" dirty="0"/>
              <a:t> </a:t>
            </a:r>
            <a:r>
              <a:rPr lang="en-US" dirty="0" smtClean="0"/>
              <a:t>{</a:t>
            </a:r>
            <a:endParaRPr lang="en-US" dirty="0"/>
          </a:p>
          <a:p>
            <a:pPr marL="320040" lvl="1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  <a:r>
              <a:rPr lang="en-US" dirty="0" smtClean="0"/>
              <a:t>{</a:t>
            </a:r>
            <a:endParaRPr lang="en-US" dirty="0"/>
          </a:p>
          <a:p>
            <a:pPr marL="320040" lvl="1" indent="0">
              <a:buNone/>
            </a:pPr>
            <a:r>
              <a:rPr lang="en-US" dirty="0" smtClean="0"/>
              <a:t>	</a:t>
            </a:r>
            <a:r>
              <a:rPr lang="en-US" b="1" dirty="0" err="1" smtClean="0"/>
              <a:t>int</a:t>
            </a:r>
            <a:r>
              <a:rPr lang="en-US" b="1" dirty="0"/>
              <a:t>[] numbers = {1, 4, 5, 8, 7</a:t>
            </a:r>
            <a:r>
              <a:rPr lang="en-US" b="1" dirty="0" smtClean="0"/>
              <a:t>};</a:t>
            </a:r>
            <a:endParaRPr lang="en-US" b="1" dirty="0"/>
          </a:p>
          <a:p>
            <a:pPr marL="320040" lvl="1" indent="0">
              <a:buNone/>
            </a:pPr>
            <a:r>
              <a:rPr lang="en-US" b="1" dirty="0" smtClean="0"/>
              <a:t>	for(</a:t>
            </a: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/>
              <a:t>i</a:t>
            </a:r>
            <a:r>
              <a:rPr lang="en-US" b="1" dirty="0"/>
              <a:t> = 0; </a:t>
            </a:r>
            <a:r>
              <a:rPr lang="en-US" b="1" dirty="0" err="1"/>
              <a:t>i</a:t>
            </a:r>
            <a:r>
              <a:rPr lang="en-US" b="1" dirty="0"/>
              <a:t> &lt; </a:t>
            </a:r>
            <a:r>
              <a:rPr lang="en-US" b="1" dirty="0" err="1"/>
              <a:t>numbers.length</a:t>
            </a:r>
            <a:r>
              <a:rPr lang="en-US" b="1" dirty="0"/>
              <a:t>; </a:t>
            </a:r>
            <a:r>
              <a:rPr lang="en-US" b="1" dirty="0" err="1"/>
              <a:t>i</a:t>
            </a:r>
            <a:r>
              <a:rPr lang="en-US" b="1" dirty="0"/>
              <a:t>++) </a:t>
            </a:r>
            <a:r>
              <a:rPr lang="en-US" b="1" dirty="0" smtClean="0"/>
              <a:t>{</a:t>
            </a:r>
            <a:endParaRPr lang="en-US" b="1" dirty="0"/>
          </a:p>
          <a:p>
            <a:pPr marL="320040" lvl="1" indent="0">
              <a:buNone/>
            </a:pPr>
            <a:r>
              <a:rPr lang="en-US" b="1" dirty="0"/>
              <a:t>        </a:t>
            </a:r>
            <a:r>
              <a:rPr lang="en-US" b="1" dirty="0" err="1" smtClean="0"/>
              <a:t>System.out.println</a:t>
            </a:r>
            <a:r>
              <a:rPr lang="en-US" b="1" dirty="0" smtClean="0"/>
              <a:t>(</a:t>
            </a:r>
            <a:r>
              <a:rPr lang="en-US" b="1" dirty="0"/>
              <a:t>numbers </a:t>
            </a:r>
            <a:r>
              <a:rPr lang="en-US" b="1" dirty="0" smtClean="0"/>
              <a:t>[</a:t>
            </a:r>
            <a:r>
              <a:rPr lang="en-US" b="1" dirty="0" err="1"/>
              <a:t>i</a:t>
            </a:r>
            <a:r>
              <a:rPr lang="en-US" b="1" dirty="0" smtClean="0"/>
              <a:t>]);</a:t>
            </a:r>
            <a:endParaRPr lang="en-US" b="1" dirty="0"/>
          </a:p>
          <a:p>
            <a:pPr marL="320040" lvl="1" indent="0">
              <a:buNone/>
            </a:pPr>
            <a:r>
              <a:rPr lang="en-US" b="1" dirty="0"/>
              <a:t>      }</a:t>
            </a:r>
          </a:p>
          <a:p>
            <a:pPr marL="320040" lvl="1" indent="0">
              <a:buNone/>
            </a:pPr>
            <a:r>
              <a:rPr lang="en-US" dirty="0"/>
              <a:t>    }</a:t>
            </a:r>
          </a:p>
          <a:p>
            <a:pPr marL="320040" lvl="1" indent="0">
              <a:buNone/>
            </a:pPr>
            <a:r>
              <a:rPr lang="en-US" dirty="0"/>
              <a:t>  }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1349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Elements of Array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562600"/>
          </a:xfrm>
        </p:spPr>
        <p:txBody>
          <a:bodyPr>
            <a:normAutofit/>
          </a:bodyPr>
          <a:lstStyle/>
          <a:p>
            <a:r>
              <a:rPr lang="en-US" b="1" dirty="0"/>
              <a:t>Accessing elements using for-each </a:t>
            </a:r>
            <a:r>
              <a:rPr lang="en-US" b="1" dirty="0" smtClean="0"/>
              <a:t>loop:</a:t>
            </a:r>
          </a:p>
          <a:p>
            <a:pPr lvl="1"/>
            <a:r>
              <a:rPr lang="en-US" dirty="0"/>
              <a:t>In this method, the for-each loop can also be used for accessing the elements of the array</a:t>
            </a:r>
            <a:endParaRPr lang="en-US" b="1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MainDemo</a:t>
            </a:r>
            <a:r>
              <a:rPr lang="en-US" dirty="0"/>
              <a:t>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b="1" dirty="0" err="1" smtClean="0"/>
              <a:t>int</a:t>
            </a:r>
            <a:r>
              <a:rPr lang="en-US" b="1" dirty="0"/>
              <a:t>[] numbers = {1, 2, 4, 6, 8</a:t>
            </a:r>
            <a:r>
              <a:rPr lang="en-US" b="1" dirty="0" smtClean="0"/>
              <a:t>};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 </a:t>
            </a:r>
            <a:r>
              <a:rPr lang="en-US" b="1" dirty="0" smtClean="0"/>
              <a:t>	 </a:t>
            </a:r>
            <a:r>
              <a:rPr lang="en-US" b="1" dirty="0"/>
              <a:t>for(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 : numbers) </a:t>
            </a:r>
            <a:r>
              <a:rPr lang="en-US" b="1" dirty="0" smtClean="0"/>
              <a:t>{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    </a:t>
            </a:r>
            <a:r>
              <a:rPr lang="en-US" b="1" dirty="0" err="1"/>
              <a:t>System.out.println</a:t>
            </a:r>
            <a:r>
              <a:rPr lang="en-US" b="1" dirty="0"/>
              <a:t>(</a:t>
            </a:r>
            <a:r>
              <a:rPr lang="en-US" b="1" dirty="0" err="1"/>
              <a:t>i</a:t>
            </a:r>
            <a:r>
              <a:rPr lang="en-US" b="1" dirty="0" smtClean="0"/>
              <a:t>);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2614730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Assigning an Array Reference to Another </a:t>
            </a:r>
            <a:r>
              <a:rPr lang="en-US" b="0" dirty="0" smtClean="0"/>
              <a:t>Array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638800"/>
          </a:xfrm>
        </p:spPr>
        <p:txBody>
          <a:bodyPr>
            <a:normAutofit/>
          </a:bodyPr>
          <a:lstStyle/>
          <a:p>
            <a:r>
              <a:rPr lang="en-US" dirty="0"/>
              <a:t>An array can be used as a reference type of variable and can be </a:t>
            </a:r>
            <a:r>
              <a:rPr lang="en-US" dirty="0" smtClean="0"/>
              <a:t>used </a:t>
            </a:r>
            <a:r>
              <a:rPr lang="en-US" dirty="0"/>
              <a:t>to assign an already existing array</a:t>
            </a:r>
            <a:r>
              <a:rPr lang="en-US" dirty="0" smtClean="0"/>
              <a:t>.</a:t>
            </a:r>
          </a:p>
          <a:p>
            <a:pPr marL="320040" lvl="1" indent="0">
              <a:buNone/>
            </a:pPr>
            <a:r>
              <a:rPr lang="en-US" dirty="0"/>
              <a:t>class </a:t>
            </a:r>
            <a:r>
              <a:rPr lang="en-US" dirty="0" err="1"/>
              <a:t>MainDemo</a:t>
            </a:r>
            <a:endParaRPr lang="en-US" dirty="0"/>
          </a:p>
          <a:p>
            <a:pPr marL="320040" lvl="1" indent="0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320040" lvl="1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 smtClean="0"/>
              <a:t>)</a:t>
            </a:r>
            <a:endParaRPr lang="en-US" dirty="0"/>
          </a:p>
          <a:p>
            <a:pPr marL="320040" lvl="1" indent="0">
              <a:buNone/>
            </a:pPr>
            <a:r>
              <a:rPr lang="en-US" dirty="0"/>
              <a:t>    {</a:t>
            </a:r>
          </a:p>
          <a:p>
            <a:pPr marL="320040" lvl="1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dirty="0" err="1" smtClean="0"/>
              <a:t>int</a:t>
            </a:r>
            <a:r>
              <a:rPr lang="en-US" dirty="0"/>
              <a:t>[] </a:t>
            </a:r>
            <a:r>
              <a:rPr lang="en-US" dirty="0" err="1"/>
              <a:t>arr</a:t>
            </a:r>
            <a:r>
              <a:rPr lang="en-US" dirty="0"/>
              <a:t> = {1, 2, 4, 6, 8};</a:t>
            </a:r>
          </a:p>
          <a:p>
            <a:pPr marL="320040" lvl="1" indent="0">
              <a:buNone/>
            </a:pPr>
            <a:r>
              <a:rPr lang="en-US" dirty="0"/>
              <a:t>      </a:t>
            </a:r>
            <a:r>
              <a:rPr lang="en-US" dirty="0" err="1"/>
              <a:t>int</a:t>
            </a:r>
            <a:r>
              <a:rPr lang="en-US" dirty="0"/>
              <a:t>[] arr1;</a:t>
            </a:r>
          </a:p>
          <a:p>
            <a:pPr marL="320040" lvl="1" indent="0">
              <a:buNone/>
            </a:pPr>
            <a:r>
              <a:rPr lang="en-US" dirty="0"/>
              <a:t>      arr1 = </a:t>
            </a:r>
            <a:r>
              <a:rPr lang="en-US" dirty="0" err="1"/>
              <a:t>arr</a:t>
            </a:r>
            <a:r>
              <a:rPr lang="en-US" dirty="0"/>
              <a:t>; </a:t>
            </a:r>
            <a:endParaRPr lang="en-US" dirty="0" smtClean="0"/>
          </a:p>
          <a:p>
            <a:pPr marL="320040" lvl="1" indent="0">
              <a:buNone/>
            </a:pPr>
            <a:r>
              <a:rPr lang="en-US" dirty="0" smtClean="0"/>
              <a:t>      </a:t>
            </a:r>
            <a:r>
              <a:rPr lang="en-US" dirty="0" err="1" smtClean="0"/>
              <a:t>System.out.println</a:t>
            </a:r>
            <a:r>
              <a:rPr lang="en-US" dirty="0" smtClean="0"/>
              <a:t>(arr1[3]);</a:t>
            </a:r>
            <a:endParaRPr lang="en-US" dirty="0"/>
          </a:p>
          <a:p>
            <a:pPr marL="320040" lvl="1" indent="0">
              <a:buNone/>
            </a:pPr>
            <a:r>
              <a:rPr lang="en-US" dirty="0"/>
              <a:t>    }</a:t>
            </a:r>
          </a:p>
          <a:p>
            <a:pPr marL="320040" lvl="1" indent="0">
              <a:buNone/>
            </a:pPr>
            <a:r>
              <a:rPr lang="en-US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2917115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 </a:t>
            </a:r>
            <a:r>
              <a:rPr lang="en-US" dirty="0" err="1" smtClean="0"/>
              <a:t>Dimention</a:t>
            </a:r>
            <a:r>
              <a:rPr lang="en-US" dirty="0" smtClean="0"/>
              <a:t> Array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9185" y="1066800"/>
            <a:ext cx="7772400" cy="4572000"/>
          </a:xfrm>
        </p:spPr>
        <p:txBody>
          <a:bodyPr/>
          <a:lstStyle/>
          <a:p>
            <a:r>
              <a:rPr lang="en-US" dirty="0"/>
              <a:t>Multidimensional Array in </a:t>
            </a:r>
            <a:r>
              <a:rPr lang="en-US" dirty="0" smtClean="0"/>
              <a:t>Java</a:t>
            </a:r>
          </a:p>
          <a:p>
            <a:pPr lvl="1"/>
            <a:r>
              <a:rPr lang="en-US" dirty="0"/>
              <a:t>In such case, data is stored in row and column based index (also known as matrix form</a:t>
            </a:r>
            <a:r>
              <a:rPr lang="en-US" dirty="0" smtClean="0"/>
              <a:t>).</a:t>
            </a:r>
          </a:p>
          <a:p>
            <a:pPr lvl="1"/>
            <a:r>
              <a:rPr lang="en-US" b="1" dirty="0"/>
              <a:t>Syntax to Declare Multidimensional Array in Java</a:t>
            </a:r>
            <a:endParaRPr lang="en-US" dirty="0"/>
          </a:p>
          <a:p>
            <a:pPr lvl="1"/>
            <a:endParaRPr lang="en-US" dirty="0" smtClean="0"/>
          </a:p>
          <a:p>
            <a:pPr lvl="1"/>
            <a:r>
              <a:rPr lang="en-US" dirty="0" err="1" smtClean="0"/>
              <a:t>dataType</a:t>
            </a:r>
            <a:r>
              <a:rPr lang="en-US" dirty="0" smtClean="0"/>
              <a:t> </a:t>
            </a:r>
            <a:r>
              <a:rPr lang="en-US" dirty="0"/>
              <a:t>[][]</a:t>
            </a:r>
            <a:r>
              <a:rPr lang="en-US" dirty="0" err="1"/>
              <a:t>arrayRefVar</a:t>
            </a:r>
            <a:r>
              <a:rPr lang="en-US" dirty="0"/>
              <a:t>; (or)  </a:t>
            </a:r>
          </a:p>
          <a:p>
            <a:pPr lvl="1"/>
            <a:r>
              <a:rPr lang="en-US" dirty="0" err="1"/>
              <a:t>dataType</a:t>
            </a:r>
            <a:r>
              <a:rPr lang="en-US" dirty="0"/>
              <a:t> </a:t>
            </a:r>
            <a:r>
              <a:rPr lang="en-US" dirty="0" err="1"/>
              <a:t>arrayRefVar</a:t>
            </a:r>
            <a:r>
              <a:rPr lang="en-US" dirty="0"/>
              <a:t>[][]; (or)  </a:t>
            </a:r>
          </a:p>
          <a:p>
            <a:pPr lvl="1"/>
            <a:r>
              <a:rPr lang="en-US" dirty="0" err="1"/>
              <a:t>dataType</a:t>
            </a:r>
            <a:r>
              <a:rPr lang="en-US" dirty="0"/>
              <a:t> []</a:t>
            </a:r>
            <a:r>
              <a:rPr lang="en-US" dirty="0" err="1"/>
              <a:t>arrayRefVar</a:t>
            </a:r>
            <a:r>
              <a:rPr lang="en-US" dirty="0"/>
              <a:t>[]; </a:t>
            </a:r>
          </a:p>
        </p:txBody>
      </p:sp>
    </p:spTree>
    <p:extLst>
      <p:ext uri="{BB962C8B-B14F-4D97-AF65-F5344CB8AC3E}">
        <p14:creationId xmlns:p14="http://schemas.microsoft.com/office/powerpoint/2010/main" val="35966487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 </a:t>
            </a:r>
            <a:r>
              <a:rPr lang="en-US" dirty="0" err="1"/>
              <a:t>Dimention</a:t>
            </a:r>
            <a:r>
              <a:rPr lang="en-US" dirty="0"/>
              <a:t> Array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Example to instantiate Multidimensional Array in </a:t>
            </a:r>
            <a:r>
              <a:rPr lang="en-US" b="1" dirty="0" smtClean="0"/>
              <a:t>Java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int</a:t>
            </a:r>
            <a:r>
              <a:rPr lang="en-US" dirty="0"/>
              <a:t>[][] </a:t>
            </a:r>
            <a:r>
              <a:rPr lang="en-US" dirty="0" err="1"/>
              <a:t>arr</a:t>
            </a:r>
            <a:r>
              <a:rPr lang="en-US" dirty="0"/>
              <a:t>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b="1" dirty="0" err="1"/>
              <a:t>int</a:t>
            </a:r>
            <a:r>
              <a:rPr lang="en-US" dirty="0"/>
              <a:t>[3][3];//3 row and 3 column  </a:t>
            </a:r>
            <a:endParaRPr lang="en-US" dirty="0" smtClean="0"/>
          </a:p>
          <a:p>
            <a:endParaRPr lang="en-US" dirty="0"/>
          </a:p>
          <a:p>
            <a:r>
              <a:rPr lang="en-US" b="1" dirty="0"/>
              <a:t>Example to initialize Multidimensional Array in </a:t>
            </a:r>
            <a:r>
              <a:rPr lang="en-US" b="1" dirty="0" smtClean="0"/>
              <a:t>Java</a:t>
            </a:r>
          </a:p>
          <a:p>
            <a:pPr marL="0" indent="0">
              <a:buNone/>
            </a:pPr>
            <a:r>
              <a:rPr lang="sv-SE" dirty="0"/>
              <a:t>arr[0][0]=1;  </a:t>
            </a:r>
          </a:p>
          <a:p>
            <a:pPr marL="0" indent="0">
              <a:buNone/>
            </a:pPr>
            <a:r>
              <a:rPr lang="sv-SE" dirty="0"/>
              <a:t>arr[0][1]=2;  </a:t>
            </a:r>
          </a:p>
          <a:p>
            <a:pPr marL="0" indent="0">
              <a:buNone/>
            </a:pPr>
            <a:r>
              <a:rPr lang="sv-SE" dirty="0"/>
              <a:t>arr[0][2]=3;  </a:t>
            </a:r>
          </a:p>
          <a:p>
            <a:pPr marL="0" indent="0">
              <a:buNone/>
            </a:pPr>
            <a:r>
              <a:rPr lang="sv-SE" dirty="0"/>
              <a:t>arr[1][0]=4;  </a:t>
            </a:r>
          </a:p>
          <a:p>
            <a:pPr marL="0" indent="0">
              <a:buNone/>
            </a:pPr>
            <a:r>
              <a:rPr lang="sv-SE" dirty="0"/>
              <a:t>arr[1][1]=5;  </a:t>
            </a:r>
          </a:p>
          <a:p>
            <a:pPr marL="0" indent="0">
              <a:buNone/>
            </a:pPr>
            <a:r>
              <a:rPr lang="sv-SE" dirty="0"/>
              <a:t>arr[1][2]=6;  </a:t>
            </a:r>
          </a:p>
          <a:p>
            <a:pPr marL="0" indent="0">
              <a:buNone/>
            </a:pPr>
            <a:r>
              <a:rPr lang="sv-SE" dirty="0"/>
              <a:t>arr[2][0]=7;  </a:t>
            </a:r>
          </a:p>
          <a:p>
            <a:pPr marL="0" indent="0">
              <a:buNone/>
            </a:pPr>
            <a:r>
              <a:rPr lang="sv-SE" dirty="0"/>
              <a:t>arr[2][1]=8;  </a:t>
            </a:r>
          </a:p>
          <a:p>
            <a:pPr marL="0" indent="0">
              <a:buNone/>
            </a:pPr>
            <a:r>
              <a:rPr lang="sv-SE" dirty="0"/>
              <a:t>arr[2][2]=9; 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839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Multidimensional Java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Let's see the simple example to declare, instantiate, initialize and print the 2Dimensional array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Testarray3{  </a:t>
            </a:r>
          </a:p>
          <a:p>
            <a:pPr marL="0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0" indent="0">
              <a:buNone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arr</a:t>
            </a:r>
            <a:r>
              <a:rPr lang="en-US" dirty="0"/>
              <a:t>[][]={{1,2,3},{2,4,5},{4,4,5}};  </a:t>
            </a:r>
          </a:p>
          <a:p>
            <a:pPr marL="0" indent="0">
              <a:buNone/>
            </a:pPr>
            <a:r>
              <a:rPr lang="en-US" dirty="0" smtClean="0"/>
              <a:t>for(</a:t>
            </a:r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/>
              <a:t>i</a:t>
            </a:r>
            <a:r>
              <a:rPr lang="en-US" dirty="0"/>
              <a:t>=0;i&lt;3;i++){  </a:t>
            </a:r>
          </a:p>
          <a:p>
            <a:pPr marL="0" indent="0">
              <a:buNone/>
            </a:pPr>
            <a:r>
              <a:rPr lang="en-US" dirty="0"/>
              <a:t> for(</a:t>
            </a:r>
            <a:r>
              <a:rPr lang="en-US" dirty="0" err="1"/>
              <a:t>int</a:t>
            </a:r>
            <a:r>
              <a:rPr lang="en-US" dirty="0"/>
              <a:t> j=0;j&lt;3;j++){ 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System.out.print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][j]+" ");  </a:t>
            </a:r>
          </a:p>
          <a:p>
            <a:pPr marL="0" indent="0">
              <a:buNone/>
            </a:pPr>
            <a:r>
              <a:rPr lang="en-US" dirty="0"/>
              <a:t> }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err="1"/>
              <a:t>System.out.println</a:t>
            </a:r>
            <a:r>
              <a:rPr lang="en-US" dirty="0"/>
              <a:t>();  </a:t>
            </a:r>
          </a:p>
          <a:p>
            <a:pPr marL="0" indent="0">
              <a:buNone/>
            </a:pPr>
            <a:r>
              <a:rPr lang="en-US" dirty="0"/>
              <a:t>}  </a:t>
            </a:r>
          </a:p>
          <a:p>
            <a:pPr marL="0" indent="0">
              <a:buNone/>
            </a:pPr>
            <a:r>
              <a:rPr lang="en-US" dirty="0"/>
              <a:t>}} </a:t>
            </a:r>
          </a:p>
        </p:txBody>
      </p:sp>
    </p:spTree>
    <p:extLst>
      <p:ext uri="{BB962C8B-B14F-4D97-AF65-F5344CB8AC3E}">
        <p14:creationId xmlns:p14="http://schemas.microsoft.com/office/powerpoint/2010/main" val="14882301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Strings In 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638800"/>
          </a:xfrm>
        </p:spPr>
        <p:txBody>
          <a:bodyPr>
            <a:normAutofit/>
          </a:bodyPr>
          <a:lstStyle/>
          <a:p>
            <a:r>
              <a:rPr lang="en-US" dirty="0"/>
              <a:t>Strings are the type of objects that can store the character of values and in Java, every character is stored in 16 bits </a:t>
            </a:r>
            <a:r>
              <a:rPr lang="en-US" dirty="0" err="1"/>
              <a:t>i,e</a:t>
            </a:r>
            <a:r>
              <a:rPr lang="en-US" dirty="0"/>
              <a:t> using UTF 16-bit encoding. A string acts the same as an array of characters in Java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Example : String </a:t>
            </a:r>
            <a:r>
              <a:rPr lang="en-US" b="1" dirty="0"/>
              <a:t>name = </a:t>
            </a:r>
            <a:r>
              <a:rPr lang="en-US" b="1" dirty="0" smtClean="0"/>
              <a:t>“Hello";</a:t>
            </a:r>
          </a:p>
          <a:p>
            <a:endParaRPr lang="en-US" b="1" dirty="0"/>
          </a:p>
          <a:p>
            <a:r>
              <a:rPr lang="en-US" b="1" dirty="0"/>
              <a:t>Java String</a:t>
            </a:r>
            <a:r>
              <a:rPr lang="en-US" dirty="0"/>
              <a:t> class provides a lot of methods to perform operations on strings such as compare(), </a:t>
            </a:r>
            <a:r>
              <a:rPr lang="en-US" dirty="0" err="1"/>
              <a:t>concat</a:t>
            </a:r>
            <a:r>
              <a:rPr lang="en-US" dirty="0"/>
              <a:t>(), equals(), split(), length(), replace(), </a:t>
            </a:r>
            <a:r>
              <a:rPr lang="en-US" dirty="0" err="1"/>
              <a:t>compareTo</a:t>
            </a:r>
            <a:r>
              <a:rPr lang="en-US" dirty="0"/>
              <a:t>(), intern(), substring() etc.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1811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4636" y="1066800"/>
            <a:ext cx="7772400" cy="4572000"/>
          </a:xfr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 smtClean="0"/>
              <a:t>java.lang.String</a:t>
            </a:r>
            <a:r>
              <a:rPr lang="en-US" dirty="0" smtClean="0"/>
              <a:t> </a:t>
            </a:r>
            <a:r>
              <a:rPr lang="en-US" dirty="0"/>
              <a:t>class implements </a:t>
            </a:r>
            <a:r>
              <a:rPr lang="en-US" b="1" i="1" dirty="0" err="1"/>
              <a:t>Serializable</a:t>
            </a:r>
            <a:r>
              <a:rPr lang="en-US" b="1" dirty="0"/>
              <a:t>, </a:t>
            </a:r>
            <a:r>
              <a:rPr lang="en-US" b="1" i="1" dirty="0"/>
              <a:t>Comparable</a:t>
            </a:r>
            <a:r>
              <a:rPr lang="en-US" b="1" dirty="0"/>
              <a:t> and </a:t>
            </a:r>
            <a:r>
              <a:rPr lang="en-US" b="1" i="1" dirty="0" err="1"/>
              <a:t>CharSequence</a:t>
            </a:r>
            <a:r>
              <a:rPr lang="en-US" dirty="0"/>
              <a:t> </a:t>
            </a:r>
            <a:r>
              <a:rPr lang="en-US" dirty="0"/>
              <a:t>interfaces</a:t>
            </a:r>
            <a:r>
              <a:rPr lang="en-US" dirty="0"/>
              <a:t>.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667000"/>
            <a:ext cx="5949207" cy="364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07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38284" y="990600"/>
            <a:ext cx="7772400" cy="4572000"/>
          </a:xfrm>
        </p:spPr>
        <p:txBody>
          <a:bodyPr/>
          <a:lstStyle/>
          <a:p>
            <a:r>
              <a:rPr lang="en-US" b="1" dirty="0" err="1"/>
              <a:t>CharSequence</a:t>
            </a:r>
            <a:r>
              <a:rPr lang="en-US" b="1" dirty="0"/>
              <a:t> </a:t>
            </a:r>
            <a:r>
              <a:rPr lang="en-US" b="1" dirty="0" smtClean="0"/>
              <a:t>Interface: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CharSequence</a:t>
            </a:r>
            <a:r>
              <a:rPr lang="en-US" dirty="0"/>
              <a:t> interface is used to represent the sequence of characters. </a:t>
            </a:r>
            <a:r>
              <a:rPr lang="en-US" b="1" dirty="0"/>
              <a:t>String</a:t>
            </a:r>
            <a:r>
              <a:rPr lang="en-US" dirty="0"/>
              <a:t>, </a:t>
            </a:r>
            <a:r>
              <a:rPr lang="en-US" b="1" dirty="0">
                <a:hlinkClick r:id="rId2"/>
              </a:rPr>
              <a:t>StringBuffer</a:t>
            </a:r>
            <a:r>
              <a:rPr lang="en-US" dirty="0"/>
              <a:t> and </a:t>
            </a:r>
            <a:r>
              <a:rPr lang="en-US" b="1" dirty="0" err="1">
                <a:hlinkClick r:id="rId3"/>
              </a:rPr>
              <a:t>StringBuilder</a:t>
            </a:r>
            <a:r>
              <a:rPr lang="en-US" dirty="0"/>
              <a:t> classes implement it. It means, we can create strings in Java by using these three classes.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3429000"/>
            <a:ext cx="5181600" cy="327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007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5410200"/>
          </a:xfrm>
        </p:spPr>
        <p:txBody>
          <a:bodyPr>
            <a:normAutofit/>
          </a:bodyPr>
          <a:lstStyle/>
          <a:p>
            <a:r>
              <a:rPr lang="en-US" dirty="0"/>
              <a:t>The Java String is immutable which means it cannot be changed. </a:t>
            </a:r>
            <a:endParaRPr lang="en-US" dirty="0" smtClean="0"/>
          </a:p>
          <a:p>
            <a:r>
              <a:rPr lang="en-US" dirty="0" smtClean="0"/>
              <a:t>Whenever </a:t>
            </a:r>
            <a:r>
              <a:rPr lang="en-US" dirty="0"/>
              <a:t>we change any string, a new instance is created.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mutable strings, you can use StringBuffer and </a:t>
            </a:r>
            <a:r>
              <a:rPr lang="en-US" dirty="0" err="1"/>
              <a:t>StringBuilder</a:t>
            </a:r>
            <a:r>
              <a:rPr lang="en-US" dirty="0"/>
              <a:t> classes</a:t>
            </a:r>
            <a:r>
              <a:rPr lang="en-US" dirty="0" smtClean="0"/>
              <a:t>.</a:t>
            </a:r>
          </a:p>
          <a:p>
            <a:r>
              <a:rPr lang="en-US" b="1" dirty="0"/>
              <a:t>How to create a string object?</a:t>
            </a:r>
          </a:p>
          <a:p>
            <a:endParaRPr lang="en-US" dirty="0" smtClean="0"/>
          </a:p>
          <a:p>
            <a:r>
              <a:rPr lang="en-US" dirty="0"/>
              <a:t>There are two ways to create String object:</a:t>
            </a:r>
          </a:p>
          <a:p>
            <a:pPr lvl="1"/>
            <a:r>
              <a:rPr lang="en-US" dirty="0"/>
              <a:t>By string literal</a:t>
            </a:r>
          </a:p>
          <a:p>
            <a:pPr lvl="1"/>
            <a:r>
              <a:rPr lang="en-US" dirty="0"/>
              <a:t>By new keyword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0260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</a:t>
            </a:r>
            <a:r>
              <a:rPr lang="en-US" dirty="0" smtClean="0"/>
              <a:t>Literal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562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Java String literal is created by using double quotes. For Example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String s="welcome";  </a:t>
            </a:r>
            <a:endParaRPr lang="en-US" b="1" dirty="0" smtClean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dirty="0"/>
              <a:t>Each time you create a string literal, the JVM checks the "string constant pool" first. 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If </a:t>
            </a:r>
            <a:r>
              <a:rPr lang="en-US" dirty="0"/>
              <a:t>the string already exists in the pool, a reference to the pooled instance is returned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If the string doesn't exist in the pool, a new string instance is created and placed in the pool. For example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String s1="Welcome";  </a:t>
            </a:r>
          </a:p>
          <a:p>
            <a:pPr marL="0" indent="0">
              <a:buNone/>
            </a:pPr>
            <a:r>
              <a:rPr lang="en-US" dirty="0"/>
              <a:t>String s2="Welcome";//It doesn't create a new instance  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5154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 By new </a:t>
            </a:r>
            <a:r>
              <a:rPr lang="en-US" dirty="0" smtClean="0"/>
              <a:t>keyword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4572000"/>
          </a:xfrm>
        </p:spPr>
        <p:txBody>
          <a:bodyPr/>
          <a:lstStyle/>
          <a:p>
            <a:r>
              <a:rPr lang="en-US" dirty="0"/>
              <a:t>String s=</a:t>
            </a:r>
            <a:r>
              <a:rPr lang="en-US" b="1" dirty="0"/>
              <a:t>new</a:t>
            </a:r>
            <a:r>
              <a:rPr lang="en-US" dirty="0"/>
              <a:t> String("Welcome");//creates two objects and one reference variable  </a:t>
            </a:r>
          </a:p>
          <a:p>
            <a:endParaRPr lang="en-US" dirty="0" smtClean="0"/>
          </a:p>
          <a:p>
            <a:r>
              <a:rPr lang="en-US" dirty="0"/>
              <a:t>In such case, </a:t>
            </a:r>
            <a:r>
              <a:rPr lang="en-US" dirty="0">
                <a:hlinkClick r:id="rId2"/>
              </a:rPr>
              <a:t>JVM</a:t>
            </a:r>
            <a:r>
              <a:rPr lang="en-US" dirty="0"/>
              <a:t> will create a new string object in normal (non-pool) heap memory, and the literal "Welcome" will be placed in the string constant pool. The variable s will refer to the object in a heap (non-pool).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610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String </a:t>
            </a:r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StringExample</a:t>
            </a:r>
            <a:r>
              <a:rPr lang="en-US" dirty="0"/>
              <a:t>{    </a:t>
            </a:r>
          </a:p>
          <a:p>
            <a:pPr marL="0" indent="0">
              <a:buNone/>
            </a:pPr>
            <a:r>
              <a:rPr lang="en-US" dirty="0"/>
              <a:t>public static void main(String </a:t>
            </a:r>
            <a:r>
              <a:rPr lang="en-US" dirty="0" err="1"/>
              <a:t>args</a:t>
            </a:r>
            <a:r>
              <a:rPr lang="en-US" dirty="0"/>
              <a:t>[]){    </a:t>
            </a:r>
          </a:p>
          <a:p>
            <a:pPr marL="0" indent="0">
              <a:buNone/>
            </a:pPr>
            <a:r>
              <a:rPr lang="en-US" dirty="0"/>
              <a:t>String s1="java";//creating string by Java string literal    </a:t>
            </a:r>
          </a:p>
          <a:p>
            <a:pPr marL="0" indent="0">
              <a:buNone/>
            </a:pPr>
            <a:r>
              <a:rPr lang="en-US" dirty="0"/>
              <a:t>char </a:t>
            </a:r>
            <a:r>
              <a:rPr lang="en-US" dirty="0" err="1"/>
              <a:t>ch</a:t>
            </a:r>
            <a:r>
              <a:rPr lang="en-US" dirty="0"/>
              <a:t>[]={'s','t','r','</a:t>
            </a:r>
            <a:r>
              <a:rPr lang="en-US" dirty="0" err="1"/>
              <a:t>i</a:t>
            </a:r>
            <a:r>
              <a:rPr lang="en-US" dirty="0"/>
              <a:t>','</a:t>
            </a:r>
            <a:r>
              <a:rPr lang="en-US" dirty="0" err="1"/>
              <a:t>n','g','s</a:t>
            </a:r>
            <a:r>
              <a:rPr lang="en-US" dirty="0"/>
              <a:t>'};    </a:t>
            </a:r>
          </a:p>
          <a:p>
            <a:pPr marL="0" indent="0">
              <a:buNone/>
            </a:pPr>
            <a:r>
              <a:rPr lang="en-US" dirty="0"/>
              <a:t>String s2=new String(</a:t>
            </a:r>
            <a:r>
              <a:rPr lang="en-US" dirty="0" err="1"/>
              <a:t>ch</a:t>
            </a:r>
            <a:r>
              <a:rPr lang="en-US" dirty="0"/>
              <a:t>);//converting char array to string    </a:t>
            </a:r>
          </a:p>
          <a:p>
            <a:pPr marL="0" indent="0">
              <a:buNone/>
            </a:pPr>
            <a:r>
              <a:rPr lang="en-US" dirty="0"/>
              <a:t>String s3=new String("example");//creating Java string by new keyword    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(s1);    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(s2);    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(s3);    </a:t>
            </a:r>
          </a:p>
          <a:p>
            <a:pPr marL="0" indent="0">
              <a:buNone/>
            </a:pPr>
            <a:r>
              <a:rPr lang="en-US" dirty="0"/>
              <a:t>}} </a:t>
            </a:r>
          </a:p>
        </p:txBody>
      </p:sp>
    </p:spTree>
    <p:extLst>
      <p:ext uri="{BB962C8B-B14F-4D97-AF65-F5344CB8AC3E}">
        <p14:creationId xmlns:p14="http://schemas.microsoft.com/office/powerpoint/2010/main" val="1557089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String class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334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/>
              <a:t>java.lang.String</a:t>
            </a:r>
            <a:r>
              <a:rPr lang="en-US" dirty="0"/>
              <a:t> class provides many useful methods to perform operations on sequence of char values</a:t>
            </a:r>
            <a:r>
              <a:rPr lang="en-US" dirty="0" smtClean="0"/>
              <a:t>. Some of them are as follows:</a:t>
            </a:r>
          </a:p>
          <a:p>
            <a:endParaRPr lang="en-US" dirty="0"/>
          </a:p>
          <a:p>
            <a:r>
              <a:rPr lang="en-US" b="1" dirty="0"/>
              <a:t>char </a:t>
            </a:r>
            <a:r>
              <a:rPr lang="en-US" b="1" dirty="0" err="1"/>
              <a:t>charAt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index</a:t>
            </a:r>
            <a:r>
              <a:rPr lang="en-US" b="1" dirty="0" smtClean="0"/>
              <a:t>):</a:t>
            </a:r>
          </a:p>
          <a:p>
            <a:pPr lvl="1"/>
            <a:r>
              <a:rPr lang="en-US" dirty="0"/>
              <a:t>It returns char value for the particular </a:t>
            </a:r>
            <a:r>
              <a:rPr lang="en-US" dirty="0" smtClean="0"/>
              <a:t>index</a:t>
            </a:r>
          </a:p>
          <a:p>
            <a:r>
              <a:rPr lang="en-US" b="1" dirty="0" err="1"/>
              <a:t>int</a:t>
            </a:r>
            <a:r>
              <a:rPr lang="en-US" b="1" dirty="0"/>
              <a:t> length</a:t>
            </a:r>
            <a:r>
              <a:rPr lang="en-US" b="1" dirty="0" smtClean="0"/>
              <a:t>():</a:t>
            </a:r>
            <a:endParaRPr lang="en" dirty="0"/>
          </a:p>
          <a:p>
            <a:pPr lvl="1"/>
            <a:r>
              <a:rPr lang="en-US" dirty="0" smtClean="0"/>
              <a:t>It </a:t>
            </a:r>
            <a:r>
              <a:rPr lang="en-US" dirty="0"/>
              <a:t>returns string </a:t>
            </a:r>
            <a:r>
              <a:rPr lang="en-US" dirty="0" smtClean="0"/>
              <a:t>length</a:t>
            </a:r>
          </a:p>
          <a:p>
            <a:r>
              <a:rPr lang="en-US" b="1" dirty="0"/>
              <a:t>String </a:t>
            </a:r>
            <a:r>
              <a:rPr lang="en-US" b="1" dirty="0"/>
              <a:t>substring(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beginIndex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returns substring for given begin index</a:t>
            </a:r>
            <a:r>
              <a:rPr lang="en-US" dirty="0" smtClean="0"/>
              <a:t>.</a:t>
            </a:r>
          </a:p>
          <a:p>
            <a:r>
              <a:rPr lang="en-US" b="1" dirty="0"/>
              <a:t>String substring(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beginIndex</a:t>
            </a:r>
            <a:r>
              <a:rPr lang="en-US" b="1" dirty="0"/>
              <a:t>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endIndex</a:t>
            </a:r>
            <a:r>
              <a:rPr lang="en-US" b="1" dirty="0" smtClean="0"/>
              <a:t>):</a:t>
            </a:r>
          </a:p>
          <a:p>
            <a:pPr lvl="1"/>
            <a:r>
              <a:rPr lang="en-US" dirty="0"/>
              <a:t>It returns substring for given begin index and end index.</a:t>
            </a:r>
            <a:endParaRPr lang="en-US" b="1" dirty="0" smtClean="0"/>
          </a:p>
          <a:p>
            <a:pPr lvl="1"/>
            <a:endParaRPr lang="en-US" b="1" u="sng" dirty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6353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String class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/>
          </a:bodyPr>
          <a:lstStyle/>
          <a:p>
            <a:r>
              <a:rPr lang="en-US" b="1" dirty="0" err="1"/>
              <a:t>boolean</a:t>
            </a:r>
            <a:r>
              <a:rPr lang="en-US" b="1" dirty="0"/>
              <a:t> contains(</a:t>
            </a:r>
            <a:r>
              <a:rPr lang="en-US" b="1" dirty="0" err="1"/>
              <a:t>CharSequence</a:t>
            </a:r>
            <a:r>
              <a:rPr lang="en-US" b="1" dirty="0"/>
              <a:t> s</a:t>
            </a:r>
            <a:r>
              <a:rPr lang="en-US" b="1" dirty="0" smtClean="0"/>
              <a:t>):</a:t>
            </a:r>
          </a:p>
          <a:p>
            <a:pPr lvl="1"/>
            <a:r>
              <a:rPr lang="en-US" dirty="0"/>
              <a:t>It returns true or false after matching the sequence of char value</a:t>
            </a:r>
            <a:r>
              <a:rPr lang="en-US" dirty="0" smtClean="0"/>
              <a:t>.</a:t>
            </a:r>
          </a:p>
          <a:p>
            <a:r>
              <a:rPr lang="en-US" b="1" dirty="0"/>
              <a:t>static String join(</a:t>
            </a:r>
            <a:r>
              <a:rPr lang="en-US" b="1" dirty="0" err="1"/>
              <a:t>CharSequence</a:t>
            </a:r>
            <a:r>
              <a:rPr lang="en-US" b="1" dirty="0"/>
              <a:t> delimiter, </a:t>
            </a:r>
            <a:r>
              <a:rPr lang="en-US" b="1" dirty="0" err="1"/>
              <a:t>CharSequence</a:t>
            </a:r>
            <a:r>
              <a:rPr lang="en-US" b="1" dirty="0"/>
              <a:t>... elements</a:t>
            </a:r>
            <a:r>
              <a:rPr lang="en-US" b="1" dirty="0" smtClean="0"/>
              <a:t>):</a:t>
            </a:r>
            <a:endParaRPr lang="en" b="1" dirty="0"/>
          </a:p>
          <a:p>
            <a:pPr lvl="1"/>
            <a:r>
              <a:rPr lang="en-US" dirty="0" smtClean="0"/>
              <a:t>It </a:t>
            </a:r>
            <a:r>
              <a:rPr lang="en-US" dirty="0"/>
              <a:t>returns a joined string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boolean</a:t>
            </a:r>
            <a:r>
              <a:rPr lang="en-US" b="1" dirty="0" smtClean="0"/>
              <a:t> </a:t>
            </a:r>
            <a:r>
              <a:rPr lang="en-US" b="1" dirty="0"/>
              <a:t>equals(Object another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checks the equality of string with the given object.</a:t>
            </a:r>
            <a:endParaRPr lang="en-US" dirty="0" smtClean="0"/>
          </a:p>
          <a:p>
            <a:r>
              <a:rPr lang="en-US" b="1" dirty="0" err="1"/>
              <a:t>boolean</a:t>
            </a:r>
            <a:r>
              <a:rPr lang="en-US" b="1" dirty="0"/>
              <a:t> </a:t>
            </a:r>
            <a:r>
              <a:rPr lang="en-US" b="1" dirty="0" err="1"/>
              <a:t>isEmpty</a:t>
            </a:r>
            <a:r>
              <a:rPr lang="en-US" b="1" dirty="0"/>
              <a:t>():</a:t>
            </a:r>
            <a:endParaRPr lang="en" b="1" dirty="0"/>
          </a:p>
          <a:p>
            <a:pPr lvl="1"/>
            <a:r>
              <a:rPr lang="en-US" dirty="0"/>
              <a:t>It checks if string is empty.</a:t>
            </a:r>
            <a:endParaRPr lang="en" b="1" dirty="0"/>
          </a:p>
          <a:p>
            <a:r>
              <a:rPr lang="en-US" b="1" dirty="0"/>
              <a:t>String </a:t>
            </a:r>
            <a:r>
              <a:rPr lang="en-US" b="1" dirty="0" err="1"/>
              <a:t>concat</a:t>
            </a:r>
            <a:r>
              <a:rPr lang="en-US" b="1" dirty="0"/>
              <a:t>(String </a:t>
            </a:r>
            <a:r>
              <a:rPr lang="en-US" b="1" dirty="0" err="1"/>
              <a:t>str</a:t>
            </a:r>
            <a:r>
              <a:rPr lang="en-US" b="1" dirty="0" smtClean="0"/>
              <a:t>):</a:t>
            </a:r>
          </a:p>
          <a:p>
            <a:pPr lvl="1"/>
            <a:r>
              <a:rPr lang="en-US" dirty="0"/>
              <a:t>It concatenates the specified string.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367659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String class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/>
          </a:bodyPr>
          <a:lstStyle/>
          <a:p>
            <a:r>
              <a:rPr lang="en-US" b="1" dirty="0"/>
              <a:t>String replace(</a:t>
            </a:r>
            <a:r>
              <a:rPr lang="en-US" b="1" dirty="0" err="1"/>
              <a:t>CharSequence</a:t>
            </a:r>
            <a:r>
              <a:rPr lang="en-US" b="1" dirty="0"/>
              <a:t> old, </a:t>
            </a:r>
            <a:r>
              <a:rPr lang="en-US" b="1" dirty="0" err="1"/>
              <a:t>CharSequence</a:t>
            </a:r>
            <a:r>
              <a:rPr lang="en-US" b="1" dirty="0"/>
              <a:t> new</a:t>
            </a:r>
            <a:r>
              <a:rPr lang="en-US" b="1" dirty="0" smtClean="0"/>
              <a:t>):</a:t>
            </a:r>
          </a:p>
          <a:p>
            <a:pPr lvl="1"/>
            <a:r>
              <a:rPr lang="en-US" dirty="0"/>
              <a:t>It replaces all occurrences of the specified </a:t>
            </a:r>
            <a:r>
              <a:rPr lang="en-US" dirty="0" err="1"/>
              <a:t>CharSequence</a:t>
            </a:r>
            <a:r>
              <a:rPr lang="en-US" dirty="0" smtClean="0"/>
              <a:t>.</a:t>
            </a:r>
          </a:p>
          <a:p>
            <a:r>
              <a:rPr lang="en-US" b="1" dirty="0"/>
              <a:t>static String </a:t>
            </a:r>
            <a:r>
              <a:rPr lang="en-US" b="1" dirty="0" err="1"/>
              <a:t>equalsIgnoreCase</a:t>
            </a:r>
            <a:r>
              <a:rPr lang="en-US" b="1" dirty="0"/>
              <a:t>(String </a:t>
            </a:r>
            <a:r>
              <a:rPr lang="en-US" b="1" dirty="0" smtClean="0"/>
              <a:t>another):</a:t>
            </a:r>
          </a:p>
          <a:p>
            <a:pPr lvl="1"/>
            <a:r>
              <a:rPr lang="en-US" dirty="0"/>
              <a:t>It compares another string. It doesn't check case</a:t>
            </a:r>
            <a:r>
              <a:rPr lang="en-US" dirty="0" smtClean="0"/>
              <a:t>.</a:t>
            </a:r>
          </a:p>
          <a:p>
            <a:r>
              <a:rPr lang="en-US" b="1" dirty="0"/>
              <a:t>String[] split(String regex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returns a split string matching regex</a:t>
            </a:r>
            <a:r>
              <a:rPr lang="en-US" dirty="0" smtClean="0"/>
              <a:t>.</a:t>
            </a:r>
          </a:p>
          <a:p>
            <a:r>
              <a:rPr lang="sv-SE" b="1" dirty="0"/>
              <a:t>String[] split(String regex, int limit</a:t>
            </a:r>
            <a:r>
              <a:rPr lang="sv-SE" b="1" dirty="0" smtClean="0"/>
              <a:t>):</a:t>
            </a:r>
          </a:p>
          <a:p>
            <a:pPr lvl="1"/>
            <a:r>
              <a:rPr lang="en-US" dirty="0"/>
              <a:t>It returns a split string matching regex and limit</a:t>
            </a:r>
            <a:r>
              <a:rPr lang="en-US" dirty="0" smtClean="0"/>
              <a:t>.</a:t>
            </a:r>
          </a:p>
          <a:p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indexOf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ch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returns the specified char value index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lvl="1"/>
            <a:endParaRPr lang="en-US" b="1" dirty="0" smtClean="0"/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243776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String class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/>
          </a:bodyPr>
          <a:lstStyle/>
          <a:p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indexOf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ch</a:t>
            </a:r>
            <a:r>
              <a:rPr lang="en-US" b="1" dirty="0"/>
              <a:t>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fromIndex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returns the specified char value index starting with given index</a:t>
            </a:r>
            <a:r>
              <a:rPr lang="en-US" dirty="0" smtClean="0"/>
              <a:t>.</a:t>
            </a:r>
          </a:p>
          <a:p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 err="1"/>
              <a:t>indexOf</a:t>
            </a:r>
            <a:r>
              <a:rPr lang="en-US" b="1" dirty="0"/>
              <a:t>(String substring</a:t>
            </a:r>
            <a:r>
              <a:rPr lang="en-US" b="1" dirty="0" smtClean="0"/>
              <a:t>):</a:t>
            </a:r>
          </a:p>
          <a:p>
            <a:pPr lvl="1"/>
            <a:r>
              <a:rPr lang="en-US" dirty="0"/>
              <a:t>It returns the specified substring index</a:t>
            </a:r>
            <a:r>
              <a:rPr lang="en-US" dirty="0" smtClean="0"/>
              <a:t>.</a:t>
            </a:r>
          </a:p>
          <a:p>
            <a:r>
              <a:rPr lang="en-US" b="1" dirty="0"/>
              <a:t>String </a:t>
            </a:r>
            <a:r>
              <a:rPr lang="en-US" b="1" dirty="0" err="1"/>
              <a:t>toLowerCase</a:t>
            </a:r>
            <a:r>
              <a:rPr lang="en-US" b="1" dirty="0" smtClean="0"/>
              <a:t>():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returns a string in lowercase</a:t>
            </a:r>
            <a:r>
              <a:rPr lang="en-US" dirty="0" smtClean="0"/>
              <a:t>.</a:t>
            </a:r>
          </a:p>
          <a:p>
            <a:r>
              <a:rPr lang="en-US" b="1" dirty="0"/>
              <a:t>String </a:t>
            </a:r>
            <a:r>
              <a:rPr lang="en-US" b="1" dirty="0" err="1"/>
              <a:t>toUpperCase</a:t>
            </a:r>
            <a:r>
              <a:rPr lang="en-US" b="1" dirty="0" smtClean="0"/>
              <a:t>():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returns a string in uppercase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String </a:t>
            </a:r>
            <a:r>
              <a:rPr lang="en-US" b="1" dirty="0"/>
              <a:t>trim</a:t>
            </a:r>
            <a:r>
              <a:rPr lang="en-US" b="1" dirty="0" smtClean="0"/>
              <a:t>():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removes beginning and ending spaces of this string.</a:t>
            </a:r>
          </a:p>
        </p:txBody>
      </p:sp>
    </p:spTree>
    <p:extLst>
      <p:ext uri="{BB962C8B-B14F-4D97-AF65-F5344CB8AC3E}">
        <p14:creationId xmlns:p14="http://schemas.microsoft.com/office/powerpoint/2010/main" val="22992658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StringBuffer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638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StringBuffer</a:t>
            </a:r>
            <a:r>
              <a:rPr lang="en-US" dirty="0"/>
              <a:t> is a peer class of </a:t>
            </a:r>
            <a:r>
              <a:rPr lang="en-US" b="1" dirty="0"/>
              <a:t>String </a:t>
            </a:r>
            <a:r>
              <a:rPr lang="en-US" dirty="0"/>
              <a:t>that provides much of the functionality of strings.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string represents fixed-length, immutable character sequences while </a:t>
            </a:r>
            <a:r>
              <a:rPr lang="en-US" b="1" dirty="0"/>
              <a:t>StringBuffer</a:t>
            </a:r>
            <a:r>
              <a:rPr lang="en-US" dirty="0"/>
              <a:t> represents </a:t>
            </a:r>
            <a:r>
              <a:rPr lang="en-US" dirty="0" err="1"/>
              <a:t>growable</a:t>
            </a:r>
            <a:r>
              <a:rPr lang="en-US" dirty="0"/>
              <a:t> and writable character sequences means it is </a:t>
            </a:r>
            <a:r>
              <a:rPr lang="en-US" b="1" dirty="0"/>
              <a:t>immutable</a:t>
            </a:r>
            <a:r>
              <a:rPr lang="en-US" dirty="0"/>
              <a:t> in nature and it is thread safe class ,  we can use it when we have multi threaded environment and shared object of string buffer </a:t>
            </a:r>
            <a:r>
              <a:rPr lang="en-US" dirty="0" err="1"/>
              <a:t>i.e</a:t>
            </a:r>
            <a:r>
              <a:rPr lang="en-US" dirty="0"/>
              <a:t>, used by </a:t>
            </a:r>
            <a:r>
              <a:rPr lang="en-US" dirty="0" err="1"/>
              <a:t>mutiple</a:t>
            </a:r>
            <a:r>
              <a:rPr lang="en-US" dirty="0"/>
              <a:t> thread. As it is thread safe so there is extra overhead, so it is mainly used for multithreaded program.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2888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StringBuffer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/>
          </a:bodyPr>
          <a:lstStyle/>
          <a:p>
            <a:r>
              <a:rPr lang="en-US" b="1" dirty="0"/>
              <a:t>Syntax</a:t>
            </a:r>
            <a:r>
              <a:rPr lang="en-US" b="1" dirty="0" smtClean="0"/>
              <a:t>:</a:t>
            </a:r>
          </a:p>
          <a:p>
            <a:pPr lvl="1"/>
            <a:r>
              <a:rPr lang="en-US" dirty="0"/>
              <a:t>StringBuffer </a:t>
            </a:r>
            <a:r>
              <a:rPr lang="en-US" dirty="0" err="1"/>
              <a:t>demoString</a:t>
            </a:r>
            <a:r>
              <a:rPr lang="en-US" dirty="0"/>
              <a:t> = new StringBuffer</a:t>
            </a:r>
            <a:r>
              <a:rPr lang="en-US" dirty="0" smtClean="0"/>
              <a:t>(“Welcome");</a:t>
            </a:r>
          </a:p>
          <a:p>
            <a:r>
              <a:rPr lang="en-US" dirty="0" smtClean="0"/>
              <a:t>Example:</a:t>
            </a:r>
          </a:p>
          <a:p>
            <a:endParaRPr lang="en-US" dirty="0" smtClean="0"/>
          </a:p>
          <a:p>
            <a:pPr marL="320040" lvl="1" indent="0">
              <a:buNone/>
            </a:pPr>
            <a:r>
              <a:rPr lang="en-US" dirty="0"/>
              <a:t>public class </a:t>
            </a:r>
            <a:r>
              <a:rPr lang="en-US" dirty="0" err="1"/>
              <a:t>BufferTest</a:t>
            </a:r>
            <a:r>
              <a:rPr lang="en-US" dirty="0"/>
              <a:t>{  </a:t>
            </a:r>
          </a:p>
          <a:p>
            <a:pPr marL="320040" lvl="1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){  </a:t>
            </a:r>
          </a:p>
          <a:p>
            <a:pPr marL="320040" lvl="1" indent="0">
              <a:buNone/>
            </a:pPr>
            <a:r>
              <a:rPr lang="en-US" dirty="0"/>
              <a:t>        StringBuffer buffer=new StringBuffer("hello");  </a:t>
            </a:r>
          </a:p>
          <a:p>
            <a:pPr marL="320040" lvl="1" indent="0">
              <a:buNone/>
            </a:pPr>
            <a:r>
              <a:rPr lang="en-US" dirty="0"/>
              <a:t>        </a:t>
            </a:r>
            <a:r>
              <a:rPr lang="en-US" dirty="0" err="1"/>
              <a:t>buffer.append</a:t>
            </a:r>
            <a:r>
              <a:rPr lang="en-US" dirty="0"/>
              <a:t>("java");  </a:t>
            </a:r>
          </a:p>
          <a:p>
            <a:pPr marL="320040" lvl="1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(buffer);  </a:t>
            </a:r>
          </a:p>
          <a:p>
            <a:pPr marL="320040" lvl="1" indent="0">
              <a:buNone/>
            </a:pPr>
            <a:r>
              <a:rPr lang="en-US" dirty="0"/>
              <a:t>    }  </a:t>
            </a:r>
          </a:p>
          <a:p>
            <a:pPr marL="320040" lvl="1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442753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StringBuilder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45720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u="sng" dirty="0" err="1">
                <a:hlinkClick r:id="rId2"/>
              </a:rPr>
              <a:t>StringBuilder</a:t>
            </a:r>
            <a:r>
              <a:rPr lang="en-US" dirty="0"/>
              <a:t> in Java represents a mutable sequence of characters.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Since </a:t>
            </a:r>
            <a:r>
              <a:rPr lang="en-US" dirty="0"/>
              <a:t>the String Class in Java creates an immutable sequence of characters, the </a:t>
            </a:r>
            <a:r>
              <a:rPr lang="en-US" dirty="0" err="1"/>
              <a:t>StringBuilder</a:t>
            </a:r>
            <a:r>
              <a:rPr lang="en-US" dirty="0"/>
              <a:t> class provides an alternative to String Class, as it creates a mutable sequence of characters and it is not thread safe and its used only within the thread , so there is no extra overhead , so it is mainly used for single threaded program.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757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StringBuilder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143000"/>
            <a:ext cx="7772400" cy="5410200"/>
          </a:xfrm>
        </p:spPr>
        <p:txBody>
          <a:bodyPr>
            <a:normAutofit/>
          </a:bodyPr>
          <a:lstStyle/>
          <a:p>
            <a:r>
              <a:rPr lang="en-US" b="1" dirty="0"/>
              <a:t>Syntax:</a:t>
            </a:r>
          </a:p>
          <a:p>
            <a:pPr lvl="1"/>
            <a:r>
              <a:rPr lang="en-US" dirty="0" err="1" smtClean="0"/>
              <a:t>StringBuilder</a:t>
            </a:r>
            <a:r>
              <a:rPr lang="en-US" dirty="0" smtClean="0"/>
              <a:t> </a:t>
            </a:r>
            <a:r>
              <a:rPr lang="en-US" dirty="0" err="1"/>
              <a:t>demoString</a:t>
            </a:r>
            <a:r>
              <a:rPr lang="en-US" dirty="0"/>
              <a:t> = new </a:t>
            </a:r>
            <a:r>
              <a:rPr lang="en-US" dirty="0" err="1"/>
              <a:t>StringBuilder</a:t>
            </a:r>
            <a:r>
              <a:rPr lang="en-US" dirty="0"/>
              <a:t> </a:t>
            </a:r>
            <a:r>
              <a:rPr lang="en-US" dirty="0" smtClean="0"/>
              <a:t>(“</a:t>
            </a:r>
            <a:r>
              <a:rPr lang="en-US" dirty="0"/>
              <a:t>Welcome");</a:t>
            </a:r>
          </a:p>
          <a:p>
            <a:r>
              <a:rPr lang="en-US" b="1" dirty="0" smtClean="0"/>
              <a:t>Example:</a:t>
            </a:r>
          </a:p>
          <a:p>
            <a:endParaRPr lang="en-US" b="1" dirty="0" smtClean="0"/>
          </a:p>
          <a:p>
            <a:pPr marL="274320" lvl="1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class</a:t>
            </a:r>
            <a:r>
              <a:rPr lang="en-US" dirty="0"/>
              <a:t> </a:t>
            </a:r>
            <a:r>
              <a:rPr lang="en-US" dirty="0" err="1"/>
              <a:t>BuilderTest</a:t>
            </a:r>
            <a:r>
              <a:rPr lang="en-US" dirty="0"/>
              <a:t>{  </a:t>
            </a:r>
          </a:p>
          <a:p>
            <a:pPr marL="274320" lvl="1" indent="0">
              <a:buNone/>
            </a:pPr>
            <a:r>
              <a:rPr lang="en-US" dirty="0"/>
              <a:t>    </a:t>
            </a: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main(String[] </a:t>
            </a:r>
            <a:r>
              <a:rPr lang="en-US" dirty="0" err="1"/>
              <a:t>args</a:t>
            </a:r>
            <a:r>
              <a:rPr lang="en-US" dirty="0"/>
              <a:t>){  </a:t>
            </a:r>
          </a:p>
          <a:p>
            <a:pPr marL="274320" lvl="1" indent="0">
              <a:buNone/>
            </a:pPr>
            <a:r>
              <a:rPr lang="en-US" dirty="0"/>
              <a:t>        </a:t>
            </a:r>
            <a:r>
              <a:rPr lang="en-US" dirty="0" err="1"/>
              <a:t>StringBuilder</a:t>
            </a:r>
            <a:r>
              <a:rPr lang="en-US" dirty="0"/>
              <a:t> builder=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StringBuilder</a:t>
            </a:r>
            <a:r>
              <a:rPr lang="en-US" dirty="0"/>
              <a:t>("hello");  </a:t>
            </a:r>
          </a:p>
          <a:p>
            <a:pPr marL="274320" lvl="1" indent="0">
              <a:buNone/>
            </a:pPr>
            <a:r>
              <a:rPr lang="en-US" dirty="0"/>
              <a:t>        </a:t>
            </a:r>
            <a:r>
              <a:rPr lang="en-US" dirty="0" err="1"/>
              <a:t>builder.append</a:t>
            </a:r>
            <a:r>
              <a:rPr lang="en-US" dirty="0"/>
              <a:t>("java");  </a:t>
            </a:r>
          </a:p>
          <a:p>
            <a:pPr marL="274320" lvl="1" indent="0">
              <a:buNone/>
            </a:pPr>
            <a:r>
              <a:rPr lang="en-US" dirty="0"/>
              <a:t>        </a:t>
            </a:r>
            <a:r>
              <a:rPr lang="en-US" dirty="0" err="1"/>
              <a:t>System.out.println</a:t>
            </a:r>
            <a:r>
              <a:rPr lang="en-US" dirty="0"/>
              <a:t>(builder);  </a:t>
            </a:r>
          </a:p>
          <a:p>
            <a:pPr marL="274320" lvl="1" indent="0">
              <a:buNone/>
            </a:pPr>
            <a:r>
              <a:rPr lang="en-US" dirty="0"/>
              <a:t>    }  </a:t>
            </a:r>
          </a:p>
          <a:p>
            <a:pPr marL="274320" lvl="1" indent="0">
              <a:buNone/>
            </a:pPr>
            <a:r>
              <a:rPr lang="en-US" dirty="0"/>
              <a:t>}  </a:t>
            </a:r>
          </a:p>
          <a:p>
            <a:pPr lvl="1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607908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StringBuffer and </a:t>
            </a:r>
            <a:r>
              <a:rPr lang="en-US" dirty="0" err="1" smtClean="0"/>
              <a:t>StringBuilder</a:t>
            </a:r>
            <a:r>
              <a:rPr lang="en-US" dirty="0" smtClean="0"/>
              <a:t>  Difference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39735968"/>
              </p:ext>
            </p:extLst>
          </p:nvPr>
        </p:nvGraphicFramePr>
        <p:xfrm>
          <a:off x="1276645" y="1470660"/>
          <a:ext cx="7257756" cy="4853941"/>
        </p:xfrm>
        <a:graphic>
          <a:graphicData uri="http://schemas.openxmlformats.org/drawingml/2006/table">
            <a:tbl>
              <a:tblPr/>
              <a:tblGrid>
                <a:gridCol w="2419252"/>
                <a:gridCol w="2419252"/>
                <a:gridCol w="2419252"/>
              </a:tblGrid>
              <a:tr h="539327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No.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00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StringBuffer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00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StringBuilder</a:t>
                      </a:r>
                    </a:p>
                  </a:txBody>
                  <a:tcPr marL="114300" marR="114300" marT="114300" marB="114300">
                    <a:lnL w="9525" cap="flat" cmpd="sng" algn="ctr">
                      <a:solidFill>
                        <a:srgbClr val="00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29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</a:tr>
              <a:tr h="2222680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1)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StringBuffer is </a:t>
                      </a:r>
                      <a:r>
                        <a:rPr lang="en-US" i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synchronized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i.e. thread safe. It means two threads can't call the methods of StringBuffer simultaneously.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StringBuilder is </a:t>
                      </a:r>
                      <a:r>
                        <a:rPr lang="en-US" i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non-synchronized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i.e. not thread safe. It means two threads can call the methods of StringBuilder simultaneously.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45967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2)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StringBuffer is </a:t>
                      </a:r>
                      <a:r>
                        <a:rPr lang="en-US" i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less efficient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than StringBuilder.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StringBuilder is </a:t>
                      </a:r>
                      <a:r>
                        <a:rPr lang="en-US" i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more efficient</a:t>
                      </a:r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 than StringBuffer.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</a:tr>
              <a:tr h="1045967"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3)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StringBuffer was introduced in Java 1.0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StringBuilder</a:t>
                      </a:r>
                      <a:r>
                        <a:rPr lang="en-US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was introduced in Java 1.5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71534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StringBuffer and </a:t>
            </a:r>
            <a:r>
              <a:rPr lang="en-US" dirty="0" err="1"/>
              <a:t>StringBuilder</a:t>
            </a:r>
            <a:r>
              <a:rPr lang="en-US" dirty="0" smtClean="0"/>
              <a:t>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4864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public </a:t>
            </a:r>
            <a:r>
              <a:rPr lang="en-US" b="1" dirty="0"/>
              <a:t>StringBuffer append(String s)</a:t>
            </a:r>
          </a:p>
          <a:p>
            <a:pPr lvl="1"/>
            <a:r>
              <a:rPr lang="en-US" dirty="0"/>
              <a:t>Updates the value of the object that invoked the method. The method takes </a:t>
            </a:r>
            <a:r>
              <a:rPr lang="en-US" dirty="0" err="1"/>
              <a:t>boolean</a:t>
            </a:r>
            <a:r>
              <a:rPr lang="en-US" dirty="0"/>
              <a:t>, char, </a:t>
            </a:r>
            <a:r>
              <a:rPr lang="en-US" dirty="0" err="1"/>
              <a:t>int</a:t>
            </a:r>
            <a:r>
              <a:rPr lang="en-US" dirty="0"/>
              <a:t>, long, Strings, etc.</a:t>
            </a:r>
          </a:p>
          <a:p>
            <a:endParaRPr lang="en-US" dirty="0"/>
          </a:p>
          <a:p>
            <a:r>
              <a:rPr lang="en-US" b="1" dirty="0" smtClean="0"/>
              <a:t>public </a:t>
            </a:r>
            <a:r>
              <a:rPr lang="en-US" b="1" dirty="0"/>
              <a:t>StringBuffer reverse()</a:t>
            </a:r>
          </a:p>
          <a:p>
            <a:pPr lvl="1"/>
            <a:r>
              <a:rPr lang="en-US" dirty="0"/>
              <a:t>The method reverses the value of the StringBuffer object that invoked the method.</a:t>
            </a:r>
          </a:p>
          <a:p>
            <a:endParaRPr lang="en-US" dirty="0"/>
          </a:p>
          <a:p>
            <a:r>
              <a:rPr lang="en-US" b="1" dirty="0" smtClean="0"/>
              <a:t>public </a:t>
            </a:r>
            <a:r>
              <a:rPr lang="en-US" b="1" dirty="0"/>
              <a:t>delete(</a:t>
            </a:r>
            <a:r>
              <a:rPr lang="en-US" b="1" dirty="0" err="1"/>
              <a:t>int</a:t>
            </a:r>
            <a:r>
              <a:rPr lang="en-US" b="1" dirty="0"/>
              <a:t> start, </a:t>
            </a:r>
            <a:r>
              <a:rPr lang="en-US" b="1" dirty="0" err="1"/>
              <a:t>int</a:t>
            </a:r>
            <a:r>
              <a:rPr lang="en-US" b="1" dirty="0"/>
              <a:t> end)</a:t>
            </a:r>
          </a:p>
          <a:p>
            <a:pPr lvl="1"/>
            <a:r>
              <a:rPr lang="en-US" dirty="0"/>
              <a:t>Deletes the string starting from the start index until the end index.</a:t>
            </a:r>
          </a:p>
          <a:p>
            <a:endParaRPr lang="en-US" dirty="0"/>
          </a:p>
          <a:p>
            <a:r>
              <a:rPr lang="en-US" b="1" dirty="0" smtClean="0"/>
              <a:t>public </a:t>
            </a:r>
            <a:r>
              <a:rPr lang="en-US" b="1" dirty="0"/>
              <a:t>insert(</a:t>
            </a:r>
            <a:r>
              <a:rPr lang="en-US" b="1" dirty="0" err="1"/>
              <a:t>int</a:t>
            </a:r>
            <a:r>
              <a:rPr lang="en-US" b="1" dirty="0"/>
              <a:t> offset,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i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This method inserts a string s at the position mentioned by the offset.</a:t>
            </a:r>
          </a:p>
          <a:p>
            <a:endParaRPr lang="en-US" dirty="0"/>
          </a:p>
          <a:p>
            <a:r>
              <a:rPr lang="en-US" b="1" dirty="0" smtClean="0"/>
              <a:t>replace(</a:t>
            </a:r>
            <a:r>
              <a:rPr lang="en-US" b="1" dirty="0" err="1" smtClean="0"/>
              <a:t>int</a:t>
            </a:r>
            <a:r>
              <a:rPr lang="en-US" b="1" dirty="0" smtClean="0"/>
              <a:t> </a:t>
            </a:r>
            <a:r>
              <a:rPr lang="en-US" b="1" dirty="0"/>
              <a:t>start, </a:t>
            </a:r>
            <a:r>
              <a:rPr lang="en-US" b="1" dirty="0" err="1"/>
              <a:t>int</a:t>
            </a:r>
            <a:r>
              <a:rPr lang="en-US" b="1" dirty="0"/>
              <a:t> end, String </a:t>
            </a:r>
            <a:r>
              <a:rPr lang="en-US" b="1" dirty="0" err="1"/>
              <a:t>str</a:t>
            </a:r>
            <a:r>
              <a:rPr lang="en-US" b="1" dirty="0"/>
              <a:t>)</a:t>
            </a:r>
          </a:p>
          <a:p>
            <a:pPr lvl="1"/>
            <a:r>
              <a:rPr lang="en-US" dirty="0"/>
              <a:t>This method replaces the characters in a substring of this StringBuffer with characters in the specified String.</a:t>
            </a:r>
          </a:p>
        </p:txBody>
      </p:sp>
    </p:spTree>
    <p:extLst>
      <p:ext uri="{BB962C8B-B14F-4D97-AF65-F5344CB8AC3E}">
        <p14:creationId xmlns:p14="http://schemas.microsoft.com/office/powerpoint/2010/main" val="16798462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1) </a:t>
            </a:r>
            <a:r>
              <a:rPr lang="en-US" b="1" dirty="0" err="1"/>
              <a:t>StringBuilder</a:t>
            </a:r>
            <a:r>
              <a:rPr lang="en-US" b="1" dirty="0"/>
              <a:t> append() method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StringBuilder</a:t>
            </a:r>
            <a:r>
              <a:rPr lang="en-US" dirty="0"/>
              <a:t> append() method concatenates the given argument with this String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class</a:t>
            </a:r>
            <a:r>
              <a:rPr lang="en-US" dirty="0"/>
              <a:t> </a:t>
            </a:r>
            <a:r>
              <a:rPr lang="en-US" dirty="0" err="1"/>
              <a:t>StringBuilderExample</a:t>
            </a:r>
            <a:r>
              <a:rPr lang="en-US" dirty="0"/>
              <a:t>{  </a:t>
            </a:r>
          </a:p>
          <a:p>
            <a:pPr marL="0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0" indent="0">
              <a:buNone/>
            </a:pPr>
            <a:r>
              <a:rPr lang="en-US" dirty="0" err="1"/>
              <a:t>StringBuilder</a:t>
            </a:r>
            <a:r>
              <a:rPr lang="en-US" dirty="0"/>
              <a:t> </a:t>
            </a:r>
            <a:r>
              <a:rPr lang="en-US" dirty="0" err="1"/>
              <a:t>sb</a:t>
            </a:r>
            <a:r>
              <a:rPr lang="en-US" dirty="0"/>
              <a:t>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StringBuilder</a:t>
            </a:r>
            <a:r>
              <a:rPr lang="en-US" dirty="0"/>
              <a:t>("Hello ");  </a:t>
            </a:r>
          </a:p>
          <a:p>
            <a:pPr marL="0" indent="0">
              <a:buNone/>
            </a:pPr>
            <a:r>
              <a:rPr lang="en-US" dirty="0" err="1"/>
              <a:t>sb.append</a:t>
            </a:r>
            <a:r>
              <a:rPr lang="en-US" dirty="0"/>
              <a:t>("Java");//now original string is changed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sb</a:t>
            </a:r>
            <a:r>
              <a:rPr lang="en-US" dirty="0"/>
              <a:t>);//prints Hello Java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dirty="0"/>
              <a:t>} 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smtClean="0"/>
              <a:t>Output </a:t>
            </a:r>
            <a:r>
              <a:rPr lang="en-US" b="1" dirty="0"/>
              <a:t>: Hello Java</a:t>
            </a:r>
            <a:endParaRPr lang="en-US" b="1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758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2) </a:t>
            </a:r>
            <a:r>
              <a:rPr lang="en-US" b="1" dirty="0" err="1"/>
              <a:t>StringBuilder</a:t>
            </a:r>
            <a:r>
              <a:rPr lang="en-US" b="1" dirty="0"/>
              <a:t> insert() </a:t>
            </a:r>
            <a:r>
              <a:rPr lang="en-US" b="1" dirty="0" smtClean="0"/>
              <a:t>method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StringBuilder</a:t>
            </a:r>
            <a:r>
              <a:rPr lang="en-US" dirty="0"/>
              <a:t> insert() method inserts the given string with this string at the given position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class</a:t>
            </a:r>
            <a:r>
              <a:rPr lang="en-US" dirty="0"/>
              <a:t> StringBuilderExample2{  </a:t>
            </a:r>
          </a:p>
          <a:p>
            <a:pPr marL="0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0" indent="0">
              <a:buNone/>
            </a:pPr>
            <a:r>
              <a:rPr lang="en-US" dirty="0" err="1"/>
              <a:t>StringBuilder</a:t>
            </a:r>
            <a:r>
              <a:rPr lang="en-US" dirty="0"/>
              <a:t> </a:t>
            </a:r>
            <a:r>
              <a:rPr lang="en-US" dirty="0" err="1"/>
              <a:t>sb</a:t>
            </a:r>
            <a:r>
              <a:rPr lang="en-US" dirty="0"/>
              <a:t>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StringBuilder</a:t>
            </a:r>
            <a:r>
              <a:rPr lang="en-US" dirty="0"/>
              <a:t>("Hello ");  </a:t>
            </a:r>
          </a:p>
          <a:p>
            <a:pPr marL="0" indent="0">
              <a:buNone/>
            </a:pPr>
            <a:r>
              <a:rPr lang="en-US" dirty="0" err="1"/>
              <a:t>sb.insert</a:t>
            </a:r>
            <a:r>
              <a:rPr lang="en-US" dirty="0"/>
              <a:t>(1,"Java");//now original string is changed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sb</a:t>
            </a:r>
            <a:r>
              <a:rPr lang="en-US" dirty="0"/>
              <a:t>);//prints </a:t>
            </a:r>
            <a:r>
              <a:rPr lang="en-US" dirty="0" err="1"/>
              <a:t>HJavaello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dirty="0"/>
              <a:t>} 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/>
              <a:t>Output:HJavaello</a:t>
            </a:r>
            <a:endParaRPr lang="en-US" b="1" dirty="0"/>
          </a:p>
          <a:p>
            <a:pPr marL="32004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874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4636" y="990600"/>
            <a:ext cx="7772400" cy="5638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3) </a:t>
            </a:r>
            <a:r>
              <a:rPr lang="en-US" b="1" dirty="0" err="1"/>
              <a:t>StringBuilder</a:t>
            </a:r>
            <a:r>
              <a:rPr lang="en-US" b="1" dirty="0"/>
              <a:t> replace() </a:t>
            </a:r>
            <a:r>
              <a:rPr lang="en-US" b="1" dirty="0" smtClean="0"/>
              <a:t>method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StringBuilder</a:t>
            </a:r>
            <a:r>
              <a:rPr lang="en-US" dirty="0"/>
              <a:t> replace() method replaces the given string from the specified </a:t>
            </a:r>
            <a:r>
              <a:rPr lang="en-US" dirty="0" err="1"/>
              <a:t>beginIndex</a:t>
            </a:r>
            <a:r>
              <a:rPr lang="en-US" dirty="0"/>
              <a:t> and </a:t>
            </a:r>
            <a:r>
              <a:rPr lang="en-US" dirty="0" err="1"/>
              <a:t>endIndex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b="1" dirty="0" smtClean="0"/>
          </a:p>
          <a:p>
            <a:pPr marL="0" indent="0">
              <a:buNone/>
            </a:pPr>
            <a:r>
              <a:rPr lang="en-US" b="1" dirty="0" smtClean="0"/>
              <a:t>class</a:t>
            </a:r>
            <a:r>
              <a:rPr lang="en-US" dirty="0"/>
              <a:t> StringBuilderExample3{  </a:t>
            </a:r>
          </a:p>
          <a:p>
            <a:pPr marL="0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0" indent="0">
              <a:buNone/>
            </a:pPr>
            <a:r>
              <a:rPr lang="en-US" dirty="0" err="1"/>
              <a:t>StringBuilder</a:t>
            </a:r>
            <a:r>
              <a:rPr lang="en-US" dirty="0"/>
              <a:t> </a:t>
            </a:r>
            <a:r>
              <a:rPr lang="en-US" dirty="0" err="1"/>
              <a:t>sb</a:t>
            </a:r>
            <a:r>
              <a:rPr lang="en-US" dirty="0"/>
              <a:t>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StringBuilder</a:t>
            </a:r>
            <a:r>
              <a:rPr lang="en-US" dirty="0"/>
              <a:t>("Hello");  </a:t>
            </a:r>
          </a:p>
          <a:p>
            <a:pPr marL="0" indent="0">
              <a:buNone/>
            </a:pPr>
            <a:r>
              <a:rPr lang="en-US" dirty="0" err="1"/>
              <a:t>sb.replace</a:t>
            </a:r>
            <a:r>
              <a:rPr lang="en-US" dirty="0"/>
              <a:t>(1,3,"Java");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sb</a:t>
            </a:r>
            <a:r>
              <a:rPr lang="en-US" dirty="0"/>
              <a:t>);//prints </a:t>
            </a:r>
            <a:r>
              <a:rPr lang="en-US" dirty="0" err="1"/>
              <a:t>HJavalo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dirty="0"/>
              <a:t>}  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Output : </a:t>
            </a:r>
            <a:endParaRPr lang="en-US" dirty="0"/>
          </a:p>
          <a:p>
            <a:pPr lvl="2"/>
            <a:r>
              <a:rPr lang="en-US" dirty="0" err="1"/>
              <a:t>HJavalo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5828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4102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4) </a:t>
            </a:r>
            <a:r>
              <a:rPr lang="en-US" b="1" dirty="0" err="1"/>
              <a:t>StringBuilder</a:t>
            </a:r>
            <a:r>
              <a:rPr lang="en-US" b="1" dirty="0"/>
              <a:t> delete() </a:t>
            </a:r>
            <a:r>
              <a:rPr lang="en-US" b="1" dirty="0" smtClean="0"/>
              <a:t>method</a:t>
            </a:r>
          </a:p>
          <a:p>
            <a:pPr lvl="1"/>
            <a:r>
              <a:rPr lang="en-US" dirty="0"/>
              <a:t>The delete() method of </a:t>
            </a:r>
            <a:r>
              <a:rPr lang="en-US" dirty="0" err="1"/>
              <a:t>StringBuilder</a:t>
            </a:r>
            <a:r>
              <a:rPr lang="en-US" dirty="0"/>
              <a:t> class deletes the string from the specified </a:t>
            </a:r>
            <a:r>
              <a:rPr lang="en-US" dirty="0" err="1"/>
              <a:t>beginIndex</a:t>
            </a:r>
            <a:r>
              <a:rPr lang="en-US" dirty="0"/>
              <a:t> to </a:t>
            </a:r>
            <a:r>
              <a:rPr lang="en-US" dirty="0" err="1"/>
              <a:t>endIndex</a:t>
            </a:r>
            <a:r>
              <a:rPr lang="en-US" dirty="0" smtClean="0"/>
              <a:t>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class</a:t>
            </a:r>
            <a:r>
              <a:rPr lang="en-US" dirty="0"/>
              <a:t> StringBuilderExample4{  </a:t>
            </a:r>
          </a:p>
          <a:p>
            <a:pPr marL="0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0" indent="0">
              <a:buNone/>
            </a:pPr>
            <a:r>
              <a:rPr lang="en-US" dirty="0" err="1"/>
              <a:t>StringBuilder</a:t>
            </a:r>
            <a:r>
              <a:rPr lang="en-US" dirty="0"/>
              <a:t> </a:t>
            </a:r>
            <a:r>
              <a:rPr lang="en-US" dirty="0" err="1"/>
              <a:t>sb</a:t>
            </a:r>
            <a:r>
              <a:rPr lang="en-US" dirty="0"/>
              <a:t>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StringBuilder</a:t>
            </a:r>
            <a:r>
              <a:rPr lang="en-US" dirty="0"/>
              <a:t>("Hello");  </a:t>
            </a:r>
          </a:p>
          <a:p>
            <a:pPr marL="0" indent="0">
              <a:buNone/>
            </a:pPr>
            <a:r>
              <a:rPr lang="en-US" dirty="0" err="1"/>
              <a:t>sb.delete</a:t>
            </a:r>
            <a:r>
              <a:rPr lang="en-US" dirty="0"/>
              <a:t>(1,3);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sb</a:t>
            </a:r>
            <a:r>
              <a:rPr lang="en-US" dirty="0"/>
              <a:t>);//prints </a:t>
            </a:r>
            <a:r>
              <a:rPr lang="en-US" dirty="0" err="1"/>
              <a:t>Hlo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dirty="0"/>
              <a:t>}  </a:t>
            </a: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Output</a:t>
            </a:r>
            <a:r>
              <a:rPr lang="en-US" b="1" dirty="0"/>
              <a:t>: </a:t>
            </a:r>
            <a:r>
              <a:rPr lang="en-US" b="1" dirty="0" err="1"/>
              <a:t>Hlo</a:t>
            </a:r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0628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867400"/>
          </a:xfrm>
        </p:spPr>
        <p:txBody>
          <a:bodyPr>
            <a:normAutofit/>
          </a:bodyPr>
          <a:lstStyle/>
          <a:p>
            <a:r>
              <a:rPr lang="en-US" b="1" dirty="0"/>
              <a:t>5) </a:t>
            </a:r>
            <a:r>
              <a:rPr lang="en-US" b="1" dirty="0" err="1"/>
              <a:t>StringBuilder</a:t>
            </a:r>
            <a:r>
              <a:rPr lang="en-US" b="1" dirty="0"/>
              <a:t> reverse() method</a:t>
            </a:r>
          </a:p>
          <a:p>
            <a:pPr lvl="1"/>
            <a:r>
              <a:rPr lang="en-US" dirty="0"/>
              <a:t>The reverse() method of </a:t>
            </a:r>
            <a:r>
              <a:rPr lang="en-US" dirty="0" err="1"/>
              <a:t>StringBuilder</a:t>
            </a:r>
            <a:r>
              <a:rPr lang="en-US" dirty="0"/>
              <a:t> class reverses the current </a:t>
            </a:r>
            <a:r>
              <a:rPr lang="en-US" dirty="0" smtClean="0"/>
              <a:t>string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class</a:t>
            </a:r>
            <a:r>
              <a:rPr lang="en-US" dirty="0"/>
              <a:t> StringBuilderExample5{  </a:t>
            </a:r>
          </a:p>
          <a:p>
            <a:pPr marL="0" indent="0">
              <a:buNone/>
            </a:pPr>
            <a:r>
              <a:rPr lang="en-US" b="1" dirty="0"/>
              <a:t>public</a:t>
            </a:r>
            <a:r>
              <a:rPr lang="en-US" dirty="0"/>
              <a:t> </a:t>
            </a:r>
            <a:r>
              <a:rPr lang="en-US" b="1" dirty="0"/>
              <a:t>static</a:t>
            </a:r>
            <a:r>
              <a:rPr lang="en-US" dirty="0"/>
              <a:t> </a:t>
            </a:r>
            <a:r>
              <a:rPr lang="en-US" b="1" dirty="0"/>
              <a:t>void</a:t>
            </a:r>
            <a:r>
              <a:rPr lang="en-US" dirty="0"/>
              <a:t> main(String </a:t>
            </a:r>
            <a:r>
              <a:rPr lang="en-US" dirty="0" err="1"/>
              <a:t>args</a:t>
            </a:r>
            <a:r>
              <a:rPr lang="en-US" dirty="0"/>
              <a:t>[]){  </a:t>
            </a:r>
          </a:p>
          <a:p>
            <a:pPr marL="0" indent="0">
              <a:buNone/>
            </a:pPr>
            <a:r>
              <a:rPr lang="en-US" dirty="0" err="1"/>
              <a:t>StringBuilder</a:t>
            </a:r>
            <a:r>
              <a:rPr lang="en-US" dirty="0"/>
              <a:t> </a:t>
            </a:r>
            <a:r>
              <a:rPr lang="en-US" dirty="0" err="1"/>
              <a:t>sb</a:t>
            </a:r>
            <a:r>
              <a:rPr lang="en-US" dirty="0"/>
              <a:t>=</a:t>
            </a:r>
            <a:r>
              <a:rPr lang="en-US" b="1" dirty="0"/>
              <a:t>new</a:t>
            </a:r>
            <a:r>
              <a:rPr lang="en-US" dirty="0"/>
              <a:t> </a:t>
            </a:r>
            <a:r>
              <a:rPr lang="en-US" dirty="0" err="1"/>
              <a:t>StringBuilder</a:t>
            </a:r>
            <a:r>
              <a:rPr lang="en-US" dirty="0"/>
              <a:t>("Hello");  </a:t>
            </a:r>
          </a:p>
          <a:p>
            <a:pPr marL="0" indent="0">
              <a:buNone/>
            </a:pPr>
            <a:r>
              <a:rPr lang="en-US" dirty="0" err="1"/>
              <a:t>sb.reverse</a:t>
            </a:r>
            <a:r>
              <a:rPr lang="en-US" dirty="0"/>
              <a:t>();  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sb</a:t>
            </a:r>
            <a:r>
              <a:rPr lang="en-US" dirty="0"/>
              <a:t>);//prints </a:t>
            </a:r>
            <a:r>
              <a:rPr lang="en-US" dirty="0" err="1"/>
              <a:t>olleH</a:t>
            </a:r>
            <a:r>
              <a:rPr lang="en-US" dirty="0"/>
              <a:t>  </a:t>
            </a:r>
          </a:p>
          <a:p>
            <a:pPr marL="0" indent="0">
              <a:buNone/>
            </a:pPr>
            <a:r>
              <a:rPr lang="en-US" dirty="0"/>
              <a:t>}  </a:t>
            </a:r>
          </a:p>
          <a:p>
            <a:pPr marL="0" indent="0">
              <a:buNone/>
            </a:pPr>
            <a:r>
              <a:rPr lang="en-US" dirty="0"/>
              <a:t>}  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Output </a:t>
            </a:r>
            <a:r>
              <a:rPr lang="en-US" dirty="0"/>
              <a:t>: </a:t>
            </a:r>
            <a:r>
              <a:rPr lang="en-US" dirty="0" err="1"/>
              <a:t>olleH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1280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 Bases Loop for String,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23499" y="1066800"/>
            <a:ext cx="7772400" cy="5486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There are three common ways to iterate through a Collection in Java using either while(), for() or for-each().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While </a:t>
            </a:r>
            <a:r>
              <a:rPr lang="en-US" dirty="0"/>
              <a:t>each technique will produce more or less the same results, the for-each construct is the most elegant and easy to read and write</a:t>
            </a:r>
            <a:r>
              <a:rPr lang="en-US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 </a:t>
            </a:r>
            <a:r>
              <a:rPr lang="en-US" dirty="0"/>
              <a:t>It doesn’t require an Iterator and is thus more compact and probably more efficient.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4105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While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066800"/>
            <a:ext cx="7772400" cy="5562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import</a:t>
            </a:r>
            <a:r>
              <a:rPr lang="en-US" dirty="0"/>
              <a:t>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import</a:t>
            </a:r>
            <a:r>
              <a:rPr lang="en-US" dirty="0"/>
              <a:t> </a:t>
            </a:r>
            <a:r>
              <a:rPr lang="en-US" dirty="0" err="1"/>
              <a:t>java.util.Collection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import</a:t>
            </a:r>
            <a:r>
              <a:rPr lang="en-US" dirty="0"/>
              <a:t> </a:t>
            </a:r>
            <a:r>
              <a:rPr lang="en-US" dirty="0" err="1"/>
              <a:t>java.util.Iterator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b="1" dirty="0"/>
              <a:t>class</a:t>
            </a:r>
            <a:r>
              <a:rPr lang="en-US" dirty="0"/>
              <a:t> </a:t>
            </a:r>
            <a:r>
              <a:rPr lang="en-US" dirty="0" err="1"/>
              <a:t>WhileIteration</a:t>
            </a:r>
            <a:r>
              <a:rPr lang="en-US" dirty="0"/>
              <a:t>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public static </a:t>
            </a:r>
            <a:r>
              <a:rPr lang="en-US" b="1" dirty="0"/>
              <a:t>void</a:t>
            </a:r>
            <a:r>
              <a:rPr lang="en-US" dirty="0"/>
              <a:t> main(</a:t>
            </a:r>
            <a:r>
              <a:rPr lang="en-US" b="1" dirty="0"/>
              <a:t>String</a:t>
            </a:r>
            <a:r>
              <a:rPr lang="en-US" dirty="0"/>
              <a:t>[] </a:t>
            </a:r>
            <a:r>
              <a:rPr lang="en-US" dirty="0" err="1"/>
              <a:t>args</a:t>
            </a:r>
            <a:r>
              <a:rPr lang="en-US" dirty="0"/>
              <a:t>)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b="1" dirty="0"/>
              <a:t>Collection&lt;String&gt; collection = new </a:t>
            </a:r>
            <a:r>
              <a:rPr lang="en-US" b="1" dirty="0" err="1"/>
              <a:t>ArrayList</a:t>
            </a:r>
            <a:r>
              <a:rPr lang="en-US" b="1" dirty="0"/>
              <a:t>&lt;String</a:t>
            </a:r>
            <a:r>
              <a:rPr lang="en-US" b="1" dirty="0" smtClean="0"/>
              <a:t>&gt;();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collection.add</a:t>
            </a:r>
            <a:r>
              <a:rPr lang="en-US" dirty="0"/>
              <a:t>("zero");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collection.add</a:t>
            </a:r>
            <a:r>
              <a:rPr lang="en-US" dirty="0"/>
              <a:t>("one");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collection.add</a:t>
            </a:r>
            <a:r>
              <a:rPr lang="en-US" dirty="0"/>
              <a:t>("two</a:t>
            </a:r>
            <a:r>
              <a:rPr lang="en-US" dirty="0" smtClean="0"/>
              <a:t>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 Iterator&lt;string&gt; iterator = </a:t>
            </a:r>
            <a:r>
              <a:rPr lang="en-US" dirty="0" err="1"/>
              <a:t>collection.iterator</a:t>
            </a:r>
            <a:r>
              <a:rPr lang="en-US" dirty="0" smtClean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i="1" dirty="0"/>
              <a:t>// while loop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b="1" dirty="0"/>
              <a:t>while</a:t>
            </a:r>
            <a:r>
              <a:rPr lang="en-US" dirty="0"/>
              <a:t> (</a:t>
            </a:r>
            <a:r>
              <a:rPr lang="en-US" dirty="0" err="1"/>
              <a:t>iterator.hasNext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System.out.println</a:t>
            </a:r>
            <a:r>
              <a:rPr lang="en-US" dirty="0"/>
              <a:t>("value= " + </a:t>
            </a:r>
            <a:r>
              <a:rPr lang="en-US" dirty="0" err="1"/>
              <a:t>iterator.next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        }</a:t>
            </a:r>
          </a:p>
          <a:p>
            <a:pPr marL="0" indent="0">
              <a:buNone/>
            </a:pPr>
            <a:r>
              <a:rPr lang="en-US" dirty="0"/>
              <a:t>    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9316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smtClean="0"/>
              <a:t>For </a:t>
            </a:r>
            <a:r>
              <a:rPr lang="en-US" dirty="0"/>
              <a:t>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java.util.Collection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java.util.Iterator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ForIteration</a:t>
            </a:r>
            <a:r>
              <a:rPr lang="en-US" dirty="0"/>
              <a:t>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    Collection&lt;String&gt; collection = new </a:t>
            </a:r>
            <a:r>
              <a:rPr lang="en-US" b="1" dirty="0" err="1"/>
              <a:t>ArrayList</a:t>
            </a:r>
            <a:r>
              <a:rPr lang="en-US" b="1" dirty="0"/>
              <a:t>&lt;String</a:t>
            </a:r>
            <a:r>
              <a:rPr lang="en-US" b="1" dirty="0" smtClean="0"/>
              <a:t>&gt;();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collection.add</a:t>
            </a:r>
            <a:r>
              <a:rPr lang="en-US" dirty="0"/>
              <a:t>("zero");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collection.add</a:t>
            </a:r>
            <a:r>
              <a:rPr lang="en-US" dirty="0"/>
              <a:t>("one");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collection.add</a:t>
            </a:r>
            <a:r>
              <a:rPr lang="en-US" dirty="0"/>
              <a:t>("two</a:t>
            </a:r>
            <a:r>
              <a:rPr lang="en-US" dirty="0" smtClean="0"/>
              <a:t>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// for loop</a:t>
            </a:r>
          </a:p>
          <a:p>
            <a:pPr marL="0" indent="0">
              <a:buNone/>
            </a:pPr>
            <a:r>
              <a:rPr lang="en-US" dirty="0"/>
              <a:t>        for (Iterator&lt;String&gt; iterator = </a:t>
            </a:r>
            <a:r>
              <a:rPr lang="en-US" dirty="0" err="1"/>
              <a:t>collection.iterator</a:t>
            </a:r>
            <a:r>
              <a:rPr lang="en-US" dirty="0"/>
              <a:t>(); </a:t>
            </a:r>
            <a:r>
              <a:rPr lang="en-US" dirty="0" err="1"/>
              <a:t>iterator.hasNext</a:t>
            </a:r>
            <a:r>
              <a:rPr lang="en-US" dirty="0"/>
              <a:t>();)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("value= " + </a:t>
            </a:r>
            <a:r>
              <a:rPr lang="en-US" dirty="0" err="1"/>
              <a:t>iterator.next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596653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 For-Each Loop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import</a:t>
            </a:r>
            <a:r>
              <a:rPr lang="en-US" dirty="0"/>
              <a:t>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b="1" dirty="0"/>
              <a:t>import</a:t>
            </a:r>
            <a:r>
              <a:rPr lang="en-US" dirty="0"/>
              <a:t> </a:t>
            </a:r>
            <a:r>
              <a:rPr lang="en-US" dirty="0" err="1"/>
              <a:t>java.util.Collection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b="1" dirty="0"/>
              <a:t>class</a:t>
            </a:r>
            <a:r>
              <a:rPr lang="en-US" dirty="0"/>
              <a:t> </a:t>
            </a:r>
            <a:r>
              <a:rPr lang="en-US" dirty="0" err="1"/>
              <a:t>ForEachInteration</a:t>
            </a:r>
            <a:r>
              <a:rPr lang="en-US" dirty="0"/>
              <a:t>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public static </a:t>
            </a:r>
            <a:r>
              <a:rPr lang="en-US" b="1" dirty="0"/>
              <a:t>void</a:t>
            </a:r>
            <a:r>
              <a:rPr lang="en-US" dirty="0"/>
              <a:t> main(</a:t>
            </a:r>
            <a:r>
              <a:rPr lang="en-US" b="1" dirty="0"/>
              <a:t>String</a:t>
            </a:r>
            <a:r>
              <a:rPr lang="en-US" dirty="0"/>
              <a:t>[] </a:t>
            </a:r>
            <a:r>
              <a:rPr lang="en-US" dirty="0" err="1"/>
              <a:t>args</a:t>
            </a:r>
            <a:r>
              <a:rPr lang="en-US" dirty="0"/>
              <a:t>) </a:t>
            </a:r>
            <a:r>
              <a:rPr lang="en-US" dirty="0" smtClean="0"/>
              <a:t>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 Collection&lt;String&gt; collection = </a:t>
            </a:r>
            <a:r>
              <a:rPr lang="en-US" b="1" dirty="0"/>
              <a:t>new</a:t>
            </a:r>
            <a:r>
              <a:rPr lang="en-US" dirty="0"/>
              <a:t> </a:t>
            </a:r>
            <a:r>
              <a:rPr lang="en-US" dirty="0" err="1"/>
              <a:t>ArrayList</a:t>
            </a:r>
            <a:r>
              <a:rPr lang="en-US" dirty="0"/>
              <a:t>&lt;String</a:t>
            </a:r>
            <a:r>
              <a:rPr lang="en-US" dirty="0" smtClean="0"/>
              <a:t>&gt;();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collection.add</a:t>
            </a:r>
            <a:r>
              <a:rPr lang="en-US" dirty="0"/>
              <a:t>("zero");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collection.add</a:t>
            </a:r>
            <a:r>
              <a:rPr lang="en-US" dirty="0"/>
              <a:t>("one");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collection.add</a:t>
            </a:r>
            <a:r>
              <a:rPr lang="en-US" dirty="0"/>
              <a:t>("two</a:t>
            </a:r>
            <a:r>
              <a:rPr lang="en-US" dirty="0" smtClean="0"/>
              <a:t>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i="1" dirty="0"/>
              <a:t>// for-each loop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b="1" dirty="0"/>
              <a:t>for</a:t>
            </a:r>
            <a:r>
              <a:rPr lang="en-US" dirty="0"/>
              <a:t> (</a:t>
            </a:r>
            <a:r>
              <a:rPr lang="en-US" b="1" dirty="0"/>
              <a:t>String</a:t>
            </a:r>
            <a:r>
              <a:rPr lang="en-US" dirty="0"/>
              <a:t> s : collection) {</a:t>
            </a:r>
          </a:p>
          <a:p>
            <a:pPr marL="0" indent="0">
              <a:buNone/>
            </a:pPr>
            <a:r>
              <a:rPr lang="en-US" dirty="0"/>
              <a:t>        </a:t>
            </a:r>
            <a:r>
              <a:rPr lang="en-US" dirty="0" err="1"/>
              <a:t>System.out.println</a:t>
            </a:r>
            <a:r>
              <a:rPr lang="en-US" dirty="0"/>
              <a:t>("value= " + s);</a:t>
            </a:r>
          </a:p>
          <a:p>
            <a:pPr marL="0" indent="0">
              <a:buNone/>
            </a:pPr>
            <a:r>
              <a:rPr lang="en-US" dirty="0"/>
              <a:t>        }</a:t>
            </a:r>
          </a:p>
          <a:p>
            <a:pPr marL="0" indent="0">
              <a:buNone/>
            </a:pPr>
            <a:r>
              <a:rPr lang="en-US" dirty="0"/>
              <a:t>    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5640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StringTokenizer</a:t>
            </a:r>
            <a:r>
              <a:rPr lang="en-US" dirty="0"/>
              <a:t> in </a:t>
            </a:r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49657" y="1066800"/>
            <a:ext cx="7772400" cy="5486400"/>
          </a:xfrm>
        </p:spPr>
        <p:txBody>
          <a:bodyPr>
            <a:normAutofit/>
          </a:bodyPr>
          <a:lstStyle/>
          <a:p>
            <a:r>
              <a:rPr lang="en-US" dirty="0"/>
              <a:t>A string can be divided into tokens(Java tokens are the text (words) that are produced when the Java compiler splits a line of code. </a:t>
            </a:r>
            <a:r>
              <a:rPr lang="en-US" dirty="0" smtClean="0"/>
              <a:t>The </a:t>
            </a:r>
            <a:r>
              <a:rPr lang="en-US" dirty="0"/>
              <a:t>Java program's simplest component is this.) using </a:t>
            </a:r>
            <a:r>
              <a:rPr lang="en-US" dirty="0" err="1"/>
              <a:t>StringTokenizer</a:t>
            </a:r>
            <a:r>
              <a:rPr lang="en-US" dirty="0"/>
              <a:t> in Java</a:t>
            </a:r>
            <a:r>
              <a:rPr lang="en-US" dirty="0" smtClean="0"/>
              <a:t>.</a:t>
            </a:r>
          </a:p>
          <a:p>
            <a:r>
              <a:rPr lang="en-US" dirty="0"/>
              <a:t>The </a:t>
            </a:r>
            <a:r>
              <a:rPr lang="en-US" dirty="0" err="1"/>
              <a:t>java.util</a:t>
            </a:r>
            <a:r>
              <a:rPr lang="en-US" dirty="0"/>
              <a:t> package has a class called </a:t>
            </a:r>
            <a:r>
              <a:rPr lang="en-US" dirty="0" err="1"/>
              <a:t>StringTokenizer</a:t>
            </a:r>
            <a:r>
              <a:rPr lang="en-US" dirty="0"/>
              <a:t> that is used to tokenize strings</a:t>
            </a:r>
            <a:r>
              <a:rPr lang="en-US" dirty="0" smtClean="0"/>
              <a:t>.</a:t>
            </a:r>
          </a:p>
          <a:p>
            <a:r>
              <a:rPr lang="en-US" dirty="0"/>
              <a:t>To put it another way, we can break a sentence up into its words and conduct several operations, such as counting the amount of tokens or splitting a sentence up into tokens.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8145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StringTokenizer</a:t>
            </a:r>
            <a:r>
              <a:rPr lang="en-US" dirty="0"/>
              <a:t>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This </a:t>
            </a:r>
            <a:r>
              <a:rPr lang="en-US" b="1" dirty="0" err="1"/>
              <a:t>StringTokenizer</a:t>
            </a:r>
            <a:r>
              <a:rPr lang="en-US" dirty="0"/>
              <a:t> includes constructors and methods that allow us to separate a sentence into tokens. </a:t>
            </a:r>
            <a:r>
              <a:rPr lang="en-US" dirty="0" err="1"/>
              <a:t>StringTokenizer</a:t>
            </a:r>
            <a:r>
              <a:rPr lang="en-US" dirty="0"/>
              <a:t>, tokenize the string on the basis of the delimiters provided to the String </a:t>
            </a:r>
            <a:r>
              <a:rPr lang="en-US" dirty="0" err="1"/>
              <a:t>tokenizer</a:t>
            </a:r>
            <a:r>
              <a:rPr lang="en-US" dirty="0"/>
              <a:t> class object</a:t>
            </a:r>
            <a:r>
              <a:rPr lang="en-US" dirty="0" smtClean="0"/>
              <a:t>.</a:t>
            </a:r>
          </a:p>
          <a:p>
            <a:r>
              <a:rPr lang="en-US" dirty="0"/>
              <a:t>Whitespaces, tab, newlines, carriage returns, and form feeds are considered common delimiters.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9631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StringTokenizer</a:t>
            </a:r>
            <a:r>
              <a:rPr lang="en-US" dirty="0"/>
              <a:t> in Java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lnSpcReduction="10000"/>
          </a:bodyPr>
          <a:lstStyle/>
          <a:p>
            <a:r>
              <a:rPr lang="en-US" b="1" dirty="0" err="1" smtClean="0"/>
              <a:t>boolean</a:t>
            </a:r>
            <a:r>
              <a:rPr lang="en-US" b="1" dirty="0" smtClean="0"/>
              <a:t> </a:t>
            </a:r>
            <a:r>
              <a:rPr lang="en-US" b="1" dirty="0" err="1"/>
              <a:t>hasMoreTokens</a:t>
            </a:r>
            <a:r>
              <a:rPr lang="en-US" b="1" dirty="0" smtClean="0"/>
              <a:t>():</a:t>
            </a:r>
          </a:p>
          <a:p>
            <a:pPr lvl="1"/>
            <a:r>
              <a:rPr lang="en-US" dirty="0" smtClean="0"/>
              <a:t>Return </a:t>
            </a:r>
            <a:r>
              <a:rPr lang="en-US" dirty="0"/>
              <a:t>True if more token are available else return False.</a:t>
            </a:r>
          </a:p>
          <a:p>
            <a:r>
              <a:rPr lang="en-US" b="1" dirty="0"/>
              <a:t>String </a:t>
            </a:r>
            <a:r>
              <a:rPr lang="en-US" b="1" dirty="0" err="1"/>
              <a:t>nextToken</a:t>
            </a:r>
            <a:r>
              <a:rPr lang="en-US" b="1" dirty="0" smtClean="0"/>
              <a:t>():</a:t>
            </a:r>
          </a:p>
          <a:p>
            <a:pPr lvl="1"/>
            <a:r>
              <a:rPr lang="en-US" dirty="0" smtClean="0"/>
              <a:t>Return </a:t>
            </a:r>
            <a:r>
              <a:rPr lang="en-US" dirty="0"/>
              <a:t>next token of </a:t>
            </a:r>
            <a:r>
              <a:rPr lang="en-US" dirty="0" err="1"/>
              <a:t>StringTokenizer</a:t>
            </a:r>
            <a:r>
              <a:rPr lang="en-US" dirty="0"/>
              <a:t> Object</a:t>
            </a:r>
          </a:p>
          <a:p>
            <a:r>
              <a:rPr lang="en-US" b="1" dirty="0"/>
              <a:t>String </a:t>
            </a:r>
            <a:r>
              <a:rPr lang="en-US" b="1" dirty="0" err="1"/>
              <a:t>nextToken</a:t>
            </a:r>
            <a:r>
              <a:rPr lang="en-US" b="1" dirty="0"/>
              <a:t>(String </a:t>
            </a:r>
            <a:r>
              <a:rPr lang="en-US" b="1" dirty="0" err="1" smtClean="0"/>
              <a:t>delim</a:t>
            </a:r>
            <a:r>
              <a:rPr lang="en-US" b="1" dirty="0" smtClean="0"/>
              <a:t>):</a:t>
            </a:r>
          </a:p>
          <a:p>
            <a:pPr lvl="1"/>
            <a:r>
              <a:rPr lang="en-US" dirty="0" smtClean="0"/>
              <a:t>Return </a:t>
            </a:r>
            <a:r>
              <a:rPr lang="en-US" dirty="0"/>
              <a:t>Next token based on </a:t>
            </a:r>
            <a:r>
              <a:rPr lang="en-US" dirty="0" err="1"/>
              <a:t>delimeter</a:t>
            </a:r>
            <a:r>
              <a:rPr lang="en-US" dirty="0"/>
              <a:t>.</a:t>
            </a:r>
          </a:p>
          <a:p>
            <a:r>
              <a:rPr lang="en-US" b="1" dirty="0" err="1"/>
              <a:t>boolean</a:t>
            </a:r>
            <a:r>
              <a:rPr lang="en-US" b="1" dirty="0"/>
              <a:t> </a:t>
            </a:r>
            <a:r>
              <a:rPr lang="en-US" b="1" dirty="0" err="1"/>
              <a:t>hasMoreElements</a:t>
            </a:r>
            <a:r>
              <a:rPr lang="en-US" b="1" dirty="0" smtClean="0"/>
              <a:t>():</a:t>
            </a:r>
          </a:p>
          <a:p>
            <a:pPr lvl="1"/>
            <a:r>
              <a:rPr lang="en-US" dirty="0" smtClean="0"/>
              <a:t>Same </a:t>
            </a:r>
            <a:r>
              <a:rPr lang="en-US" dirty="0"/>
              <a:t>as </a:t>
            </a:r>
            <a:r>
              <a:rPr lang="en-US" dirty="0" err="1"/>
              <a:t>hasMoreTokens</a:t>
            </a:r>
            <a:r>
              <a:rPr lang="en-US" dirty="0"/>
              <a:t>()</a:t>
            </a:r>
          </a:p>
          <a:p>
            <a:r>
              <a:rPr lang="en-US" b="1" dirty="0"/>
              <a:t>Object </a:t>
            </a:r>
            <a:r>
              <a:rPr lang="en-US" b="1" dirty="0" err="1"/>
              <a:t>nextElement</a:t>
            </a:r>
            <a:r>
              <a:rPr lang="en-US" b="1" dirty="0" smtClean="0"/>
              <a:t>():</a:t>
            </a:r>
          </a:p>
          <a:p>
            <a:pPr lvl="1"/>
            <a:r>
              <a:rPr lang="en-US" dirty="0" smtClean="0"/>
              <a:t>same </a:t>
            </a:r>
            <a:r>
              <a:rPr lang="en-US" dirty="0"/>
              <a:t>as </a:t>
            </a:r>
            <a:r>
              <a:rPr lang="en-US" dirty="0" err="1"/>
              <a:t>nextToken</a:t>
            </a:r>
            <a:r>
              <a:rPr lang="en-US" dirty="0"/>
              <a:t>() but its return Object</a:t>
            </a:r>
          </a:p>
          <a:p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countTokens</a:t>
            </a:r>
            <a:r>
              <a:rPr lang="en-US" b="1" dirty="0" smtClean="0"/>
              <a:t>():</a:t>
            </a:r>
          </a:p>
          <a:p>
            <a:pPr lvl="1"/>
            <a:r>
              <a:rPr lang="en-US" dirty="0" smtClean="0"/>
              <a:t>count </a:t>
            </a:r>
            <a:r>
              <a:rPr lang="en-US" dirty="0"/>
              <a:t>Total number of Token</a:t>
            </a:r>
          </a:p>
        </p:txBody>
      </p:sp>
    </p:spTree>
    <p:extLst>
      <p:ext uri="{BB962C8B-B14F-4D97-AF65-F5344CB8AC3E}">
        <p14:creationId xmlns:p14="http://schemas.microsoft.com/office/powerpoint/2010/main" val="260282380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34872" y="1066800"/>
            <a:ext cx="7772400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java.util.StringTokenizer</a:t>
            </a:r>
            <a:r>
              <a:rPr lang="en-US" dirty="0"/>
              <a:t>;  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classA</a:t>
            </a:r>
            <a:r>
              <a:rPr lang="en-US" dirty="0"/>
              <a:t>{  </a:t>
            </a:r>
          </a:p>
          <a:p>
            <a:pPr marL="0" indent="0">
              <a:buNone/>
            </a:pPr>
            <a:r>
              <a:rPr lang="en-US" dirty="0"/>
              <a:t> public static void main(String </a:t>
            </a:r>
            <a:r>
              <a:rPr lang="en-US" dirty="0" err="1"/>
              <a:t>args</a:t>
            </a:r>
            <a:r>
              <a:rPr lang="en-US" dirty="0"/>
              <a:t>[]){  </a:t>
            </a:r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dirty="0" err="1"/>
              <a:t>StringTokenizer</a:t>
            </a:r>
            <a:r>
              <a:rPr lang="en-US" dirty="0"/>
              <a:t> </a:t>
            </a:r>
            <a:r>
              <a:rPr lang="en-US" dirty="0" err="1"/>
              <a:t>st</a:t>
            </a:r>
            <a:r>
              <a:rPr lang="en-US" dirty="0"/>
              <a:t> = new </a:t>
            </a:r>
            <a:r>
              <a:rPr lang="en-US" dirty="0" err="1"/>
              <a:t>StringTokenizer</a:t>
            </a:r>
            <a:r>
              <a:rPr lang="en-US" dirty="0"/>
              <a:t>("String </a:t>
            </a:r>
            <a:r>
              <a:rPr lang="en-US" dirty="0" err="1"/>
              <a:t>tokenizer</a:t>
            </a:r>
            <a:r>
              <a:rPr lang="en-US" dirty="0"/>
              <a:t> is part of </a:t>
            </a:r>
            <a:r>
              <a:rPr lang="en-US" dirty="0" err="1"/>
              <a:t>java.util</a:t>
            </a:r>
            <a:r>
              <a:rPr lang="en-US" dirty="0"/>
              <a:t>");  </a:t>
            </a:r>
          </a:p>
          <a:p>
            <a:pPr marL="0" indent="0">
              <a:buNone/>
            </a:pPr>
            <a:r>
              <a:rPr lang="en-US" dirty="0"/>
              <a:t>     while (</a:t>
            </a:r>
            <a:r>
              <a:rPr lang="en-US" dirty="0" err="1"/>
              <a:t>st.hasMoreTokens</a:t>
            </a:r>
            <a:r>
              <a:rPr lang="en-US" dirty="0"/>
              <a:t>()) {  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dirty="0" err="1"/>
              <a:t>System.out.println</a:t>
            </a:r>
            <a:r>
              <a:rPr lang="en-US" dirty="0"/>
              <a:t>(</a:t>
            </a:r>
            <a:r>
              <a:rPr lang="en-US" dirty="0" err="1"/>
              <a:t>st.nextToken</a:t>
            </a:r>
            <a:r>
              <a:rPr lang="en-US" dirty="0"/>
              <a:t>());  </a:t>
            </a:r>
          </a:p>
          <a:p>
            <a:pPr marL="0" indent="0">
              <a:buNone/>
            </a:pPr>
            <a:r>
              <a:rPr lang="en-US" dirty="0"/>
              <a:t>     }  </a:t>
            </a:r>
          </a:p>
          <a:p>
            <a:pPr marL="0" indent="0">
              <a:buNone/>
            </a:pPr>
            <a:r>
              <a:rPr lang="en-US" dirty="0"/>
              <a:t>   }  </a:t>
            </a:r>
          </a:p>
          <a:p>
            <a:pPr marL="0" indent="0">
              <a:buNone/>
            </a:pPr>
            <a:r>
              <a:rPr lang="en-US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8543415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990600"/>
            <a:ext cx="7772400" cy="55626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import java.util.* ;</a:t>
            </a:r>
          </a:p>
          <a:p>
            <a:pPr marL="0" indent="0">
              <a:buNone/>
            </a:pPr>
            <a:r>
              <a:rPr lang="en-US" dirty="0"/>
              <a:t>import java.io.* ;</a:t>
            </a:r>
          </a:p>
          <a:p>
            <a:pPr marL="0" indent="0">
              <a:buNone/>
            </a:pPr>
            <a:r>
              <a:rPr lang="en-US" dirty="0"/>
              <a:t>public class </a:t>
            </a:r>
            <a:r>
              <a:rPr lang="en-US" dirty="0" err="1"/>
              <a:t>classA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public static void main(String[] </a:t>
            </a:r>
            <a:r>
              <a:rPr lang="en-US" dirty="0" err="1"/>
              <a:t>args</a:t>
            </a:r>
            <a:r>
              <a:rPr lang="en-US" dirty="0"/>
              <a:t>)  {</a:t>
            </a:r>
          </a:p>
          <a:p>
            <a:pPr marL="0" indent="0">
              <a:buNone/>
            </a:pPr>
            <a:r>
              <a:rPr lang="en-US" dirty="0"/>
              <a:t>    String </a:t>
            </a:r>
            <a:r>
              <a:rPr lang="en-US" dirty="0" err="1"/>
              <a:t>myString</a:t>
            </a:r>
            <a:r>
              <a:rPr lang="en-US" dirty="0"/>
              <a:t> = "The </a:t>
            </a:r>
            <a:r>
              <a:rPr lang="en-US" dirty="0" err="1"/>
              <a:t>java.util</a:t>
            </a:r>
            <a:r>
              <a:rPr lang="en-US" dirty="0"/>
              <a:t> package has a class called </a:t>
            </a:r>
            <a:r>
              <a:rPr lang="en-US" dirty="0" err="1"/>
              <a:t>StringTokenizer,that</a:t>
            </a:r>
            <a:r>
              <a:rPr lang="en-US" dirty="0"/>
              <a:t> is used to tokenize strings.";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StringTokenizer</a:t>
            </a:r>
            <a:r>
              <a:rPr lang="en-US" dirty="0"/>
              <a:t> </a:t>
            </a:r>
            <a:r>
              <a:rPr lang="en-US" dirty="0" err="1"/>
              <a:t>st</a:t>
            </a:r>
            <a:r>
              <a:rPr lang="en-US" dirty="0"/>
              <a:t> = new </a:t>
            </a:r>
            <a:r>
              <a:rPr lang="en-US" dirty="0" err="1"/>
              <a:t>StringTokenizer</a:t>
            </a:r>
            <a:r>
              <a:rPr lang="en-US" dirty="0"/>
              <a:t>(</a:t>
            </a:r>
            <a:r>
              <a:rPr lang="en-US" dirty="0" err="1"/>
              <a:t>myString</a:t>
            </a:r>
            <a:r>
              <a:rPr lang="en-US" dirty="0"/>
              <a:t>,",");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numberOfTokens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numberOfTokens</a:t>
            </a:r>
            <a:r>
              <a:rPr lang="en-US" dirty="0"/>
              <a:t> = </a:t>
            </a:r>
            <a:r>
              <a:rPr lang="en-US" dirty="0" err="1"/>
              <a:t>st.countTokens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System.out.println</a:t>
            </a:r>
            <a:r>
              <a:rPr lang="en-US" dirty="0"/>
              <a:t>("Number of tokens in the string: " + </a:t>
            </a:r>
            <a:r>
              <a:rPr lang="en-US" dirty="0" err="1"/>
              <a:t>numberOfTokens</a:t>
            </a:r>
            <a:r>
              <a:rPr lang="en-US" dirty="0"/>
              <a:t>);</a:t>
            </a:r>
          </a:p>
          <a:p>
            <a:pPr marL="0" indent="0">
              <a:buNone/>
            </a:pPr>
            <a:r>
              <a:rPr lang="en-US" dirty="0"/>
              <a:t>    while (</a:t>
            </a:r>
            <a:r>
              <a:rPr lang="en-US" dirty="0" err="1"/>
              <a:t>st.hasMoreTokens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dirty="0" err="1"/>
              <a:t>System.out.println</a:t>
            </a:r>
            <a:r>
              <a:rPr lang="en-US" dirty="0"/>
              <a:t>("The next token is " + </a:t>
            </a:r>
            <a:r>
              <a:rPr lang="en-US" dirty="0" err="1"/>
              <a:t>st.nextToken</a:t>
            </a:r>
            <a:r>
              <a:rPr lang="en-US" dirty="0"/>
              <a:t>());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</p:txBody>
      </p:sp>
    </p:spTree>
    <p:extLst>
      <p:ext uri="{BB962C8B-B14F-4D97-AF65-F5344CB8AC3E}">
        <p14:creationId xmlns:p14="http://schemas.microsoft.com/office/powerpoint/2010/main" val="7344335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1896</TotalTime>
  <Words>2325</Words>
  <Application>Microsoft Office PowerPoint</Application>
  <PresentationFormat>On-screen Show (4:3)</PresentationFormat>
  <Paragraphs>471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Arial</vt:lpstr>
      <vt:lpstr>Calibri</vt:lpstr>
      <vt:lpstr>Cambria</vt:lpstr>
      <vt:lpstr>Franklin Gothic Book</vt:lpstr>
      <vt:lpstr>inter-regular</vt:lpstr>
      <vt:lpstr>Perpetua</vt:lpstr>
      <vt:lpstr>Times New Roman</vt:lpstr>
      <vt:lpstr>Wingdings 2</vt:lpstr>
      <vt:lpstr>Equity</vt:lpstr>
      <vt:lpstr>Java Programming</vt:lpstr>
      <vt:lpstr>Arrays in Java</vt:lpstr>
      <vt:lpstr>Advantages of using Java arrays</vt:lpstr>
      <vt:lpstr>Disadvantages of using Java arrays</vt:lpstr>
      <vt:lpstr>Types of Array in Java</vt:lpstr>
      <vt:lpstr>Single Dimensional Array in Java:</vt:lpstr>
      <vt:lpstr>Single Dimensional Array in Java:</vt:lpstr>
      <vt:lpstr>Multi Dimensional Array in Java</vt:lpstr>
      <vt:lpstr>Multi Dimensional Array in Java</vt:lpstr>
      <vt:lpstr>Multi Dimensional Array in Java</vt:lpstr>
      <vt:lpstr>Initialize an Array in Java</vt:lpstr>
      <vt:lpstr>Initialize an Array in Java</vt:lpstr>
      <vt:lpstr>Accessing Elements of Array in Java</vt:lpstr>
      <vt:lpstr>Accessing Elements of Array in Java</vt:lpstr>
      <vt:lpstr>Accessing Elements of Array in Java</vt:lpstr>
      <vt:lpstr>Assigning an Array Reference to Another Array</vt:lpstr>
      <vt:lpstr>Multi Dimention Array </vt:lpstr>
      <vt:lpstr>Multi Dimention Array </vt:lpstr>
      <vt:lpstr>Example of Multidimensional Java Array</vt:lpstr>
      <vt:lpstr>Strings In Java</vt:lpstr>
      <vt:lpstr>Strings In Java</vt:lpstr>
      <vt:lpstr>Strings In Java</vt:lpstr>
      <vt:lpstr>Strings In Java</vt:lpstr>
      <vt:lpstr>String Literal</vt:lpstr>
      <vt:lpstr> By new keyword</vt:lpstr>
      <vt:lpstr>Java String Example</vt:lpstr>
      <vt:lpstr>Java String class methods</vt:lpstr>
      <vt:lpstr>Java String class methods</vt:lpstr>
      <vt:lpstr>Java String class methods</vt:lpstr>
      <vt:lpstr>Java String class methods</vt:lpstr>
      <vt:lpstr>StringBuffer</vt:lpstr>
      <vt:lpstr>StringBuffer</vt:lpstr>
      <vt:lpstr>StringBuilder</vt:lpstr>
      <vt:lpstr>StringBuilder</vt:lpstr>
      <vt:lpstr>StringBuffer and StringBuilder  Difference</vt:lpstr>
      <vt:lpstr>StringBuffer and StringBuilder Methods</vt:lpstr>
      <vt:lpstr>Example:</vt:lpstr>
      <vt:lpstr>Example:</vt:lpstr>
      <vt:lpstr>Example:</vt:lpstr>
      <vt:lpstr>Example:</vt:lpstr>
      <vt:lpstr>Example:</vt:lpstr>
      <vt:lpstr>Collection Bases Loop for String,</vt:lpstr>
      <vt:lpstr>Example: While Loop</vt:lpstr>
      <vt:lpstr>Example: For Loop</vt:lpstr>
      <vt:lpstr>Example: For-Each Loop</vt:lpstr>
      <vt:lpstr>StringTokenizer in Java</vt:lpstr>
      <vt:lpstr>StringTokenizer in Java</vt:lpstr>
      <vt:lpstr>StringTokenizer in Java</vt:lpstr>
      <vt:lpstr>Example 1:</vt:lpstr>
      <vt:lpstr>Example 2: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Concepts</dc:title>
  <dc:creator>Lab2-01</dc:creator>
  <cp:lastModifiedBy>TUSHAR KATHANE</cp:lastModifiedBy>
  <cp:revision>798</cp:revision>
  <dcterms:created xsi:type="dcterms:W3CDTF">2017-12-14T08:59:32Z</dcterms:created>
  <dcterms:modified xsi:type="dcterms:W3CDTF">2023-10-12T16:20:42Z</dcterms:modified>
</cp:coreProperties>
</file>