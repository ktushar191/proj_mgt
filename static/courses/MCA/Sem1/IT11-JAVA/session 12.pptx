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58" r:id="rId3"/>
    <p:sldId id="259" r:id="rId4"/>
    <p:sldId id="265" r:id="rId5"/>
    <p:sldId id="266" r:id="rId6"/>
    <p:sldId id="267" r:id="rId7"/>
    <p:sldId id="268" r:id="rId8"/>
    <p:sldId id="261" r:id="rId9"/>
    <p:sldId id="269" r:id="rId10"/>
    <p:sldId id="271" r:id="rId11"/>
    <p:sldId id="272" r:id="rId12"/>
    <p:sldId id="270" r:id="rId13"/>
    <p:sldId id="273" r:id="rId14"/>
    <p:sldId id="274" r:id="rId15"/>
    <p:sldId id="275" r:id="rId16"/>
    <p:sldId id="276" r:id="rId17"/>
    <p:sldId id="281" r:id="rId18"/>
    <p:sldId id="277" r:id="rId19"/>
    <p:sldId id="278" r:id="rId20"/>
    <p:sldId id="279" r:id="rId21"/>
    <p:sldId id="280" r:id="rId22"/>
    <p:sldId id="282" r:id="rId23"/>
    <p:sldId id="283" r:id="rId24"/>
    <p:sldId id="284" r:id="rId25"/>
    <p:sldId id="285" r:id="rId26"/>
    <p:sldId id="286" r:id="rId27"/>
    <p:sldId id="287" r:id="rId28"/>
    <p:sldId id="288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>
      <p:cViewPr varScale="1">
        <p:scale>
          <a:sx n="70" d="100"/>
          <a:sy n="70" d="100"/>
        </p:scale>
        <p:origin x="141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612E1-50BB-4D39-A947-2FA1985E3DC1}" type="datetimeFigureOut">
              <a:rPr lang="en-US" smtClean="0"/>
              <a:t>27-Oct-23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4A13E-E486-4652-91A6-C373BCC9141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074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itchFamily="18" charset="0"/>
              </a:defRPr>
            </a:lvl1pPr>
          </a:lstStyle>
          <a:p>
            <a:fld id="{1D65F0D8-3483-4E75-BE56-B8181858E28A}" type="datetimeFigureOut">
              <a:rPr lang="en-US" smtClean="0"/>
              <a:pPr/>
              <a:t>27-Oct-23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  <a:latin typeface="Cambria" pitchFamily="18" charset="0"/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27-Oct-23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27-Oct-23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27-Oct-23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27-Oct-23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27-Oct-23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27-Oct-23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27-Oct-23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27-Oct-23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27-Oct-23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27-Oct-23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487362"/>
          </a:xfrm>
          <a:prstGeom prst="rect">
            <a:avLst/>
          </a:prstGeom>
          <a:solidFill>
            <a:schemeClr val="accent1">
              <a:alpha val="72000"/>
            </a:schemeClr>
          </a:solidFill>
        </p:spPr>
        <p:txBody>
          <a:bodyPr bIns="91440" anchor="b" anchorCtr="0">
            <a:no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65F0D8-3483-4E75-BE56-B8181858E28A}" type="datetimeFigureOut">
              <a:rPr lang="en-US" smtClean="0"/>
              <a:pPr/>
              <a:t>27-Oct-23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2800" b="1" kern="1200">
          <a:solidFill>
            <a:schemeClr val="bg1"/>
          </a:solidFill>
          <a:latin typeface="Cambria" pitchFamily="18" charset="0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Cambria" pitchFamily="18" charset="0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Cambria" pitchFamily="18" charset="0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Cambria" pitchFamily="18" charset="0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Cambria" pitchFamily="18" charset="0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Cambria" pitchFamily="18" charset="0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java-lang-system-class-java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formatted-output-in-java/" TargetMode="External"/><Relationship Id="rId2" Type="http://schemas.openxmlformats.org/officeDocument/2006/relationships/hyperlink" Target="https://www.geeksforgeeks.org/difference-between-print-and-println-in-java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java-lang-system-class-java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hyperlink" Target="https://www.geeksforgeeks.org/java-io-inputstream-class-in-java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www.geeksforgeeks.org/java-io-outputstream-class-java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524000"/>
            <a:ext cx="8229600" cy="1470025"/>
          </a:xfrm>
        </p:spPr>
        <p:txBody>
          <a:bodyPr/>
          <a:lstStyle/>
          <a:p>
            <a:r>
              <a:rPr lang="en-US" b="0" dirty="0"/>
              <a:t>Java Programming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1000" y="3105835"/>
            <a:ext cx="83058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Java Programming</a:t>
            </a:r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dirty="0"/>
              <a:t>IT-11</a:t>
            </a:r>
            <a:endParaRPr lang="en-US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Streams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562600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 </a:t>
            </a:r>
            <a:r>
              <a:rPr lang="en-US" b="1" dirty="0"/>
              <a:t>Streams and the New I/O </a:t>
            </a:r>
            <a:r>
              <a:rPr lang="en-US" b="1" dirty="0" smtClean="0"/>
              <a:t>Capability:</a:t>
            </a:r>
          </a:p>
          <a:p>
            <a:r>
              <a:rPr lang="en-US" sz="2800" dirty="0" smtClean="0"/>
              <a:t>A </a:t>
            </a:r>
            <a:r>
              <a:rPr lang="en-US" sz="2800" b="1" dirty="0" smtClean="0"/>
              <a:t>stream </a:t>
            </a:r>
            <a:r>
              <a:rPr lang="en-US" sz="2800" dirty="0"/>
              <a:t>is an abstract representation of an input or output device that is a source of, or destination </a:t>
            </a:r>
            <a:r>
              <a:rPr lang="en-US" sz="2800" dirty="0" smtClean="0"/>
              <a:t>for data</a:t>
            </a:r>
            <a:r>
              <a:rPr lang="en-US" sz="2800" dirty="0"/>
              <a:t>. </a:t>
            </a:r>
            <a:endParaRPr lang="en-US" sz="2800" dirty="0" smtClean="0"/>
          </a:p>
          <a:p>
            <a:r>
              <a:rPr lang="en-US" sz="2800" dirty="0" smtClean="0"/>
              <a:t>You </a:t>
            </a:r>
            <a:r>
              <a:rPr lang="en-US" sz="2800" dirty="0"/>
              <a:t>can write data to a stream and read data from a stream. You can visualize a stream as a </a:t>
            </a:r>
            <a:r>
              <a:rPr lang="en-US" sz="2800" dirty="0" smtClean="0"/>
              <a:t>sequence of </a:t>
            </a:r>
            <a:r>
              <a:rPr lang="en-US" sz="2800" dirty="0"/>
              <a:t>bytes that flows into or out of your program.</a:t>
            </a:r>
            <a:endParaRPr lang="en-US" dirty="0" smtClean="0"/>
          </a:p>
          <a:p>
            <a:r>
              <a:rPr lang="en-US" dirty="0" smtClean="0"/>
              <a:t>The package that supports stream input/output is </a:t>
            </a:r>
            <a:r>
              <a:rPr lang="en-US" b="1" dirty="0" smtClean="0"/>
              <a:t>java.io</a:t>
            </a:r>
            <a:r>
              <a:rPr lang="en-US" dirty="0" smtClean="0"/>
              <a:t>.</a:t>
            </a:r>
          </a:p>
          <a:p>
            <a:r>
              <a:rPr lang="en-US" dirty="0" smtClean="0"/>
              <a:t> It defines over seventy classes </a:t>
            </a:r>
            <a:r>
              <a:rPr lang="en-US" dirty="0"/>
              <a:t>and interfaces, many of which have a large number of methods.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550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Streams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657" y="1066800"/>
            <a:ext cx="7584744" cy="5356379"/>
          </a:xfrm>
        </p:spPr>
      </p:pic>
    </p:spTree>
    <p:extLst>
      <p:ext uri="{BB962C8B-B14F-4D97-AF65-F5344CB8AC3E}">
        <p14:creationId xmlns:p14="http://schemas.microsoft.com/office/powerpoint/2010/main" val="230787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standard or default streams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05000"/>
            <a:ext cx="7693559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391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I/O Streams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86400"/>
          </a:xfrm>
        </p:spPr>
        <p:txBody>
          <a:bodyPr>
            <a:normAutofit/>
          </a:bodyPr>
          <a:lstStyle/>
          <a:p>
            <a:pPr fontAlgn="base"/>
            <a:r>
              <a:rPr lang="en-US" u="sng" dirty="0">
                <a:hlinkClick r:id="rId2"/>
              </a:rPr>
              <a:t>System.in</a:t>
            </a:r>
            <a:r>
              <a:rPr lang="en-US" b="1" dirty="0"/>
              <a:t>:</a:t>
            </a:r>
            <a:r>
              <a:rPr lang="en-US" dirty="0"/>
              <a:t> This is the </a:t>
            </a:r>
            <a:r>
              <a:rPr lang="en-US" b="1" dirty="0"/>
              <a:t>standard input stream</a:t>
            </a:r>
            <a:r>
              <a:rPr lang="en-US" dirty="0"/>
              <a:t> that is used to read characters from the keyboard or any other standard input device.</a:t>
            </a:r>
          </a:p>
          <a:p>
            <a:pPr fontAlgn="base"/>
            <a:r>
              <a:rPr lang="en-US" u="sng" dirty="0" err="1">
                <a:hlinkClick r:id="rId2"/>
              </a:rPr>
              <a:t>System.out</a:t>
            </a:r>
            <a:r>
              <a:rPr lang="en-US" b="1" dirty="0"/>
              <a:t>:</a:t>
            </a:r>
            <a:r>
              <a:rPr lang="en-US" dirty="0"/>
              <a:t> This is the </a:t>
            </a:r>
            <a:r>
              <a:rPr lang="en-US" b="1" dirty="0"/>
              <a:t>standard output stream</a:t>
            </a:r>
            <a:r>
              <a:rPr lang="en-US" dirty="0"/>
              <a:t> that is used to produce the result of a program on an output device like the computer screen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020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I/O Streams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86400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dirty="0"/>
              <a:t>Here is a list of the various print functions that we use to output statements:</a:t>
            </a:r>
          </a:p>
          <a:p>
            <a:r>
              <a:rPr lang="en-US" u="sng" dirty="0">
                <a:hlinkClick r:id="rId2"/>
              </a:rPr>
              <a:t>print()</a:t>
            </a:r>
            <a:r>
              <a:rPr lang="en-US" b="1" dirty="0"/>
              <a:t>:</a:t>
            </a:r>
            <a:r>
              <a:rPr lang="en-US" dirty="0"/>
              <a:t> This method in Java is used to display a text on the console.</a:t>
            </a:r>
          </a:p>
          <a:p>
            <a:r>
              <a:rPr lang="en-US" dirty="0"/>
              <a:t>Ex: </a:t>
            </a:r>
            <a:r>
              <a:rPr lang="en-US" b="1" dirty="0" err="1"/>
              <a:t>System.out.print</a:t>
            </a:r>
            <a:r>
              <a:rPr lang="en-US" b="1" dirty="0"/>
              <a:t>(parameter);</a:t>
            </a:r>
          </a:p>
          <a:p>
            <a:r>
              <a:rPr lang="en-US" u="sng" dirty="0" err="1" smtClean="0">
                <a:hlinkClick r:id="rId2"/>
              </a:rPr>
              <a:t>println</a:t>
            </a:r>
            <a:r>
              <a:rPr lang="en-US" u="sng" dirty="0">
                <a:hlinkClick r:id="rId2"/>
              </a:rPr>
              <a:t>()</a:t>
            </a:r>
            <a:r>
              <a:rPr lang="en-US" b="1" dirty="0"/>
              <a:t>:</a:t>
            </a:r>
            <a:r>
              <a:rPr lang="en-US" dirty="0"/>
              <a:t> This method in Java is also used to display a text on the </a:t>
            </a:r>
            <a:r>
              <a:rPr lang="en-US" dirty="0" smtClean="0"/>
              <a:t>console in next line. </a:t>
            </a:r>
          </a:p>
          <a:p>
            <a:r>
              <a:rPr lang="en-US" dirty="0" smtClean="0"/>
              <a:t>Ex </a:t>
            </a:r>
            <a:r>
              <a:rPr lang="en-US" dirty="0"/>
              <a:t>: </a:t>
            </a:r>
            <a:r>
              <a:rPr lang="en-US" b="1" dirty="0" err="1"/>
              <a:t>System.out.println</a:t>
            </a:r>
            <a:r>
              <a:rPr lang="en-US" b="1" dirty="0"/>
              <a:t>(parameter</a:t>
            </a:r>
            <a:r>
              <a:rPr lang="en-US" b="1" dirty="0" smtClean="0"/>
              <a:t>);</a:t>
            </a:r>
          </a:p>
          <a:p>
            <a:r>
              <a:rPr lang="en-US" u="sng" dirty="0" err="1">
                <a:hlinkClick r:id="rId3"/>
              </a:rPr>
              <a:t>printf</a:t>
            </a:r>
            <a:r>
              <a:rPr lang="en-US" u="sng" dirty="0">
                <a:hlinkClick r:id="rId3"/>
              </a:rPr>
              <a:t>()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smtClean="0"/>
              <a:t>Note </a:t>
            </a:r>
            <a:r>
              <a:rPr lang="en-US" dirty="0"/>
              <a:t>that </a:t>
            </a:r>
            <a:r>
              <a:rPr lang="en-US" dirty="0" err="1"/>
              <a:t>System.out.print</a:t>
            </a:r>
            <a:r>
              <a:rPr lang="en-US" dirty="0"/>
              <a:t>() and </a:t>
            </a:r>
            <a:r>
              <a:rPr lang="en-US" dirty="0" err="1"/>
              <a:t>System.out.println</a:t>
            </a:r>
            <a:r>
              <a:rPr lang="en-US" dirty="0"/>
              <a:t>() take a single argument, but </a:t>
            </a:r>
            <a:r>
              <a:rPr lang="en-US" dirty="0" err="1"/>
              <a:t>printf</a:t>
            </a:r>
            <a:r>
              <a:rPr lang="en-US" dirty="0"/>
              <a:t>() may take multiple arguments. </a:t>
            </a:r>
            <a:endParaRPr lang="en-US" dirty="0" smtClean="0"/>
          </a:p>
          <a:p>
            <a:r>
              <a:rPr lang="en-US" b="1" dirty="0" smtClean="0"/>
              <a:t>Ex</a:t>
            </a:r>
            <a:r>
              <a:rPr lang="en-US" b="1" dirty="0"/>
              <a:t>: </a:t>
            </a:r>
            <a:r>
              <a:rPr lang="en-US" dirty="0" err="1"/>
              <a:t>System.out.printf</a:t>
            </a:r>
            <a:r>
              <a:rPr lang="en-US" dirty="0"/>
              <a:t>( </a:t>
            </a:r>
            <a:r>
              <a:rPr lang="en-US" dirty="0" smtClean="0"/>
              <a:t>"</a:t>
            </a:r>
            <a:r>
              <a:rPr lang="en-US" dirty="0"/>
              <a:t>Formatted to </a:t>
            </a:r>
            <a:r>
              <a:rPr lang="en-US" dirty="0" smtClean="0"/>
              <a:t>"+ </a:t>
            </a:r>
            <a:r>
              <a:rPr lang="en-US" dirty="0"/>
              <a:t>"specific width: n = %.4f\n", </a:t>
            </a:r>
            <a:r>
              <a:rPr lang="en-US" dirty="0" smtClean="0"/>
              <a:t>n</a:t>
            </a:r>
            <a:r>
              <a:rPr lang="en-US" dirty="0"/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2329625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I/O Streams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219200"/>
            <a:ext cx="7772400" cy="4572000"/>
          </a:xfrm>
        </p:spPr>
        <p:txBody>
          <a:bodyPr/>
          <a:lstStyle/>
          <a:p>
            <a:pPr fontAlgn="base"/>
            <a:r>
              <a:rPr lang="en-US" u="sng" dirty="0" err="1">
                <a:hlinkClick r:id="rId2"/>
              </a:rPr>
              <a:t>System.err</a:t>
            </a:r>
            <a:r>
              <a:rPr lang="en-US" b="1" dirty="0"/>
              <a:t>:</a:t>
            </a:r>
            <a:r>
              <a:rPr lang="en-US" dirty="0"/>
              <a:t> This is the </a:t>
            </a:r>
            <a:r>
              <a:rPr lang="en-US" b="1" dirty="0"/>
              <a:t>standard error stream</a:t>
            </a:r>
            <a:r>
              <a:rPr lang="en-US" dirty="0"/>
              <a:t> that is used to output all the error data that a program might throw, on a computer screen or any standard output </a:t>
            </a:r>
            <a:r>
              <a:rPr lang="en-US" dirty="0" err="1"/>
              <a:t>device.This</a:t>
            </a:r>
            <a:r>
              <a:rPr lang="en-US" dirty="0"/>
              <a:t> stream also uses all the 3 above-mentioned functions to output the error data:</a:t>
            </a:r>
          </a:p>
          <a:p>
            <a:pPr lvl="1" fontAlgn="base"/>
            <a:r>
              <a:rPr lang="en-US" dirty="0"/>
              <a:t>print()</a:t>
            </a:r>
          </a:p>
          <a:p>
            <a:pPr lvl="1" fontAlgn="base"/>
            <a:r>
              <a:rPr lang="en-US" dirty="0" err="1"/>
              <a:t>println</a:t>
            </a:r>
            <a:r>
              <a:rPr lang="en-US" dirty="0"/>
              <a:t>()</a:t>
            </a:r>
          </a:p>
          <a:p>
            <a:pPr lvl="1" fontAlgn="base"/>
            <a:r>
              <a:rPr lang="en-US" dirty="0" err="1"/>
              <a:t>printf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647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Binary and Character Streams</a:t>
            </a:r>
            <a:r>
              <a:rPr lang="en-US" i="1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4572000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java.io package supports two types of streams</a:t>
            </a:r>
            <a:r>
              <a:rPr lang="en-US" dirty="0" smtClean="0"/>
              <a:t>—</a:t>
            </a:r>
          </a:p>
          <a:p>
            <a:pPr lvl="1"/>
            <a:r>
              <a:rPr lang="en-US" b="1" dirty="0" smtClean="0"/>
              <a:t>binary streams or byte </a:t>
            </a:r>
            <a:r>
              <a:rPr lang="en-US" b="1" dirty="0" err="1" smtClean="0"/>
              <a:t>strems</a:t>
            </a:r>
            <a:r>
              <a:rPr lang="en-US" b="1" dirty="0" smtClean="0"/>
              <a:t>, </a:t>
            </a:r>
            <a:r>
              <a:rPr lang="en-US" dirty="0"/>
              <a:t>which contain binary data, </a:t>
            </a:r>
            <a:r>
              <a:rPr lang="en-US" dirty="0" smtClean="0"/>
              <a:t>and</a:t>
            </a:r>
          </a:p>
          <a:p>
            <a:pPr lvl="1"/>
            <a:r>
              <a:rPr lang="en-US" b="1" dirty="0" smtClean="0"/>
              <a:t>character </a:t>
            </a:r>
            <a:r>
              <a:rPr lang="en-US" b="1" dirty="0"/>
              <a:t>streams, </a:t>
            </a:r>
            <a:r>
              <a:rPr lang="en-US" dirty="0"/>
              <a:t>which contain character data</a:t>
            </a:r>
            <a:r>
              <a:rPr lang="en-US" dirty="0" smtClean="0"/>
              <a:t>.</a:t>
            </a:r>
          </a:p>
          <a:p>
            <a:r>
              <a:rPr lang="en-US" sz="2800" dirty="0"/>
              <a:t>Character streams are used for storing and retrieving text. </a:t>
            </a:r>
            <a:endParaRPr lang="en-US" sz="2800" dirty="0" smtClean="0"/>
          </a:p>
          <a:p>
            <a:r>
              <a:rPr lang="en-US" sz="2800" dirty="0" smtClean="0"/>
              <a:t>You </a:t>
            </a:r>
            <a:r>
              <a:rPr lang="en-US" sz="2800" dirty="0"/>
              <a:t>may also use character streams to </a:t>
            </a:r>
            <a:r>
              <a:rPr lang="en-US" sz="2800" dirty="0" smtClean="0"/>
              <a:t>read text </a:t>
            </a:r>
            <a:r>
              <a:rPr lang="en-US" sz="2800" dirty="0"/>
              <a:t>files not written by a Java program.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244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Byte Stream and Character stream classes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676400"/>
            <a:ext cx="7673761" cy="3733800"/>
          </a:xfrm>
        </p:spPr>
      </p:pic>
    </p:spTree>
    <p:extLst>
      <p:ext uri="{BB962C8B-B14F-4D97-AF65-F5344CB8AC3E}">
        <p14:creationId xmlns:p14="http://schemas.microsoft.com/office/powerpoint/2010/main" val="456061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ByteStream</a:t>
            </a:r>
            <a:r>
              <a:rPr lang="en-US" dirty="0" smtClean="0"/>
              <a:t> 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14400"/>
            <a:ext cx="7772400" cy="4572000"/>
          </a:xfrm>
        </p:spPr>
        <p:txBody>
          <a:bodyPr/>
          <a:lstStyle/>
          <a:p>
            <a:r>
              <a:rPr lang="en-US" b="1" dirty="0"/>
              <a:t>Depending on the type of </a:t>
            </a:r>
            <a:r>
              <a:rPr lang="en-US" b="1" dirty="0" err="1" smtClean="0"/>
              <a:t>operations</a:t>
            </a:r>
            <a:r>
              <a:rPr lang="en-US" dirty="0" err="1" smtClean="0"/>
              <a:t>,Byte</a:t>
            </a:r>
            <a:r>
              <a:rPr lang="en-US" dirty="0" smtClean="0"/>
              <a:t> </a:t>
            </a:r>
            <a:r>
              <a:rPr lang="en-US" dirty="0"/>
              <a:t>streams can be divided into two primary classes</a:t>
            </a:r>
            <a:r>
              <a:rPr lang="en-US" dirty="0" smtClean="0"/>
              <a:t>:</a:t>
            </a:r>
          </a:p>
          <a:p>
            <a:pPr lvl="1"/>
            <a:r>
              <a:rPr lang="en-US" u="sng" dirty="0">
                <a:hlinkClick r:id="rId2"/>
              </a:rPr>
              <a:t>Input Stream:</a:t>
            </a:r>
            <a:r>
              <a:rPr lang="en-US" dirty="0"/>
              <a:t> These streams are used to read data that must be taken as an input from a source array or file or any peripheral device. For </a:t>
            </a:r>
            <a:r>
              <a:rPr lang="en-US" dirty="0" err="1"/>
              <a:t>eg</a:t>
            </a:r>
            <a:r>
              <a:rPr lang="en-US" dirty="0"/>
              <a:t>., </a:t>
            </a:r>
            <a:r>
              <a:rPr lang="en-US" dirty="0" err="1"/>
              <a:t>FileInputStream</a:t>
            </a:r>
            <a:r>
              <a:rPr lang="en-US" dirty="0"/>
              <a:t>, </a:t>
            </a:r>
            <a:r>
              <a:rPr lang="en-US" dirty="0" err="1"/>
              <a:t>BufferedInputStream</a:t>
            </a:r>
            <a:r>
              <a:rPr lang="en-US" dirty="0"/>
              <a:t>, </a:t>
            </a:r>
            <a:r>
              <a:rPr lang="en-US" dirty="0" err="1"/>
              <a:t>ByteArrayInputStream</a:t>
            </a:r>
            <a:r>
              <a:rPr lang="en-US" dirty="0"/>
              <a:t> </a:t>
            </a:r>
            <a:r>
              <a:rPr lang="en-US" dirty="0" err="1"/>
              <a:t>etc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276600"/>
            <a:ext cx="6172200" cy="349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42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ByteStream</a:t>
            </a:r>
            <a:r>
              <a:rPr lang="en-US" dirty="0"/>
              <a:t>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4572000"/>
          </a:xfrm>
        </p:spPr>
        <p:txBody>
          <a:bodyPr/>
          <a:lstStyle/>
          <a:p>
            <a:r>
              <a:rPr lang="en-US" u="sng" dirty="0">
                <a:hlinkClick r:id="rId2"/>
              </a:rPr>
              <a:t>Output Stream:</a:t>
            </a:r>
            <a:r>
              <a:rPr lang="en-US" dirty="0"/>
              <a:t> These streams are used to write data as outputs into an array or file or any output peripheral device. For </a:t>
            </a:r>
            <a:r>
              <a:rPr lang="en-US" dirty="0" err="1"/>
              <a:t>eg</a:t>
            </a:r>
            <a:r>
              <a:rPr lang="en-US" dirty="0"/>
              <a:t>., </a:t>
            </a:r>
            <a:r>
              <a:rPr lang="en-US" dirty="0" err="1"/>
              <a:t>FileOutputStream</a:t>
            </a:r>
            <a:r>
              <a:rPr lang="en-US" dirty="0"/>
              <a:t>, </a:t>
            </a:r>
            <a:r>
              <a:rPr lang="en-US" dirty="0" err="1"/>
              <a:t>BufferedOutputStream</a:t>
            </a:r>
            <a:r>
              <a:rPr lang="en-US" dirty="0"/>
              <a:t>, </a:t>
            </a:r>
            <a:r>
              <a:rPr lang="en-US" dirty="0" err="1"/>
              <a:t>ByteArrayOutputStream</a:t>
            </a:r>
            <a:r>
              <a:rPr lang="en-US" dirty="0"/>
              <a:t> etc.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895600"/>
            <a:ext cx="6462713" cy="360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367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86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import java.io.*; 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DataInputStreamDemo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public static void main(String </a:t>
            </a:r>
            <a:r>
              <a:rPr lang="en-US" dirty="0" err="1"/>
              <a:t>args</a:t>
            </a:r>
            <a:r>
              <a:rPr lang="en-US" dirty="0"/>
              <a:t>[]) throws </a:t>
            </a:r>
            <a:r>
              <a:rPr lang="en-US" dirty="0" err="1"/>
              <a:t>IOException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	try {</a:t>
            </a:r>
            <a:r>
              <a:rPr lang="en-US" dirty="0" err="1" smtClean="0"/>
              <a:t>DataOutputStream</a:t>
            </a:r>
            <a:r>
              <a:rPr lang="en-US" dirty="0" smtClean="0"/>
              <a:t> </a:t>
            </a:r>
            <a:r>
              <a:rPr lang="en-US" dirty="0" err="1"/>
              <a:t>dout</a:t>
            </a:r>
            <a:r>
              <a:rPr lang="en-US" dirty="0"/>
              <a:t> = </a:t>
            </a:r>
            <a:r>
              <a:rPr lang="en-US" dirty="0" smtClean="0"/>
              <a:t>new </a:t>
            </a:r>
            <a:r>
              <a:rPr lang="en-US" dirty="0" err="1"/>
              <a:t>DataOutputStream</a:t>
            </a:r>
            <a:r>
              <a:rPr lang="en-US" dirty="0"/>
              <a:t>(new </a:t>
            </a:r>
            <a:r>
              <a:rPr lang="en-US" dirty="0" err="1"/>
              <a:t>FileOutputStream</a:t>
            </a:r>
            <a:r>
              <a:rPr lang="en-US" dirty="0"/>
              <a:t>("file.dat")) ;</a:t>
            </a:r>
            <a:r>
              <a:rPr lang="en-US" dirty="0" smtClean="0"/>
              <a:t>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dout.writeDouble</a:t>
            </a:r>
            <a:r>
              <a:rPr lang="en-US" dirty="0"/>
              <a:t>(1.1);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dout.writeInt</a:t>
            </a:r>
            <a:r>
              <a:rPr lang="en-US" dirty="0"/>
              <a:t>(55);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dout.writeBoolean</a:t>
            </a:r>
            <a:r>
              <a:rPr lang="en-US" dirty="0"/>
              <a:t>(true);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dout.writeChar</a:t>
            </a:r>
            <a:r>
              <a:rPr lang="en-US" dirty="0"/>
              <a:t>('4'); 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</p:txBody>
      </p:sp>
    </p:spTree>
    <p:extLst>
      <p:ext uri="{BB962C8B-B14F-4D97-AF65-F5344CB8AC3E}">
        <p14:creationId xmlns:p14="http://schemas.microsoft.com/office/powerpoint/2010/main" val="3819749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83693" y="1066800"/>
            <a:ext cx="7772400" cy="55626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catch (</a:t>
            </a:r>
            <a:r>
              <a:rPr lang="en-US" dirty="0" err="1"/>
              <a:t>FileNotFoundException</a:t>
            </a:r>
            <a:r>
              <a:rPr lang="en-US" dirty="0"/>
              <a:t> ex)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 smtClean="0"/>
              <a:t>System.out.println</a:t>
            </a:r>
            <a:r>
              <a:rPr lang="en-US" dirty="0"/>
              <a:t>("Cannot Open the Output File"); </a:t>
            </a:r>
          </a:p>
          <a:p>
            <a:pPr marL="0" indent="0">
              <a:buNone/>
            </a:pPr>
            <a:r>
              <a:rPr lang="en-US" dirty="0"/>
              <a:t>			return; 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	try {</a:t>
            </a:r>
            <a:r>
              <a:rPr lang="en-US" dirty="0" err="1" smtClean="0"/>
              <a:t>DataInputStream</a:t>
            </a:r>
            <a:r>
              <a:rPr lang="en-US" dirty="0" smtClean="0"/>
              <a:t> </a:t>
            </a:r>
            <a:r>
              <a:rPr lang="en-US" dirty="0"/>
              <a:t>din =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smtClean="0"/>
              <a:t>new </a:t>
            </a:r>
            <a:r>
              <a:rPr lang="en-US" dirty="0" err="1"/>
              <a:t>DataInputStream</a:t>
            </a:r>
            <a:r>
              <a:rPr lang="en-US" dirty="0"/>
              <a:t>(new </a:t>
            </a:r>
            <a:r>
              <a:rPr lang="en-US" dirty="0" err="1"/>
              <a:t>FileInputStream</a:t>
            </a:r>
            <a:r>
              <a:rPr lang="en-US" dirty="0"/>
              <a:t>("file.dat")) ;</a:t>
            </a:r>
            <a:r>
              <a:rPr lang="en-US" dirty="0" smtClean="0"/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	double a = </a:t>
            </a:r>
            <a:r>
              <a:rPr lang="en-US" dirty="0" err="1"/>
              <a:t>din.readDouble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int</a:t>
            </a:r>
            <a:r>
              <a:rPr lang="en-US" dirty="0"/>
              <a:t> b = </a:t>
            </a:r>
            <a:r>
              <a:rPr lang="en-US" dirty="0" err="1"/>
              <a:t>din.readInt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boolean</a:t>
            </a:r>
            <a:r>
              <a:rPr lang="en-US" dirty="0"/>
              <a:t> c = </a:t>
            </a:r>
            <a:r>
              <a:rPr lang="en-US" dirty="0" err="1"/>
              <a:t>din.readBoolean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char d = </a:t>
            </a:r>
            <a:r>
              <a:rPr lang="en-US" dirty="0" err="1"/>
              <a:t>din.readChar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System.out.println</a:t>
            </a:r>
            <a:r>
              <a:rPr lang="en-US" dirty="0"/>
              <a:t>("Values: " + a + " " + b + " " + c + " " + d); 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	catch (</a:t>
            </a:r>
            <a:r>
              <a:rPr lang="en-US" dirty="0" err="1"/>
              <a:t>FileNotFoundException</a:t>
            </a:r>
            <a:r>
              <a:rPr lang="en-US" dirty="0"/>
              <a:t> e) {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System.out.println</a:t>
            </a:r>
            <a:r>
              <a:rPr lang="en-US" dirty="0"/>
              <a:t>("Cannot Open the Input File"); </a:t>
            </a:r>
          </a:p>
          <a:p>
            <a:pPr marL="0" indent="0">
              <a:buNone/>
            </a:pPr>
            <a:r>
              <a:rPr lang="en-US" dirty="0"/>
              <a:t>			return; </a:t>
            </a:r>
          </a:p>
          <a:p>
            <a:pPr marL="0" indent="0">
              <a:buNone/>
            </a:pPr>
            <a:r>
              <a:rPr lang="en-US" dirty="0"/>
              <a:t>		} </a:t>
            </a:r>
            <a:r>
              <a:rPr lang="en-US" dirty="0" smtClean="0"/>
              <a:t>}}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917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CharacterStream</a:t>
            </a:r>
            <a:r>
              <a:rPr lang="en-US" dirty="0"/>
              <a:t> </a:t>
            </a:r>
            <a:r>
              <a:rPr lang="en-US" dirty="0" smtClean="0"/>
              <a:t>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295400"/>
            <a:ext cx="7772400" cy="4572000"/>
          </a:xfrm>
        </p:spPr>
        <p:txBody>
          <a:bodyPr/>
          <a:lstStyle/>
          <a:p>
            <a:r>
              <a:rPr lang="en-US" b="1" dirty="0" err="1"/>
              <a:t>CharacterStream</a:t>
            </a:r>
            <a:r>
              <a:rPr lang="en-US" b="1" dirty="0"/>
              <a:t>:</a:t>
            </a:r>
            <a:r>
              <a:rPr lang="en-US" dirty="0"/>
              <a:t> In Java, characters are stored using Unicode conventions (Refer this for details). Character stream automatically allows us to read/write data character by character. </a:t>
            </a:r>
            <a:endParaRPr lang="en-US" dirty="0" smtClean="0"/>
          </a:p>
          <a:p>
            <a:r>
              <a:rPr lang="en-US" dirty="0" smtClean="0"/>
              <a:t>Though </a:t>
            </a:r>
            <a:r>
              <a:rPr lang="en-US" dirty="0"/>
              <a:t>it has many classes, the </a:t>
            </a:r>
            <a:r>
              <a:rPr lang="en-US" dirty="0" err="1"/>
              <a:t>FileReader</a:t>
            </a:r>
            <a:r>
              <a:rPr lang="en-US" dirty="0"/>
              <a:t> and the </a:t>
            </a:r>
            <a:r>
              <a:rPr lang="en-US" dirty="0" err="1"/>
              <a:t>FileWriter</a:t>
            </a:r>
            <a:r>
              <a:rPr lang="en-US" dirty="0"/>
              <a:t> are the most popular ones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 err="1"/>
              <a:t>FileReader</a:t>
            </a:r>
            <a:r>
              <a:rPr lang="en-US" dirty="0"/>
              <a:t> and </a:t>
            </a:r>
            <a:r>
              <a:rPr lang="en-US" dirty="0" err="1"/>
              <a:t>FileWriter</a:t>
            </a:r>
            <a:r>
              <a:rPr lang="en-US" dirty="0"/>
              <a:t> are character streams used to read from the source and write to the destination respectively.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10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562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// Demonstrate </a:t>
            </a:r>
            <a:r>
              <a:rPr lang="en-US" dirty="0" err="1"/>
              <a:t>FileReader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import java.io.*;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FileReaderDemo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public static void main(String </a:t>
            </a:r>
            <a:r>
              <a:rPr lang="en-US" dirty="0" err="1"/>
              <a:t>args</a:t>
            </a:r>
            <a:r>
              <a:rPr lang="en-US" dirty="0"/>
              <a:t>[]) throws </a:t>
            </a:r>
            <a:r>
              <a:rPr lang="en-US" dirty="0" err="1"/>
              <a:t>IOException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 err="1"/>
              <a:t>FileReader</a:t>
            </a:r>
            <a:r>
              <a:rPr lang="en-US" dirty="0"/>
              <a:t> </a:t>
            </a:r>
            <a:r>
              <a:rPr lang="en-US" dirty="0" err="1"/>
              <a:t>fr</a:t>
            </a:r>
            <a:r>
              <a:rPr lang="en-US" dirty="0"/>
              <a:t> = new </a:t>
            </a:r>
            <a:r>
              <a:rPr lang="en-US" dirty="0" err="1"/>
              <a:t>FileReader</a:t>
            </a:r>
            <a:r>
              <a:rPr lang="en-US" dirty="0"/>
              <a:t>("Firstfile.txt");</a:t>
            </a:r>
          </a:p>
          <a:p>
            <a:pPr marL="0" indent="0">
              <a:buNone/>
            </a:pPr>
            <a:r>
              <a:rPr lang="en-US" dirty="0" err="1"/>
              <a:t>BufferedReader</a:t>
            </a:r>
            <a:r>
              <a:rPr lang="en-US" dirty="0"/>
              <a:t> </a:t>
            </a:r>
            <a:r>
              <a:rPr lang="en-US" dirty="0" err="1"/>
              <a:t>br</a:t>
            </a:r>
            <a:r>
              <a:rPr lang="en-US" dirty="0"/>
              <a:t> = new </a:t>
            </a:r>
            <a:r>
              <a:rPr lang="en-US" dirty="0" err="1"/>
              <a:t>BufferedReader</a:t>
            </a:r>
            <a:r>
              <a:rPr lang="en-US" dirty="0"/>
              <a:t>(</a:t>
            </a:r>
            <a:r>
              <a:rPr lang="en-US" dirty="0" err="1"/>
              <a:t>fr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String s;</a:t>
            </a:r>
          </a:p>
          <a:p>
            <a:pPr marL="0" indent="0">
              <a:buNone/>
            </a:pPr>
            <a:r>
              <a:rPr lang="en-US" dirty="0"/>
              <a:t>	while((s = </a:t>
            </a:r>
            <a:r>
              <a:rPr lang="en-US" dirty="0" err="1"/>
              <a:t>br.readLine</a:t>
            </a:r>
            <a:r>
              <a:rPr lang="en-US" dirty="0"/>
              <a:t>()) != null)</a:t>
            </a:r>
          </a:p>
          <a:p>
            <a:pPr marL="0" indent="0">
              <a:buNone/>
            </a:pPr>
            <a:r>
              <a:rPr lang="en-US" dirty="0"/>
              <a:t> 	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System.out.println</a:t>
            </a:r>
            <a:r>
              <a:rPr lang="en-US" dirty="0"/>
              <a:t>(s);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fr.close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72149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91654" y="990600"/>
            <a:ext cx="7772400" cy="5562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// Demonstrate </a:t>
            </a:r>
            <a:r>
              <a:rPr lang="en-US" dirty="0" err="1"/>
              <a:t>FileWriter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import java.io.*;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FileWriterDemo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public static void main(String </a:t>
            </a:r>
            <a:r>
              <a:rPr lang="en-US" dirty="0" err="1"/>
              <a:t>args</a:t>
            </a:r>
            <a:r>
              <a:rPr lang="en-US" dirty="0"/>
              <a:t>[]) throws </a:t>
            </a:r>
            <a:r>
              <a:rPr lang="en-US" dirty="0" err="1"/>
              <a:t>IOException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 err="1"/>
              <a:t>FileReader</a:t>
            </a:r>
            <a:r>
              <a:rPr lang="en-US" dirty="0"/>
              <a:t> </a:t>
            </a:r>
            <a:r>
              <a:rPr lang="en-US" dirty="0" err="1"/>
              <a:t>fr</a:t>
            </a:r>
            <a:r>
              <a:rPr lang="en-US" dirty="0"/>
              <a:t> = new </a:t>
            </a:r>
            <a:r>
              <a:rPr lang="en-US" dirty="0" err="1"/>
              <a:t>FileReader</a:t>
            </a:r>
            <a:r>
              <a:rPr lang="en-US" dirty="0"/>
              <a:t>("Firstfile.txt");</a:t>
            </a:r>
          </a:p>
          <a:p>
            <a:pPr marL="0" indent="0">
              <a:buNone/>
            </a:pPr>
            <a:r>
              <a:rPr lang="en-US" dirty="0" err="1"/>
              <a:t>BufferedReader</a:t>
            </a:r>
            <a:r>
              <a:rPr lang="en-US" dirty="0"/>
              <a:t> </a:t>
            </a:r>
            <a:r>
              <a:rPr lang="en-US" dirty="0" err="1"/>
              <a:t>br</a:t>
            </a:r>
            <a:r>
              <a:rPr lang="en-US" dirty="0"/>
              <a:t> = new </a:t>
            </a:r>
            <a:r>
              <a:rPr lang="en-US" dirty="0" err="1"/>
              <a:t>BufferedReader</a:t>
            </a:r>
            <a:r>
              <a:rPr lang="en-US" dirty="0"/>
              <a:t>(</a:t>
            </a:r>
            <a:r>
              <a:rPr lang="en-US" dirty="0" err="1"/>
              <a:t>fr</a:t>
            </a:r>
            <a:r>
              <a:rPr lang="en-US" dirty="0" smtClean="0"/>
              <a:t>);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FileWriter</a:t>
            </a:r>
            <a:r>
              <a:rPr lang="en-US" dirty="0"/>
              <a:t> f0 = new </a:t>
            </a:r>
            <a:r>
              <a:rPr lang="en-US" dirty="0" err="1"/>
              <a:t>FileWriter</a:t>
            </a:r>
            <a:r>
              <a:rPr lang="en-US" dirty="0"/>
              <a:t>("filewriter.txt</a:t>
            </a:r>
            <a:r>
              <a:rPr lang="en-US" dirty="0" smtClean="0"/>
              <a:t>");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String s;</a:t>
            </a:r>
          </a:p>
          <a:p>
            <a:pPr marL="0" indent="0">
              <a:buNone/>
            </a:pPr>
            <a:r>
              <a:rPr lang="en-US" dirty="0"/>
              <a:t>	while((s = </a:t>
            </a:r>
            <a:r>
              <a:rPr lang="en-US" dirty="0" err="1"/>
              <a:t>br.readLine</a:t>
            </a:r>
            <a:r>
              <a:rPr lang="en-US" dirty="0"/>
              <a:t>()) != null)</a:t>
            </a:r>
          </a:p>
          <a:p>
            <a:pPr marL="0" indent="0">
              <a:buNone/>
            </a:pPr>
            <a:r>
              <a:rPr lang="en-US" dirty="0"/>
              <a:t> 	{</a:t>
            </a:r>
          </a:p>
          <a:p>
            <a:pPr marL="0" indent="0">
              <a:buNone/>
            </a:pPr>
            <a:r>
              <a:rPr lang="en-US" dirty="0"/>
              <a:t>	f0.write(s);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fr.close</a:t>
            </a:r>
            <a:r>
              <a:rPr lang="en-US" dirty="0" smtClean="0"/>
              <a:t>();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f0.close</a:t>
            </a:r>
            <a:r>
              <a:rPr lang="en-US" dirty="0" smtClean="0"/>
              <a:t>();}}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247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InputStreamReader</a:t>
            </a:r>
            <a:r>
              <a:rPr lang="en-US" dirty="0" smtClean="0"/>
              <a:t>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5537" y="1066800"/>
            <a:ext cx="7772400" cy="5562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import java.io.*;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InputOutput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{public </a:t>
            </a:r>
            <a:r>
              <a:rPr lang="en-US" dirty="0"/>
              <a:t>static void main(String </a:t>
            </a:r>
            <a:r>
              <a:rPr lang="en-US" dirty="0" err="1"/>
              <a:t>args</a:t>
            </a:r>
            <a:r>
              <a:rPr lang="en-US" dirty="0" smtClean="0"/>
              <a:t>[]){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try{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InputStreamReader</a:t>
            </a:r>
            <a:r>
              <a:rPr lang="en-US" dirty="0"/>
              <a:t> </a:t>
            </a:r>
            <a:r>
              <a:rPr lang="en-US" dirty="0" err="1"/>
              <a:t>isr</a:t>
            </a:r>
            <a:r>
              <a:rPr lang="en-US" dirty="0"/>
              <a:t>=new </a:t>
            </a:r>
            <a:r>
              <a:rPr lang="en-US" dirty="0" err="1"/>
              <a:t>InputStreamReader</a:t>
            </a:r>
            <a:r>
              <a:rPr lang="en-US" dirty="0"/>
              <a:t>(System.in);</a:t>
            </a:r>
          </a:p>
          <a:p>
            <a:pPr marL="0" indent="0">
              <a:buNone/>
            </a:pPr>
            <a:r>
              <a:rPr lang="en-US" dirty="0" err="1"/>
              <a:t>BufferedReader</a:t>
            </a:r>
            <a:r>
              <a:rPr lang="en-US" dirty="0"/>
              <a:t> </a:t>
            </a:r>
            <a:r>
              <a:rPr lang="en-US" dirty="0" err="1"/>
              <a:t>br</a:t>
            </a:r>
            <a:r>
              <a:rPr lang="en-US" dirty="0"/>
              <a:t>=new </a:t>
            </a:r>
            <a:r>
              <a:rPr lang="en-US" dirty="0" err="1"/>
              <a:t>BufferedReader</a:t>
            </a:r>
            <a:r>
              <a:rPr lang="en-US" dirty="0"/>
              <a:t>(</a:t>
            </a:r>
            <a:r>
              <a:rPr lang="en-US" dirty="0" err="1"/>
              <a:t>isr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a,b,c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("Enter first value");</a:t>
            </a:r>
          </a:p>
          <a:p>
            <a:pPr marL="0" indent="0">
              <a:buNone/>
            </a:pPr>
            <a:r>
              <a:rPr lang="en-US" dirty="0"/>
              <a:t>a=</a:t>
            </a:r>
            <a:r>
              <a:rPr lang="en-US" dirty="0" err="1"/>
              <a:t>Integer.parseInt</a:t>
            </a:r>
            <a:r>
              <a:rPr lang="en-US" dirty="0"/>
              <a:t>(</a:t>
            </a:r>
            <a:r>
              <a:rPr lang="en-US" dirty="0" err="1"/>
              <a:t>br.readLine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("Enter second value");</a:t>
            </a:r>
          </a:p>
          <a:p>
            <a:pPr marL="0" indent="0">
              <a:buNone/>
            </a:pPr>
            <a:r>
              <a:rPr lang="en-US" dirty="0"/>
              <a:t>b=</a:t>
            </a:r>
            <a:r>
              <a:rPr lang="en-US" dirty="0" err="1"/>
              <a:t>Integer.parseInt</a:t>
            </a:r>
            <a:r>
              <a:rPr lang="en-US" dirty="0"/>
              <a:t>(</a:t>
            </a:r>
            <a:r>
              <a:rPr lang="en-US" dirty="0" err="1"/>
              <a:t>br.readLine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c=</a:t>
            </a:r>
            <a:r>
              <a:rPr lang="en-US" dirty="0" err="1"/>
              <a:t>a+b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("The sum of two no is :"+c);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catch(Exception e</a:t>
            </a:r>
            <a:r>
              <a:rPr lang="en-US" dirty="0" smtClean="0"/>
              <a:t>){}}}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514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File Class </a:t>
            </a:r>
            <a:r>
              <a:rPr lang="en-US" dirty="0" smtClean="0"/>
              <a:t>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638800"/>
          </a:xfrm>
        </p:spPr>
        <p:txBody>
          <a:bodyPr>
            <a:normAutofit lnSpcReduction="10000"/>
          </a:bodyPr>
          <a:lstStyle/>
          <a:p>
            <a:r>
              <a:rPr lang="en-US" b="1" dirty="0" err="1"/>
              <a:t>canRead</a:t>
            </a:r>
            <a:r>
              <a:rPr lang="en-US" b="1" dirty="0" smtClean="0"/>
              <a:t>(): </a:t>
            </a:r>
            <a:r>
              <a:rPr lang="en-US" b="1" dirty="0" err="1" smtClean="0"/>
              <a:t>boolean</a:t>
            </a:r>
            <a:endParaRPr lang="en-US" b="1" dirty="0" smtClean="0"/>
          </a:p>
          <a:p>
            <a:pPr lvl="1"/>
            <a:r>
              <a:rPr lang="en-US" dirty="0" smtClean="0"/>
              <a:t>The </a:t>
            </a:r>
            <a:r>
              <a:rPr lang="en-US" dirty="0" err="1"/>
              <a:t>canRead</a:t>
            </a:r>
            <a:r>
              <a:rPr lang="en-US" dirty="0"/>
              <a:t>() method is used to check whether we can read the data of the file or not</a:t>
            </a:r>
            <a:r>
              <a:rPr lang="en-US" dirty="0" smtClean="0"/>
              <a:t>.</a:t>
            </a:r>
          </a:p>
          <a:p>
            <a:r>
              <a:rPr lang="en-US" b="1" dirty="0" err="1"/>
              <a:t>createNewFile</a:t>
            </a:r>
            <a:r>
              <a:rPr lang="en-US" b="1" dirty="0" smtClean="0"/>
              <a:t>():Boolean</a:t>
            </a:r>
            <a:r>
              <a:rPr lang="en-US" dirty="0"/>
              <a:t>	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 err="1"/>
              <a:t>createNewFile</a:t>
            </a:r>
            <a:r>
              <a:rPr lang="en-US" dirty="0"/>
              <a:t>() method is used to create a new empty file</a:t>
            </a:r>
            <a:r>
              <a:rPr lang="en-US" dirty="0" smtClean="0"/>
              <a:t>.</a:t>
            </a:r>
          </a:p>
          <a:p>
            <a:r>
              <a:rPr lang="en-US" b="1" dirty="0" err="1"/>
              <a:t>canWrite</a:t>
            </a:r>
            <a:r>
              <a:rPr lang="en-US" b="1" dirty="0" smtClean="0"/>
              <a:t>():Boolean</a:t>
            </a:r>
            <a:r>
              <a:rPr lang="en-US" dirty="0"/>
              <a:t>	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 err="1"/>
              <a:t>canWrite</a:t>
            </a:r>
            <a:r>
              <a:rPr lang="en-US" dirty="0"/>
              <a:t>() method is used to check whether we can write the data into the file or not</a:t>
            </a:r>
            <a:r>
              <a:rPr lang="en-US" dirty="0" smtClean="0"/>
              <a:t>.</a:t>
            </a:r>
          </a:p>
          <a:p>
            <a:r>
              <a:rPr lang="en-US" b="1" dirty="0"/>
              <a:t>exists</a:t>
            </a:r>
            <a:r>
              <a:rPr lang="en-US" b="1" dirty="0" smtClean="0"/>
              <a:t>():Boolean</a:t>
            </a:r>
            <a:r>
              <a:rPr lang="en-US" dirty="0"/>
              <a:t>	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exists() method is used to check whether the specified file is present or not</a:t>
            </a:r>
            <a:r>
              <a:rPr lang="en-US" dirty="0" smtClean="0"/>
              <a:t>.</a:t>
            </a:r>
          </a:p>
          <a:p>
            <a:r>
              <a:rPr lang="en-US" b="1" dirty="0"/>
              <a:t>delete</a:t>
            </a:r>
            <a:r>
              <a:rPr lang="en-US" b="1" dirty="0" smtClean="0"/>
              <a:t>():Boolean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delete() method is used to delete a file.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51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File Class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86400"/>
          </a:xfrm>
        </p:spPr>
        <p:txBody>
          <a:bodyPr>
            <a:normAutofit lnSpcReduction="10000"/>
          </a:bodyPr>
          <a:lstStyle/>
          <a:p>
            <a:r>
              <a:rPr lang="en-US" b="1" dirty="0" err="1"/>
              <a:t>getName</a:t>
            </a:r>
            <a:r>
              <a:rPr lang="en-US" b="1" dirty="0" smtClean="0"/>
              <a:t>():String</a:t>
            </a:r>
            <a:r>
              <a:rPr lang="en-US" b="1" dirty="0"/>
              <a:t>	</a:t>
            </a:r>
            <a:endParaRPr lang="en-US" b="1" dirty="0" smtClean="0"/>
          </a:p>
          <a:p>
            <a:pPr lvl="1"/>
            <a:r>
              <a:rPr lang="en-US" dirty="0" smtClean="0"/>
              <a:t>The </a:t>
            </a:r>
            <a:r>
              <a:rPr lang="en-US" dirty="0" err="1"/>
              <a:t>getName</a:t>
            </a:r>
            <a:r>
              <a:rPr lang="en-US" dirty="0"/>
              <a:t>() method is used to find the file name</a:t>
            </a:r>
            <a:r>
              <a:rPr lang="en-US" dirty="0" smtClean="0"/>
              <a:t>.</a:t>
            </a:r>
          </a:p>
          <a:p>
            <a:r>
              <a:rPr lang="en-US" b="1" dirty="0" err="1"/>
              <a:t>getAbsolutePath</a:t>
            </a:r>
            <a:r>
              <a:rPr lang="en-US" b="1" dirty="0" smtClean="0"/>
              <a:t>():String</a:t>
            </a:r>
            <a:r>
              <a:rPr lang="en-US" dirty="0"/>
              <a:t>	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 err="1"/>
              <a:t>getAbsolutePath</a:t>
            </a:r>
            <a:r>
              <a:rPr lang="en-US" dirty="0"/>
              <a:t>() method is used to get the absolute pathname of the file</a:t>
            </a:r>
            <a:r>
              <a:rPr lang="en-US" dirty="0" smtClean="0"/>
              <a:t>.</a:t>
            </a:r>
          </a:p>
          <a:p>
            <a:r>
              <a:rPr lang="en-US" b="1" dirty="0"/>
              <a:t>length</a:t>
            </a:r>
            <a:r>
              <a:rPr lang="en-US" b="1" dirty="0" smtClean="0"/>
              <a:t>():Long</a:t>
            </a:r>
            <a:r>
              <a:rPr lang="en-US" b="1" dirty="0"/>
              <a:t>	</a:t>
            </a:r>
            <a:endParaRPr lang="en-US" b="1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length() method is used to get the size of the file in bytes</a:t>
            </a:r>
            <a:r>
              <a:rPr lang="en-US" dirty="0" smtClean="0"/>
              <a:t>.</a:t>
            </a:r>
          </a:p>
          <a:p>
            <a:r>
              <a:rPr lang="en-US" b="1" dirty="0"/>
              <a:t>list</a:t>
            </a:r>
            <a:r>
              <a:rPr lang="en-US" b="1" dirty="0" smtClean="0"/>
              <a:t>():String</a:t>
            </a:r>
            <a:r>
              <a:rPr lang="en-US" b="1" dirty="0"/>
              <a:t>[]	</a:t>
            </a:r>
            <a:endParaRPr lang="en-US" b="1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list() method is used to get an array of the files available in the directory</a:t>
            </a:r>
            <a:r>
              <a:rPr lang="en-US" dirty="0" smtClean="0"/>
              <a:t>.</a:t>
            </a:r>
          </a:p>
          <a:p>
            <a:r>
              <a:rPr lang="en-US" b="1" dirty="0" err="1"/>
              <a:t>mkdir</a:t>
            </a:r>
            <a:r>
              <a:rPr lang="en-US" b="1" dirty="0" smtClean="0"/>
              <a:t>():Boolean</a:t>
            </a:r>
          </a:p>
          <a:p>
            <a:pPr lvl="1"/>
            <a:r>
              <a:rPr lang="en-US" dirty="0" smtClean="0"/>
              <a:t>The </a:t>
            </a:r>
            <a:r>
              <a:rPr lang="en-US" dirty="0" err="1"/>
              <a:t>mkdir</a:t>
            </a:r>
            <a:r>
              <a:rPr lang="en-US" dirty="0"/>
              <a:t>() method is used for creating a new directory.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764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7812" y="990600"/>
            <a:ext cx="7772400" cy="55626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// Demonstrate File.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java.io.File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FileDemo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static void p(String s)</a:t>
            </a:r>
          </a:p>
          <a:p>
            <a:pPr marL="0" indent="0">
              <a:buNone/>
            </a:pP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System.out.println</a:t>
            </a:r>
            <a:r>
              <a:rPr lang="en-US" dirty="0"/>
              <a:t>(s);</a:t>
            </a:r>
          </a:p>
          <a:p>
            <a:pPr marL="0" indent="0">
              <a:buNone/>
            </a:pPr>
            <a:r>
              <a:rPr lang="en-US" dirty="0"/>
              <a:t> }</a:t>
            </a:r>
          </a:p>
          <a:p>
            <a:pPr marL="0" indent="0">
              <a:buNone/>
            </a:pPr>
            <a:r>
              <a:rPr lang="en-US" dirty="0"/>
              <a:t>public static void main(String </a:t>
            </a:r>
            <a:r>
              <a:rPr lang="en-US" dirty="0" err="1"/>
              <a:t>args</a:t>
            </a:r>
            <a:r>
              <a:rPr lang="en-US" dirty="0"/>
              <a:t>[])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File f1 = new File("/JAVA PROGRAMS/file_demo.txt");</a:t>
            </a:r>
          </a:p>
          <a:p>
            <a:pPr marL="0" indent="0">
              <a:buNone/>
            </a:pPr>
            <a:r>
              <a:rPr lang="en-US" dirty="0"/>
              <a:t>p("File Name: " + f1.getName());</a:t>
            </a:r>
          </a:p>
          <a:p>
            <a:pPr marL="0" indent="0">
              <a:buNone/>
            </a:pPr>
            <a:r>
              <a:rPr lang="en-US" dirty="0"/>
              <a:t>p("Path: " + f1.getPath());</a:t>
            </a:r>
          </a:p>
          <a:p>
            <a:pPr marL="0" indent="0">
              <a:buNone/>
            </a:pPr>
            <a:r>
              <a:rPr lang="en-US" dirty="0"/>
              <a:t>p("Abs Path: " + f1.getAbsolutePath());</a:t>
            </a:r>
          </a:p>
          <a:p>
            <a:pPr marL="0" indent="0">
              <a:buNone/>
            </a:pPr>
            <a:r>
              <a:rPr lang="en-US" dirty="0"/>
              <a:t>p("Parent: " + f1.getParent());</a:t>
            </a:r>
          </a:p>
          <a:p>
            <a:pPr marL="0" indent="0">
              <a:buNone/>
            </a:pPr>
            <a:r>
              <a:rPr lang="en-US" dirty="0"/>
              <a:t>p(f1.canWrite() ? "is writeable" : "is not writeable");</a:t>
            </a:r>
          </a:p>
          <a:p>
            <a:pPr marL="0" indent="0">
              <a:buNone/>
            </a:pPr>
            <a:r>
              <a:rPr lang="en-US" dirty="0"/>
              <a:t>p(f1.canRead() ? "is readable" : "is not readable");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13340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08713" y="1143000"/>
            <a:ext cx="7772400" cy="5334000"/>
          </a:xfrm>
        </p:spPr>
        <p:txBody>
          <a:bodyPr>
            <a:normAutofit/>
          </a:bodyPr>
          <a:lstStyle/>
          <a:p>
            <a:r>
              <a:rPr lang="en-US" dirty="0"/>
              <a:t>All the classes that define buffers have the abstract Buffer class as a base.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Buffer class </a:t>
            </a:r>
            <a:r>
              <a:rPr lang="en-US" dirty="0" smtClean="0"/>
              <a:t>therefore defines </a:t>
            </a:r>
            <a:r>
              <a:rPr lang="en-US" dirty="0"/>
              <a:t>the fundamental characteristics common to all buffers.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particular buffer can store a </a:t>
            </a:r>
            <a:r>
              <a:rPr lang="en-US" b="1" dirty="0"/>
              <a:t>sequence </a:t>
            </a:r>
            <a:r>
              <a:rPr lang="en-US" b="1" dirty="0" smtClean="0"/>
              <a:t>of elements </a:t>
            </a:r>
            <a:r>
              <a:rPr lang="en-US" b="1" dirty="0"/>
              <a:t>of a given type</a:t>
            </a:r>
            <a:r>
              <a:rPr lang="en-US" dirty="0"/>
              <a:t>, and an element can be of any primitive data type other than </a:t>
            </a:r>
            <a:r>
              <a:rPr lang="en-US" dirty="0" err="1"/>
              <a:t>boolean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err="1" smtClean="0"/>
              <a:t>Thus,you</a:t>
            </a:r>
            <a:r>
              <a:rPr lang="en-US" dirty="0" smtClean="0"/>
              <a:t> </a:t>
            </a:r>
            <a:r>
              <a:rPr lang="en-US" dirty="0"/>
              <a:t>can create buffers to store byte values, char values, short values, </a:t>
            </a:r>
            <a:r>
              <a:rPr lang="en-US" dirty="0" err="1"/>
              <a:t>int</a:t>
            </a:r>
            <a:r>
              <a:rPr lang="en-US" dirty="0"/>
              <a:t> values, long values, </a:t>
            </a:r>
            <a:r>
              <a:rPr lang="en-US" dirty="0" smtClean="0"/>
              <a:t>float values</a:t>
            </a:r>
            <a:r>
              <a:rPr lang="en-US" dirty="0"/>
              <a:t>, or double values.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following classes in the </a:t>
            </a:r>
            <a:r>
              <a:rPr lang="en-US" dirty="0" err="1"/>
              <a:t>java.nio</a:t>
            </a:r>
            <a:r>
              <a:rPr lang="en-US" dirty="0"/>
              <a:t> package define these buffers: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301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864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/>
              <a:t>ByteBuffer</a:t>
            </a:r>
            <a:r>
              <a:rPr lang="en-US" dirty="0"/>
              <a:t> </a:t>
            </a:r>
            <a:r>
              <a:rPr lang="en-US" dirty="0" smtClean="0"/>
              <a:t>:A </a:t>
            </a:r>
            <a:r>
              <a:rPr lang="en-US" dirty="0"/>
              <a:t>buffer that stores values of type byte. You can also store the binary </a:t>
            </a:r>
            <a:r>
              <a:rPr lang="en-US" dirty="0" smtClean="0"/>
              <a:t>values of </a:t>
            </a:r>
            <a:r>
              <a:rPr lang="en-US" dirty="0"/>
              <a:t>any of the other primitive types in this buffer, except for </a:t>
            </a:r>
            <a:r>
              <a:rPr lang="en-US" dirty="0" smtClean="0"/>
              <a:t>type </a:t>
            </a:r>
            <a:r>
              <a:rPr lang="en-US" dirty="0" err="1" smtClean="0"/>
              <a:t>boolean</a:t>
            </a:r>
            <a:r>
              <a:rPr lang="en-US" dirty="0"/>
              <a:t>. </a:t>
            </a:r>
          </a:p>
          <a:p>
            <a:r>
              <a:rPr lang="en-US" b="1" dirty="0" err="1"/>
              <a:t>CharBuffer</a:t>
            </a:r>
            <a:r>
              <a:rPr lang="en-US" dirty="0"/>
              <a:t> </a:t>
            </a:r>
            <a:r>
              <a:rPr lang="en-US" dirty="0" smtClean="0"/>
              <a:t>:A </a:t>
            </a:r>
            <a:r>
              <a:rPr lang="en-US" dirty="0"/>
              <a:t>buffer that stores only values of type char</a:t>
            </a:r>
          </a:p>
          <a:p>
            <a:r>
              <a:rPr lang="en-US" b="1" dirty="0" err="1"/>
              <a:t>ShortBuffer</a:t>
            </a:r>
            <a:r>
              <a:rPr lang="en-US" dirty="0"/>
              <a:t> </a:t>
            </a:r>
            <a:r>
              <a:rPr lang="en-US" dirty="0" smtClean="0"/>
              <a:t>:A </a:t>
            </a:r>
            <a:r>
              <a:rPr lang="en-US" dirty="0"/>
              <a:t>buffer that stores only values of type short</a:t>
            </a:r>
          </a:p>
          <a:p>
            <a:r>
              <a:rPr lang="en-US" b="1" dirty="0" err="1"/>
              <a:t>IntBuffer</a:t>
            </a:r>
            <a:r>
              <a:rPr lang="en-US" dirty="0"/>
              <a:t> </a:t>
            </a:r>
            <a:r>
              <a:rPr lang="en-US" dirty="0" smtClean="0"/>
              <a:t>:A </a:t>
            </a:r>
            <a:r>
              <a:rPr lang="en-US" dirty="0"/>
              <a:t>buffer that stores only values of type </a:t>
            </a:r>
            <a:r>
              <a:rPr lang="en-US" dirty="0" err="1"/>
              <a:t>int</a:t>
            </a:r>
            <a:endParaRPr lang="en-US" dirty="0"/>
          </a:p>
          <a:p>
            <a:r>
              <a:rPr lang="en-US" b="1" dirty="0" err="1"/>
              <a:t>LongBuffer</a:t>
            </a:r>
            <a:r>
              <a:rPr lang="en-US" dirty="0"/>
              <a:t> </a:t>
            </a:r>
            <a:r>
              <a:rPr lang="en-US" dirty="0" smtClean="0"/>
              <a:t>:A </a:t>
            </a:r>
            <a:r>
              <a:rPr lang="en-US" dirty="0"/>
              <a:t>buffer that stores only values of type long</a:t>
            </a:r>
          </a:p>
          <a:p>
            <a:r>
              <a:rPr lang="en-US" b="1" dirty="0" err="1" smtClean="0"/>
              <a:t>FloatBuffer</a:t>
            </a:r>
            <a:r>
              <a:rPr lang="en-US" dirty="0" smtClean="0"/>
              <a:t>: </a:t>
            </a:r>
            <a:r>
              <a:rPr lang="en-US" dirty="0"/>
              <a:t>A buffer that stores only values of type float</a:t>
            </a:r>
          </a:p>
          <a:p>
            <a:r>
              <a:rPr lang="en-US" b="1" dirty="0" err="1" smtClean="0"/>
              <a:t>DoubleBuffer</a:t>
            </a:r>
            <a:r>
              <a:rPr lang="en-US" dirty="0" smtClean="0"/>
              <a:t>: </a:t>
            </a:r>
            <a:r>
              <a:rPr lang="en-US" dirty="0"/>
              <a:t>A buffer that stores only values of type </a:t>
            </a:r>
            <a:r>
              <a:rPr lang="en-US" dirty="0" smtClean="0"/>
              <a:t>double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2629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Buffer Capacity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10200"/>
          </a:xfrm>
        </p:spPr>
        <p:txBody>
          <a:bodyPr>
            <a:normAutofit/>
          </a:bodyPr>
          <a:lstStyle/>
          <a:p>
            <a:r>
              <a:rPr lang="en-US" dirty="0"/>
              <a:t>Each type of buffer stores elements of a specific kind—a </a:t>
            </a:r>
            <a:r>
              <a:rPr lang="en-US" dirty="0" err="1"/>
              <a:t>ByteBuffer</a:t>
            </a:r>
            <a:r>
              <a:rPr lang="en-US" dirty="0"/>
              <a:t> object holds bytes, a </a:t>
            </a:r>
            <a:r>
              <a:rPr lang="en-US" dirty="0" err="1" smtClean="0"/>
              <a:t>LongBuffer</a:t>
            </a:r>
            <a:r>
              <a:rPr lang="en-US" dirty="0"/>
              <a:t> </a:t>
            </a:r>
            <a:r>
              <a:rPr lang="en-US" dirty="0" smtClean="0"/>
              <a:t>object </a:t>
            </a:r>
            <a:r>
              <a:rPr lang="en-US" dirty="0"/>
              <a:t>holds integers of type long, and so on for the other buffer types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 capacity of a buffer is </a:t>
            </a:r>
            <a:r>
              <a:rPr lang="en-US" dirty="0" smtClean="0"/>
              <a:t>the maximum </a:t>
            </a:r>
            <a:r>
              <a:rPr lang="en-US" dirty="0"/>
              <a:t>number of values it can contain, not the number of bytes—unless, of course, it stores </a:t>
            </a:r>
            <a:r>
              <a:rPr lang="en-US" dirty="0" smtClean="0"/>
              <a:t>elements of </a:t>
            </a:r>
            <a:r>
              <a:rPr lang="en-US" dirty="0"/>
              <a:t>type </a:t>
            </a:r>
            <a:r>
              <a:rPr lang="en-US" dirty="0" smtClean="0"/>
              <a:t>byte.</a:t>
            </a:r>
          </a:p>
          <a:p>
            <a:r>
              <a:rPr lang="en-US" dirty="0" smtClean="0"/>
              <a:t>The </a:t>
            </a:r>
            <a:r>
              <a:rPr lang="en-US" dirty="0"/>
              <a:t>capacity of a buffer is fixed when you create it and cannot be changed subsequently.</a:t>
            </a:r>
          </a:p>
          <a:p>
            <a:r>
              <a:rPr lang="en-US" dirty="0"/>
              <a:t>You can obtain the capacity for a buffer object as a value of type </a:t>
            </a:r>
            <a:r>
              <a:rPr lang="en-US" dirty="0" err="1"/>
              <a:t>int</a:t>
            </a:r>
            <a:r>
              <a:rPr lang="en-US" dirty="0"/>
              <a:t> by calling the capacity()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160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Creating Buffers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4572000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you use a static </a:t>
            </a:r>
            <a:r>
              <a:rPr lang="en-US" dirty="0" smtClean="0"/>
              <a:t>factory method </a:t>
            </a:r>
            <a:r>
              <a:rPr lang="en-US" dirty="0"/>
              <a:t>to create a buffer. You will typically create a buffer object of type </a:t>
            </a:r>
            <a:r>
              <a:rPr lang="en-US" dirty="0" err="1"/>
              <a:t>ByteBuffer</a:t>
            </a:r>
            <a:r>
              <a:rPr lang="en-US" dirty="0"/>
              <a:t> by calling </a:t>
            </a:r>
            <a:r>
              <a:rPr lang="en-US" dirty="0" smtClean="0"/>
              <a:t>the static </a:t>
            </a:r>
            <a:r>
              <a:rPr lang="en-US" b="1" dirty="0"/>
              <a:t>allocate() </a:t>
            </a:r>
            <a:r>
              <a:rPr lang="en-US" dirty="0"/>
              <a:t>method for the class.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pass a value of type </a:t>
            </a:r>
            <a:r>
              <a:rPr lang="en-US" dirty="0" err="1"/>
              <a:t>int</a:t>
            </a:r>
            <a:r>
              <a:rPr lang="en-US" dirty="0"/>
              <a:t> as an argument to the method </a:t>
            </a:r>
            <a:r>
              <a:rPr lang="en-US" dirty="0" smtClean="0"/>
              <a:t>that defines </a:t>
            </a:r>
            <a:r>
              <a:rPr lang="en-US" dirty="0"/>
              <a:t>the capacity of the buffer—the maximum number of bytes that the buffer must accommodate.</a:t>
            </a:r>
          </a:p>
          <a:p>
            <a:r>
              <a:rPr lang="en-US" dirty="0"/>
              <a:t>For example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/>
              <a:t>ByteBuffer</a:t>
            </a:r>
            <a:r>
              <a:rPr lang="en-US" dirty="0"/>
              <a:t> </a:t>
            </a:r>
            <a:r>
              <a:rPr lang="en-US" dirty="0" err="1"/>
              <a:t>buf</a:t>
            </a:r>
            <a:r>
              <a:rPr lang="en-US" dirty="0"/>
              <a:t> = </a:t>
            </a:r>
            <a:r>
              <a:rPr lang="en-US" dirty="0" err="1"/>
              <a:t>ByteBuffer.allocate</a:t>
            </a:r>
            <a:r>
              <a:rPr lang="en-US" dirty="0"/>
              <a:t>(1024);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884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Buffer Data Transfers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219200"/>
            <a:ext cx="7772400" cy="5410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Of course, before you can use a channel to write the contents of a buffer to a file, you must load </a:t>
            </a:r>
            <a:r>
              <a:rPr lang="en-US" dirty="0" smtClean="0"/>
              <a:t>the buffer </a:t>
            </a:r>
            <a:r>
              <a:rPr lang="en-US" dirty="0"/>
              <a:t>with the data. </a:t>
            </a:r>
            <a:endParaRPr lang="en-US" dirty="0" smtClean="0"/>
          </a:p>
          <a:p>
            <a:r>
              <a:rPr lang="en-US" dirty="0" smtClean="0"/>
              <a:t>Methods </a:t>
            </a:r>
            <a:r>
              <a:rPr lang="en-US" dirty="0"/>
              <a:t>for loading data into a buffer are referred to as </a:t>
            </a:r>
            <a:r>
              <a:rPr lang="en-US" b="1" dirty="0"/>
              <a:t>put </a:t>
            </a:r>
            <a:r>
              <a:rPr lang="en-US" dirty="0"/>
              <a:t>methods. </a:t>
            </a:r>
            <a:endParaRPr lang="en-US" dirty="0" smtClean="0"/>
          </a:p>
          <a:p>
            <a:r>
              <a:rPr lang="en-US" dirty="0"/>
              <a:t>These are the </a:t>
            </a:r>
            <a:r>
              <a:rPr lang="en-US" b="1" dirty="0"/>
              <a:t>methods </a:t>
            </a:r>
            <a:r>
              <a:rPr lang="en-US" b="1" dirty="0" err="1"/>
              <a:t>putChar</a:t>
            </a:r>
            <a:r>
              <a:rPr lang="en-US" b="1" dirty="0"/>
              <a:t>(), </a:t>
            </a:r>
            <a:r>
              <a:rPr lang="en-US" b="1" dirty="0" err="1"/>
              <a:t>putShort</a:t>
            </a:r>
            <a:r>
              <a:rPr lang="en-US" b="1" dirty="0"/>
              <a:t>(), </a:t>
            </a:r>
            <a:r>
              <a:rPr lang="en-US" b="1" dirty="0" err="1"/>
              <a:t>putInt</a:t>
            </a:r>
            <a:r>
              <a:rPr lang="en-US" b="1" dirty="0" smtClean="0"/>
              <a:t>(),</a:t>
            </a:r>
            <a:r>
              <a:rPr lang="en-US" b="1" dirty="0" err="1" smtClean="0"/>
              <a:t>putLong</a:t>
            </a:r>
            <a:r>
              <a:rPr lang="en-US" b="1" dirty="0"/>
              <a:t>(), and </a:t>
            </a:r>
            <a:r>
              <a:rPr lang="en-US" b="1" dirty="0" err="1"/>
              <a:t>putFloat</a:t>
            </a:r>
            <a:r>
              <a:rPr lang="en-US" b="1" dirty="0"/>
              <a:t>(), </a:t>
            </a:r>
            <a:r>
              <a:rPr lang="en-US" dirty="0"/>
              <a:t>each of which transfers a value of the </a:t>
            </a:r>
            <a:r>
              <a:rPr lang="en-US" dirty="0" smtClean="0"/>
              <a:t>corresponding </a:t>
            </a:r>
            <a:r>
              <a:rPr lang="en-US" dirty="0" err="1" smtClean="0"/>
              <a:t>type.Similarly</a:t>
            </a:r>
            <a:r>
              <a:rPr lang="en-US" dirty="0"/>
              <a:t>,</a:t>
            </a:r>
          </a:p>
          <a:p>
            <a:r>
              <a:rPr lang="en-US" dirty="0"/>
              <a:t>when a channel has read data from a file into a buffer, you are likely to want to retrieve the data from </a:t>
            </a:r>
            <a:r>
              <a:rPr lang="en-US" dirty="0" smtClean="0"/>
              <a:t>the buffer.</a:t>
            </a:r>
          </a:p>
          <a:p>
            <a:r>
              <a:rPr lang="en-US" dirty="0" smtClean="0"/>
              <a:t> </a:t>
            </a:r>
            <a:r>
              <a:rPr lang="en-US" dirty="0"/>
              <a:t>In this case you use the buffer’s </a:t>
            </a:r>
            <a:r>
              <a:rPr lang="en-US" b="1" dirty="0"/>
              <a:t>get </a:t>
            </a:r>
            <a:r>
              <a:rPr lang="en-US" dirty="0"/>
              <a:t>methods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0442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double[] data = { 1.0, 1.414, 1.732, 2.0, 2.236, 2.449 };</a:t>
            </a:r>
          </a:p>
          <a:p>
            <a:r>
              <a:rPr lang="en-US" dirty="0" err="1"/>
              <a:t>doubleBuf.put</a:t>
            </a:r>
            <a:r>
              <a:rPr lang="en-US" dirty="0"/>
              <a:t>(data);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9748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Channels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10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channel transfers </a:t>
            </a:r>
            <a:r>
              <a:rPr lang="en-US" dirty="0" smtClean="0"/>
              <a:t>data between </a:t>
            </a:r>
            <a:r>
              <a:rPr lang="en-US" dirty="0"/>
              <a:t>a file and one or more buffers</a:t>
            </a:r>
            <a:r>
              <a:rPr lang="en-US" dirty="0" smtClean="0"/>
              <a:t>.</a:t>
            </a:r>
          </a:p>
          <a:p>
            <a:r>
              <a:rPr lang="en-US" dirty="0"/>
              <a:t>A considerable number of classes and interfaces define both channels and buffers. They also have </a:t>
            </a:r>
            <a:r>
              <a:rPr lang="en-US" dirty="0" smtClean="0"/>
              <a:t>similar names </a:t>
            </a:r>
            <a:r>
              <a:rPr lang="en-US" dirty="0"/>
              <a:t>such as </a:t>
            </a:r>
            <a:r>
              <a:rPr lang="en-US" dirty="0" err="1"/>
              <a:t>ByteBuffer</a:t>
            </a:r>
            <a:r>
              <a:rPr lang="en-US" dirty="0"/>
              <a:t> and </a:t>
            </a:r>
            <a:r>
              <a:rPr lang="en-US" dirty="0" err="1"/>
              <a:t>ByteChannel</a:t>
            </a:r>
            <a:r>
              <a:rPr lang="en-US" dirty="0" smtClean="0"/>
              <a:t>.</a:t>
            </a:r>
          </a:p>
          <a:p>
            <a:r>
              <a:rPr lang="en-US" b="1" i="1" dirty="0"/>
              <a:t>File </a:t>
            </a:r>
            <a:r>
              <a:rPr lang="en-US" b="1" i="1" dirty="0" smtClean="0"/>
              <a:t>Channels:</a:t>
            </a:r>
          </a:p>
          <a:p>
            <a:pPr lvl="1"/>
            <a:r>
              <a:rPr lang="en-US" dirty="0" smtClean="0"/>
              <a:t>For reading</a:t>
            </a:r>
            <a:r>
              <a:rPr lang="en-US" dirty="0"/>
              <a:t>, writing, and manipulating the file. You can’t create a </a:t>
            </a:r>
            <a:r>
              <a:rPr lang="en-US" sz="2200" dirty="0" err="1"/>
              <a:t>FileChannel</a:t>
            </a:r>
            <a:r>
              <a:rPr lang="en-US" sz="2200" dirty="0"/>
              <a:t> </a:t>
            </a:r>
            <a:r>
              <a:rPr lang="en-US" dirty="0"/>
              <a:t>directly. </a:t>
            </a:r>
            <a:endParaRPr lang="en-US" dirty="0" smtClean="0"/>
          </a:p>
          <a:p>
            <a:pPr lvl="1"/>
            <a:r>
              <a:rPr lang="en-US" dirty="0" smtClean="0"/>
              <a:t>You </a:t>
            </a:r>
            <a:r>
              <a:rPr lang="en-US" dirty="0"/>
              <a:t>first have </a:t>
            </a:r>
            <a:r>
              <a:rPr lang="en-US" dirty="0" smtClean="0"/>
              <a:t>to create </a:t>
            </a:r>
            <a:r>
              <a:rPr lang="en-US" dirty="0"/>
              <a:t>a file stream object for the file, then obtain a reference to the </a:t>
            </a:r>
            <a:r>
              <a:rPr lang="en-US" sz="2200" dirty="0" err="1"/>
              <a:t>FileChannel</a:t>
            </a:r>
            <a:r>
              <a:rPr lang="en-US" sz="2200" dirty="0"/>
              <a:t> </a:t>
            </a:r>
            <a:r>
              <a:rPr lang="en-US" dirty="0"/>
              <a:t>object for the file </a:t>
            </a:r>
            <a:r>
              <a:rPr lang="en-US" dirty="0" smtClean="0"/>
              <a:t>by calling </a:t>
            </a:r>
            <a:r>
              <a:rPr lang="en-US" dirty="0"/>
              <a:t>the </a:t>
            </a:r>
            <a:r>
              <a:rPr lang="en-US" sz="2200" b="1" dirty="0" err="1"/>
              <a:t>getChannel</a:t>
            </a:r>
            <a:r>
              <a:rPr lang="en-US" sz="2200" b="1" dirty="0"/>
              <a:t>() </a:t>
            </a:r>
            <a:r>
              <a:rPr lang="en-US" dirty="0"/>
              <a:t>method for the file stream object. </a:t>
            </a:r>
            <a:endParaRPr lang="en-US" dirty="0" smtClean="0"/>
          </a:p>
          <a:p>
            <a:r>
              <a:rPr lang="en-US" sz="2800" dirty="0" err="1" smtClean="0"/>
              <a:t>FileChannel</a:t>
            </a:r>
            <a:r>
              <a:rPr lang="en-US" sz="2800" dirty="0" smtClean="0"/>
              <a:t> </a:t>
            </a:r>
            <a:r>
              <a:rPr lang="en-US" sz="2800" dirty="0" err="1"/>
              <a:t>outputChannel</a:t>
            </a:r>
            <a:r>
              <a:rPr lang="en-US" sz="2800" dirty="0"/>
              <a:t> = </a:t>
            </a:r>
            <a:r>
              <a:rPr lang="en-US" sz="2800" dirty="0" err="1"/>
              <a:t>outputFile.getChannel</a:t>
            </a:r>
            <a:r>
              <a:rPr lang="en-US" sz="2800" dirty="0"/>
              <a:t>();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2569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to a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562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For example, if you have set up </a:t>
            </a:r>
            <a:r>
              <a:rPr lang="en-US" dirty="0" smtClean="0"/>
              <a:t>a </a:t>
            </a:r>
            <a:r>
              <a:rPr lang="en-US" b="1" dirty="0" err="1" smtClean="0"/>
              <a:t>ByteBuffer</a:t>
            </a:r>
            <a:r>
              <a:rPr lang="en-US" b="1" dirty="0" smtClean="0"/>
              <a:t> </a:t>
            </a:r>
            <a:r>
              <a:rPr lang="en-US" b="1" dirty="0" err="1"/>
              <a:t>buf</a:t>
            </a:r>
            <a:r>
              <a:rPr lang="en-US" dirty="0"/>
              <a:t>, ready to be written, </a:t>
            </a:r>
            <a:endParaRPr lang="en-US" dirty="0" smtClean="0"/>
          </a:p>
          <a:p>
            <a:r>
              <a:rPr lang="en-US" b="1" dirty="0" err="1" smtClean="0"/>
              <a:t>ByteBuffer</a:t>
            </a:r>
            <a:r>
              <a:rPr lang="en-US" b="1" dirty="0" smtClean="0"/>
              <a:t> </a:t>
            </a:r>
            <a:r>
              <a:rPr lang="en-US" b="1" dirty="0" err="1"/>
              <a:t>buf</a:t>
            </a:r>
            <a:r>
              <a:rPr lang="en-US" b="1" dirty="0"/>
              <a:t> = </a:t>
            </a:r>
            <a:r>
              <a:rPr lang="en-US" b="1" dirty="0" err="1"/>
              <a:t>ByteBuffer.allocate</a:t>
            </a:r>
            <a:r>
              <a:rPr lang="en-US" b="1" dirty="0"/>
              <a:t>(80</a:t>
            </a:r>
            <a:r>
              <a:rPr lang="en-US" b="1" dirty="0" smtClean="0"/>
              <a:t>);</a:t>
            </a:r>
          </a:p>
          <a:p>
            <a:r>
              <a:rPr lang="en-US" dirty="0"/>
              <a:t>you might code the write operation like this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File </a:t>
            </a:r>
            <a:r>
              <a:rPr lang="en-US" dirty="0" err="1"/>
              <a:t>aFile</a:t>
            </a:r>
            <a:r>
              <a:rPr lang="en-US" dirty="0"/>
              <a:t> = new File(“C</a:t>
            </a:r>
            <a:r>
              <a:rPr lang="en-US" dirty="0" smtClean="0"/>
              <a:t>:/</a:t>
            </a:r>
            <a:r>
              <a:rPr lang="en-US" dirty="0" err="1" smtClean="0"/>
              <a:t>myFile.text</a:t>
            </a:r>
            <a:r>
              <a:rPr lang="en-US" dirty="0" smtClean="0"/>
              <a:t>”);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FileOutputStream</a:t>
            </a:r>
            <a:r>
              <a:rPr lang="en-US" dirty="0"/>
              <a:t> </a:t>
            </a:r>
            <a:r>
              <a:rPr lang="en-US" dirty="0" err="1"/>
              <a:t>outputFile</a:t>
            </a:r>
            <a:r>
              <a:rPr lang="en-US" dirty="0"/>
              <a:t> = null;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try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 smtClean="0"/>
              <a:t>outputFile</a:t>
            </a:r>
            <a:r>
              <a:rPr lang="en-US" dirty="0" smtClean="0"/>
              <a:t> </a:t>
            </a:r>
            <a:r>
              <a:rPr lang="en-US" dirty="0"/>
              <a:t>= new </a:t>
            </a:r>
            <a:r>
              <a:rPr lang="en-US" dirty="0" err="1"/>
              <a:t>FileOutputStream</a:t>
            </a:r>
            <a:r>
              <a:rPr lang="en-US" dirty="0"/>
              <a:t>(</a:t>
            </a:r>
            <a:r>
              <a:rPr lang="en-US" dirty="0" err="1"/>
              <a:t>aFile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 catch (</a:t>
            </a:r>
            <a:r>
              <a:rPr lang="en-US" dirty="0" err="1"/>
              <a:t>FileNotFoundException</a:t>
            </a:r>
            <a:r>
              <a:rPr lang="en-US" dirty="0"/>
              <a:t> e) </a:t>
            </a:r>
            <a:r>
              <a:rPr lang="en-US" dirty="0" smtClean="0"/>
              <a:t>{}</a:t>
            </a:r>
            <a:endParaRPr lang="en-US" dirty="0"/>
          </a:p>
          <a:p>
            <a:pPr marL="0" indent="0">
              <a:buNone/>
            </a:pPr>
            <a:r>
              <a:rPr lang="en-US" dirty="0" err="1" smtClean="0"/>
              <a:t>FileChannel</a:t>
            </a:r>
            <a:r>
              <a:rPr lang="en-US" dirty="0" smtClean="0"/>
              <a:t> </a:t>
            </a:r>
            <a:r>
              <a:rPr lang="en-US" dirty="0" err="1"/>
              <a:t>outputChannel</a:t>
            </a:r>
            <a:r>
              <a:rPr lang="en-US" dirty="0"/>
              <a:t> = </a:t>
            </a:r>
            <a:r>
              <a:rPr lang="en-US" dirty="0" err="1"/>
              <a:t>outputFile.getChannel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try {</a:t>
            </a:r>
          </a:p>
          <a:p>
            <a:pPr marL="0" indent="0">
              <a:buNone/>
            </a:pPr>
            <a:r>
              <a:rPr lang="en-US" dirty="0" err="1"/>
              <a:t>outputChannel.write</a:t>
            </a:r>
            <a:r>
              <a:rPr lang="en-US" dirty="0"/>
              <a:t>(</a:t>
            </a:r>
            <a:r>
              <a:rPr lang="en-US" dirty="0" err="1"/>
              <a:t>buf</a:t>
            </a:r>
            <a:r>
              <a:rPr lang="en-US" dirty="0" smtClean="0"/>
              <a:t>);}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catch (</a:t>
            </a:r>
            <a:r>
              <a:rPr lang="en-US" dirty="0" err="1"/>
              <a:t>IOException</a:t>
            </a:r>
            <a:r>
              <a:rPr lang="en-US" dirty="0"/>
              <a:t> e) </a:t>
            </a:r>
            <a:r>
              <a:rPr lang="en-US" dirty="0" smtClean="0"/>
              <a:t>{}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3648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2584</TotalTime>
  <Words>1044</Words>
  <Application>Microsoft Office PowerPoint</Application>
  <PresentationFormat>On-screen Show (4:3)</PresentationFormat>
  <Paragraphs>218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Cambria</vt:lpstr>
      <vt:lpstr>Franklin Gothic Book</vt:lpstr>
      <vt:lpstr>Perpetua</vt:lpstr>
      <vt:lpstr>Wingdings 2</vt:lpstr>
      <vt:lpstr>Equity</vt:lpstr>
      <vt:lpstr>Java Programming</vt:lpstr>
      <vt:lpstr>Understanding Streams</vt:lpstr>
      <vt:lpstr>Understanding Streams</vt:lpstr>
      <vt:lpstr>3 standard or default streams</vt:lpstr>
      <vt:lpstr>Standard I/O Streams in java</vt:lpstr>
      <vt:lpstr>Standard I/O Streams in java</vt:lpstr>
      <vt:lpstr>Standard I/O Streams in java</vt:lpstr>
      <vt:lpstr>Binary and Character Streams:</vt:lpstr>
      <vt:lpstr>Byte Stream and Character stream classes</vt:lpstr>
      <vt:lpstr>ByteStream Classes</vt:lpstr>
      <vt:lpstr>ByteStream Classes</vt:lpstr>
      <vt:lpstr>Example</vt:lpstr>
      <vt:lpstr>Example</vt:lpstr>
      <vt:lpstr>CharacterStream Classes</vt:lpstr>
      <vt:lpstr>Example</vt:lpstr>
      <vt:lpstr>Example</vt:lpstr>
      <vt:lpstr>InputStreamReader Example</vt:lpstr>
      <vt:lpstr>Java File Class Methods</vt:lpstr>
      <vt:lpstr>Java File Class Methods</vt:lpstr>
      <vt:lpstr>Example</vt:lpstr>
      <vt:lpstr>Buffers</vt:lpstr>
      <vt:lpstr>Buffers</vt:lpstr>
      <vt:lpstr>Buffer Capacity</vt:lpstr>
      <vt:lpstr>Creating Buffers</vt:lpstr>
      <vt:lpstr>Buffer Data Transfers</vt:lpstr>
      <vt:lpstr>Example</vt:lpstr>
      <vt:lpstr>Channels </vt:lpstr>
      <vt:lpstr>Writing to a File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Concepts</dc:title>
  <dc:creator>Lab2-01</dc:creator>
  <cp:lastModifiedBy>TUSHAR KATHANE</cp:lastModifiedBy>
  <cp:revision>979</cp:revision>
  <dcterms:created xsi:type="dcterms:W3CDTF">2017-12-14T08:59:32Z</dcterms:created>
  <dcterms:modified xsi:type="dcterms:W3CDTF">2023-10-27T20:34:33Z</dcterms:modified>
</cp:coreProperties>
</file>