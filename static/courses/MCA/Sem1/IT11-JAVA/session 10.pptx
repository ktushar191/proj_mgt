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6" r:id="rId2"/>
    <p:sldId id="258" r:id="rId3"/>
    <p:sldId id="257" r:id="rId4"/>
    <p:sldId id="263" r:id="rId5"/>
    <p:sldId id="259" r:id="rId6"/>
    <p:sldId id="260" r:id="rId7"/>
    <p:sldId id="261" r:id="rId8"/>
    <p:sldId id="262" r:id="rId9"/>
    <p:sldId id="264" r:id="rId10"/>
    <p:sldId id="265" r:id="rId11"/>
    <p:sldId id="266" r:id="rId12"/>
    <p:sldId id="268" r:id="rId13"/>
    <p:sldId id="267" r:id="rId14"/>
    <p:sldId id="269" r:id="rId15"/>
    <p:sldId id="270" r:id="rId16"/>
    <p:sldId id="271" r:id="rId17"/>
    <p:sldId id="273"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p:cViewPr varScale="1">
        <p:scale>
          <a:sx n="70" d="100"/>
          <a:sy n="70" d="100"/>
        </p:scale>
        <p:origin x="141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612E1-50BB-4D39-A947-2FA1985E3DC1}" type="datetimeFigureOut">
              <a:rPr lang="en-US" smtClean="0"/>
              <a:t>12-Oct-23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4A13E-E486-4652-91A6-C373BCC91415}" type="slidenum">
              <a:rPr lang="en-US" smtClean="0"/>
              <a:t>‹#›</a:t>
            </a:fld>
            <a:endParaRPr lang="en-US" dirty="0"/>
          </a:p>
        </p:txBody>
      </p:sp>
    </p:spTree>
    <p:extLst>
      <p:ext uri="{BB962C8B-B14F-4D97-AF65-F5344CB8AC3E}">
        <p14:creationId xmlns:p14="http://schemas.microsoft.com/office/powerpoint/2010/main" val="363107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lvl1pPr>
              <a:defRPr>
                <a:latin typeface="Cambria" pitchFamily="18" charset="0"/>
              </a:defRPr>
            </a:lvl1pPr>
          </a:lstStyle>
          <a:p>
            <a:fld id="{1D65F0D8-3483-4E75-BE56-B8181858E28A}" type="datetimeFigureOut">
              <a:rPr lang="en-US" smtClean="0"/>
              <a:pPr/>
              <a:t>12-Oct-23</a:t>
            </a:fld>
            <a:endParaRPr lang="en-US" dirty="0"/>
          </a:p>
        </p:txBody>
      </p:sp>
      <p:sp>
        <p:nvSpPr>
          <p:cNvPr id="17" name="Footer Placeholder 16"/>
          <p:cNvSpPr>
            <a:spLocks noGrp="1"/>
          </p:cNvSpPr>
          <p:nvPr>
            <p:ph type="ftr" sz="quarter" idx="11"/>
          </p:nvPr>
        </p:nvSpPr>
        <p:spPr/>
        <p:txBody>
          <a:bodyPr/>
          <a:lstStyle>
            <a:lvl1pPr>
              <a:defRPr>
                <a:latin typeface="Cambria" pitchFamily="18" charset="0"/>
              </a:defRPr>
            </a:lvl1p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8ED27E2-38FA-439A-8819-60CEBB2B9B55}" type="slidenum">
              <a:rPr lang="en-US" smtClean="0"/>
              <a:pPr/>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mbria" pitchFamily="18" charset="0"/>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smtClean="0"/>
              <a:t>Click to edit Master text styles</a:t>
            </a:r>
          </a:p>
        </p:txBody>
      </p:sp>
      <p:sp>
        <p:nvSpPr>
          <p:cNvPr id="4" name="Date Placeholder 3"/>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5" name="Date Placeholder 4"/>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3" name="Date Placeholder 2"/>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12-Oct-23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487362"/>
          </a:xfrm>
          <a:prstGeom prst="rect">
            <a:avLst/>
          </a:prstGeom>
          <a:solidFill>
            <a:schemeClr val="accent1">
              <a:alpha val="72000"/>
            </a:schemeClr>
          </a:solidFill>
        </p:spPr>
        <p:txBody>
          <a:bodyPr bIns="91440" anchor="b" anchorCtr="0">
            <a:no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65F0D8-3483-4E75-BE56-B8181858E28A}" type="datetimeFigureOut">
              <a:rPr lang="en-US" smtClean="0"/>
              <a:pPr/>
              <a:t>12-Oct-23</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8ED27E2-38FA-439A-8819-60CEBB2B9B5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800" b="1" kern="1200">
          <a:solidFill>
            <a:schemeClr val="bg1"/>
          </a:solidFill>
          <a:latin typeface="Cambria" pitchFamily="18" charset="0"/>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Cambria" pitchFamily="18" charset="0"/>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Cambria" pitchFamily="18" charset="0"/>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Cambria" pitchFamily="18" charset="0"/>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Cambria" pitchFamily="18" charset="0"/>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Cambria" pitchFamily="18"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simplilearn.com/tutorials/java-tutorial/thread-in-jav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implilearn.com/jvm-and-the-implications-of-sandbox-model-rar41-articl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edureka.co/blog/synchronization-in-java/" TargetMode="External"/><Relationship Id="rId2" Type="http://schemas.openxmlformats.org/officeDocument/2006/relationships/hyperlink" Target="https://www.edureka.co/blog/java-thread/"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edureka.co/blog/java-threa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0"/>
            <a:ext cx="8229600" cy="1470025"/>
          </a:xfrm>
        </p:spPr>
        <p:txBody>
          <a:bodyPr/>
          <a:lstStyle/>
          <a:p>
            <a:r>
              <a:rPr lang="en-US" b="0" dirty="0"/>
              <a:t>Java Programming</a:t>
            </a:r>
            <a:endParaRPr lang="en-US" dirty="0"/>
          </a:p>
        </p:txBody>
      </p:sp>
      <p:sp>
        <p:nvSpPr>
          <p:cNvPr id="6" name="Rectangle 5"/>
          <p:cNvSpPr/>
          <p:nvPr/>
        </p:nvSpPr>
        <p:spPr>
          <a:xfrm>
            <a:off x="381000" y="3105835"/>
            <a:ext cx="8305800" cy="1323439"/>
          </a:xfrm>
          <a:prstGeom prst="rect">
            <a:avLst/>
          </a:prstGeom>
        </p:spPr>
        <p:txBody>
          <a:bodyPr wrap="square">
            <a:spAutoFit/>
          </a:bodyPr>
          <a:lstStyle/>
          <a:p>
            <a:pPr algn="ctr"/>
            <a:r>
              <a:rPr lang="en-US" sz="4000" b="1" dirty="0"/>
              <a:t>Java Programming</a:t>
            </a:r>
            <a:r>
              <a:rPr lang="en-US" sz="4000" b="1" dirty="0" smtClean="0"/>
              <a:t/>
            </a:r>
            <a:br>
              <a:rPr lang="en-US" sz="4000" b="1" dirty="0" smtClean="0"/>
            </a:br>
            <a:r>
              <a:rPr lang="en-US" sz="4000" dirty="0"/>
              <a:t>IT-11</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Thread in Java?</a:t>
            </a:r>
          </a:p>
        </p:txBody>
      </p:sp>
      <p:sp>
        <p:nvSpPr>
          <p:cNvPr id="3" name="Content Placeholder 2"/>
          <p:cNvSpPr>
            <a:spLocks noGrp="1"/>
          </p:cNvSpPr>
          <p:nvPr>
            <p:ph sz="quarter" idx="1"/>
          </p:nvPr>
        </p:nvSpPr>
        <p:spPr>
          <a:xfrm>
            <a:off x="914400" y="1066800"/>
            <a:ext cx="7772400" cy="4572000"/>
          </a:xfrm>
        </p:spPr>
        <p:txBody>
          <a:bodyPr/>
          <a:lstStyle/>
          <a:p>
            <a:r>
              <a:rPr lang="en-US" dirty="0"/>
              <a:t>A thread is the smallest segment of an entire process. A thread is an independent, virtual and sequential control flow within a process. In process execution, it involves a collection of </a:t>
            </a:r>
            <a:r>
              <a:rPr lang="en-US" dirty="0">
                <a:hlinkClick r:id="rId2" tooltip="threads"/>
              </a:rPr>
              <a:t>threads</a:t>
            </a:r>
            <a:r>
              <a:rPr lang="en-US" dirty="0"/>
              <a:t>, and each thread shares the same memory. Each thread performs the job independently of another thread</a:t>
            </a:r>
            <a:endParaRPr lang="en-US" dirty="0"/>
          </a:p>
        </p:txBody>
      </p:sp>
      <p:pic>
        <p:nvPicPr>
          <p:cNvPr id="5" name="Picture 4"/>
          <p:cNvPicPr>
            <a:picLocks noChangeAspect="1"/>
          </p:cNvPicPr>
          <p:nvPr/>
        </p:nvPicPr>
        <p:blipFill>
          <a:blip r:embed="rId3"/>
          <a:stretch>
            <a:fillRect/>
          </a:stretch>
        </p:blipFill>
        <p:spPr>
          <a:xfrm>
            <a:off x="381000" y="4191000"/>
            <a:ext cx="8533121" cy="2105025"/>
          </a:xfrm>
          <a:prstGeom prst="rect">
            <a:avLst/>
          </a:prstGeom>
        </p:spPr>
      </p:pic>
    </p:spTree>
    <p:extLst>
      <p:ext uri="{BB962C8B-B14F-4D97-AF65-F5344CB8AC3E}">
        <p14:creationId xmlns:p14="http://schemas.microsoft.com/office/powerpoint/2010/main" val="12550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563562"/>
          </a:xfrm>
        </p:spPr>
        <p:txBody>
          <a:bodyPr>
            <a:noAutofit/>
          </a:bodyPr>
          <a:lstStyle/>
          <a:p>
            <a:pPr fontAlgn="base"/>
            <a:r>
              <a:rPr lang="en-US" sz="2400" dirty="0" smtClean="0"/>
              <a:t>Multithreading </a:t>
            </a:r>
            <a:r>
              <a:rPr lang="en-US" sz="2400" dirty="0" smtClean="0"/>
              <a:t>in </a:t>
            </a:r>
            <a:r>
              <a:rPr lang="en-US" sz="2400" dirty="0" smtClean="0"/>
              <a:t>Java</a:t>
            </a:r>
            <a:endParaRPr lang="en-US" sz="2400" dirty="0"/>
          </a:p>
        </p:txBody>
      </p:sp>
      <p:sp>
        <p:nvSpPr>
          <p:cNvPr id="3" name="Content Placeholder 2"/>
          <p:cNvSpPr>
            <a:spLocks noGrp="1"/>
          </p:cNvSpPr>
          <p:nvPr>
            <p:ph sz="quarter" idx="1"/>
          </p:nvPr>
        </p:nvSpPr>
        <p:spPr>
          <a:xfrm>
            <a:off x="321860" y="1066800"/>
            <a:ext cx="8610600" cy="5562600"/>
          </a:xfrm>
        </p:spPr>
        <p:txBody>
          <a:bodyPr>
            <a:normAutofit/>
          </a:bodyPr>
          <a:lstStyle/>
          <a:p>
            <a:r>
              <a:rPr lang="en-US" b="1" dirty="0"/>
              <a:t>Multithreading in </a:t>
            </a:r>
            <a:r>
              <a:rPr lang="en-US" b="1" dirty="0">
                <a:hlinkClick r:id="rId2"/>
              </a:rPr>
              <a:t>Java</a:t>
            </a:r>
            <a:r>
              <a:rPr lang="en-US" dirty="0"/>
              <a:t> is a process of executing multiple threads simultaneously.</a:t>
            </a:r>
          </a:p>
          <a:p>
            <a:r>
              <a:rPr lang="en-US" dirty="0"/>
              <a:t>A thread is a lightweight sub-process, the smallest unit of processing. Multiprocessing and multithreading, both are used to achieve multitasking.</a:t>
            </a:r>
          </a:p>
          <a:p>
            <a:r>
              <a:rPr lang="en-US" dirty="0"/>
              <a:t>However, we use multithreading than multiprocessing because threads use a shared memory area. They don't allocate separate memory area so saves memory, and context-switching between the threads takes less time than process.</a:t>
            </a:r>
          </a:p>
          <a:p>
            <a:r>
              <a:rPr lang="en-US" dirty="0"/>
              <a:t>Java Multithreading is mostly used in games, animation, etc.</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Use of Multi-Thread in Java</a:t>
            </a:r>
            <a:r>
              <a:rPr lang="en-US" dirty="0" smtClean="0"/>
              <a:t>?</a:t>
            </a:r>
            <a:endParaRPr lang="en-US" dirty="0"/>
          </a:p>
        </p:txBody>
      </p:sp>
      <p:sp>
        <p:nvSpPr>
          <p:cNvPr id="3" name="Content Placeholder 2"/>
          <p:cNvSpPr>
            <a:spLocks noGrp="1"/>
          </p:cNvSpPr>
          <p:nvPr>
            <p:ph sz="quarter" idx="1"/>
          </p:nvPr>
        </p:nvSpPr>
        <p:spPr>
          <a:xfrm>
            <a:off x="914400" y="1066800"/>
            <a:ext cx="7772400" cy="5486400"/>
          </a:xfrm>
        </p:spPr>
        <p:txBody>
          <a:bodyPr/>
          <a:lstStyle/>
          <a:p>
            <a:pPr lvl="1">
              <a:lnSpc>
                <a:spcPct val="150000"/>
              </a:lnSpc>
            </a:pPr>
            <a:r>
              <a:rPr lang="en-US" smtClean="0"/>
              <a:t>Because </a:t>
            </a:r>
            <a:r>
              <a:rPr lang="en-US" dirty="0"/>
              <a:t>each Thread is managed individually and several operations can be carried out at once, </a:t>
            </a:r>
            <a:r>
              <a:rPr lang="en-US" b="1" dirty="0"/>
              <a:t>the user is not blocked</a:t>
            </a:r>
            <a:r>
              <a:rPr lang="en-US" dirty="0"/>
              <a:t>.</a:t>
            </a:r>
          </a:p>
          <a:p>
            <a:pPr lvl="1">
              <a:lnSpc>
                <a:spcPct val="150000"/>
              </a:lnSpc>
            </a:pPr>
            <a:r>
              <a:rPr lang="en-US" dirty="0"/>
              <a:t>It is used to </a:t>
            </a:r>
            <a:r>
              <a:rPr lang="en-US" b="1" dirty="0"/>
              <a:t>save time</a:t>
            </a:r>
            <a:r>
              <a:rPr lang="en-US" dirty="0"/>
              <a:t> as multiple operations are performed concurrently.</a:t>
            </a:r>
          </a:p>
          <a:p>
            <a:pPr lvl="1">
              <a:lnSpc>
                <a:spcPct val="150000"/>
              </a:lnSpc>
            </a:pPr>
            <a:r>
              <a:rPr lang="en-US" dirty="0"/>
              <a:t>Since threads are </a:t>
            </a:r>
            <a:r>
              <a:rPr lang="en-US" b="1" dirty="0"/>
              <a:t>independent</a:t>
            </a:r>
            <a:r>
              <a:rPr lang="en-US" dirty="0"/>
              <a:t>, other threads don’t get affected even if an exception occurs in a single thread.</a:t>
            </a:r>
          </a:p>
          <a:p>
            <a:pPr lvl="1">
              <a:lnSpc>
                <a:spcPct val="150000"/>
              </a:lnSpc>
            </a:pPr>
            <a:endParaRPr lang="en-US" dirty="0"/>
          </a:p>
        </p:txBody>
      </p:sp>
    </p:spTree>
    <p:extLst>
      <p:ext uri="{BB962C8B-B14F-4D97-AF65-F5344CB8AC3E}">
        <p14:creationId xmlns:p14="http://schemas.microsoft.com/office/powerpoint/2010/main" val="394057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Lifecycle of a Thread in </a:t>
            </a:r>
            <a:r>
              <a:rPr lang="en-US" dirty="0" smtClean="0"/>
              <a:t>Java</a:t>
            </a:r>
            <a:endParaRPr lang="en-US" dirty="0"/>
          </a:p>
        </p:txBody>
      </p:sp>
      <p:sp>
        <p:nvSpPr>
          <p:cNvPr id="3" name="Content Placeholder 2"/>
          <p:cNvSpPr>
            <a:spLocks noGrp="1"/>
          </p:cNvSpPr>
          <p:nvPr>
            <p:ph sz="quarter" idx="1"/>
          </p:nvPr>
        </p:nvSpPr>
        <p:spPr>
          <a:xfrm>
            <a:off x="922361" y="1066800"/>
            <a:ext cx="7772400" cy="4572000"/>
          </a:xfrm>
        </p:spPr>
        <p:txBody>
          <a:bodyPr/>
          <a:lstStyle/>
          <a:p>
            <a:r>
              <a:rPr lang="en-US" dirty="0"/>
              <a:t>The lifecycle of each thread in Java has five different stages. </a:t>
            </a:r>
            <a:r>
              <a:rPr lang="en-US" dirty="0" smtClean="0"/>
              <a:t>The </a:t>
            </a:r>
            <a:r>
              <a:rPr lang="en-US" dirty="0"/>
              <a:t>Stages of the Lifecycle are mentioned below</a:t>
            </a:r>
            <a:r>
              <a:rPr lang="en-US" dirty="0" smtClean="0"/>
              <a:t>.</a:t>
            </a:r>
          </a:p>
          <a:p>
            <a:endParaRPr lang="en-US" dirty="0" smtClean="0"/>
          </a:p>
          <a:p>
            <a:pPr lvl="1"/>
            <a:r>
              <a:rPr lang="en-US" dirty="0"/>
              <a:t>New</a:t>
            </a:r>
          </a:p>
          <a:p>
            <a:pPr lvl="1"/>
            <a:r>
              <a:rPr lang="en-US" dirty="0"/>
              <a:t>Runnable</a:t>
            </a:r>
          </a:p>
          <a:p>
            <a:pPr lvl="1"/>
            <a:r>
              <a:rPr lang="en-US" dirty="0"/>
              <a:t>Running</a:t>
            </a:r>
          </a:p>
          <a:p>
            <a:pPr lvl="1"/>
            <a:r>
              <a:rPr lang="en-US" dirty="0"/>
              <a:t>Waiting</a:t>
            </a:r>
          </a:p>
          <a:p>
            <a:pPr lvl="1"/>
            <a:r>
              <a:rPr lang="en-US" dirty="0" smtClean="0"/>
              <a:t>Dead</a:t>
            </a:r>
            <a:r>
              <a:rPr lang="en-US" dirty="0"/>
              <a:t/>
            </a:r>
            <a:br>
              <a:rPr lang="en-US" dirty="0"/>
            </a:br>
            <a:endParaRPr lang="en-US" dirty="0"/>
          </a:p>
        </p:txBody>
      </p:sp>
    </p:spTree>
    <p:extLst>
      <p:ext uri="{BB962C8B-B14F-4D97-AF65-F5344CB8AC3E}">
        <p14:creationId xmlns:p14="http://schemas.microsoft.com/office/powerpoint/2010/main" val="2831031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Lifecycle of a Thread in Java</a:t>
            </a:r>
          </a:p>
        </p:txBody>
      </p:sp>
      <p:pic>
        <p:nvPicPr>
          <p:cNvPr id="4" name="Content Placeholder 3"/>
          <p:cNvPicPr>
            <a:picLocks noGrp="1" noChangeAspect="1"/>
          </p:cNvPicPr>
          <p:nvPr>
            <p:ph sz="quarter" idx="1"/>
          </p:nvPr>
        </p:nvPicPr>
        <p:blipFill>
          <a:blip r:embed="rId2"/>
          <a:stretch>
            <a:fillRect/>
          </a:stretch>
        </p:blipFill>
        <p:spPr>
          <a:xfrm>
            <a:off x="762000" y="1905000"/>
            <a:ext cx="7591077" cy="3434846"/>
          </a:xfrm>
          <a:prstGeom prst="rect">
            <a:avLst/>
          </a:prstGeom>
        </p:spPr>
      </p:pic>
    </p:spTree>
    <p:extLst>
      <p:ext uri="{BB962C8B-B14F-4D97-AF65-F5344CB8AC3E}">
        <p14:creationId xmlns:p14="http://schemas.microsoft.com/office/powerpoint/2010/main" val="2577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Lifecycle of a Thread in Java</a:t>
            </a:r>
          </a:p>
        </p:txBody>
      </p:sp>
      <p:sp>
        <p:nvSpPr>
          <p:cNvPr id="3" name="Content Placeholder 2"/>
          <p:cNvSpPr>
            <a:spLocks noGrp="1"/>
          </p:cNvSpPr>
          <p:nvPr>
            <p:ph sz="quarter" idx="1"/>
          </p:nvPr>
        </p:nvSpPr>
        <p:spPr>
          <a:xfrm>
            <a:off x="914400" y="1143000"/>
            <a:ext cx="7772400" cy="5410200"/>
          </a:xfrm>
        </p:spPr>
        <p:txBody>
          <a:bodyPr>
            <a:normAutofit fontScale="92500" lnSpcReduction="10000"/>
          </a:bodyPr>
          <a:lstStyle/>
          <a:p>
            <a:r>
              <a:rPr lang="en-US" b="1" dirty="0" smtClean="0"/>
              <a:t>New:</a:t>
            </a:r>
          </a:p>
          <a:p>
            <a:pPr lvl="1"/>
            <a:r>
              <a:rPr lang="en-US" dirty="0" smtClean="0"/>
              <a:t>The </a:t>
            </a:r>
            <a:r>
              <a:rPr lang="en-US" dirty="0"/>
              <a:t>first stage is "New". </a:t>
            </a:r>
            <a:endParaRPr lang="en-US" dirty="0" smtClean="0"/>
          </a:p>
          <a:p>
            <a:pPr lvl="1"/>
            <a:r>
              <a:rPr lang="en-US" dirty="0" smtClean="0"/>
              <a:t>This </a:t>
            </a:r>
            <a:r>
              <a:rPr lang="en-US" dirty="0"/>
              <a:t>stage is where it initiates the thread. After that, every thread remains in the new state until the thread gets assigned to a new task</a:t>
            </a:r>
            <a:r>
              <a:rPr lang="en-US" dirty="0" smtClean="0"/>
              <a:t>.</a:t>
            </a:r>
          </a:p>
          <a:p>
            <a:r>
              <a:rPr lang="en-US" b="1" dirty="0" smtClean="0"/>
              <a:t>Runnable:</a:t>
            </a:r>
            <a:endParaRPr lang="en-US" b="1" dirty="0"/>
          </a:p>
          <a:p>
            <a:pPr lvl="1"/>
            <a:r>
              <a:rPr lang="en-US" dirty="0"/>
              <a:t>The next stage is the runnable stage. </a:t>
            </a:r>
            <a:endParaRPr lang="en-US" dirty="0" smtClean="0"/>
          </a:p>
          <a:p>
            <a:pPr lvl="1"/>
            <a:r>
              <a:rPr lang="en-US" dirty="0" smtClean="0"/>
              <a:t>Here</a:t>
            </a:r>
            <a:r>
              <a:rPr lang="en-US" dirty="0"/>
              <a:t>, a thread gets assigned to the task and sets itself for running the task. </a:t>
            </a:r>
            <a:endParaRPr lang="en-US" dirty="0" smtClean="0"/>
          </a:p>
          <a:p>
            <a:pPr lvl="1"/>
            <a:endParaRPr lang="en-US" dirty="0" smtClean="0"/>
          </a:p>
          <a:p>
            <a:r>
              <a:rPr lang="en-US" b="1" dirty="0" smtClean="0"/>
              <a:t>Running:</a:t>
            </a:r>
            <a:endParaRPr lang="en-US" b="1" dirty="0"/>
          </a:p>
          <a:p>
            <a:pPr lvl="1"/>
            <a:r>
              <a:rPr lang="en-US" dirty="0"/>
              <a:t>The third stage is the execution stage. </a:t>
            </a:r>
            <a:endParaRPr lang="en-US" dirty="0" smtClean="0"/>
          </a:p>
          <a:p>
            <a:pPr lvl="1"/>
            <a:r>
              <a:rPr lang="en-US" dirty="0" smtClean="0"/>
              <a:t>Here</a:t>
            </a:r>
            <a:r>
              <a:rPr lang="en-US" dirty="0"/>
              <a:t>, the thread gets triggered as control enters the thread, and the thread performs a task and continues the execution until it finishes the job. </a:t>
            </a:r>
          </a:p>
          <a:p>
            <a:endParaRPr lang="en-US" dirty="0"/>
          </a:p>
          <a:p>
            <a:endParaRPr lang="en-US" dirty="0"/>
          </a:p>
        </p:txBody>
      </p:sp>
    </p:spTree>
    <p:extLst>
      <p:ext uri="{BB962C8B-B14F-4D97-AF65-F5344CB8AC3E}">
        <p14:creationId xmlns:p14="http://schemas.microsoft.com/office/powerpoint/2010/main" val="2199422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Lifecycle of a Thread in Java</a:t>
            </a:r>
          </a:p>
        </p:txBody>
      </p:sp>
      <p:sp>
        <p:nvSpPr>
          <p:cNvPr id="3" name="Content Placeholder 2"/>
          <p:cNvSpPr>
            <a:spLocks noGrp="1"/>
          </p:cNvSpPr>
          <p:nvPr>
            <p:ph sz="quarter" idx="1"/>
          </p:nvPr>
        </p:nvSpPr>
        <p:spPr>
          <a:xfrm>
            <a:off x="914400" y="990600"/>
            <a:ext cx="7772400" cy="5562600"/>
          </a:xfrm>
        </p:spPr>
        <p:txBody>
          <a:bodyPr>
            <a:normAutofit/>
          </a:bodyPr>
          <a:lstStyle/>
          <a:p>
            <a:r>
              <a:rPr lang="en-US" b="1" dirty="0" smtClean="0"/>
              <a:t>Waiting:</a:t>
            </a:r>
            <a:endParaRPr lang="en-US" b="1" dirty="0"/>
          </a:p>
          <a:p>
            <a:pPr lvl="1"/>
            <a:r>
              <a:rPr lang="en-US" dirty="0"/>
              <a:t>At times, there is a possibility that one process as a whole might depend on another. During such an encounter, the thread might halt for an intermediate result because of its dependency on a different process. This stage is called the Waiting Stage</a:t>
            </a:r>
            <a:r>
              <a:rPr lang="en-US" dirty="0" smtClean="0"/>
              <a:t>.</a:t>
            </a:r>
          </a:p>
          <a:p>
            <a:pPr lvl="1"/>
            <a:endParaRPr lang="en-US" dirty="0" smtClean="0"/>
          </a:p>
          <a:p>
            <a:r>
              <a:rPr lang="en-US" b="1" dirty="0" smtClean="0"/>
              <a:t>Dead:</a:t>
            </a:r>
            <a:endParaRPr lang="en-US" b="1" dirty="0"/>
          </a:p>
          <a:p>
            <a:pPr lvl="1"/>
            <a:r>
              <a:rPr lang="en-US" dirty="0"/>
              <a:t>The final stage of the process execution with Multithreading in Java is thread termination. After it terminates the process, the</a:t>
            </a:r>
            <a:r>
              <a:rPr lang="en-US" dirty="0">
                <a:hlinkClick r:id="rId2" tooltip="JVM"/>
              </a:rPr>
              <a:t> JVM</a:t>
            </a:r>
            <a:r>
              <a:rPr lang="en-US" dirty="0"/>
              <a:t> automatically declares the thread dead and terminates the thread. This stage is known as the dead thread stage.</a:t>
            </a:r>
          </a:p>
          <a:p>
            <a:endParaRPr lang="en-US" dirty="0"/>
          </a:p>
          <a:p>
            <a:endParaRPr lang="en-US" dirty="0"/>
          </a:p>
        </p:txBody>
      </p:sp>
    </p:spTree>
    <p:extLst>
      <p:ext uri="{BB962C8B-B14F-4D97-AF65-F5344CB8AC3E}">
        <p14:creationId xmlns:p14="http://schemas.microsoft.com/office/powerpoint/2010/main" val="1213383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Multithreading in </a:t>
            </a:r>
            <a:r>
              <a:rPr lang="en-US" dirty="0" smtClean="0"/>
              <a:t>Java</a:t>
            </a:r>
            <a:endParaRPr lang="en-US" dirty="0"/>
          </a:p>
        </p:txBody>
      </p:sp>
      <p:sp>
        <p:nvSpPr>
          <p:cNvPr id="3" name="Content Placeholder 2"/>
          <p:cNvSpPr>
            <a:spLocks noGrp="1"/>
          </p:cNvSpPr>
          <p:nvPr>
            <p:ph sz="quarter" idx="1"/>
          </p:nvPr>
        </p:nvSpPr>
        <p:spPr>
          <a:xfrm>
            <a:off x="914400" y="990600"/>
            <a:ext cx="7772400" cy="5562600"/>
          </a:xfrm>
        </p:spPr>
        <p:txBody>
          <a:bodyPr>
            <a:normAutofit/>
          </a:bodyPr>
          <a:lstStyle/>
          <a:p>
            <a:r>
              <a:rPr lang="en-US" dirty="0"/>
              <a:t>The following are methods used for Multithreading in Java</a:t>
            </a:r>
            <a:r>
              <a:rPr lang="en-US" dirty="0" smtClean="0"/>
              <a:t>.</a:t>
            </a:r>
          </a:p>
          <a:p>
            <a:endParaRPr lang="en-US" dirty="0"/>
          </a:p>
          <a:p>
            <a:r>
              <a:rPr lang="en-US" b="1" dirty="0"/>
              <a:t>void start</a:t>
            </a:r>
            <a:r>
              <a:rPr lang="en-US" b="1" dirty="0" smtClean="0"/>
              <a:t>(): </a:t>
            </a:r>
          </a:p>
          <a:p>
            <a:pPr lvl="1"/>
            <a:r>
              <a:rPr lang="en-US" dirty="0" smtClean="0"/>
              <a:t>Causes </a:t>
            </a:r>
            <a:r>
              <a:rPr lang="en-US" dirty="0"/>
              <a:t>the Thread to begin </a:t>
            </a:r>
            <a:r>
              <a:rPr lang="en-US" dirty="0" smtClean="0"/>
              <a:t>execution.</a:t>
            </a:r>
          </a:p>
          <a:p>
            <a:r>
              <a:rPr lang="en-US" b="1" dirty="0"/>
              <a:t>void run</a:t>
            </a:r>
            <a:r>
              <a:rPr lang="en-US" b="1" dirty="0" smtClean="0"/>
              <a:t>():</a:t>
            </a:r>
          </a:p>
          <a:p>
            <a:pPr lvl="1"/>
            <a:r>
              <a:rPr lang="en-US" dirty="0" err="1"/>
              <a:t>Utilised</a:t>
            </a:r>
            <a:r>
              <a:rPr lang="en-US" dirty="0"/>
              <a:t> to carry out a thread's action</a:t>
            </a:r>
            <a:r>
              <a:rPr lang="en-US" dirty="0" smtClean="0"/>
              <a:t>.</a:t>
            </a:r>
          </a:p>
          <a:p>
            <a:r>
              <a:rPr lang="en-US" b="1" dirty="0"/>
              <a:t>long </a:t>
            </a:r>
            <a:r>
              <a:rPr lang="en-US" b="1" dirty="0" err="1"/>
              <a:t>getId</a:t>
            </a:r>
            <a:r>
              <a:rPr lang="en-US" b="1" dirty="0" smtClean="0"/>
              <a:t>():</a:t>
            </a:r>
          </a:p>
          <a:p>
            <a:pPr lvl="1"/>
            <a:r>
              <a:rPr lang="en-US" dirty="0"/>
              <a:t>Returns the identifier of the thread</a:t>
            </a:r>
          </a:p>
          <a:p>
            <a:r>
              <a:rPr lang="en-US" b="1" dirty="0"/>
              <a:t>final String </a:t>
            </a:r>
            <a:r>
              <a:rPr lang="en-US" b="1" dirty="0" err="1"/>
              <a:t>getName</a:t>
            </a:r>
            <a:r>
              <a:rPr lang="en-US" b="1" dirty="0" smtClean="0"/>
              <a:t>():</a:t>
            </a:r>
          </a:p>
          <a:p>
            <a:pPr lvl="1"/>
            <a:r>
              <a:rPr lang="en-US" dirty="0"/>
              <a:t>Returns the threads name</a:t>
            </a:r>
          </a:p>
          <a:p>
            <a:pPr lvl="1"/>
            <a:endParaRPr lang="en-US" dirty="0"/>
          </a:p>
          <a:p>
            <a:endParaRPr lang="en-US" dirty="0" smtClean="0"/>
          </a:p>
          <a:p>
            <a:pPr lvl="1"/>
            <a:endParaRPr lang="en-US" dirty="0"/>
          </a:p>
        </p:txBody>
      </p:sp>
    </p:spTree>
    <p:extLst>
      <p:ext uri="{BB962C8B-B14F-4D97-AF65-F5344CB8AC3E}">
        <p14:creationId xmlns:p14="http://schemas.microsoft.com/office/powerpoint/2010/main" val="3476839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Multithreading in Java</a:t>
            </a:r>
          </a:p>
        </p:txBody>
      </p:sp>
      <p:sp>
        <p:nvSpPr>
          <p:cNvPr id="3" name="Content Placeholder 2"/>
          <p:cNvSpPr>
            <a:spLocks noGrp="1"/>
          </p:cNvSpPr>
          <p:nvPr>
            <p:ph sz="quarter" idx="1"/>
          </p:nvPr>
        </p:nvSpPr>
        <p:spPr>
          <a:xfrm>
            <a:off x="914400" y="1066800"/>
            <a:ext cx="7772400" cy="5486400"/>
          </a:xfrm>
        </p:spPr>
        <p:txBody>
          <a:bodyPr/>
          <a:lstStyle/>
          <a:p>
            <a:r>
              <a:rPr lang="en-US" b="1" dirty="0"/>
              <a:t>final void </a:t>
            </a:r>
            <a:r>
              <a:rPr lang="en-US" b="1" dirty="0" err="1"/>
              <a:t>setName</a:t>
            </a:r>
            <a:r>
              <a:rPr lang="en-US" b="1" dirty="0"/>
              <a:t>(String name</a:t>
            </a:r>
            <a:r>
              <a:rPr lang="en-US" b="1" dirty="0" smtClean="0"/>
              <a:t>):</a:t>
            </a:r>
          </a:p>
          <a:p>
            <a:pPr lvl="1"/>
            <a:r>
              <a:rPr lang="en-US" dirty="0"/>
              <a:t>Sets the name of the </a:t>
            </a:r>
            <a:r>
              <a:rPr lang="en-US" dirty="0" smtClean="0"/>
              <a:t>thread</a:t>
            </a:r>
          </a:p>
          <a:p>
            <a:r>
              <a:rPr lang="en-US" b="1" dirty="0"/>
              <a:t>final </a:t>
            </a:r>
            <a:r>
              <a:rPr lang="en-US" b="1" dirty="0" err="1"/>
              <a:t>int</a:t>
            </a:r>
            <a:r>
              <a:rPr lang="en-US" b="1" dirty="0"/>
              <a:t> </a:t>
            </a:r>
            <a:r>
              <a:rPr lang="en-US" b="1" dirty="0" err="1"/>
              <a:t>getPriority</a:t>
            </a:r>
            <a:r>
              <a:rPr lang="en-US" b="1" dirty="0" smtClean="0"/>
              <a:t>():</a:t>
            </a:r>
          </a:p>
          <a:p>
            <a:pPr lvl="1"/>
            <a:r>
              <a:rPr lang="en-US" dirty="0"/>
              <a:t>Returns thread’s </a:t>
            </a:r>
            <a:r>
              <a:rPr lang="en-US" dirty="0" smtClean="0"/>
              <a:t>priority</a:t>
            </a:r>
          </a:p>
          <a:p>
            <a:r>
              <a:rPr lang="en-US" b="1" dirty="0"/>
              <a:t>final void </a:t>
            </a:r>
            <a:r>
              <a:rPr lang="en-US" b="1" dirty="0" err="1"/>
              <a:t>setPriority</a:t>
            </a:r>
            <a:r>
              <a:rPr lang="en-US" b="1" dirty="0"/>
              <a:t>(</a:t>
            </a:r>
            <a:r>
              <a:rPr lang="en-US" b="1" dirty="0" err="1"/>
              <a:t>int</a:t>
            </a:r>
            <a:r>
              <a:rPr lang="en-US" b="1" dirty="0"/>
              <a:t> </a:t>
            </a:r>
            <a:r>
              <a:rPr lang="en-US" b="1" dirty="0" err="1"/>
              <a:t>newPriority</a:t>
            </a:r>
            <a:r>
              <a:rPr lang="en-US" b="1" dirty="0" smtClean="0"/>
              <a:t>):</a:t>
            </a:r>
          </a:p>
          <a:p>
            <a:pPr lvl="1"/>
            <a:r>
              <a:rPr lang="en-US" dirty="0"/>
              <a:t>Changes the priority if the thread</a:t>
            </a:r>
          </a:p>
          <a:p>
            <a:r>
              <a:rPr lang="en-US" b="1" dirty="0" err="1"/>
              <a:t>boolean</a:t>
            </a:r>
            <a:r>
              <a:rPr lang="en-US" b="1" dirty="0"/>
              <a:t> </a:t>
            </a:r>
            <a:r>
              <a:rPr lang="en-US" b="1" dirty="0" err="1"/>
              <a:t>isAlive</a:t>
            </a:r>
            <a:r>
              <a:rPr lang="en-US" b="1" dirty="0" smtClean="0"/>
              <a:t>():</a:t>
            </a:r>
          </a:p>
          <a:p>
            <a:pPr lvl="1"/>
            <a:r>
              <a:rPr lang="en-US" dirty="0"/>
              <a:t>It checks to see if the Thread is alive.</a:t>
            </a:r>
          </a:p>
          <a:p>
            <a:r>
              <a:rPr lang="en-US" b="1" dirty="0"/>
              <a:t>void suspend</a:t>
            </a:r>
            <a:r>
              <a:rPr lang="en-US" b="1" dirty="0" smtClean="0"/>
              <a:t>():</a:t>
            </a:r>
          </a:p>
          <a:p>
            <a:pPr lvl="1"/>
            <a:r>
              <a:rPr lang="en-US" dirty="0"/>
              <a:t>It is used to suspend the Thread</a:t>
            </a:r>
            <a:r>
              <a:rPr lang="en-US" dirty="0" smtClean="0"/>
              <a:t>.</a:t>
            </a:r>
          </a:p>
          <a:p>
            <a:r>
              <a:rPr lang="en-US" b="1" dirty="0"/>
              <a:t>void resume</a:t>
            </a:r>
            <a:r>
              <a:rPr lang="en-US" b="1" dirty="0" smtClean="0"/>
              <a:t>():</a:t>
            </a:r>
          </a:p>
          <a:p>
            <a:pPr lvl="1"/>
            <a:r>
              <a:rPr lang="en-US" dirty="0"/>
              <a:t>The suspended Thread is resumed using it.</a:t>
            </a:r>
          </a:p>
          <a:p>
            <a:pPr lvl="1"/>
            <a:endParaRPr lang="en-US" dirty="0"/>
          </a:p>
          <a:p>
            <a:pPr lvl="1"/>
            <a:endParaRPr lang="en-US" dirty="0"/>
          </a:p>
          <a:p>
            <a:endParaRPr lang="en-US" dirty="0" smtClean="0"/>
          </a:p>
          <a:p>
            <a:pPr lvl="1"/>
            <a:endParaRPr lang="en-US" dirty="0" smtClean="0"/>
          </a:p>
          <a:p>
            <a:pPr lvl="1"/>
            <a:endParaRPr lang="en-US" dirty="0"/>
          </a:p>
        </p:txBody>
      </p:sp>
    </p:spTree>
    <p:extLst>
      <p:ext uri="{BB962C8B-B14F-4D97-AF65-F5344CB8AC3E}">
        <p14:creationId xmlns:p14="http://schemas.microsoft.com/office/powerpoint/2010/main" val="4215329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Multithreading in Java</a:t>
            </a:r>
          </a:p>
        </p:txBody>
      </p:sp>
      <p:sp>
        <p:nvSpPr>
          <p:cNvPr id="3" name="Content Placeholder 2"/>
          <p:cNvSpPr>
            <a:spLocks noGrp="1"/>
          </p:cNvSpPr>
          <p:nvPr>
            <p:ph sz="quarter" idx="1"/>
          </p:nvPr>
        </p:nvSpPr>
        <p:spPr>
          <a:xfrm>
            <a:off x="914400" y="1066800"/>
            <a:ext cx="7772400" cy="5638800"/>
          </a:xfrm>
        </p:spPr>
        <p:txBody>
          <a:bodyPr>
            <a:normAutofit lnSpcReduction="10000"/>
          </a:bodyPr>
          <a:lstStyle/>
          <a:p>
            <a:r>
              <a:rPr lang="en-US" b="1" dirty="0"/>
              <a:t>void stop</a:t>
            </a:r>
            <a:r>
              <a:rPr lang="en-US" b="1" dirty="0" smtClean="0"/>
              <a:t>():</a:t>
            </a:r>
          </a:p>
          <a:p>
            <a:pPr lvl="1"/>
            <a:r>
              <a:rPr lang="en-US" dirty="0"/>
              <a:t>The Thread is stopped using it.</a:t>
            </a:r>
          </a:p>
          <a:p>
            <a:r>
              <a:rPr lang="en-US" b="1" dirty="0"/>
              <a:t>void destroy</a:t>
            </a:r>
            <a:r>
              <a:rPr lang="en-US" b="1" dirty="0" smtClean="0"/>
              <a:t>():</a:t>
            </a:r>
          </a:p>
          <a:p>
            <a:pPr lvl="1"/>
            <a:r>
              <a:rPr lang="en-US" dirty="0"/>
              <a:t>The thread group and all of its subgroups are destroyed using it.</a:t>
            </a:r>
          </a:p>
          <a:p>
            <a:r>
              <a:rPr lang="en-US" b="1" dirty="0"/>
              <a:t>static void yield</a:t>
            </a:r>
            <a:r>
              <a:rPr lang="en-US" b="1" dirty="0" smtClean="0"/>
              <a:t>():</a:t>
            </a:r>
          </a:p>
          <a:p>
            <a:pPr lvl="1"/>
            <a:r>
              <a:rPr lang="en-US" dirty="0"/>
              <a:t>A hint to the scheduler that the current Thread is willing to yield its current use of a processor.</a:t>
            </a:r>
          </a:p>
          <a:p>
            <a:r>
              <a:rPr lang="en-US" b="1" dirty="0"/>
              <a:t>void notify</a:t>
            </a:r>
            <a:r>
              <a:rPr lang="en-US" b="1" dirty="0" smtClean="0"/>
              <a:t>():</a:t>
            </a:r>
          </a:p>
          <a:p>
            <a:pPr lvl="1"/>
            <a:r>
              <a:rPr lang="en-US" dirty="0"/>
              <a:t>It is used to give the notification for only one Thread that is waiting for a particular object.</a:t>
            </a:r>
          </a:p>
          <a:p>
            <a:r>
              <a:rPr lang="en-US" b="1" dirty="0"/>
              <a:t>void </a:t>
            </a:r>
            <a:r>
              <a:rPr lang="en-US" b="1" dirty="0" err="1"/>
              <a:t>notifyAll</a:t>
            </a:r>
            <a:r>
              <a:rPr lang="en-US" b="1" dirty="0" smtClean="0"/>
              <a:t>():</a:t>
            </a:r>
          </a:p>
          <a:p>
            <a:pPr lvl="1"/>
            <a:r>
              <a:rPr lang="en-US" dirty="0"/>
              <a:t>It is used to give notification to all waiting threads of a particular object.</a:t>
            </a:r>
          </a:p>
          <a:p>
            <a:pPr lvl="1"/>
            <a:endParaRPr lang="en-US" dirty="0"/>
          </a:p>
        </p:txBody>
      </p:sp>
    </p:spTree>
    <p:extLst>
      <p:ext uri="{BB962C8B-B14F-4D97-AF65-F5344CB8AC3E}">
        <p14:creationId xmlns:p14="http://schemas.microsoft.com/office/powerpoint/2010/main" val="809228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Priorities</a:t>
            </a:r>
            <a:endParaRPr lang="en-US" dirty="0"/>
          </a:p>
        </p:txBody>
      </p:sp>
      <p:sp>
        <p:nvSpPr>
          <p:cNvPr id="3" name="Content Placeholder 2"/>
          <p:cNvSpPr>
            <a:spLocks noGrp="1"/>
          </p:cNvSpPr>
          <p:nvPr>
            <p:ph sz="quarter" idx="1"/>
          </p:nvPr>
        </p:nvSpPr>
        <p:spPr>
          <a:xfrm>
            <a:off x="914400" y="990600"/>
            <a:ext cx="7772400" cy="5638800"/>
          </a:xfrm>
        </p:spPr>
        <p:txBody>
          <a:bodyPr>
            <a:normAutofit lnSpcReduction="10000"/>
          </a:bodyPr>
          <a:lstStyle/>
          <a:p>
            <a:r>
              <a:rPr lang="en-US" dirty="0"/>
              <a:t>Every Java thread has a priority that helps the operating system determine the order in which threads are scheduled.</a:t>
            </a:r>
          </a:p>
          <a:p>
            <a:r>
              <a:rPr lang="en-US" dirty="0"/>
              <a:t>Java thread priorities are in the range between MIN_PRIORITY (a constant of 1) and MAX_PRIORITY (a constant of 10). By default, every thread is given priority NORM_PRIORITY (a constant of 5).</a:t>
            </a:r>
          </a:p>
          <a:p>
            <a:r>
              <a:rPr lang="en-US" dirty="0"/>
              <a:t>Threads with higher priority are more important to a program and should be allocated processor time before lower-priority threads. However, thread priorities cannot guarantee the order in which threads execute and are very much platform dependent</a:t>
            </a:r>
          </a:p>
          <a:p>
            <a:endParaRPr lang="en-US" dirty="0"/>
          </a:p>
        </p:txBody>
      </p:sp>
    </p:spTree>
    <p:extLst>
      <p:ext uri="{BB962C8B-B14F-4D97-AF65-F5344CB8AC3E}">
        <p14:creationId xmlns:p14="http://schemas.microsoft.com/office/powerpoint/2010/main" val="1199694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Thread</a:t>
            </a:r>
            <a:endParaRPr lang="en-US" dirty="0"/>
          </a:p>
        </p:txBody>
      </p:sp>
      <p:sp>
        <p:nvSpPr>
          <p:cNvPr id="3" name="Content Placeholder 2"/>
          <p:cNvSpPr>
            <a:spLocks noGrp="1"/>
          </p:cNvSpPr>
          <p:nvPr>
            <p:ph sz="quarter" idx="1"/>
          </p:nvPr>
        </p:nvSpPr>
        <p:spPr>
          <a:xfrm>
            <a:off x="914400" y="1143000"/>
            <a:ext cx="7772400" cy="5486400"/>
          </a:xfrm>
        </p:spPr>
        <p:txBody>
          <a:bodyPr>
            <a:normAutofit lnSpcReduction="10000"/>
          </a:bodyPr>
          <a:lstStyle/>
          <a:p>
            <a:r>
              <a:rPr lang="en-US" dirty="0"/>
              <a:t>Threads can be created by using two mechanisms </a:t>
            </a:r>
            <a:r>
              <a:rPr lang="en-US" dirty="0" smtClean="0"/>
              <a:t>:</a:t>
            </a:r>
          </a:p>
          <a:p>
            <a:pPr lvl="1" fontAlgn="base"/>
            <a:r>
              <a:rPr lang="en-US" dirty="0"/>
              <a:t>Extending the Thread class </a:t>
            </a:r>
          </a:p>
          <a:p>
            <a:pPr lvl="1" fontAlgn="base"/>
            <a:r>
              <a:rPr lang="en-US" dirty="0"/>
              <a:t>Implementing the Runnable </a:t>
            </a:r>
            <a:r>
              <a:rPr lang="en-US" dirty="0" smtClean="0"/>
              <a:t>Interface</a:t>
            </a:r>
          </a:p>
          <a:p>
            <a:pPr fontAlgn="base"/>
            <a:endParaRPr lang="en-US" b="1" dirty="0" smtClean="0"/>
          </a:p>
          <a:p>
            <a:pPr fontAlgn="base"/>
            <a:r>
              <a:rPr lang="en-US" b="1" dirty="0" smtClean="0"/>
              <a:t>Create </a:t>
            </a:r>
            <a:r>
              <a:rPr lang="en-US" b="1" dirty="0"/>
              <a:t>a Thread by Extending a Thread </a:t>
            </a:r>
            <a:r>
              <a:rPr lang="en-US" b="1" dirty="0" smtClean="0"/>
              <a:t>Class:</a:t>
            </a:r>
          </a:p>
          <a:p>
            <a:pPr lvl="1" fontAlgn="base">
              <a:lnSpc>
                <a:spcPct val="150000"/>
              </a:lnSpc>
            </a:pPr>
            <a:r>
              <a:rPr lang="en-US" dirty="0"/>
              <a:t>The </a:t>
            </a:r>
            <a:r>
              <a:rPr lang="en-US" dirty="0" smtClean="0"/>
              <a:t>First way </a:t>
            </a:r>
            <a:r>
              <a:rPr lang="en-US" dirty="0"/>
              <a:t>to create a thread is to create a new class that extends </a:t>
            </a:r>
            <a:r>
              <a:rPr lang="en-US" b="1" dirty="0"/>
              <a:t>Thread</a:t>
            </a:r>
            <a:r>
              <a:rPr lang="en-US" dirty="0"/>
              <a:t> class using the following two simple steps</a:t>
            </a:r>
            <a:r>
              <a:rPr lang="en-US" dirty="0" smtClean="0"/>
              <a:t>.</a:t>
            </a:r>
          </a:p>
          <a:p>
            <a:pPr lvl="1" fontAlgn="base">
              <a:lnSpc>
                <a:spcPct val="150000"/>
              </a:lnSpc>
            </a:pPr>
            <a:r>
              <a:rPr lang="en-US" dirty="0" smtClean="0"/>
              <a:t> </a:t>
            </a:r>
            <a:r>
              <a:rPr lang="en-US" dirty="0"/>
              <a:t>This approach provides more flexibility in handling multiple threads created using available methods in Thread class.</a:t>
            </a:r>
            <a:endParaRPr lang="en-US" b="1" dirty="0"/>
          </a:p>
        </p:txBody>
      </p:sp>
    </p:spTree>
    <p:extLst>
      <p:ext uri="{BB962C8B-B14F-4D97-AF65-F5344CB8AC3E}">
        <p14:creationId xmlns:p14="http://schemas.microsoft.com/office/powerpoint/2010/main" val="2282115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Thread by Extending a Thread Class</a:t>
            </a:r>
            <a:r>
              <a:rPr lang="en-US" dirty="0" smtClean="0"/>
              <a:t>:</a:t>
            </a:r>
            <a:endParaRPr lang="en-US" dirty="0"/>
          </a:p>
        </p:txBody>
      </p:sp>
      <p:sp>
        <p:nvSpPr>
          <p:cNvPr id="3" name="Content Placeholder 2"/>
          <p:cNvSpPr>
            <a:spLocks noGrp="1"/>
          </p:cNvSpPr>
          <p:nvPr>
            <p:ph sz="quarter" idx="1"/>
          </p:nvPr>
        </p:nvSpPr>
        <p:spPr>
          <a:xfrm>
            <a:off x="914400" y="990600"/>
            <a:ext cx="7772400" cy="4572000"/>
          </a:xfrm>
        </p:spPr>
        <p:txBody>
          <a:bodyPr>
            <a:normAutofit lnSpcReduction="10000"/>
          </a:bodyPr>
          <a:lstStyle/>
          <a:p>
            <a:r>
              <a:rPr lang="en-US" b="1" dirty="0"/>
              <a:t>Step 1</a:t>
            </a:r>
          </a:p>
          <a:p>
            <a:pPr lvl="1">
              <a:lnSpc>
                <a:spcPct val="150000"/>
              </a:lnSpc>
            </a:pPr>
            <a:r>
              <a:rPr lang="en-US" dirty="0"/>
              <a:t>You will need to override </a:t>
            </a:r>
            <a:r>
              <a:rPr lang="en-US" b="1" dirty="0"/>
              <a:t>run( )</a:t>
            </a:r>
            <a:r>
              <a:rPr lang="en-US" dirty="0"/>
              <a:t> method available in Thread class</a:t>
            </a:r>
            <a:r>
              <a:rPr lang="en-US" dirty="0" smtClean="0"/>
              <a:t>.</a:t>
            </a:r>
          </a:p>
          <a:p>
            <a:pPr lvl="1">
              <a:lnSpc>
                <a:spcPct val="150000"/>
              </a:lnSpc>
            </a:pPr>
            <a:r>
              <a:rPr lang="en-US" dirty="0" smtClean="0"/>
              <a:t> </a:t>
            </a:r>
            <a:r>
              <a:rPr lang="en-US" dirty="0"/>
              <a:t>This method provides an entry point for the thread and you will put your complete business logic inside this method</a:t>
            </a:r>
            <a:r>
              <a:rPr lang="en-US" dirty="0" smtClean="0"/>
              <a:t>.</a:t>
            </a:r>
          </a:p>
          <a:p>
            <a:pPr lvl="1">
              <a:lnSpc>
                <a:spcPct val="150000"/>
              </a:lnSpc>
            </a:pPr>
            <a:r>
              <a:rPr lang="en-US" dirty="0" smtClean="0"/>
              <a:t> </a:t>
            </a:r>
            <a:r>
              <a:rPr lang="en-US" dirty="0"/>
              <a:t>Following is a simple syntax of run() method </a:t>
            </a:r>
            <a:r>
              <a:rPr lang="en-US" dirty="0" smtClean="0"/>
              <a:t>−</a:t>
            </a:r>
          </a:p>
          <a:p>
            <a:pPr lvl="2">
              <a:lnSpc>
                <a:spcPct val="150000"/>
              </a:lnSpc>
            </a:pPr>
            <a:r>
              <a:rPr lang="en-US" sz="2800" b="1" dirty="0"/>
              <a:t>public void run( )</a:t>
            </a:r>
            <a:endParaRPr lang="en-US" sz="2800" b="1" dirty="0"/>
          </a:p>
          <a:p>
            <a:endParaRPr lang="en-US" dirty="0"/>
          </a:p>
        </p:txBody>
      </p:sp>
    </p:spTree>
    <p:extLst>
      <p:ext uri="{BB962C8B-B14F-4D97-AF65-F5344CB8AC3E}">
        <p14:creationId xmlns:p14="http://schemas.microsoft.com/office/powerpoint/2010/main" val="2106802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Thread by Extending a Thread Class:</a:t>
            </a:r>
          </a:p>
        </p:txBody>
      </p:sp>
      <p:sp>
        <p:nvSpPr>
          <p:cNvPr id="3" name="Content Placeholder 2"/>
          <p:cNvSpPr>
            <a:spLocks noGrp="1"/>
          </p:cNvSpPr>
          <p:nvPr>
            <p:ph sz="quarter" idx="1"/>
          </p:nvPr>
        </p:nvSpPr>
        <p:spPr>
          <a:xfrm>
            <a:off x="914400" y="1066800"/>
            <a:ext cx="7772400" cy="4572000"/>
          </a:xfrm>
        </p:spPr>
        <p:txBody>
          <a:bodyPr/>
          <a:lstStyle/>
          <a:p>
            <a:r>
              <a:rPr lang="en-US" b="1" dirty="0"/>
              <a:t>Step 2</a:t>
            </a:r>
          </a:p>
          <a:p>
            <a:pPr lvl="1"/>
            <a:r>
              <a:rPr lang="en-US" dirty="0"/>
              <a:t>Once Thread object is created, you can start it by calling </a:t>
            </a:r>
            <a:r>
              <a:rPr lang="en-US" b="1" dirty="0"/>
              <a:t>start()</a:t>
            </a:r>
            <a:r>
              <a:rPr lang="en-US" dirty="0"/>
              <a:t> method, which executes a call to run( ) method. </a:t>
            </a:r>
            <a:endParaRPr lang="en-US" dirty="0" smtClean="0"/>
          </a:p>
          <a:p>
            <a:pPr lvl="1"/>
            <a:r>
              <a:rPr lang="en-US" dirty="0" smtClean="0"/>
              <a:t>Following </a:t>
            </a:r>
            <a:r>
              <a:rPr lang="en-US" dirty="0"/>
              <a:t>is a simple syntax of start() method </a:t>
            </a:r>
            <a:r>
              <a:rPr lang="en-US" dirty="0" smtClean="0"/>
              <a:t>−</a:t>
            </a:r>
          </a:p>
          <a:p>
            <a:pPr lvl="2"/>
            <a:endParaRPr lang="en-US" dirty="0"/>
          </a:p>
          <a:p>
            <a:pPr lvl="1"/>
            <a:r>
              <a:rPr lang="en-US" sz="2800" b="1" dirty="0"/>
              <a:t>void start( </a:t>
            </a:r>
            <a:r>
              <a:rPr lang="en-US" sz="2800" b="1" dirty="0" smtClean="0"/>
              <a:t>);</a:t>
            </a:r>
          </a:p>
          <a:p>
            <a:endParaRPr lang="en-US" sz="3000" b="1" dirty="0"/>
          </a:p>
        </p:txBody>
      </p:sp>
    </p:spTree>
    <p:extLst>
      <p:ext uri="{BB962C8B-B14F-4D97-AF65-F5344CB8AC3E}">
        <p14:creationId xmlns:p14="http://schemas.microsoft.com/office/powerpoint/2010/main" val="3166111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990600"/>
            <a:ext cx="7772400" cy="5638800"/>
          </a:xfrm>
        </p:spPr>
        <p:txBody>
          <a:bodyPr>
            <a:normAutofit/>
          </a:bodyPr>
          <a:lstStyle/>
          <a:p>
            <a:pPr marL="0" indent="0">
              <a:buNone/>
            </a:pPr>
            <a:r>
              <a:rPr lang="en-US" dirty="0"/>
              <a:t>class </a:t>
            </a:r>
            <a:r>
              <a:rPr lang="en-US" dirty="0" err="1"/>
              <a:t>ThreadDemo</a:t>
            </a:r>
            <a:r>
              <a:rPr lang="en-US" dirty="0"/>
              <a:t> extends Thread {</a:t>
            </a:r>
          </a:p>
          <a:p>
            <a:pPr marL="0" indent="0">
              <a:buNone/>
            </a:pPr>
            <a:r>
              <a:rPr lang="en-US" dirty="0"/>
              <a:t>   private Thread t;</a:t>
            </a:r>
          </a:p>
          <a:p>
            <a:pPr marL="0" indent="0">
              <a:buNone/>
            </a:pPr>
            <a:r>
              <a:rPr lang="en-US" dirty="0"/>
              <a:t>   private String </a:t>
            </a:r>
            <a:r>
              <a:rPr lang="en-US" dirty="0" err="1"/>
              <a:t>threadName</a:t>
            </a:r>
            <a:r>
              <a:rPr lang="en-US" dirty="0" smtClean="0"/>
              <a:t>;</a:t>
            </a:r>
          </a:p>
          <a:p>
            <a:pPr marL="0" indent="0">
              <a:buNone/>
            </a:pPr>
            <a:endParaRPr lang="en-US" dirty="0"/>
          </a:p>
          <a:p>
            <a:pPr marL="0" indent="0">
              <a:buNone/>
            </a:pPr>
            <a:r>
              <a:rPr lang="en-US" dirty="0"/>
              <a:t>   </a:t>
            </a:r>
            <a:r>
              <a:rPr lang="en-US" dirty="0" err="1"/>
              <a:t>ThreadDemo</a:t>
            </a:r>
            <a:r>
              <a:rPr lang="en-US" dirty="0"/>
              <a:t>( String name) {</a:t>
            </a:r>
          </a:p>
          <a:p>
            <a:pPr marL="0" indent="0">
              <a:buNone/>
            </a:pPr>
            <a:r>
              <a:rPr lang="en-US" dirty="0"/>
              <a:t>      </a:t>
            </a:r>
            <a:r>
              <a:rPr lang="en-US" dirty="0" err="1"/>
              <a:t>threadName</a:t>
            </a:r>
            <a:r>
              <a:rPr lang="en-US" dirty="0"/>
              <a:t> = name;</a:t>
            </a:r>
          </a:p>
          <a:p>
            <a:pPr marL="0" indent="0">
              <a:buNone/>
            </a:pPr>
            <a:r>
              <a:rPr lang="en-US" dirty="0"/>
              <a:t>      </a:t>
            </a:r>
            <a:r>
              <a:rPr lang="en-US" dirty="0" err="1"/>
              <a:t>System.out.println</a:t>
            </a:r>
            <a:r>
              <a:rPr lang="en-US" dirty="0"/>
              <a:t>("Creating " +  </a:t>
            </a:r>
            <a:r>
              <a:rPr lang="en-US" dirty="0" err="1"/>
              <a:t>threadName</a:t>
            </a:r>
            <a:r>
              <a:rPr lang="en-US" dirty="0"/>
              <a:t> );</a:t>
            </a:r>
          </a:p>
          <a:p>
            <a:pPr marL="0" indent="0">
              <a:buNone/>
            </a:pPr>
            <a:r>
              <a:rPr lang="en-US" dirty="0"/>
              <a:t>   </a:t>
            </a: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1573092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6675" y="990600"/>
            <a:ext cx="7772400" cy="5638800"/>
          </a:xfrm>
        </p:spPr>
        <p:txBody>
          <a:bodyPr>
            <a:normAutofit fontScale="92500" lnSpcReduction="20000"/>
          </a:bodyPr>
          <a:lstStyle/>
          <a:p>
            <a:pPr marL="0" indent="0">
              <a:buNone/>
            </a:pPr>
            <a:r>
              <a:rPr lang="en-US" dirty="0"/>
              <a:t> public void run() {</a:t>
            </a:r>
          </a:p>
          <a:p>
            <a:pPr marL="0" indent="0">
              <a:buNone/>
            </a:pPr>
            <a:r>
              <a:rPr lang="en-US" dirty="0"/>
              <a:t>      </a:t>
            </a:r>
            <a:r>
              <a:rPr lang="en-US" dirty="0" err="1"/>
              <a:t>System.out.println</a:t>
            </a:r>
            <a:r>
              <a:rPr lang="en-US" dirty="0"/>
              <a:t>("Running " +  </a:t>
            </a:r>
            <a:r>
              <a:rPr lang="en-US" dirty="0" err="1"/>
              <a:t>threadName</a:t>
            </a:r>
            <a:r>
              <a:rPr lang="en-US" dirty="0"/>
              <a:t> );</a:t>
            </a:r>
          </a:p>
          <a:p>
            <a:pPr marL="0" indent="0">
              <a:buNone/>
            </a:pPr>
            <a:r>
              <a:rPr lang="en-US" dirty="0"/>
              <a:t>      try {</a:t>
            </a:r>
          </a:p>
          <a:p>
            <a:pPr marL="0" indent="0">
              <a:buNone/>
            </a:pPr>
            <a:r>
              <a:rPr lang="en-US" dirty="0"/>
              <a:t>         for(</a:t>
            </a:r>
            <a:r>
              <a:rPr lang="en-US" dirty="0" err="1"/>
              <a:t>int</a:t>
            </a:r>
            <a:r>
              <a:rPr lang="en-US" dirty="0"/>
              <a:t> </a:t>
            </a:r>
            <a:r>
              <a:rPr lang="en-US" dirty="0" err="1"/>
              <a:t>i</a:t>
            </a:r>
            <a:r>
              <a:rPr lang="en-US" dirty="0"/>
              <a:t> = 4; </a:t>
            </a:r>
            <a:r>
              <a:rPr lang="en-US" dirty="0" err="1"/>
              <a:t>i</a:t>
            </a:r>
            <a:r>
              <a:rPr lang="en-US" dirty="0"/>
              <a:t> &gt; 0; </a:t>
            </a:r>
            <a:r>
              <a:rPr lang="en-US" dirty="0" err="1"/>
              <a:t>i</a:t>
            </a:r>
            <a:r>
              <a:rPr lang="en-US" dirty="0"/>
              <a:t>--) {</a:t>
            </a:r>
          </a:p>
          <a:p>
            <a:pPr marL="0" indent="0">
              <a:buNone/>
            </a:pPr>
            <a:r>
              <a:rPr lang="en-US" dirty="0"/>
              <a:t>            </a:t>
            </a:r>
            <a:r>
              <a:rPr lang="en-US" dirty="0" err="1"/>
              <a:t>System.out.println</a:t>
            </a:r>
            <a:r>
              <a:rPr lang="en-US" dirty="0"/>
              <a:t>("Thread: " + </a:t>
            </a:r>
            <a:r>
              <a:rPr lang="en-US" dirty="0" err="1"/>
              <a:t>threadName</a:t>
            </a:r>
            <a:r>
              <a:rPr lang="en-US" dirty="0"/>
              <a:t> + ", " + </a:t>
            </a:r>
            <a:r>
              <a:rPr lang="en-US" dirty="0" err="1"/>
              <a:t>i</a:t>
            </a:r>
            <a:r>
              <a:rPr lang="en-US" dirty="0"/>
              <a:t>);</a:t>
            </a:r>
          </a:p>
          <a:p>
            <a:pPr marL="0" indent="0">
              <a:buNone/>
            </a:pPr>
            <a:r>
              <a:rPr lang="en-US" dirty="0" smtClean="0"/>
              <a:t>	</a:t>
            </a:r>
            <a:r>
              <a:rPr lang="en-US" dirty="0" err="1" smtClean="0"/>
              <a:t>Thread.sleep</a:t>
            </a:r>
            <a:r>
              <a:rPr lang="en-US" dirty="0" smtClean="0"/>
              <a:t>(50</a:t>
            </a:r>
            <a:r>
              <a:rPr lang="en-US" dirty="0"/>
              <a:t>);</a:t>
            </a:r>
          </a:p>
          <a:p>
            <a:pPr marL="0" indent="0">
              <a:buNone/>
            </a:pPr>
            <a:r>
              <a:rPr lang="en-US" dirty="0"/>
              <a:t>         }</a:t>
            </a:r>
          </a:p>
          <a:p>
            <a:pPr marL="0" indent="0">
              <a:buNone/>
            </a:pPr>
            <a:r>
              <a:rPr lang="en-US" dirty="0"/>
              <a:t>      } catch (</a:t>
            </a:r>
            <a:r>
              <a:rPr lang="en-US" dirty="0" err="1"/>
              <a:t>InterruptedException</a:t>
            </a:r>
            <a:r>
              <a:rPr lang="en-US" dirty="0"/>
              <a:t> e) {</a:t>
            </a:r>
          </a:p>
          <a:p>
            <a:pPr marL="0" indent="0">
              <a:buNone/>
            </a:pPr>
            <a:r>
              <a:rPr lang="en-US" dirty="0"/>
              <a:t>         </a:t>
            </a:r>
            <a:r>
              <a:rPr lang="en-US" dirty="0" err="1"/>
              <a:t>System.out.println</a:t>
            </a:r>
            <a:r>
              <a:rPr lang="en-US" dirty="0"/>
              <a:t>("Thread " +  </a:t>
            </a:r>
            <a:r>
              <a:rPr lang="en-US" dirty="0" err="1"/>
              <a:t>threadName</a:t>
            </a:r>
            <a:r>
              <a:rPr lang="en-US" dirty="0"/>
              <a:t> + " interrupted.");</a:t>
            </a:r>
          </a:p>
          <a:p>
            <a:pPr marL="0" indent="0">
              <a:buNone/>
            </a:pPr>
            <a:r>
              <a:rPr lang="en-US" dirty="0"/>
              <a:t>      }</a:t>
            </a:r>
          </a:p>
          <a:p>
            <a:pPr marL="0" indent="0">
              <a:buNone/>
            </a:pPr>
            <a:r>
              <a:rPr lang="en-US" dirty="0"/>
              <a:t>      </a:t>
            </a:r>
            <a:r>
              <a:rPr lang="en-US" dirty="0" err="1"/>
              <a:t>System.out.println</a:t>
            </a:r>
            <a:r>
              <a:rPr lang="en-US" dirty="0"/>
              <a:t>("Thread " +  </a:t>
            </a:r>
            <a:r>
              <a:rPr lang="en-US" dirty="0" err="1"/>
              <a:t>threadName</a:t>
            </a:r>
            <a:r>
              <a:rPr lang="en-US" dirty="0"/>
              <a:t> + " exiting.");</a:t>
            </a:r>
          </a:p>
          <a:p>
            <a:pPr marL="0" indent="0">
              <a:buNone/>
            </a:pPr>
            <a:r>
              <a:rPr lang="en-US" dirty="0"/>
              <a:t>   }</a:t>
            </a:r>
          </a:p>
        </p:txBody>
      </p:sp>
    </p:spTree>
    <p:extLst>
      <p:ext uri="{BB962C8B-B14F-4D97-AF65-F5344CB8AC3E}">
        <p14:creationId xmlns:p14="http://schemas.microsoft.com/office/powerpoint/2010/main" val="3563423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990600"/>
            <a:ext cx="7772400" cy="5638800"/>
          </a:xfrm>
        </p:spPr>
        <p:txBody>
          <a:bodyPr>
            <a:normAutofit fontScale="70000" lnSpcReduction="20000"/>
          </a:bodyPr>
          <a:lstStyle/>
          <a:p>
            <a:pPr marL="0" indent="0">
              <a:buNone/>
            </a:pPr>
            <a:r>
              <a:rPr lang="en-US" dirty="0"/>
              <a:t> public void start () {</a:t>
            </a:r>
          </a:p>
          <a:p>
            <a:pPr marL="0" indent="0">
              <a:buNone/>
            </a:pPr>
            <a:r>
              <a:rPr lang="en-US" dirty="0"/>
              <a:t>      </a:t>
            </a:r>
            <a:r>
              <a:rPr lang="en-US" dirty="0" err="1"/>
              <a:t>System.out.println</a:t>
            </a:r>
            <a:r>
              <a:rPr lang="en-US" dirty="0"/>
              <a:t>("Starting " +  </a:t>
            </a:r>
            <a:r>
              <a:rPr lang="en-US" dirty="0" err="1"/>
              <a:t>threadName</a:t>
            </a:r>
            <a:r>
              <a:rPr lang="en-US" dirty="0"/>
              <a:t> );</a:t>
            </a:r>
          </a:p>
          <a:p>
            <a:pPr marL="0" indent="0">
              <a:buNone/>
            </a:pPr>
            <a:r>
              <a:rPr lang="en-US" dirty="0"/>
              <a:t>      if (t == null) {</a:t>
            </a:r>
          </a:p>
          <a:p>
            <a:pPr marL="0" indent="0">
              <a:buNone/>
            </a:pPr>
            <a:r>
              <a:rPr lang="en-US" dirty="0"/>
              <a:t>         t = new Thread (this, </a:t>
            </a:r>
            <a:r>
              <a:rPr lang="en-US" dirty="0" err="1"/>
              <a:t>threadName</a:t>
            </a:r>
            <a:r>
              <a:rPr lang="en-US" dirty="0"/>
              <a:t>);</a:t>
            </a:r>
          </a:p>
          <a:p>
            <a:pPr marL="0" indent="0">
              <a:buNone/>
            </a:pPr>
            <a:r>
              <a:rPr lang="en-US" dirty="0"/>
              <a:t>         </a:t>
            </a:r>
            <a:r>
              <a:rPr lang="en-US" dirty="0" err="1"/>
              <a:t>t.start</a:t>
            </a:r>
            <a:r>
              <a:rPr lang="en-US" dirty="0"/>
              <a:t> ();</a:t>
            </a:r>
          </a:p>
          <a:p>
            <a:pPr marL="0" indent="0">
              <a:buNone/>
            </a:pPr>
            <a:r>
              <a:rPr lang="en-US" dirty="0"/>
              <a:t>      }</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a:t>
            </a:r>
            <a:r>
              <a:rPr lang="en-US" dirty="0" err="1"/>
              <a:t>TestThread</a:t>
            </a:r>
            <a:r>
              <a:rPr lang="en-US" dirty="0"/>
              <a:t>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a:t>      </a:t>
            </a:r>
            <a:r>
              <a:rPr lang="en-US" dirty="0" err="1"/>
              <a:t>ThreadDemo</a:t>
            </a:r>
            <a:r>
              <a:rPr lang="en-US" dirty="0"/>
              <a:t> T1 = new </a:t>
            </a:r>
            <a:r>
              <a:rPr lang="en-US" dirty="0" err="1"/>
              <a:t>ThreadDemo</a:t>
            </a:r>
            <a:r>
              <a:rPr lang="en-US" dirty="0"/>
              <a:t>( "Thread-1");</a:t>
            </a:r>
          </a:p>
          <a:p>
            <a:pPr marL="0" indent="0">
              <a:buNone/>
            </a:pPr>
            <a:r>
              <a:rPr lang="en-US" dirty="0"/>
              <a:t>      T1.start();</a:t>
            </a:r>
          </a:p>
          <a:p>
            <a:pPr marL="0" indent="0">
              <a:buNone/>
            </a:pPr>
            <a:r>
              <a:rPr lang="en-US" dirty="0"/>
              <a:t>      </a:t>
            </a:r>
          </a:p>
          <a:p>
            <a:pPr marL="0" indent="0">
              <a:buNone/>
            </a:pPr>
            <a:r>
              <a:rPr lang="en-US" dirty="0"/>
              <a:t>      </a:t>
            </a:r>
            <a:r>
              <a:rPr lang="en-US" dirty="0" err="1"/>
              <a:t>ThreadDemo</a:t>
            </a:r>
            <a:r>
              <a:rPr lang="en-US" dirty="0"/>
              <a:t> T2 = new </a:t>
            </a:r>
            <a:r>
              <a:rPr lang="en-US" dirty="0" err="1"/>
              <a:t>ThreadDemo</a:t>
            </a:r>
            <a:r>
              <a:rPr lang="en-US" dirty="0"/>
              <a:t>( "Thread-2");</a:t>
            </a:r>
          </a:p>
          <a:p>
            <a:pPr marL="0" indent="0">
              <a:buNone/>
            </a:pPr>
            <a:r>
              <a:rPr lang="en-US" dirty="0"/>
              <a:t>      T2.start();</a:t>
            </a:r>
          </a:p>
          <a:p>
            <a:pPr marL="0" indent="0">
              <a:buNone/>
            </a:pPr>
            <a:r>
              <a:rPr lang="en-US" dirty="0"/>
              <a:t>   }   </a:t>
            </a:r>
          </a:p>
          <a:p>
            <a:pPr marL="0" indent="0">
              <a:buNone/>
            </a:pPr>
            <a:r>
              <a:rPr lang="en-US" dirty="0"/>
              <a:t>}</a:t>
            </a:r>
          </a:p>
        </p:txBody>
      </p:sp>
    </p:spTree>
    <p:extLst>
      <p:ext uri="{BB962C8B-B14F-4D97-AF65-F5344CB8AC3E}">
        <p14:creationId xmlns:p14="http://schemas.microsoft.com/office/powerpoint/2010/main" val="696912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066800"/>
            <a:ext cx="7772400" cy="5486400"/>
          </a:xfrm>
        </p:spPr>
        <p:txBody>
          <a:bodyPr>
            <a:normAutofit fontScale="77500" lnSpcReduction="20000"/>
          </a:bodyPr>
          <a:lstStyle/>
          <a:p>
            <a:pPr marL="0" indent="0">
              <a:buNone/>
            </a:pPr>
            <a:r>
              <a:rPr lang="en-US" dirty="0"/>
              <a:t>Creating Thread-1</a:t>
            </a:r>
          </a:p>
          <a:p>
            <a:pPr marL="0" indent="0">
              <a:buNone/>
            </a:pPr>
            <a:r>
              <a:rPr lang="en-US" dirty="0"/>
              <a:t>Starting Thread-1</a:t>
            </a:r>
          </a:p>
          <a:p>
            <a:pPr marL="0" indent="0">
              <a:buNone/>
            </a:pPr>
            <a:r>
              <a:rPr lang="en-US" dirty="0"/>
              <a:t>Creating Thread-2</a:t>
            </a:r>
          </a:p>
          <a:p>
            <a:pPr marL="0" indent="0">
              <a:buNone/>
            </a:pPr>
            <a:r>
              <a:rPr lang="en-US" dirty="0"/>
              <a:t>Starting Thread-2</a:t>
            </a:r>
          </a:p>
          <a:p>
            <a:pPr marL="0" indent="0">
              <a:buNone/>
            </a:pPr>
            <a:r>
              <a:rPr lang="en-US" dirty="0"/>
              <a:t>Running Thread-1</a:t>
            </a:r>
          </a:p>
          <a:p>
            <a:pPr marL="0" indent="0">
              <a:buNone/>
            </a:pPr>
            <a:r>
              <a:rPr lang="en-US" dirty="0"/>
              <a:t>Thread: Thread-1, 4</a:t>
            </a:r>
          </a:p>
          <a:p>
            <a:pPr marL="0" indent="0">
              <a:buNone/>
            </a:pPr>
            <a:r>
              <a:rPr lang="en-US" dirty="0"/>
              <a:t>Running Thread-2</a:t>
            </a:r>
          </a:p>
          <a:p>
            <a:pPr marL="0" indent="0">
              <a:buNone/>
            </a:pPr>
            <a:r>
              <a:rPr lang="en-US" dirty="0"/>
              <a:t>Thread: Thread-2, 4</a:t>
            </a:r>
          </a:p>
          <a:p>
            <a:pPr marL="0" indent="0">
              <a:buNone/>
            </a:pPr>
            <a:r>
              <a:rPr lang="en-US" dirty="0"/>
              <a:t>Thread: Thread-1, 3</a:t>
            </a:r>
          </a:p>
          <a:p>
            <a:pPr marL="0" indent="0">
              <a:buNone/>
            </a:pPr>
            <a:r>
              <a:rPr lang="en-US" dirty="0"/>
              <a:t>Thread: Thread-2, 3</a:t>
            </a:r>
          </a:p>
          <a:p>
            <a:pPr marL="0" indent="0">
              <a:buNone/>
            </a:pPr>
            <a:r>
              <a:rPr lang="en-US" dirty="0"/>
              <a:t>Thread: Thread-1, 2</a:t>
            </a:r>
          </a:p>
          <a:p>
            <a:pPr marL="0" indent="0">
              <a:buNone/>
            </a:pPr>
            <a:r>
              <a:rPr lang="en-US" dirty="0"/>
              <a:t>Thread: Thread-2, 2</a:t>
            </a:r>
          </a:p>
          <a:p>
            <a:pPr marL="0" indent="0">
              <a:buNone/>
            </a:pPr>
            <a:r>
              <a:rPr lang="en-US" dirty="0"/>
              <a:t>Thread: Thread-1, 1</a:t>
            </a:r>
          </a:p>
          <a:p>
            <a:pPr marL="0" indent="0">
              <a:buNone/>
            </a:pPr>
            <a:r>
              <a:rPr lang="en-US" dirty="0"/>
              <a:t>Thread: Thread-2, 1</a:t>
            </a:r>
          </a:p>
          <a:p>
            <a:pPr marL="0" indent="0">
              <a:buNone/>
            </a:pPr>
            <a:r>
              <a:rPr lang="en-US" dirty="0"/>
              <a:t>Thread Thread-1 exiting.</a:t>
            </a:r>
          </a:p>
          <a:p>
            <a:pPr marL="0" indent="0">
              <a:buNone/>
            </a:pPr>
            <a:r>
              <a:rPr lang="en-US" dirty="0"/>
              <a:t>Thread Thread-2 exiting.</a:t>
            </a:r>
          </a:p>
        </p:txBody>
      </p:sp>
      <p:sp>
        <p:nvSpPr>
          <p:cNvPr id="4" name="Title 3"/>
          <p:cNvSpPr>
            <a:spLocks noGrp="1"/>
          </p:cNvSpPr>
          <p:nvPr>
            <p:ph type="title"/>
          </p:nvPr>
        </p:nvSpPr>
        <p:spPr/>
        <p:txBody>
          <a:bodyPr/>
          <a:lstStyle/>
          <a:p>
            <a:r>
              <a:rPr lang="en-US" dirty="0" smtClean="0"/>
              <a:t>Output</a:t>
            </a:r>
            <a:endParaRPr lang="en-US" dirty="0"/>
          </a:p>
        </p:txBody>
      </p:sp>
    </p:spTree>
    <p:extLst>
      <p:ext uri="{BB962C8B-B14F-4D97-AF65-F5344CB8AC3E}">
        <p14:creationId xmlns:p14="http://schemas.microsoft.com/office/powerpoint/2010/main" val="22333056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a:t>
            </a:r>
            <a:r>
              <a:rPr lang="en-US" dirty="0"/>
              <a:t>by Implementing a Runnable </a:t>
            </a:r>
            <a:r>
              <a:rPr lang="en-US" dirty="0" smtClean="0"/>
              <a:t>Interface</a:t>
            </a:r>
            <a:endParaRPr lang="en-US" dirty="0"/>
          </a:p>
        </p:txBody>
      </p:sp>
      <p:sp>
        <p:nvSpPr>
          <p:cNvPr id="3" name="Content Placeholder 2"/>
          <p:cNvSpPr>
            <a:spLocks noGrp="1"/>
          </p:cNvSpPr>
          <p:nvPr>
            <p:ph sz="quarter" idx="1"/>
          </p:nvPr>
        </p:nvSpPr>
        <p:spPr>
          <a:xfrm>
            <a:off x="938284" y="1066800"/>
            <a:ext cx="7772400" cy="5562600"/>
          </a:xfrm>
        </p:spPr>
        <p:txBody>
          <a:bodyPr>
            <a:normAutofit/>
          </a:bodyPr>
          <a:lstStyle/>
          <a:p>
            <a:r>
              <a:rPr lang="en-US" dirty="0"/>
              <a:t>If your class is intended to be executed as a thread then you can achieve this by implementing a </a:t>
            </a:r>
            <a:r>
              <a:rPr lang="en-US" b="1" dirty="0"/>
              <a:t>Runnable</a:t>
            </a:r>
            <a:r>
              <a:rPr lang="en-US" dirty="0"/>
              <a:t> interface. </a:t>
            </a:r>
            <a:endParaRPr lang="en-US" dirty="0" smtClean="0"/>
          </a:p>
          <a:p>
            <a:r>
              <a:rPr lang="en-US" dirty="0" smtClean="0"/>
              <a:t>You </a:t>
            </a:r>
            <a:r>
              <a:rPr lang="en-US" dirty="0"/>
              <a:t>will need to follow three basic steps </a:t>
            </a:r>
            <a:r>
              <a:rPr lang="en-US" dirty="0" smtClean="0"/>
              <a:t>−</a:t>
            </a:r>
          </a:p>
          <a:p>
            <a:r>
              <a:rPr lang="en-US" b="1" dirty="0"/>
              <a:t>Step 1</a:t>
            </a:r>
          </a:p>
          <a:p>
            <a:pPr lvl="1"/>
            <a:r>
              <a:rPr lang="en-US" dirty="0"/>
              <a:t>As a first step, you need to implement a run() method provided by a </a:t>
            </a:r>
            <a:r>
              <a:rPr lang="en-US" b="1" dirty="0"/>
              <a:t>Runnable</a:t>
            </a:r>
            <a:r>
              <a:rPr lang="en-US" dirty="0"/>
              <a:t> interface. </a:t>
            </a:r>
            <a:endParaRPr lang="en-US" dirty="0" smtClean="0"/>
          </a:p>
          <a:p>
            <a:pPr lvl="1"/>
            <a:r>
              <a:rPr lang="en-US" dirty="0" smtClean="0"/>
              <a:t>This </a:t>
            </a:r>
            <a:r>
              <a:rPr lang="en-US" dirty="0"/>
              <a:t>method provides an entry point for the thread and you will put your complete business logic inside this method. </a:t>
            </a:r>
            <a:endParaRPr lang="en-US" dirty="0" smtClean="0"/>
          </a:p>
          <a:p>
            <a:pPr lvl="1"/>
            <a:r>
              <a:rPr lang="en-US" dirty="0" smtClean="0"/>
              <a:t>Following </a:t>
            </a:r>
            <a:r>
              <a:rPr lang="en-US" dirty="0"/>
              <a:t>is a simple syntax of the run() method </a:t>
            </a:r>
            <a:r>
              <a:rPr lang="en-US" dirty="0" smtClean="0"/>
              <a:t>−</a:t>
            </a:r>
          </a:p>
          <a:p>
            <a:pPr lvl="2"/>
            <a:endParaRPr lang="en-US" dirty="0"/>
          </a:p>
          <a:p>
            <a:r>
              <a:rPr lang="en-US" b="1" dirty="0"/>
              <a:t>public void run( )</a:t>
            </a:r>
          </a:p>
          <a:p>
            <a:endParaRPr lang="en-US" dirty="0"/>
          </a:p>
        </p:txBody>
      </p:sp>
    </p:spTree>
    <p:extLst>
      <p:ext uri="{BB962C8B-B14F-4D97-AF65-F5344CB8AC3E}">
        <p14:creationId xmlns:p14="http://schemas.microsoft.com/office/powerpoint/2010/main" val="1593423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by Implementing a Runnable Interface</a:t>
            </a:r>
          </a:p>
        </p:txBody>
      </p:sp>
      <p:sp>
        <p:nvSpPr>
          <p:cNvPr id="3" name="Content Placeholder 2"/>
          <p:cNvSpPr>
            <a:spLocks noGrp="1"/>
          </p:cNvSpPr>
          <p:nvPr>
            <p:ph sz="quarter" idx="1"/>
          </p:nvPr>
        </p:nvSpPr>
        <p:spPr>
          <a:xfrm>
            <a:off x="914400" y="1066800"/>
            <a:ext cx="7772400" cy="5486400"/>
          </a:xfrm>
        </p:spPr>
        <p:txBody>
          <a:bodyPr>
            <a:normAutofit/>
          </a:bodyPr>
          <a:lstStyle/>
          <a:p>
            <a:r>
              <a:rPr lang="en-US" b="1" dirty="0"/>
              <a:t>Step 2</a:t>
            </a:r>
          </a:p>
          <a:p>
            <a:pPr lvl="1">
              <a:lnSpc>
                <a:spcPct val="170000"/>
              </a:lnSpc>
            </a:pPr>
            <a:r>
              <a:rPr lang="en-US" dirty="0"/>
              <a:t>As a second step, you will instantiate a </a:t>
            </a:r>
            <a:r>
              <a:rPr lang="en-US" b="1" dirty="0"/>
              <a:t>Thread</a:t>
            </a:r>
            <a:r>
              <a:rPr lang="en-US" dirty="0"/>
              <a:t> object using the following constructor </a:t>
            </a:r>
            <a:r>
              <a:rPr lang="en-US" dirty="0" smtClean="0"/>
              <a:t>−</a:t>
            </a:r>
          </a:p>
          <a:p>
            <a:pPr lvl="1">
              <a:lnSpc>
                <a:spcPct val="170000"/>
              </a:lnSpc>
            </a:pPr>
            <a:r>
              <a:rPr lang="en-US" b="1" dirty="0"/>
              <a:t>Thread(Runnable </a:t>
            </a:r>
            <a:r>
              <a:rPr lang="en-US" b="1" dirty="0" err="1"/>
              <a:t>threadObj</a:t>
            </a:r>
            <a:r>
              <a:rPr lang="en-US" b="1" dirty="0"/>
              <a:t>, String </a:t>
            </a:r>
            <a:r>
              <a:rPr lang="en-US" b="1" dirty="0" err="1"/>
              <a:t>threadName</a:t>
            </a:r>
            <a:r>
              <a:rPr lang="en-US" b="1" dirty="0"/>
              <a:t>);</a:t>
            </a:r>
          </a:p>
          <a:p>
            <a:pPr lvl="1">
              <a:lnSpc>
                <a:spcPct val="170000"/>
              </a:lnSpc>
            </a:pPr>
            <a:r>
              <a:rPr lang="en-US" dirty="0"/>
              <a:t>Where, </a:t>
            </a:r>
            <a:r>
              <a:rPr lang="en-US" i="1" dirty="0" err="1"/>
              <a:t>threadObj</a:t>
            </a:r>
            <a:r>
              <a:rPr lang="en-US" dirty="0"/>
              <a:t> is an instance of a class that implements the </a:t>
            </a:r>
            <a:r>
              <a:rPr lang="en-US" b="1" dirty="0"/>
              <a:t>Runnable</a:t>
            </a:r>
            <a:r>
              <a:rPr lang="en-US" dirty="0"/>
              <a:t> interface and </a:t>
            </a:r>
            <a:r>
              <a:rPr lang="en-US" b="1" dirty="0" err="1"/>
              <a:t>threadName</a:t>
            </a:r>
            <a:r>
              <a:rPr lang="en-US" dirty="0"/>
              <a:t> is the name given to the new </a:t>
            </a:r>
            <a:r>
              <a:rPr lang="en-US" dirty="0" smtClean="0"/>
              <a:t>thread</a:t>
            </a:r>
          </a:p>
        </p:txBody>
      </p:sp>
    </p:spTree>
    <p:extLst>
      <p:ext uri="{BB962C8B-B14F-4D97-AF65-F5344CB8AC3E}">
        <p14:creationId xmlns:p14="http://schemas.microsoft.com/office/powerpoint/2010/main" val="1487922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by Implementing a Runnable Interface</a:t>
            </a:r>
          </a:p>
        </p:txBody>
      </p:sp>
      <p:sp>
        <p:nvSpPr>
          <p:cNvPr id="3" name="Content Placeholder 2"/>
          <p:cNvSpPr>
            <a:spLocks noGrp="1"/>
          </p:cNvSpPr>
          <p:nvPr>
            <p:ph sz="quarter" idx="1"/>
          </p:nvPr>
        </p:nvSpPr>
        <p:spPr>
          <a:xfrm>
            <a:off x="914400" y="1219200"/>
            <a:ext cx="7772400" cy="4572000"/>
          </a:xfrm>
        </p:spPr>
        <p:txBody>
          <a:bodyPr>
            <a:normAutofit fontScale="85000" lnSpcReduction="10000"/>
          </a:bodyPr>
          <a:lstStyle/>
          <a:p>
            <a:pPr>
              <a:lnSpc>
                <a:spcPct val="170000"/>
              </a:lnSpc>
            </a:pPr>
            <a:r>
              <a:rPr lang="en-US" b="1" dirty="0"/>
              <a:t>Step 3</a:t>
            </a:r>
          </a:p>
          <a:p>
            <a:pPr lvl="1">
              <a:lnSpc>
                <a:spcPct val="170000"/>
              </a:lnSpc>
            </a:pPr>
            <a:r>
              <a:rPr lang="en-US" dirty="0"/>
              <a:t>Once a Thread object is created, you can start it by calling </a:t>
            </a:r>
            <a:r>
              <a:rPr lang="en-US" b="1" dirty="0"/>
              <a:t>start()</a:t>
            </a:r>
            <a:r>
              <a:rPr lang="en-US" dirty="0"/>
              <a:t> method, which executes a call to run( ) method. </a:t>
            </a:r>
          </a:p>
          <a:p>
            <a:pPr lvl="1">
              <a:lnSpc>
                <a:spcPct val="170000"/>
              </a:lnSpc>
            </a:pPr>
            <a:r>
              <a:rPr lang="en-US" dirty="0"/>
              <a:t>Following is a simple syntax of start() method −</a:t>
            </a:r>
          </a:p>
          <a:p>
            <a:pPr lvl="1">
              <a:lnSpc>
                <a:spcPct val="170000"/>
              </a:lnSpc>
            </a:pPr>
            <a:endParaRPr lang="en-US" dirty="0"/>
          </a:p>
          <a:p>
            <a:pPr>
              <a:lnSpc>
                <a:spcPct val="170000"/>
              </a:lnSpc>
            </a:pPr>
            <a:r>
              <a:rPr lang="en-US" b="1" dirty="0"/>
              <a:t>void start();</a:t>
            </a:r>
          </a:p>
          <a:p>
            <a:pPr marL="0" indent="0">
              <a:buNone/>
            </a:pPr>
            <a:r>
              <a:rPr lang="en-US" dirty="0"/>
              <a:t/>
            </a:r>
            <a:br>
              <a:rPr lang="en-US" dirty="0"/>
            </a:br>
            <a:endParaRPr lang="en-US" dirty="0"/>
          </a:p>
          <a:p>
            <a:endParaRPr lang="en-US" dirty="0"/>
          </a:p>
        </p:txBody>
      </p:sp>
    </p:spTree>
    <p:extLst>
      <p:ext uri="{BB962C8B-B14F-4D97-AF65-F5344CB8AC3E}">
        <p14:creationId xmlns:p14="http://schemas.microsoft.com/office/powerpoint/2010/main" val="1116348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1143000"/>
            <a:ext cx="7772400" cy="4572000"/>
          </a:xfrm>
        </p:spPr>
        <p:txBody>
          <a:bodyPr/>
          <a:lstStyle/>
          <a:p>
            <a:pPr marL="0" indent="0">
              <a:buNone/>
            </a:pPr>
            <a:r>
              <a:rPr lang="en-US" dirty="0"/>
              <a:t>class </a:t>
            </a:r>
            <a:r>
              <a:rPr lang="en-US" dirty="0" err="1"/>
              <a:t>RunnableDemo</a:t>
            </a:r>
            <a:r>
              <a:rPr lang="en-US" dirty="0"/>
              <a:t> implements Runnable {</a:t>
            </a:r>
          </a:p>
          <a:p>
            <a:pPr marL="0" indent="0">
              <a:buNone/>
            </a:pPr>
            <a:r>
              <a:rPr lang="en-US" dirty="0"/>
              <a:t>   private Thread t;</a:t>
            </a:r>
          </a:p>
          <a:p>
            <a:pPr marL="0" indent="0">
              <a:buNone/>
            </a:pPr>
            <a:r>
              <a:rPr lang="en-US" dirty="0"/>
              <a:t>   private String </a:t>
            </a:r>
            <a:r>
              <a:rPr lang="en-US" dirty="0" err="1"/>
              <a:t>threadName</a:t>
            </a:r>
            <a:r>
              <a:rPr lang="en-US" dirty="0"/>
              <a:t>;</a:t>
            </a:r>
          </a:p>
          <a:p>
            <a:pPr marL="0" indent="0">
              <a:buNone/>
            </a:pPr>
            <a:r>
              <a:rPr lang="en-US" dirty="0"/>
              <a:t>   </a:t>
            </a:r>
          </a:p>
          <a:p>
            <a:pPr marL="0" indent="0">
              <a:buNone/>
            </a:pPr>
            <a:r>
              <a:rPr lang="en-US" dirty="0"/>
              <a:t>   </a:t>
            </a:r>
            <a:r>
              <a:rPr lang="en-US" dirty="0" err="1"/>
              <a:t>RunnableDemo</a:t>
            </a:r>
            <a:r>
              <a:rPr lang="en-US" dirty="0"/>
              <a:t>( String name) {</a:t>
            </a:r>
          </a:p>
          <a:p>
            <a:pPr marL="0" indent="0">
              <a:buNone/>
            </a:pPr>
            <a:r>
              <a:rPr lang="en-US" dirty="0"/>
              <a:t>      </a:t>
            </a:r>
            <a:r>
              <a:rPr lang="en-US" dirty="0" err="1"/>
              <a:t>threadName</a:t>
            </a:r>
            <a:r>
              <a:rPr lang="en-US" dirty="0"/>
              <a:t> = name;</a:t>
            </a:r>
          </a:p>
          <a:p>
            <a:pPr marL="0" indent="0">
              <a:buNone/>
            </a:pPr>
            <a:r>
              <a:rPr lang="en-US" dirty="0"/>
              <a:t>      </a:t>
            </a:r>
            <a:r>
              <a:rPr lang="en-US" dirty="0" err="1"/>
              <a:t>System.out.println</a:t>
            </a:r>
            <a:r>
              <a:rPr lang="en-US" dirty="0"/>
              <a:t>("Creating " +  </a:t>
            </a:r>
            <a:r>
              <a:rPr lang="en-US" dirty="0" err="1"/>
              <a:t>threadName</a:t>
            </a:r>
            <a:r>
              <a:rPr lang="en-US" dirty="0"/>
              <a:t> );</a:t>
            </a:r>
          </a:p>
          <a:p>
            <a:pPr marL="0" indent="0">
              <a:buNone/>
            </a:pPr>
            <a:r>
              <a:rPr lang="en-US" dirty="0"/>
              <a:t>   }</a:t>
            </a:r>
          </a:p>
        </p:txBody>
      </p:sp>
    </p:spTree>
    <p:extLst>
      <p:ext uri="{BB962C8B-B14F-4D97-AF65-F5344CB8AC3E}">
        <p14:creationId xmlns:p14="http://schemas.microsoft.com/office/powerpoint/2010/main" val="43832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486400"/>
          </a:xfrm>
        </p:spPr>
        <p:txBody>
          <a:bodyPr>
            <a:normAutofit fontScale="92500" lnSpcReduction="20000"/>
          </a:bodyPr>
          <a:lstStyle/>
          <a:p>
            <a:pPr marL="0" indent="0">
              <a:buNone/>
            </a:pPr>
            <a:r>
              <a:rPr lang="en-US" dirty="0"/>
              <a:t> public void run() {</a:t>
            </a:r>
          </a:p>
          <a:p>
            <a:pPr marL="0" indent="0">
              <a:buNone/>
            </a:pPr>
            <a:r>
              <a:rPr lang="en-US" dirty="0"/>
              <a:t>      </a:t>
            </a:r>
            <a:r>
              <a:rPr lang="en-US" dirty="0" err="1"/>
              <a:t>System.out.println</a:t>
            </a:r>
            <a:r>
              <a:rPr lang="en-US" dirty="0"/>
              <a:t>("Running " +  </a:t>
            </a:r>
            <a:r>
              <a:rPr lang="en-US" dirty="0" err="1"/>
              <a:t>threadName</a:t>
            </a:r>
            <a:r>
              <a:rPr lang="en-US" dirty="0"/>
              <a:t> );</a:t>
            </a:r>
          </a:p>
          <a:p>
            <a:pPr marL="0" indent="0">
              <a:buNone/>
            </a:pPr>
            <a:r>
              <a:rPr lang="en-US" dirty="0"/>
              <a:t>      try {</a:t>
            </a:r>
          </a:p>
          <a:p>
            <a:pPr marL="0" indent="0">
              <a:buNone/>
            </a:pPr>
            <a:r>
              <a:rPr lang="en-US" dirty="0"/>
              <a:t>         for(</a:t>
            </a:r>
            <a:r>
              <a:rPr lang="en-US" dirty="0" err="1"/>
              <a:t>int</a:t>
            </a:r>
            <a:r>
              <a:rPr lang="en-US" dirty="0"/>
              <a:t> </a:t>
            </a:r>
            <a:r>
              <a:rPr lang="en-US" dirty="0" err="1"/>
              <a:t>i</a:t>
            </a:r>
            <a:r>
              <a:rPr lang="en-US" dirty="0"/>
              <a:t> = 4; </a:t>
            </a:r>
            <a:r>
              <a:rPr lang="en-US" dirty="0" err="1"/>
              <a:t>i</a:t>
            </a:r>
            <a:r>
              <a:rPr lang="en-US" dirty="0"/>
              <a:t> &gt; 0; </a:t>
            </a:r>
            <a:r>
              <a:rPr lang="en-US" dirty="0" err="1"/>
              <a:t>i</a:t>
            </a:r>
            <a:r>
              <a:rPr lang="en-US" dirty="0"/>
              <a:t>--) {</a:t>
            </a:r>
          </a:p>
          <a:p>
            <a:pPr marL="0" indent="0">
              <a:buNone/>
            </a:pPr>
            <a:r>
              <a:rPr lang="en-US" dirty="0"/>
              <a:t>            </a:t>
            </a:r>
            <a:r>
              <a:rPr lang="en-US" dirty="0" err="1"/>
              <a:t>System.out.println</a:t>
            </a:r>
            <a:r>
              <a:rPr lang="en-US" dirty="0"/>
              <a:t>("Thread: " + </a:t>
            </a:r>
            <a:r>
              <a:rPr lang="en-US" dirty="0" err="1"/>
              <a:t>threadName</a:t>
            </a:r>
            <a:r>
              <a:rPr lang="en-US" dirty="0"/>
              <a:t> + ", " + </a:t>
            </a:r>
            <a:r>
              <a:rPr lang="en-US" dirty="0" err="1"/>
              <a:t>i</a:t>
            </a:r>
            <a:r>
              <a:rPr lang="en-US" dirty="0"/>
              <a:t>);</a:t>
            </a:r>
          </a:p>
          <a:p>
            <a:pPr marL="0" indent="0">
              <a:buNone/>
            </a:pPr>
            <a:r>
              <a:rPr lang="en-US" dirty="0" err="1" smtClean="0"/>
              <a:t>Thread.sleep</a:t>
            </a:r>
            <a:r>
              <a:rPr lang="en-US" dirty="0" smtClean="0"/>
              <a:t>(50</a:t>
            </a:r>
            <a:r>
              <a:rPr lang="en-US" dirty="0"/>
              <a:t>);</a:t>
            </a:r>
          </a:p>
          <a:p>
            <a:pPr marL="0" indent="0">
              <a:buNone/>
            </a:pPr>
            <a:r>
              <a:rPr lang="en-US" dirty="0"/>
              <a:t>         }</a:t>
            </a:r>
          </a:p>
          <a:p>
            <a:pPr marL="0" indent="0">
              <a:buNone/>
            </a:pPr>
            <a:r>
              <a:rPr lang="en-US" dirty="0"/>
              <a:t>      } catch (</a:t>
            </a:r>
            <a:r>
              <a:rPr lang="en-US" dirty="0" err="1"/>
              <a:t>InterruptedException</a:t>
            </a:r>
            <a:r>
              <a:rPr lang="en-US" dirty="0"/>
              <a:t> e) {</a:t>
            </a:r>
          </a:p>
          <a:p>
            <a:pPr marL="0" indent="0">
              <a:buNone/>
            </a:pPr>
            <a:r>
              <a:rPr lang="en-US" dirty="0"/>
              <a:t>         </a:t>
            </a:r>
            <a:r>
              <a:rPr lang="en-US" dirty="0" err="1"/>
              <a:t>System.out.println</a:t>
            </a:r>
            <a:r>
              <a:rPr lang="en-US" dirty="0"/>
              <a:t>("Thread " +  </a:t>
            </a:r>
            <a:r>
              <a:rPr lang="en-US" dirty="0" err="1"/>
              <a:t>threadName</a:t>
            </a:r>
            <a:r>
              <a:rPr lang="en-US" dirty="0"/>
              <a:t> + " interrupted.");</a:t>
            </a:r>
          </a:p>
          <a:p>
            <a:pPr marL="0" indent="0">
              <a:buNone/>
            </a:pPr>
            <a:r>
              <a:rPr lang="en-US" dirty="0"/>
              <a:t>      }</a:t>
            </a:r>
          </a:p>
          <a:p>
            <a:pPr marL="0" indent="0">
              <a:buNone/>
            </a:pPr>
            <a:r>
              <a:rPr lang="en-US" dirty="0"/>
              <a:t>      </a:t>
            </a:r>
            <a:r>
              <a:rPr lang="en-US" dirty="0" err="1"/>
              <a:t>System.out.println</a:t>
            </a:r>
            <a:r>
              <a:rPr lang="en-US" dirty="0"/>
              <a:t>("Thread " +  </a:t>
            </a:r>
            <a:r>
              <a:rPr lang="en-US" dirty="0" err="1"/>
              <a:t>threadName</a:t>
            </a:r>
            <a:r>
              <a:rPr lang="en-US" dirty="0"/>
              <a:t> + " exiting.");</a:t>
            </a:r>
          </a:p>
          <a:p>
            <a:pPr marL="0" indent="0">
              <a:buNone/>
            </a:pPr>
            <a:r>
              <a:rPr lang="en-US" dirty="0"/>
              <a:t>   }</a:t>
            </a:r>
          </a:p>
        </p:txBody>
      </p:sp>
    </p:spTree>
    <p:extLst>
      <p:ext uri="{BB962C8B-B14F-4D97-AF65-F5344CB8AC3E}">
        <p14:creationId xmlns:p14="http://schemas.microsoft.com/office/powerpoint/2010/main" val="91129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p:txBody>
          <a:bodyPr/>
          <a:lstStyle/>
          <a:p>
            <a:pPr marL="0" indent="0">
              <a:buNone/>
            </a:pPr>
            <a:r>
              <a:rPr lang="en-US" dirty="0"/>
              <a:t>public void start () {</a:t>
            </a:r>
          </a:p>
          <a:p>
            <a:pPr marL="0" indent="0">
              <a:buNone/>
            </a:pPr>
            <a:r>
              <a:rPr lang="en-US" dirty="0"/>
              <a:t>      </a:t>
            </a:r>
            <a:r>
              <a:rPr lang="en-US" dirty="0" err="1"/>
              <a:t>System.out.println</a:t>
            </a:r>
            <a:r>
              <a:rPr lang="en-US" dirty="0"/>
              <a:t>("Starting " +  </a:t>
            </a:r>
            <a:r>
              <a:rPr lang="en-US" dirty="0" err="1"/>
              <a:t>threadName</a:t>
            </a:r>
            <a:r>
              <a:rPr lang="en-US" dirty="0"/>
              <a:t> );</a:t>
            </a:r>
          </a:p>
          <a:p>
            <a:pPr marL="0" indent="0">
              <a:buNone/>
            </a:pPr>
            <a:r>
              <a:rPr lang="en-US" dirty="0"/>
              <a:t>      if (t == null) {</a:t>
            </a:r>
          </a:p>
          <a:p>
            <a:pPr marL="0" indent="0">
              <a:buNone/>
            </a:pPr>
            <a:r>
              <a:rPr lang="en-US" dirty="0"/>
              <a:t>         t = new Thread (this, </a:t>
            </a:r>
            <a:r>
              <a:rPr lang="en-US" dirty="0" err="1"/>
              <a:t>threadName</a:t>
            </a:r>
            <a:r>
              <a:rPr lang="en-US" dirty="0"/>
              <a:t>);</a:t>
            </a:r>
          </a:p>
          <a:p>
            <a:pPr marL="0" indent="0">
              <a:buNone/>
            </a:pPr>
            <a:r>
              <a:rPr lang="en-US" dirty="0"/>
              <a:t>         </a:t>
            </a:r>
            <a:r>
              <a:rPr lang="en-US" dirty="0" err="1"/>
              <a:t>t.start</a:t>
            </a:r>
            <a:r>
              <a:rPr lang="en-US" dirty="0"/>
              <a:t> ();</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740910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p:txBody>
          <a:bodyPr>
            <a:normAutofit fontScale="92500"/>
          </a:bodyPr>
          <a:lstStyle/>
          <a:p>
            <a:pPr marL="0" indent="0">
              <a:buNone/>
            </a:pPr>
            <a:r>
              <a:rPr lang="en-US" dirty="0"/>
              <a:t>public class </a:t>
            </a:r>
            <a:r>
              <a:rPr lang="en-US" dirty="0" err="1"/>
              <a:t>TestThread</a:t>
            </a:r>
            <a:r>
              <a:rPr lang="en-US" dirty="0"/>
              <a:t>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a:t>      </a:t>
            </a:r>
            <a:r>
              <a:rPr lang="en-US" dirty="0" err="1"/>
              <a:t>RunnableDemo</a:t>
            </a:r>
            <a:r>
              <a:rPr lang="en-US" dirty="0"/>
              <a:t> R1 = new </a:t>
            </a:r>
            <a:r>
              <a:rPr lang="en-US" dirty="0" err="1"/>
              <a:t>RunnableDemo</a:t>
            </a:r>
            <a:r>
              <a:rPr lang="en-US" dirty="0"/>
              <a:t>( "Thread-1");</a:t>
            </a:r>
          </a:p>
          <a:p>
            <a:pPr marL="0" indent="0">
              <a:buNone/>
            </a:pPr>
            <a:r>
              <a:rPr lang="en-US" dirty="0"/>
              <a:t>      R1.start();</a:t>
            </a:r>
          </a:p>
          <a:p>
            <a:pPr marL="0" indent="0">
              <a:buNone/>
            </a:pPr>
            <a:r>
              <a:rPr lang="en-US" dirty="0"/>
              <a:t>      </a:t>
            </a:r>
          </a:p>
          <a:p>
            <a:pPr marL="0" indent="0">
              <a:buNone/>
            </a:pPr>
            <a:r>
              <a:rPr lang="en-US" dirty="0"/>
              <a:t>      </a:t>
            </a:r>
            <a:r>
              <a:rPr lang="en-US" dirty="0" err="1"/>
              <a:t>RunnableDemo</a:t>
            </a:r>
            <a:r>
              <a:rPr lang="en-US" dirty="0"/>
              <a:t> R2 = new </a:t>
            </a:r>
            <a:r>
              <a:rPr lang="en-US" dirty="0" err="1"/>
              <a:t>RunnableDemo</a:t>
            </a:r>
            <a:r>
              <a:rPr lang="en-US" dirty="0"/>
              <a:t>( "Thread-2");</a:t>
            </a:r>
          </a:p>
          <a:p>
            <a:pPr marL="0" indent="0">
              <a:buNone/>
            </a:pPr>
            <a:r>
              <a:rPr lang="en-US" dirty="0"/>
              <a:t>      R2.start();</a:t>
            </a:r>
          </a:p>
          <a:p>
            <a:pPr marL="0" indent="0">
              <a:buNone/>
            </a:pPr>
            <a:r>
              <a:rPr lang="en-US" dirty="0"/>
              <a:t>   }   </a:t>
            </a:r>
          </a:p>
          <a:p>
            <a:pPr marL="0" indent="0">
              <a:buNone/>
            </a:pPr>
            <a:r>
              <a:rPr lang="en-US" dirty="0"/>
              <a:t>}</a:t>
            </a:r>
          </a:p>
        </p:txBody>
      </p:sp>
    </p:spTree>
    <p:extLst>
      <p:ext uri="{BB962C8B-B14F-4D97-AF65-F5344CB8AC3E}">
        <p14:creationId xmlns:p14="http://schemas.microsoft.com/office/powerpoint/2010/main" val="2322677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sz="quarter" idx="1"/>
          </p:nvPr>
        </p:nvSpPr>
        <p:spPr>
          <a:xfrm>
            <a:off x="907576" y="1066800"/>
            <a:ext cx="7772400" cy="5410200"/>
          </a:xfrm>
        </p:spPr>
        <p:txBody>
          <a:bodyPr>
            <a:normAutofit fontScale="77500" lnSpcReduction="20000"/>
          </a:bodyPr>
          <a:lstStyle/>
          <a:p>
            <a:pPr marL="0" indent="0">
              <a:buNone/>
            </a:pPr>
            <a:r>
              <a:rPr lang="en-US" dirty="0"/>
              <a:t>Creating Thread-1</a:t>
            </a:r>
          </a:p>
          <a:p>
            <a:pPr marL="0" indent="0">
              <a:buNone/>
            </a:pPr>
            <a:r>
              <a:rPr lang="en-US" dirty="0"/>
              <a:t>Starting Thread-1</a:t>
            </a:r>
          </a:p>
          <a:p>
            <a:pPr marL="0" indent="0">
              <a:buNone/>
            </a:pPr>
            <a:r>
              <a:rPr lang="en-US" dirty="0"/>
              <a:t>Creating Thread-2</a:t>
            </a:r>
          </a:p>
          <a:p>
            <a:pPr marL="0" indent="0">
              <a:buNone/>
            </a:pPr>
            <a:r>
              <a:rPr lang="en-US" dirty="0"/>
              <a:t>Starting Thread-2</a:t>
            </a:r>
          </a:p>
          <a:p>
            <a:pPr marL="0" indent="0">
              <a:buNone/>
            </a:pPr>
            <a:r>
              <a:rPr lang="en-US" dirty="0"/>
              <a:t>Running Thread-1</a:t>
            </a:r>
          </a:p>
          <a:p>
            <a:pPr marL="0" indent="0">
              <a:buNone/>
            </a:pPr>
            <a:r>
              <a:rPr lang="en-US" dirty="0"/>
              <a:t>Thread: Thread-1, 4</a:t>
            </a:r>
          </a:p>
          <a:p>
            <a:pPr marL="0" indent="0">
              <a:buNone/>
            </a:pPr>
            <a:r>
              <a:rPr lang="en-US" dirty="0"/>
              <a:t>Running Thread-2</a:t>
            </a:r>
          </a:p>
          <a:p>
            <a:pPr marL="0" indent="0">
              <a:buNone/>
            </a:pPr>
            <a:r>
              <a:rPr lang="en-US" dirty="0"/>
              <a:t>Thread: Thread-2, 4</a:t>
            </a:r>
          </a:p>
          <a:p>
            <a:pPr marL="0" indent="0">
              <a:buNone/>
            </a:pPr>
            <a:r>
              <a:rPr lang="en-US" dirty="0"/>
              <a:t>Thread: Thread-1, 3</a:t>
            </a:r>
          </a:p>
          <a:p>
            <a:pPr marL="0" indent="0">
              <a:buNone/>
            </a:pPr>
            <a:r>
              <a:rPr lang="en-US" dirty="0"/>
              <a:t>Thread: Thread-2, 3</a:t>
            </a:r>
          </a:p>
          <a:p>
            <a:pPr marL="0" indent="0">
              <a:buNone/>
            </a:pPr>
            <a:r>
              <a:rPr lang="en-US" dirty="0"/>
              <a:t>Thread: Thread-1, 2</a:t>
            </a:r>
          </a:p>
          <a:p>
            <a:pPr marL="0" indent="0">
              <a:buNone/>
            </a:pPr>
            <a:r>
              <a:rPr lang="en-US" dirty="0"/>
              <a:t>Thread: Thread-2, 2</a:t>
            </a:r>
          </a:p>
          <a:p>
            <a:pPr marL="0" indent="0">
              <a:buNone/>
            </a:pPr>
            <a:r>
              <a:rPr lang="en-US" dirty="0"/>
              <a:t>Thread: Thread-1, 1</a:t>
            </a:r>
          </a:p>
          <a:p>
            <a:pPr marL="0" indent="0">
              <a:buNone/>
            </a:pPr>
            <a:r>
              <a:rPr lang="en-US" dirty="0"/>
              <a:t>Thread: Thread-2, 1</a:t>
            </a:r>
          </a:p>
          <a:p>
            <a:pPr marL="0" indent="0">
              <a:buNone/>
            </a:pPr>
            <a:r>
              <a:rPr lang="en-US" dirty="0"/>
              <a:t>Thread Thread-1 exiting.</a:t>
            </a:r>
          </a:p>
          <a:p>
            <a:pPr marL="0" indent="0">
              <a:buNone/>
            </a:pPr>
            <a:r>
              <a:rPr lang="en-US" dirty="0"/>
              <a:t>Thread Thread-2 exiting.</a:t>
            </a:r>
          </a:p>
        </p:txBody>
      </p:sp>
    </p:spTree>
    <p:extLst>
      <p:ext uri="{BB962C8B-B14F-4D97-AF65-F5344CB8AC3E}">
        <p14:creationId xmlns:p14="http://schemas.microsoft.com/office/powerpoint/2010/main" val="2165852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yield() </a:t>
            </a:r>
            <a:r>
              <a:rPr lang="en-US" dirty="0" smtClean="0"/>
              <a:t>method</a:t>
            </a:r>
            <a:endParaRPr lang="en-US" dirty="0"/>
          </a:p>
        </p:txBody>
      </p:sp>
      <p:sp>
        <p:nvSpPr>
          <p:cNvPr id="3" name="Content Placeholder 2"/>
          <p:cNvSpPr>
            <a:spLocks noGrp="1"/>
          </p:cNvSpPr>
          <p:nvPr>
            <p:ph sz="quarter" idx="1"/>
          </p:nvPr>
        </p:nvSpPr>
        <p:spPr>
          <a:xfrm>
            <a:off x="914400" y="990600"/>
            <a:ext cx="7772400" cy="5410200"/>
          </a:xfrm>
        </p:spPr>
        <p:txBody>
          <a:bodyPr>
            <a:normAutofit fontScale="92500"/>
          </a:bodyPr>
          <a:lstStyle/>
          <a:p>
            <a:pPr>
              <a:lnSpc>
                <a:spcPct val="150000"/>
              </a:lnSpc>
            </a:pPr>
            <a:r>
              <a:rPr lang="en-US" dirty="0"/>
              <a:t>In simple terms, the meaning of ‘yield’ is “to give up” or “to surrender”. </a:t>
            </a:r>
            <a:endParaRPr lang="en-US" dirty="0" smtClean="0"/>
          </a:p>
          <a:p>
            <a:pPr>
              <a:lnSpc>
                <a:spcPct val="150000"/>
              </a:lnSpc>
            </a:pPr>
            <a:r>
              <a:rPr lang="en-US" dirty="0" smtClean="0"/>
              <a:t>The</a:t>
            </a:r>
            <a:r>
              <a:rPr lang="en-US" dirty="0"/>
              <a:t> </a:t>
            </a:r>
            <a:r>
              <a:rPr lang="en-US" b="1" dirty="0"/>
              <a:t>yield() method</a:t>
            </a:r>
            <a:r>
              <a:rPr lang="en-US" dirty="0"/>
              <a:t> gives the hint to the </a:t>
            </a:r>
            <a:r>
              <a:rPr lang="en-US" b="1" dirty="0"/>
              <a:t>thread scheduler</a:t>
            </a:r>
            <a:r>
              <a:rPr lang="en-US" dirty="0"/>
              <a:t> that the current running thread is not doing something too critical and provides a chance for other waiting threads of the same priority for their execution. </a:t>
            </a:r>
            <a:endParaRPr lang="en-US" dirty="0" smtClean="0"/>
          </a:p>
          <a:p>
            <a:pPr>
              <a:lnSpc>
                <a:spcPct val="150000"/>
              </a:lnSpc>
            </a:pPr>
            <a:r>
              <a:rPr lang="en-US" dirty="0" smtClean="0"/>
              <a:t>The </a:t>
            </a:r>
            <a:r>
              <a:rPr lang="en-US" dirty="0"/>
              <a:t>thread scheduler can ignore the hint or can take action </a:t>
            </a:r>
            <a:r>
              <a:rPr lang="en-US" dirty="0" smtClean="0"/>
              <a:t>also</a:t>
            </a:r>
          </a:p>
          <a:p>
            <a:r>
              <a:rPr lang="en-US" b="1" dirty="0" err="1"/>
              <a:t>thread.yield</a:t>
            </a:r>
            <a:r>
              <a:rPr lang="en-US" b="1" dirty="0"/>
              <a:t>()</a:t>
            </a:r>
          </a:p>
          <a:p>
            <a:pPr marL="0" indent="0">
              <a:buNone/>
            </a:pPr>
            <a:endParaRPr lang="en-US" dirty="0"/>
          </a:p>
        </p:txBody>
      </p:sp>
    </p:spTree>
    <p:extLst>
      <p:ext uri="{BB962C8B-B14F-4D97-AF65-F5344CB8AC3E}">
        <p14:creationId xmlns:p14="http://schemas.microsoft.com/office/powerpoint/2010/main" val="1992449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yield() method</a:t>
            </a:r>
          </a:p>
        </p:txBody>
      </p:sp>
      <p:sp>
        <p:nvSpPr>
          <p:cNvPr id="3" name="Content Placeholder 2"/>
          <p:cNvSpPr>
            <a:spLocks noGrp="1"/>
          </p:cNvSpPr>
          <p:nvPr>
            <p:ph sz="quarter" idx="1"/>
          </p:nvPr>
        </p:nvSpPr>
        <p:spPr/>
        <p:txBody>
          <a:bodyPr>
            <a:normAutofit/>
          </a:bodyPr>
          <a:lstStyle/>
          <a:p>
            <a:r>
              <a:rPr lang="en-US" dirty="0"/>
              <a:t>When </a:t>
            </a:r>
            <a:r>
              <a:rPr lang="en-US" b="1" dirty="0"/>
              <a:t>JVM</a:t>
            </a:r>
            <a:r>
              <a:rPr lang="en-US" dirty="0"/>
              <a:t> executes the above line, it gives the hint to the </a:t>
            </a:r>
            <a:r>
              <a:rPr lang="en-US" b="1" dirty="0"/>
              <a:t>thread scheduler</a:t>
            </a:r>
            <a:r>
              <a:rPr lang="en-US" dirty="0"/>
              <a:t> that if CPU is not executing anything important and any other thread is </a:t>
            </a:r>
            <a:r>
              <a:rPr lang="en-US" b="1" dirty="0"/>
              <a:t>RUNNABLE state</a:t>
            </a:r>
            <a:r>
              <a:rPr lang="en-US" dirty="0"/>
              <a:t> then other threads should be run</a:t>
            </a:r>
            <a:r>
              <a:rPr lang="en-US" dirty="0" smtClean="0"/>
              <a:t>.</a:t>
            </a:r>
          </a:p>
        </p:txBody>
      </p:sp>
    </p:spTree>
    <p:extLst>
      <p:ext uri="{BB962C8B-B14F-4D97-AF65-F5344CB8AC3E}">
        <p14:creationId xmlns:p14="http://schemas.microsoft.com/office/powerpoint/2010/main" val="3646158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real-life example of the yield() </a:t>
            </a:r>
            <a:r>
              <a:rPr lang="en-US" dirty="0" smtClean="0"/>
              <a:t>method</a:t>
            </a:r>
            <a:endParaRPr lang="en-US" dirty="0"/>
          </a:p>
        </p:txBody>
      </p:sp>
      <p:sp>
        <p:nvSpPr>
          <p:cNvPr id="3" name="Content Placeholder 2"/>
          <p:cNvSpPr>
            <a:spLocks noGrp="1"/>
          </p:cNvSpPr>
          <p:nvPr>
            <p:ph sz="quarter" idx="1"/>
          </p:nvPr>
        </p:nvSpPr>
        <p:spPr>
          <a:xfrm>
            <a:off x="914400" y="990600"/>
            <a:ext cx="7772400" cy="5562600"/>
          </a:xfrm>
        </p:spPr>
        <p:txBody>
          <a:bodyPr>
            <a:normAutofit fontScale="92500" lnSpcReduction="10000"/>
          </a:bodyPr>
          <a:lstStyle/>
          <a:p>
            <a:r>
              <a:rPr lang="en-US" dirty="0" smtClean="0"/>
              <a:t>Let’s </a:t>
            </a:r>
            <a:r>
              <a:rPr lang="en-US" dirty="0"/>
              <a:t>say we have two threads, which are </a:t>
            </a:r>
            <a:r>
              <a:rPr lang="en-US" b="1" dirty="0"/>
              <a:t>thread1,</a:t>
            </a:r>
            <a:r>
              <a:rPr lang="en-US" dirty="0"/>
              <a:t> </a:t>
            </a:r>
            <a:r>
              <a:rPr lang="en-US" b="1" dirty="0"/>
              <a:t>thread2,</a:t>
            </a:r>
            <a:r>
              <a:rPr lang="en-US" dirty="0"/>
              <a:t> and both threads have the same priority. </a:t>
            </a:r>
            <a:endParaRPr lang="en-US" dirty="0" smtClean="0"/>
          </a:p>
          <a:p>
            <a:r>
              <a:rPr lang="en-US" b="1" dirty="0" smtClean="0"/>
              <a:t>Thread1</a:t>
            </a:r>
            <a:r>
              <a:rPr lang="en-US" b="1" dirty="0"/>
              <a:t> </a:t>
            </a:r>
            <a:r>
              <a:rPr lang="en-US" dirty="0"/>
              <a:t>uses the processor time and it is in a running state. The </a:t>
            </a:r>
            <a:r>
              <a:rPr lang="en-US" b="1" dirty="0"/>
              <a:t>thread2</a:t>
            </a:r>
            <a:r>
              <a:rPr lang="en-US" dirty="0"/>
              <a:t> is in a </a:t>
            </a:r>
            <a:r>
              <a:rPr lang="en-US" b="1" dirty="0"/>
              <a:t>RUNNABLE state</a:t>
            </a:r>
            <a:r>
              <a:rPr lang="en-US" dirty="0" smtClean="0"/>
              <a:t>.</a:t>
            </a:r>
          </a:p>
          <a:p>
            <a:r>
              <a:rPr lang="en-US" dirty="0" smtClean="0"/>
              <a:t> </a:t>
            </a:r>
            <a:r>
              <a:rPr lang="en-US" dirty="0"/>
              <a:t>The completion time of </a:t>
            </a:r>
            <a:r>
              <a:rPr lang="en-US" b="1" dirty="0"/>
              <a:t>thread1 </a:t>
            </a:r>
            <a:r>
              <a:rPr lang="en-US" dirty="0"/>
              <a:t>is 1 hour and the completion time of </a:t>
            </a:r>
            <a:r>
              <a:rPr lang="en-US" b="1" dirty="0"/>
              <a:t>thread2 </a:t>
            </a:r>
            <a:r>
              <a:rPr lang="en-US" dirty="0"/>
              <a:t>is 5 </a:t>
            </a:r>
            <a:r>
              <a:rPr lang="en-US" dirty="0" smtClean="0"/>
              <a:t>minutes.</a:t>
            </a:r>
          </a:p>
          <a:p>
            <a:r>
              <a:rPr lang="en-US" dirty="0" smtClean="0"/>
              <a:t>So</a:t>
            </a:r>
            <a:r>
              <a:rPr lang="en-US" dirty="0"/>
              <a:t> </a:t>
            </a:r>
            <a:r>
              <a:rPr lang="en-US" b="1" dirty="0"/>
              <a:t>thread2 </a:t>
            </a:r>
            <a:r>
              <a:rPr lang="en-US" dirty="0"/>
              <a:t>must wait for 1 hour to just finish the 5-minute job. </a:t>
            </a:r>
            <a:endParaRPr lang="en-US" dirty="0" smtClean="0"/>
          </a:p>
          <a:p>
            <a:r>
              <a:rPr lang="en-US" dirty="0" smtClean="0"/>
              <a:t>In </a:t>
            </a:r>
            <a:r>
              <a:rPr lang="en-US" dirty="0"/>
              <a:t>such types of scenarios where one thread is taking too much time to complete its execution and other important threads are waiting. </a:t>
            </a:r>
            <a:endParaRPr lang="en-US" dirty="0" smtClean="0"/>
          </a:p>
          <a:p>
            <a:r>
              <a:rPr lang="en-US" dirty="0" smtClean="0"/>
              <a:t>Here </a:t>
            </a:r>
            <a:r>
              <a:rPr lang="en-US" dirty="0"/>
              <a:t>can use the </a:t>
            </a:r>
            <a:r>
              <a:rPr lang="en-US" b="1" dirty="0"/>
              <a:t>yield() method</a:t>
            </a:r>
            <a:r>
              <a:rPr lang="en-US" dirty="0"/>
              <a:t> and give the chance to execute the other threads.</a:t>
            </a:r>
          </a:p>
          <a:p>
            <a:endParaRPr lang="en-US" dirty="0"/>
          </a:p>
        </p:txBody>
      </p:sp>
    </p:spTree>
    <p:extLst>
      <p:ext uri="{BB962C8B-B14F-4D97-AF65-F5344CB8AC3E}">
        <p14:creationId xmlns:p14="http://schemas.microsoft.com/office/powerpoint/2010/main" val="946548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real-life example of the yield() method</a:t>
            </a:r>
          </a:p>
        </p:txBody>
      </p:sp>
      <p:pic>
        <p:nvPicPr>
          <p:cNvPr id="4" name="Content Placeholder 3"/>
          <p:cNvPicPr>
            <a:picLocks noGrp="1" noChangeAspect="1"/>
          </p:cNvPicPr>
          <p:nvPr>
            <p:ph sz="quarter" idx="1"/>
          </p:nvPr>
        </p:nvPicPr>
        <p:blipFill>
          <a:blip r:embed="rId2"/>
          <a:stretch>
            <a:fillRect/>
          </a:stretch>
        </p:blipFill>
        <p:spPr>
          <a:xfrm>
            <a:off x="1066800" y="1828800"/>
            <a:ext cx="7219950" cy="3324225"/>
          </a:xfrm>
          <a:prstGeom prst="rect">
            <a:avLst/>
          </a:prstGeom>
        </p:spPr>
      </p:pic>
    </p:spTree>
    <p:extLst>
      <p:ext uri="{BB962C8B-B14F-4D97-AF65-F5344CB8AC3E}">
        <p14:creationId xmlns:p14="http://schemas.microsoft.com/office/powerpoint/2010/main" val="4269897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 real-life example of the yield() method</a:t>
            </a:r>
          </a:p>
        </p:txBody>
      </p:sp>
      <p:sp>
        <p:nvSpPr>
          <p:cNvPr id="3" name="Content Placeholder 2"/>
          <p:cNvSpPr>
            <a:spLocks noGrp="1"/>
          </p:cNvSpPr>
          <p:nvPr>
            <p:ph sz="quarter" idx="1"/>
          </p:nvPr>
        </p:nvSpPr>
        <p:spPr/>
        <p:txBody>
          <a:bodyPr>
            <a:normAutofit fontScale="92500" lnSpcReduction="10000"/>
          </a:bodyPr>
          <a:lstStyle/>
          <a:p>
            <a:pPr marL="0" indent="0">
              <a:buNone/>
            </a:pPr>
            <a:r>
              <a:rPr lang="en-US" b="1" dirty="0"/>
              <a:t>class</a:t>
            </a:r>
            <a:r>
              <a:rPr lang="en-US" dirty="0"/>
              <a:t> </a:t>
            </a:r>
            <a:r>
              <a:rPr lang="en-US" dirty="0" err="1"/>
              <a:t>ThreadOne</a:t>
            </a:r>
            <a:r>
              <a:rPr lang="en-US" dirty="0"/>
              <a:t> </a:t>
            </a:r>
            <a:r>
              <a:rPr lang="en-US" b="1" dirty="0"/>
              <a:t>extends</a:t>
            </a:r>
            <a:r>
              <a:rPr lang="en-US" dirty="0"/>
              <a:t> Thread</a:t>
            </a:r>
          </a:p>
          <a:p>
            <a:pPr marL="0" indent="0">
              <a:buNone/>
            </a:pPr>
            <a:r>
              <a:rPr lang="en-US" dirty="0"/>
              <a:t>{</a:t>
            </a:r>
          </a:p>
          <a:p>
            <a:pPr marL="0" indent="0">
              <a:buNone/>
            </a:pPr>
            <a:r>
              <a:rPr lang="en-US" dirty="0"/>
              <a:t>public </a:t>
            </a:r>
            <a:r>
              <a:rPr lang="en-US" b="1" dirty="0"/>
              <a:t>void</a:t>
            </a:r>
            <a:r>
              <a:rPr lang="en-US" dirty="0"/>
              <a:t> run()</a:t>
            </a:r>
          </a:p>
          <a:p>
            <a:pPr marL="0" indent="0">
              <a:buNone/>
            </a:pPr>
            <a:r>
              <a:rPr lang="en-US" dirty="0"/>
              <a:t>{</a:t>
            </a:r>
          </a:p>
          <a:p>
            <a:pPr marL="0" indent="0">
              <a:buNone/>
            </a:pPr>
            <a:r>
              <a:rPr lang="en-US" b="1" dirty="0"/>
              <a:t>for</a:t>
            </a:r>
            <a:r>
              <a:rPr lang="en-US" dirty="0"/>
              <a:t>(</a:t>
            </a:r>
            <a:r>
              <a:rPr lang="en-US" dirty="0" err="1"/>
              <a:t>int</a:t>
            </a:r>
            <a:r>
              <a:rPr lang="en-US" dirty="0"/>
              <a:t> </a:t>
            </a:r>
            <a:r>
              <a:rPr lang="en-US" dirty="0" err="1"/>
              <a:t>i</a:t>
            </a:r>
            <a:r>
              <a:rPr lang="en-US" dirty="0"/>
              <a:t>=1;i&lt;=5;i++)</a:t>
            </a:r>
          </a:p>
          <a:p>
            <a:pPr marL="0" indent="0">
              <a:buNone/>
            </a:pPr>
            <a:r>
              <a:rPr lang="en-US" dirty="0"/>
              <a:t>{</a:t>
            </a:r>
          </a:p>
          <a:p>
            <a:pPr marL="0" indent="0">
              <a:buNone/>
            </a:pPr>
            <a:r>
              <a:rPr lang="en-US" dirty="0" err="1"/>
              <a:t>System.out.println</a:t>
            </a:r>
            <a:r>
              <a:rPr lang="en-US" dirty="0"/>
              <a:t>("Thread one is running");</a:t>
            </a:r>
          </a:p>
          <a:p>
            <a:pPr marL="0" indent="0">
              <a:buNone/>
            </a:pPr>
            <a:r>
              <a:rPr lang="en-US" dirty="0" err="1"/>
              <a:t>Thread.yield</a:t>
            </a:r>
            <a:r>
              <a:rPr lang="en-US" dirty="0"/>
              <a:t>();</a:t>
            </a:r>
          </a:p>
          <a:p>
            <a:pPr marL="0" indent="0">
              <a:buNone/>
            </a:pPr>
            <a:r>
              <a:rPr lang="en-US" dirty="0"/>
              <a:t>}</a:t>
            </a:r>
          </a:p>
          <a:p>
            <a:pPr marL="0" indent="0">
              <a:buNone/>
            </a:pPr>
            <a:r>
              <a:rPr lang="en-US" dirty="0"/>
              <a:t>}</a:t>
            </a:r>
          </a:p>
          <a:p>
            <a:pPr marL="0" indent="0">
              <a:buNone/>
            </a:pPr>
            <a:r>
              <a:rPr lang="en-US" dirty="0"/>
              <a:t>}</a:t>
            </a:r>
          </a:p>
          <a:p>
            <a:endParaRPr lang="en-US" dirty="0"/>
          </a:p>
        </p:txBody>
      </p:sp>
    </p:spTree>
    <p:extLst>
      <p:ext uri="{BB962C8B-B14F-4D97-AF65-F5344CB8AC3E}">
        <p14:creationId xmlns:p14="http://schemas.microsoft.com/office/powerpoint/2010/main" val="2883602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real-life example of the yield() method</a:t>
            </a:r>
          </a:p>
        </p:txBody>
      </p:sp>
      <p:sp>
        <p:nvSpPr>
          <p:cNvPr id="3" name="Content Placeholder 2"/>
          <p:cNvSpPr>
            <a:spLocks noGrp="1"/>
          </p:cNvSpPr>
          <p:nvPr>
            <p:ph sz="quarter" idx="1"/>
          </p:nvPr>
        </p:nvSpPr>
        <p:spPr/>
        <p:txBody>
          <a:bodyPr>
            <a:normAutofit lnSpcReduction="10000"/>
          </a:bodyPr>
          <a:lstStyle/>
          <a:p>
            <a:pPr marL="0" indent="0">
              <a:buNone/>
            </a:pPr>
            <a:r>
              <a:rPr lang="en-US" b="1" dirty="0"/>
              <a:t>class</a:t>
            </a:r>
            <a:r>
              <a:rPr lang="en-US" dirty="0"/>
              <a:t> </a:t>
            </a:r>
            <a:r>
              <a:rPr lang="en-US" dirty="0" err="1"/>
              <a:t>ThreadTwo</a:t>
            </a:r>
            <a:r>
              <a:rPr lang="en-US" dirty="0"/>
              <a:t> </a:t>
            </a:r>
            <a:r>
              <a:rPr lang="en-US" b="1" dirty="0"/>
              <a:t>extends</a:t>
            </a:r>
            <a:r>
              <a:rPr lang="en-US" dirty="0"/>
              <a:t> Thread</a:t>
            </a:r>
          </a:p>
          <a:p>
            <a:pPr marL="0" indent="0">
              <a:buNone/>
            </a:pPr>
            <a:r>
              <a:rPr lang="en-US" dirty="0"/>
              <a:t>{</a:t>
            </a:r>
          </a:p>
          <a:p>
            <a:pPr marL="0" indent="0">
              <a:buNone/>
            </a:pPr>
            <a:r>
              <a:rPr lang="en-US" dirty="0"/>
              <a:t>public </a:t>
            </a:r>
            <a:r>
              <a:rPr lang="en-US" b="1" dirty="0"/>
              <a:t>void</a:t>
            </a:r>
            <a:r>
              <a:rPr lang="en-US" dirty="0"/>
              <a:t> run()</a:t>
            </a:r>
          </a:p>
          <a:p>
            <a:pPr marL="0" indent="0">
              <a:buNone/>
            </a:pPr>
            <a:r>
              <a:rPr lang="en-US" dirty="0"/>
              <a:t>{</a:t>
            </a:r>
          </a:p>
          <a:p>
            <a:pPr marL="0" indent="0">
              <a:buNone/>
            </a:pPr>
            <a:r>
              <a:rPr lang="en-US" b="1" dirty="0"/>
              <a:t>for</a:t>
            </a:r>
            <a:r>
              <a:rPr lang="en-US" dirty="0"/>
              <a:t>(</a:t>
            </a:r>
            <a:r>
              <a:rPr lang="en-US" dirty="0" err="1"/>
              <a:t>int</a:t>
            </a:r>
            <a:r>
              <a:rPr lang="en-US" dirty="0"/>
              <a:t> </a:t>
            </a:r>
            <a:r>
              <a:rPr lang="en-US" dirty="0" err="1"/>
              <a:t>i</a:t>
            </a:r>
            <a:r>
              <a:rPr lang="en-US" dirty="0"/>
              <a:t>=1;i&lt;=5;i++)</a:t>
            </a:r>
          </a:p>
          <a:p>
            <a:pPr marL="0" indent="0">
              <a:buNone/>
            </a:pPr>
            <a:r>
              <a:rPr lang="en-US" dirty="0"/>
              <a:t>{</a:t>
            </a:r>
          </a:p>
          <a:p>
            <a:pPr marL="0" indent="0">
              <a:buNone/>
            </a:pPr>
            <a:r>
              <a:rPr lang="en-US" dirty="0" err="1"/>
              <a:t>System.out.println</a:t>
            </a:r>
            <a:r>
              <a:rPr lang="en-US" dirty="0"/>
              <a:t>("Thread two is running");</a:t>
            </a:r>
          </a:p>
          <a:p>
            <a:pPr marL="0" indent="0">
              <a:buNone/>
            </a:pPr>
            <a:r>
              <a:rPr lang="en-US" dirty="0"/>
              <a:t>}</a:t>
            </a:r>
          </a:p>
          <a:p>
            <a:pPr marL="0" indent="0">
              <a:buNone/>
            </a:pPr>
            <a:r>
              <a:rPr lang="en-US" dirty="0"/>
              <a:t>}</a:t>
            </a:r>
          </a:p>
          <a:p>
            <a:pPr marL="0" indent="0">
              <a:buNone/>
            </a:pPr>
            <a:r>
              <a:rPr lang="en-US" dirty="0"/>
              <a:t>}</a:t>
            </a:r>
          </a:p>
          <a:p>
            <a:endParaRPr lang="en-US" dirty="0"/>
          </a:p>
        </p:txBody>
      </p:sp>
    </p:spTree>
    <p:extLst>
      <p:ext uri="{BB962C8B-B14F-4D97-AF65-F5344CB8AC3E}">
        <p14:creationId xmlns:p14="http://schemas.microsoft.com/office/powerpoint/2010/main" val="1217027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real-life example of the yield() method</a:t>
            </a:r>
          </a:p>
        </p:txBody>
      </p:sp>
      <p:sp>
        <p:nvSpPr>
          <p:cNvPr id="3" name="Content Placeholder 2"/>
          <p:cNvSpPr>
            <a:spLocks noGrp="1"/>
          </p:cNvSpPr>
          <p:nvPr>
            <p:ph sz="quarter" idx="1"/>
          </p:nvPr>
        </p:nvSpPr>
        <p:spPr/>
        <p:txBody>
          <a:bodyPr>
            <a:normAutofit lnSpcReduction="10000"/>
          </a:bodyPr>
          <a:lstStyle/>
          <a:p>
            <a:pPr marL="0" indent="0">
              <a:buNone/>
            </a:pPr>
            <a:r>
              <a:rPr lang="en-US" b="1" dirty="0"/>
              <a:t>class</a:t>
            </a:r>
            <a:r>
              <a:rPr lang="en-US" dirty="0"/>
              <a:t> </a:t>
            </a:r>
            <a:r>
              <a:rPr lang="en-US" dirty="0" err="1"/>
              <a:t>MainThread</a:t>
            </a:r>
            <a:endParaRPr lang="en-US" dirty="0"/>
          </a:p>
          <a:p>
            <a:pPr marL="0" indent="0">
              <a:buNone/>
            </a:pPr>
            <a:r>
              <a:rPr lang="en-US" dirty="0"/>
              <a:t>{</a:t>
            </a:r>
          </a:p>
          <a:p>
            <a:pPr marL="0" indent="0">
              <a:buNone/>
            </a:pPr>
            <a:r>
              <a:rPr lang="en-US" dirty="0"/>
              <a:t>public static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dirty="0" err="1"/>
              <a:t>ThreadOne</a:t>
            </a:r>
            <a:r>
              <a:rPr lang="en-US" dirty="0"/>
              <a:t> </a:t>
            </a:r>
            <a:r>
              <a:rPr lang="en-US" dirty="0" err="1"/>
              <a:t>threadOne</a:t>
            </a:r>
            <a:r>
              <a:rPr lang="en-US" dirty="0"/>
              <a:t> = </a:t>
            </a:r>
            <a:r>
              <a:rPr lang="en-US" b="1" dirty="0"/>
              <a:t>new</a:t>
            </a:r>
            <a:r>
              <a:rPr lang="en-US" dirty="0"/>
              <a:t> </a:t>
            </a:r>
            <a:r>
              <a:rPr lang="en-US" dirty="0" err="1"/>
              <a:t>ThreadOne</a:t>
            </a:r>
            <a:r>
              <a:rPr lang="en-US" dirty="0"/>
              <a:t>();</a:t>
            </a:r>
          </a:p>
          <a:p>
            <a:pPr marL="0" indent="0">
              <a:buNone/>
            </a:pPr>
            <a:r>
              <a:rPr lang="en-US" dirty="0" err="1"/>
              <a:t>ThreadTwo</a:t>
            </a:r>
            <a:r>
              <a:rPr lang="en-US" dirty="0"/>
              <a:t> </a:t>
            </a:r>
            <a:r>
              <a:rPr lang="en-US" dirty="0" err="1"/>
              <a:t>threadTwo</a:t>
            </a:r>
            <a:r>
              <a:rPr lang="en-US" dirty="0"/>
              <a:t> = </a:t>
            </a:r>
            <a:r>
              <a:rPr lang="en-US" b="1" dirty="0"/>
              <a:t>new</a:t>
            </a:r>
            <a:r>
              <a:rPr lang="en-US" dirty="0"/>
              <a:t> </a:t>
            </a:r>
            <a:r>
              <a:rPr lang="en-US" dirty="0" err="1"/>
              <a:t>ThreadTwo</a:t>
            </a:r>
            <a:r>
              <a:rPr lang="en-US" dirty="0"/>
              <a:t>();</a:t>
            </a:r>
          </a:p>
          <a:p>
            <a:pPr marL="0" indent="0">
              <a:buNone/>
            </a:pPr>
            <a:r>
              <a:rPr lang="en-US" dirty="0" err="1"/>
              <a:t>threadOne.start</a:t>
            </a:r>
            <a:r>
              <a:rPr lang="en-US" dirty="0"/>
              <a:t>();</a:t>
            </a:r>
          </a:p>
          <a:p>
            <a:pPr marL="0" indent="0">
              <a:buNone/>
            </a:pPr>
            <a:r>
              <a:rPr lang="en-US" dirty="0" err="1"/>
              <a:t>threadTwo.start</a:t>
            </a:r>
            <a:r>
              <a:rPr lang="en-US" dirty="0"/>
              <a:t>();</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1970475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real-life example of the yield() method</a:t>
            </a:r>
          </a:p>
        </p:txBody>
      </p:sp>
      <p:sp>
        <p:nvSpPr>
          <p:cNvPr id="3" name="Content Placeholder 2"/>
          <p:cNvSpPr>
            <a:spLocks noGrp="1"/>
          </p:cNvSpPr>
          <p:nvPr>
            <p:ph sz="quarter" idx="1"/>
          </p:nvPr>
        </p:nvSpPr>
        <p:spPr>
          <a:xfrm>
            <a:off x="914400" y="1066800"/>
            <a:ext cx="7772400" cy="4572000"/>
          </a:xfrm>
        </p:spPr>
        <p:txBody>
          <a:bodyPr/>
          <a:lstStyle/>
          <a:p>
            <a:r>
              <a:rPr lang="en-US" b="1" i="1"/>
              <a:t>Output:</a:t>
            </a:r>
            <a:r>
              <a:rPr lang="en-US" i="1"/>
              <a:t> Thread one is running</a:t>
            </a:r>
            <a:r>
              <a:rPr lang="en-US"/>
              <a:t/>
            </a:r>
            <a:br>
              <a:rPr lang="en-US"/>
            </a:br>
            <a:r>
              <a:rPr lang="en-US" i="1"/>
              <a:t>Thread two is running</a:t>
            </a:r>
            <a:r>
              <a:rPr lang="en-US"/>
              <a:t/>
            </a:r>
            <a:br>
              <a:rPr lang="en-US"/>
            </a:br>
            <a:r>
              <a:rPr lang="en-US" i="1"/>
              <a:t>Thread two is running</a:t>
            </a:r>
            <a:r>
              <a:rPr lang="en-US"/>
              <a:t/>
            </a:r>
            <a:br>
              <a:rPr lang="en-US"/>
            </a:br>
            <a:r>
              <a:rPr lang="en-US" i="1"/>
              <a:t>Thread two is running</a:t>
            </a:r>
            <a:r>
              <a:rPr lang="en-US"/>
              <a:t/>
            </a:r>
            <a:br>
              <a:rPr lang="en-US"/>
            </a:br>
            <a:r>
              <a:rPr lang="en-US" i="1"/>
              <a:t>Thread two is running</a:t>
            </a:r>
            <a:r>
              <a:rPr lang="en-US"/>
              <a:t/>
            </a:r>
            <a:br>
              <a:rPr lang="en-US"/>
            </a:br>
            <a:r>
              <a:rPr lang="en-US" i="1"/>
              <a:t>Thread two is running</a:t>
            </a:r>
            <a:r>
              <a:rPr lang="en-US"/>
              <a:t/>
            </a:r>
            <a:br>
              <a:rPr lang="en-US"/>
            </a:br>
            <a:r>
              <a:rPr lang="en-US" i="1"/>
              <a:t>Thread one is running</a:t>
            </a:r>
            <a:r>
              <a:rPr lang="en-US"/>
              <a:t/>
            </a:r>
            <a:br>
              <a:rPr lang="en-US"/>
            </a:br>
            <a:r>
              <a:rPr lang="en-US" i="1"/>
              <a:t>Thread one is running</a:t>
            </a:r>
            <a:r>
              <a:rPr lang="en-US"/>
              <a:t/>
            </a:r>
            <a:br>
              <a:rPr lang="en-US"/>
            </a:br>
            <a:r>
              <a:rPr lang="en-US" i="1"/>
              <a:t>Thread one is running</a:t>
            </a:r>
            <a:r>
              <a:rPr lang="en-US"/>
              <a:t/>
            </a:r>
            <a:br>
              <a:rPr lang="en-US"/>
            </a:br>
            <a:r>
              <a:rPr lang="en-US" i="1"/>
              <a:t>Thread one is running</a:t>
            </a:r>
            <a:endParaRPr lang="en-US"/>
          </a:p>
        </p:txBody>
      </p:sp>
    </p:spTree>
    <p:extLst>
      <p:ext uri="{BB962C8B-B14F-4D97-AF65-F5344CB8AC3E}">
        <p14:creationId xmlns:p14="http://schemas.microsoft.com/office/powerpoint/2010/main" val="1925811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Synchronizing Threads</a:t>
            </a:r>
            <a:endParaRPr lang="en-US" dirty="0"/>
          </a:p>
        </p:txBody>
      </p:sp>
      <p:sp>
        <p:nvSpPr>
          <p:cNvPr id="3" name="Content Placeholder 2"/>
          <p:cNvSpPr>
            <a:spLocks noGrp="1"/>
          </p:cNvSpPr>
          <p:nvPr>
            <p:ph sz="quarter" idx="1"/>
          </p:nvPr>
        </p:nvSpPr>
        <p:spPr>
          <a:xfrm>
            <a:off x="914400" y="1143000"/>
            <a:ext cx="7772400" cy="5562600"/>
          </a:xfrm>
        </p:spPr>
        <p:txBody>
          <a:bodyPr/>
          <a:lstStyle/>
          <a:p>
            <a:r>
              <a:rPr lang="en-US" dirty="0"/>
              <a:t>Multi-threaded programs may regularly come up with a situation where multiple </a:t>
            </a:r>
            <a:r>
              <a:rPr lang="en-US" b="1" i="1" dirty="0"/>
              <a:t>Java</a:t>
            </a:r>
            <a:r>
              <a:rPr lang="en-US" b="1" i="1" dirty="0">
                <a:hlinkClick r:id="rId2"/>
              </a:rPr>
              <a:t> </a:t>
            </a:r>
            <a:r>
              <a:rPr lang="en-US" b="1" i="1" dirty="0"/>
              <a:t>threads</a:t>
            </a:r>
            <a:r>
              <a:rPr lang="en-US" b="1" dirty="0">
                <a:hlinkClick r:id="rId2"/>
              </a:rPr>
              <a:t> </a:t>
            </a:r>
            <a:r>
              <a:rPr lang="en-US" dirty="0"/>
              <a:t>attempt to get to the same resource which produces fraudulent and startling outcomes</a:t>
            </a:r>
            <a:r>
              <a:rPr lang="en-US" dirty="0" smtClean="0"/>
              <a:t>.</a:t>
            </a:r>
          </a:p>
          <a:p>
            <a:r>
              <a:rPr lang="en-US" dirty="0" smtClean="0"/>
              <a:t> </a:t>
            </a:r>
            <a:r>
              <a:rPr lang="en-US" dirty="0"/>
              <a:t>At times, more than one thread might try to access a shared resource, you need to ensure that resource will be used by only one thread at a time. This can be done using </a:t>
            </a:r>
            <a:r>
              <a:rPr lang="en-US" b="1" i="1" dirty="0"/>
              <a:t>Synchronization in Java</a:t>
            </a:r>
            <a:r>
              <a:rPr lang="en-US" b="1" i="1" dirty="0">
                <a:hlinkClick r:id="rId3"/>
              </a:rPr>
              <a:t>.</a:t>
            </a:r>
            <a:r>
              <a:rPr lang="en-US" dirty="0"/>
              <a:t> </a:t>
            </a:r>
            <a:endParaRPr lang="en-US" dirty="0" smtClean="0"/>
          </a:p>
          <a:p>
            <a:r>
              <a:rPr lang="en-US" dirty="0"/>
              <a:t>To avoid these kinds of bugs, methods like </a:t>
            </a:r>
            <a:r>
              <a:rPr lang="en-US" b="1" dirty="0"/>
              <a:t>Wait</a:t>
            </a:r>
            <a:r>
              <a:rPr lang="en-US" dirty="0"/>
              <a:t> and </a:t>
            </a:r>
            <a:r>
              <a:rPr lang="en-US" b="1" dirty="0"/>
              <a:t>Notify</a:t>
            </a:r>
            <a:r>
              <a:rPr lang="en-US" dirty="0"/>
              <a:t> in Java are introduced.</a:t>
            </a:r>
            <a:endParaRPr lang="en-US" dirty="0"/>
          </a:p>
        </p:txBody>
      </p:sp>
    </p:spTree>
    <p:extLst>
      <p:ext uri="{BB962C8B-B14F-4D97-AF65-F5344CB8AC3E}">
        <p14:creationId xmlns:p14="http://schemas.microsoft.com/office/powerpoint/2010/main" val="3083066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 notify() and </a:t>
            </a:r>
            <a:r>
              <a:rPr lang="en-US" dirty="0" err="1"/>
              <a:t>notifyAll</a:t>
            </a:r>
            <a:r>
              <a:rPr lang="en-US" dirty="0"/>
              <a:t>() methods </a:t>
            </a:r>
            <a:endParaRPr lang="en-US" dirty="0"/>
          </a:p>
        </p:txBody>
      </p:sp>
      <p:sp>
        <p:nvSpPr>
          <p:cNvPr id="3" name="Content Placeholder 2"/>
          <p:cNvSpPr>
            <a:spLocks noGrp="1"/>
          </p:cNvSpPr>
          <p:nvPr>
            <p:ph sz="quarter" idx="1"/>
          </p:nvPr>
        </p:nvSpPr>
        <p:spPr>
          <a:xfrm>
            <a:off x="925773" y="1066800"/>
            <a:ext cx="7772400" cy="5486400"/>
          </a:xfrm>
        </p:spPr>
        <p:txBody>
          <a:bodyPr>
            <a:normAutofit fontScale="92500"/>
          </a:bodyPr>
          <a:lstStyle/>
          <a:p>
            <a:r>
              <a:rPr lang="en-US" b="1" dirty="0"/>
              <a:t>Wait()</a:t>
            </a:r>
            <a:endParaRPr lang="en-US" dirty="0"/>
          </a:p>
          <a:p>
            <a:pPr lvl="1">
              <a:lnSpc>
                <a:spcPct val="150000"/>
              </a:lnSpc>
            </a:pPr>
            <a:r>
              <a:rPr lang="en-US" dirty="0"/>
              <a:t>This method causes the thread to wait until another thread invokes notify() and </a:t>
            </a:r>
            <a:r>
              <a:rPr lang="en-US" dirty="0" err="1"/>
              <a:t>notifyAll</a:t>
            </a:r>
            <a:r>
              <a:rPr lang="en-US" dirty="0"/>
              <a:t>() methods for this object. </a:t>
            </a:r>
            <a:endParaRPr lang="en-US" dirty="0" smtClean="0"/>
          </a:p>
          <a:p>
            <a:pPr lvl="1">
              <a:lnSpc>
                <a:spcPct val="150000"/>
              </a:lnSpc>
            </a:pPr>
            <a:r>
              <a:rPr lang="en-US" dirty="0" smtClean="0"/>
              <a:t>This </a:t>
            </a:r>
            <a:r>
              <a:rPr lang="en-US" dirty="0"/>
              <a:t>Wait() method tells the calling thread to let go of a lock and go to sleep until some other thread enters the same monitor and calls to notify(). </a:t>
            </a:r>
            <a:endParaRPr lang="en-US" dirty="0" smtClean="0"/>
          </a:p>
          <a:p>
            <a:pPr lvl="1">
              <a:lnSpc>
                <a:spcPct val="150000"/>
              </a:lnSpc>
            </a:pPr>
            <a:r>
              <a:rPr lang="en-US" dirty="0" smtClean="0"/>
              <a:t>This </a:t>
            </a:r>
            <a:r>
              <a:rPr lang="en-US" dirty="0"/>
              <a:t>method releases the lock before waiting and reacquires the lock before returning from the wait() method</a:t>
            </a:r>
            <a:r>
              <a:rPr lang="en-US" dirty="0" smtClean="0"/>
              <a:t>.</a:t>
            </a:r>
          </a:p>
          <a:p>
            <a:pPr lvl="1">
              <a:lnSpc>
                <a:spcPct val="150000"/>
              </a:lnSpc>
            </a:pPr>
            <a:r>
              <a:rPr lang="en-US" b="1" dirty="0"/>
              <a:t>public final void wait() throws </a:t>
            </a:r>
            <a:r>
              <a:rPr lang="en-US" b="1" dirty="0" err="1"/>
              <a:t>InterruptedException</a:t>
            </a:r>
            <a:endParaRPr lang="en-US" b="1" dirty="0"/>
          </a:p>
          <a:p>
            <a:endParaRPr lang="en-US" dirty="0"/>
          </a:p>
        </p:txBody>
      </p:sp>
    </p:spTree>
    <p:extLst>
      <p:ext uri="{BB962C8B-B14F-4D97-AF65-F5344CB8AC3E}">
        <p14:creationId xmlns:p14="http://schemas.microsoft.com/office/powerpoint/2010/main" val="831206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 notify() and </a:t>
            </a:r>
            <a:r>
              <a:rPr lang="en-US" dirty="0" err="1"/>
              <a:t>notifyAll</a:t>
            </a:r>
            <a:r>
              <a:rPr lang="en-US" dirty="0"/>
              <a:t>() methods </a:t>
            </a:r>
          </a:p>
        </p:txBody>
      </p:sp>
      <p:sp>
        <p:nvSpPr>
          <p:cNvPr id="3" name="Content Placeholder 2"/>
          <p:cNvSpPr>
            <a:spLocks noGrp="1"/>
          </p:cNvSpPr>
          <p:nvPr>
            <p:ph sz="quarter" idx="1"/>
          </p:nvPr>
        </p:nvSpPr>
        <p:spPr/>
        <p:txBody>
          <a:bodyPr>
            <a:normAutofit lnSpcReduction="10000"/>
          </a:bodyPr>
          <a:lstStyle/>
          <a:p>
            <a:r>
              <a:rPr lang="en-US" b="1" dirty="0"/>
              <a:t>n</a:t>
            </a:r>
            <a:r>
              <a:rPr lang="en-US" b="1" dirty="0" smtClean="0"/>
              <a:t>otify</a:t>
            </a:r>
            <a:r>
              <a:rPr lang="en-US" b="1" dirty="0"/>
              <a:t>()</a:t>
            </a:r>
            <a:endParaRPr lang="en-US" dirty="0"/>
          </a:p>
          <a:p>
            <a:pPr lvl="1"/>
            <a:r>
              <a:rPr lang="en-US" dirty="0"/>
              <a:t>This method is used to notify the </a:t>
            </a:r>
            <a:r>
              <a:rPr lang="en-US" dirty="0">
                <a:hlinkClick r:id="rId2"/>
              </a:rPr>
              <a:t>threads</a:t>
            </a:r>
            <a:r>
              <a:rPr lang="en-US" dirty="0"/>
              <a:t> that it needs to function. </a:t>
            </a:r>
            <a:endParaRPr lang="en-US" dirty="0" smtClean="0"/>
          </a:p>
          <a:p>
            <a:pPr lvl="1"/>
            <a:r>
              <a:rPr lang="en-US" dirty="0" smtClean="0"/>
              <a:t>It </a:t>
            </a:r>
            <a:r>
              <a:rPr lang="en-US" dirty="0"/>
              <a:t>wakes up one thread that called the </a:t>
            </a:r>
            <a:r>
              <a:rPr lang="en-US" i="1" dirty="0"/>
              <a:t>wait()</a:t>
            </a:r>
            <a:r>
              <a:rPr lang="en-US" dirty="0"/>
              <a:t> method on the same object</a:t>
            </a:r>
            <a:r>
              <a:rPr lang="en-US" dirty="0" smtClean="0"/>
              <a:t>.</a:t>
            </a:r>
          </a:p>
          <a:p>
            <a:pPr lvl="1"/>
            <a:r>
              <a:rPr lang="en-US" b="1" dirty="0"/>
              <a:t>public final void notify()</a:t>
            </a:r>
            <a:endParaRPr lang="en-US" b="1" dirty="0" smtClean="0"/>
          </a:p>
          <a:p>
            <a:endParaRPr lang="en-US" dirty="0"/>
          </a:p>
          <a:p>
            <a:r>
              <a:rPr lang="en-US" b="1" dirty="0" err="1"/>
              <a:t>notifyAll</a:t>
            </a:r>
            <a:r>
              <a:rPr lang="en-US" b="1" dirty="0"/>
              <a:t>()</a:t>
            </a:r>
            <a:r>
              <a:rPr lang="en-US" dirty="0"/>
              <a:t> </a:t>
            </a:r>
            <a:r>
              <a:rPr lang="en-US" dirty="0" smtClean="0"/>
              <a:t>:</a:t>
            </a:r>
          </a:p>
          <a:p>
            <a:pPr lvl="1"/>
            <a:r>
              <a:rPr lang="en-US" dirty="0" smtClean="0"/>
              <a:t>The</a:t>
            </a:r>
            <a:r>
              <a:rPr lang="en-US" dirty="0"/>
              <a:t> </a:t>
            </a:r>
            <a:r>
              <a:rPr lang="en-US" b="1" dirty="0" err="1"/>
              <a:t>notifyAll</a:t>
            </a:r>
            <a:r>
              <a:rPr lang="en-US" b="1" dirty="0"/>
              <a:t>()</a:t>
            </a:r>
            <a:r>
              <a:rPr lang="en-US" dirty="0"/>
              <a:t> method </a:t>
            </a:r>
            <a:r>
              <a:rPr lang="en-US" b="1" dirty="0"/>
              <a:t>wakes up all threads</a:t>
            </a:r>
            <a:r>
              <a:rPr lang="en-US" dirty="0"/>
              <a:t> that are waiting on that object’s monitor</a:t>
            </a:r>
            <a:r>
              <a:rPr lang="en-US" dirty="0" smtClean="0"/>
              <a:t>.</a:t>
            </a:r>
          </a:p>
          <a:p>
            <a:pPr lvl="1"/>
            <a:r>
              <a:rPr lang="en-US" dirty="0"/>
              <a:t> </a:t>
            </a:r>
            <a:r>
              <a:rPr lang="en-US" b="1" dirty="0"/>
              <a:t>public final void </a:t>
            </a:r>
            <a:r>
              <a:rPr lang="en-US" b="1" dirty="0" err="1"/>
              <a:t>notifyAll</a:t>
            </a:r>
            <a:r>
              <a:rPr lang="en-US" b="1" dirty="0"/>
              <a:t>()</a:t>
            </a:r>
            <a:endParaRPr lang="en-US" b="1" dirty="0"/>
          </a:p>
          <a:p>
            <a:endParaRPr lang="en-US" dirty="0"/>
          </a:p>
        </p:txBody>
      </p:sp>
    </p:spTree>
    <p:extLst>
      <p:ext uri="{BB962C8B-B14F-4D97-AF65-F5344CB8AC3E}">
        <p14:creationId xmlns:p14="http://schemas.microsoft.com/office/powerpoint/2010/main" val="37167686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 notify() and </a:t>
            </a:r>
            <a:r>
              <a:rPr lang="en-US" dirty="0" err="1"/>
              <a:t>notifyAll</a:t>
            </a:r>
            <a:r>
              <a:rPr lang="en-US" dirty="0"/>
              <a:t>() methods </a:t>
            </a:r>
          </a:p>
        </p:txBody>
      </p:sp>
      <p:sp>
        <p:nvSpPr>
          <p:cNvPr id="3" name="Content Placeholder 2"/>
          <p:cNvSpPr>
            <a:spLocks noGrp="1"/>
          </p:cNvSpPr>
          <p:nvPr>
            <p:ph sz="quarter" idx="1"/>
          </p:nvPr>
        </p:nvSpPr>
        <p:spPr>
          <a:xfrm>
            <a:off x="914400" y="1066800"/>
            <a:ext cx="7772400" cy="5410200"/>
          </a:xfrm>
        </p:spPr>
        <p:txBody>
          <a:bodyPr>
            <a:normAutofit/>
          </a:bodyPr>
          <a:lstStyle/>
          <a:p>
            <a:r>
              <a:rPr lang="en-US" b="1" i="1" dirty="0"/>
              <a:t>Note</a:t>
            </a:r>
            <a:r>
              <a:rPr lang="en-US" dirty="0"/>
              <a:t>: Wait and Notify methods are defined in the object class, and they must be called inside synchronized block. </a:t>
            </a:r>
            <a:endParaRPr lang="en-US" dirty="0" smtClean="0"/>
          </a:p>
          <a:p>
            <a:r>
              <a:rPr lang="en-US" b="1" dirty="0" smtClean="0"/>
              <a:t>Example:</a:t>
            </a:r>
          </a:p>
          <a:p>
            <a:pPr marL="0" indent="0">
              <a:buNone/>
            </a:pPr>
            <a:endParaRPr lang="en-US" dirty="0" smtClean="0"/>
          </a:p>
          <a:p>
            <a:pPr marL="0" indent="0">
              <a:buNone/>
            </a:pPr>
            <a:r>
              <a:rPr lang="en-US" dirty="0" smtClean="0"/>
              <a:t>public </a:t>
            </a:r>
            <a:r>
              <a:rPr lang="en-US" dirty="0"/>
              <a:t>class Thread1</a:t>
            </a:r>
          </a:p>
          <a:p>
            <a:pPr marL="0" indent="0">
              <a:buNone/>
            </a:pPr>
            <a:r>
              <a:rPr lang="en-US" dirty="0"/>
              <a:t>{</a:t>
            </a:r>
          </a:p>
          <a:p>
            <a:pPr marL="0" indent="0">
              <a:buNone/>
            </a:pPr>
            <a:r>
              <a:rPr lang="en-US" dirty="0"/>
              <a:t>public static void main(String[] </a:t>
            </a:r>
            <a:r>
              <a:rPr lang="en-US" dirty="0" err="1"/>
              <a:t>args</a:t>
            </a:r>
            <a:r>
              <a:rPr lang="en-US" dirty="0"/>
              <a:t>)</a:t>
            </a:r>
          </a:p>
          <a:p>
            <a:pPr marL="0" indent="0">
              <a:buNone/>
            </a:pPr>
            <a:r>
              <a:rPr lang="en-US" dirty="0"/>
              <a:t>{</a:t>
            </a:r>
          </a:p>
          <a:p>
            <a:pPr marL="0" indent="0">
              <a:buNone/>
            </a:pPr>
            <a:r>
              <a:rPr lang="en-US" dirty="0"/>
              <a:t>Thread2 b = new Thread2();</a:t>
            </a:r>
          </a:p>
          <a:p>
            <a:pPr marL="0" indent="0">
              <a:buNone/>
            </a:pPr>
            <a:r>
              <a:rPr lang="en-US" dirty="0" err="1"/>
              <a:t>b.start</a:t>
            </a:r>
            <a:r>
              <a:rPr lang="en-US" dirty="0"/>
              <a:t>();</a:t>
            </a:r>
          </a:p>
        </p:txBody>
      </p:sp>
    </p:spTree>
    <p:extLst>
      <p:ext uri="{BB962C8B-B14F-4D97-AF65-F5344CB8AC3E}">
        <p14:creationId xmlns:p14="http://schemas.microsoft.com/office/powerpoint/2010/main" val="41269623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r>
              <a:rPr lang="en-US" dirty="0" smtClean="0"/>
              <a:t>:</a:t>
            </a:r>
            <a:endParaRPr lang="en-US" dirty="0"/>
          </a:p>
        </p:txBody>
      </p:sp>
      <p:sp>
        <p:nvSpPr>
          <p:cNvPr id="3" name="Content Placeholder 2"/>
          <p:cNvSpPr>
            <a:spLocks noGrp="1"/>
          </p:cNvSpPr>
          <p:nvPr>
            <p:ph sz="quarter" idx="1"/>
          </p:nvPr>
        </p:nvSpPr>
        <p:spPr/>
        <p:txBody>
          <a:bodyPr>
            <a:normAutofit fontScale="85000" lnSpcReduction="20000"/>
          </a:bodyPr>
          <a:lstStyle/>
          <a:p>
            <a:pPr marL="0" indent="0">
              <a:buNone/>
            </a:pPr>
            <a:r>
              <a:rPr lang="en-US" dirty="0"/>
              <a:t>synchronized(b)</a:t>
            </a:r>
          </a:p>
          <a:p>
            <a:pPr marL="0" indent="0">
              <a:buNone/>
            </a:pPr>
            <a:r>
              <a:rPr lang="en-US" dirty="0"/>
              <a:t>{</a:t>
            </a:r>
          </a:p>
          <a:p>
            <a:pPr marL="0" indent="0">
              <a:buNone/>
            </a:pPr>
            <a:r>
              <a:rPr lang="en-US" dirty="0"/>
              <a:t>try</a:t>
            </a:r>
          </a:p>
          <a:p>
            <a:pPr marL="0" indent="0">
              <a:buNone/>
            </a:pPr>
            <a:r>
              <a:rPr lang="en-US" dirty="0"/>
              <a:t>{</a:t>
            </a:r>
          </a:p>
          <a:p>
            <a:pPr marL="0" indent="0">
              <a:buNone/>
            </a:pPr>
            <a:r>
              <a:rPr lang="en-US" dirty="0" err="1"/>
              <a:t>System.out.println</a:t>
            </a:r>
            <a:r>
              <a:rPr lang="en-US" dirty="0"/>
              <a:t>("Waiting for 2 to complete...");</a:t>
            </a:r>
          </a:p>
          <a:p>
            <a:pPr marL="0" indent="0">
              <a:buNone/>
            </a:pPr>
            <a:r>
              <a:rPr lang="en-US" dirty="0" err="1"/>
              <a:t>b.wait</a:t>
            </a:r>
            <a:r>
              <a:rPr lang="en-US" dirty="0"/>
              <a:t>();</a:t>
            </a:r>
          </a:p>
          <a:p>
            <a:pPr marL="0" indent="0">
              <a:buNone/>
            </a:pPr>
            <a:r>
              <a:rPr lang="en-US" dirty="0"/>
              <a:t>}</a:t>
            </a:r>
          </a:p>
          <a:p>
            <a:pPr marL="0" indent="0">
              <a:buNone/>
            </a:pPr>
            <a:r>
              <a:rPr lang="en-US" dirty="0"/>
              <a:t>catch(</a:t>
            </a:r>
            <a:r>
              <a:rPr lang="en-US" dirty="0" err="1"/>
              <a:t>InterruptedException</a:t>
            </a:r>
            <a:r>
              <a:rPr lang="en-US" dirty="0"/>
              <a:t> e)</a:t>
            </a:r>
          </a:p>
          <a:p>
            <a:pPr marL="0" indent="0">
              <a:buNone/>
            </a:pPr>
            <a:r>
              <a:rPr lang="en-US" dirty="0"/>
              <a:t>{</a:t>
            </a:r>
          </a:p>
          <a:p>
            <a:pPr marL="0" indent="0">
              <a:buNone/>
            </a:pPr>
            <a:r>
              <a:rPr lang="en-US" dirty="0" err="1"/>
              <a:t>e.printStackTrace</a:t>
            </a:r>
            <a:r>
              <a:rPr lang="en-US" dirty="0"/>
              <a:t>();</a:t>
            </a:r>
          </a:p>
          <a:p>
            <a:pPr marL="0" indent="0">
              <a:buNone/>
            </a:pPr>
            <a:r>
              <a:rPr lang="en-US" dirty="0"/>
              <a:t>}</a:t>
            </a:r>
          </a:p>
          <a:p>
            <a:pPr marL="0" indent="0">
              <a:buNone/>
            </a:pPr>
            <a:r>
              <a:rPr lang="en-US" dirty="0" err="1"/>
              <a:t>System.out.println</a:t>
            </a:r>
            <a:r>
              <a:rPr lang="en-US" dirty="0"/>
              <a:t>("Total is: " + </a:t>
            </a:r>
            <a:r>
              <a:rPr lang="en-US" dirty="0" err="1"/>
              <a:t>b.total</a:t>
            </a:r>
            <a:r>
              <a:rPr lang="en-US" dirty="0"/>
              <a:t>);</a:t>
            </a:r>
          </a:p>
          <a:p>
            <a:pPr marL="0" indent="0">
              <a:buNone/>
            </a:pPr>
            <a:r>
              <a:rPr lang="en-US" dirty="0"/>
              <a:t>} } }</a:t>
            </a:r>
          </a:p>
        </p:txBody>
      </p:sp>
    </p:spTree>
    <p:extLst>
      <p:ext uri="{BB962C8B-B14F-4D97-AF65-F5344CB8AC3E}">
        <p14:creationId xmlns:p14="http://schemas.microsoft.com/office/powerpoint/2010/main" val="2850696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334000"/>
          </a:xfrm>
        </p:spPr>
        <p:txBody>
          <a:bodyPr>
            <a:normAutofit fontScale="92500" lnSpcReduction="10000"/>
          </a:bodyPr>
          <a:lstStyle/>
          <a:p>
            <a:pPr marL="0" indent="0">
              <a:buNone/>
            </a:pPr>
            <a:r>
              <a:rPr lang="en-US" dirty="0"/>
              <a:t>class Thread2 extends Thread1</a:t>
            </a:r>
          </a:p>
          <a:p>
            <a:pPr marL="0" indent="0">
              <a:buNone/>
            </a:pPr>
            <a:r>
              <a:rPr lang="en-US" dirty="0"/>
              <a:t>{</a:t>
            </a:r>
          </a:p>
          <a:p>
            <a:pPr marL="0" indent="0">
              <a:buNone/>
            </a:pPr>
            <a:r>
              <a:rPr lang="en-US" dirty="0" err="1"/>
              <a:t>int</a:t>
            </a:r>
            <a:r>
              <a:rPr lang="en-US" dirty="0"/>
              <a:t> total;</a:t>
            </a:r>
          </a:p>
          <a:p>
            <a:pPr marL="0" indent="0">
              <a:buNone/>
            </a:pPr>
            <a:r>
              <a:rPr lang="en-US" dirty="0"/>
              <a:t>@Override public void run()</a:t>
            </a:r>
          </a:p>
          <a:p>
            <a:pPr marL="0" indent="0">
              <a:buNone/>
            </a:pPr>
            <a:r>
              <a:rPr lang="en-US" dirty="0"/>
              <a:t>{</a:t>
            </a:r>
          </a:p>
          <a:p>
            <a:pPr marL="0" indent="0">
              <a:buNone/>
            </a:pPr>
            <a:r>
              <a:rPr lang="en-US" dirty="0"/>
              <a:t>synchronized(this)</a:t>
            </a:r>
          </a:p>
          <a:p>
            <a:pPr marL="0" indent="0">
              <a:buNone/>
            </a:pPr>
            <a:r>
              <a:rPr lang="en-US" dirty="0"/>
              <a:t>{</a:t>
            </a:r>
          </a:p>
          <a:p>
            <a:pPr marL="0" indent="0">
              <a:buNone/>
            </a:pPr>
            <a:r>
              <a:rPr lang="en-US" dirty="0"/>
              <a:t>for(</a:t>
            </a:r>
            <a:r>
              <a:rPr lang="en-US" dirty="0" err="1"/>
              <a:t>int</a:t>
            </a:r>
            <a:r>
              <a:rPr lang="en-US" dirty="0"/>
              <a:t> </a:t>
            </a:r>
            <a:r>
              <a:rPr lang="en-US" dirty="0" err="1"/>
              <a:t>i</a:t>
            </a:r>
            <a:r>
              <a:rPr lang="en-US" dirty="0"/>
              <a:t>=0; </a:t>
            </a:r>
            <a:r>
              <a:rPr lang="en-US" dirty="0" err="1"/>
              <a:t>i</a:t>
            </a:r>
            <a:r>
              <a:rPr lang="en-US" dirty="0"/>
              <a:t>&lt;=100 ; </a:t>
            </a:r>
            <a:r>
              <a:rPr lang="en-US" dirty="0" err="1"/>
              <a:t>i</a:t>
            </a:r>
            <a:r>
              <a:rPr lang="en-US" dirty="0"/>
              <a:t>++)</a:t>
            </a:r>
          </a:p>
          <a:p>
            <a:pPr marL="0" indent="0">
              <a:buNone/>
            </a:pPr>
            <a:r>
              <a:rPr lang="en-US" dirty="0"/>
              <a:t>{</a:t>
            </a:r>
          </a:p>
          <a:p>
            <a:pPr marL="0" indent="0">
              <a:buNone/>
            </a:pPr>
            <a:r>
              <a:rPr lang="en-US" dirty="0"/>
              <a:t>total += </a:t>
            </a:r>
            <a:r>
              <a:rPr lang="en-US" dirty="0" err="1"/>
              <a:t>i</a:t>
            </a:r>
            <a:r>
              <a:rPr lang="en-US" dirty="0"/>
              <a:t>;</a:t>
            </a:r>
          </a:p>
          <a:p>
            <a:pPr marL="0" indent="0">
              <a:buNone/>
            </a:pPr>
            <a:r>
              <a:rPr lang="en-US" dirty="0"/>
              <a:t>}</a:t>
            </a:r>
          </a:p>
          <a:p>
            <a:pPr marL="0" indent="0">
              <a:buNone/>
            </a:pPr>
            <a:r>
              <a:rPr lang="en-US" dirty="0"/>
              <a:t>notify();</a:t>
            </a:r>
          </a:p>
          <a:p>
            <a:pPr marL="0" indent="0">
              <a:buNone/>
            </a:pPr>
            <a:r>
              <a:rPr lang="en-US" dirty="0"/>
              <a:t>}}}</a:t>
            </a:r>
          </a:p>
        </p:txBody>
      </p:sp>
    </p:spTree>
    <p:extLst>
      <p:ext uri="{BB962C8B-B14F-4D97-AF65-F5344CB8AC3E}">
        <p14:creationId xmlns:p14="http://schemas.microsoft.com/office/powerpoint/2010/main" val="3994931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in </a:t>
            </a:r>
            <a:r>
              <a:rPr lang="en-US" dirty="0" smtClean="0"/>
              <a:t>Java</a:t>
            </a:r>
            <a:endParaRPr lang="en-US" dirty="0"/>
          </a:p>
        </p:txBody>
      </p:sp>
      <p:sp>
        <p:nvSpPr>
          <p:cNvPr id="3" name="Content Placeholder 2"/>
          <p:cNvSpPr>
            <a:spLocks noGrp="1"/>
          </p:cNvSpPr>
          <p:nvPr>
            <p:ph sz="quarter" idx="1"/>
          </p:nvPr>
        </p:nvSpPr>
        <p:spPr>
          <a:xfrm>
            <a:off x="914400" y="1143000"/>
            <a:ext cx="7772400" cy="4572000"/>
          </a:xfrm>
        </p:spPr>
        <p:txBody>
          <a:bodyPr/>
          <a:lstStyle/>
          <a:p>
            <a:r>
              <a:rPr lang="en-US" dirty="0"/>
              <a:t>Deadlock in Java is a part of multithreading. Deadlock can occur in a situation when a thread is waiting for an object lock, that is acquired by another thread and second thread is waiting for an object lock that is acquired by first thread. Since, both threads are waiting for each other to release the lock, the condition is called deadlock.</a:t>
            </a:r>
          </a:p>
          <a:p>
            <a:endParaRPr lang="en-US" dirty="0"/>
          </a:p>
          <a:p>
            <a:endParaRPr lang="en-US" dirty="0"/>
          </a:p>
        </p:txBody>
      </p:sp>
      <p:pic>
        <p:nvPicPr>
          <p:cNvPr id="4" name="Content Placeholder 3"/>
          <p:cNvPicPr>
            <a:picLocks noChangeAspect="1"/>
          </p:cNvPicPr>
          <p:nvPr/>
        </p:nvPicPr>
        <p:blipFill>
          <a:blip r:embed="rId2"/>
          <a:stretch>
            <a:fillRect/>
          </a:stretch>
        </p:blipFill>
        <p:spPr>
          <a:xfrm>
            <a:off x="1905000" y="4495800"/>
            <a:ext cx="4800600" cy="1400175"/>
          </a:xfrm>
          <a:prstGeom prst="rect">
            <a:avLst/>
          </a:prstGeom>
        </p:spPr>
      </p:pic>
    </p:spTree>
    <p:extLst>
      <p:ext uri="{BB962C8B-B14F-4D97-AF65-F5344CB8AC3E}">
        <p14:creationId xmlns:p14="http://schemas.microsoft.com/office/powerpoint/2010/main" val="4233858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Deadlock in </a:t>
            </a:r>
            <a:r>
              <a:rPr lang="en-US" dirty="0" smtClean="0"/>
              <a:t>Java</a:t>
            </a:r>
            <a:endParaRPr lang="en-US" dirty="0"/>
          </a:p>
        </p:txBody>
      </p:sp>
      <p:sp>
        <p:nvSpPr>
          <p:cNvPr id="5" name="Content Placeholder 4"/>
          <p:cNvSpPr>
            <a:spLocks noGrp="1"/>
          </p:cNvSpPr>
          <p:nvPr>
            <p:ph sz="quarter" idx="1"/>
          </p:nvPr>
        </p:nvSpPr>
        <p:spPr>
          <a:xfrm>
            <a:off x="914400" y="1143000"/>
            <a:ext cx="7772400" cy="5486400"/>
          </a:xfrm>
        </p:spPr>
        <p:txBody>
          <a:bodyPr>
            <a:normAutofit/>
          </a:bodyPr>
          <a:lstStyle/>
          <a:p>
            <a:pPr marL="0" indent="0">
              <a:buNone/>
            </a:pPr>
            <a:r>
              <a:rPr lang="en-US" b="1" dirty="0"/>
              <a:t>public</a:t>
            </a:r>
            <a:r>
              <a:rPr lang="en-US" dirty="0"/>
              <a:t> </a:t>
            </a:r>
            <a:r>
              <a:rPr lang="en-US" b="1" dirty="0"/>
              <a:t>class</a:t>
            </a:r>
            <a:r>
              <a:rPr lang="en-US" dirty="0"/>
              <a:t> TestDeadlockExample1 {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dirty="0"/>
              <a:t>    </a:t>
            </a:r>
            <a:r>
              <a:rPr lang="en-US" b="1" dirty="0"/>
              <a:t>final</a:t>
            </a:r>
            <a:r>
              <a:rPr lang="en-US" dirty="0"/>
              <a:t> String resource1 = "</a:t>
            </a:r>
            <a:r>
              <a:rPr lang="en-US" dirty="0" err="1"/>
              <a:t>ratan</a:t>
            </a:r>
            <a:r>
              <a:rPr lang="en-US" dirty="0"/>
              <a:t> </a:t>
            </a:r>
            <a:r>
              <a:rPr lang="en-US" dirty="0" err="1"/>
              <a:t>jaiswal</a:t>
            </a:r>
            <a:r>
              <a:rPr lang="en-US" dirty="0"/>
              <a:t>";  </a:t>
            </a:r>
          </a:p>
          <a:p>
            <a:pPr marL="0" indent="0">
              <a:buNone/>
            </a:pPr>
            <a:r>
              <a:rPr lang="en-US" dirty="0"/>
              <a:t>    </a:t>
            </a:r>
            <a:r>
              <a:rPr lang="en-US" b="1" dirty="0"/>
              <a:t>final</a:t>
            </a:r>
            <a:r>
              <a:rPr lang="en-US" dirty="0"/>
              <a:t> String resource2 = "</a:t>
            </a:r>
            <a:r>
              <a:rPr lang="en-US" dirty="0" err="1"/>
              <a:t>vimal</a:t>
            </a:r>
            <a:r>
              <a:rPr lang="en-US" dirty="0"/>
              <a:t> </a:t>
            </a:r>
            <a:r>
              <a:rPr lang="en-US" dirty="0" err="1"/>
              <a:t>jaiswal</a:t>
            </a:r>
            <a:r>
              <a:rPr lang="en-US" dirty="0"/>
              <a:t>";  </a:t>
            </a:r>
          </a:p>
          <a:p>
            <a:pPr marL="0" indent="0">
              <a:buNone/>
            </a:pPr>
            <a:r>
              <a:rPr lang="en-US" dirty="0"/>
              <a:t>    // t1 tries to lock resource1 then resource2  </a:t>
            </a:r>
          </a:p>
          <a:p>
            <a:pPr marL="0" indent="0">
              <a:buNone/>
            </a:pPr>
            <a:r>
              <a:rPr lang="en-US" dirty="0"/>
              <a:t>Thread t1 = </a:t>
            </a:r>
            <a:r>
              <a:rPr lang="en-US" b="1" dirty="0"/>
              <a:t>new</a:t>
            </a:r>
            <a:r>
              <a:rPr lang="en-US" dirty="0"/>
              <a:t> Thread() {  </a:t>
            </a:r>
          </a:p>
          <a:p>
            <a:pPr marL="0" indent="0">
              <a:buNone/>
            </a:pPr>
            <a:r>
              <a:rPr lang="en-US" dirty="0"/>
              <a:t>      </a:t>
            </a:r>
            <a:r>
              <a:rPr lang="en-US" b="1" dirty="0"/>
              <a:t>public</a:t>
            </a:r>
            <a:r>
              <a:rPr lang="en-US" dirty="0"/>
              <a:t> </a:t>
            </a:r>
            <a:r>
              <a:rPr lang="en-US" b="1" dirty="0"/>
              <a:t>void</a:t>
            </a:r>
            <a:r>
              <a:rPr lang="en-US" dirty="0"/>
              <a:t> run() {  </a:t>
            </a:r>
          </a:p>
          <a:p>
            <a:pPr marL="0" indent="0">
              <a:buNone/>
            </a:pPr>
            <a:r>
              <a:rPr lang="en-US" dirty="0"/>
              <a:t>          </a:t>
            </a:r>
            <a:r>
              <a:rPr lang="en-US" b="1" dirty="0"/>
              <a:t>synchronized</a:t>
            </a:r>
            <a:r>
              <a:rPr lang="en-US" dirty="0"/>
              <a:t> (resource1) {  </a:t>
            </a:r>
          </a:p>
          <a:p>
            <a:pPr marL="0" indent="0">
              <a:buNone/>
            </a:pPr>
            <a:r>
              <a:rPr lang="en-US" dirty="0"/>
              <a:t>           </a:t>
            </a:r>
            <a:r>
              <a:rPr lang="en-US" dirty="0" err="1"/>
              <a:t>System.out.println</a:t>
            </a:r>
            <a:r>
              <a:rPr lang="en-US" dirty="0"/>
              <a:t>("Thread 1: locked resource 1");  </a:t>
            </a:r>
          </a:p>
          <a:p>
            <a:endParaRPr lang="en-US" dirty="0"/>
          </a:p>
        </p:txBody>
      </p:sp>
    </p:spTree>
    <p:extLst>
      <p:ext uri="{BB962C8B-B14F-4D97-AF65-F5344CB8AC3E}">
        <p14:creationId xmlns:p14="http://schemas.microsoft.com/office/powerpoint/2010/main" val="199089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Deadlock in Java</a:t>
            </a:r>
          </a:p>
        </p:txBody>
      </p:sp>
      <p:sp>
        <p:nvSpPr>
          <p:cNvPr id="3" name="Content Placeholder 2"/>
          <p:cNvSpPr>
            <a:spLocks noGrp="1"/>
          </p:cNvSpPr>
          <p:nvPr>
            <p:ph sz="quarter" idx="1"/>
          </p:nvPr>
        </p:nvSpPr>
        <p:spPr>
          <a:xfrm>
            <a:off x="914400" y="1143000"/>
            <a:ext cx="7772400" cy="5410200"/>
          </a:xfrm>
        </p:spPr>
        <p:txBody>
          <a:bodyPr>
            <a:normAutofit fontScale="92500" lnSpcReduction="20000"/>
          </a:bodyPr>
          <a:lstStyle/>
          <a:p>
            <a:pPr marL="0" indent="0">
              <a:buNone/>
            </a:pPr>
            <a:r>
              <a:rPr lang="en-US" dirty="0"/>
              <a:t> try </a:t>
            </a:r>
            <a:endParaRPr lang="en-US" dirty="0" smtClean="0"/>
          </a:p>
          <a:p>
            <a:pPr marL="0" indent="0">
              <a:buNone/>
            </a:pPr>
            <a:r>
              <a:rPr lang="en-US" dirty="0" smtClean="0"/>
              <a:t>{ </a:t>
            </a:r>
          </a:p>
          <a:p>
            <a:pPr marL="0" indent="0">
              <a:buNone/>
            </a:pPr>
            <a:r>
              <a:rPr lang="en-US" dirty="0" err="1" smtClean="0"/>
              <a:t>Thread.sleep</a:t>
            </a:r>
            <a:r>
              <a:rPr lang="en-US" dirty="0" smtClean="0"/>
              <a:t>(100);</a:t>
            </a:r>
          </a:p>
          <a:p>
            <a:pPr marL="0" indent="0">
              <a:buNone/>
            </a:pPr>
            <a:r>
              <a:rPr lang="en-US" dirty="0" smtClean="0"/>
              <a:t>} </a:t>
            </a:r>
          </a:p>
          <a:p>
            <a:pPr marL="0" indent="0">
              <a:buNone/>
            </a:pPr>
            <a:r>
              <a:rPr lang="en-US" dirty="0" smtClean="0"/>
              <a:t>catch </a:t>
            </a:r>
            <a:r>
              <a:rPr lang="en-US" dirty="0"/>
              <a:t>(Exception e) </a:t>
            </a:r>
            <a:endParaRPr lang="en-US" dirty="0" smtClean="0"/>
          </a:p>
          <a:p>
            <a:pPr marL="0" indent="0">
              <a:buNone/>
            </a:pPr>
            <a:r>
              <a:rPr lang="en-US" dirty="0" smtClean="0"/>
              <a:t>{}  </a:t>
            </a:r>
            <a:endParaRPr lang="en-US" dirty="0"/>
          </a:p>
          <a:p>
            <a:pPr marL="0" indent="0">
              <a:buNone/>
            </a:pPr>
            <a:r>
              <a:rPr lang="en-US" dirty="0"/>
              <a:t>  </a:t>
            </a:r>
          </a:p>
          <a:p>
            <a:pPr marL="0" indent="0">
              <a:buNone/>
            </a:pPr>
            <a:r>
              <a:rPr lang="en-US" dirty="0"/>
              <a:t> </a:t>
            </a:r>
            <a:r>
              <a:rPr lang="en-US" dirty="0" smtClean="0"/>
              <a:t>synchronized </a:t>
            </a:r>
            <a:r>
              <a:rPr lang="en-US" dirty="0"/>
              <a:t>(resource2) </a:t>
            </a:r>
            <a:endParaRPr lang="en-US" dirty="0" smtClean="0"/>
          </a:p>
          <a:p>
            <a:pPr marL="0" indent="0">
              <a:buNone/>
            </a:pPr>
            <a:r>
              <a:rPr lang="en-US" dirty="0" smtClean="0"/>
              <a:t>{  </a:t>
            </a:r>
            <a:endParaRPr lang="en-US" dirty="0"/>
          </a:p>
          <a:p>
            <a:pPr marL="0" indent="0">
              <a:buNone/>
            </a:pPr>
            <a:r>
              <a:rPr lang="en-US" dirty="0"/>
              <a:t>            </a:t>
            </a:r>
            <a:r>
              <a:rPr lang="en-US" dirty="0" err="1"/>
              <a:t>System.out.println</a:t>
            </a:r>
            <a:r>
              <a:rPr lang="en-US" dirty="0"/>
              <a:t>("Thread 1: locked resource 2");  </a:t>
            </a:r>
          </a:p>
          <a:p>
            <a:pPr marL="0" indent="0">
              <a:buNone/>
            </a:pPr>
            <a:r>
              <a:rPr lang="en-US" dirty="0"/>
              <a:t>           }  </a:t>
            </a:r>
          </a:p>
          <a:p>
            <a:pPr marL="0" indent="0">
              <a:buNone/>
            </a:pPr>
            <a:r>
              <a:rPr lang="en-US" dirty="0"/>
              <a:t>         }  </a:t>
            </a:r>
          </a:p>
          <a:p>
            <a:pPr marL="0" indent="0">
              <a:buNone/>
            </a:pPr>
            <a:r>
              <a:rPr lang="en-US" dirty="0"/>
              <a:t>      }  </a:t>
            </a:r>
          </a:p>
          <a:p>
            <a:pPr marL="0" indent="0">
              <a:buNone/>
            </a:pPr>
            <a:r>
              <a:rPr lang="en-US" dirty="0"/>
              <a:t>    }; </a:t>
            </a:r>
          </a:p>
        </p:txBody>
      </p:sp>
    </p:spTree>
    <p:extLst>
      <p:ext uri="{BB962C8B-B14F-4D97-AF65-F5344CB8AC3E}">
        <p14:creationId xmlns:p14="http://schemas.microsoft.com/office/powerpoint/2010/main" val="1463444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Deadlock in Java</a:t>
            </a:r>
          </a:p>
        </p:txBody>
      </p:sp>
      <p:sp>
        <p:nvSpPr>
          <p:cNvPr id="3" name="Content Placeholder 2"/>
          <p:cNvSpPr>
            <a:spLocks noGrp="1"/>
          </p:cNvSpPr>
          <p:nvPr>
            <p:ph sz="quarter" idx="1"/>
          </p:nvPr>
        </p:nvSpPr>
        <p:spPr>
          <a:xfrm>
            <a:off x="914400" y="1066800"/>
            <a:ext cx="7772400" cy="5410200"/>
          </a:xfrm>
        </p:spPr>
        <p:txBody>
          <a:bodyPr/>
          <a:lstStyle/>
          <a:p>
            <a:pPr marL="0" indent="0">
              <a:buNone/>
            </a:pPr>
            <a:r>
              <a:rPr lang="en-US" dirty="0"/>
              <a:t> // t2 tries to lock resource2 then resource1  </a:t>
            </a:r>
          </a:p>
          <a:p>
            <a:pPr marL="0" indent="0">
              <a:buNone/>
            </a:pPr>
            <a:r>
              <a:rPr lang="en-US" dirty="0"/>
              <a:t>    Thread t2 = new Thread() {  </a:t>
            </a:r>
          </a:p>
          <a:p>
            <a:pPr marL="0" indent="0">
              <a:buNone/>
            </a:pPr>
            <a:r>
              <a:rPr lang="en-US" dirty="0"/>
              <a:t>      public void run() {  </a:t>
            </a:r>
          </a:p>
          <a:p>
            <a:pPr marL="0" indent="0">
              <a:buNone/>
            </a:pPr>
            <a:r>
              <a:rPr lang="en-US" dirty="0"/>
              <a:t>        synchronized (resource2) {  </a:t>
            </a:r>
          </a:p>
          <a:p>
            <a:pPr marL="0" indent="0">
              <a:buNone/>
            </a:pPr>
            <a:r>
              <a:rPr lang="en-US" dirty="0"/>
              <a:t>          </a:t>
            </a:r>
            <a:r>
              <a:rPr lang="en-US" dirty="0" err="1"/>
              <a:t>System.out.println</a:t>
            </a:r>
            <a:r>
              <a:rPr lang="en-US" dirty="0"/>
              <a:t>("Thread 2: locked resource 2");  </a:t>
            </a:r>
          </a:p>
          <a:p>
            <a:pPr marL="0" indent="0">
              <a:buNone/>
            </a:pPr>
            <a:r>
              <a:rPr lang="en-US" dirty="0"/>
              <a:t>  </a:t>
            </a:r>
          </a:p>
          <a:p>
            <a:pPr marL="0" indent="0">
              <a:buNone/>
            </a:pPr>
            <a:r>
              <a:rPr lang="en-US" dirty="0"/>
              <a:t>          try </a:t>
            </a:r>
            <a:r>
              <a:rPr lang="en-US" dirty="0" smtClean="0"/>
              <a:t>{</a:t>
            </a:r>
          </a:p>
          <a:p>
            <a:pPr marL="0" indent="0">
              <a:buNone/>
            </a:pPr>
            <a:r>
              <a:rPr lang="en-US" dirty="0" smtClean="0"/>
              <a:t> </a:t>
            </a:r>
            <a:r>
              <a:rPr lang="en-US" dirty="0" err="1"/>
              <a:t>Thread.sleep</a:t>
            </a:r>
            <a:r>
              <a:rPr lang="en-US" dirty="0"/>
              <a:t>(100</a:t>
            </a:r>
            <a:r>
              <a:rPr lang="en-US" dirty="0" smtClean="0"/>
              <a:t>);</a:t>
            </a:r>
          </a:p>
          <a:p>
            <a:pPr marL="0" indent="0">
              <a:buNone/>
            </a:pPr>
            <a:r>
              <a:rPr lang="en-US" dirty="0" smtClean="0"/>
              <a:t>}</a:t>
            </a:r>
          </a:p>
          <a:p>
            <a:pPr marL="0" indent="0">
              <a:buNone/>
            </a:pPr>
            <a:r>
              <a:rPr lang="en-US" dirty="0" smtClean="0"/>
              <a:t> </a:t>
            </a:r>
            <a:r>
              <a:rPr lang="en-US" dirty="0"/>
              <a:t>catch (Exception e) {}</a:t>
            </a:r>
          </a:p>
        </p:txBody>
      </p:sp>
    </p:spTree>
    <p:extLst>
      <p:ext uri="{BB962C8B-B14F-4D97-AF65-F5344CB8AC3E}">
        <p14:creationId xmlns:p14="http://schemas.microsoft.com/office/powerpoint/2010/main" val="19427888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Deadlock in Java</a:t>
            </a:r>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t> synchronized (resource1) {  </a:t>
            </a:r>
          </a:p>
          <a:p>
            <a:pPr marL="0" indent="0">
              <a:buNone/>
            </a:pPr>
            <a:r>
              <a:rPr lang="en-US" dirty="0"/>
              <a:t>            </a:t>
            </a:r>
            <a:r>
              <a:rPr lang="en-US" dirty="0" err="1"/>
              <a:t>System.out.println</a:t>
            </a:r>
            <a:r>
              <a:rPr lang="en-US" dirty="0"/>
              <a:t>("Thread 2: locked resource 1");  </a:t>
            </a:r>
          </a:p>
          <a:p>
            <a:pPr marL="0" indent="0">
              <a:buNone/>
            </a:pPr>
            <a:r>
              <a:rPr lang="en-US" dirty="0"/>
              <a:t>          }  </a:t>
            </a:r>
          </a:p>
          <a:p>
            <a:pPr marL="0" indent="0">
              <a:buNone/>
            </a:pPr>
            <a:r>
              <a:rPr lang="en-US" dirty="0"/>
              <a:t>        }  </a:t>
            </a:r>
          </a:p>
          <a:p>
            <a:pPr marL="0" indent="0">
              <a:buNone/>
            </a:pPr>
            <a:r>
              <a:rPr lang="en-US" dirty="0"/>
              <a:t>      }  </a:t>
            </a:r>
          </a:p>
          <a:p>
            <a:pPr marL="0" indent="0">
              <a:buNone/>
            </a:pPr>
            <a:r>
              <a:rPr lang="en-US" dirty="0"/>
              <a:t>    }; </a:t>
            </a:r>
            <a:endParaRPr lang="en-US" dirty="0" smtClean="0"/>
          </a:p>
          <a:p>
            <a:pPr marL="0" indent="0">
              <a:buNone/>
            </a:pPr>
            <a:endParaRPr lang="en-US" dirty="0"/>
          </a:p>
          <a:p>
            <a:pPr marL="0" indent="0">
              <a:buNone/>
            </a:pPr>
            <a:r>
              <a:rPr lang="en-US" dirty="0"/>
              <a:t>  t1.start();  </a:t>
            </a:r>
          </a:p>
          <a:p>
            <a:pPr marL="0" indent="0">
              <a:buNone/>
            </a:pPr>
            <a:r>
              <a:rPr lang="en-US" dirty="0"/>
              <a:t>    t2.start();  </a:t>
            </a:r>
          </a:p>
          <a:p>
            <a:pPr marL="0" indent="0">
              <a:buNone/>
            </a:pPr>
            <a:r>
              <a:rPr lang="en-US" dirty="0"/>
              <a:t>  }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0659404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a:t>
            </a:r>
            <a:endParaRPr lang="en-US" dirty="0"/>
          </a:p>
        </p:txBody>
      </p:sp>
      <p:sp>
        <p:nvSpPr>
          <p:cNvPr id="3" name="Content Placeholder 2"/>
          <p:cNvSpPr>
            <a:spLocks noGrp="1"/>
          </p:cNvSpPr>
          <p:nvPr>
            <p:ph sz="quarter" idx="1"/>
          </p:nvPr>
        </p:nvSpPr>
        <p:spPr/>
        <p:txBody>
          <a:bodyPr/>
          <a:lstStyle/>
          <a:p>
            <a:r>
              <a:rPr lang="en-US" dirty="0"/>
              <a:t>Thread 1: locked resource 1</a:t>
            </a:r>
          </a:p>
          <a:p>
            <a:r>
              <a:rPr lang="en-US" dirty="0" smtClean="0"/>
              <a:t>Thread </a:t>
            </a:r>
            <a:r>
              <a:rPr lang="en-US" dirty="0"/>
              <a:t>2: locked resource 2</a:t>
            </a:r>
          </a:p>
        </p:txBody>
      </p:sp>
    </p:spTree>
    <p:extLst>
      <p:ext uri="{BB962C8B-B14F-4D97-AF65-F5344CB8AC3E}">
        <p14:creationId xmlns:p14="http://schemas.microsoft.com/office/powerpoint/2010/main" val="40415199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2021</TotalTime>
  <Words>1781</Words>
  <Application>Microsoft Office PowerPoint</Application>
  <PresentationFormat>On-screen Show (4:3)</PresentationFormat>
  <Paragraphs>402</Paragraphs>
  <Slides>47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Cambria</vt:lpstr>
      <vt:lpstr>Franklin Gothic Book</vt:lpstr>
      <vt:lpstr>Perpetua</vt:lpstr>
      <vt:lpstr>Wingdings 2</vt:lpstr>
      <vt:lpstr>Equity</vt:lpstr>
      <vt:lpstr>Java Programming</vt:lpstr>
      <vt:lpstr>What is a Thread in Java?</vt:lpstr>
      <vt:lpstr>Multithreading in Java</vt:lpstr>
      <vt:lpstr>What is the Use of Multi-Thread in Java?</vt:lpstr>
      <vt:lpstr>Lifecycle of a Thread in Java</vt:lpstr>
      <vt:lpstr>Lifecycle of a Thread in Java</vt:lpstr>
      <vt:lpstr>Lifecycle of a Thread in Java</vt:lpstr>
      <vt:lpstr>Lifecycle of a Thread in Java</vt:lpstr>
      <vt:lpstr>Methods of Multithreading in Java</vt:lpstr>
      <vt:lpstr>Methods of Multithreading in Java</vt:lpstr>
      <vt:lpstr>Methods of Multithreading in Java</vt:lpstr>
      <vt:lpstr>Thread Priorities</vt:lpstr>
      <vt:lpstr>Creating Thread</vt:lpstr>
      <vt:lpstr>Create a Thread by Extending a Thread Class:</vt:lpstr>
      <vt:lpstr>Create a Thread by Extending a Thread Class:</vt:lpstr>
      <vt:lpstr>Example</vt:lpstr>
      <vt:lpstr>Example</vt:lpstr>
      <vt:lpstr>Example</vt:lpstr>
      <vt:lpstr>Output</vt:lpstr>
      <vt:lpstr>Thread by Implementing a Runnable Interface</vt:lpstr>
      <vt:lpstr>Thread by Implementing a Runnable Interface</vt:lpstr>
      <vt:lpstr>Thread by Implementing a Runnable Interface</vt:lpstr>
      <vt:lpstr>Example</vt:lpstr>
      <vt:lpstr>Example</vt:lpstr>
      <vt:lpstr>Example</vt:lpstr>
      <vt:lpstr>Example</vt:lpstr>
      <vt:lpstr>Output</vt:lpstr>
      <vt:lpstr>What is the yield() method</vt:lpstr>
      <vt:lpstr>What is the yield() method</vt:lpstr>
      <vt:lpstr>A real-life example of the yield() method</vt:lpstr>
      <vt:lpstr>A real-life example of the yield() method</vt:lpstr>
      <vt:lpstr>A real-life example of the yield() method</vt:lpstr>
      <vt:lpstr>A real-life example of the yield() method</vt:lpstr>
      <vt:lpstr>A real-life example of the yield() method</vt:lpstr>
      <vt:lpstr>A real-life example of the yield() method</vt:lpstr>
      <vt:lpstr>Synchronizing Threads</vt:lpstr>
      <vt:lpstr>wait(), notify() and notifyAll() methods </vt:lpstr>
      <vt:lpstr>wait(), notify() and notifyAll() methods </vt:lpstr>
      <vt:lpstr>wait(), notify() and notifyAll() methods </vt:lpstr>
      <vt:lpstr>Example:</vt:lpstr>
      <vt:lpstr>Example:</vt:lpstr>
      <vt:lpstr>Deadlock in Java</vt:lpstr>
      <vt:lpstr>Example of Deadlock in Java</vt:lpstr>
      <vt:lpstr>Example of Deadlock in Java</vt:lpstr>
      <vt:lpstr>Example of Deadlock in Java</vt:lpstr>
      <vt:lpstr>Example of Deadlock in Java</vt:lpstr>
      <vt:lpstr>Output: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Lab2-01</dc:creator>
  <cp:lastModifiedBy>TUSHAR KATHANE</cp:lastModifiedBy>
  <cp:revision>881</cp:revision>
  <dcterms:created xsi:type="dcterms:W3CDTF">2017-12-14T08:59:32Z</dcterms:created>
  <dcterms:modified xsi:type="dcterms:W3CDTF">2023-10-12T19:44:29Z</dcterms:modified>
</cp:coreProperties>
</file>