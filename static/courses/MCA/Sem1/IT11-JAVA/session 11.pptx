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70" d="100"/>
          <a:sy n="70" d="100"/>
        </p:scale>
        <p:origin x="141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26-Oct-23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dirty="0"/>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26-Oct-23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26-Oct-23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26-Oct-23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Collection of Useful Classes</a:t>
            </a:r>
            <a:endParaRPr lang="en-US" dirty="0"/>
          </a:p>
        </p:txBody>
      </p:sp>
      <p:sp>
        <p:nvSpPr>
          <p:cNvPr id="3" name="Content Placeholder 2"/>
          <p:cNvSpPr>
            <a:spLocks noGrp="1"/>
          </p:cNvSpPr>
          <p:nvPr>
            <p:ph sz="quarter" idx="1"/>
          </p:nvPr>
        </p:nvSpPr>
        <p:spPr>
          <a:xfrm>
            <a:off x="914400" y="1066800"/>
            <a:ext cx="7772400" cy="5562600"/>
          </a:xfrm>
        </p:spPr>
        <p:txBody>
          <a:bodyPr>
            <a:normAutofit lnSpcReduction="10000"/>
          </a:bodyPr>
          <a:lstStyle/>
          <a:p>
            <a:pPr fontAlgn="base"/>
            <a:r>
              <a:rPr lang="en-US" dirty="0"/>
              <a:t> </a:t>
            </a:r>
            <a:r>
              <a:rPr lang="en-US" b="1" dirty="0"/>
              <a:t>Utility Methods for </a:t>
            </a:r>
            <a:r>
              <a:rPr lang="en-US" b="1" dirty="0" smtClean="0"/>
              <a:t>Arrays:</a:t>
            </a:r>
          </a:p>
          <a:p>
            <a:pPr lvl="1" fontAlgn="base">
              <a:lnSpc>
                <a:spcPct val="150000"/>
              </a:lnSpc>
            </a:pPr>
            <a:r>
              <a:rPr lang="en-US" dirty="0"/>
              <a:t>The Arrays class in </a:t>
            </a:r>
            <a:r>
              <a:rPr lang="en-US" b="1" dirty="0" err="1"/>
              <a:t>java.util</a:t>
            </a:r>
            <a:r>
              <a:rPr lang="en-US" dirty="0"/>
              <a:t> provides you with a set of static methods for operating on arrays. </a:t>
            </a:r>
            <a:endParaRPr lang="en-US" dirty="0" smtClean="0"/>
          </a:p>
          <a:p>
            <a:pPr lvl="1" fontAlgn="base">
              <a:lnSpc>
                <a:spcPct val="150000"/>
              </a:lnSpc>
            </a:pPr>
            <a:r>
              <a:rPr lang="en-US" dirty="0" smtClean="0"/>
              <a:t>You </a:t>
            </a:r>
            <a:r>
              <a:rPr lang="en-US" dirty="0"/>
              <a:t>have methods for sorting and searching arrays, as well as methods for comparing two arrays of elements of a basic type. </a:t>
            </a:r>
            <a:endParaRPr lang="en-US" dirty="0" smtClean="0"/>
          </a:p>
          <a:p>
            <a:pPr lvl="1" fontAlgn="base">
              <a:lnSpc>
                <a:spcPct val="150000"/>
              </a:lnSpc>
            </a:pPr>
            <a:r>
              <a:rPr lang="en-US" dirty="0" smtClean="0"/>
              <a:t>You </a:t>
            </a:r>
            <a:r>
              <a:rPr lang="en-US" dirty="0"/>
              <a:t>also have methods for filling arrays of elements with a given value. </a:t>
            </a:r>
            <a:endParaRPr lang="en-US" dirty="0" smtClean="0"/>
          </a:p>
          <a:p>
            <a:pPr lvl="1" fontAlgn="base">
              <a:lnSpc>
                <a:spcPct val="150000"/>
              </a:lnSpc>
            </a:pPr>
            <a:r>
              <a:rPr lang="en-US" dirty="0" smtClean="0"/>
              <a:t>Let's </a:t>
            </a:r>
            <a:r>
              <a:rPr lang="en-US" dirty="0"/>
              <a:t>look at the simplest method first, the fill() method for filling an array.</a:t>
            </a:r>
            <a:endParaRPr lang="en-US" dirty="0"/>
          </a:p>
        </p:txBody>
      </p:sp>
    </p:spTree>
    <p:extLst>
      <p:ext uri="{BB962C8B-B14F-4D97-AF65-F5344CB8AC3E}">
        <p14:creationId xmlns:p14="http://schemas.microsoft.com/office/powerpoint/2010/main" val="12550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Methods for Arrays</a:t>
            </a:r>
            <a:r>
              <a:rPr lang="en-US" dirty="0" smtClean="0"/>
              <a:t>:</a:t>
            </a:r>
            <a:endParaRPr lang="en-US" dirty="0"/>
          </a:p>
        </p:txBody>
      </p:sp>
      <p:sp>
        <p:nvSpPr>
          <p:cNvPr id="3" name="Content Placeholder 2"/>
          <p:cNvSpPr>
            <a:spLocks noGrp="1"/>
          </p:cNvSpPr>
          <p:nvPr>
            <p:ph sz="quarter" idx="1"/>
          </p:nvPr>
        </p:nvSpPr>
        <p:spPr>
          <a:xfrm>
            <a:off x="914400" y="1066800"/>
            <a:ext cx="7772400" cy="5486400"/>
          </a:xfrm>
        </p:spPr>
        <p:txBody>
          <a:bodyPr/>
          <a:lstStyle/>
          <a:p>
            <a:r>
              <a:rPr lang="en-US" b="1" dirty="0"/>
              <a:t>Filling an </a:t>
            </a:r>
            <a:r>
              <a:rPr lang="en-US" b="1" dirty="0"/>
              <a:t>Array</a:t>
            </a:r>
            <a:r>
              <a:rPr lang="en-US" b="1" dirty="0" smtClean="0"/>
              <a:t>:</a:t>
            </a:r>
          </a:p>
          <a:p>
            <a:pPr lvl="1"/>
            <a:r>
              <a:rPr lang="en-US" dirty="0" smtClean="0"/>
              <a:t>The </a:t>
            </a:r>
            <a:r>
              <a:rPr lang="en-US" dirty="0"/>
              <a:t>need to fill an array with a specific value arises quite </a:t>
            </a:r>
            <a:r>
              <a:rPr lang="en-US" dirty="0" smtClean="0"/>
              <a:t>often.</a:t>
            </a:r>
            <a:endParaRPr lang="en-US" dirty="0"/>
          </a:p>
          <a:p>
            <a:pPr lvl="1"/>
            <a:r>
              <a:rPr lang="en-US" dirty="0"/>
              <a:t>The fill() method comes in a number of overloaded versions of the form</a:t>
            </a:r>
            <a:r>
              <a:rPr lang="en-US" dirty="0" smtClean="0"/>
              <a:t>:</a:t>
            </a:r>
          </a:p>
          <a:p>
            <a:pPr lvl="1"/>
            <a:r>
              <a:rPr lang="en-US" b="1" dirty="0"/>
              <a:t>fill(type[] array, type value</a:t>
            </a:r>
            <a:r>
              <a:rPr lang="en-US" b="1" dirty="0" smtClean="0"/>
              <a:t>)</a:t>
            </a:r>
          </a:p>
          <a:p>
            <a:pPr lvl="1"/>
            <a:r>
              <a:rPr lang="en-US" dirty="0"/>
              <a:t>Here type is a placeholder for the types supported by various versions of the method</a:t>
            </a:r>
            <a:r>
              <a:rPr lang="en-US" dirty="0" smtClean="0"/>
              <a:t>.</a:t>
            </a:r>
          </a:p>
          <a:p>
            <a:pPr lvl="1"/>
            <a:r>
              <a:rPr lang="en-US" dirty="0" smtClean="0"/>
              <a:t> </a:t>
            </a:r>
            <a:r>
              <a:rPr lang="en-US" dirty="0"/>
              <a:t>The method stores value in each element of array. The return type is void so there is no return </a:t>
            </a:r>
            <a:r>
              <a:rPr lang="en-US" dirty="0" smtClean="0"/>
              <a:t>value.</a:t>
            </a:r>
          </a:p>
          <a:p>
            <a:pPr lvl="1"/>
            <a:r>
              <a:rPr lang="en-US" dirty="0" smtClean="0"/>
              <a:t>There </a:t>
            </a:r>
            <a:r>
              <a:rPr lang="en-US" dirty="0"/>
              <a:t>are versions supporting type as any of the following:</a:t>
            </a:r>
          </a:p>
        </p:txBody>
      </p:sp>
    </p:spTree>
    <p:extLst>
      <p:ext uri="{BB962C8B-B14F-4D97-AF65-F5344CB8AC3E}">
        <p14:creationId xmlns:p14="http://schemas.microsoft.com/office/powerpoint/2010/main" val="808535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Methods for Arrays:</a:t>
            </a:r>
          </a:p>
        </p:txBody>
      </p:sp>
      <p:sp>
        <p:nvSpPr>
          <p:cNvPr id="3" name="Content Placeholder 2"/>
          <p:cNvSpPr>
            <a:spLocks noGrp="1"/>
          </p:cNvSpPr>
          <p:nvPr>
            <p:ph sz="quarter" idx="1"/>
          </p:nvPr>
        </p:nvSpPr>
        <p:spPr>
          <a:xfrm>
            <a:off x="914400" y="990600"/>
            <a:ext cx="7772400" cy="5562600"/>
          </a:xfrm>
        </p:spPr>
        <p:txBody>
          <a:bodyPr>
            <a:normAutofit lnSpcReduction="10000"/>
          </a:bodyPr>
          <a:lstStyle/>
          <a:p>
            <a:r>
              <a:rPr lang="en-US" dirty="0" err="1"/>
              <a:t>boolean</a:t>
            </a:r>
            <a:r>
              <a:rPr lang="en-US" dirty="0"/>
              <a:t>    byte    char    float    </a:t>
            </a:r>
            <a:r>
              <a:rPr lang="en-US" dirty="0" smtClean="0"/>
              <a:t>double short    </a:t>
            </a:r>
            <a:r>
              <a:rPr lang="en-US" dirty="0" err="1"/>
              <a:t>int</a:t>
            </a:r>
            <a:r>
              <a:rPr lang="en-US" dirty="0"/>
              <a:t>    long    </a:t>
            </a:r>
            <a:r>
              <a:rPr lang="en-US" dirty="0" smtClean="0"/>
              <a:t>Object</a:t>
            </a:r>
          </a:p>
          <a:p>
            <a:r>
              <a:rPr lang="en-US" dirty="0"/>
              <a:t>Here's how you could fill an array of integers with a particular value</a:t>
            </a:r>
            <a:r>
              <a:rPr lang="en-US" dirty="0" smtClean="0"/>
              <a:t>:</a:t>
            </a:r>
          </a:p>
          <a:p>
            <a:r>
              <a:rPr lang="en-US" b="1" dirty="0"/>
              <a:t>long[] values = new </a:t>
            </a:r>
            <a:r>
              <a:rPr lang="en-US" b="1" dirty="0" smtClean="0"/>
              <a:t>long[10];</a:t>
            </a:r>
            <a:endParaRPr lang="en-US" b="1" dirty="0"/>
          </a:p>
          <a:p>
            <a:r>
              <a:rPr lang="en-US" b="1" dirty="0" err="1"/>
              <a:t>java.util.Arrays.fill</a:t>
            </a:r>
            <a:r>
              <a:rPr lang="en-US" b="1" dirty="0"/>
              <a:t>(values, 888L);  </a:t>
            </a:r>
            <a:endParaRPr lang="en-US" b="1" dirty="0" smtClean="0"/>
          </a:p>
          <a:p>
            <a:r>
              <a:rPr lang="en-US" dirty="0"/>
              <a:t>There is a further form of fill() method that accepts four arguments. This is of the form</a:t>
            </a:r>
            <a:r>
              <a:rPr lang="en-US" dirty="0" smtClean="0"/>
              <a:t>:</a:t>
            </a:r>
          </a:p>
          <a:p>
            <a:r>
              <a:rPr lang="en-US" b="1" dirty="0"/>
              <a:t>fill(type[] array, </a:t>
            </a:r>
            <a:r>
              <a:rPr lang="en-US" b="1" dirty="0" err="1"/>
              <a:t>int</a:t>
            </a:r>
            <a:r>
              <a:rPr lang="en-US" b="1" dirty="0"/>
              <a:t> </a:t>
            </a:r>
            <a:r>
              <a:rPr lang="en-US" b="1" dirty="0" err="1"/>
              <a:t>fromIndex</a:t>
            </a:r>
            <a:r>
              <a:rPr lang="en-US" b="1" dirty="0"/>
              <a:t>, </a:t>
            </a:r>
            <a:r>
              <a:rPr lang="en-US" b="1" dirty="0" err="1"/>
              <a:t>int</a:t>
            </a:r>
            <a:r>
              <a:rPr lang="en-US" b="1" dirty="0"/>
              <a:t> </a:t>
            </a:r>
            <a:r>
              <a:rPr lang="en-US" b="1" dirty="0" err="1"/>
              <a:t>toIndex</a:t>
            </a:r>
            <a:r>
              <a:rPr lang="en-US" b="1" dirty="0"/>
              <a:t>, type value</a:t>
            </a:r>
            <a:r>
              <a:rPr lang="en-US" b="1" dirty="0" smtClean="0"/>
              <a:t>)</a:t>
            </a:r>
          </a:p>
          <a:p>
            <a:r>
              <a:rPr lang="en-US" dirty="0"/>
              <a:t>This will fill part of array with value, starting at array[</a:t>
            </a:r>
            <a:r>
              <a:rPr lang="en-US" dirty="0" err="1"/>
              <a:t>fromIndex</a:t>
            </a:r>
            <a:r>
              <a:rPr lang="en-US" dirty="0"/>
              <a:t>] up to and including array[toIndex-1]. </a:t>
            </a:r>
            <a:endParaRPr lang="en-US" b="1" dirty="0"/>
          </a:p>
        </p:txBody>
      </p:sp>
    </p:spTree>
    <p:extLst>
      <p:ext uri="{BB962C8B-B14F-4D97-AF65-F5344CB8AC3E}">
        <p14:creationId xmlns:p14="http://schemas.microsoft.com/office/powerpoint/2010/main" val="2634686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4572000"/>
          </a:xfrm>
        </p:spPr>
        <p:txBody>
          <a:bodyPr/>
          <a:lstStyle/>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int</a:t>
            </a:r>
            <a:r>
              <a:rPr lang="en-US" dirty="0"/>
              <a:t> </a:t>
            </a:r>
            <a:r>
              <a:rPr lang="en-US" dirty="0" err="1"/>
              <a:t>arr</a:t>
            </a:r>
            <a:r>
              <a:rPr lang="en-US" dirty="0"/>
              <a:t>[] = new </a:t>
            </a:r>
            <a:r>
              <a:rPr lang="en-US" dirty="0" err="1"/>
              <a:t>int</a:t>
            </a:r>
            <a:r>
              <a:rPr lang="en-US" dirty="0"/>
              <a:t>[10];</a:t>
            </a:r>
          </a:p>
          <a:p>
            <a:pPr marL="0" indent="0">
              <a:buNone/>
            </a:pPr>
            <a:r>
              <a:rPr lang="en-US" dirty="0"/>
              <a:t>        </a:t>
            </a:r>
            <a:r>
              <a:rPr lang="en-US" b="1" dirty="0" err="1"/>
              <a:t>java.util.Arrays.fill</a:t>
            </a:r>
            <a:r>
              <a:rPr lang="en-US" b="1" dirty="0"/>
              <a:t>(</a:t>
            </a:r>
            <a:r>
              <a:rPr lang="en-US" b="1" dirty="0" err="1"/>
              <a:t>arr</a:t>
            </a:r>
            <a:r>
              <a:rPr lang="en-US" b="1" dirty="0"/>
              <a:t>, 10);</a:t>
            </a:r>
          </a:p>
          <a:p>
            <a:pPr marL="0" indent="0">
              <a:buNone/>
            </a:pPr>
            <a:r>
              <a:rPr lang="nn-NO" dirty="0"/>
              <a:t>        for (int i = 0; i &lt; arr.length; i++) {</a:t>
            </a:r>
          </a:p>
          <a:p>
            <a:pPr marL="0" indent="0">
              <a:buNone/>
            </a:pPr>
            <a:r>
              <a:rPr lang="en-US" dirty="0"/>
              <a:t>            </a:t>
            </a:r>
            <a:r>
              <a:rPr lang="en-US" dirty="0" err="1"/>
              <a:t>System.out.println</a:t>
            </a:r>
            <a:r>
              <a:rPr lang="en-US" dirty="0"/>
              <a:t>(</a:t>
            </a:r>
            <a:r>
              <a:rPr lang="en-US" dirty="0" err="1"/>
              <a:t>arr</a:t>
            </a:r>
            <a:r>
              <a:rPr lang="en-US" dirty="0"/>
              <a:t>[</a:t>
            </a:r>
            <a:r>
              <a:rPr lang="en-US" dirty="0" err="1"/>
              <a:t>i</a:t>
            </a:r>
            <a:r>
              <a:rPr lang="en-US" dirty="0"/>
              <a:t>]);</a:t>
            </a:r>
          </a:p>
          <a:p>
            <a:pPr marL="0" indent="0">
              <a:buNone/>
            </a:pPr>
            <a:r>
              <a:rPr lang="en" dirty="0"/>
              <a:t>        }</a:t>
            </a:r>
          </a:p>
          <a:p>
            <a:pPr marL="0" indent="0">
              <a:buNone/>
            </a:pPr>
            <a:r>
              <a:rPr lang="en" dirty="0"/>
              <a:t>    }</a:t>
            </a:r>
          </a:p>
          <a:p>
            <a:pPr marL="0" indent="0">
              <a:buNone/>
            </a:pPr>
            <a:r>
              <a:rPr lang="en" dirty="0"/>
              <a:t>}</a:t>
            </a:r>
          </a:p>
          <a:p>
            <a:endParaRPr lang="en-US" dirty="0"/>
          </a:p>
        </p:txBody>
      </p:sp>
    </p:spTree>
    <p:extLst>
      <p:ext uri="{BB962C8B-B14F-4D97-AF65-F5344CB8AC3E}">
        <p14:creationId xmlns:p14="http://schemas.microsoft.com/office/powerpoint/2010/main" val="44890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Arrays</a:t>
            </a:r>
          </a:p>
        </p:txBody>
      </p:sp>
      <p:sp>
        <p:nvSpPr>
          <p:cNvPr id="3" name="Content Placeholder 2"/>
          <p:cNvSpPr>
            <a:spLocks noGrp="1"/>
          </p:cNvSpPr>
          <p:nvPr>
            <p:ph sz="quarter" idx="1"/>
          </p:nvPr>
        </p:nvSpPr>
        <p:spPr>
          <a:xfrm>
            <a:off x="914400" y="1143000"/>
            <a:ext cx="7772400" cy="5410200"/>
          </a:xfrm>
        </p:spPr>
        <p:txBody>
          <a:bodyPr>
            <a:normAutofit lnSpcReduction="10000"/>
          </a:bodyPr>
          <a:lstStyle/>
          <a:p>
            <a:r>
              <a:rPr lang="en-US" dirty="0"/>
              <a:t>There are nine overloaded versions of the static </a:t>
            </a:r>
            <a:r>
              <a:rPr lang="en-US" b="1" dirty="0"/>
              <a:t>equals() </a:t>
            </a:r>
            <a:r>
              <a:rPr lang="en-US" dirty="0"/>
              <a:t>method for comparing arrays defined in the Arrays class, one for each of the types that apply to the fill() method. All versions of equals() are of the form: </a:t>
            </a:r>
            <a:endParaRPr lang="en-US" dirty="0" smtClean="0"/>
          </a:p>
          <a:p>
            <a:r>
              <a:rPr lang="en-US" b="1" dirty="0" err="1"/>
              <a:t>boolean</a:t>
            </a:r>
            <a:r>
              <a:rPr lang="en-US" b="1" dirty="0"/>
              <a:t> equals(type[] array1, type[] array2</a:t>
            </a:r>
            <a:r>
              <a:rPr lang="en-US" b="1" dirty="0" smtClean="0"/>
              <a:t>)</a:t>
            </a:r>
          </a:p>
          <a:p>
            <a:r>
              <a:rPr lang="en-US" dirty="0"/>
              <a:t>The method returns true if array1 is equal to array2 and false otherwise</a:t>
            </a:r>
            <a:r>
              <a:rPr lang="en-US" dirty="0" smtClean="0"/>
              <a:t>.</a:t>
            </a:r>
          </a:p>
          <a:p>
            <a:r>
              <a:rPr lang="en-US" dirty="0" smtClean="0"/>
              <a:t> </a:t>
            </a:r>
            <a:r>
              <a:rPr lang="en-US" dirty="0"/>
              <a:t>The two arrays are equal if they contain the same number of elements and the values of all corresponding elements in the two arrays are equal. If array1 and array2 are both null, they are also considered to be equal.</a:t>
            </a:r>
            <a:endParaRPr lang="en-US" b="1" dirty="0"/>
          </a:p>
        </p:txBody>
      </p:sp>
    </p:spTree>
    <p:extLst>
      <p:ext uri="{BB962C8B-B14F-4D97-AF65-F5344CB8AC3E}">
        <p14:creationId xmlns:p14="http://schemas.microsoft.com/office/powerpoint/2010/main" val="3234374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5562600"/>
          </a:xfrm>
        </p:spPr>
        <p:txBody>
          <a:bodyPr>
            <a:normAutofit lnSpcReduction="10000"/>
          </a:bodyPr>
          <a:lstStyle/>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 dirty="0"/>
              <a:t>   </a:t>
            </a:r>
          </a:p>
          <a:p>
            <a:pPr marL="0" indent="0">
              <a:buNone/>
            </a:pPr>
            <a:r>
              <a:rPr lang="en-US" dirty="0"/>
              <a:t>    String[] numbers = {"one", "two", "three", "four"};</a:t>
            </a:r>
          </a:p>
          <a:p>
            <a:pPr marL="0" indent="0">
              <a:buNone/>
            </a:pPr>
            <a:r>
              <a:rPr lang="en-US" dirty="0"/>
              <a:t>    String[] values = {"one", "two", "three", "four" };</a:t>
            </a:r>
          </a:p>
          <a:p>
            <a:pPr marL="0" indent="0">
              <a:buNone/>
            </a:pPr>
            <a:r>
              <a:rPr lang="en-US" dirty="0"/>
              <a:t>    if(</a:t>
            </a:r>
            <a:r>
              <a:rPr lang="en-US" dirty="0" err="1"/>
              <a:t>java.util.Arrays.equals</a:t>
            </a:r>
            <a:r>
              <a:rPr lang="en-US" dirty="0"/>
              <a:t>(numbers, values)) {</a:t>
            </a:r>
          </a:p>
          <a:p>
            <a:pPr marL="0" indent="0">
              <a:buNone/>
            </a:pPr>
            <a:r>
              <a:rPr lang="en-US" dirty="0"/>
              <a:t>    </a:t>
            </a:r>
            <a:r>
              <a:rPr lang="en-US" dirty="0" err="1"/>
              <a:t>System.out.println</a:t>
            </a:r>
            <a:r>
              <a:rPr lang="en-US" dirty="0"/>
              <a:t>("The arrays are equal");</a:t>
            </a:r>
          </a:p>
          <a:p>
            <a:pPr marL="0" indent="0">
              <a:buNone/>
            </a:pPr>
            <a:r>
              <a:rPr lang="en-US" dirty="0"/>
              <a:t>    } else {</a:t>
            </a:r>
          </a:p>
          <a:p>
            <a:pPr marL="0" indent="0">
              <a:buNone/>
            </a:pPr>
            <a:r>
              <a:rPr lang="en-US" dirty="0"/>
              <a:t>    </a:t>
            </a:r>
            <a:r>
              <a:rPr lang="en-US" dirty="0" err="1"/>
              <a:t>System.out.println</a:t>
            </a:r>
            <a:r>
              <a:rPr lang="en-US" dirty="0"/>
              <a:t>("The arrays are not equal");</a:t>
            </a:r>
          </a:p>
          <a:p>
            <a:pPr marL="0" indent="0">
              <a:buNone/>
            </a:pPr>
            <a:r>
              <a:rPr lang="en" dirty="0"/>
              <a:t>    }</a:t>
            </a:r>
          </a:p>
          <a:p>
            <a:pPr marL="0" indent="0">
              <a:buNone/>
            </a:pPr>
            <a:r>
              <a:rPr lang="en" dirty="0"/>
              <a:t>    }</a:t>
            </a:r>
          </a:p>
          <a:p>
            <a:pPr marL="0" indent="0">
              <a:buNone/>
            </a:pPr>
            <a:r>
              <a:rPr lang="en" dirty="0"/>
              <a:t>}</a:t>
            </a:r>
          </a:p>
        </p:txBody>
      </p:sp>
    </p:spTree>
    <p:extLst>
      <p:ext uri="{BB962C8B-B14F-4D97-AF65-F5344CB8AC3E}">
        <p14:creationId xmlns:p14="http://schemas.microsoft.com/office/powerpoint/2010/main" val="4120976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Arrays</a:t>
            </a:r>
          </a:p>
        </p:txBody>
      </p:sp>
      <p:sp>
        <p:nvSpPr>
          <p:cNvPr id="3" name="Content Placeholder 2"/>
          <p:cNvSpPr>
            <a:spLocks noGrp="1"/>
          </p:cNvSpPr>
          <p:nvPr>
            <p:ph sz="quarter" idx="1"/>
          </p:nvPr>
        </p:nvSpPr>
        <p:spPr>
          <a:xfrm>
            <a:off x="914400" y="1066800"/>
            <a:ext cx="7772400" cy="5334000"/>
          </a:xfrm>
        </p:spPr>
        <p:txBody>
          <a:bodyPr/>
          <a:lstStyle/>
          <a:p>
            <a:r>
              <a:rPr lang="en-US" dirty="0"/>
              <a:t>The static sort() method in the Arrays class will sort the elements of an array that you pass as the argument into ascending </a:t>
            </a:r>
            <a:r>
              <a:rPr lang="en-US" dirty="0" smtClean="0"/>
              <a:t>sequence</a:t>
            </a:r>
          </a:p>
          <a:p>
            <a:r>
              <a:rPr lang="en-US" dirty="0"/>
              <a:t>void sort(type[] array) </a:t>
            </a:r>
            <a:endParaRPr lang="en-US" dirty="0" smtClean="0"/>
          </a:p>
          <a:p>
            <a:r>
              <a:rPr lang="en-US" dirty="0" smtClean="0"/>
              <a:t>void </a:t>
            </a:r>
            <a:r>
              <a:rPr lang="en-US" dirty="0"/>
              <a:t>sort(type[] array, </a:t>
            </a:r>
            <a:r>
              <a:rPr lang="en-US" dirty="0" err="1"/>
              <a:t>int</a:t>
            </a:r>
            <a:r>
              <a:rPr lang="en-US" dirty="0"/>
              <a:t> </a:t>
            </a:r>
            <a:r>
              <a:rPr lang="en-US" dirty="0" err="1"/>
              <a:t>fromIndex</a:t>
            </a:r>
            <a:r>
              <a:rPr lang="en-US" dirty="0"/>
              <a:t>, </a:t>
            </a:r>
            <a:r>
              <a:rPr lang="en-US" dirty="0" err="1"/>
              <a:t>int</a:t>
            </a:r>
            <a:r>
              <a:rPr lang="en-US" dirty="0"/>
              <a:t> </a:t>
            </a:r>
            <a:r>
              <a:rPr lang="en-US" dirty="0" err="1"/>
              <a:t>toIndex</a:t>
            </a:r>
            <a:r>
              <a:rPr lang="en-US" dirty="0" smtClean="0"/>
              <a:t>)</a:t>
            </a:r>
          </a:p>
          <a:p>
            <a:r>
              <a:rPr lang="en-US" dirty="0"/>
              <a:t>The first variety sorts the entire array into ascending sequence</a:t>
            </a:r>
            <a:r>
              <a:rPr lang="en-US" dirty="0" smtClean="0"/>
              <a:t>.</a:t>
            </a:r>
          </a:p>
          <a:p>
            <a:r>
              <a:rPr lang="en-US" dirty="0" smtClean="0"/>
              <a:t> </a:t>
            </a:r>
            <a:r>
              <a:rPr lang="en-US" dirty="0"/>
              <a:t>The second variety sorts the elements from array[</a:t>
            </a:r>
            <a:r>
              <a:rPr lang="en-US" dirty="0" err="1"/>
              <a:t>fromIndex</a:t>
            </a:r>
            <a:r>
              <a:rPr lang="en-US" dirty="0"/>
              <a:t>] to array [toIndex-1] into ascending sequence</a:t>
            </a:r>
          </a:p>
        </p:txBody>
      </p:sp>
    </p:spTree>
    <p:extLst>
      <p:ext uri="{BB962C8B-B14F-4D97-AF65-F5344CB8AC3E}">
        <p14:creationId xmlns:p14="http://schemas.microsoft.com/office/powerpoint/2010/main" val="1028201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5486400"/>
          </a:xfrm>
        </p:spPr>
        <p:txBody>
          <a:bodyPr>
            <a:normAutofit lnSpcReduction="10000"/>
          </a:bodyPr>
          <a:lstStyle/>
          <a:p>
            <a:pPr marL="0" indent="0">
              <a:buNone/>
            </a:pPr>
            <a:r>
              <a:rPr lang="en-US" dirty="0"/>
              <a:t> public static void main(String[] </a:t>
            </a:r>
            <a:r>
              <a:rPr lang="en-US" dirty="0" err="1"/>
              <a:t>args</a:t>
            </a:r>
            <a:r>
              <a:rPr lang="en-US" dirty="0"/>
              <a:t>) {</a:t>
            </a:r>
          </a:p>
          <a:p>
            <a:pPr marL="0" indent="0">
              <a:buNone/>
            </a:pPr>
            <a:r>
              <a:rPr lang="en" dirty="0"/>
              <a:t>   </a:t>
            </a:r>
          </a:p>
          <a:p>
            <a:pPr marL="0" indent="0">
              <a:buNone/>
            </a:pPr>
            <a:r>
              <a:rPr lang="en-US" dirty="0"/>
              <a:t>    String[] numbers = {"one", "two", "three", "four", "five",</a:t>
            </a:r>
          </a:p>
          <a:p>
            <a:pPr marL="0" indent="0">
              <a:buNone/>
            </a:pPr>
            <a:r>
              <a:rPr lang="en-US" dirty="0"/>
              <a:t>"six", "seven", "eight"};</a:t>
            </a:r>
          </a:p>
          <a:p>
            <a:pPr marL="0" indent="0">
              <a:buNone/>
            </a:pPr>
            <a:r>
              <a:rPr lang="en-US" dirty="0" err="1"/>
              <a:t>java.util.Arrays.sort</a:t>
            </a:r>
            <a:r>
              <a:rPr lang="en-US" dirty="0"/>
              <a:t>(numbers);</a:t>
            </a:r>
          </a:p>
          <a:p>
            <a:pPr marL="0" indent="0">
              <a:buNone/>
            </a:pPr>
            <a:r>
              <a:rPr lang="en-US" dirty="0"/>
              <a:t>for(</a:t>
            </a:r>
            <a:r>
              <a:rPr lang="en-US" dirty="0" err="1"/>
              <a:t>int</a:t>
            </a:r>
            <a:r>
              <a:rPr lang="en-US" dirty="0"/>
              <a:t> </a:t>
            </a:r>
            <a:r>
              <a:rPr lang="en-US" dirty="0" err="1"/>
              <a:t>i</a:t>
            </a:r>
            <a:r>
              <a:rPr lang="en-US" dirty="0"/>
              <a:t>=0;i&lt;</a:t>
            </a:r>
            <a:r>
              <a:rPr lang="en-US" dirty="0" err="1"/>
              <a:t>numbers.length;i</a:t>
            </a:r>
            <a:r>
              <a:rPr lang="en-US" dirty="0"/>
              <a:t>++)</a:t>
            </a:r>
          </a:p>
          <a:p>
            <a:pPr marL="0" indent="0">
              <a:buNone/>
            </a:pPr>
            <a:r>
              <a:rPr lang="en" dirty="0"/>
              <a:t>{</a:t>
            </a:r>
          </a:p>
          <a:p>
            <a:pPr marL="0" indent="0">
              <a:buNone/>
            </a:pPr>
            <a:r>
              <a:rPr lang="en-US" dirty="0"/>
              <a:t>    </a:t>
            </a:r>
            <a:r>
              <a:rPr lang="en-US" dirty="0" err="1"/>
              <a:t>System.out.println</a:t>
            </a:r>
            <a:r>
              <a:rPr lang="en-US" dirty="0"/>
              <a:t>(numbers[</a:t>
            </a:r>
            <a:r>
              <a:rPr lang="en-US" dirty="0" err="1"/>
              <a:t>i</a:t>
            </a:r>
            <a:r>
              <a:rPr lang="en-US" dirty="0"/>
              <a:t>]);</a:t>
            </a:r>
          </a:p>
          <a:p>
            <a:pPr marL="0" indent="0">
              <a:buNone/>
            </a:pPr>
            <a:r>
              <a:rPr lang="en" dirty="0"/>
              <a:t>}</a:t>
            </a:r>
          </a:p>
          <a:p>
            <a:pPr marL="0" indent="0">
              <a:buNone/>
            </a:pPr>
            <a:r>
              <a:rPr lang="en" dirty="0"/>
              <a:t>    }</a:t>
            </a:r>
          </a:p>
          <a:p>
            <a:pPr marL="0" indent="0">
              <a:buNone/>
            </a:pPr>
            <a:r>
              <a:rPr lang="en" dirty="0"/>
              <a:t>}</a:t>
            </a:r>
            <a:endParaRPr lang="en-US" dirty="0"/>
          </a:p>
        </p:txBody>
      </p:sp>
    </p:spTree>
    <p:extLst>
      <p:ext uri="{BB962C8B-B14F-4D97-AF65-F5344CB8AC3E}">
        <p14:creationId xmlns:p14="http://schemas.microsoft.com/office/powerpoint/2010/main" val="2542093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Arrays</a:t>
            </a:r>
          </a:p>
        </p:txBody>
      </p:sp>
      <p:sp>
        <p:nvSpPr>
          <p:cNvPr id="3" name="Content Placeholder 2"/>
          <p:cNvSpPr>
            <a:spLocks noGrp="1"/>
          </p:cNvSpPr>
          <p:nvPr>
            <p:ph sz="quarter" idx="1"/>
          </p:nvPr>
        </p:nvSpPr>
        <p:spPr>
          <a:xfrm>
            <a:off x="914400" y="1066800"/>
            <a:ext cx="7772400" cy="5562600"/>
          </a:xfrm>
        </p:spPr>
        <p:txBody>
          <a:bodyPr>
            <a:normAutofit/>
          </a:bodyPr>
          <a:lstStyle/>
          <a:p>
            <a:r>
              <a:rPr lang="en-US" dirty="0"/>
              <a:t>The static </a:t>
            </a:r>
            <a:r>
              <a:rPr lang="en-US" dirty="0" err="1"/>
              <a:t>binarySearch</a:t>
            </a:r>
            <a:r>
              <a:rPr lang="en-US" dirty="0"/>
              <a:t>() method in the Arrays class will search the elements of a sorted array for a given value using the binary search algorithm</a:t>
            </a:r>
            <a:r>
              <a:rPr lang="en-US" dirty="0" smtClean="0"/>
              <a:t>.</a:t>
            </a:r>
          </a:p>
          <a:p>
            <a:r>
              <a:rPr lang="en-US" dirty="0" smtClean="0"/>
              <a:t> </a:t>
            </a:r>
            <a:r>
              <a:rPr lang="en-US" dirty="0"/>
              <a:t>This works only if the elements of the array are in ascending sequence, so if they are not, you should call the sort() method to sort the array in ascending sequence before calling the </a:t>
            </a:r>
            <a:r>
              <a:rPr lang="en-US" dirty="0" err="1"/>
              <a:t>binarySearch</a:t>
            </a:r>
            <a:r>
              <a:rPr lang="en-US" dirty="0"/>
              <a:t>() </a:t>
            </a:r>
            <a:r>
              <a:rPr lang="en-US" dirty="0" smtClean="0"/>
              <a:t>method</a:t>
            </a:r>
          </a:p>
          <a:p>
            <a:r>
              <a:rPr lang="en-US" dirty="0"/>
              <a:t>You have eight overloaded versions of the </a:t>
            </a:r>
            <a:r>
              <a:rPr lang="en-US" dirty="0" err="1"/>
              <a:t>binarySearch</a:t>
            </a:r>
            <a:r>
              <a:rPr lang="en-US" dirty="0"/>
              <a:t>() method supporting the same range of types that you saw with the fill() method earlier. The </a:t>
            </a:r>
            <a:r>
              <a:rPr lang="en-US" dirty="0" err="1"/>
              <a:t>boolean</a:t>
            </a:r>
            <a:r>
              <a:rPr lang="en-US" dirty="0"/>
              <a:t> type is not supported by the </a:t>
            </a:r>
            <a:r>
              <a:rPr lang="en-US" dirty="0" err="1"/>
              <a:t>binarySearch</a:t>
            </a:r>
            <a:r>
              <a:rPr lang="en-US" dirty="0"/>
              <a:t>() method</a:t>
            </a:r>
            <a:r>
              <a:rPr lang="en-US" dirty="0" smtClean="0"/>
              <a:t>:</a:t>
            </a:r>
          </a:p>
          <a:p>
            <a:r>
              <a:rPr lang="en-US" b="1" dirty="0" err="1"/>
              <a:t>binarySearch</a:t>
            </a:r>
            <a:r>
              <a:rPr lang="en-US" b="1" dirty="0"/>
              <a:t>(type[] array, type value)</a:t>
            </a:r>
          </a:p>
        </p:txBody>
      </p:sp>
    </p:spTree>
    <p:extLst>
      <p:ext uri="{BB962C8B-B14F-4D97-AF65-F5344CB8AC3E}">
        <p14:creationId xmlns:p14="http://schemas.microsoft.com/office/powerpoint/2010/main" val="798657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3263" y="990600"/>
            <a:ext cx="7772400" cy="5715000"/>
          </a:xfrm>
        </p:spPr>
        <p:txBody>
          <a:bodyPr>
            <a:normAutofit fontScale="85000" lnSpcReduction="10000"/>
          </a:bodyPr>
          <a:lstStyle/>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 dirty="0"/>
              <a:t>   </a:t>
            </a:r>
          </a:p>
          <a:p>
            <a:pPr marL="0" indent="0">
              <a:buNone/>
            </a:pPr>
            <a:r>
              <a:rPr lang="en-US" dirty="0"/>
              <a:t>    String[] numbers = {"one", "two", "three", "four", "five",</a:t>
            </a:r>
          </a:p>
          <a:p>
            <a:pPr marL="0" indent="0">
              <a:buNone/>
            </a:pPr>
            <a:r>
              <a:rPr lang="en-US" dirty="0"/>
              <a:t>"six", "seven", "eight"};</a:t>
            </a:r>
          </a:p>
          <a:p>
            <a:pPr marL="0" indent="0">
              <a:buNone/>
            </a:pPr>
            <a:r>
              <a:rPr lang="en-US" dirty="0" err="1"/>
              <a:t>java.util.Arrays.sort</a:t>
            </a:r>
            <a:r>
              <a:rPr lang="en-US" dirty="0"/>
              <a:t>(numbers);</a:t>
            </a:r>
          </a:p>
          <a:p>
            <a:pPr marL="0" indent="0">
              <a:buNone/>
            </a:pPr>
            <a:endParaRPr lang="en" dirty="0"/>
          </a:p>
          <a:p>
            <a:pPr marL="0" indent="0">
              <a:buNone/>
            </a:pPr>
            <a:r>
              <a:rPr lang="en-US" dirty="0"/>
              <a:t>for(</a:t>
            </a:r>
            <a:r>
              <a:rPr lang="en-US" dirty="0" err="1"/>
              <a:t>int</a:t>
            </a:r>
            <a:r>
              <a:rPr lang="en-US" dirty="0"/>
              <a:t> </a:t>
            </a:r>
            <a:r>
              <a:rPr lang="en-US" dirty="0" err="1"/>
              <a:t>i</a:t>
            </a:r>
            <a:r>
              <a:rPr lang="en-US" dirty="0"/>
              <a:t>=0;i&lt;</a:t>
            </a:r>
            <a:r>
              <a:rPr lang="en-US" dirty="0" err="1"/>
              <a:t>numbers.length;i</a:t>
            </a:r>
            <a:r>
              <a:rPr lang="en-US" dirty="0"/>
              <a:t>++)</a:t>
            </a:r>
          </a:p>
          <a:p>
            <a:pPr marL="0" indent="0">
              <a:buNone/>
            </a:pPr>
            <a:r>
              <a:rPr lang="en" dirty="0"/>
              <a:t>{</a:t>
            </a:r>
          </a:p>
          <a:p>
            <a:pPr marL="0" indent="0">
              <a:buNone/>
            </a:pPr>
            <a:r>
              <a:rPr lang="en-US" dirty="0"/>
              <a:t>    </a:t>
            </a:r>
            <a:r>
              <a:rPr lang="en-US" dirty="0" err="1"/>
              <a:t>System.out.println</a:t>
            </a:r>
            <a:r>
              <a:rPr lang="en-US" dirty="0"/>
              <a:t>(numbers[</a:t>
            </a:r>
            <a:r>
              <a:rPr lang="en-US" dirty="0" err="1"/>
              <a:t>i</a:t>
            </a:r>
            <a:r>
              <a:rPr lang="en-US" dirty="0"/>
              <a:t>]);</a:t>
            </a:r>
          </a:p>
          <a:p>
            <a:pPr marL="0" indent="0">
              <a:buNone/>
            </a:pPr>
            <a:r>
              <a:rPr lang="en" dirty="0"/>
              <a:t>}</a:t>
            </a:r>
          </a:p>
          <a:p>
            <a:pPr marL="0" indent="0">
              <a:buNone/>
            </a:pPr>
            <a:r>
              <a:rPr lang="en-US" dirty="0" err="1"/>
              <a:t>int</a:t>
            </a:r>
            <a:r>
              <a:rPr lang="en-US" dirty="0"/>
              <a:t> position = </a:t>
            </a:r>
            <a:r>
              <a:rPr lang="en-US" dirty="0" err="1"/>
              <a:t>java.util.Arrays.binarySearch</a:t>
            </a:r>
            <a:r>
              <a:rPr lang="en-US" dirty="0"/>
              <a:t>(numbers, "three");</a:t>
            </a:r>
          </a:p>
          <a:p>
            <a:pPr marL="0" indent="0">
              <a:buNone/>
            </a:pPr>
            <a:r>
              <a:rPr lang="en-US" dirty="0" err="1"/>
              <a:t>System.out.println</a:t>
            </a:r>
            <a:r>
              <a:rPr lang="en-US" dirty="0"/>
              <a:t>(position);</a:t>
            </a:r>
          </a:p>
          <a:p>
            <a:pPr marL="0" indent="0">
              <a:buNone/>
            </a:pPr>
            <a:r>
              <a:rPr lang="en" dirty="0"/>
              <a:t>    }</a:t>
            </a:r>
          </a:p>
          <a:p>
            <a:pPr marL="0" indent="0">
              <a:buNone/>
            </a:pPr>
            <a:r>
              <a:rPr lang="en" dirty="0"/>
              <a:t>}</a:t>
            </a:r>
          </a:p>
          <a:p>
            <a:endParaRPr lang="en-US" dirty="0"/>
          </a:p>
        </p:txBody>
      </p:sp>
    </p:spTree>
    <p:extLst>
      <p:ext uri="{BB962C8B-B14F-4D97-AF65-F5344CB8AC3E}">
        <p14:creationId xmlns:p14="http://schemas.microsoft.com/office/powerpoint/2010/main" val="354099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Date Class</a:t>
            </a:r>
          </a:p>
        </p:txBody>
      </p:sp>
      <p:sp>
        <p:nvSpPr>
          <p:cNvPr id="3" name="Content Placeholder 2"/>
          <p:cNvSpPr>
            <a:spLocks noGrp="1"/>
          </p:cNvSpPr>
          <p:nvPr>
            <p:ph sz="quarter" idx="1"/>
          </p:nvPr>
        </p:nvSpPr>
        <p:spPr>
          <a:xfrm>
            <a:off x="914400" y="1066800"/>
            <a:ext cx="7772400" cy="5334000"/>
          </a:xfrm>
        </p:spPr>
        <p:txBody>
          <a:bodyPr>
            <a:normAutofit/>
          </a:bodyPr>
          <a:lstStyle/>
          <a:p>
            <a:r>
              <a:rPr lang="en-US" dirty="0"/>
              <a:t>With the Date class you can create an object that represents a given date and time. </a:t>
            </a:r>
            <a:endParaRPr lang="en-US" dirty="0" smtClean="0"/>
          </a:p>
          <a:p>
            <a:r>
              <a:rPr lang="en-US" dirty="0" smtClean="0"/>
              <a:t>You </a:t>
            </a:r>
            <a:r>
              <a:rPr lang="en-US" dirty="0"/>
              <a:t>have two ways to do this using the following constructors: </a:t>
            </a:r>
            <a:endParaRPr lang="en-US" dirty="0" smtClean="0"/>
          </a:p>
          <a:p>
            <a:r>
              <a:rPr lang="en-US" b="1" dirty="0"/>
              <a:t>Date() </a:t>
            </a:r>
            <a:r>
              <a:rPr lang="en-US" b="1" dirty="0" smtClean="0"/>
              <a:t>:</a:t>
            </a:r>
          </a:p>
          <a:p>
            <a:pPr lvl="1"/>
            <a:r>
              <a:rPr lang="en-US" dirty="0"/>
              <a:t>Creates an object based on the current time of your computer clock to the nearest </a:t>
            </a:r>
            <a:r>
              <a:rPr lang="en-US" dirty="0" smtClean="0"/>
              <a:t>millisecond</a:t>
            </a:r>
          </a:p>
          <a:p>
            <a:r>
              <a:rPr lang="en-US" b="1" dirty="0"/>
              <a:t>Date(long time</a:t>
            </a:r>
            <a:r>
              <a:rPr lang="en-US" b="1" dirty="0" smtClean="0"/>
              <a:t>):</a:t>
            </a:r>
          </a:p>
          <a:p>
            <a:pPr lvl="1"/>
            <a:r>
              <a:rPr lang="en-US" dirty="0"/>
              <a:t>Creates an object based on the time value in milliseconds since 00:00:00 GMT on January 1, 1970 that is passed as an argument </a:t>
            </a:r>
            <a:endParaRPr lang="en-US" b="1" dirty="0"/>
          </a:p>
        </p:txBody>
      </p:sp>
    </p:spTree>
    <p:extLst>
      <p:ext uri="{BB962C8B-B14F-4D97-AF65-F5344CB8AC3E}">
        <p14:creationId xmlns:p14="http://schemas.microsoft.com/office/powerpoint/2010/main" val="931674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Date Class</a:t>
            </a:r>
          </a:p>
        </p:txBody>
      </p:sp>
      <p:sp>
        <p:nvSpPr>
          <p:cNvPr id="3" name="Content Placeholder 2"/>
          <p:cNvSpPr>
            <a:spLocks noGrp="1"/>
          </p:cNvSpPr>
          <p:nvPr>
            <p:ph sz="quarter" idx="1"/>
          </p:nvPr>
        </p:nvSpPr>
        <p:spPr>
          <a:xfrm>
            <a:off x="914400" y="990600"/>
            <a:ext cx="7772400" cy="5562600"/>
          </a:xfrm>
        </p:spPr>
        <p:txBody>
          <a:bodyPr>
            <a:normAutofit lnSpcReduction="10000"/>
          </a:bodyPr>
          <a:lstStyle/>
          <a:p>
            <a:r>
              <a:rPr lang="en-US" dirty="0"/>
              <a:t>The Date class provides four methods for comparing Date objects</a:t>
            </a:r>
            <a:r>
              <a:rPr lang="en-US" dirty="0" smtClean="0"/>
              <a:t>:</a:t>
            </a:r>
          </a:p>
          <a:p>
            <a:r>
              <a:rPr lang="en-US" b="1" dirty="0"/>
              <a:t>after(Date earlier) </a:t>
            </a:r>
            <a:r>
              <a:rPr lang="en-US" b="1" dirty="0" smtClean="0"/>
              <a:t>:</a:t>
            </a:r>
          </a:p>
          <a:p>
            <a:pPr lvl="1"/>
            <a:r>
              <a:rPr lang="en-US" dirty="0"/>
              <a:t>Returns true if the current object represents a date that’s later than the date represented by the argument earlier, and false otherwise</a:t>
            </a:r>
            <a:r>
              <a:rPr lang="en-US" dirty="0" smtClean="0"/>
              <a:t>.</a:t>
            </a:r>
          </a:p>
          <a:p>
            <a:r>
              <a:rPr lang="en-US" b="1" dirty="0"/>
              <a:t>before(Date later) </a:t>
            </a:r>
            <a:r>
              <a:rPr lang="en-US" b="1" dirty="0" smtClean="0"/>
              <a:t>:</a:t>
            </a:r>
          </a:p>
          <a:p>
            <a:pPr lvl="1"/>
            <a:r>
              <a:rPr lang="en-US" dirty="0"/>
              <a:t>Returns true if the current object represents a date that’s earlier than the date represented by the argument later, and false </a:t>
            </a:r>
            <a:r>
              <a:rPr lang="en-US" dirty="0" smtClean="0"/>
              <a:t>otherwise</a:t>
            </a:r>
          </a:p>
          <a:p>
            <a:r>
              <a:rPr lang="en-US" b="1" dirty="0"/>
              <a:t>equals(Object </a:t>
            </a:r>
            <a:r>
              <a:rPr lang="en-US" b="1" dirty="0" err="1"/>
              <a:t>aDate</a:t>
            </a:r>
            <a:r>
              <a:rPr lang="en-US" b="1" dirty="0"/>
              <a:t>) </a:t>
            </a:r>
            <a:r>
              <a:rPr lang="en-US" b="1" dirty="0" smtClean="0"/>
              <a:t>:</a:t>
            </a:r>
          </a:p>
          <a:p>
            <a:pPr lvl="1"/>
            <a:r>
              <a:rPr lang="en-US" dirty="0"/>
              <a:t>Returns true if the current object and the argument represent the same date and time, and false otherwise. This implies that they would both return the same value from </a:t>
            </a:r>
            <a:r>
              <a:rPr lang="en-US" dirty="0" err="1"/>
              <a:t>getTime</a:t>
            </a:r>
            <a:r>
              <a:rPr lang="en-US" dirty="0"/>
              <a:t>().</a:t>
            </a:r>
            <a:endParaRPr lang="en-US" b="1" dirty="0"/>
          </a:p>
        </p:txBody>
      </p:sp>
    </p:spTree>
    <p:extLst>
      <p:ext uri="{BB962C8B-B14F-4D97-AF65-F5344CB8AC3E}">
        <p14:creationId xmlns:p14="http://schemas.microsoft.com/office/powerpoint/2010/main" val="2107798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Date Class</a:t>
            </a:r>
          </a:p>
        </p:txBody>
      </p:sp>
      <p:sp>
        <p:nvSpPr>
          <p:cNvPr id="3" name="Content Placeholder 2"/>
          <p:cNvSpPr>
            <a:spLocks noGrp="1"/>
          </p:cNvSpPr>
          <p:nvPr>
            <p:ph sz="quarter" idx="1"/>
          </p:nvPr>
        </p:nvSpPr>
        <p:spPr>
          <a:xfrm>
            <a:off x="922361" y="1066800"/>
            <a:ext cx="7772400" cy="4572000"/>
          </a:xfrm>
        </p:spPr>
        <p:txBody>
          <a:bodyPr/>
          <a:lstStyle/>
          <a:p>
            <a:r>
              <a:rPr lang="en-US" b="1" dirty="0" err="1"/>
              <a:t>compareTo</a:t>
            </a:r>
            <a:r>
              <a:rPr lang="en-US" b="1" dirty="0"/>
              <a:t>(Date date</a:t>
            </a:r>
            <a:r>
              <a:rPr lang="en-US" b="1" dirty="0" smtClean="0"/>
              <a:t>):</a:t>
            </a:r>
          </a:p>
          <a:p>
            <a:pPr lvl="1"/>
            <a:r>
              <a:rPr lang="en-US" dirty="0"/>
              <a:t>This method is the result of the Date class implementing the Comparable interface. </a:t>
            </a:r>
          </a:p>
          <a:p>
            <a:pPr lvl="1"/>
            <a:r>
              <a:rPr lang="en-US" dirty="0" smtClean="0"/>
              <a:t>As </a:t>
            </a:r>
            <a:r>
              <a:rPr lang="en-US" dirty="0"/>
              <a:t>you’ve seen in other contexts, this method returns a negative integer, zero, or a positive integer depending on whether the current object is less than, equal to, or greater than the argument</a:t>
            </a:r>
          </a:p>
        </p:txBody>
      </p:sp>
    </p:spTree>
    <p:extLst>
      <p:ext uri="{BB962C8B-B14F-4D97-AF65-F5344CB8AC3E}">
        <p14:creationId xmlns:p14="http://schemas.microsoft.com/office/powerpoint/2010/main" val="185685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Date Class</a:t>
            </a:r>
          </a:p>
        </p:txBody>
      </p:sp>
      <p:sp>
        <p:nvSpPr>
          <p:cNvPr id="3" name="Content Placeholder 2"/>
          <p:cNvSpPr>
            <a:spLocks noGrp="1"/>
          </p:cNvSpPr>
          <p:nvPr>
            <p:ph sz="quarter" idx="1"/>
          </p:nvPr>
        </p:nvSpPr>
        <p:spPr>
          <a:xfrm>
            <a:off x="914400" y="990600"/>
            <a:ext cx="7772400" cy="5638800"/>
          </a:xfrm>
        </p:spPr>
        <p:txBody>
          <a:bodyPr>
            <a:normAutofit fontScale="77500" lnSpcReduction="20000"/>
          </a:bodyPr>
          <a:lstStyle/>
          <a:p>
            <a:pPr marL="0" indent="0">
              <a:buNone/>
            </a:pPr>
            <a:r>
              <a:rPr lang="en-US" dirty="0"/>
              <a:t>import </a:t>
            </a:r>
            <a:r>
              <a:rPr lang="en-US" dirty="0" err="1"/>
              <a:t>java.util.Date</a:t>
            </a:r>
            <a:r>
              <a:rPr lang="en-US" dirty="0"/>
              <a:t>;</a:t>
            </a:r>
          </a:p>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US" dirty="0"/>
              <a:t>        Date </a:t>
            </a:r>
            <a:r>
              <a:rPr lang="en-US" dirty="0" err="1"/>
              <a:t>date</a:t>
            </a:r>
            <a:r>
              <a:rPr lang="en-US" dirty="0"/>
              <a:t> = new Date();</a:t>
            </a:r>
          </a:p>
          <a:p>
            <a:pPr marL="0" indent="0">
              <a:buNone/>
            </a:pPr>
            <a:r>
              <a:rPr lang="en-US" dirty="0"/>
              <a:t>        </a:t>
            </a:r>
            <a:r>
              <a:rPr lang="en-US" dirty="0" err="1"/>
              <a:t>System.out.println</a:t>
            </a:r>
            <a:r>
              <a:rPr lang="en-US" dirty="0"/>
              <a:t>(</a:t>
            </a:r>
            <a:r>
              <a:rPr lang="en-US" dirty="0" err="1"/>
              <a:t>date.toString</a:t>
            </a:r>
            <a:r>
              <a:rPr lang="en-US" dirty="0"/>
              <a:t>());</a:t>
            </a:r>
          </a:p>
          <a:p>
            <a:pPr marL="0" indent="0">
              <a:buNone/>
            </a:pPr>
            <a:r>
              <a:rPr lang="en-US" dirty="0"/>
              <a:t>        Date d = new Date("10/26/2023 19:11:35");</a:t>
            </a:r>
          </a:p>
          <a:p>
            <a:pPr marL="0" indent="0">
              <a:buNone/>
            </a:pPr>
            <a:r>
              <a:rPr lang="en-US" dirty="0"/>
              <a:t>        </a:t>
            </a:r>
            <a:r>
              <a:rPr lang="en-US" dirty="0" err="1"/>
              <a:t>System.out.println</a:t>
            </a:r>
            <a:r>
              <a:rPr lang="en-US" dirty="0"/>
              <a:t>(d</a:t>
            </a:r>
            <a:r>
              <a:rPr lang="en-US" dirty="0" smtClean="0"/>
              <a:t>);</a:t>
            </a:r>
            <a:endParaRPr lang="en" dirty="0"/>
          </a:p>
          <a:p>
            <a:pPr marL="0" indent="0">
              <a:buNone/>
            </a:pPr>
            <a:r>
              <a:rPr lang="en-US" dirty="0"/>
              <a:t>        </a:t>
            </a:r>
            <a:r>
              <a:rPr lang="en-US" dirty="0" err="1"/>
              <a:t>boolean</a:t>
            </a:r>
            <a:r>
              <a:rPr lang="en-US" dirty="0"/>
              <a:t> flag = </a:t>
            </a:r>
            <a:r>
              <a:rPr lang="en-US" dirty="0" err="1"/>
              <a:t>d.after</a:t>
            </a:r>
            <a:r>
              <a:rPr lang="en-US" dirty="0"/>
              <a:t>(date);</a:t>
            </a:r>
          </a:p>
          <a:p>
            <a:pPr marL="0" indent="0">
              <a:buNone/>
            </a:pPr>
            <a:r>
              <a:rPr lang="en-US" dirty="0"/>
              <a:t>        </a:t>
            </a:r>
            <a:r>
              <a:rPr lang="en-US" dirty="0" err="1"/>
              <a:t>System.out.println</a:t>
            </a:r>
            <a:r>
              <a:rPr lang="en-US" dirty="0"/>
              <a:t>(flag</a:t>
            </a:r>
            <a:r>
              <a:rPr lang="en-US" dirty="0" smtClean="0"/>
              <a:t>);</a:t>
            </a:r>
            <a:endParaRPr lang="en" dirty="0"/>
          </a:p>
          <a:p>
            <a:pPr marL="0" indent="0">
              <a:buNone/>
            </a:pPr>
            <a:r>
              <a:rPr lang="en-US" dirty="0"/>
              <a:t>        </a:t>
            </a:r>
            <a:r>
              <a:rPr lang="en-US" dirty="0" err="1"/>
              <a:t>boolean</a:t>
            </a:r>
            <a:r>
              <a:rPr lang="en-US" dirty="0"/>
              <a:t> flag1 = </a:t>
            </a:r>
            <a:r>
              <a:rPr lang="en-US" dirty="0" err="1"/>
              <a:t>d.before</a:t>
            </a:r>
            <a:r>
              <a:rPr lang="en-US" dirty="0"/>
              <a:t>(date);</a:t>
            </a:r>
          </a:p>
          <a:p>
            <a:pPr marL="0" indent="0">
              <a:buNone/>
            </a:pPr>
            <a:r>
              <a:rPr lang="en-US" dirty="0"/>
              <a:t>        </a:t>
            </a:r>
            <a:r>
              <a:rPr lang="en-US" dirty="0" err="1"/>
              <a:t>System.out.println</a:t>
            </a:r>
            <a:r>
              <a:rPr lang="en-US" dirty="0"/>
              <a:t>(flag1</a:t>
            </a:r>
            <a:r>
              <a:rPr lang="en-US" dirty="0" smtClean="0"/>
              <a:t>);</a:t>
            </a:r>
            <a:endParaRPr lang="en" dirty="0"/>
          </a:p>
          <a:p>
            <a:pPr marL="0" indent="0">
              <a:buNone/>
            </a:pPr>
            <a:r>
              <a:rPr lang="en-US" dirty="0"/>
              <a:t>        </a:t>
            </a:r>
            <a:r>
              <a:rPr lang="en-US" dirty="0" err="1"/>
              <a:t>boolean</a:t>
            </a:r>
            <a:r>
              <a:rPr lang="en-US" dirty="0"/>
              <a:t> flag2 = </a:t>
            </a:r>
            <a:r>
              <a:rPr lang="en-US" dirty="0" err="1"/>
              <a:t>d.equals</a:t>
            </a:r>
            <a:r>
              <a:rPr lang="en-US" dirty="0"/>
              <a:t>(date);</a:t>
            </a:r>
          </a:p>
          <a:p>
            <a:pPr marL="0" indent="0">
              <a:buNone/>
            </a:pPr>
            <a:r>
              <a:rPr lang="en-US" dirty="0"/>
              <a:t>        </a:t>
            </a:r>
            <a:r>
              <a:rPr lang="en-US" dirty="0" err="1"/>
              <a:t>System.out.println</a:t>
            </a:r>
            <a:r>
              <a:rPr lang="en-US" dirty="0"/>
              <a:t>(flag2</a:t>
            </a:r>
            <a:r>
              <a:rPr lang="en-US" dirty="0" smtClean="0"/>
              <a:t>);</a:t>
            </a:r>
            <a:endParaRPr lang="en" dirty="0"/>
          </a:p>
          <a:p>
            <a:pPr marL="0" indent="0">
              <a:buNone/>
            </a:pPr>
            <a:r>
              <a:rPr lang="en-US" dirty="0"/>
              <a:t>        </a:t>
            </a:r>
            <a:r>
              <a:rPr lang="en-US" dirty="0" err="1"/>
              <a:t>int</a:t>
            </a:r>
            <a:r>
              <a:rPr lang="en-US" dirty="0"/>
              <a:t> flag3 = </a:t>
            </a:r>
            <a:r>
              <a:rPr lang="en-US" dirty="0" err="1"/>
              <a:t>d.compareTo</a:t>
            </a:r>
            <a:r>
              <a:rPr lang="en-US" dirty="0"/>
              <a:t>(date);</a:t>
            </a:r>
          </a:p>
          <a:p>
            <a:pPr marL="0" indent="0">
              <a:buNone/>
            </a:pPr>
            <a:r>
              <a:rPr lang="en-US" dirty="0"/>
              <a:t>        </a:t>
            </a:r>
            <a:r>
              <a:rPr lang="en-US" dirty="0" err="1"/>
              <a:t>System.out.println</a:t>
            </a:r>
            <a:r>
              <a:rPr lang="en-US" dirty="0"/>
              <a:t>(flag3</a:t>
            </a:r>
            <a:r>
              <a:rPr lang="en-US" dirty="0" smtClean="0"/>
              <a:t>);</a:t>
            </a:r>
            <a:endParaRPr lang="en" dirty="0"/>
          </a:p>
          <a:p>
            <a:pPr marL="0" indent="0">
              <a:buNone/>
            </a:pPr>
            <a:r>
              <a:rPr lang="en" dirty="0"/>
              <a:t>    }</a:t>
            </a:r>
          </a:p>
          <a:p>
            <a:pPr marL="0" indent="0">
              <a:buNone/>
            </a:pPr>
            <a:r>
              <a:rPr lang="en" dirty="0" smtClean="0"/>
              <a:t>}</a:t>
            </a:r>
            <a:endParaRPr lang="en" dirty="0"/>
          </a:p>
        </p:txBody>
      </p:sp>
    </p:spTree>
    <p:extLst>
      <p:ext uri="{BB962C8B-B14F-4D97-AF65-F5344CB8AC3E}">
        <p14:creationId xmlns:p14="http://schemas.microsoft.com/office/powerpoint/2010/main" val="3117972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sz="quarter" idx="1"/>
          </p:nvPr>
        </p:nvSpPr>
        <p:spPr>
          <a:xfrm>
            <a:off x="914400" y="1143000"/>
            <a:ext cx="7772400" cy="4572000"/>
          </a:xfrm>
        </p:spPr>
        <p:txBody>
          <a:bodyPr/>
          <a:lstStyle/>
          <a:p>
            <a:r>
              <a:rPr lang="en-US" dirty="0"/>
              <a:t>A regular expression is simply a string that describes a pattern that is to be used to search for matches within some other string</a:t>
            </a:r>
            <a:r>
              <a:rPr lang="en-US" dirty="0" smtClean="0"/>
              <a:t>.</a:t>
            </a:r>
          </a:p>
          <a:p>
            <a:r>
              <a:rPr lang="en-US" dirty="0"/>
              <a:t>A regular expression is essentially a mini-program for a specialized kind of computer called a state-machine. </a:t>
            </a:r>
            <a:endParaRPr lang="en-US" dirty="0" smtClean="0"/>
          </a:p>
          <a:p>
            <a:r>
              <a:rPr lang="en-US" dirty="0" smtClean="0"/>
              <a:t>This </a:t>
            </a:r>
            <a:r>
              <a:rPr lang="en-US" dirty="0"/>
              <a:t>isn’t a real machine but a piece of software specifically designed to interpret a regular expression and analyze a given string based on the operations implicit in a regular expression.</a:t>
            </a:r>
          </a:p>
        </p:txBody>
      </p:sp>
    </p:spTree>
    <p:extLst>
      <p:ext uri="{BB962C8B-B14F-4D97-AF65-F5344CB8AC3E}">
        <p14:creationId xmlns:p14="http://schemas.microsoft.com/office/powerpoint/2010/main" val="76793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sz="quarter" idx="1"/>
          </p:nvPr>
        </p:nvSpPr>
        <p:spPr>
          <a:xfrm>
            <a:off x="914400" y="1143000"/>
            <a:ext cx="7772400" cy="5334000"/>
          </a:xfrm>
        </p:spPr>
        <p:txBody>
          <a:bodyPr>
            <a:normAutofit lnSpcReduction="10000"/>
          </a:bodyPr>
          <a:lstStyle/>
          <a:p>
            <a:r>
              <a:rPr lang="en-US" dirty="0"/>
              <a:t>The regular expression capability in Java is implemented through two classes in the </a:t>
            </a:r>
            <a:r>
              <a:rPr lang="en-US" b="1" dirty="0" err="1"/>
              <a:t>java.util.regex</a:t>
            </a:r>
            <a:r>
              <a:rPr lang="en-US" dirty="0"/>
              <a:t> package</a:t>
            </a:r>
            <a:r>
              <a:rPr lang="en-US" dirty="0" smtClean="0"/>
              <a:t>:</a:t>
            </a:r>
          </a:p>
          <a:p>
            <a:r>
              <a:rPr lang="en-US" dirty="0" smtClean="0"/>
              <a:t> </a:t>
            </a:r>
            <a:r>
              <a:rPr lang="en-US" dirty="0"/>
              <a:t>the </a:t>
            </a:r>
            <a:r>
              <a:rPr lang="en-US" b="1" dirty="0"/>
              <a:t>Pattern</a:t>
            </a:r>
            <a:r>
              <a:rPr lang="en-US" dirty="0"/>
              <a:t> class, which defines objects that encapsulate regular expressions, and the </a:t>
            </a:r>
            <a:r>
              <a:rPr lang="en-US" b="1" dirty="0"/>
              <a:t>Matcher</a:t>
            </a:r>
            <a:r>
              <a:rPr lang="en-US" dirty="0"/>
              <a:t> class, which defines an object that encapsulates a </a:t>
            </a:r>
            <a:r>
              <a:rPr lang="en-US" b="1" dirty="0"/>
              <a:t>state-machine</a:t>
            </a:r>
            <a:r>
              <a:rPr lang="en-US" dirty="0"/>
              <a:t> that can search a particular string using a given Pattern object. </a:t>
            </a:r>
            <a:endParaRPr lang="en-US" dirty="0" smtClean="0"/>
          </a:p>
          <a:p>
            <a:r>
              <a:rPr lang="en-US" dirty="0" smtClean="0"/>
              <a:t>The </a:t>
            </a:r>
            <a:r>
              <a:rPr lang="en-US" dirty="0" err="1"/>
              <a:t>java.util.regex</a:t>
            </a:r>
            <a:r>
              <a:rPr lang="en-US" dirty="0"/>
              <a:t> package also defines the </a:t>
            </a:r>
            <a:r>
              <a:rPr lang="en-US" b="1" dirty="0" err="1"/>
              <a:t>PatternSyntaxException</a:t>
            </a:r>
            <a:r>
              <a:rPr lang="en-US" dirty="0"/>
              <a:t> class, which defines exception objects thrown when a syntax error is found when compiling a regular expression to create a Pattern object.</a:t>
            </a:r>
          </a:p>
        </p:txBody>
      </p:sp>
    </p:spTree>
    <p:extLst>
      <p:ext uri="{BB962C8B-B14F-4D97-AF65-F5344CB8AC3E}">
        <p14:creationId xmlns:p14="http://schemas.microsoft.com/office/powerpoint/2010/main" val="15339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sz="quarter" idx="1"/>
          </p:nvPr>
        </p:nvSpPr>
        <p:spPr>
          <a:xfrm>
            <a:off x="914400" y="1066800"/>
            <a:ext cx="7772400" cy="4572000"/>
          </a:xfrm>
        </p:spPr>
        <p:txBody>
          <a:bodyPr/>
          <a:lstStyle/>
          <a:p>
            <a:r>
              <a:rPr lang="en-US" b="1" dirty="0"/>
              <a:t>Creating a </a:t>
            </a:r>
            <a:r>
              <a:rPr lang="en-US" b="1" dirty="0" smtClean="0"/>
              <a:t>Pattern:</a:t>
            </a:r>
          </a:p>
          <a:p>
            <a:pPr lvl="1"/>
            <a:r>
              <a:rPr lang="en-US" dirty="0"/>
              <a:t>In its most elementary form, a regular expression just does a simple search for a substring. For example, if you want to search a string for the word </a:t>
            </a:r>
            <a:r>
              <a:rPr lang="en-US" b="1" dirty="0"/>
              <a:t>had</a:t>
            </a:r>
            <a:r>
              <a:rPr lang="en-US" dirty="0"/>
              <a:t>, the regular expression is exactly that. So the string defining this particular </a:t>
            </a:r>
            <a:r>
              <a:rPr lang="en-US" dirty="0" smtClean="0"/>
              <a:t>regular </a:t>
            </a:r>
            <a:r>
              <a:rPr lang="en-US" dirty="0"/>
              <a:t>expression is “had”. </a:t>
            </a:r>
            <a:endParaRPr lang="en-US" dirty="0" smtClean="0"/>
          </a:p>
          <a:p>
            <a:r>
              <a:rPr lang="en-US" dirty="0"/>
              <a:t>You can create a Pattern object for the expression “had” with the statement: </a:t>
            </a:r>
            <a:endParaRPr lang="en-US" dirty="0" smtClean="0"/>
          </a:p>
          <a:p>
            <a:r>
              <a:rPr lang="en-US" b="1" dirty="0"/>
              <a:t>Pattern had = </a:t>
            </a:r>
            <a:r>
              <a:rPr lang="en-US" b="1" dirty="0" err="1"/>
              <a:t>Pattern.compile</a:t>
            </a:r>
            <a:r>
              <a:rPr lang="en-US" b="1" dirty="0"/>
              <a:t>(“had</a:t>
            </a:r>
            <a:r>
              <a:rPr lang="en-US" b="1" dirty="0" smtClean="0"/>
              <a:t>”);</a:t>
            </a:r>
          </a:p>
          <a:p>
            <a:endParaRPr lang="en-US" b="1" dirty="0"/>
          </a:p>
        </p:txBody>
      </p:sp>
    </p:spTree>
    <p:extLst>
      <p:ext uri="{BB962C8B-B14F-4D97-AF65-F5344CB8AC3E}">
        <p14:creationId xmlns:p14="http://schemas.microsoft.com/office/powerpoint/2010/main" val="881711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sz="quarter" idx="1"/>
          </p:nvPr>
        </p:nvSpPr>
        <p:spPr>
          <a:xfrm>
            <a:off x="914400" y="990600"/>
            <a:ext cx="7772400" cy="5486400"/>
          </a:xfrm>
        </p:spPr>
        <p:txBody>
          <a:bodyPr>
            <a:normAutofit lnSpcReduction="10000"/>
          </a:bodyPr>
          <a:lstStyle/>
          <a:p>
            <a:r>
              <a:rPr lang="en-US" b="1" dirty="0"/>
              <a:t>Creating a </a:t>
            </a:r>
            <a:r>
              <a:rPr lang="en-US" b="1" dirty="0" smtClean="0"/>
              <a:t>Matcher:</a:t>
            </a:r>
          </a:p>
          <a:p>
            <a:pPr lvl="1"/>
            <a:r>
              <a:rPr lang="en-US" dirty="0"/>
              <a:t>Once you have a Pattern object, you can create a Matcher object that can search a particular string, like this</a:t>
            </a:r>
            <a:r>
              <a:rPr lang="en-US" dirty="0" smtClean="0"/>
              <a:t>:</a:t>
            </a:r>
          </a:p>
          <a:p>
            <a:pPr lvl="1"/>
            <a:r>
              <a:rPr lang="en-US" b="1" dirty="0"/>
              <a:t>String sentence = “Smith, where Jones had had ‘had’, had had ‘had had’.”; </a:t>
            </a:r>
            <a:endParaRPr lang="en-US" b="1" dirty="0" smtClean="0"/>
          </a:p>
          <a:p>
            <a:pPr lvl="1"/>
            <a:r>
              <a:rPr lang="en-US" b="1" dirty="0" smtClean="0"/>
              <a:t>Matcher </a:t>
            </a:r>
            <a:r>
              <a:rPr lang="en-US" b="1" dirty="0" err="1"/>
              <a:t>matchHad</a:t>
            </a:r>
            <a:r>
              <a:rPr lang="en-US" b="1" dirty="0"/>
              <a:t> = </a:t>
            </a:r>
            <a:r>
              <a:rPr lang="en-US" b="1" dirty="0" err="1"/>
              <a:t>had.matcher</a:t>
            </a:r>
            <a:r>
              <a:rPr lang="en-US" b="1" dirty="0"/>
              <a:t>(sentence</a:t>
            </a:r>
            <a:r>
              <a:rPr lang="en-US" b="1" dirty="0" smtClean="0"/>
              <a:t>);</a:t>
            </a:r>
          </a:p>
          <a:p>
            <a:r>
              <a:rPr lang="en-US" dirty="0"/>
              <a:t>The first statement defines the string sentence that you want to search. </a:t>
            </a:r>
            <a:endParaRPr lang="en-US" dirty="0" smtClean="0"/>
          </a:p>
          <a:p>
            <a:r>
              <a:rPr lang="en-US" dirty="0" smtClean="0"/>
              <a:t>To </a:t>
            </a:r>
            <a:r>
              <a:rPr lang="en-US" dirty="0"/>
              <a:t>create the Matcher object, you call the matcher() method for the Pattern object with the string to be analyzed as the argument</a:t>
            </a:r>
            <a:r>
              <a:rPr lang="en-US" dirty="0" smtClean="0"/>
              <a:t>.</a:t>
            </a:r>
          </a:p>
          <a:p>
            <a:r>
              <a:rPr lang="en-US" dirty="0" smtClean="0"/>
              <a:t> </a:t>
            </a:r>
            <a:r>
              <a:rPr lang="en-US" dirty="0"/>
              <a:t>This will return a Matcher object that can analyze the string that was passed to it</a:t>
            </a:r>
            <a:endParaRPr lang="en-US" b="1" dirty="0"/>
          </a:p>
        </p:txBody>
      </p:sp>
    </p:spTree>
    <p:extLst>
      <p:ext uri="{BB962C8B-B14F-4D97-AF65-F5344CB8AC3E}">
        <p14:creationId xmlns:p14="http://schemas.microsoft.com/office/powerpoint/2010/main" val="2323622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sz="quarter" idx="1"/>
          </p:nvPr>
        </p:nvSpPr>
        <p:spPr>
          <a:xfrm>
            <a:off x="914400" y="1066800"/>
            <a:ext cx="7772400" cy="5562600"/>
          </a:xfrm>
        </p:spPr>
        <p:txBody>
          <a:bodyPr>
            <a:normAutofit fontScale="77500" lnSpcReduction="20000"/>
          </a:bodyPr>
          <a:lstStyle/>
          <a:p>
            <a:pPr marL="0" indent="0">
              <a:buNone/>
            </a:pPr>
            <a:r>
              <a:rPr lang="en-US" dirty="0"/>
              <a:t>import </a:t>
            </a:r>
            <a:r>
              <a:rPr lang="en-US" dirty="0" err="1"/>
              <a:t>java.util.regex.Matcher</a:t>
            </a:r>
            <a:r>
              <a:rPr lang="en-US" dirty="0"/>
              <a:t>;</a:t>
            </a:r>
          </a:p>
          <a:p>
            <a:pPr marL="0" indent="0">
              <a:buNone/>
            </a:pPr>
            <a:r>
              <a:rPr lang="en-US" dirty="0"/>
              <a:t>import </a:t>
            </a:r>
            <a:r>
              <a:rPr lang="en-US" dirty="0" err="1"/>
              <a:t>java.util.regex.Pattern</a:t>
            </a:r>
            <a:r>
              <a:rPr lang="en-US" dirty="0"/>
              <a:t>;</a:t>
            </a:r>
          </a:p>
          <a:p>
            <a:pPr marL="0" indent="0">
              <a:buNone/>
            </a:pPr>
            <a:r>
              <a:rPr lang="en-US" dirty="0"/>
              <a:t>import </a:t>
            </a:r>
            <a:r>
              <a:rPr lang="en-US" dirty="0" err="1"/>
              <a:t>java.util.Arrays</a:t>
            </a:r>
            <a:r>
              <a:rPr lang="en-US" dirty="0"/>
              <a:t>;</a:t>
            </a:r>
          </a:p>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US" dirty="0"/>
              <a:t>        String </a:t>
            </a:r>
            <a:r>
              <a:rPr lang="en-US" dirty="0" err="1"/>
              <a:t>regEx</a:t>
            </a:r>
            <a:r>
              <a:rPr lang="en-US" dirty="0"/>
              <a:t> = “had”;</a:t>
            </a:r>
          </a:p>
          <a:p>
            <a:pPr marL="0" indent="0">
              <a:buNone/>
            </a:pPr>
            <a:r>
              <a:rPr lang="en-US" dirty="0"/>
              <a:t>        String </a:t>
            </a:r>
            <a:r>
              <a:rPr lang="en-US" dirty="0" err="1"/>
              <a:t>str</a:t>
            </a:r>
            <a:r>
              <a:rPr lang="en-US" dirty="0"/>
              <a:t> = "Smith, where Jones had had 'had', had had 'had had'.";</a:t>
            </a:r>
          </a:p>
          <a:p>
            <a:pPr marL="0" indent="0">
              <a:buNone/>
            </a:pPr>
            <a:r>
              <a:rPr lang="en-US" dirty="0"/>
              <a:t>        Pattern </a:t>
            </a:r>
            <a:r>
              <a:rPr lang="en-US" dirty="0" err="1"/>
              <a:t>pattern</a:t>
            </a:r>
            <a:r>
              <a:rPr lang="en-US" dirty="0"/>
              <a:t> = </a:t>
            </a:r>
            <a:r>
              <a:rPr lang="en-US" dirty="0" err="1"/>
              <a:t>Pattern.compile</a:t>
            </a:r>
            <a:r>
              <a:rPr lang="en-US" dirty="0"/>
              <a:t>(</a:t>
            </a:r>
            <a:r>
              <a:rPr lang="en-US" dirty="0" err="1"/>
              <a:t>regEx</a:t>
            </a:r>
            <a:r>
              <a:rPr lang="en-US" dirty="0"/>
              <a:t>);</a:t>
            </a:r>
          </a:p>
          <a:p>
            <a:pPr marL="0" indent="0">
              <a:buNone/>
            </a:pPr>
            <a:r>
              <a:rPr lang="en-US" dirty="0"/>
              <a:t>        Matcher m = </a:t>
            </a:r>
            <a:r>
              <a:rPr lang="en-US" dirty="0" err="1"/>
              <a:t>pattern.matcher</a:t>
            </a:r>
            <a:r>
              <a:rPr lang="en-US" dirty="0"/>
              <a:t>(</a:t>
            </a:r>
            <a:r>
              <a:rPr lang="en-US" dirty="0" err="1"/>
              <a:t>str</a:t>
            </a:r>
            <a:r>
              <a:rPr lang="en-US" dirty="0"/>
              <a:t>);</a:t>
            </a:r>
          </a:p>
          <a:p>
            <a:pPr marL="0" indent="0">
              <a:buNone/>
            </a:pPr>
            <a:r>
              <a:rPr lang="en" dirty="0"/>
              <a:t>       </a:t>
            </a:r>
          </a:p>
          <a:p>
            <a:pPr marL="0" indent="0">
              <a:buNone/>
            </a:pPr>
            <a:r>
              <a:rPr lang="en-US" dirty="0"/>
              <a:t>        while (</a:t>
            </a:r>
            <a:r>
              <a:rPr lang="en-US" dirty="0" err="1"/>
              <a:t>m.find</a:t>
            </a:r>
            <a:r>
              <a:rPr lang="en-US" dirty="0"/>
              <a:t>()) {</a:t>
            </a:r>
          </a:p>
          <a:p>
            <a:pPr marL="0" indent="0">
              <a:buNone/>
            </a:pPr>
            <a:r>
              <a:rPr lang="en-US" dirty="0"/>
              <a:t>            </a:t>
            </a:r>
            <a:r>
              <a:rPr lang="en-US" dirty="0" err="1"/>
              <a:t>System.out.println</a:t>
            </a:r>
            <a:r>
              <a:rPr lang="en-US" dirty="0"/>
              <a:t>("Pattern found at Start: " + </a:t>
            </a:r>
            <a:r>
              <a:rPr lang="en-US" dirty="0" err="1"/>
              <a:t>m.start</a:t>
            </a:r>
            <a:r>
              <a:rPr lang="en-US" dirty="0"/>
              <a:t>() + " End: " + </a:t>
            </a:r>
            <a:r>
              <a:rPr lang="en-US" dirty="0" err="1"/>
              <a:t>m.end</a:t>
            </a:r>
            <a:r>
              <a:rPr lang="en-US" dirty="0"/>
              <a:t>());</a:t>
            </a:r>
          </a:p>
          <a:p>
            <a:pPr marL="0" indent="0">
              <a:buNone/>
            </a:pPr>
            <a:r>
              <a:rPr lang="en" dirty="0"/>
              <a:t>        }</a:t>
            </a:r>
          </a:p>
          <a:p>
            <a:pPr marL="0" indent="0">
              <a:buNone/>
            </a:pPr>
            <a:r>
              <a:rPr lang="en" dirty="0"/>
              <a:t>    }</a:t>
            </a:r>
          </a:p>
          <a:p>
            <a:pPr marL="0" indent="0">
              <a:buNone/>
            </a:pPr>
            <a:r>
              <a:rPr lang="en" dirty="0"/>
              <a:t>}</a:t>
            </a:r>
          </a:p>
          <a:p>
            <a:endParaRPr lang="en-US" dirty="0"/>
          </a:p>
        </p:txBody>
      </p:sp>
    </p:spTree>
    <p:extLst>
      <p:ext uri="{BB962C8B-B14F-4D97-AF65-F5344CB8AC3E}">
        <p14:creationId xmlns:p14="http://schemas.microsoft.com/office/powerpoint/2010/main" val="1599846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Scanner</a:t>
            </a:r>
          </a:p>
        </p:txBody>
      </p:sp>
      <p:sp>
        <p:nvSpPr>
          <p:cNvPr id="3" name="Content Placeholder 2"/>
          <p:cNvSpPr>
            <a:spLocks noGrp="1"/>
          </p:cNvSpPr>
          <p:nvPr>
            <p:ph sz="quarter" idx="1"/>
          </p:nvPr>
        </p:nvSpPr>
        <p:spPr>
          <a:xfrm>
            <a:off x="914400" y="1066800"/>
            <a:ext cx="7772400" cy="5334000"/>
          </a:xfrm>
        </p:spPr>
        <p:txBody>
          <a:bodyPr>
            <a:normAutofit lnSpcReduction="10000"/>
          </a:bodyPr>
          <a:lstStyle/>
          <a:p>
            <a:r>
              <a:rPr lang="en-US" dirty="0"/>
              <a:t>Using a Scanner </a:t>
            </a:r>
            <a:r>
              <a:rPr lang="en-US" dirty="0" smtClean="0"/>
              <a:t>: </a:t>
            </a:r>
            <a:r>
              <a:rPr lang="en-US" b="1" dirty="0" smtClean="0"/>
              <a:t>The </a:t>
            </a:r>
            <a:r>
              <a:rPr lang="en-US" b="1" dirty="0" err="1"/>
              <a:t>java.util.Scanner</a:t>
            </a:r>
            <a:r>
              <a:rPr lang="en-US" dirty="0"/>
              <a:t> class defines objects that use regular expressions to scan character input from a variety of sources and present the input as a sequence of tokens of various primitive types or as strings</a:t>
            </a:r>
            <a:r>
              <a:rPr lang="en-US" dirty="0" smtClean="0"/>
              <a:t>.</a:t>
            </a:r>
          </a:p>
          <a:p>
            <a:r>
              <a:rPr lang="en-US" dirty="0" smtClean="0"/>
              <a:t> </a:t>
            </a:r>
            <a:r>
              <a:rPr lang="en-US" dirty="0"/>
              <a:t>For example, you can use a Scanner object to read data values of various types from a file or a stream, including the standard stream System.in. </a:t>
            </a:r>
            <a:endParaRPr lang="en-US" dirty="0" smtClean="0"/>
          </a:p>
          <a:p>
            <a:r>
              <a:rPr lang="en-US" dirty="0"/>
              <a:t>You can create a Scanner object by passing an object encapsulating the source of the data to be scanned to a Scanner constructor</a:t>
            </a:r>
            <a:r>
              <a:rPr lang="en-US" dirty="0" smtClean="0"/>
              <a:t>.</a:t>
            </a:r>
          </a:p>
          <a:p>
            <a:r>
              <a:rPr lang="en-US" dirty="0" smtClean="0"/>
              <a:t> </a:t>
            </a:r>
            <a:r>
              <a:rPr lang="en-US" dirty="0"/>
              <a:t>You have five overloaded Scanner constructors that accept a single argument of any of the following types:</a:t>
            </a:r>
          </a:p>
        </p:txBody>
      </p:sp>
    </p:spTree>
    <p:extLst>
      <p:ext uri="{BB962C8B-B14F-4D97-AF65-F5344CB8AC3E}">
        <p14:creationId xmlns:p14="http://schemas.microsoft.com/office/powerpoint/2010/main" val="2240564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Scanner</a:t>
            </a:r>
          </a:p>
        </p:txBody>
      </p:sp>
      <p:sp>
        <p:nvSpPr>
          <p:cNvPr id="3" name="Content Placeholder 2"/>
          <p:cNvSpPr>
            <a:spLocks noGrp="1"/>
          </p:cNvSpPr>
          <p:nvPr>
            <p:ph sz="quarter" idx="1"/>
          </p:nvPr>
        </p:nvSpPr>
        <p:spPr>
          <a:xfrm>
            <a:off x="914400" y="1143000"/>
            <a:ext cx="7772400" cy="5334000"/>
          </a:xfrm>
        </p:spPr>
        <p:txBody>
          <a:bodyPr>
            <a:normAutofit fontScale="92500" lnSpcReduction="10000"/>
          </a:bodyPr>
          <a:lstStyle/>
          <a:p>
            <a:r>
              <a:rPr lang="en-US" dirty="0" err="1"/>
              <a:t>InputStream</a:t>
            </a:r>
            <a:r>
              <a:rPr lang="en-US" dirty="0"/>
              <a:t> </a:t>
            </a:r>
            <a:endParaRPr lang="en-US" dirty="0" smtClean="0"/>
          </a:p>
          <a:p>
            <a:r>
              <a:rPr lang="en-US" dirty="0" smtClean="0"/>
              <a:t>File</a:t>
            </a:r>
          </a:p>
          <a:p>
            <a:r>
              <a:rPr lang="en-US" dirty="0" smtClean="0"/>
              <a:t> </a:t>
            </a:r>
            <a:r>
              <a:rPr lang="en-US" dirty="0" err="1" smtClean="0"/>
              <a:t>ReadableByteChannel</a:t>
            </a:r>
            <a:endParaRPr lang="en-US" dirty="0" smtClean="0"/>
          </a:p>
          <a:p>
            <a:r>
              <a:rPr lang="en-US" dirty="0" smtClean="0"/>
              <a:t> Readable</a:t>
            </a:r>
          </a:p>
          <a:p>
            <a:r>
              <a:rPr lang="en-US" dirty="0" smtClean="0"/>
              <a:t> String</a:t>
            </a:r>
          </a:p>
          <a:p>
            <a:endParaRPr lang="en-US" dirty="0"/>
          </a:p>
          <a:p>
            <a:r>
              <a:rPr lang="en-US" dirty="0"/>
              <a:t>The Scanner object that is created will be able to read data from whichever source you supply as the argument to the constructor</a:t>
            </a:r>
            <a:r>
              <a:rPr lang="en-US" dirty="0" smtClean="0"/>
              <a:t>.</a:t>
            </a:r>
          </a:p>
          <a:p>
            <a:r>
              <a:rPr lang="en-US" dirty="0" smtClean="0"/>
              <a:t> </a:t>
            </a:r>
            <a:r>
              <a:rPr lang="en-US" dirty="0"/>
              <a:t>Readable is an interface implemented by objects of type such as </a:t>
            </a:r>
            <a:r>
              <a:rPr lang="en-US" dirty="0" err="1"/>
              <a:t>BufferedReader</a:t>
            </a:r>
            <a:r>
              <a:rPr lang="en-US" dirty="0"/>
              <a:t>, </a:t>
            </a:r>
            <a:r>
              <a:rPr lang="en-US" dirty="0" err="1"/>
              <a:t>CharBuffer</a:t>
            </a:r>
            <a:r>
              <a:rPr lang="en-US" dirty="0"/>
              <a:t>, </a:t>
            </a:r>
            <a:r>
              <a:rPr lang="en-US" dirty="0" err="1"/>
              <a:t>FileReader</a:t>
            </a:r>
            <a:r>
              <a:rPr lang="en-US" dirty="0"/>
              <a:t>, </a:t>
            </a:r>
            <a:r>
              <a:rPr lang="en-US" dirty="0" err="1"/>
              <a:t>InputStreamReader</a:t>
            </a:r>
            <a:r>
              <a:rPr lang="en-US" dirty="0"/>
              <a:t>, and a number of other readers, so you can create a Scanner object that will scan any of these</a:t>
            </a:r>
          </a:p>
        </p:txBody>
      </p:sp>
    </p:spTree>
    <p:extLst>
      <p:ext uri="{BB962C8B-B14F-4D97-AF65-F5344CB8AC3E}">
        <p14:creationId xmlns:p14="http://schemas.microsoft.com/office/powerpoint/2010/main" val="1381019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Scanner</a:t>
            </a:r>
          </a:p>
        </p:txBody>
      </p:sp>
      <p:sp>
        <p:nvSpPr>
          <p:cNvPr id="3" name="Content Placeholder 2"/>
          <p:cNvSpPr>
            <a:spLocks noGrp="1"/>
          </p:cNvSpPr>
          <p:nvPr>
            <p:ph sz="quarter" idx="1"/>
          </p:nvPr>
        </p:nvSpPr>
        <p:spPr>
          <a:xfrm>
            <a:off x="914400" y="1066800"/>
            <a:ext cx="7772400" cy="5562600"/>
          </a:xfrm>
        </p:spPr>
        <p:txBody>
          <a:bodyPr>
            <a:normAutofit/>
          </a:bodyPr>
          <a:lstStyle/>
          <a:p>
            <a:r>
              <a:rPr lang="en-US" dirty="0"/>
              <a:t>To obtain a Scanner object that will scan input from the keyboard, you could use the following statement: </a:t>
            </a:r>
            <a:endParaRPr lang="en-US" dirty="0" smtClean="0"/>
          </a:p>
          <a:p>
            <a:r>
              <a:rPr lang="en-US" dirty="0" err="1"/>
              <a:t>java.util.Scanner</a:t>
            </a:r>
            <a:r>
              <a:rPr lang="en-US" dirty="0"/>
              <a:t> keyboard = new </a:t>
            </a:r>
            <a:r>
              <a:rPr lang="en-US" dirty="0" err="1"/>
              <a:t>java.util.Scanner</a:t>
            </a:r>
            <a:r>
              <a:rPr lang="en-US" dirty="0"/>
              <a:t>(System.in</a:t>
            </a:r>
            <a:r>
              <a:rPr lang="en-US" dirty="0" smtClean="0"/>
              <a:t>);</a:t>
            </a:r>
          </a:p>
          <a:p>
            <a:endParaRPr lang="en-US" dirty="0"/>
          </a:p>
          <a:p>
            <a:r>
              <a:rPr lang="en-US" b="1" dirty="0"/>
              <a:t>Getting Input from a </a:t>
            </a:r>
            <a:r>
              <a:rPr lang="en-US" b="1" dirty="0" smtClean="0"/>
              <a:t>Scanner</a:t>
            </a:r>
          </a:p>
          <a:p>
            <a:pPr lvl="1"/>
            <a:r>
              <a:rPr lang="en-US" dirty="0"/>
              <a:t>By default, a Scanner object reads tokens assuming they are delimited by </a:t>
            </a:r>
            <a:r>
              <a:rPr lang="en-US" dirty="0" smtClean="0"/>
              <a:t>whitespace</a:t>
            </a:r>
          </a:p>
          <a:p>
            <a:pPr lvl="1"/>
            <a:r>
              <a:rPr lang="en-US" dirty="0"/>
              <a:t>Here’s a simple example that just reads </a:t>
            </a:r>
            <a:r>
              <a:rPr lang="en-US" dirty="0" smtClean="0"/>
              <a:t> </a:t>
            </a:r>
            <a:r>
              <a:rPr lang="en-US" dirty="0"/>
              <a:t>input from the standard input stream and displays what was read:</a:t>
            </a:r>
            <a:endParaRPr lang="en-US" b="1" dirty="0"/>
          </a:p>
        </p:txBody>
      </p:sp>
    </p:spTree>
    <p:extLst>
      <p:ext uri="{BB962C8B-B14F-4D97-AF65-F5344CB8AC3E}">
        <p14:creationId xmlns:p14="http://schemas.microsoft.com/office/powerpoint/2010/main" val="674719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Scanner</a:t>
            </a:r>
          </a:p>
        </p:txBody>
      </p:sp>
      <p:sp>
        <p:nvSpPr>
          <p:cNvPr id="3" name="Content Placeholder 2"/>
          <p:cNvSpPr>
            <a:spLocks noGrp="1"/>
          </p:cNvSpPr>
          <p:nvPr>
            <p:ph sz="quarter" idx="1"/>
          </p:nvPr>
        </p:nvSpPr>
        <p:spPr>
          <a:xfrm>
            <a:off x="914400" y="990600"/>
            <a:ext cx="7772400" cy="5562600"/>
          </a:xfrm>
        </p:spPr>
        <p:txBody>
          <a:bodyPr>
            <a:normAutofit fontScale="92500"/>
          </a:bodyPr>
          <a:lstStyle/>
          <a:p>
            <a:pPr marL="0" indent="0">
              <a:buNone/>
            </a:pPr>
            <a:r>
              <a:rPr lang="en-US" dirty="0"/>
              <a:t>import </a:t>
            </a:r>
            <a:r>
              <a:rPr lang="en-US" dirty="0" err="1"/>
              <a:t>java.util.Scanner</a:t>
            </a:r>
            <a:r>
              <a:rPr lang="en-US" dirty="0"/>
              <a:t>;</a:t>
            </a:r>
          </a:p>
          <a:p>
            <a:pPr marL="0" indent="0">
              <a:buNone/>
            </a:pPr>
            <a:endParaRPr lang="en" dirty="0"/>
          </a:p>
          <a:p>
            <a:pPr marL="0" indent="0">
              <a:buNone/>
            </a:pPr>
            <a:r>
              <a:rPr lang="en-US" dirty="0"/>
              <a:t>class </a:t>
            </a:r>
            <a:r>
              <a:rPr lang="en-US" dirty="0" err="1"/>
              <a:t>HelloWorld</a:t>
            </a:r>
            <a:r>
              <a:rPr lang="en-US" dirty="0"/>
              <a:t> {</a:t>
            </a:r>
          </a:p>
          <a:p>
            <a:pPr marL="0" indent="0">
              <a:buNone/>
            </a:pPr>
            <a:r>
              <a:rPr lang="en-US" dirty="0"/>
              <a:t>    public static void main(String[] </a:t>
            </a:r>
            <a:r>
              <a:rPr lang="en-US" dirty="0" err="1"/>
              <a:t>args</a:t>
            </a:r>
            <a:r>
              <a:rPr lang="en-US" dirty="0"/>
              <a:t>) {</a:t>
            </a:r>
          </a:p>
          <a:p>
            <a:pPr marL="0" indent="0">
              <a:buNone/>
            </a:pPr>
            <a:r>
              <a:rPr lang="en-US" dirty="0"/>
              <a:t>       Scanner </a:t>
            </a:r>
            <a:r>
              <a:rPr lang="en-US" dirty="0" err="1"/>
              <a:t>sc</a:t>
            </a:r>
            <a:r>
              <a:rPr lang="en-US" dirty="0"/>
              <a:t> = new Scanner(System.in);</a:t>
            </a:r>
          </a:p>
          <a:p>
            <a:pPr marL="0" indent="0">
              <a:buNone/>
            </a:pPr>
            <a:r>
              <a:rPr lang="en-US" dirty="0"/>
              <a:t>    </a:t>
            </a:r>
            <a:r>
              <a:rPr lang="en-US" dirty="0" err="1"/>
              <a:t>sc.useDelimiter</a:t>
            </a:r>
            <a:r>
              <a:rPr lang="en-US" dirty="0"/>
              <a:t>(</a:t>
            </a:r>
            <a:r>
              <a:rPr lang="en-US" dirty="0" err="1"/>
              <a:t>System.getProperty</a:t>
            </a:r>
            <a:r>
              <a:rPr lang="en-US" dirty="0"/>
              <a:t>("</a:t>
            </a:r>
            <a:r>
              <a:rPr lang="en-US" dirty="0" err="1"/>
              <a:t>line.separator</a:t>
            </a:r>
            <a:r>
              <a:rPr lang="en-US" dirty="0"/>
              <a:t>"));</a:t>
            </a:r>
          </a:p>
          <a:p>
            <a:pPr marL="0" indent="0">
              <a:buNone/>
            </a:pPr>
            <a:r>
              <a:rPr lang="en-US" dirty="0"/>
              <a:t>    </a:t>
            </a:r>
            <a:r>
              <a:rPr lang="en-US" dirty="0" err="1"/>
              <a:t>System.out.println</a:t>
            </a:r>
            <a:r>
              <a:rPr lang="en-US" dirty="0"/>
              <a:t>("Please enter your name");</a:t>
            </a:r>
          </a:p>
          <a:p>
            <a:pPr marL="0" indent="0">
              <a:buNone/>
            </a:pPr>
            <a:r>
              <a:rPr lang="en-US" dirty="0"/>
              <a:t>    String name = </a:t>
            </a:r>
            <a:r>
              <a:rPr lang="en-US" dirty="0" err="1"/>
              <a:t>sc.next</a:t>
            </a:r>
            <a:r>
              <a:rPr lang="en-US" dirty="0"/>
              <a:t>();</a:t>
            </a:r>
          </a:p>
          <a:p>
            <a:pPr marL="0" indent="0">
              <a:buNone/>
            </a:pPr>
            <a:r>
              <a:rPr lang="en-US" dirty="0"/>
              <a:t>    </a:t>
            </a:r>
            <a:r>
              <a:rPr lang="en-US" dirty="0" err="1"/>
              <a:t>System.out.println</a:t>
            </a:r>
            <a:r>
              <a:rPr lang="en-US" dirty="0"/>
              <a:t>("Hello " + name);</a:t>
            </a:r>
          </a:p>
          <a:p>
            <a:pPr marL="0" indent="0">
              <a:buNone/>
            </a:pPr>
            <a:r>
              <a:rPr lang="en-US" dirty="0"/>
              <a:t>    </a:t>
            </a:r>
            <a:r>
              <a:rPr lang="en-US" dirty="0" err="1"/>
              <a:t>sc.close</a:t>
            </a:r>
            <a:r>
              <a:rPr lang="en-US" dirty="0"/>
              <a:t>();</a:t>
            </a:r>
          </a:p>
          <a:p>
            <a:pPr marL="0" indent="0">
              <a:buNone/>
            </a:pPr>
            <a:r>
              <a:rPr lang="en" dirty="0"/>
              <a:t>    }</a:t>
            </a:r>
          </a:p>
          <a:p>
            <a:pPr marL="0" indent="0">
              <a:buNone/>
            </a:pPr>
            <a:r>
              <a:rPr lang="en" dirty="0"/>
              <a:t>}</a:t>
            </a:r>
          </a:p>
        </p:txBody>
      </p:sp>
    </p:spTree>
    <p:extLst>
      <p:ext uri="{BB962C8B-B14F-4D97-AF65-F5344CB8AC3E}">
        <p14:creationId xmlns:p14="http://schemas.microsoft.com/office/powerpoint/2010/main" val="1649244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and Observer Objects</a:t>
            </a:r>
          </a:p>
        </p:txBody>
      </p:sp>
      <p:sp>
        <p:nvSpPr>
          <p:cNvPr id="3" name="Content Placeholder 2"/>
          <p:cNvSpPr>
            <a:spLocks noGrp="1"/>
          </p:cNvSpPr>
          <p:nvPr>
            <p:ph sz="quarter" idx="1"/>
          </p:nvPr>
        </p:nvSpPr>
        <p:spPr>
          <a:xfrm>
            <a:off x="888242" y="990600"/>
            <a:ext cx="7772400" cy="5638800"/>
          </a:xfrm>
        </p:spPr>
        <p:txBody>
          <a:bodyPr>
            <a:normAutofit fontScale="92500" lnSpcReduction="10000"/>
          </a:bodyPr>
          <a:lstStyle/>
          <a:p>
            <a:r>
              <a:rPr lang="en-US" dirty="0"/>
              <a:t>The Observable class provides you with an interesting mechanism for communicating a change in one class object to a number of other class objects. </a:t>
            </a:r>
            <a:endParaRPr lang="en-US" dirty="0" smtClean="0"/>
          </a:p>
          <a:p>
            <a:r>
              <a:rPr lang="en-US" dirty="0" smtClean="0"/>
              <a:t>One </a:t>
            </a:r>
            <a:r>
              <a:rPr lang="en-US" dirty="0"/>
              <a:t>use for this mechanism is in graphical user interface (GUI) programming where you often have one object representing all the data for the application — a text document, for example, or a geometric model of a physical object — and several other objects that represent views of the data that are displayed in separate windows, where each shows a different representation or perhaps a subset of the data</a:t>
            </a:r>
            <a:r>
              <a:rPr lang="en-US" dirty="0" smtClean="0"/>
              <a:t>.</a:t>
            </a:r>
          </a:p>
          <a:p>
            <a:r>
              <a:rPr lang="en-US" dirty="0" smtClean="0"/>
              <a:t> </a:t>
            </a:r>
            <a:r>
              <a:rPr lang="en-US" dirty="0"/>
              <a:t>This is referred to as </a:t>
            </a:r>
            <a:r>
              <a:rPr lang="en-US" b="1" dirty="0"/>
              <a:t>the document/view architecture </a:t>
            </a:r>
            <a:r>
              <a:rPr lang="en-US" dirty="0"/>
              <a:t>for an application, or sometimes the </a:t>
            </a:r>
            <a:r>
              <a:rPr lang="en-US" b="1" dirty="0"/>
              <a:t>model/view </a:t>
            </a:r>
            <a:r>
              <a:rPr lang="en-US" dirty="0"/>
              <a:t>architecture. This is a contraction of something referred to as the </a:t>
            </a:r>
            <a:r>
              <a:rPr lang="en-US" b="1" dirty="0"/>
              <a:t>model/view/controller architecture</a:t>
            </a:r>
          </a:p>
        </p:txBody>
      </p:sp>
    </p:spTree>
    <p:extLst>
      <p:ext uri="{BB962C8B-B14F-4D97-AF65-F5344CB8AC3E}">
        <p14:creationId xmlns:p14="http://schemas.microsoft.com/office/powerpoint/2010/main" val="2241696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and Observer Objects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81100" y="1066800"/>
            <a:ext cx="7239000" cy="5370871"/>
          </a:xfrm>
        </p:spPr>
      </p:pic>
    </p:spTree>
    <p:extLst>
      <p:ext uri="{BB962C8B-B14F-4D97-AF65-F5344CB8AC3E}">
        <p14:creationId xmlns:p14="http://schemas.microsoft.com/office/powerpoint/2010/main" val="1678377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and Observer Objects</a:t>
            </a:r>
          </a:p>
        </p:txBody>
      </p:sp>
      <p:sp>
        <p:nvSpPr>
          <p:cNvPr id="3" name="Content Placeholder 2"/>
          <p:cNvSpPr>
            <a:spLocks noGrp="1"/>
          </p:cNvSpPr>
          <p:nvPr>
            <p:ph sz="quarter" idx="1"/>
          </p:nvPr>
        </p:nvSpPr>
        <p:spPr>
          <a:xfrm>
            <a:off x="905301" y="1143000"/>
            <a:ext cx="7772400" cy="5486400"/>
          </a:xfrm>
        </p:spPr>
        <p:txBody>
          <a:bodyPr>
            <a:normAutofit lnSpcReduction="10000"/>
          </a:bodyPr>
          <a:lstStyle/>
          <a:p>
            <a:r>
              <a:rPr lang="en-US" dirty="0"/>
              <a:t>When the Document object changes, all the views need to be notified that a change has occurred, since they may well need to update what they display. </a:t>
            </a:r>
            <a:endParaRPr lang="en-US" dirty="0" smtClean="0"/>
          </a:p>
          <a:p>
            <a:r>
              <a:rPr lang="en-US" dirty="0" smtClean="0"/>
              <a:t>The </a:t>
            </a:r>
            <a:r>
              <a:rPr lang="en-US" dirty="0"/>
              <a:t>document is </a:t>
            </a:r>
            <a:r>
              <a:rPr lang="en-US" b="1" dirty="0"/>
              <a:t>observable</a:t>
            </a:r>
            <a:r>
              <a:rPr lang="en-US" dirty="0"/>
              <a:t>, and all the views are </a:t>
            </a:r>
            <a:r>
              <a:rPr lang="en-US" b="1" dirty="0"/>
              <a:t>observers</a:t>
            </a:r>
            <a:r>
              <a:rPr lang="en-US" dirty="0"/>
              <a:t>. </a:t>
            </a:r>
            <a:endParaRPr lang="en-US" dirty="0" smtClean="0"/>
          </a:p>
          <a:p>
            <a:r>
              <a:rPr lang="en-US" dirty="0" smtClean="0"/>
              <a:t>This </a:t>
            </a:r>
            <a:r>
              <a:rPr lang="en-US" dirty="0"/>
              <a:t>is exactly what the </a:t>
            </a:r>
            <a:r>
              <a:rPr lang="en-US" b="1" dirty="0"/>
              <a:t>Observable</a:t>
            </a:r>
            <a:r>
              <a:rPr lang="en-US" dirty="0"/>
              <a:t> class is designed to achieve when used in combination with an interface, </a:t>
            </a:r>
            <a:r>
              <a:rPr lang="en-US" b="1" dirty="0"/>
              <a:t>Observer</a:t>
            </a:r>
            <a:r>
              <a:rPr lang="en-US" dirty="0"/>
              <a:t>. </a:t>
            </a:r>
            <a:endParaRPr lang="en-US" dirty="0" smtClean="0"/>
          </a:p>
          <a:p>
            <a:r>
              <a:rPr lang="en-US" dirty="0" smtClean="0"/>
              <a:t>A </a:t>
            </a:r>
            <a:r>
              <a:rPr lang="en-US" dirty="0"/>
              <a:t>document can be considered to be an </a:t>
            </a:r>
            <a:r>
              <a:rPr lang="en-US" b="1" dirty="0"/>
              <a:t>Observable</a:t>
            </a:r>
            <a:r>
              <a:rPr lang="en-US" dirty="0"/>
              <a:t> object, and a view can be thought of as an </a:t>
            </a:r>
            <a:r>
              <a:rPr lang="en-US" b="1" dirty="0"/>
              <a:t>Observer</a:t>
            </a:r>
            <a:r>
              <a:rPr lang="en-US" dirty="0"/>
              <a:t> object. </a:t>
            </a:r>
            <a:endParaRPr lang="en-US" dirty="0" smtClean="0"/>
          </a:p>
          <a:p>
            <a:r>
              <a:rPr lang="en-US" dirty="0" smtClean="0"/>
              <a:t>This </a:t>
            </a:r>
            <a:r>
              <a:rPr lang="en-US" dirty="0"/>
              <a:t>enables the view to respond to changes in the document.</a:t>
            </a:r>
          </a:p>
        </p:txBody>
      </p:sp>
    </p:spTree>
    <p:extLst>
      <p:ext uri="{BB962C8B-B14F-4D97-AF65-F5344CB8AC3E}">
        <p14:creationId xmlns:p14="http://schemas.microsoft.com/office/powerpoint/2010/main" val="1067691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Classes of Observable Objects</a:t>
            </a:r>
          </a:p>
        </p:txBody>
      </p:sp>
      <p:sp>
        <p:nvSpPr>
          <p:cNvPr id="3" name="Content Placeholder 2"/>
          <p:cNvSpPr>
            <a:spLocks noGrp="1"/>
          </p:cNvSpPr>
          <p:nvPr>
            <p:ph sz="quarter" idx="1"/>
          </p:nvPr>
        </p:nvSpPr>
        <p:spPr>
          <a:xfrm>
            <a:off x="914400" y="1143000"/>
            <a:ext cx="7772400" cy="5334000"/>
          </a:xfrm>
        </p:spPr>
        <p:txBody>
          <a:bodyPr>
            <a:normAutofit/>
          </a:bodyPr>
          <a:lstStyle/>
          <a:p>
            <a:r>
              <a:rPr lang="en-US" dirty="0"/>
              <a:t>You use the </a:t>
            </a:r>
            <a:r>
              <a:rPr lang="en-US" b="1" dirty="0" err="1"/>
              <a:t>java.util.Observable</a:t>
            </a:r>
            <a:r>
              <a:rPr lang="en-US" dirty="0"/>
              <a:t> class in the definition of a class of objects that may be observed. You simply derive the class for objects to be monitored —Document, say — from the class Observable</a:t>
            </a:r>
            <a:r>
              <a:rPr lang="en-US" dirty="0" smtClean="0"/>
              <a:t>.</a:t>
            </a:r>
          </a:p>
          <a:p>
            <a:r>
              <a:rPr lang="en-US" dirty="0" smtClean="0"/>
              <a:t> </a:t>
            </a:r>
            <a:r>
              <a:rPr lang="en-US" dirty="0"/>
              <a:t>Any class that may need to be notified when a Document object has been changed must implement the interface Observer. </a:t>
            </a:r>
            <a:endParaRPr lang="en-US" dirty="0" smtClean="0"/>
          </a:p>
          <a:p>
            <a:r>
              <a:rPr lang="en-US" dirty="0" smtClean="0"/>
              <a:t>This </a:t>
            </a:r>
            <a:r>
              <a:rPr lang="en-US" dirty="0"/>
              <a:t>doesn’t in itself cause the Observer objects to be notified when a change in an observed object occurs; it just establishes the potential for this to happen.</a:t>
            </a:r>
          </a:p>
        </p:txBody>
      </p:sp>
    </p:spTree>
    <p:extLst>
      <p:ext uri="{BB962C8B-B14F-4D97-AF65-F5344CB8AC3E}">
        <p14:creationId xmlns:p14="http://schemas.microsoft.com/office/powerpoint/2010/main" val="46960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Classes of Observable Objects</a:t>
            </a:r>
          </a:p>
        </p:txBody>
      </p:sp>
      <p:sp>
        <p:nvSpPr>
          <p:cNvPr id="3" name="Content Placeholder 2"/>
          <p:cNvSpPr>
            <a:spLocks noGrp="1"/>
          </p:cNvSpPr>
          <p:nvPr>
            <p:ph sz="quarter" idx="1"/>
          </p:nvPr>
        </p:nvSpPr>
        <p:spPr>
          <a:xfrm>
            <a:off x="914400" y="1143000"/>
            <a:ext cx="7772400" cy="4572000"/>
          </a:xfrm>
        </p:spPr>
        <p:txBody>
          <a:bodyPr/>
          <a:lstStyle/>
          <a:p>
            <a:r>
              <a:rPr lang="en-US" dirty="0"/>
              <a:t>The definition of the class for observed objects could be of the form</a:t>
            </a:r>
            <a:r>
              <a:rPr lang="en-US" dirty="0" smtClean="0"/>
              <a:t>:</a:t>
            </a:r>
          </a:p>
          <a:p>
            <a:pPr marL="0" indent="0">
              <a:buNone/>
            </a:pPr>
            <a:r>
              <a:rPr lang="en-US" b="1" dirty="0"/>
              <a:t>public class Document extends </a:t>
            </a:r>
            <a:r>
              <a:rPr lang="en-US" b="1" dirty="0" smtClean="0"/>
              <a:t>Observable</a:t>
            </a:r>
          </a:p>
          <a:p>
            <a:pPr marL="0" indent="0">
              <a:buNone/>
            </a:pPr>
            <a:r>
              <a:rPr lang="en-US" b="1" dirty="0" smtClean="0"/>
              <a:t> </a:t>
            </a:r>
            <a:r>
              <a:rPr lang="en-US" b="1" dirty="0"/>
              <a:t>{ </a:t>
            </a:r>
            <a:endParaRPr lang="en-US" b="1" dirty="0" smtClean="0"/>
          </a:p>
          <a:p>
            <a:pPr marL="0" indent="0">
              <a:buNone/>
            </a:pPr>
            <a:r>
              <a:rPr lang="en-US" b="1" dirty="0" smtClean="0"/>
              <a:t>// </a:t>
            </a:r>
            <a:r>
              <a:rPr lang="en-US" b="1" dirty="0"/>
              <a:t>Details of the class definitions </a:t>
            </a:r>
            <a:endParaRPr lang="en-US" b="1" dirty="0" smtClean="0"/>
          </a:p>
          <a:p>
            <a:pPr marL="0" indent="0">
              <a:buNone/>
            </a:pPr>
            <a:r>
              <a:rPr lang="en-US" b="1" dirty="0" smtClean="0"/>
              <a:t>}</a:t>
            </a:r>
          </a:p>
          <a:p>
            <a:pPr marL="0" indent="0">
              <a:buNone/>
            </a:pPr>
            <a:r>
              <a:rPr lang="en-US" dirty="0"/>
              <a:t>The class Document here will inherit methods from the class Observable that operate the communications to the Observer objects.</a:t>
            </a:r>
          </a:p>
        </p:txBody>
      </p:sp>
    </p:spTree>
    <p:extLst>
      <p:ext uri="{BB962C8B-B14F-4D97-AF65-F5344CB8AC3E}">
        <p14:creationId xmlns:p14="http://schemas.microsoft.com/office/powerpoint/2010/main" val="2273931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Classes of Observable Objects</a:t>
            </a:r>
          </a:p>
        </p:txBody>
      </p:sp>
      <p:sp>
        <p:nvSpPr>
          <p:cNvPr id="3" name="Content Placeholder 2"/>
          <p:cNvSpPr>
            <a:spLocks noGrp="1"/>
          </p:cNvSpPr>
          <p:nvPr>
            <p:ph sz="quarter" idx="1"/>
          </p:nvPr>
        </p:nvSpPr>
        <p:spPr/>
        <p:txBody>
          <a:bodyPr>
            <a:normAutofit fontScale="92500" lnSpcReduction="10000"/>
          </a:bodyPr>
          <a:lstStyle/>
          <a:p>
            <a:r>
              <a:rPr lang="en-US" dirty="0"/>
              <a:t>A class for observers could be defined as</a:t>
            </a:r>
            <a:r>
              <a:rPr lang="en-US" dirty="0" smtClean="0"/>
              <a:t>:</a:t>
            </a:r>
          </a:p>
          <a:p>
            <a:pPr marL="0" indent="0">
              <a:buNone/>
            </a:pPr>
            <a:r>
              <a:rPr lang="en-US" dirty="0"/>
              <a:t>public class View implements </a:t>
            </a:r>
            <a:r>
              <a:rPr lang="en-US" dirty="0" smtClean="0"/>
              <a:t>Observer</a:t>
            </a:r>
          </a:p>
          <a:p>
            <a:pPr marL="0" indent="0">
              <a:buNone/>
            </a:pPr>
            <a:r>
              <a:rPr lang="en-US" dirty="0" smtClean="0"/>
              <a:t> </a:t>
            </a:r>
            <a:r>
              <a:rPr lang="en-US" dirty="0"/>
              <a:t>{</a:t>
            </a:r>
          </a:p>
          <a:p>
            <a:pPr marL="0" indent="0">
              <a:buNone/>
            </a:pPr>
            <a:r>
              <a:rPr lang="en-US" dirty="0" smtClean="0"/>
              <a:t>public </a:t>
            </a:r>
            <a:r>
              <a:rPr lang="en-US" dirty="0"/>
              <a:t>void update(Observable </a:t>
            </a:r>
            <a:r>
              <a:rPr lang="en-US" dirty="0" err="1"/>
              <a:t>theObservableObject</a:t>
            </a:r>
            <a:r>
              <a:rPr lang="en-US" dirty="0"/>
              <a:t>, Object </a:t>
            </a:r>
            <a:r>
              <a:rPr lang="en-US" dirty="0" err="1"/>
              <a:t>arg</a:t>
            </a:r>
            <a:r>
              <a:rPr lang="en-US" dirty="0"/>
              <a:t>) {</a:t>
            </a:r>
          </a:p>
          <a:p>
            <a:pPr marL="0" indent="0">
              <a:buNone/>
            </a:pPr>
            <a:r>
              <a:rPr lang="en-US" dirty="0"/>
              <a:t>// This method is called when the observed object changes</a:t>
            </a:r>
          </a:p>
          <a:p>
            <a:pPr marL="0" indent="0">
              <a:buNone/>
            </a:pPr>
            <a:r>
              <a:rPr lang="en" dirty="0"/>
              <a:t>}</a:t>
            </a:r>
          </a:p>
          <a:p>
            <a:pPr marL="0" indent="0">
              <a:buNone/>
            </a:pPr>
            <a:r>
              <a:rPr lang="en-US" dirty="0"/>
              <a:t>// Rest of the class definition...</a:t>
            </a:r>
          </a:p>
          <a:p>
            <a:pPr marL="0" indent="0">
              <a:buNone/>
            </a:pPr>
            <a:r>
              <a:rPr lang="en" dirty="0"/>
              <a:t>}</a:t>
            </a:r>
          </a:p>
          <a:p>
            <a:pPr marL="0" indent="0">
              <a:buNone/>
            </a:pPr>
            <a:r>
              <a:rPr lang="en-US" dirty="0" smtClean="0"/>
              <a:t> </a:t>
            </a:r>
            <a:endParaRPr lang="en-US" dirty="0"/>
          </a:p>
        </p:txBody>
      </p:sp>
    </p:spTree>
    <p:extLst>
      <p:ext uri="{BB962C8B-B14F-4D97-AF65-F5344CB8AC3E}">
        <p14:creationId xmlns:p14="http://schemas.microsoft.com/office/powerpoint/2010/main" val="2144110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Classes of Observable Objects</a:t>
            </a:r>
          </a:p>
        </p:txBody>
      </p:sp>
      <p:sp>
        <p:nvSpPr>
          <p:cNvPr id="3" name="Content Placeholder 2"/>
          <p:cNvSpPr>
            <a:spLocks noGrp="1"/>
          </p:cNvSpPr>
          <p:nvPr>
            <p:ph sz="quarter" idx="1"/>
          </p:nvPr>
        </p:nvSpPr>
        <p:spPr>
          <a:xfrm>
            <a:off x="914400" y="1066800"/>
            <a:ext cx="7772400" cy="4572000"/>
          </a:xfrm>
        </p:spPr>
        <p:txBody>
          <a:bodyPr/>
          <a:lstStyle/>
          <a:p>
            <a:r>
              <a:rPr lang="en-US" dirty="0"/>
              <a:t>To implement the Observer interface, you need to define just one method, update(). </a:t>
            </a:r>
            <a:endParaRPr lang="en-US" dirty="0" smtClean="0"/>
          </a:p>
          <a:p>
            <a:r>
              <a:rPr lang="en-US" dirty="0" smtClean="0"/>
              <a:t>This </a:t>
            </a:r>
            <a:r>
              <a:rPr lang="en-US" dirty="0"/>
              <a:t>method is called automatically when an associated Observable object changes</a:t>
            </a:r>
            <a:r>
              <a:rPr lang="en-US" dirty="0" smtClean="0"/>
              <a:t>.</a:t>
            </a:r>
          </a:p>
          <a:p>
            <a:r>
              <a:rPr lang="en-US" dirty="0" smtClean="0"/>
              <a:t> </a:t>
            </a:r>
            <a:r>
              <a:rPr lang="en-US" dirty="0"/>
              <a:t>The first argument that is passed to the update() method is a reference to the Observable object that changed and caused the method to be called. </a:t>
            </a:r>
            <a:endParaRPr lang="en-US" dirty="0" smtClean="0"/>
          </a:p>
        </p:txBody>
      </p:sp>
    </p:spTree>
    <p:extLst>
      <p:ext uri="{BB962C8B-B14F-4D97-AF65-F5344CB8AC3E}">
        <p14:creationId xmlns:p14="http://schemas.microsoft.com/office/powerpoint/2010/main" val="2562294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Class Methods</a:t>
            </a:r>
          </a:p>
        </p:txBody>
      </p:sp>
      <p:sp>
        <p:nvSpPr>
          <p:cNvPr id="3" name="Content Placeholder 2"/>
          <p:cNvSpPr>
            <a:spLocks noGrp="1"/>
          </p:cNvSpPr>
          <p:nvPr>
            <p:ph sz="quarter" idx="1"/>
          </p:nvPr>
        </p:nvSpPr>
        <p:spPr>
          <a:xfrm>
            <a:off x="897340" y="1143000"/>
            <a:ext cx="7772400" cy="5486400"/>
          </a:xfrm>
        </p:spPr>
        <p:txBody>
          <a:bodyPr>
            <a:normAutofit/>
          </a:bodyPr>
          <a:lstStyle/>
          <a:p>
            <a:r>
              <a:rPr lang="en-US" dirty="0" err="1"/>
              <a:t>addObserver</a:t>
            </a:r>
            <a:r>
              <a:rPr lang="en-US" dirty="0"/>
              <a:t>(Observer o</a:t>
            </a:r>
            <a:r>
              <a:rPr lang="en-US" dirty="0" smtClean="0"/>
              <a:t>):</a:t>
            </a:r>
          </a:p>
          <a:p>
            <a:pPr lvl="1"/>
            <a:r>
              <a:rPr lang="en-US" dirty="0"/>
              <a:t>Adds the object passed as an argument to the internal record of observers. Only Observer objects in the internal record will be notified when a change in the Observable object occurs</a:t>
            </a:r>
            <a:r>
              <a:rPr lang="en-US" dirty="0" smtClean="0"/>
              <a:t>.</a:t>
            </a:r>
          </a:p>
          <a:p>
            <a:r>
              <a:rPr lang="en-US" dirty="0" err="1"/>
              <a:t>deleteObserver</a:t>
            </a:r>
            <a:r>
              <a:rPr lang="en-US" dirty="0"/>
              <a:t>(Observer o) </a:t>
            </a:r>
            <a:r>
              <a:rPr lang="en-US" dirty="0" smtClean="0"/>
              <a:t>:</a:t>
            </a:r>
          </a:p>
          <a:p>
            <a:pPr lvl="1"/>
            <a:r>
              <a:rPr lang="en-US" dirty="0" smtClean="0"/>
              <a:t>Deletes </a:t>
            </a:r>
            <a:r>
              <a:rPr lang="en-US" dirty="0"/>
              <a:t>the object passed as an argument from the internal record of observers</a:t>
            </a:r>
            <a:r>
              <a:rPr lang="en-US" dirty="0" smtClean="0"/>
              <a:t>.</a:t>
            </a:r>
          </a:p>
          <a:p>
            <a:r>
              <a:rPr lang="en-US" dirty="0" err="1"/>
              <a:t>deleteObservers</a:t>
            </a:r>
            <a:r>
              <a:rPr lang="en-US" dirty="0"/>
              <a:t>() </a:t>
            </a:r>
            <a:r>
              <a:rPr lang="en-US" dirty="0" smtClean="0"/>
              <a:t>:</a:t>
            </a:r>
          </a:p>
          <a:p>
            <a:pPr lvl="1"/>
            <a:r>
              <a:rPr lang="en-US" dirty="0" smtClean="0"/>
              <a:t>Deletes </a:t>
            </a:r>
            <a:r>
              <a:rPr lang="en-US" dirty="0"/>
              <a:t>all observers from the internal record of observers.</a:t>
            </a:r>
          </a:p>
        </p:txBody>
      </p:sp>
    </p:spTree>
    <p:extLst>
      <p:ext uri="{BB962C8B-B14F-4D97-AF65-F5344CB8AC3E}">
        <p14:creationId xmlns:p14="http://schemas.microsoft.com/office/powerpoint/2010/main" val="814871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Class Methods</a:t>
            </a:r>
          </a:p>
        </p:txBody>
      </p:sp>
      <p:sp>
        <p:nvSpPr>
          <p:cNvPr id="3" name="Content Placeholder 2"/>
          <p:cNvSpPr>
            <a:spLocks noGrp="1"/>
          </p:cNvSpPr>
          <p:nvPr>
            <p:ph sz="quarter" idx="1"/>
          </p:nvPr>
        </p:nvSpPr>
        <p:spPr>
          <a:xfrm>
            <a:off x="910988" y="1066800"/>
            <a:ext cx="7772400" cy="4572000"/>
          </a:xfrm>
        </p:spPr>
        <p:txBody>
          <a:bodyPr>
            <a:normAutofit/>
          </a:bodyPr>
          <a:lstStyle/>
          <a:p>
            <a:r>
              <a:rPr lang="en-US" dirty="0" err="1"/>
              <a:t>notifyObservers</a:t>
            </a:r>
            <a:r>
              <a:rPr lang="en-US" dirty="0"/>
              <a:t>(Object </a:t>
            </a:r>
            <a:r>
              <a:rPr lang="en-US" dirty="0" err="1"/>
              <a:t>arg</a:t>
            </a:r>
            <a:r>
              <a:rPr lang="en-US" dirty="0"/>
              <a:t>) </a:t>
            </a:r>
            <a:endParaRPr lang="en-US" dirty="0" smtClean="0"/>
          </a:p>
          <a:p>
            <a:pPr lvl="1"/>
            <a:r>
              <a:rPr lang="en-US" dirty="0" smtClean="0"/>
              <a:t>Calls </a:t>
            </a:r>
            <a:r>
              <a:rPr lang="en-US" dirty="0"/>
              <a:t>the update() method for all of the Observer objects in the internal record if the current object has been set as changed</a:t>
            </a:r>
            <a:r>
              <a:rPr lang="en-US" dirty="0" smtClean="0"/>
              <a:t>.</a:t>
            </a:r>
          </a:p>
          <a:p>
            <a:r>
              <a:rPr lang="en-US" dirty="0" err="1"/>
              <a:t>countObservers</a:t>
            </a:r>
            <a:r>
              <a:rPr lang="en-US" dirty="0"/>
              <a:t>() </a:t>
            </a:r>
            <a:endParaRPr lang="en-US" dirty="0" smtClean="0"/>
          </a:p>
          <a:p>
            <a:pPr lvl="1"/>
            <a:r>
              <a:rPr lang="en-US" dirty="0" smtClean="0"/>
              <a:t>The </a:t>
            </a:r>
            <a:r>
              <a:rPr lang="en-US" dirty="0"/>
              <a:t>count of the number of Observer objects for the current object is returned as type </a:t>
            </a:r>
            <a:r>
              <a:rPr lang="en-US" dirty="0" err="1" smtClean="0"/>
              <a:t>int</a:t>
            </a:r>
            <a:endParaRPr lang="en-US" dirty="0" smtClean="0"/>
          </a:p>
          <a:p>
            <a:r>
              <a:rPr lang="en-US" dirty="0" err="1"/>
              <a:t>setChanged</a:t>
            </a:r>
            <a:r>
              <a:rPr lang="en-US" dirty="0"/>
              <a:t>() </a:t>
            </a:r>
            <a:endParaRPr lang="en-US" dirty="0" smtClean="0"/>
          </a:p>
          <a:p>
            <a:pPr lvl="1"/>
            <a:r>
              <a:rPr lang="en-US" dirty="0" smtClean="0"/>
              <a:t>Sets </a:t>
            </a:r>
            <a:r>
              <a:rPr lang="en-US" dirty="0"/>
              <a:t>the current object as changed. You must call this method before calling the </a:t>
            </a:r>
            <a:r>
              <a:rPr lang="en-US" dirty="0" err="1"/>
              <a:t>notifyObservers</a:t>
            </a:r>
            <a:r>
              <a:rPr lang="en-US" dirty="0"/>
              <a:t>() method. Note that this method is protected.</a:t>
            </a:r>
          </a:p>
        </p:txBody>
      </p:sp>
    </p:spTree>
    <p:extLst>
      <p:ext uri="{BB962C8B-B14F-4D97-AF65-F5344CB8AC3E}">
        <p14:creationId xmlns:p14="http://schemas.microsoft.com/office/powerpoint/2010/main" val="3593753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Observable Class Methods</a:t>
            </a:r>
          </a:p>
        </p:txBody>
      </p:sp>
      <p:sp>
        <p:nvSpPr>
          <p:cNvPr id="3" name="Content Placeholder 2"/>
          <p:cNvSpPr>
            <a:spLocks noGrp="1"/>
          </p:cNvSpPr>
          <p:nvPr>
            <p:ph sz="quarter" idx="1"/>
          </p:nvPr>
        </p:nvSpPr>
        <p:spPr>
          <a:xfrm>
            <a:off x="914400" y="914400"/>
            <a:ext cx="7772400" cy="4572000"/>
          </a:xfrm>
        </p:spPr>
        <p:txBody>
          <a:bodyPr/>
          <a:lstStyle/>
          <a:p>
            <a:r>
              <a:rPr lang="en-US" dirty="0" err="1"/>
              <a:t>hasChanged</a:t>
            </a:r>
            <a:r>
              <a:rPr lang="en-US" dirty="0"/>
              <a:t>() </a:t>
            </a:r>
            <a:r>
              <a:rPr lang="en-US" dirty="0" smtClean="0"/>
              <a:t>:</a:t>
            </a:r>
          </a:p>
          <a:p>
            <a:pPr lvl="1"/>
            <a:r>
              <a:rPr lang="en-US" dirty="0" smtClean="0"/>
              <a:t>Returns </a:t>
            </a:r>
            <a:r>
              <a:rPr lang="en-US" dirty="0"/>
              <a:t>true if the object has been set as changed, and false otherwise</a:t>
            </a:r>
            <a:r>
              <a:rPr lang="en-US" dirty="0" smtClean="0"/>
              <a:t>.</a:t>
            </a:r>
          </a:p>
          <a:p>
            <a:r>
              <a:rPr lang="en-US" dirty="0" err="1"/>
              <a:t>clearChanged</a:t>
            </a:r>
            <a:r>
              <a:rPr lang="en-US" dirty="0" smtClean="0"/>
              <a:t>():</a:t>
            </a:r>
          </a:p>
          <a:p>
            <a:pPr lvl="1"/>
            <a:r>
              <a:rPr lang="en-US" dirty="0" smtClean="0"/>
              <a:t> </a:t>
            </a:r>
            <a:r>
              <a:rPr lang="en-US" dirty="0"/>
              <a:t>Resets the changed status of the current object to unchanged. Note that this method is also protected</a:t>
            </a:r>
          </a:p>
        </p:txBody>
      </p:sp>
    </p:spTree>
    <p:extLst>
      <p:ext uri="{BB962C8B-B14F-4D97-AF65-F5344CB8AC3E}">
        <p14:creationId xmlns:p14="http://schemas.microsoft.com/office/powerpoint/2010/main" val="1816855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5562600"/>
          </a:xfrm>
        </p:spPr>
        <p:txBody>
          <a:bodyPr>
            <a:normAutofit fontScale="92500" lnSpcReduction="20000"/>
          </a:bodyPr>
          <a:lstStyle/>
          <a:p>
            <a:pPr marL="0" indent="0">
              <a:buNone/>
            </a:pPr>
            <a:r>
              <a:rPr lang="en-US" dirty="0"/>
              <a:t>import </a:t>
            </a:r>
            <a:r>
              <a:rPr lang="en-US" dirty="0" err="1"/>
              <a:t>java.util</a:t>
            </a:r>
            <a:r>
              <a:rPr lang="en-US" dirty="0"/>
              <a:t>.*;</a:t>
            </a:r>
          </a:p>
          <a:p>
            <a:pPr marL="0" indent="0">
              <a:buNone/>
            </a:pPr>
            <a:r>
              <a:rPr lang="en-US" dirty="0"/>
              <a:t>class </a:t>
            </a:r>
            <a:r>
              <a:rPr lang="en-US" dirty="0" err="1"/>
              <a:t>BeingObserved</a:t>
            </a:r>
            <a:r>
              <a:rPr lang="en-US" dirty="0"/>
              <a:t> extends Observable {</a:t>
            </a:r>
          </a:p>
          <a:p>
            <a:pPr marL="0" indent="0">
              <a:buNone/>
            </a:pPr>
            <a:r>
              <a:rPr lang="en-US" dirty="0"/>
              <a:t>    void func1() {</a:t>
            </a:r>
          </a:p>
          <a:p>
            <a:pPr marL="0" indent="0">
              <a:buNone/>
            </a:pPr>
            <a:r>
              <a:rPr lang="en-US" dirty="0"/>
              <a:t>        </a:t>
            </a:r>
            <a:r>
              <a:rPr lang="en-US" dirty="0" err="1"/>
              <a:t>setChanged</a:t>
            </a:r>
            <a:r>
              <a:rPr lang="en-US" dirty="0"/>
              <a:t>();</a:t>
            </a:r>
          </a:p>
          <a:p>
            <a:pPr marL="0" indent="0">
              <a:buNone/>
            </a:pPr>
            <a:r>
              <a:rPr lang="en-US" dirty="0"/>
              <a:t>        </a:t>
            </a:r>
            <a:r>
              <a:rPr lang="en-US" dirty="0" err="1"/>
              <a:t>System.out.println</a:t>
            </a:r>
            <a:r>
              <a:rPr lang="en-US" dirty="0"/>
              <a:t>("Change status with </a:t>
            </a:r>
            <a:r>
              <a:rPr lang="en-US" dirty="0" err="1"/>
              <a:t>setChanged</a:t>
            </a:r>
            <a:r>
              <a:rPr lang="en-US" dirty="0"/>
              <a:t> :" + </a:t>
            </a:r>
            <a:r>
              <a:rPr lang="en-US" dirty="0" err="1"/>
              <a:t>hasChanged</a:t>
            </a:r>
            <a:r>
              <a:rPr lang="en-US" dirty="0"/>
              <a:t>());</a:t>
            </a:r>
          </a:p>
          <a:p>
            <a:pPr marL="0" indent="0">
              <a:buNone/>
            </a:pPr>
            <a:r>
              <a:rPr lang="en-US" dirty="0"/>
              <a:t>        </a:t>
            </a:r>
            <a:r>
              <a:rPr lang="en-US" dirty="0" err="1"/>
              <a:t>notifyObservers</a:t>
            </a:r>
            <a:r>
              <a:rPr lang="en-US" dirty="0"/>
              <a:t>();</a:t>
            </a:r>
          </a:p>
          <a:p>
            <a:pPr marL="0" indent="0">
              <a:buNone/>
            </a:pPr>
            <a:r>
              <a:rPr lang="en-US" dirty="0"/>
              <a:t>    }</a:t>
            </a:r>
          </a:p>
          <a:p>
            <a:pPr marL="0" indent="0">
              <a:buNone/>
            </a:pPr>
            <a:endParaRPr lang="en-US" dirty="0"/>
          </a:p>
          <a:p>
            <a:pPr marL="0" indent="0">
              <a:buNone/>
            </a:pPr>
            <a:r>
              <a:rPr lang="en-US" dirty="0"/>
              <a:t>    void func2() {</a:t>
            </a:r>
          </a:p>
          <a:p>
            <a:pPr marL="0" indent="0">
              <a:buNone/>
            </a:pPr>
            <a:r>
              <a:rPr lang="en-US" dirty="0"/>
              <a:t>        </a:t>
            </a:r>
            <a:r>
              <a:rPr lang="en-US" dirty="0" err="1"/>
              <a:t>System.out.println</a:t>
            </a:r>
            <a:r>
              <a:rPr lang="en-US" dirty="0"/>
              <a:t>("Change status without </a:t>
            </a:r>
            <a:r>
              <a:rPr lang="en-US" dirty="0" err="1"/>
              <a:t>setChanged</a:t>
            </a:r>
            <a:r>
              <a:rPr lang="en-US" dirty="0"/>
              <a:t> :" + </a:t>
            </a:r>
            <a:r>
              <a:rPr lang="en-US" dirty="0" err="1"/>
              <a:t>hasChanged</a:t>
            </a:r>
            <a:r>
              <a:rPr lang="en-US" dirty="0"/>
              <a:t>());</a:t>
            </a:r>
          </a:p>
          <a:p>
            <a:pPr marL="0" indent="0">
              <a:buNone/>
            </a:pPr>
            <a:r>
              <a:rPr lang="en-US" dirty="0"/>
              <a:t>        </a:t>
            </a:r>
            <a:r>
              <a:rPr lang="en-US" dirty="0" err="1"/>
              <a:t>notifyObservers</a:t>
            </a:r>
            <a:r>
              <a:rPr lang="en-US" dirty="0"/>
              <a:t>();</a:t>
            </a:r>
          </a:p>
          <a:p>
            <a:pPr marL="0" indent="0">
              <a:buNone/>
            </a:pPr>
            <a:r>
              <a:rPr lang="en-US" dirty="0"/>
              <a:t>    }</a:t>
            </a:r>
          </a:p>
          <a:p>
            <a:pPr marL="0" indent="0">
              <a:buNone/>
            </a:pPr>
            <a:r>
              <a:rPr lang="en-US" dirty="0"/>
              <a:t>}</a:t>
            </a:r>
          </a:p>
          <a:p>
            <a:pPr marL="0" indent="0">
              <a:buNone/>
            </a:pPr>
            <a:endParaRPr lang="en-US" dirty="0"/>
          </a:p>
          <a:p>
            <a:endParaRPr lang="en-US" dirty="0"/>
          </a:p>
        </p:txBody>
      </p:sp>
    </p:spTree>
    <p:extLst>
      <p:ext uri="{BB962C8B-B14F-4D97-AF65-F5344CB8AC3E}">
        <p14:creationId xmlns:p14="http://schemas.microsoft.com/office/powerpoint/2010/main" val="324104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143000"/>
            <a:ext cx="7772400" cy="5486400"/>
          </a:xfrm>
        </p:spPr>
        <p:txBody>
          <a:bodyPr>
            <a:normAutofit fontScale="77500" lnSpcReduction="20000"/>
          </a:bodyPr>
          <a:lstStyle/>
          <a:p>
            <a:pPr marL="0" indent="0">
              <a:buNone/>
            </a:pPr>
            <a:r>
              <a:rPr lang="en-US" dirty="0"/>
              <a:t>class Observer1 implements Observer {</a:t>
            </a:r>
          </a:p>
          <a:p>
            <a:pPr marL="0" indent="0">
              <a:buNone/>
            </a:pPr>
            <a:r>
              <a:rPr lang="en-US" dirty="0"/>
              <a:t>    public void update(Observable </a:t>
            </a:r>
            <a:r>
              <a:rPr lang="en-US" dirty="0" err="1"/>
              <a:t>obj</a:t>
            </a:r>
            <a:r>
              <a:rPr lang="en-US" dirty="0"/>
              <a:t>, Object </a:t>
            </a:r>
            <a:r>
              <a:rPr lang="en-US" dirty="0" err="1"/>
              <a:t>arg</a:t>
            </a:r>
            <a:r>
              <a:rPr lang="en-US" dirty="0"/>
              <a:t>) {</a:t>
            </a:r>
          </a:p>
          <a:p>
            <a:pPr marL="0" indent="0">
              <a:buNone/>
            </a:pPr>
            <a:r>
              <a:rPr lang="en-US" dirty="0"/>
              <a:t>        </a:t>
            </a:r>
            <a:r>
              <a:rPr lang="en-US" dirty="0" err="1"/>
              <a:t>System.out.println</a:t>
            </a:r>
            <a:r>
              <a:rPr lang="en-US" dirty="0"/>
              <a:t>("Object has changed");</a:t>
            </a:r>
          </a:p>
          <a:p>
            <a:pPr marL="0" indent="0">
              <a:buNone/>
            </a:pPr>
            <a:r>
              <a:rPr lang="en-US" dirty="0"/>
              <a:t>    }</a:t>
            </a:r>
          </a:p>
          <a:p>
            <a:pPr marL="0" indent="0">
              <a:buNone/>
            </a:pPr>
            <a:r>
              <a:rPr lang="en-US" dirty="0" smtClean="0"/>
              <a:t>}</a:t>
            </a:r>
          </a:p>
          <a:p>
            <a:pPr marL="0" indent="0">
              <a:buNone/>
            </a:pPr>
            <a:endParaRPr lang="en-US" dirty="0"/>
          </a:p>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a:t>
            </a:r>
            <a:r>
              <a:rPr lang="en-US" dirty="0" err="1"/>
              <a:t>boolean</a:t>
            </a:r>
            <a:r>
              <a:rPr lang="en-US" dirty="0"/>
              <a:t> status;</a:t>
            </a:r>
          </a:p>
          <a:p>
            <a:pPr marL="0" indent="0">
              <a:buNone/>
            </a:pPr>
            <a:r>
              <a:rPr lang="en-US" dirty="0"/>
              <a:t>        </a:t>
            </a:r>
            <a:r>
              <a:rPr lang="en-US" dirty="0" err="1"/>
              <a:t>BeingObserved</a:t>
            </a:r>
            <a:r>
              <a:rPr lang="en-US" dirty="0"/>
              <a:t> </a:t>
            </a:r>
            <a:r>
              <a:rPr lang="en-US" dirty="0" err="1"/>
              <a:t>beingObserved</a:t>
            </a:r>
            <a:r>
              <a:rPr lang="en-US" dirty="0"/>
              <a:t> = new </a:t>
            </a:r>
            <a:r>
              <a:rPr lang="en-US" dirty="0" err="1"/>
              <a:t>BeingObserved</a:t>
            </a:r>
            <a:r>
              <a:rPr lang="en-US" dirty="0"/>
              <a:t>();</a:t>
            </a:r>
          </a:p>
          <a:p>
            <a:pPr marL="0" indent="0">
              <a:buNone/>
            </a:pPr>
            <a:r>
              <a:rPr lang="en-US" dirty="0"/>
              <a:t>        Observer1 </a:t>
            </a:r>
            <a:r>
              <a:rPr lang="en-US" dirty="0" err="1"/>
              <a:t>observer1</a:t>
            </a:r>
            <a:r>
              <a:rPr lang="en-US" dirty="0"/>
              <a:t> = new Observer1();</a:t>
            </a:r>
          </a:p>
          <a:p>
            <a:pPr marL="0" indent="0">
              <a:buNone/>
            </a:pPr>
            <a:r>
              <a:rPr lang="en-US" dirty="0"/>
              <a:t>        </a:t>
            </a:r>
            <a:r>
              <a:rPr lang="en-US" dirty="0" err="1"/>
              <a:t>beingObserved.addObserver</a:t>
            </a:r>
            <a:r>
              <a:rPr lang="en-US" dirty="0"/>
              <a:t>(observer1);</a:t>
            </a:r>
          </a:p>
          <a:p>
            <a:pPr marL="0" indent="0">
              <a:buNone/>
            </a:pPr>
            <a:r>
              <a:rPr lang="en-US" dirty="0"/>
              <a:t>        beingObserved.func1();</a:t>
            </a:r>
          </a:p>
          <a:p>
            <a:pPr marL="0" indent="0">
              <a:buNone/>
            </a:pPr>
            <a:r>
              <a:rPr lang="en-US" dirty="0"/>
              <a:t>        beingObserved.func2();</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6885837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2171</TotalTime>
  <Words>2639</Words>
  <Application>Microsoft Office PowerPoint</Application>
  <PresentationFormat>On-screen Show (4:3)</PresentationFormat>
  <Paragraphs>286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Cambria</vt:lpstr>
      <vt:lpstr>Franklin Gothic Book</vt:lpstr>
      <vt:lpstr>Perpetua</vt:lpstr>
      <vt:lpstr>Wingdings 2</vt:lpstr>
      <vt:lpstr>Equity</vt:lpstr>
      <vt:lpstr>Java Programming</vt:lpstr>
      <vt:lpstr>A Collection of Useful Classes</vt:lpstr>
      <vt:lpstr>Utility Methods for Arrays:</vt:lpstr>
      <vt:lpstr>Utility Methods for Arrays:</vt:lpstr>
      <vt:lpstr>Example</vt:lpstr>
      <vt:lpstr>Comparing Arrays</vt:lpstr>
      <vt:lpstr>Example</vt:lpstr>
      <vt:lpstr>Sorting Arrays</vt:lpstr>
      <vt:lpstr>Example</vt:lpstr>
      <vt:lpstr>Searching Arrays</vt:lpstr>
      <vt:lpstr>Example</vt:lpstr>
      <vt:lpstr>The Date Class</vt:lpstr>
      <vt:lpstr>The Date Class</vt:lpstr>
      <vt:lpstr>The Date Class</vt:lpstr>
      <vt:lpstr>The Date Class</vt:lpstr>
      <vt:lpstr>Regular Expressions</vt:lpstr>
      <vt:lpstr>Regular Expressions</vt:lpstr>
      <vt:lpstr>Regular Expressions</vt:lpstr>
      <vt:lpstr>Regular Expressions</vt:lpstr>
      <vt:lpstr>Regular Expressions</vt:lpstr>
      <vt:lpstr>Using a Scanner</vt:lpstr>
      <vt:lpstr>Using a Scanner</vt:lpstr>
      <vt:lpstr>Using a Scanner</vt:lpstr>
      <vt:lpstr>Using a Scanner</vt:lpstr>
      <vt:lpstr>Observable and Observer Objects</vt:lpstr>
      <vt:lpstr>Observable and Observer Objects</vt:lpstr>
      <vt:lpstr>Observable and Observer Objects</vt:lpstr>
      <vt:lpstr>Defining Classes of Observable Objects</vt:lpstr>
      <vt:lpstr>Defining Classes of Observable Objects</vt:lpstr>
      <vt:lpstr>Defining Classes of Observable Objects</vt:lpstr>
      <vt:lpstr>Defining Classes of Observable Objects</vt:lpstr>
      <vt:lpstr>Observable Class Methods</vt:lpstr>
      <vt:lpstr>Observable Class Methods</vt:lpstr>
      <vt:lpstr>Observable Class Methods</vt:lpstr>
      <vt:lpstr>Example</vt:lpstr>
      <vt:lpstr>Example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922</cp:revision>
  <dcterms:created xsi:type="dcterms:W3CDTF">2017-12-14T08:59:32Z</dcterms:created>
  <dcterms:modified xsi:type="dcterms:W3CDTF">2023-10-26T20:14:25Z</dcterms:modified>
</cp:coreProperties>
</file>