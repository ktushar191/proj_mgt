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0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2" r:id="rId27"/>
    <p:sldId id="283" r:id="rId28"/>
    <p:sldId id="284" r:id="rId29"/>
    <p:sldId id="281"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3612E1-50BB-4D39-A947-2FA1985E3DC1}" type="datetimeFigureOut">
              <a:rPr lang="en-US" smtClean="0"/>
              <a:t>22-Aug-23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F4A13E-E486-4652-91A6-C373BCC91415}" type="slidenum">
              <a:rPr lang="en-US" smtClean="0"/>
              <a:t>‹#›</a:t>
            </a:fld>
            <a:endParaRPr lang="en-US"/>
          </a:p>
        </p:txBody>
      </p:sp>
    </p:spTree>
    <p:extLst>
      <p:ext uri="{BB962C8B-B14F-4D97-AF65-F5344CB8AC3E}">
        <p14:creationId xmlns:p14="http://schemas.microsoft.com/office/powerpoint/2010/main" val="36310745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lvl1pPr>
              <a:defRPr>
                <a:latin typeface="Cambria" pitchFamily="18" charset="0"/>
              </a:defRPr>
            </a:lvl1pPr>
          </a:lstStyle>
          <a:p>
            <a:fld id="{1D65F0D8-3483-4E75-BE56-B8181858E28A}" type="datetimeFigureOut">
              <a:rPr lang="en-US" smtClean="0"/>
              <a:pPr/>
              <a:t>22-Aug-23</a:t>
            </a:fld>
            <a:endParaRPr lang="en-US" dirty="0"/>
          </a:p>
        </p:txBody>
      </p:sp>
      <p:sp>
        <p:nvSpPr>
          <p:cNvPr id="17" name="Footer Placeholder 16"/>
          <p:cNvSpPr>
            <a:spLocks noGrp="1"/>
          </p:cNvSpPr>
          <p:nvPr>
            <p:ph type="ftr" sz="quarter" idx="11"/>
          </p:nvPr>
        </p:nvSpPr>
        <p:spPr/>
        <p:txBody>
          <a:bodyPr/>
          <a:lstStyle>
            <a:lvl1pPr>
              <a:defRPr>
                <a:latin typeface="Cambria" pitchFamily="18" charset="0"/>
              </a:defRPr>
            </a:lvl1pPr>
          </a:lstStyle>
          <a:p>
            <a:endParaRPr lang="en-US" dirty="0"/>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48ED27E2-38FA-439A-8819-60CEBB2B9B55}"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latin typeface="Cambria" pitchFamily="18" charset="0"/>
              </a:defRPr>
            </a:lvl1pPr>
          </a:lstStyle>
          <a:p>
            <a:r>
              <a:rPr kumimoji="0" lang="en-US" dirty="0" smtClean="0"/>
              <a:t>Click to edit Master title style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solidFill>
            <a:schemeClr val="accent1"/>
          </a:solidFill>
        </p:spPr>
        <p:txBody>
          <a:bodyPr/>
          <a:lstStyle/>
          <a:p>
            <a:r>
              <a:rPr kumimoji="0" lang="en-US" dirty="0" smtClean="0"/>
              <a:t>Click to edit Master title style</a:t>
            </a:r>
            <a:endParaRPr kumimoji="0" lang="en-US" dirty="0"/>
          </a:p>
        </p:txBody>
      </p:sp>
      <p:sp>
        <p:nvSpPr>
          <p:cNvPr id="4" name="Date Placeholder 3"/>
          <p:cNvSpPr>
            <a:spLocks noGrp="1"/>
          </p:cNvSpPr>
          <p:nvPr>
            <p:ph type="dt" sz="half" idx="10"/>
          </p:nvPr>
        </p:nvSpPr>
        <p:spPr/>
        <p:txBody>
          <a:bodyPr/>
          <a:lstStyle/>
          <a:p>
            <a:fld id="{1D65F0D8-3483-4E75-BE56-B8181858E28A}" type="datetimeFigureOut">
              <a:rPr lang="en-US" smtClean="0"/>
              <a:pPr/>
              <a:t>22-Aug-23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ED27E2-38FA-439A-8819-60CEBB2B9B55}"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dirty="0" smtClean="0"/>
              <a:t>Click to edit Master title style</a:t>
            </a:r>
            <a:endParaRPr kumimoji="0" lang="en-US" dirty="0"/>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dirty="0" smtClean="0"/>
              <a:t>Click to edit Master text styles</a:t>
            </a:r>
          </a:p>
        </p:txBody>
      </p:sp>
      <p:sp>
        <p:nvSpPr>
          <p:cNvPr id="4" name="Date Placeholder 3"/>
          <p:cNvSpPr>
            <a:spLocks noGrp="1"/>
          </p:cNvSpPr>
          <p:nvPr>
            <p:ph type="dt" sz="half" idx="10"/>
          </p:nvPr>
        </p:nvSpPr>
        <p:spPr/>
        <p:txBody>
          <a:bodyPr/>
          <a:lstStyle/>
          <a:p>
            <a:fld id="{1D65F0D8-3483-4E75-BE56-B8181858E28A}" type="datetimeFigureOut">
              <a:rPr lang="en-US" smtClean="0"/>
              <a:pPr/>
              <a:t>22-Aug-23</a:t>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48ED27E2-38FA-439A-8819-60CEBB2B9B55}"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dirty="0" smtClean="0"/>
              <a:t>Click to edit Master title style</a:t>
            </a:r>
            <a:endParaRPr kumimoji="0" lang="en-US" dirty="0"/>
          </a:p>
        </p:txBody>
      </p:sp>
      <p:sp>
        <p:nvSpPr>
          <p:cNvPr id="5" name="Date Placeholder 4"/>
          <p:cNvSpPr>
            <a:spLocks noGrp="1"/>
          </p:cNvSpPr>
          <p:nvPr>
            <p:ph type="dt" sz="half" idx="10"/>
          </p:nvPr>
        </p:nvSpPr>
        <p:spPr/>
        <p:txBody>
          <a:bodyPr/>
          <a:lstStyle/>
          <a:p>
            <a:fld id="{1D65F0D8-3483-4E75-BE56-B8181858E28A}" type="datetimeFigureOut">
              <a:rPr lang="en-US" smtClean="0"/>
              <a:pPr/>
              <a:t>22-Aug-23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ED27E2-38FA-439A-8819-60CEBB2B9B55}"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1D65F0D8-3483-4E75-BE56-B8181858E28A}" type="datetimeFigureOut">
              <a:rPr lang="en-US" smtClean="0"/>
              <a:pPr/>
              <a:t>22-Aug-23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ED27E2-38FA-439A-8819-60CEBB2B9B55}"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dirty="0" smtClean="0"/>
              <a:t>Click to edit Master title style</a:t>
            </a:r>
            <a:endParaRPr kumimoji="0" lang="en-US" dirty="0"/>
          </a:p>
        </p:txBody>
      </p:sp>
      <p:sp>
        <p:nvSpPr>
          <p:cNvPr id="3" name="Date Placeholder 2"/>
          <p:cNvSpPr>
            <a:spLocks noGrp="1"/>
          </p:cNvSpPr>
          <p:nvPr>
            <p:ph type="dt" sz="half" idx="10"/>
          </p:nvPr>
        </p:nvSpPr>
        <p:spPr/>
        <p:txBody>
          <a:bodyPr/>
          <a:lstStyle/>
          <a:p>
            <a:fld id="{1D65F0D8-3483-4E75-BE56-B8181858E28A}" type="datetimeFigureOut">
              <a:rPr lang="en-US" smtClean="0"/>
              <a:pPr/>
              <a:t>22-Aug-23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ED27E2-38FA-439A-8819-60CEBB2B9B5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65F0D8-3483-4E75-BE56-B8181858E28A}" type="datetimeFigureOut">
              <a:rPr lang="en-US" smtClean="0"/>
              <a:pPr/>
              <a:t>22-Aug-23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ED27E2-38FA-439A-8819-60CEBB2B9B5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65F0D8-3483-4E75-BE56-B8181858E28A}" type="datetimeFigureOut">
              <a:rPr lang="en-US" smtClean="0"/>
              <a:pPr/>
              <a:t>22-Aug-23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ED27E2-38FA-439A-8819-60CEBB2B9B55}"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65F0D8-3483-4E75-BE56-B8181858E28A}" type="datetimeFigureOut">
              <a:rPr lang="en-US" smtClean="0"/>
              <a:pPr/>
              <a:t>22-Aug-23</a:t>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48ED27E2-38FA-439A-8819-60CEBB2B9B55}"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65F0D8-3483-4E75-BE56-B8181858E28A}" type="datetimeFigureOut">
              <a:rPr lang="en-US" smtClean="0"/>
              <a:pPr/>
              <a:t>22-Aug-23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ED27E2-38FA-439A-8819-60CEBB2B9B5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65F0D8-3483-4E75-BE56-B8181858E28A}" type="datetimeFigureOut">
              <a:rPr lang="en-US" smtClean="0"/>
              <a:pPr/>
              <a:t>22-Aug-23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ED27E2-38FA-439A-8819-60CEBB2B9B5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487362"/>
          </a:xfrm>
          <a:prstGeom prst="rect">
            <a:avLst/>
          </a:prstGeom>
          <a:solidFill>
            <a:schemeClr val="accent1">
              <a:alpha val="72000"/>
            </a:schemeClr>
          </a:solidFill>
        </p:spPr>
        <p:txBody>
          <a:bodyPr bIns="91440" anchor="b" anchorCtr="0">
            <a:noAutofit/>
          </a:bodyPr>
          <a:lstStyle/>
          <a:p>
            <a:r>
              <a:rPr kumimoji="0" lang="en-US" dirty="0" smtClean="0"/>
              <a:t>Click to edit Master title style</a:t>
            </a:r>
            <a:endParaRPr kumimoji="0" lang="en-US" dirty="0"/>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1D65F0D8-3483-4E75-BE56-B8181858E28A}" type="datetimeFigureOut">
              <a:rPr lang="en-US" smtClean="0"/>
              <a:pPr/>
              <a:t>22-Aug-23</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48ED27E2-38FA-439A-8819-60CEBB2B9B5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2800" b="1" kern="1200">
          <a:solidFill>
            <a:schemeClr val="bg1"/>
          </a:solidFill>
          <a:latin typeface="Cambria" pitchFamily="18" charset="0"/>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Cambria" pitchFamily="18" charset="0"/>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Cambria" pitchFamily="18" charset="0"/>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Cambria" pitchFamily="18" charset="0"/>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Cambria" pitchFamily="18" charset="0"/>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Cambria" pitchFamily="18" charset="0"/>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javatpoint.com/jsp-tutorial" TargetMode="External"/><Relationship Id="rId7" Type="http://schemas.openxmlformats.org/officeDocument/2006/relationships/hyperlink" Target="https://www.javatpoint.com/jsf-tutorial" TargetMode="External"/><Relationship Id="rId2" Type="http://schemas.openxmlformats.org/officeDocument/2006/relationships/hyperlink" Target="https://www.javatpoint.com/servlet-tutorial" TargetMode="External"/><Relationship Id="rId1" Type="http://schemas.openxmlformats.org/officeDocument/2006/relationships/slideLayout" Target="../slideLayouts/slideLayout2.xml"/><Relationship Id="rId6" Type="http://schemas.openxmlformats.org/officeDocument/2006/relationships/hyperlink" Target="https://www.javatpoint.com/hibernate-tutorial" TargetMode="External"/><Relationship Id="rId5" Type="http://schemas.openxmlformats.org/officeDocument/2006/relationships/hyperlink" Target="https://www.javatpoint.com/spring-tutorial" TargetMode="External"/><Relationship Id="rId4" Type="http://schemas.openxmlformats.org/officeDocument/2006/relationships/hyperlink" Target="https://www.javatpoint.com/struts-2-tutorial" TargetMode="External"/></Relationships>
</file>

<file path=ppt/slides/_rels/slide5.xml.rels><?xml version="1.0" encoding="UTF-8" standalone="yes"?>
<Relationships xmlns="http://schemas.openxmlformats.org/package/2006/relationships"><Relationship Id="rId2" Type="http://schemas.openxmlformats.org/officeDocument/2006/relationships/hyperlink" Target="https://www.javatpoint.com/ejb-tutorial"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8.xml.rels><?xml version="1.0" encoding="UTF-8" standalone="yes"?>
<Relationships xmlns="http://schemas.openxmlformats.org/package/2006/relationships"><Relationship Id="rId3" Type="http://schemas.openxmlformats.org/officeDocument/2006/relationships/hyperlink" Target="https://code4coding.com/datatype-and-variables-in-javaprogramming-language/" TargetMode="External"/><Relationship Id="rId2" Type="http://schemas.openxmlformats.org/officeDocument/2006/relationships/hyperlink" Target="https://code4coding.com/operators-in-java/" TargetMode="External"/><Relationship Id="rId1" Type="http://schemas.openxmlformats.org/officeDocument/2006/relationships/slideLayout" Target="../slideLayouts/slideLayout2.xml"/><Relationship Id="rId4" Type="http://schemas.openxmlformats.org/officeDocument/2006/relationships/hyperlink" Target="https://code4coding.com/exception-handling-in-java/" TargetMode="External"/></Relationships>
</file>

<file path=ppt/slides/_rels/slide9.xml.rels><?xml version="1.0" encoding="UTF-8" standalone="yes"?>
<Relationships xmlns="http://schemas.openxmlformats.org/package/2006/relationships"><Relationship Id="rId2" Type="http://schemas.openxmlformats.org/officeDocument/2006/relationships/hyperlink" Target="https://code4coding.com/introduction-of-java/"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geeksforgeeks.org/difference-between-byte-code-and-machine-code/"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introcs.cs.princeton.edu/java/14array/"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www.javatpoint.com/java-tutorial"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www.javatpoint.com/java-if-else"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www.javatpoint.com/java-switch"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hyperlink" Target="https://www.javatpoint.com/java-while-loop"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hyperlink" Target="https://www.javatpoint.com/java-do-while-loop" TargetMode="Externa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hyperlink" Target="https://www.javatpoint.com/java-break"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s://www.javatpoint.com/java-continue" TargetMode="Externa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524000"/>
            <a:ext cx="8229600" cy="1470025"/>
          </a:xfrm>
        </p:spPr>
        <p:txBody>
          <a:bodyPr/>
          <a:lstStyle/>
          <a:p>
            <a:r>
              <a:rPr lang="en-US" b="0" dirty="0"/>
              <a:t>Java Programming</a:t>
            </a:r>
            <a:endParaRPr lang="en-US" dirty="0"/>
          </a:p>
        </p:txBody>
      </p:sp>
      <p:sp>
        <p:nvSpPr>
          <p:cNvPr id="6" name="Rectangle 5"/>
          <p:cNvSpPr/>
          <p:nvPr/>
        </p:nvSpPr>
        <p:spPr>
          <a:xfrm>
            <a:off x="381000" y="3105835"/>
            <a:ext cx="8305800" cy="1323439"/>
          </a:xfrm>
          <a:prstGeom prst="rect">
            <a:avLst/>
          </a:prstGeom>
        </p:spPr>
        <p:txBody>
          <a:bodyPr wrap="square">
            <a:spAutoFit/>
          </a:bodyPr>
          <a:lstStyle/>
          <a:p>
            <a:pPr algn="ctr"/>
            <a:r>
              <a:rPr lang="en-US" sz="4000" b="1" dirty="0"/>
              <a:t>Java Programming</a:t>
            </a:r>
            <a:r>
              <a:rPr lang="en-US" sz="4000" b="1" dirty="0" smtClean="0"/>
              <a:t/>
            </a:r>
            <a:br>
              <a:rPr lang="en-US" sz="4000" b="1" dirty="0" smtClean="0"/>
            </a:br>
            <a:r>
              <a:rPr lang="en-US" sz="4000" dirty="0"/>
              <a:t>IT-11</a:t>
            </a:r>
            <a:endParaRPr lang="en-US" sz="40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74638"/>
            <a:ext cx="8534400" cy="563562"/>
          </a:xfrm>
        </p:spPr>
        <p:txBody>
          <a:bodyPr>
            <a:noAutofit/>
          </a:bodyPr>
          <a:lstStyle/>
          <a:p>
            <a:r>
              <a:rPr lang="en-US" sz="2400" dirty="0" smtClean="0">
                <a:latin typeface="Calibri"/>
                <a:cs typeface="Calibri"/>
              </a:rPr>
              <a:t/>
            </a:r>
            <a:br>
              <a:rPr lang="en-US" sz="2400" dirty="0" smtClean="0">
                <a:latin typeface="Calibri"/>
                <a:cs typeface="Calibri"/>
              </a:rPr>
            </a:br>
            <a:r>
              <a:rPr lang="en-US" sz="2400" dirty="0" smtClean="0">
                <a:latin typeface="Calibri"/>
                <a:cs typeface="Calibri"/>
              </a:rPr>
              <a:t/>
            </a:r>
            <a:br>
              <a:rPr lang="en-US" sz="2400" dirty="0" smtClean="0">
                <a:latin typeface="Calibri"/>
                <a:cs typeface="Calibri"/>
              </a:rPr>
            </a:br>
            <a:r>
              <a:rPr lang="en-US" sz="2400" dirty="0" smtClean="0">
                <a:latin typeface="Calibri"/>
                <a:cs typeface="Calibri"/>
              </a:rPr>
              <a:t/>
            </a:r>
            <a:br>
              <a:rPr lang="en-US" sz="2400" dirty="0" smtClean="0">
                <a:latin typeface="Calibri"/>
                <a:cs typeface="Calibri"/>
              </a:rPr>
            </a:br>
            <a:r>
              <a:rPr lang="en-US" sz="2400" b="0" dirty="0"/>
              <a:t>About Java</a:t>
            </a:r>
            <a:endParaRPr lang="en-US" sz="2400" dirty="0"/>
          </a:p>
        </p:txBody>
      </p:sp>
      <p:sp>
        <p:nvSpPr>
          <p:cNvPr id="3" name="Content Placeholder 2"/>
          <p:cNvSpPr>
            <a:spLocks noGrp="1"/>
          </p:cNvSpPr>
          <p:nvPr>
            <p:ph sz="quarter" idx="1"/>
          </p:nvPr>
        </p:nvSpPr>
        <p:spPr>
          <a:xfrm>
            <a:off x="304800" y="1447800"/>
            <a:ext cx="8610600" cy="4267200"/>
          </a:xfrm>
        </p:spPr>
        <p:txBody>
          <a:bodyPr>
            <a:normAutofit/>
          </a:bodyPr>
          <a:lstStyle/>
          <a:p>
            <a:pPr lvl="2">
              <a:buNone/>
            </a:pPr>
            <a:endParaRPr lang="en-US" sz="1600" dirty="0" smtClean="0"/>
          </a:p>
          <a:p>
            <a:r>
              <a:rPr lang="en-US" dirty="0"/>
              <a:t>Java is a high level, robust, object-oriented and secure programming language</a:t>
            </a:r>
            <a:r>
              <a:rPr lang="en-US" dirty="0" smtClean="0"/>
              <a:t>.</a:t>
            </a:r>
          </a:p>
          <a:p>
            <a:endParaRPr lang="en-US" dirty="0" smtClean="0"/>
          </a:p>
          <a:p>
            <a:r>
              <a:rPr lang="en-US" dirty="0"/>
              <a:t>Java was developed by Sun Microsystems (which is now the subsidiary of Oracle) in the year 1995</a:t>
            </a:r>
            <a:r>
              <a:rPr lang="en-US" dirty="0" smtClean="0"/>
              <a:t>.</a:t>
            </a:r>
          </a:p>
          <a:p>
            <a:endParaRPr lang="en-US" dirty="0" smtClean="0"/>
          </a:p>
          <a:p>
            <a:r>
              <a:rPr lang="en-US" i="1" dirty="0"/>
              <a:t>James Gosling</a:t>
            </a:r>
            <a:r>
              <a:rPr lang="en-US" dirty="0"/>
              <a:t> is known as the father of Java</a:t>
            </a:r>
            <a:r>
              <a:rPr lang="en-US" dirty="0" smtClean="0"/>
              <a:t>.</a:t>
            </a:r>
          </a:p>
          <a:p>
            <a:endParaRPr lang="en-US" dirty="0"/>
          </a:p>
          <a:p>
            <a:pPr marL="320040" lvl="1" indent="0">
              <a:buNone/>
            </a:pPr>
            <a:endParaRPr lang="en-US" sz="2000" dirty="0" smtClean="0"/>
          </a:p>
          <a:p>
            <a:endParaRPr lang="en-US" sz="2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Types of Java </a:t>
            </a:r>
            <a:r>
              <a:rPr lang="en-US" b="0" dirty="0" smtClean="0"/>
              <a:t>Applications :</a:t>
            </a:r>
            <a:endParaRPr lang="en-US" b="0" dirty="0"/>
          </a:p>
        </p:txBody>
      </p:sp>
      <p:sp>
        <p:nvSpPr>
          <p:cNvPr id="3" name="Content Placeholder 2"/>
          <p:cNvSpPr>
            <a:spLocks noGrp="1"/>
          </p:cNvSpPr>
          <p:nvPr>
            <p:ph sz="quarter" idx="1"/>
          </p:nvPr>
        </p:nvSpPr>
        <p:spPr/>
        <p:txBody>
          <a:bodyPr/>
          <a:lstStyle/>
          <a:p>
            <a:r>
              <a:rPr lang="en-US" dirty="0"/>
              <a:t> </a:t>
            </a:r>
            <a:r>
              <a:rPr lang="en-US" b="1" dirty="0"/>
              <a:t>Standalone </a:t>
            </a:r>
            <a:r>
              <a:rPr lang="en-US" b="1" dirty="0" smtClean="0"/>
              <a:t>Application :</a:t>
            </a:r>
          </a:p>
          <a:p>
            <a:pPr marL="320040" lvl="1" indent="0">
              <a:lnSpc>
                <a:spcPct val="150000"/>
              </a:lnSpc>
              <a:buNone/>
            </a:pPr>
            <a:r>
              <a:rPr lang="en-US" dirty="0" smtClean="0"/>
              <a:t>	Standalone </a:t>
            </a:r>
            <a:r>
              <a:rPr lang="en-US" dirty="0"/>
              <a:t>applications are also known as desktop applications or window-based applications. These are traditional software that we need to install on every machine. Examples of standalone application are Media player, antivirus, etc. </a:t>
            </a:r>
          </a:p>
          <a:p>
            <a:endParaRPr lang="en-US" dirty="0"/>
          </a:p>
        </p:txBody>
      </p:sp>
    </p:spTree>
    <p:extLst>
      <p:ext uri="{BB962C8B-B14F-4D97-AF65-F5344CB8AC3E}">
        <p14:creationId xmlns:p14="http://schemas.microsoft.com/office/powerpoint/2010/main" val="22771365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Types of Java Applications :</a:t>
            </a:r>
            <a:endParaRPr lang="en-US" dirty="0"/>
          </a:p>
        </p:txBody>
      </p:sp>
      <p:sp>
        <p:nvSpPr>
          <p:cNvPr id="3" name="Content Placeholder 2"/>
          <p:cNvSpPr>
            <a:spLocks noGrp="1"/>
          </p:cNvSpPr>
          <p:nvPr>
            <p:ph sz="quarter" idx="1"/>
          </p:nvPr>
        </p:nvSpPr>
        <p:spPr/>
        <p:txBody>
          <a:bodyPr/>
          <a:lstStyle/>
          <a:p>
            <a:r>
              <a:rPr lang="en-US" b="1" dirty="0"/>
              <a:t>Web </a:t>
            </a:r>
            <a:r>
              <a:rPr lang="en-US" b="1" dirty="0" smtClean="0"/>
              <a:t>Application :</a:t>
            </a:r>
            <a:endParaRPr lang="en-US" b="1" dirty="0"/>
          </a:p>
          <a:p>
            <a:pPr marL="0" indent="0">
              <a:lnSpc>
                <a:spcPct val="150000"/>
              </a:lnSpc>
              <a:buNone/>
            </a:pPr>
            <a:r>
              <a:rPr lang="en-US" dirty="0" smtClean="0"/>
              <a:t>	An </a:t>
            </a:r>
            <a:r>
              <a:rPr lang="en-US" dirty="0"/>
              <a:t>application that runs on the server side and creates a dynamic page is called a web application. Currently, </a:t>
            </a:r>
            <a:r>
              <a:rPr lang="en-US" dirty="0">
                <a:hlinkClick r:id="rId2"/>
              </a:rPr>
              <a:t>Servlet</a:t>
            </a:r>
            <a:r>
              <a:rPr lang="en-US" dirty="0"/>
              <a:t>, </a:t>
            </a:r>
            <a:r>
              <a:rPr lang="en-US" dirty="0">
                <a:hlinkClick r:id="rId3"/>
              </a:rPr>
              <a:t>JSP</a:t>
            </a:r>
            <a:r>
              <a:rPr lang="en-US" dirty="0"/>
              <a:t>, </a:t>
            </a:r>
            <a:r>
              <a:rPr lang="en-US" dirty="0">
                <a:hlinkClick r:id="rId4"/>
              </a:rPr>
              <a:t>Struts</a:t>
            </a:r>
            <a:r>
              <a:rPr lang="en-US" dirty="0"/>
              <a:t>, </a:t>
            </a:r>
            <a:r>
              <a:rPr lang="en-US" dirty="0">
                <a:hlinkClick r:id="rId5"/>
              </a:rPr>
              <a:t>Spring</a:t>
            </a:r>
            <a:r>
              <a:rPr lang="en-US" dirty="0"/>
              <a:t>, </a:t>
            </a:r>
            <a:r>
              <a:rPr lang="en-US" dirty="0">
                <a:hlinkClick r:id="rId6"/>
              </a:rPr>
              <a:t>Hibernate</a:t>
            </a:r>
            <a:r>
              <a:rPr lang="en-US" dirty="0"/>
              <a:t>, </a:t>
            </a:r>
            <a:r>
              <a:rPr lang="en-US" dirty="0">
                <a:hlinkClick r:id="rId7"/>
              </a:rPr>
              <a:t>JSF</a:t>
            </a:r>
            <a:r>
              <a:rPr lang="en-US" dirty="0"/>
              <a:t>, etc. technologies are used for creating web applications in Java.</a:t>
            </a:r>
          </a:p>
        </p:txBody>
      </p:sp>
    </p:spTree>
    <p:extLst>
      <p:ext uri="{BB962C8B-B14F-4D97-AF65-F5344CB8AC3E}">
        <p14:creationId xmlns:p14="http://schemas.microsoft.com/office/powerpoint/2010/main" val="31569331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smtClean="0"/>
              <a:t>Types of Java Applications :</a:t>
            </a:r>
            <a:endParaRPr lang="en-US" dirty="0"/>
          </a:p>
        </p:txBody>
      </p:sp>
      <p:sp>
        <p:nvSpPr>
          <p:cNvPr id="3" name="Content Placeholder 2"/>
          <p:cNvSpPr>
            <a:spLocks noGrp="1"/>
          </p:cNvSpPr>
          <p:nvPr>
            <p:ph sz="quarter" idx="1"/>
          </p:nvPr>
        </p:nvSpPr>
        <p:spPr/>
        <p:txBody>
          <a:bodyPr/>
          <a:lstStyle/>
          <a:p>
            <a:r>
              <a:rPr lang="en-US" b="1" dirty="0"/>
              <a:t>Enterprise </a:t>
            </a:r>
            <a:r>
              <a:rPr lang="en-US" b="1" dirty="0" smtClean="0"/>
              <a:t>Application :</a:t>
            </a:r>
          </a:p>
          <a:p>
            <a:pPr marL="320040" lvl="1" indent="0">
              <a:lnSpc>
                <a:spcPct val="150000"/>
              </a:lnSpc>
              <a:buNone/>
            </a:pPr>
            <a:r>
              <a:rPr lang="en-US" dirty="0" smtClean="0"/>
              <a:t>	An </a:t>
            </a:r>
            <a:r>
              <a:rPr lang="en-US" dirty="0"/>
              <a:t>application that is distributed in nature, such as banking applications, etc. is called an enterprise application. It has advantages like high-level security, load balancing, and clustering. In Java, </a:t>
            </a:r>
            <a:r>
              <a:rPr lang="en-US" dirty="0">
                <a:hlinkClick r:id="rId2"/>
              </a:rPr>
              <a:t>EJB</a:t>
            </a:r>
            <a:r>
              <a:rPr lang="en-US" dirty="0"/>
              <a:t> is used for creating enterprise applications.</a:t>
            </a:r>
            <a:endParaRPr lang="en-US" b="1" dirty="0"/>
          </a:p>
          <a:p>
            <a:endParaRPr lang="en-US" dirty="0"/>
          </a:p>
        </p:txBody>
      </p:sp>
    </p:spTree>
    <p:extLst>
      <p:ext uri="{BB962C8B-B14F-4D97-AF65-F5344CB8AC3E}">
        <p14:creationId xmlns:p14="http://schemas.microsoft.com/office/powerpoint/2010/main" val="391779776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Types of Java Applications :</a:t>
            </a:r>
            <a:endParaRPr lang="en-US" dirty="0"/>
          </a:p>
        </p:txBody>
      </p:sp>
      <p:sp>
        <p:nvSpPr>
          <p:cNvPr id="3" name="Content Placeholder 2"/>
          <p:cNvSpPr>
            <a:spLocks noGrp="1"/>
          </p:cNvSpPr>
          <p:nvPr>
            <p:ph sz="quarter" idx="1"/>
          </p:nvPr>
        </p:nvSpPr>
        <p:spPr/>
        <p:txBody>
          <a:bodyPr/>
          <a:lstStyle/>
          <a:p>
            <a:r>
              <a:rPr lang="en-US" b="1" dirty="0"/>
              <a:t>Mobile </a:t>
            </a:r>
            <a:r>
              <a:rPr lang="en-US" b="1" dirty="0" smtClean="0"/>
              <a:t>Application :</a:t>
            </a:r>
          </a:p>
          <a:p>
            <a:pPr marL="0" indent="0">
              <a:lnSpc>
                <a:spcPct val="150000"/>
              </a:lnSpc>
              <a:buNone/>
            </a:pPr>
            <a:r>
              <a:rPr lang="en-US" dirty="0" smtClean="0"/>
              <a:t>	An </a:t>
            </a:r>
            <a:r>
              <a:rPr lang="en-US" dirty="0"/>
              <a:t>application which is created for mobile devices is called a mobile application. Currently, Android and Java ME are used for creating mobile applications.</a:t>
            </a:r>
          </a:p>
          <a:p>
            <a:endParaRPr lang="en-US" dirty="0"/>
          </a:p>
        </p:txBody>
      </p:sp>
    </p:spTree>
    <p:extLst>
      <p:ext uri="{BB962C8B-B14F-4D97-AF65-F5344CB8AC3E}">
        <p14:creationId xmlns:p14="http://schemas.microsoft.com/office/powerpoint/2010/main" val="314375605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2000" y="985459"/>
            <a:ext cx="7772400" cy="487362"/>
          </a:xfrm>
        </p:spPr>
        <p:txBody>
          <a:bodyPr/>
          <a:lstStyle/>
          <a:p>
            <a:r>
              <a:rPr lang="en-US" b="0" dirty="0"/>
              <a:t>Flavours in Java</a:t>
            </a:r>
            <a:br>
              <a:rPr lang="en-US" b="0" dirty="0"/>
            </a:br>
            <a:r>
              <a:rPr lang="en-US" dirty="0"/>
              <a:t/>
            </a:r>
            <a:br>
              <a:rPr lang="en-US" dirty="0"/>
            </a:br>
            <a:r>
              <a:rPr lang="en-US" dirty="0"/>
              <a:t>Flavours in Java</a:t>
            </a:r>
            <a:br>
              <a:rPr lang="en-US" dirty="0"/>
            </a:br>
            <a:r>
              <a:rPr lang="en-US" dirty="0"/>
              <a:t>Flavours in Java</a:t>
            </a:r>
            <a:br>
              <a:rPr lang="en-US" dirty="0"/>
            </a:br>
            <a:r>
              <a:rPr lang="en-US" b="0" dirty="0" smtClean="0"/>
              <a:t>Flavors in Java :</a:t>
            </a:r>
            <a:endParaRPr lang="en-US" b="0" dirty="0"/>
          </a:p>
        </p:txBody>
      </p:sp>
      <p:sp>
        <p:nvSpPr>
          <p:cNvPr id="3" name="Content Placeholder 2"/>
          <p:cNvSpPr>
            <a:spLocks noGrp="1"/>
          </p:cNvSpPr>
          <p:nvPr>
            <p:ph sz="quarter" idx="1"/>
          </p:nvPr>
        </p:nvSpPr>
        <p:spPr/>
        <p:txBody>
          <a:bodyPr/>
          <a:lstStyle/>
          <a:p>
            <a:pPr>
              <a:lnSpc>
                <a:spcPct val="150000"/>
              </a:lnSpc>
            </a:pPr>
            <a:r>
              <a:rPr lang="en-US" dirty="0"/>
              <a:t>All categories of Java has been divided into 3 division and by learning each version of java, we can develop various kind of applications</a:t>
            </a:r>
            <a:r>
              <a:rPr lang="en-US" dirty="0" smtClean="0"/>
              <a:t>.</a:t>
            </a:r>
          </a:p>
          <a:p>
            <a:pPr>
              <a:lnSpc>
                <a:spcPct val="150000"/>
              </a:lnSpc>
            </a:pPr>
            <a:r>
              <a:rPr lang="en-US" dirty="0"/>
              <a:t>Java has been categorized into three </a:t>
            </a:r>
            <a:r>
              <a:rPr lang="en-US" dirty="0" smtClean="0"/>
              <a:t>flavors.</a:t>
            </a:r>
            <a:endParaRPr lang="en-US" dirty="0"/>
          </a:p>
        </p:txBody>
      </p:sp>
    </p:spTree>
    <p:extLst>
      <p:ext uri="{BB962C8B-B14F-4D97-AF65-F5344CB8AC3E}">
        <p14:creationId xmlns:p14="http://schemas.microsoft.com/office/powerpoint/2010/main" val="251846063"/>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smtClean="0"/>
              <a:t>Flavors </a:t>
            </a:r>
            <a:r>
              <a:rPr lang="en-US" b="0" dirty="0"/>
              <a:t>in Java :</a:t>
            </a:r>
            <a:endParaRPr lang="en-US" dirty="0"/>
          </a:p>
        </p:txBody>
      </p:sp>
      <p:sp>
        <p:nvSpPr>
          <p:cNvPr id="3" name="Content Placeholder 2"/>
          <p:cNvSpPr>
            <a:spLocks noGrp="1"/>
          </p:cNvSpPr>
          <p:nvPr>
            <p:ph sz="quarter" idx="1"/>
          </p:nvPr>
        </p:nvSpPr>
        <p:spPr/>
        <p:txBody>
          <a:bodyPr/>
          <a:lstStyle/>
          <a:p>
            <a:r>
              <a:rPr lang="en-US" b="1" dirty="0"/>
              <a:t>Java Standard </a:t>
            </a:r>
            <a:r>
              <a:rPr lang="en-US" b="1" dirty="0" smtClean="0"/>
              <a:t>Edition :</a:t>
            </a:r>
          </a:p>
          <a:p>
            <a:pPr lvl="1"/>
            <a:r>
              <a:rPr lang="en-US" dirty="0"/>
              <a:t>It is known as </a:t>
            </a:r>
            <a:r>
              <a:rPr lang="en-US" dirty="0" smtClean="0"/>
              <a:t>JSE</a:t>
            </a:r>
          </a:p>
          <a:p>
            <a:pPr lvl="1"/>
            <a:r>
              <a:rPr lang="en-US" dirty="0"/>
              <a:t>It is a very basic version and is the first </a:t>
            </a:r>
            <a:r>
              <a:rPr lang="en-US" dirty="0" smtClean="0"/>
              <a:t>flavor </a:t>
            </a:r>
            <a:r>
              <a:rPr lang="en-US" dirty="0"/>
              <a:t>of Java Language</a:t>
            </a:r>
            <a:r>
              <a:rPr lang="en-US" dirty="0" smtClean="0"/>
              <a:t>.</a:t>
            </a:r>
          </a:p>
          <a:p>
            <a:pPr lvl="1"/>
            <a:r>
              <a:rPr lang="en-US" dirty="0"/>
              <a:t>When we starting to learn Java, first we should learn </a:t>
            </a:r>
            <a:r>
              <a:rPr lang="en-US" i="1" dirty="0"/>
              <a:t>Java </a:t>
            </a:r>
            <a:r>
              <a:rPr lang="en-US" dirty="0"/>
              <a:t>Standard</a:t>
            </a:r>
            <a:r>
              <a:rPr lang="en-US" i="1" dirty="0"/>
              <a:t> Edition</a:t>
            </a:r>
            <a:r>
              <a:rPr lang="en-US" dirty="0"/>
              <a:t>(JSE) as this particular version of Java includes the basic application structure, Fundamental structure (</a:t>
            </a:r>
            <a:r>
              <a:rPr lang="en-US" dirty="0">
                <a:hlinkClick r:id="rId2"/>
              </a:rPr>
              <a:t>Operator</a:t>
            </a:r>
            <a:r>
              <a:rPr lang="en-US" dirty="0"/>
              <a:t>. </a:t>
            </a:r>
            <a:r>
              <a:rPr lang="en-US" dirty="0">
                <a:hlinkClick r:id="rId3"/>
              </a:rPr>
              <a:t>Data type</a:t>
            </a:r>
            <a:r>
              <a:rPr lang="en-US" dirty="0"/>
              <a:t>, OOP concept), </a:t>
            </a:r>
            <a:r>
              <a:rPr lang="en-US" dirty="0">
                <a:hlinkClick r:id="rId4"/>
              </a:rPr>
              <a:t>Exception Handling</a:t>
            </a:r>
            <a:r>
              <a:rPr lang="en-US" dirty="0"/>
              <a:t> and File handling.</a:t>
            </a:r>
            <a:endParaRPr lang="en-US" b="1" dirty="0"/>
          </a:p>
        </p:txBody>
      </p:sp>
    </p:spTree>
    <p:extLst>
      <p:ext uri="{BB962C8B-B14F-4D97-AF65-F5344CB8AC3E}">
        <p14:creationId xmlns:p14="http://schemas.microsoft.com/office/powerpoint/2010/main" val="23737973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smtClean="0"/>
              <a:t>Flavors </a:t>
            </a:r>
            <a:r>
              <a:rPr lang="en-US" b="0" dirty="0"/>
              <a:t>in Java :</a:t>
            </a:r>
            <a:endParaRPr lang="en-US" dirty="0"/>
          </a:p>
        </p:txBody>
      </p:sp>
      <p:sp>
        <p:nvSpPr>
          <p:cNvPr id="3" name="Content Placeholder 2"/>
          <p:cNvSpPr>
            <a:spLocks noGrp="1"/>
          </p:cNvSpPr>
          <p:nvPr>
            <p:ph sz="quarter" idx="1"/>
          </p:nvPr>
        </p:nvSpPr>
        <p:spPr/>
        <p:txBody>
          <a:bodyPr/>
          <a:lstStyle/>
          <a:p>
            <a:r>
              <a:rPr lang="en-US" b="1" dirty="0"/>
              <a:t>Java Standard Edition :</a:t>
            </a:r>
          </a:p>
          <a:p>
            <a:pPr lvl="1"/>
            <a:endParaRPr lang="en-US" dirty="0" smtClean="0"/>
          </a:p>
          <a:p>
            <a:pPr lvl="1"/>
            <a:r>
              <a:rPr lang="en-US" dirty="0" smtClean="0"/>
              <a:t>It </a:t>
            </a:r>
            <a:r>
              <a:rPr lang="en-US" dirty="0"/>
              <a:t>is also known as core Java. </a:t>
            </a:r>
            <a:r>
              <a:rPr lang="en-US" dirty="0" smtClean="0"/>
              <a:t>Standard </a:t>
            </a:r>
            <a:r>
              <a:rPr lang="en-US" dirty="0"/>
              <a:t>edition is a widely used platform for computer programming in the </a:t>
            </a:r>
            <a:r>
              <a:rPr lang="en-US" dirty="0">
                <a:hlinkClick r:id="rId2"/>
              </a:rPr>
              <a:t>Java </a:t>
            </a:r>
            <a:r>
              <a:rPr lang="en-US" dirty="0" smtClean="0">
                <a:hlinkClick r:id="rId2"/>
              </a:rPr>
              <a:t>language</a:t>
            </a:r>
            <a:r>
              <a:rPr lang="en-US" dirty="0" smtClean="0"/>
              <a:t>.</a:t>
            </a:r>
          </a:p>
          <a:p>
            <a:pPr lvl="1"/>
            <a:endParaRPr lang="en-US" dirty="0" smtClean="0"/>
          </a:p>
          <a:p>
            <a:pPr lvl="1"/>
            <a:r>
              <a:rPr lang="en-US" dirty="0"/>
              <a:t>Java SE consists of the virtual machine which must be used to run Java programs</a:t>
            </a:r>
            <a:endParaRPr lang="en-US" dirty="0" smtClean="0"/>
          </a:p>
          <a:p>
            <a:pPr lvl="1"/>
            <a:endParaRPr lang="en-US" dirty="0"/>
          </a:p>
        </p:txBody>
      </p:sp>
    </p:spTree>
    <p:extLst>
      <p:ext uri="{BB962C8B-B14F-4D97-AF65-F5344CB8AC3E}">
        <p14:creationId xmlns:p14="http://schemas.microsoft.com/office/powerpoint/2010/main" val="191504096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Flavors in Java :</a:t>
            </a:r>
            <a:endParaRPr lang="en-US" dirty="0"/>
          </a:p>
        </p:txBody>
      </p:sp>
      <p:sp>
        <p:nvSpPr>
          <p:cNvPr id="3" name="Content Placeholder 2"/>
          <p:cNvSpPr>
            <a:spLocks noGrp="1"/>
          </p:cNvSpPr>
          <p:nvPr>
            <p:ph sz="quarter" idx="1"/>
          </p:nvPr>
        </p:nvSpPr>
        <p:spPr>
          <a:xfrm>
            <a:off x="925773" y="1219200"/>
            <a:ext cx="7772400" cy="4953000"/>
          </a:xfrm>
        </p:spPr>
        <p:txBody>
          <a:bodyPr>
            <a:normAutofit fontScale="92500" lnSpcReduction="10000"/>
          </a:bodyPr>
          <a:lstStyle/>
          <a:p>
            <a:r>
              <a:rPr lang="en-US" b="1" dirty="0"/>
              <a:t>Java Enterprise </a:t>
            </a:r>
            <a:r>
              <a:rPr lang="en-US" b="1" dirty="0" smtClean="0"/>
              <a:t>Edition:</a:t>
            </a:r>
          </a:p>
          <a:p>
            <a:pPr lvl="1">
              <a:lnSpc>
                <a:spcPct val="150000"/>
              </a:lnSpc>
            </a:pPr>
            <a:r>
              <a:rPr lang="en-US" dirty="0" smtClean="0"/>
              <a:t>It </a:t>
            </a:r>
            <a:r>
              <a:rPr lang="en-US" dirty="0"/>
              <a:t>is known as J2EE or JEE</a:t>
            </a:r>
            <a:r>
              <a:rPr lang="en-US" dirty="0" smtClean="0"/>
              <a:t>.</a:t>
            </a:r>
          </a:p>
          <a:p>
            <a:pPr lvl="1">
              <a:lnSpc>
                <a:spcPct val="150000"/>
              </a:lnSpc>
            </a:pPr>
            <a:r>
              <a:rPr lang="en-US" dirty="0"/>
              <a:t>J2EE is build up from JSE with </a:t>
            </a:r>
            <a:r>
              <a:rPr lang="en-US" dirty="0" smtClean="0"/>
              <a:t>additional </a:t>
            </a:r>
            <a:r>
              <a:rPr lang="en-US" dirty="0"/>
              <a:t>features for business purpose</a:t>
            </a:r>
            <a:r>
              <a:rPr lang="en-US" dirty="0" smtClean="0"/>
              <a:t>.</a:t>
            </a:r>
          </a:p>
          <a:p>
            <a:pPr lvl="1">
              <a:lnSpc>
                <a:spcPct val="150000"/>
              </a:lnSpc>
            </a:pPr>
            <a:r>
              <a:rPr lang="en-US" dirty="0"/>
              <a:t>It has extra libraries which can be used to develop JEE applications</a:t>
            </a:r>
            <a:r>
              <a:rPr lang="en-US" dirty="0" smtClean="0"/>
              <a:t>.</a:t>
            </a:r>
          </a:p>
          <a:p>
            <a:pPr lvl="1">
              <a:lnSpc>
                <a:spcPct val="150000"/>
              </a:lnSpc>
            </a:pPr>
            <a:r>
              <a:rPr lang="en-US" dirty="0"/>
              <a:t>This software is based largely on modular component running on an application server</a:t>
            </a:r>
            <a:r>
              <a:rPr lang="en-US" dirty="0" smtClean="0"/>
              <a:t>.</a:t>
            </a:r>
          </a:p>
          <a:p>
            <a:pPr lvl="1">
              <a:lnSpc>
                <a:spcPct val="150000"/>
              </a:lnSpc>
            </a:pPr>
            <a:r>
              <a:rPr lang="en-US" dirty="0"/>
              <a:t>To develop the application such as Desktop base and web base we can use J2EE.</a:t>
            </a:r>
          </a:p>
        </p:txBody>
      </p:sp>
    </p:spTree>
    <p:extLst>
      <p:ext uri="{BB962C8B-B14F-4D97-AF65-F5344CB8AC3E}">
        <p14:creationId xmlns:p14="http://schemas.microsoft.com/office/powerpoint/2010/main" val="299206753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Flavors in Java :</a:t>
            </a:r>
            <a:endParaRPr lang="en-US" dirty="0"/>
          </a:p>
        </p:txBody>
      </p:sp>
      <p:sp>
        <p:nvSpPr>
          <p:cNvPr id="3" name="Content Placeholder 2"/>
          <p:cNvSpPr>
            <a:spLocks noGrp="1"/>
          </p:cNvSpPr>
          <p:nvPr>
            <p:ph sz="quarter" idx="1"/>
          </p:nvPr>
        </p:nvSpPr>
        <p:spPr/>
        <p:txBody>
          <a:bodyPr/>
          <a:lstStyle/>
          <a:p>
            <a:r>
              <a:rPr lang="en-US" b="1" dirty="0"/>
              <a:t>Java Micro </a:t>
            </a:r>
            <a:r>
              <a:rPr lang="en-US" b="1" dirty="0" smtClean="0"/>
              <a:t>Edition :</a:t>
            </a:r>
          </a:p>
          <a:p>
            <a:pPr lvl="1">
              <a:lnSpc>
                <a:spcPct val="150000"/>
              </a:lnSpc>
            </a:pPr>
            <a:r>
              <a:rPr lang="en-US" dirty="0" smtClean="0"/>
              <a:t>It </a:t>
            </a:r>
            <a:r>
              <a:rPr lang="en-US" dirty="0"/>
              <a:t>is known as J2ME or </a:t>
            </a:r>
            <a:r>
              <a:rPr lang="en-US" dirty="0" smtClean="0"/>
              <a:t>JME</a:t>
            </a:r>
          </a:p>
          <a:p>
            <a:pPr lvl="1">
              <a:lnSpc>
                <a:spcPct val="150000"/>
              </a:lnSpc>
            </a:pPr>
            <a:r>
              <a:rPr lang="en-US" dirty="0"/>
              <a:t>Java ME is a Java platform used to design for embedded systems(Mobile devices are one kind of such systems, Mobile phones, PDAs</a:t>
            </a:r>
            <a:r>
              <a:rPr lang="en-US" dirty="0" smtClean="0"/>
              <a:t>).</a:t>
            </a:r>
          </a:p>
          <a:p>
            <a:pPr lvl="1">
              <a:lnSpc>
                <a:spcPct val="150000"/>
              </a:lnSpc>
            </a:pPr>
            <a:r>
              <a:rPr lang="en-US" dirty="0"/>
              <a:t>Nowadays, this </a:t>
            </a:r>
            <a:r>
              <a:rPr lang="en-US" dirty="0" smtClean="0"/>
              <a:t>version </a:t>
            </a:r>
            <a:r>
              <a:rPr lang="en-US" dirty="0"/>
              <a:t>is very popular for mobile application development – Android is the best example for use of Java ME</a:t>
            </a:r>
          </a:p>
        </p:txBody>
      </p:sp>
    </p:spTree>
    <p:extLst>
      <p:ext uri="{BB962C8B-B14F-4D97-AF65-F5344CB8AC3E}">
        <p14:creationId xmlns:p14="http://schemas.microsoft.com/office/powerpoint/2010/main" val="204420089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smtClean="0"/>
              <a:t>Java Program Development Environment</a:t>
            </a:r>
            <a:endParaRPr lang="en-US" b="0" dirty="0"/>
          </a:p>
        </p:txBody>
      </p:sp>
      <p:sp>
        <p:nvSpPr>
          <p:cNvPr id="3" name="Content Placeholder 2"/>
          <p:cNvSpPr>
            <a:spLocks noGrp="1"/>
          </p:cNvSpPr>
          <p:nvPr>
            <p:ph sz="quarter" idx="1"/>
          </p:nvPr>
        </p:nvSpPr>
        <p:spPr/>
        <p:txBody>
          <a:bodyPr/>
          <a:lstStyle/>
          <a:p>
            <a:pPr>
              <a:lnSpc>
                <a:spcPct val="150000"/>
              </a:lnSpc>
            </a:pPr>
            <a:r>
              <a:rPr lang="en-US" dirty="0"/>
              <a:t> Java applications are typically </a:t>
            </a:r>
            <a:r>
              <a:rPr lang="en-US" dirty="0" smtClean="0"/>
              <a:t>compiled to</a:t>
            </a:r>
            <a:r>
              <a:rPr lang="en-US" dirty="0"/>
              <a:t> </a:t>
            </a:r>
            <a:r>
              <a:rPr lang="en-US" u="sng" dirty="0">
                <a:hlinkClick r:id="rId2"/>
              </a:rPr>
              <a:t>bytecode</a:t>
            </a:r>
            <a:r>
              <a:rPr lang="en-US" dirty="0"/>
              <a:t> that can run on any Java virtual machine (JVM) </a:t>
            </a:r>
            <a:r>
              <a:rPr lang="en-US" dirty="0" smtClean="0"/>
              <a:t>regardless </a:t>
            </a:r>
            <a:r>
              <a:rPr lang="en-US" dirty="0"/>
              <a:t>of computer architecture</a:t>
            </a:r>
            <a:r>
              <a:rPr lang="en-US" dirty="0" smtClean="0"/>
              <a:t>.</a:t>
            </a:r>
          </a:p>
          <a:p>
            <a:pPr>
              <a:lnSpc>
                <a:spcPct val="150000"/>
              </a:lnSpc>
            </a:pPr>
            <a:r>
              <a:rPr lang="en-US" dirty="0"/>
              <a:t> </a:t>
            </a:r>
            <a:r>
              <a:rPr lang="en-US" dirty="0" smtClean="0"/>
              <a:t>Java Development  Environment includes :</a:t>
            </a:r>
          </a:p>
          <a:p>
            <a:pPr lvl="1">
              <a:lnSpc>
                <a:spcPct val="150000"/>
              </a:lnSpc>
            </a:pPr>
            <a:r>
              <a:rPr lang="en-US" dirty="0"/>
              <a:t> JVM, JRE, and </a:t>
            </a:r>
            <a:r>
              <a:rPr lang="en-US" dirty="0" smtClean="0"/>
              <a:t>JDK</a:t>
            </a:r>
          </a:p>
          <a:p>
            <a:pPr>
              <a:lnSpc>
                <a:spcPct val="150000"/>
              </a:lnSpc>
            </a:pPr>
            <a:endParaRPr lang="en-US" dirty="0"/>
          </a:p>
        </p:txBody>
      </p:sp>
    </p:spTree>
    <p:extLst>
      <p:ext uri="{BB962C8B-B14F-4D97-AF65-F5344CB8AC3E}">
        <p14:creationId xmlns:p14="http://schemas.microsoft.com/office/powerpoint/2010/main" val="169949566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Java Program Development Environment</a:t>
            </a:r>
            <a:endParaRPr lang="en-US" dirty="0"/>
          </a:p>
        </p:txBody>
      </p:sp>
      <p:pic>
        <p:nvPicPr>
          <p:cNvPr id="1026" name="Picture 2" descr="Lightbox"/>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381000" y="1295400"/>
            <a:ext cx="8610600" cy="4305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49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0" dirty="0"/>
              <a:t>Java Program Development Environment</a:t>
            </a:r>
            <a:endParaRPr lang="en-US" dirty="0"/>
          </a:p>
        </p:txBody>
      </p:sp>
      <p:sp>
        <p:nvSpPr>
          <p:cNvPr id="3" name="Content Placeholder 2"/>
          <p:cNvSpPr>
            <a:spLocks noGrp="1"/>
          </p:cNvSpPr>
          <p:nvPr>
            <p:ph sz="quarter" idx="1"/>
          </p:nvPr>
        </p:nvSpPr>
        <p:spPr>
          <a:xfrm>
            <a:off x="914400" y="914400"/>
            <a:ext cx="7772400" cy="5638800"/>
          </a:xfrm>
        </p:spPr>
        <p:txBody>
          <a:bodyPr>
            <a:normAutofit/>
          </a:bodyPr>
          <a:lstStyle/>
          <a:p>
            <a:r>
              <a:rPr lang="en-US" b="1" dirty="0"/>
              <a:t>JDK</a:t>
            </a:r>
            <a:r>
              <a:rPr lang="en-US" dirty="0"/>
              <a:t>(Java Development Kit): JDK is intended for software developers and includes development tools such as </a:t>
            </a:r>
            <a:r>
              <a:rPr lang="en-US" b="1" dirty="0"/>
              <a:t>the Java compiler, Javadoc, Jar, and a debugger.</a:t>
            </a:r>
          </a:p>
          <a:p>
            <a:r>
              <a:rPr lang="en-US" b="1" dirty="0"/>
              <a:t>JRE</a:t>
            </a:r>
            <a:r>
              <a:rPr lang="en-US" dirty="0"/>
              <a:t>(Java Runtime Environment): JRE contains the parts of the </a:t>
            </a:r>
            <a:r>
              <a:rPr lang="en-US" b="1" dirty="0"/>
              <a:t>Java libraries required to run</a:t>
            </a:r>
            <a:r>
              <a:rPr lang="en-US" dirty="0"/>
              <a:t> Java programs and is intended for end-users. JRE can be viewed as a subset of JDK.</a:t>
            </a:r>
          </a:p>
          <a:p>
            <a:r>
              <a:rPr lang="en-US" b="1" dirty="0"/>
              <a:t>JVM:</a:t>
            </a:r>
            <a:r>
              <a:rPr lang="en-US" dirty="0"/>
              <a:t> JVM (Java Virtual Machine) is an abstract machine. It is a specification that provides a </a:t>
            </a:r>
            <a:r>
              <a:rPr lang="en-US" b="1" dirty="0"/>
              <a:t>runtime environment in which java bytecode can be executed. </a:t>
            </a:r>
            <a:r>
              <a:rPr lang="en-US" dirty="0"/>
              <a:t>JVMs are available for many hardware and software platforms.</a:t>
            </a:r>
          </a:p>
          <a:p>
            <a:endParaRPr lang="en-US" dirty="0"/>
          </a:p>
        </p:txBody>
      </p:sp>
    </p:spTree>
    <p:extLst>
      <p:ext uri="{BB962C8B-B14F-4D97-AF65-F5344CB8AC3E}">
        <p14:creationId xmlns:p14="http://schemas.microsoft.com/office/powerpoint/2010/main" val="29060023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Characteristics of Java </a:t>
            </a:r>
            <a:endParaRPr lang="en-US" dirty="0"/>
          </a:p>
        </p:txBody>
      </p:sp>
      <p:sp>
        <p:nvSpPr>
          <p:cNvPr id="3" name="Content Placeholder 2"/>
          <p:cNvSpPr>
            <a:spLocks noGrp="1"/>
          </p:cNvSpPr>
          <p:nvPr>
            <p:ph sz="quarter" idx="1"/>
          </p:nvPr>
        </p:nvSpPr>
        <p:spPr/>
        <p:txBody>
          <a:bodyPr>
            <a:normAutofit fontScale="92500" lnSpcReduction="10000"/>
          </a:bodyPr>
          <a:lstStyle/>
          <a:p>
            <a:r>
              <a:rPr lang="en-US" b="1" dirty="0"/>
              <a:t>Object </a:t>
            </a:r>
            <a:r>
              <a:rPr lang="en-US" b="1" dirty="0" smtClean="0"/>
              <a:t>oriented:</a:t>
            </a:r>
          </a:p>
          <a:p>
            <a:pPr lvl="1">
              <a:lnSpc>
                <a:spcPct val="150000"/>
              </a:lnSpc>
            </a:pPr>
            <a:r>
              <a:rPr lang="en-US" dirty="0"/>
              <a:t>Java provides the basic object technology of C++ with some enhancements and some deletions</a:t>
            </a:r>
            <a:r>
              <a:rPr lang="en-US" dirty="0" smtClean="0"/>
              <a:t>.</a:t>
            </a:r>
          </a:p>
          <a:p>
            <a:pPr lvl="1"/>
            <a:endParaRPr lang="en-US" dirty="0" smtClean="0"/>
          </a:p>
          <a:p>
            <a:r>
              <a:rPr lang="en-US" b="1" dirty="0"/>
              <a:t>Architecture </a:t>
            </a:r>
            <a:r>
              <a:rPr lang="en-US" b="1" dirty="0" smtClean="0"/>
              <a:t>neutral:</a:t>
            </a:r>
          </a:p>
          <a:p>
            <a:pPr lvl="1">
              <a:lnSpc>
                <a:spcPct val="160000"/>
              </a:lnSpc>
            </a:pPr>
            <a:r>
              <a:rPr lang="en-US" dirty="0"/>
              <a:t>Java source code is compiled into architecture-independent object code. The object code is interpreted by a Java Virtual Machine (JVM) on the target architecture.</a:t>
            </a:r>
          </a:p>
          <a:p>
            <a:pPr marL="0" indent="0">
              <a:buNone/>
            </a:pPr>
            <a:r>
              <a:rPr lang="en-US" dirty="0"/>
              <a:t/>
            </a:r>
            <a:br>
              <a:rPr lang="en-US" dirty="0"/>
            </a:br>
            <a:endParaRPr lang="en-US" dirty="0"/>
          </a:p>
        </p:txBody>
      </p:sp>
    </p:spTree>
    <p:extLst>
      <p:ext uri="{BB962C8B-B14F-4D97-AF65-F5344CB8AC3E}">
        <p14:creationId xmlns:p14="http://schemas.microsoft.com/office/powerpoint/2010/main" val="381730395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Java </a:t>
            </a:r>
          </a:p>
        </p:txBody>
      </p:sp>
      <p:sp>
        <p:nvSpPr>
          <p:cNvPr id="3" name="Content Placeholder 2"/>
          <p:cNvSpPr>
            <a:spLocks noGrp="1"/>
          </p:cNvSpPr>
          <p:nvPr>
            <p:ph sz="quarter" idx="1"/>
          </p:nvPr>
        </p:nvSpPr>
        <p:spPr/>
        <p:txBody>
          <a:bodyPr/>
          <a:lstStyle/>
          <a:p>
            <a:r>
              <a:rPr lang="en-US" b="1" dirty="0"/>
              <a:t>Portable</a:t>
            </a:r>
            <a:r>
              <a:rPr lang="en-US" dirty="0"/>
              <a:t> </a:t>
            </a:r>
            <a:r>
              <a:rPr lang="en-US" dirty="0" smtClean="0"/>
              <a:t>:</a:t>
            </a:r>
          </a:p>
          <a:p>
            <a:pPr lvl="1"/>
            <a:r>
              <a:rPr lang="en-US" dirty="0" smtClean="0"/>
              <a:t>Java is portable, because of bytecode. </a:t>
            </a:r>
          </a:p>
          <a:p>
            <a:pPr lvl="1"/>
            <a:endParaRPr lang="en-US" dirty="0"/>
          </a:p>
          <a:p>
            <a:r>
              <a:rPr lang="en-US" b="1" dirty="0" smtClean="0"/>
              <a:t>Distributed:</a:t>
            </a:r>
          </a:p>
          <a:p>
            <a:pPr lvl="1">
              <a:lnSpc>
                <a:spcPct val="150000"/>
              </a:lnSpc>
            </a:pPr>
            <a:r>
              <a:rPr lang="en-US" dirty="0"/>
              <a:t>Java contains extensive TCP/IP networking facilities. Library routines support protocols such as </a:t>
            </a:r>
            <a:r>
              <a:rPr lang="en-US" dirty="0" err="1"/>
              <a:t>HyperText</a:t>
            </a:r>
            <a:r>
              <a:rPr lang="en-US" dirty="0"/>
              <a:t> Transfer Protocol (HTTP) and file transfer protocol (FTP).</a:t>
            </a:r>
          </a:p>
        </p:txBody>
      </p:sp>
    </p:spTree>
    <p:extLst>
      <p:ext uri="{BB962C8B-B14F-4D97-AF65-F5344CB8AC3E}">
        <p14:creationId xmlns:p14="http://schemas.microsoft.com/office/powerpoint/2010/main" val="7987243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Java </a:t>
            </a:r>
          </a:p>
        </p:txBody>
      </p:sp>
      <p:sp>
        <p:nvSpPr>
          <p:cNvPr id="3" name="Content Placeholder 2"/>
          <p:cNvSpPr>
            <a:spLocks noGrp="1"/>
          </p:cNvSpPr>
          <p:nvPr>
            <p:ph sz="quarter" idx="1"/>
          </p:nvPr>
        </p:nvSpPr>
        <p:spPr/>
        <p:txBody>
          <a:bodyPr>
            <a:normAutofit fontScale="85000" lnSpcReduction="20000"/>
          </a:bodyPr>
          <a:lstStyle/>
          <a:p>
            <a:r>
              <a:rPr lang="en-US" b="1" dirty="0"/>
              <a:t>Robust</a:t>
            </a:r>
            <a:r>
              <a:rPr lang="en-US" dirty="0"/>
              <a:t> </a:t>
            </a:r>
            <a:r>
              <a:rPr lang="en-US" dirty="0" smtClean="0"/>
              <a:t>:</a:t>
            </a:r>
          </a:p>
          <a:p>
            <a:pPr lvl="1">
              <a:lnSpc>
                <a:spcPct val="150000"/>
              </a:lnSpc>
            </a:pPr>
            <a:r>
              <a:rPr lang="en-US" dirty="0"/>
              <a:t>Both the Java compiler and the Java interpreter provide extensive error checking. Java manages all dynamic memory, checks array bounds, and other exceptions</a:t>
            </a:r>
            <a:r>
              <a:rPr lang="en-US" dirty="0" smtClean="0"/>
              <a:t>.</a:t>
            </a:r>
          </a:p>
          <a:p>
            <a:pPr>
              <a:lnSpc>
                <a:spcPct val="150000"/>
              </a:lnSpc>
            </a:pPr>
            <a:r>
              <a:rPr lang="en-US" b="1" dirty="0"/>
              <a:t>Secure</a:t>
            </a:r>
            <a:r>
              <a:rPr lang="en-US" dirty="0"/>
              <a:t> </a:t>
            </a:r>
            <a:r>
              <a:rPr lang="en-US" dirty="0" smtClean="0"/>
              <a:t>:</a:t>
            </a:r>
          </a:p>
          <a:p>
            <a:pPr lvl="1">
              <a:lnSpc>
                <a:spcPct val="150000"/>
              </a:lnSpc>
            </a:pPr>
            <a:r>
              <a:rPr lang="en-US" dirty="0"/>
              <a:t>Features of C and C++ that often result in illegal memory accesses are not in the Java language</a:t>
            </a:r>
            <a:r>
              <a:rPr lang="en-US" dirty="0" smtClean="0"/>
              <a:t>.</a:t>
            </a:r>
          </a:p>
          <a:p>
            <a:pPr lvl="1">
              <a:lnSpc>
                <a:spcPct val="150000"/>
              </a:lnSpc>
            </a:pPr>
            <a:r>
              <a:rPr lang="en-US" dirty="0"/>
              <a:t>The interpreter also applies several tests to the compiled code to check for illegal code.</a:t>
            </a:r>
            <a:endParaRPr lang="en-US" dirty="0" smtClean="0"/>
          </a:p>
          <a:p>
            <a:pPr marL="0" indent="0">
              <a:buNone/>
            </a:pPr>
            <a:r>
              <a:rPr lang="en-US" dirty="0" smtClean="0"/>
              <a:t>	</a:t>
            </a:r>
            <a:r>
              <a:rPr lang="en-US" dirty="0"/>
              <a:t> </a:t>
            </a:r>
            <a:br>
              <a:rPr lang="en-US" dirty="0"/>
            </a:br>
            <a:endParaRPr lang="en-US" dirty="0"/>
          </a:p>
          <a:p>
            <a:endParaRPr lang="en-US" dirty="0"/>
          </a:p>
        </p:txBody>
      </p:sp>
    </p:spTree>
    <p:extLst>
      <p:ext uri="{BB962C8B-B14F-4D97-AF65-F5344CB8AC3E}">
        <p14:creationId xmlns:p14="http://schemas.microsoft.com/office/powerpoint/2010/main" val="295157230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Java </a:t>
            </a:r>
          </a:p>
        </p:txBody>
      </p:sp>
      <p:sp>
        <p:nvSpPr>
          <p:cNvPr id="3" name="Content Placeholder 2"/>
          <p:cNvSpPr>
            <a:spLocks noGrp="1"/>
          </p:cNvSpPr>
          <p:nvPr>
            <p:ph sz="quarter" idx="1"/>
          </p:nvPr>
        </p:nvSpPr>
        <p:spPr>
          <a:xfrm>
            <a:off x="914400" y="990600"/>
            <a:ext cx="7772400" cy="5334000"/>
          </a:xfrm>
        </p:spPr>
        <p:txBody>
          <a:bodyPr>
            <a:normAutofit/>
          </a:bodyPr>
          <a:lstStyle/>
          <a:p>
            <a:r>
              <a:rPr lang="en-US" b="1" dirty="0"/>
              <a:t>High </a:t>
            </a:r>
            <a:r>
              <a:rPr lang="en-US" b="1" dirty="0" smtClean="0"/>
              <a:t>performance :</a:t>
            </a:r>
          </a:p>
          <a:p>
            <a:pPr lvl="1">
              <a:lnSpc>
                <a:spcPct val="150000"/>
              </a:lnSpc>
            </a:pPr>
            <a:r>
              <a:rPr lang="en-US" dirty="0"/>
              <a:t>Compilation of programs to an architecture independent machine-like language, results in a small efficient interpreter of Java programs. </a:t>
            </a:r>
            <a:endParaRPr lang="en-US" dirty="0" smtClean="0"/>
          </a:p>
          <a:p>
            <a:pPr lvl="1">
              <a:lnSpc>
                <a:spcPct val="150000"/>
              </a:lnSpc>
            </a:pPr>
            <a:r>
              <a:rPr lang="en-US" dirty="0"/>
              <a:t>The Java environment also compiles the Java bytecode into native machine code at runtime</a:t>
            </a:r>
            <a:r>
              <a:rPr lang="en-US" dirty="0" smtClean="0"/>
              <a:t>.</a:t>
            </a:r>
          </a:p>
          <a:p>
            <a:pPr lvl="1">
              <a:lnSpc>
                <a:spcPct val="150000"/>
              </a:lnSpc>
            </a:pPr>
            <a:endParaRPr lang="en-US" b="1" dirty="0" smtClean="0"/>
          </a:p>
          <a:p>
            <a:r>
              <a:rPr lang="en-US" b="1" dirty="0"/>
              <a:t>Multithreaded</a:t>
            </a:r>
            <a:r>
              <a:rPr lang="en-US" dirty="0"/>
              <a:t> </a:t>
            </a:r>
            <a:r>
              <a:rPr lang="en-US" dirty="0" smtClean="0"/>
              <a:t> :</a:t>
            </a:r>
          </a:p>
          <a:p>
            <a:pPr lvl="1"/>
            <a:r>
              <a:rPr lang="en-US" dirty="0"/>
              <a:t>Multithreading is built into the Java language.</a:t>
            </a:r>
          </a:p>
        </p:txBody>
      </p:sp>
    </p:spTree>
    <p:extLst>
      <p:ext uri="{BB962C8B-B14F-4D97-AF65-F5344CB8AC3E}">
        <p14:creationId xmlns:p14="http://schemas.microsoft.com/office/powerpoint/2010/main" val="102694274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Java </a:t>
            </a:r>
          </a:p>
        </p:txBody>
      </p:sp>
      <p:sp>
        <p:nvSpPr>
          <p:cNvPr id="3" name="Content Placeholder 2"/>
          <p:cNvSpPr>
            <a:spLocks noGrp="1"/>
          </p:cNvSpPr>
          <p:nvPr>
            <p:ph sz="quarter" idx="1"/>
          </p:nvPr>
        </p:nvSpPr>
        <p:spPr/>
        <p:txBody>
          <a:bodyPr/>
          <a:lstStyle/>
          <a:p>
            <a:r>
              <a:rPr lang="en-US" b="1" dirty="0"/>
              <a:t>Dynamic</a:t>
            </a:r>
            <a:r>
              <a:rPr lang="en-US" dirty="0"/>
              <a:t> </a:t>
            </a:r>
            <a:r>
              <a:rPr lang="en-US" dirty="0" smtClean="0"/>
              <a:t>:</a:t>
            </a:r>
          </a:p>
          <a:p>
            <a:pPr lvl="1"/>
            <a:r>
              <a:rPr lang="en-US" dirty="0"/>
              <a:t> Java </a:t>
            </a:r>
            <a:r>
              <a:rPr lang="en-US" dirty="0" smtClean="0"/>
              <a:t>does </a:t>
            </a:r>
            <a:r>
              <a:rPr lang="en-US" dirty="0"/>
              <a:t>not link invoked modules until runtime</a:t>
            </a:r>
            <a:r>
              <a:rPr lang="en-US" dirty="0" smtClean="0"/>
              <a:t>.</a:t>
            </a:r>
          </a:p>
          <a:p>
            <a:endParaRPr lang="en-US" dirty="0"/>
          </a:p>
          <a:p>
            <a:r>
              <a:rPr lang="en-US" b="1" dirty="0"/>
              <a:t>Simple</a:t>
            </a:r>
            <a:r>
              <a:rPr lang="en-US" dirty="0"/>
              <a:t> </a:t>
            </a:r>
            <a:r>
              <a:rPr lang="en-US" dirty="0" smtClean="0"/>
              <a:t> :</a:t>
            </a:r>
          </a:p>
          <a:p>
            <a:pPr lvl="1">
              <a:lnSpc>
                <a:spcPct val="150000"/>
              </a:lnSpc>
            </a:pPr>
            <a:r>
              <a:rPr lang="en-US" dirty="0"/>
              <a:t> Java is similar to C++, but with most of the more complex features of C and C++ removed.</a:t>
            </a:r>
          </a:p>
        </p:txBody>
      </p:sp>
    </p:spTree>
    <p:extLst>
      <p:ext uri="{BB962C8B-B14F-4D97-AF65-F5344CB8AC3E}">
        <p14:creationId xmlns:p14="http://schemas.microsoft.com/office/powerpoint/2010/main" val="390861117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Characteristics of Java </a:t>
            </a:r>
          </a:p>
        </p:txBody>
      </p:sp>
      <p:sp>
        <p:nvSpPr>
          <p:cNvPr id="3" name="Content Placeholder 2"/>
          <p:cNvSpPr>
            <a:spLocks noGrp="1"/>
          </p:cNvSpPr>
          <p:nvPr>
            <p:ph sz="quarter" idx="1"/>
          </p:nvPr>
        </p:nvSpPr>
        <p:spPr/>
        <p:txBody>
          <a:bodyPr>
            <a:normAutofit lnSpcReduction="10000"/>
          </a:bodyPr>
          <a:lstStyle/>
          <a:p>
            <a:r>
              <a:rPr lang="en-US" dirty="0"/>
              <a:t>Java does not provide</a:t>
            </a:r>
            <a:r>
              <a:rPr lang="en-US" dirty="0" smtClean="0"/>
              <a:t>:</a:t>
            </a:r>
          </a:p>
          <a:p>
            <a:pPr marL="0" indent="0">
              <a:buNone/>
            </a:pPr>
            <a:endParaRPr lang="en-US" dirty="0" smtClean="0"/>
          </a:p>
          <a:p>
            <a:pPr lvl="1">
              <a:lnSpc>
                <a:spcPct val="150000"/>
              </a:lnSpc>
            </a:pPr>
            <a:r>
              <a:rPr lang="en-US" dirty="0"/>
              <a:t>Programmer-controlled dynamic memory</a:t>
            </a:r>
          </a:p>
          <a:p>
            <a:pPr lvl="1">
              <a:lnSpc>
                <a:spcPct val="150000"/>
              </a:lnSpc>
            </a:pPr>
            <a:r>
              <a:rPr lang="en-US" dirty="0"/>
              <a:t>Pointer arithmetic</a:t>
            </a:r>
          </a:p>
          <a:p>
            <a:pPr lvl="1">
              <a:lnSpc>
                <a:spcPct val="150000"/>
              </a:lnSpc>
            </a:pPr>
            <a:r>
              <a:rPr lang="en-US" dirty="0" smtClean="0"/>
              <a:t>struct</a:t>
            </a:r>
          </a:p>
          <a:p>
            <a:pPr lvl="1">
              <a:lnSpc>
                <a:spcPct val="150000"/>
              </a:lnSpc>
            </a:pPr>
            <a:r>
              <a:rPr lang="en-US" dirty="0"/>
              <a:t>t</a:t>
            </a:r>
            <a:r>
              <a:rPr lang="en-US" dirty="0" smtClean="0"/>
              <a:t>ypedefs</a:t>
            </a:r>
          </a:p>
          <a:p>
            <a:pPr lvl="1">
              <a:lnSpc>
                <a:spcPct val="150000"/>
              </a:lnSpc>
            </a:pPr>
            <a:r>
              <a:rPr lang="en-US" dirty="0" smtClean="0"/>
              <a:t>#define</a:t>
            </a:r>
          </a:p>
          <a:p>
            <a:pPr marL="320040" lvl="1" indent="0">
              <a:buNone/>
            </a:pPr>
            <a:r>
              <a:rPr lang="en-US" dirty="0"/>
              <a:t/>
            </a:r>
            <a:br>
              <a:rPr lang="en-US" dirty="0"/>
            </a:br>
            <a:endParaRPr lang="en-US" dirty="0"/>
          </a:p>
        </p:txBody>
      </p:sp>
    </p:spTree>
    <p:extLst>
      <p:ext uri="{BB962C8B-B14F-4D97-AF65-F5344CB8AC3E}">
        <p14:creationId xmlns:p14="http://schemas.microsoft.com/office/powerpoint/2010/main" val="46243508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Sample java Program :</a:t>
            </a:r>
            <a:endParaRPr lang="en-US" dirty="0"/>
          </a:p>
        </p:txBody>
      </p:sp>
      <p:sp>
        <p:nvSpPr>
          <p:cNvPr id="3" name="Content Placeholder 2"/>
          <p:cNvSpPr>
            <a:spLocks noGrp="1"/>
          </p:cNvSpPr>
          <p:nvPr>
            <p:ph sz="quarter" idx="1"/>
          </p:nvPr>
        </p:nvSpPr>
        <p:spPr>
          <a:xfrm>
            <a:off x="914400" y="990600"/>
            <a:ext cx="7772400" cy="5486400"/>
          </a:xfrm>
        </p:spPr>
        <p:txBody>
          <a:bodyPr>
            <a:normAutofit/>
          </a:bodyPr>
          <a:lstStyle/>
          <a:p>
            <a:pPr marL="0" indent="0">
              <a:buNone/>
            </a:pPr>
            <a:r>
              <a:rPr lang="en-US" dirty="0" smtClean="0"/>
              <a:t>class FirstProgram</a:t>
            </a:r>
            <a:endParaRPr lang="en-US" dirty="0"/>
          </a:p>
          <a:p>
            <a:pPr marL="0" indent="0">
              <a:buNone/>
            </a:pPr>
            <a:r>
              <a:rPr lang="en-US" dirty="0"/>
              <a:t>{</a:t>
            </a:r>
          </a:p>
          <a:p>
            <a:pPr marL="0" indent="0">
              <a:buNone/>
            </a:pPr>
            <a:r>
              <a:rPr lang="en-US" dirty="0" smtClean="0"/>
              <a:t>	public </a:t>
            </a:r>
            <a:r>
              <a:rPr lang="en-US" dirty="0"/>
              <a:t>static void main(String []args)</a:t>
            </a:r>
          </a:p>
          <a:p>
            <a:pPr marL="0" indent="0">
              <a:buNone/>
            </a:pPr>
            <a:r>
              <a:rPr lang="en-US" dirty="0"/>
              <a:t>	{</a:t>
            </a:r>
          </a:p>
          <a:p>
            <a:pPr marL="0" indent="0">
              <a:buNone/>
            </a:pPr>
            <a:r>
              <a:rPr lang="en-US" dirty="0"/>
              <a:t>		System.out.println("Hello world</a:t>
            </a:r>
            <a:r>
              <a:rPr lang="en-US" dirty="0" smtClean="0"/>
              <a:t>");</a:t>
            </a:r>
            <a:endParaRPr lang="en-US" dirty="0"/>
          </a:p>
          <a:p>
            <a:pPr marL="0" indent="0">
              <a:buNone/>
            </a:pPr>
            <a:r>
              <a:rPr lang="en-US" dirty="0"/>
              <a:t>	}</a:t>
            </a:r>
          </a:p>
          <a:p>
            <a:pPr marL="0" indent="0">
              <a:buNone/>
            </a:pPr>
            <a:r>
              <a:rPr lang="en-US" dirty="0" smtClean="0"/>
              <a:t>}</a:t>
            </a:r>
          </a:p>
          <a:p>
            <a:pPr marL="0" indent="0">
              <a:buNone/>
            </a:pPr>
            <a:endParaRPr lang="en-US" dirty="0" smtClean="0"/>
          </a:p>
          <a:p>
            <a:pPr marL="0" indent="0">
              <a:buNone/>
            </a:pPr>
            <a:r>
              <a:rPr lang="en-US" b="1" dirty="0" smtClean="0"/>
              <a:t>Save this Program </a:t>
            </a:r>
            <a:r>
              <a:rPr lang="en-US" dirty="0" smtClean="0"/>
              <a:t>: FirstProgram.java</a:t>
            </a:r>
          </a:p>
          <a:p>
            <a:pPr marL="0" indent="0">
              <a:buNone/>
            </a:pPr>
            <a:r>
              <a:rPr lang="en-US" b="1" dirty="0" smtClean="0"/>
              <a:t>Compile this Program </a:t>
            </a:r>
            <a:r>
              <a:rPr lang="en-US" dirty="0" smtClean="0"/>
              <a:t>: </a:t>
            </a:r>
            <a:r>
              <a:rPr lang="en-US" dirty="0" err="1" smtClean="0"/>
              <a:t>javac</a:t>
            </a:r>
            <a:r>
              <a:rPr lang="en-US" dirty="0" smtClean="0"/>
              <a:t> FirstProgram.java</a:t>
            </a:r>
          </a:p>
          <a:p>
            <a:pPr marL="0" indent="0">
              <a:buNone/>
            </a:pPr>
            <a:r>
              <a:rPr lang="en-US" b="1" dirty="0" smtClean="0"/>
              <a:t>Run this Program </a:t>
            </a:r>
            <a:r>
              <a:rPr lang="en-US" dirty="0" smtClean="0"/>
              <a:t>: java FirstProgram</a:t>
            </a:r>
            <a:endParaRPr lang="en-US" dirty="0"/>
          </a:p>
        </p:txBody>
      </p:sp>
    </p:spTree>
    <p:extLst>
      <p:ext uri="{BB962C8B-B14F-4D97-AF65-F5344CB8AC3E}">
        <p14:creationId xmlns:p14="http://schemas.microsoft.com/office/powerpoint/2010/main" val="4601395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java Program </a:t>
            </a:r>
            <a:r>
              <a:rPr lang="en-US" dirty="0" smtClean="0"/>
              <a:t>2:</a:t>
            </a:r>
            <a:endParaRPr lang="en-US" dirty="0"/>
          </a:p>
        </p:txBody>
      </p:sp>
      <p:sp>
        <p:nvSpPr>
          <p:cNvPr id="3" name="Content Placeholder 2"/>
          <p:cNvSpPr>
            <a:spLocks noGrp="1"/>
          </p:cNvSpPr>
          <p:nvPr>
            <p:ph sz="quarter" idx="1"/>
          </p:nvPr>
        </p:nvSpPr>
        <p:spPr/>
        <p:txBody>
          <a:bodyPr>
            <a:normAutofit/>
          </a:bodyPr>
          <a:lstStyle/>
          <a:p>
            <a:pPr marL="0" indent="0">
              <a:buNone/>
            </a:pPr>
            <a:r>
              <a:rPr lang="en-US" dirty="0"/>
              <a:t>class </a:t>
            </a:r>
            <a:r>
              <a:rPr lang="en-US" dirty="0" err="1"/>
              <a:t>SecondProgram</a:t>
            </a:r>
            <a:endParaRPr lang="en-US" dirty="0"/>
          </a:p>
          <a:p>
            <a:pPr marL="0" indent="0">
              <a:buNone/>
            </a:pPr>
            <a:r>
              <a:rPr lang="en-US" dirty="0" smtClean="0"/>
              <a:t>{</a:t>
            </a:r>
            <a:endParaRPr lang="en-US" dirty="0"/>
          </a:p>
          <a:p>
            <a:pPr marL="0" indent="0">
              <a:buNone/>
            </a:pPr>
            <a:r>
              <a:rPr lang="en-US" dirty="0" smtClean="0"/>
              <a:t>	</a:t>
            </a:r>
            <a:r>
              <a:rPr lang="en-US" dirty="0" err="1" smtClean="0"/>
              <a:t>int</a:t>
            </a:r>
            <a:r>
              <a:rPr lang="en-US" dirty="0" smtClean="0"/>
              <a:t> </a:t>
            </a:r>
            <a:r>
              <a:rPr lang="en-US" dirty="0" err="1"/>
              <a:t>showAmout</a:t>
            </a:r>
            <a:r>
              <a:rPr lang="en-US" dirty="0"/>
              <a:t>(</a:t>
            </a:r>
            <a:r>
              <a:rPr lang="en-US" dirty="0" err="1"/>
              <a:t>int</a:t>
            </a:r>
            <a:r>
              <a:rPr lang="en-US" dirty="0"/>
              <a:t> </a:t>
            </a:r>
            <a:r>
              <a:rPr lang="en-US" dirty="0" err="1"/>
              <a:t>principal,int</a:t>
            </a:r>
            <a:r>
              <a:rPr lang="en-US" dirty="0"/>
              <a:t> interest)</a:t>
            </a:r>
          </a:p>
          <a:p>
            <a:pPr marL="0" indent="0">
              <a:buNone/>
            </a:pPr>
            <a:r>
              <a:rPr lang="en-US" dirty="0" smtClean="0"/>
              <a:t>	{</a:t>
            </a:r>
            <a:endParaRPr lang="en-US" dirty="0"/>
          </a:p>
          <a:p>
            <a:pPr marL="0" indent="0">
              <a:buNone/>
            </a:pPr>
            <a:r>
              <a:rPr lang="en-US" dirty="0" smtClean="0"/>
              <a:t>		</a:t>
            </a:r>
            <a:r>
              <a:rPr lang="en-US" dirty="0" err="1" smtClean="0"/>
              <a:t>int</a:t>
            </a:r>
            <a:r>
              <a:rPr lang="en-US" dirty="0" smtClean="0"/>
              <a:t> </a:t>
            </a:r>
            <a:r>
              <a:rPr lang="en-US" dirty="0"/>
              <a:t>result=principal*interest/100;</a:t>
            </a:r>
          </a:p>
          <a:p>
            <a:pPr marL="0" indent="0">
              <a:buNone/>
            </a:pPr>
            <a:r>
              <a:rPr lang="en-US" dirty="0" smtClean="0"/>
              <a:t>		return </a:t>
            </a:r>
            <a:r>
              <a:rPr lang="en-US" dirty="0"/>
              <a:t>result;</a:t>
            </a:r>
          </a:p>
          <a:p>
            <a:pPr marL="0" indent="0">
              <a:buNone/>
            </a:pPr>
            <a:r>
              <a:rPr lang="en-US" dirty="0" smtClean="0"/>
              <a:t>	}</a:t>
            </a:r>
            <a:endParaRPr lang="en-US" dirty="0"/>
          </a:p>
          <a:p>
            <a:pPr marL="0" indent="0">
              <a:buNone/>
            </a:pPr>
            <a:r>
              <a:rPr lang="en-US" dirty="0"/>
              <a:t>}</a:t>
            </a:r>
          </a:p>
        </p:txBody>
      </p:sp>
    </p:spTree>
    <p:extLst>
      <p:ext uri="{BB962C8B-B14F-4D97-AF65-F5344CB8AC3E}">
        <p14:creationId xmlns:p14="http://schemas.microsoft.com/office/powerpoint/2010/main" val="144096599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Sample java Program 2:</a:t>
            </a:r>
          </a:p>
        </p:txBody>
      </p:sp>
      <p:sp>
        <p:nvSpPr>
          <p:cNvPr id="3" name="Content Placeholder 2"/>
          <p:cNvSpPr>
            <a:spLocks noGrp="1"/>
          </p:cNvSpPr>
          <p:nvPr>
            <p:ph sz="quarter" idx="1"/>
          </p:nvPr>
        </p:nvSpPr>
        <p:spPr/>
        <p:txBody>
          <a:bodyPr>
            <a:normAutofit lnSpcReduction="10000"/>
          </a:bodyPr>
          <a:lstStyle/>
          <a:p>
            <a:pPr marL="0" indent="0">
              <a:buNone/>
            </a:pPr>
            <a:r>
              <a:rPr lang="en-US" dirty="0"/>
              <a:t>class </a:t>
            </a:r>
            <a:r>
              <a:rPr lang="en-US" dirty="0" err="1"/>
              <a:t>SecondResult</a:t>
            </a:r>
            <a:endParaRPr lang="en-US" dirty="0"/>
          </a:p>
          <a:p>
            <a:pPr marL="0" indent="0">
              <a:buNone/>
            </a:pPr>
            <a:r>
              <a:rPr lang="en-US" dirty="0"/>
              <a:t>{</a:t>
            </a:r>
          </a:p>
          <a:p>
            <a:pPr marL="0" indent="0">
              <a:buNone/>
            </a:pPr>
            <a:r>
              <a:rPr lang="en-US" dirty="0"/>
              <a:t>public static void main(String args[])</a:t>
            </a:r>
          </a:p>
          <a:p>
            <a:pPr marL="0" indent="0">
              <a:buNone/>
            </a:pPr>
            <a:r>
              <a:rPr lang="en-US" dirty="0"/>
              <a:t>{</a:t>
            </a:r>
          </a:p>
          <a:p>
            <a:pPr marL="0" indent="0">
              <a:buNone/>
            </a:pPr>
            <a:r>
              <a:rPr lang="en-US" dirty="0"/>
              <a:t>	</a:t>
            </a:r>
            <a:r>
              <a:rPr lang="en-US" dirty="0" err="1" smtClean="0"/>
              <a:t>SecondProgram</a:t>
            </a:r>
            <a:r>
              <a:rPr lang="en-US" dirty="0" smtClean="0"/>
              <a:t> </a:t>
            </a:r>
            <a:r>
              <a:rPr lang="en-US" dirty="0"/>
              <a:t>p=new </a:t>
            </a:r>
            <a:r>
              <a:rPr lang="en-US" dirty="0" err="1"/>
              <a:t>SecondProgram</a:t>
            </a:r>
            <a:r>
              <a:rPr lang="en-US" dirty="0"/>
              <a:t>();</a:t>
            </a:r>
          </a:p>
          <a:p>
            <a:pPr marL="0" indent="0">
              <a:buNone/>
            </a:pPr>
            <a:r>
              <a:rPr lang="en-US" dirty="0" smtClean="0"/>
              <a:t>	</a:t>
            </a:r>
            <a:r>
              <a:rPr lang="en-US" dirty="0" err="1" smtClean="0"/>
              <a:t>int</a:t>
            </a:r>
            <a:r>
              <a:rPr lang="en-US" dirty="0" smtClean="0"/>
              <a:t> </a:t>
            </a:r>
            <a:r>
              <a:rPr lang="en-US" dirty="0"/>
              <a:t>R=</a:t>
            </a:r>
            <a:r>
              <a:rPr lang="en-US" dirty="0" err="1"/>
              <a:t>p.showAmout</a:t>
            </a:r>
            <a:r>
              <a:rPr lang="en-US" dirty="0"/>
              <a:t>(1000,10);</a:t>
            </a:r>
          </a:p>
          <a:p>
            <a:pPr marL="0" indent="0">
              <a:buNone/>
            </a:pPr>
            <a:r>
              <a:rPr lang="en-US" dirty="0" smtClean="0"/>
              <a:t>	System.out.println</a:t>
            </a:r>
            <a:r>
              <a:rPr lang="en-US" dirty="0"/>
              <a:t>("The total interest amount </a:t>
            </a:r>
            <a:r>
              <a:rPr lang="en-US" dirty="0" smtClean="0"/>
              <a:t>	is</a:t>
            </a:r>
            <a:r>
              <a:rPr lang="en-US" dirty="0"/>
              <a:t>: " +R</a:t>
            </a:r>
            <a:r>
              <a:rPr lang="en-US" dirty="0" smtClean="0"/>
              <a:t>);</a:t>
            </a:r>
            <a:endParaRPr lang="en-US" dirty="0"/>
          </a:p>
          <a:p>
            <a:pPr marL="0" indent="0">
              <a:buNone/>
            </a:pPr>
            <a:r>
              <a:rPr lang="en-US" dirty="0" smtClean="0"/>
              <a:t>}</a:t>
            </a:r>
            <a:endParaRPr lang="en-US" dirty="0"/>
          </a:p>
          <a:p>
            <a:pPr marL="0" indent="0">
              <a:buNone/>
            </a:pPr>
            <a:r>
              <a:rPr lang="en-US" dirty="0"/>
              <a:t>}</a:t>
            </a:r>
          </a:p>
        </p:txBody>
      </p:sp>
    </p:spTree>
    <p:extLst>
      <p:ext uri="{BB962C8B-B14F-4D97-AF65-F5344CB8AC3E}">
        <p14:creationId xmlns:p14="http://schemas.microsoft.com/office/powerpoint/2010/main" val="61074357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types in Java :</a:t>
            </a:r>
            <a:endParaRPr lang="en-US" dirty="0"/>
          </a:p>
        </p:txBody>
      </p:sp>
      <p:sp>
        <p:nvSpPr>
          <p:cNvPr id="3" name="Content Placeholder 2"/>
          <p:cNvSpPr>
            <a:spLocks noGrp="1"/>
          </p:cNvSpPr>
          <p:nvPr>
            <p:ph sz="quarter" idx="1"/>
          </p:nvPr>
        </p:nvSpPr>
        <p:spPr>
          <a:xfrm>
            <a:off x="914400" y="990600"/>
            <a:ext cx="7772400" cy="5638800"/>
          </a:xfrm>
        </p:spPr>
        <p:txBody>
          <a:bodyPr>
            <a:normAutofit/>
          </a:bodyPr>
          <a:lstStyle/>
          <a:p>
            <a:r>
              <a:rPr lang="en-US" dirty="0"/>
              <a:t>Every individual bit of data that is processed every day is categorized into types. The type of data is known as </a:t>
            </a:r>
            <a:r>
              <a:rPr lang="en-US" dirty="0" smtClean="0"/>
              <a:t>data type. </a:t>
            </a:r>
            <a:r>
              <a:rPr lang="en-US" dirty="0"/>
              <a:t>Java uses various kinds of data types</a:t>
            </a:r>
            <a:r>
              <a:rPr lang="en-US" dirty="0" smtClean="0"/>
              <a:t>.</a:t>
            </a:r>
          </a:p>
          <a:p>
            <a:r>
              <a:rPr lang="en-US" b="1" dirty="0"/>
              <a:t> Primitive Data </a:t>
            </a:r>
            <a:r>
              <a:rPr lang="en-US" b="1" dirty="0" smtClean="0"/>
              <a:t>Types-</a:t>
            </a:r>
            <a:r>
              <a:rPr lang="en-US" dirty="0"/>
              <a:t>These data types are already hard coded into the compiler to be recognized when the program is executed. Examples are- </a:t>
            </a:r>
            <a:r>
              <a:rPr lang="en-US" dirty="0" err="1" smtClean="0"/>
              <a:t>int</a:t>
            </a:r>
            <a:r>
              <a:rPr lang="en-US" dirty="0" smtClean="0"/>
              <a:t> , float </a:t>
            </a:r>
            <a:r>
              <a:rPr lang="en-US" dirty="0"/>
              <a:t>etc</a:t>
            </a:r>
            <a:r>
              <a:rPr lang="en-US" dirty="0" smtClean="0"/>
              <a:t>.</a:t>
            </a:r>
          </a:p>
          <a:p>
            <a:r>
              <a:rPr lang="en-US" b="1" dirty="0"/>
              <a:t> Non-Primitive Data Types-</a:t>
            </a:r>
            <a:r>
              <a:rPr lang="en-US" dirty="0"/>
              <a:t> These data types are special types of data which are user </a:t>
            </a:r>
            <a:r>
              <a:rPr lang="en-US" dirty="0" smtClean="0"/>
              <a:t>defined. Some </a:t>
            </a:r>
            <a:r>
              <a:rPr lang="en-US" dirty="0"/>
              <a:t>examples are- classes, interfaces etc.</a:t>
            </a:r>
            <a:endParaRPr lang="en-US" dirty="0" smtClean="0"/>
          </a:p>
          <a:p>
            <a:endParaRPr lang="en-US" dirty="0"/>
          </a:p>
        </p:txBody>
      </p:sp>
    </p:spTree>
    <p:extLst>
      <p:ext uri="{BB962C8B-B14F-4D97-AF65-F5344CB8AC3E}">
        <p14:creationId xmlns:p14="http://schemas.microsoft.com/office/powerpoint/2010/main" val="57346639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types in Java :</a:t>
            </a:r>
          </a:p>
        </p:txBody>
      </p:sp>
      <p:sp>
        <p:nvSpPr>
          <p:cNvPr id="3" name="Content Placeholder 2"/>
          <p:cNvSpPr>
            <a:spLocks noGrp="1"/>
          </p:cNvSpPr>
          <p:nvPr>
            <p:ph sz="quarter" idx="1"/>
          </p:nvPr>
        </p:nvSpPr>
        <p:spPr>
          <a:xfrm>
            <a:off x="914400" y="1447800"/>
            <a:ext cx="7772400" cy="5029200"/>
          </a:xfrm>
        </p:spPr>
        <p:txBody>
          <a:bodyPr>
            <a:normAutofit lnSpcReduction="10000"/>
          </a:bodyPr>
          <a:lstStyle/>
          <a:p>
            <a:r>
              <a:rPr lang="en-US" b="1" dirty="0"/>
              <a:t>Primitive Data Types in </a:t>
            </a:r>
            <a:r>
              <a:rPr lang="en-US" b="1" dirty="0" smtClean="0"/>
              <a:t>Java:</a:t>
            </a:r>
          </a:p>
          <a:p>
            <a:pPr lvl="1">
              <a:lnSpc>
                <a:spcPct val="150000"/>
              </a:lnSpc>
            </a:pPr>
            <a:r>
              <a:rPr lang="en-US" dirty="0"/>
              <a:t>Java primitive data types are the ones which are predefined by the programming </a:t>
            </a:r>
            <a:r>
              <a:rPr lang="en-US" dirty="0" smtClean="0"/>
              <a:t>language.</a:t>
            </a:r>
          </a:p>
          <a:p>
            <a:pPr lvl="1">
              <a:lnSpc>
                <a:spcPct val="150000"/>
              </a:lnSpc>
            </a:pPr>
            <a:r>
              <a:rPr lang="en-US" dirty="0"/>
              <a:t>Without primitive data types it would be impossible to frame programs</a:t>
            </a:r>
            <a:r>
              <a:rPr lang="en-US" dirty="0" smtClean="0"/>
              <a:t>.</a:t>
            </a:r>
          </a:p>
          <a:p>
            <a:pPr lvl="1">
              <a:lnSpc>
                <a:spcPct val="150000"/>
              </a:lnSpc>
            </a:pPr>
            <a:r>
              <a:rPr lang="en-US" dirty="0"/>
              <a:t>There are 8 types of Java primitive data types namely:</a:t>
            </a:r>
          </a:p>
          <a:p>
            <a:pPr>
              <a:lnSpc>
                <a:spcPct val="150000"/>
              </a:lnSpc>
            </a:pPr>
            <a:r>
              <a:rPr lang="en-US" b="1" dirty="0"/>
              <a:t>a.</a:t>
            </a:r>
            <a:r>
              <a:rPr lang="en-US" dirty="0"/>
              <a:t> </a:t>
            </a:r>
            <a:r>
              <a:rPr lang="en-US" dirty="0" err="1" smtClean="0"/>
              <a:t>Int</a:t>
            </a:r>
            <a:r>
              <a:rPr lang="en-US" dirty="0" smtClean="0"/>
              <a:t> 		</a:t>
            </a:r>
            <a:r>
              <a:rPr lang="en-US" b="1" dirty="0" smtClean="0"/>
              <a:t>b</a:t>
            </a:r>
            <a:r>
              <a:rPr lang="en-US" b="1" dirty="0"/>
              <a:t>.</a:t>
            </a:r>
            <a:r>
              <a:rPr lang="en-US" dirty="0"/>
              <a:t> </a:t>
            </a:r>
            <a:r>
              <a:rPr lang="en-US" dirty="0" smtClean="0"/>
              <a:t>Float		</a:t>
            </a:r>
            <a:r>
              <a:rPr lang="en-US" b="1" dirty="0" smtClean="0"/>
              <a:t>c</a:t>
            </a:r>
            <a:r>
              <a:rPr lang="en-US" b="1" dirty="0"/>
              <a:t>.</a:t>
            </a:r>
            <a:r>
              <a:rPr lang="en-US" dirty="0"/>
              <a:t> Char</a:t>
            </a:r>
            <a:br>
              <a:rPr lang="en-US" dirty="0"/>
            </a:br>
            <a:r>
              <a:rPr lang="en-US" b="1" dirty="0"/>
              <a:t>d.</a:t>
            </a:r>
            <a:r>
              <a:rPr lang="en-US" dirty="0"/>
              <a:t> </a:t>
            </a:r>
            <a:r>
              <a:rPr lang="en-US" dirty="0" smtClean="0"/>
              <a:t>Boolean		</a:t>
            </a:r>
            <a:r>
              <a:rPr lang="en-US" b="1" dirty="0" smtClean="0"/>
              <a:t>e</a:t>
            </a:r>
            <a:r>
              <a:rPr lang="en-US" b="1" dirty="0"/>
              <a:t>.</a:t>
            </a:r>
            <a:r>
              <a:rPr lang="en-US" dirty="0"/>
              <a:t> </a:t>
            </a:r>
            <a:r>
              <a:rPr lang="en-US" dirty="0" smtClean="0"/>
              <a:t>Byte		</a:t>
            </a:r>
            <a:r>
              <a:rPr lang="en-US" b="1" dirty="0" smtClean="0"/>
              <a:t>f</a:t>
            </a:r>
            <a:r>
              <a:rPr lang="en-US" b="1" dirty="0"/>
              <a:t>.</a:t>
            </a:r>
            <a:r>
              <a:rPr lang="en-US" dirty="0"/>
              <a:t> Short</a:t>
            </a:r>
            <a:br>
              <a:rPr lang="en-US" dirty="0"/>
            </a:br>
            <a:r>
              <a:rPr lang="en-US" b="1" dirty="0"/>
              <a:t>g.</a:t>
            </a:r>
            <a:r>
              <a:rPr lang="en-US" dirty="0"/>
              <a:t> </a:t>
            </a:r>
            <a:r>
              <a:rPr lang="en-US" dirty="0" smtClean="0"/>
              <a:t>long		</a:t>
            </a:r>
            <a:r>
              <a:rPr lang="en-US" b="1" dirty="0" smtClean="0"/>
              <a:t>h</a:t>
            </a:r>
            <a:r>
              <a:rPr lang="en-US" b="1" dirty="0"/>
              <a:t>.</a:t>
            </a:r>
            <a:r>
              <a:rPr lang="en-US" dirty="0"/>
              <a:t> Double.</a:t>
            </a:r>
          </a:p>
        </p:txBody>
      </p:sp>
    </p:spTree>
    <p:extLst>
      <p:ext uri="{BB962C8B-B14F-4D97-AF65-F5344CB8AC3E}">
        <p14:creationId xmlns:p14="http://schemas.microsoft.com/office/powerpoint/2010/main" val="142926328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types in Java :</a:t>
            </a:r>
          </a:p>
        </p:txBody>
      </p:sp>
      <p:sp>
        <p:nvSpPr>
          <p:cNvPr id="3" name="Content Placeholder 2"/>
          <p:cNvSpPr>
            <a:spLocks noGrp="1"/>
          </p:cNvSpPr>
          <p:nvPr>
            <p:ph sz="quarter" idx="1"/>
          </p:nvPr>
        </p:nvSpPr>
        <p:spPr>
          <a:xfrm>
            <a:off x="914400" y="1447800"/>
            <a:ext cx="7772400" cy="4876800"/>
          </a:xfrm>
        </p:spPr>
        <p:txBody>
          <a:bodyPr>
            <a:normAutofit fontScale="85000" lnSpcReduction="10000"/>
          </a:bodyPr>
          <a:lstStyle/>
          <a:p>
            <a:pPr>
              <a:lnSpc>
                <a:spcPct val="150000"/>
              </a:lnSpc>
            </a:pPr>
            <a:r>
              <a:rPr lang="en-US" b="1" dirty="0"/>
              <a:t>Character </a:t>
            </a:r>
            <a:r>
              <a:rPr lang="en-US" b="1" dirty="0" smtClean="0"/>
              <a:t>: </a:t>
            </a:r>
            <a:r>
              <a:rPr lang="en-US" dirty="0"/>
              <a:t>char as the name suggests is useful for storing single value characters. Its default value is ‘\u0000’ with the max value being ‘\</a:t>
            </a:r>
            <a:r>
              <a:rPr lang="en-US" dirty="0" err="1"/>
              <a:t>uffff</a:t>
            </a:r>
            <a:r>
              <a:rPr lang="en-US" dirty="0"/>
              <a:t>’ and has a size of 2 bytes</a:t>
            </a:r>
            <a:r>
              <a:rPr lang="en-US" dirty="0" smtClean="0"/>
              <a:t>.</a:t>
            </a:r>
          </a:p>
          <a:p>
            <a:pPr lvl="1">
              <a:lnSpc>
                <a:spcPct val="150000"/>
              </a:lnSpc>
            </a:pPr>
            <a:r>
              <a:rPr lang="en-US" b="1" dirty="0"/>
              <a:t>Example- char a=’D</a:t>
            </a:r>
            <a:r>
              <a:rPr lang="en-US" b="1" dirty="0" smtClean="0"/>
              <a:t>’;</a:t>
            </a:r>
          </a:p>
          <a:p>
            <a:pPr>
              <a:lnSpc>
                <a:spcPct val="150000"/>
              </a:lnSpc>
            </a:pPr>
            <a:r>
              <a:rPr lang="en-US" b="1" dirty="0" smtClean="0"/>
              <a:t>Boolean : </a:t>
            </a:r>
            <a:r>
              <a:rPr lang="en-US" dirty="0"/>
              <a:t>boolean is a special </a:t>
            </a:r>
            <a:r>
              <a:rPr lang="en-US" dirty="0" err="1"/>
              <a:t>datatype</a:t>
            </a:r>
            <a:r>
              <a:rPr lang="en-US" dirty="0"/>
              <a:t> which can have only two values ‘true’ and ‘false’. It has a default value of ‘false’ and a size of 1 byte. It comes in use for storing flag values</a:t>
            </a:r>
            <a:r>
              <a:rPr lang="en-US" dirty="0" smtClean="0"/>
              <a:t>.</a:t>
            </a:r>
          </a:p>
          <a:p>
            <a:pPr lvl="1">
              <a:lnSpc>
                <a:spcPct val="150000"/>
              </a:lnSpc>
            </a:pPr>
            <a:r>
              <a:rPr lang="en-US" b="1" dirty="0"/>
              <a:t>Example- boolean flag=true;</a:t>
            </a:r>
            <a:endParaRPr lang="en-US" b="1" dirty="0" smtClean="0"/>
          </a:p>
          <a:p>
            <a:endParaRPr lang="en-US" dirty="0"/>
          </a:p>
          <a:p>
            <a:endParaRPr lang="en-US" b="1" dirty="0"/>
          </a:p>
          <a:p>
            <a:endParaRPr lang="en-US" dirty="0"/>
          </a:p>
        </p:txBody>
      </p:sp>
    </p:spTree>
    <p:extLst>
      <p:ext uri="{BB962C8B-B14F-4D97-AF65-F5344CB8AC3E}">
        <p14:creationId xmlns:p14="http://schemas.microsoft.com/office/powerpoint/2010/main" val="96207049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types in Java :</a:t>
            </a:r>
          </a:p>
        </p:txBody>
      </p:sp>
      <p:sp>
        <p:nvSpPr>
          <p:cNvPr id="3" name="Content Placeholder 2"/>
          <p:cNvSpPr>
            <a:spLocks noGrp="1"/>
          </p:cNvSpPr>
          <p:nvPr>
            <p:ph sz="quarter" idx="1"/>
          </p:nvPr>
        </p:nvSpPr>
        <p:spPr/>
        <p:txBody>
          <a:bodyPr/>
          <a:lstStyle/>
          <a:p>
            <a:r>
              <a:rPr lang="en-US" b="1" dirty="0"/>
              <a:t>Byte</a:t>
            </a:r>
            <a:r>
              <a:rPr lang="en-US" dirty="0"/>
              <a:t> </a:t>
            </a:r>
            <a:r>
              <a:rPr lang="en-US" dirty="0" smtClean="0"/>
              <a:t>: </a:t>
            </a:r>
            <a:r>
              <a:rPr lang="en-US" dirty="0"/>
              <a:t>It’s an 8 bit signed two’s complement . The range of values are -128 to 127. It is space efficient because it is smaller than integer </a:t>
            </a:r>
            <a:r>
              <a:rPr lang="en-US" dirty="0" err="1"/>
              <a:t>datatype</a:t>
            </a:r>
            <a:r>
              <a:rPr lang="en-US" dirty="0" smtClean="0"/>
              <a:t>.</a:t>
            </a:r>
          </a:p>
          <a:p>
            <a:pPr lvl="1"/>
            <a:r>
              <a:rPr lang="en-US" b="1" dirty="0"/>
              <a:t>Example- byte a = 10</a:t>
            </a:r>
            <a:r>
              <a:rPr lang="en-US" b="1" dirty="0" smtClean="0"/>
              <a:t>;</a:t>
            </a:r>
          </a:p>
          <a:p>
            <a:r>
              <a:rPr lang="en-US" b="1" dirty="0"/>
              <a:t>Short</a:t>
            </a:r>
            <a:r>
              <a:rPr lang="en-US" dirty="0"/>
              <a:t> </a:t>
            </a:r>
            <a:r>
              <a:rPr lang="en-US" dirty="0" smtClean="0"/>
              <a:t> : This </a:t>
            </a:r>
            <a:r>
              <a:rPr lang="en-US" dirty="0" err="1"/>
              <a:t>datatype</a:t>
            </a:r>
            <a:r>
              <a:rPr lang="en-US" dirty="0"/>
              <a:t> is also similar to the integer </a:t>
            </a:r>
            <a:r>
              <a:rPr lang="en-US" dirty="0" err="1"/>
              <a:t>datatype</a:t>
            </a:r>
            <a:r>
              <a:rPr lang="en-US" dirty="0"/>
              <a:t>. However it’s 2 times smaller than the integer </a:t>
            </a:r>
            <a:r>
              <a:rPr lang="en-US" dirty="0" err="1"/>
              <a:t>datatype</a:t>
            </a:r>
            <a:r>
              <a:rPr lang="en-US" dirty="0"/>
              <a:t>. Its minimum range is -32,768 and maximum range is 32,767. It has a size </a:t>
            </a:r>
            <a:r>
              <a:rPr lang="en-US" dirty="0" smtClean="0"/>
              <a:t>of</a:t>
            </a:r>
          </a:p>
          <a:p>
            <a:pPr lvl="1"/>
            <a:r>
              <a:rPr lang="en-US" b="1" dirty="0"/>
              <a:t>Example- short a= 54;</a:t>
            </a:r>
          </a:p>
          <a:p>
            <a:endParaRPr lang="en-US" b="1" dirty="0" smtClean="0"/>
          </a:p>
          <a:p>
            <a:endParaRPr lang="en-US" dirty="0"/>
          </a:p>
          <a:p>
            <a:endParaRPr lang="en-US" dirty="0"/>
          </a:p>
        </p:txBody>
      </p:sp>
    </p:spTree>
    <p:extLst>
      <p:ext uri="{BB962C8B-B14F-4D97-AF65-F5344CB8AC3E}">
        <p14:creationId xmlns:p14="http://schemas.microsoft.com/office/powerpoint/2010/main" val="36198942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types in Java :</a:t>
            </a:r>
          </a:p>
        </p:txBody>
      </p:sp>
      <p:sp>
        <p:nvSpPr>
          <p:cNvPr id="3" name="Content Placeholder 2"/>
          <p:cNvSpPr>
            <a:spLocks noGrp="1"/>
          </p:cNvSpPr>
          <p:nvPr>
            <p:ph sz="quarter" idx="1"/>
          </p:nvPr>
        </p:nvSpPr>
        <p:spPr>
          <a:xfrm>
            <a:off x="914400" y="1143000"/>
            <a:ext cx="7772400" cy="5257800"/>
          </a:xfrm>
        </p:spPr>
        <p:txBody>
          <a:bodyPr>
            <a:normAutofit fontScale="85000" lnSpcReduction="10000"/>
          </a:bodyPr>
          <a:lstStyle/>
          <a:p>
            <a:pPr>
              <a:lnSpc>
                <a:spcPct val="150000"/>
              </a:lnSpc>
            </a:pPr>
            <a:r>
              <a:rPr lang="en-US" b="1" dirty="0"/>
              <a:t>Integer : </a:t>
            </a:r>
            <a:r>
              <a:rPr lang="en-US" dirty="0" err="1"/>
              <a:t>int</a:t>
            </a:r>
            <a:r>
              <a:rPr lang="en-US" dirty="0"/>
              <a:t> is used for storing integer values. Its size is 4 bytes and has a default value of 0. The maximum values of integer is 2^31 and the minimum value is -2^31.</a:t>
            </a:r>
          </a:p>
          <a:p>
            <a:pPr lvl="1">
              <a:lnSpc>
                <a:spcPct val="150000"/>
              </a:lnSpc>
            </a:pPr>
            <a:r>
              <a:rPr lang="en-US" b="1" dirty="0"/>
              <a:t>Example- </a:t>
            </a:r>
            <a:r>
              <a:rPr lang="en-US" b="1" dirty="0" err="1"/>
              <a:t>int</a:t>
            </a:r>
            <a:r>
              <a:rPr lang="en-US" b="1" dirty="0"/>
              <a:t> a=56</a:t>
            </a:r>
            <a:r>
              <a:rPr lang="en-US" b="1" dirty="0" smtClean="0"/>
              <a:t>;</a:t>
            </a:r>
          </a:p>
          <a:p>
            <a:pPr>
              <a:lnSpc>
                <a:spcPct val="150000"/>
              </a:lnSpc>
            </a:pPr>
            <a:r>
              <a:rPr lang="en-US" b="1" dirty="0"/>
              <a:t>Long</a:t>
            </a:r>
            <a:r>
              <a:rPr lang="en-US" dirty="0"/>
              <a:t> </a:t>
            </a:r>
            <a:r>
              <a:rPr lang="en-US" dirty="0" smtClean="0"/>
              <a:t>: </a:t>
            </a:r>
            <a:r>
              <a:rPr lang="en-US" dirty="0"/>
              <a:t>This </a:t>
            </a:r>
            <a:r>
              <a:rPr lang="en-US" dirty="0" err="1"/>
              <a:t>datatype</a:t>
            </a:r>
            <a:r>
              <a:rPr lang="en-US" dirty="0"/>
              <a:t> primarily stores huge sized numeric data. It is a 64 bit integer and ranges from -2^63 to +(2^63)-1. It has a size of 8 bytes and is useful when you need to store data which is longer than </a:t>
            </a:r>
            <a:r>
              <a:rPr lang="en-US" dirty="0" err="1"/>
              <a:t>int</a:t>
            </a:r>
            <a:r>
              <a:rPr lang="en-US" dirty="0"/>
              <a:t> </a:t>
            </a:r>
            <a:r>
              <a:rPr lang="en-US" dirty="0" err="1"/>
              <a:t>datatype</a:t>
            </a:r>
            <a:r>
              <a:rPr lang="en-US" dirty="0" smtClean="0"/>
              <a:t>.</a:t>
            </a:r>
          </a:p>
          <a:p>
            <a:pPr lvl="1">
              <a:lnSpc>
                <a:spcPct val="150000"/>
              </a:lnSpc>
            </a:pPr>
            <a:r>
              <a:rPr lang="en-US" b="1" dirty="0"/>
              <a:t>Example- long a= 1273762;</a:t>
            </a:r>
          </a:p>
          <a:p>
            <a:pPr>
              <a:lnSpc>
                <a:spcPct val="150000"/>
              </a:lnSpc>
            </a:pPr>
            <a:endParaRPr lang="en-US" b="1" dirty="0"/>
          </a:p>
          <a:p>
            <a:endParaRPr lang="en-US" dirty="0"/>
          </a:p>
        </p:txBody>
      </p:sp>
    </p:spTree>
    <p:extLst>
      <p:ext uri="{BB962C8B-B14F-4D97-AF65-F5344CB8AC3E}">
        <p14:creationId xmlns:p14="http://schemas.microsoft.com/office/powerpoint/2010/main" val="37931215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types in Java :</a:t>
            </a:r>
          </a:p>
        </p:txBody>
      </p:sp>
      <p:sp>
        <p:nvSpPr>
          <p:cNvPr id="3" name="Content Placeholder 2"/>
          <p:cNvSpPr>
            <a:spLocks noGrp="1"/>
          </p:cNvSpPr>
          <p:nvPr>
            <p:ph sz="quarter" idx="1"/>
          </p:nvPr>
        </p:nvSpPr>
        <p:spPr/>
        <p:txBody>
          <a:bodyPr>
            <a:normAutofit/>
          </a:bodyPr>
          <a:lstStyle/>
          <a:p>
            <a:pPr>
              <a:lnSpc>
                <a:spcPct val="150000"/>
              </a:lnSpc>
            </a:pPr>
            <a:r>
              <a:rPr lang="en-US" b="1" dirty="0" smtClean="0"/>
              <a:t>Float</a:t>
            </a:r>
            <a:r>
              <a:rPr lang="en-US" b="1" dirty="0"/>
              <a:t> </a:t>
            </a:r>
            <a:r>
              <a:rPr lang="en-US" b="1" dirty="0" smtClean="0"/>
              <a:t>: </a:t>
            </a:r>
            <a:r>
              <a:rPr lang="en-US" dirty="0"/>
              <a:t>float is used for storing decimal values. Its default value is 0.0f and has a size of 4 bytes</a:t>
            </a:r>
            <a:r>
              <a:rPr lang="en-US" dirty="0" smtClean="0"/>
              <a:t>.</a:t>
            </a:r>
          </a:p>
          <a:p>
            <a:pPr lvl="1">
              <a:lnSpc>
                <a:spcPct val="150000"/>
              </a:lnSpc>
            </a:pPr>
            <a:r>
              <a:rPr lang="en-US" b="1" dirty="0"/>
              <a:t>Example- float a=98.7f</a:t>
            </a:r>
            <a:r>
              <a:rPr lang="en-US" b="1" dirty="0" smtClean="0"/>
              <a:t>;</a:t>
            </a:r>
          </a:p>
          <a:p>
            <a:pPr>
              <a:lnSpc>
                <a:spcPct val="150000"/>
              </a:lnSpc>
            </a:pPr>
            <a:r>
              <a:rPr lang="en-US" b="1" dirty="0"/>
              <a:t>Double</a:t>
            </a:r>
            <a:r>
              <a:rPr lang="en-US" dirty="0"/>
              <a:t> </a:t>
            </a:r>
            <a:r>
              <a:rPr lang="en-US" dirty="0" smtClean="0"/>
              <a:t>:This </a:t>
            </a:r>
            <a:r>
              <a:rPr lang="en-US" dirty="0"/>
              <a:t>is similar to the float </a:t>
            </a:r>
            <a:r>
              <a:rPr lang="en-US" dirty="0" err="1"/>
              <a:t>datatype</a:t>
            </a:r>
            <a:r>
              <a:rPr lang="en-US" dirty="0"/>
              <a:t>. It has a range of -2^31 to (2^31)-1</a:t>
            </a:r>
            <a:r>
              <a:rPr lang="en-US" dirty="0" smtClean="0"/>
              <a:t>.</a:t>
            </a:r>
          </a:p>
          <a:p>
            <a:pPr lvl="1">
              <a:lnSpc>
                <a:spcPct val="150000"/>
              </a:lnSpc>
            </a:pPr>
            <a:r>
              <a:rPr lang="en-US" b="1" dirty="0"/>
              <a:t>Example- double </a:t>
            </a:r>
            <a:r>
              <a:rPr lang="en-US" b="1" dirty="0" err="1"/>
              <a:t>DataFlair</a:t>
            </a:r>
            <a:r>
              <a:rPr lang="en-US" b="1" dirty="0"/>
              <a:t>=99.987d;</a:t>
            </a:r>
          </a:p>
          <a:p>
            <a:endParaRPr lang="en-US" dirty="0"/>
          </a:p>
        </p:txBody>
      </p:sp>
    </p:spTree>
    <p:extLst>
      <p:ext uri="{BB962C8B-B14F-4D97-AF65-F5344CB8AC3E}">
        <p14:creationId xmlns:p14="http://schemas.microsoft.com/office/powerpoint/2010/main" val="122569556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types in Java :</a:t>
            </a:r>
          </a:p>
        </p:txBody>
      </p:sp>
      <p:sp>
        <p:nvSpPr>
          <p:cNvPr id="3" name="Content Placeholder 2"/>
          <p:cNvSpPr>
            <a:spLocks noGrp="1"/>
          </p:cNvSpPr>
          <p:nvPr>
            <p:ph sz="quarter" idx="1"/>
          </p:nvPr>
        </p:nvSpPr>
        <p:spPr/>
        <p:txBody>
          <a:bodyPr>
            <a:normAutofit lnSpcReduction="10000"/>
          </a:bodyPr>
          <a:lstStyle/>
          <a:p>
            <a:r>
              <a:rPr lang="it-IT" b="1" dirty="0"/>
              <a:t>Non-primitive Data Types in </a:t>
            </a:r>
            <a:r>
              <a:rPr lang="it-IT" b="1" dirty="0" smtClean="0"/>
              <a:t>Java:</a:t>
            </a:r>
          </a:p>
          <a:p>
            <a:pPr lvl="1"/>
            <a:r>
              <a:rPr lang="en-US" dirty="0"/>
              <a:t>These are the </a:t>
            </a:r>
            <a:r>
              <a:rPr lang="en-US" dirty="0" err="1"/>
              <a:t>datatypes</a:t>
            </a:r>
            <a:r>
              <a:rPr lang="en-US" dirty="0"/>
              <a:t> which have instances like objects. Hence they are called reference variables. They are primarily classes, arrays, strings or interfaces</a:t>
            </a:r>
            <a:r>
              <a:rPr lang="en-US" dirty="0" smtClean="0"/>
              <a:t>.</a:t>
            </a:r>
          </a:p>
          <a:p>
            <a:r>
              <a:rPr lang="en-US" b="1" dirty="0" smtClean="0"/>
              <a:t>Strings : </a:t>
            </a:r>
            <a:r>
              <a:rPr lang="en-US" dirty="0"/>
              <a:t>string </a:t>
            </a:r>
            <a:r>
              <a:rPr lang="en-US" dirty="0" smtClean="0"/>
              <a:t>is </a:t>
            </a:r>
            <a:r>
              <a:rPr lang="en-US" dirty="0"/>
              <a:t>a collection of characters but in Java String is a completely different class altogether. It’s located </a:t>
            </a:r>
            <a:r>
              <a:rPr lang="en-US" b="1" dirty="0"/>
              <a:t>in </a:t>
            </a:r>
            <a:r>
              <a:rPr lang="en-US" b="1" dirty="0" err="1"/>
              <a:t>java.lang.String</a:t>
            </a:r>
            <a:r>
              <a:rPr lang="en-US" b="1" dirty="0" smtClean="0"/>
              <a:t>.</a:t>
            </a:r>
          </a:p>
          <a:p>
            <a:r>
              <a:rPr lang="en-US" b="1" dirty="0"/>
              <a:t>Example:</a:t>
            </a:r>
            <a:r>
              <a:rPr lang="en-US" dirty="0"/>
              <a:t/>
            </a:r>
            <a:br>
              <a:rPr lang="en-US" dirty="0"/>
            </a:br>
            <a:r>
              <a:rPr lang="en-US" dirty="0"/>
              <a:t>String s</a:t>
            </a:r>
            <a:r>
              <a:rPr lang="en-US" dirty="0" smtClean="0"/>
              <a:t>=”Learning java is fun”;</a:t>
            </a:r>
            <a:endParaRPr lang="en-US" b="1" dirty="0" smtClean="0"/>
          </a:p>
          <a:p>
            <a:endParaRPr lang="en-US" b="1" dirty="0" smtClean="0"/>
          </a:p>
          <a:p>
            <a:pPr marL="320040" lvl="1" indent="0">
              <a:buNone/>
            </a:pPr>
            <a:r>
              <a:rPr lang="en-US" dirty="0"/>
              <a:t> </a:t>
            </a:r>
          </a:p>
          <a:p>
            <a:endParaRPr lang="it-IT" dirty="0"/>
          </a:p>
          <a:p>
            <a:endParaRPr lang="en-US" dirty="0"/>
          </a:p>
        </p:txBody>
      </p:sp>
    </p:spTree>
    <p:extLst>
      <p:ext uri="{BB962C8B-B14F-4D97-AF65-F5344CB8AC3E}">
        <p14:creationId xmlns:p14="http://schemas.microsoft.com/office/powerpoint/2010/main" val="16005801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types in Java </a:t>
            </a:r>
            <a:r>
              <a:rPr lang="en-US" dirty="0" smtClean="0"/>
              <a:t>: </a:t>
            </a:r>
            <a:endParaRPr lang="en-US" dirty="0"/>
          </a:p>
        </p:txBody>
      </p:sp>
      <p:sp>
        <p:nvSpPr>
          <p:cNvPr id="3" name="Content Placeholder 2"/>
          <p:cNvSpPr>
            <a:spLocks noGrp="1"/>
          </p:cNvSpPr>
          <p:nvPr>
            <p:ph sz="quarter" idx="1"/>
          </p:nvPr>
        </p:nvSpPr>
        <p:spPr/>
        <p:txBody>
          <a:bodyPr/>
          <a:lstStyle/>
          <a:p>
            <a:pPr>
              <a:lnSpc>
                <a:spcPct val="150000"/>
              </a:lnSpc>
            </a:pPr>
            <a:r>
              <a:rPr lang="en-US" b="1" dirty="0"/>
              <a:t>Arrays</a:t>
            </a:r>
            <a:r>
              <a:rPr lang="en-US" dirty="0"/>
              <a:t> </a:t>
            </a:r>
            <a:r>
              <a:rPr lang="en-US" dirty="0" smtClean="0"/>
              <a:t>: </a:t>
            </a:r>
            <a:r>
              <a:rPr lang="en-US" dirty="0"/>
              <a:t>Arrays are special memory locations that can store a collection of homogeneous data. They are indexed. Arrays always start indexing from 0. Dynamic allocation of arrays is there in Java. </a:t>
            </a:r>
            <a:r>
              <a:rPr lang="en-US" u="sng" dirty="0">
                <a:hlinkClick r:id="rId2"/>
              </a:rPr>
              <a:t>Arrays in Java</a:t>
            </a:r>
            <a:r>
              <a:rPr lang="en-US" dirty="0"/>
              <a:t> can be passed as method parameters, local variables and static fields</a:t>
            </a:r>
            <a:r>
              <a:rPr lang="en-US" dirty="0" smtClean="0"/>
              <a:t>.</a:t>
            </a:r>
          </a:p>
          <a:p>
            <a:pPr>
              <a:lnSpc>
                <a:spcPct val="150000"/>
              </a:lnSpc>
            </a:pPr>
            <a:r>
              <a:rPr lang="en-US" b="1" dirty="0"/>
              <a:t>Example- </a:t>
            </a:r>
            <a:r>
              <a:rPr lang="en-US" b="1" dirty="0" err="1"/>
              <a:t>int</a:t>
            </a:r>
            <a:r>
              <a:rPr lang="en-US" b="1" dirty="0"/>
              <a:t> </a:t>
            </a:r>
            <a:r>
              <a:rPr lang="en-US" b="1" dirty="0" err="1"/>
              <a:t>arr</a:t>
            </a:r>
            <a:r>
              <a:rPr lang="en-US" b="1" dirty="0"/>
              <a:t>[] = new </a:t>
            </a:r>
            <a:r>
              <a:rPr lang="en-US" b="1" dirty="0" err="1"/>
              <a:t>int</a:t>
            </a:r>
            <a:r>
              <a:rPr lang="en-US" b="1" dirty="0"/>
              <a:t>[100];</a:t>
            </a:r>
            <a:endParaRPr lang="en-US" b="1" dirty="0" smtClean="0"/>
          </a:p>
          <a:p>
            <a:endParaRPr lang="en-US" dirty="0"/>
          </a:p>
          <a:p>
            <a:endParaRPr lang="en-US" dirty="0"/>
          </a:p>
        </p:txBody>
      </p:sp>
    </p:spTree>
    <p:extLst>
      <p:ext uri="{BB962C8B-B14F-4D97-AF65-F5344CB8AC3E}">
        <p14:creationId xmlns:p14="http://schemas.microsoft.com/office/powerpoint/2010/main" val="24699159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Java Control Statements :</a:t>
            </a:r>
            <a:endParaRPr lang="en-US" dirty="0"/>
          </a:p>
        </p:txBody>
      </p:sp>
      <p:sp>
        <p:nvSpPr>
          <p:cNvPr id="3" name="Content Placeholder 2"/>
          <p:cNvSpPr>
            <a:spLocks noGrp="1"/>
          </p:cNvSpPr>
          <p:nvPr>
            <p:ph sz="quarter" idx="1"/>
          </p:nvPr>
        </p:nvSpPr>
        <p:spPr/>
        <p:txBody>
          <a:bodyPr>
            <a:normAutofit lnSpcReduction="10000"/>
          </a:bodyPr>
          <a:lstStyle/>
          <a:p>
            <a:pPr>
              <a:lnSpc>
                <a:spcPct val="150000"/>
              </a:lnSpc>
            </a:pPr>
            <a:r>
              <a:rPr lang="en-US" dirty="0" smtClean="0"/>
              <a:t>Java </a:t>
            </a:r>
            <a:r>
              <a:rPr lang="en-US" dirty="0"/>
              <a:t>compiler executes the code from top to bottom. The statements in the code are executed according to the order in which they appear. However, </a:t>
            </a:r>
            <a:r>
              <a:rPr lang="en-US" dirty="0">
                <a:hlinkClick r:id="rId2"/>
              </a:rPr>
              <a:t>Java</a:t>
            </a:r>
            <a:r>
              <a:rPr lang="en-US" dirty="0"/>
              <a:t> provides statements that can be used to control the flow of Java code. Such statements are called control flow statements. It is one of the fundamental features of Java, which provides a smooth flow of program.</a:t>
            </a:r>
          </a:p>
        </p:txBody>
      </p:sp>
    </p:spTree>
    <p:extLst>
      <p:ext uri="{BB962C8B-B14F-4D97-AF65-F5344CB8AC3E}">
        <p14:creationId xmlns:p14="http://schemas.microsoft.com/office/powerpoint/2010/main" val="31225959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a:xfrm>
            <a:off x="914400" y="1143000"/>
            <a:ext cx="7772400" cy="5410200"/>
          </a:xfrm>
        </p:spPr>
        <p:txBody>
          <a:bodyPr/>
          <a:lstStyle/>
          <a:p>
            <a:r>
              <a:rPr lang="en-US" dirty="0"/>
              <a:t>Java provides three types of control flow </a:t>
            </a:r>
            <a:r>
              <a:rPr lang="en-US" dirty="0" smtClean="0"/>
              <a:t>statements.</a:t>
            </a:r>
          </a:p>
          <a:p>
            <a:pPr marL="0" indent="0">
              <a:buNone/>
            </a:pPr>
            <a:endParaRPr lang="en-US" dirty="0" smtClean="0"/>
          </a:p>
          <a:p>
            <a:r>
              <a:rPr lang="en-US" b="1" dirty="0"/>
              <a:t>Decision Making statements</a:t>
            </a:r>
          </a:p>
          <a:p>
            <a:pPr lvl="1"/>
            <a:r>
              <a:rPr lang="en-US" dirty="0"/>
              <a:t>if statements</a:t>
            </a:r>
          </a:p>
          <a:p>
            <a:pPr lvl="1"/>
            <a:r>
              <a:rPr lang="en-US" dirty="0"/>
              <a:t>switch </a:t>
            </a:r>
            <a:r>
              <a:rPr lang="en-US" dirty="0" smtClean="0"/>
              <a:t>statement</a:t>
            </a:r>
          </a:p>
          <a:p>
            <a:pPr lvl="1"/>
            <a:endParaRPr lang="en-US" dirty="0" smtClean="0"/>
          </a:p>
          <a:p>
            <a:r>
              <a:rPr lang="en-US" b="1" dirty="0"/>
              <a:t>Loop statements</a:t>
            </a:r>
          </a:p>
          <a:p>
            <a:pPr lvl="1"/>
            <a:r>
              <a:rPr lang="en-US" dirty="0"/>
              <a:t>do while loop</a:t>
            </a:r>
          </a:p>
          <a:p>
            <a:pPr lvl="1"/>
            <a:r>
              <a:rPr lang="en-US" dirty="0"/>
              <a:t>while loop</a:t>
            </a:r>
          </a:p>
          <a:p>
            <a:pPr lvl="1"/>
            <a:r>
              <a:rPr lang="en-US" dirty="0"/>
              <a:t>for loop</a:t>
            </a:r>
          </a:p>
          <a:p>
            <a:pPr lvl="1"/>
            <a:r>
              <a:rPr lang="en-US" dirty="0"/>
              <a:t>for-each loop</a:t>
            </a:r>
          </a:p>
          <a:p>
            <a:endParaRPr lang="en-US" dirty="0"/>
          </a:p>
          <a:p>
            <a:endParaRPr lang="en-US" dirty="0"/>
          </a:p>
        </p:txBody>
      </p:sp>
    </p:spTree>
    <p:extLst>
      <p:ext uri="{BB962C8B-B14F-4D97-AF65-F5344CB8AC3E}">
        <p14:creationId xmlns:p14="http://schemas.microsoft.com/office/powerpoint/2010/main" val="29735975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a:xfrm>
            <a:off x="914400" y="1143000"/>
            <a:ext cx="7772400" cy="4572000"/>
          </a:xfrm>
        </p:spPr>
        <p:txBody>
          <a:bodyPr/>
          <a:lstStyle/>
          <a:p>
            <a:r>
              <a:rPr lang="en-US" b="1" dirty="0"/>
              <a:t>Jump statements</a:t>
            </a:r>
          </a:p>
          <a:p>
            <a:pPr lvl="1"/>
            <a:r>
              <a:rPr lang="en-US" dirty="0"/>
              <a:t>break statement</a:t>
            </a:r>
          </a:p>
          <a:p>
            <a:pPr lvl="1"/>
            <a:r>
              <a:rPr lang="en-US" dirty="0"/>
              <a:t>continue statement</a:t>
            </a:r>
          </a:p>
          <a:p>
            <a:endParaRPr lang="en-US" dirty="0"/>
          </a:p>
        </p:txBody>
      </p:sp>
    </p:spTree>
    <p:extLst>
      <p:ext uri="{BB962C8B-B14F-4D97-AF65-F5344CB8AC3E}">
        <p14:creationId xmlns:p14="http://schemas.microsoft.com/office/powerpoint/2010/main" val="304539446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p:txBody>
          <a:bodyPr/>
          <a:lstStyle/>
          <a:p>
            <a:r>
              <a:rPr lang="en-US" b="1" dirty="0"/>
              <a:t>Decision-Making statements:</a:t>
            </a:r>
          </a:p>
          <a:p>
            <a:pPr lvl="1">
              <a:lnSpc>
                <a:spcPct val="150000"/>
              </a:lnSpc>
            </a:pPr>
            <a:r>
              <a:rPr lang="en-US" dirty="0"/>
              <a:t>As the name suggests, decision-making statements decide which statement to execute and when. Decision-making statements evaluate the Boolean expression and control the program flow depending upon the result of the condition provided. There are two types of decision-making statements in Java, i.e., If statement and switch statement.</a:t>
            </a:r>
          </a:p>
        </p:txBody>
      </p:sp>
    </p:spTree>
    <p:extLst>
      <p:ext uri="{BB962C8B-B14F-4D97-AF65-F5344CB8AC3E}">
        <p14:creationId xmlns:p14="http://schemas.microsoft.com/office/powerpoint/2010/main" val="33095188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a:xfrm>
            <a:off x="914400" y="1066800"/>
            <a:ext cx="7772400" cy="5257800"/>
          </a:xfrm>
        </p:spPr>
        <p:txBody>
          <a:bodyPr/>
          <a:lstStyle/>
          <a:p>
            <a:r>
              <a:rPr lang="en-US" b="1" dirty="0"/>
              <a:t>If </a:t>
            </a:r>
            <a:r>
              <a:rPr lang="en-US" b="1" dirty="0" smtClean="0"/>
              <a:t>Statement: </a:t>
            </a:r>
            <a:r>
              <a:rPr lang="en-US" dirty="0" smtClean="0"/>
              <a:t>In </a:t>
            </a:r>
            <a:r>
              <a:rPr lang="en-US" dirty="0"/>
              <a:t>Java, the "if" statement is used to evaluate a condition. The control of the program is diverted depending upon the specific condition. The condition of the If statement gives a Boolean value, either true or false. In Java, there are four types of if-statements given below</a:t>
            </a:r>
            <a:r>
              <a:rPr lang="en-US" dirty="0" smtClean="0"/>
              <a:t>.</a:t>
            </a:r>
          </a:p>
          <a:p>
            <a:endParaRPr lang="en-US" dirty="0" smtClean="0"/>
          </a:p>
          <a:p>
            <a:pPr lvl="1"/>
            <a:r>
              <a:rPr lang="en-US" dirty="0"/>
              <a:t>Simple if statement</a:t>
            </a:r>
          </a:p>
          <a:p>
            <a:pPr lvl="1"/>
            <a:r>
              <a:rPr lang="en-US" dirty="0"/>
              <a:t>if-else statement</a:t>
            </a:r>
          </a:p>
          <a:p>
            <a:pPr lvl="1"/>
            <a:r>
              <a:rPr lang="en-US" dirty="0"/>
              <a:t>if-else-if ladder</a:t>
            </a:r>
          </a:p>
          <a:p>
            <a:pPr lvl="1"/>
            <a:r>
              <a:rPr lang="en-US" dirty="0"/>
              <a:t>Nested if-statement</a:t>
            </a:r>
          </a:p>
          <a:p>
            <a:endParaRPr lang="en-US" dirty="0"/>
          </a:p>
        </p:txBody>
      </p:sp>
    </p:spTree>
    <p:extLst>
      <p:ext uri="{BB962C8B-B14F-4D97-AF65-F5344CB8AC3E}">
        <p14:creationId xmlns:p14="http://schemas.microsoft.com/office/powerpoint/2010/main" val="325976414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a:xfrm>
            <a:off x="914400" y="1447800"/>
            <a:ext cx="7772400" cy="4876800"/>
          </a:xfrm>
        </p:spPr>
        <p:txBody>
          <a:bodyPr>
            <a:normAutofit/>
          </a:bodyPr>
          <a:lstStyle/>
          <a:p>
            <a:r>
              <a:rPr lang="en-US" b="1" dirty="0"/>
              <a:t>Simple if statement:</a:t>
            </a:r>
          </a:p>
          <a:p>
            <a:pPr lvl="1"/>
            <a:r>
              <a:rPr lang="en-US" dirty="0"/>
              <a:t>It is the most basic statement among all control flow statements in Java. It evaluates a Boolean expression and enables the program to enter a block of code if the expression evaluates to true.</a:t>
            </a:r>
          </a:p>
          <a:p>
            <a:pPr lvl="1"/>
            <a:r>
              <a:rPr lang="en-US" dirty="0"/>
              <a:t>Syntax of if statement is given below.</a:t>
            </a:r>
          </a:p>
          <a:p>
            <a:pPr marL="0" indent="0">
              <a:buNone/>
            </a:pPr>
            <a:endParaRPr lang="en-US" b="1" dirty="0" smtClean="0"/>
          </a:p>
          <a:p>
            <a:pPr marL="0" indent="0">
              <a:buNone/>
            </a:pPr>
            <a:r>
              <a:rPr lang="en-US" b="1" dirty="0" smtClean="0"/>
              <a:t>if</a:t>
            </a:r>
            <a:r>
              <a:rPr lang="en-US" dirty="0" smtClean="0"/>
              <a:t>(condition</a:t>
            </a:r>
            <a:r>
              <a:rPr lang="en-US" dirty="0"/>
              <a:t>) </a:t>
            </a:r>
            <a:endParaRPr lang="en-US" dirty="0" smtClean="0"/>
          </a:p>
          <a:p>
            <a:pPr marL="0" indent="0">
              <a:buNone/>
            </a:pPr>
            <a:r>
              <a:rPr lang="en-US" dirty="0" smtClean="0"/>
              <a:t>{</a:t>
            </a:r>
            <a:r>
              <a:rPr lang="en-US" dirty="0"/>
              <a:t>    </a:t>
            </a:r>
          </a:p>
          <a:p>
            <a:pPr marL="0" indent="0">
              <a:buNone/>
            </a:pPr>
            <a:r>
              <a:rPr lang="en-US" dirty="0" smtClean="0"/>
              <a:t>	statement</a:t>
            </a:r>
            <a:r>
              <a:rPr lang="en-US" dirty="0"/>
              <a:t> 1; //executes when condition is true </a:t>
            </a:r>
          </a:p>
          <a:p>
            <a:pPr marL="0" indent="0">
              <a:buNone/>
            </a:pPr>
            <a:r>
              <a:rPr lang="en-US" dirty="0"/>
              <a:t>}    </a:t>
            </a:r>
          </a:p>
          <a:p>
            <a:endParaRPr lang="en-US" dirty="0"/>
          </a:p>
        </p:txBody>
      </p:sp>
    </p:spTree>
    <p:extLst>
      <p:ext uri="{BB962C8B-B14F-4D97-AF65-F5344CB8AC3E}">
        <p14:creationId xmlns:p14="http://schemas.microsoft.com/office/powerpoint/2010/main" val="22086785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a:xfrm>
            <a:off x="914400" y="1143000"/>
            <a:ext cx="7772400" cy="4876800"/>
          </a:xfrm>
        </p:spPr>
        <p:txBody>
          <a:bodyPr>
            <a:normAutofit lnSpcReduction="10000"/>
          </a:bodyPr>
          <a:lstStyle/>
          <a:p>
            <a:pPr marL="0" indent="0">
              <a:buNone/>
            </a:pPr>
            <a:r>
              <a:rPr lang="en-US" b="1" dirty="0" smtClean="0"/>
              <a:t>Example: </a:t>
            </a:r>
          </a:p>
          <a:p>
            <a:pPr marL="0" indent="0">
              <a:buNone/>
            </a:pPr>
            <a:r>
              <a:rPr lang="en-US" dirty="0" smtClean="0"/>
              <a:t>public </a:t>
            </a:r>
            <a:r>
              <a:rPr lang="en-US" dirty="0"/>
              <a:t>class Student {</a:t>
            </a:r>
          </a:p>
          <a:p>
            <a:pPr marL="0" indent="0">
              <a:buNone/>
            </a:pPr>
            <a:r>
              <a:rPr lang="en-US" dirty="0"/>
              <a:t>   </a:t>
            </a:r>
            <a:r>
              <a:rPr lang="en-US" dirty="0" smtClean="0"/>
              <a:t> public </a:t>
            </a:r>
            <a:r>
              <a:rPr lang="en-US" dirty="0"/>
              <a:t>static void main(String[] </a:t>
            </a:r>
            <a:r>
              <a:rPr lang="en-US" dirty="0" err="1"/>
              <a:t>args</a:t>
            </a:r>
            <a:r>
              <a:rPr lang="en-US" dirty="0"/>
              <a:t>) {</a:t>
            </a:r>
          </a:p>
          <a:p>
            <a:pPr marL="0" indent="0">
              <a:buNone/>
            </a:pPr>
            <a:r>
              <a:rPr lang="en-US" dirty="0"/>
              <a:t>        </a:t>
            </a:r>
            <a:r>
              <a:rPr lang="en-US" dirty="0" err="1"/>
              <a:t>int</a:t>
            </a:r>
            <a:r>
              <a:rPr lang="en-US" dirty="0"/>
              <a:t> x = 10;</a:t>
            </a:r>
          </a:p>
          <a:p>
            <a:pPr marL="0" indent="0">
              <a:buNone/>
            </a:pPr>
            <a:r>
              <a:rPr lang="en-US" dirty="0"/>
              <a:t>        </a:t>
            </a:r>
            <a:r>
              <a:rPr lang="en-US" dirty="0" err="1"/>
              <a:t>int</a:t>
            </a:r>
            <a:r>
              <a:rPr lang="en-US" dirty="0"/>
              <a:t> y = 12;</a:t>
            </a:r>
          </a:p>
          <a:p>
            <a:pPr marL="0" indent="0">
              <a:buNone/>
            </a:pPr>
            <a:r>
              <a:rPr lang="en-US" dirty="0"/>
              <a:t>        if (x + y &gt; 20) {</a:t>
            </a:r>
          </a:p>
          <a:p>
            <a:pPr marL="0" indent="0">
              <a:buNone/>
            </a:pPr>
            <a:r>
              <a:rPr lang="en-US" dirty="0"/>
              <a:t>            </a:t>
            </a:r>
            <a:r>
              <a:rPr lang="en-US" dirty="0" err="1"/>
              <a:t>System.out.println</a:t>
            </a:r>
            <a:r>
              <a:rPr lang="en-US" dirty="0"/>
              <a:t>("x + y is greater than 20");</a:t>
            </a:r>
          </a:p>
          <a:p>
            <a:pPr marL="0" indent="0">
              <a:buNone/>
            </a:pPr>
            <a:r>
              <a:rPr lang="en-US" dirty="0"/>
              <a:t>        }</a:t>
            </a:r>
          </a:p>
          <a:p>
            <a:pPr marL="0" indent="0">
              <a:buNone/>
            </a:pPr>
            <a:r>
              <a:rPr lang="en-US" dirty="0"/>
              <a:t>    }</a:t>
            </a:r>
          </a:p>
          <a:p>
            <a:pPr marL="0" indent="0">
              <a:buNone/>
            </a:pPr>
            <a:r>
              <a:rPr lang="en-US" dirty="0" smtClean="0"/>
              <a:t>}</a:t>
            </a:r>
          </a:p>
          <a:p>
            <a:pPr marL="0" indent="0">
              <a:buNone/>
            </a:pPr>
            <a:r>
              <a:rPr lang="en-US" b="1" dirty="0"/>
              <a:t>Output</a:t>
            </a:r>
            <a:r>
              <a:rPr lang="en-US" b="1" dirty="0" smtClean="0"/>
              <a:t>: </a:t>
            </a:r>
            <a:r>
              <a:rPr lang="en-US" dirty="0"/>
              <a:t>x + y is greater than 20</a:t>
            </a:r>
          </a:p>
        </p:txBody>
      </p:sp>
    </p:spTree>
    <p:extLst>
      <p:ext uri="{BB962C8B-B14F-4D97-AF65-F5344CB8AC3E}">
        <p14:creationId xmlns:p14="http://schemas.microsoft.com/office/powerpoint/2010/main" val="20137234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p:txBody>
          <a:bodyPr/>
          <a:lstStyle/>
          <a:p>
            <a:r>
              <a:rPr lang="en-US" b="1" dirty="0"/>
              <a:t>if-else </a:t>
            </a:r>
            <a:r>
              <a:rPr lang="en-US" b="1" dirty="0" smtClean="0"/>
              <a:t>statement :</a:t>
            </a:r>
          </a:p>
          <a:p>
            <a:pPr lvl="1"/>
            <a:r>
              <a:rPr lang="en-US" dirty="0"/>
              <a:t>The </a:t>
            </a:r>
            <a:r>
              <a:rPr lang="en-US" dirty="0">
                <a:hlinkClick r:id="rId2"/>
              </a:rPr>
              <a:t>if-else statement</a:t>
            </a:r>
            <a:r>
              <a:rPr lang="en-US" dirty="0"/>
              <a:t> is an extension to the if-statement, which uses another block of code, i.e., else block. The else block is executed if the condition of the if-block is evaluated as false</a:t>
            </a:r>
            <a:r>
              <a:rPr lang="en-US" dirty="0" smtClean="0"/>
              <a:t>.</a:t>
            </a:r>
          </a:p>
          <a:p>
            <a:r>
              <a:rPr lang="en-US" b="1" dirty="0" smtClean="0"/>
              <a:t>Syntax:</a:t>
            </a:r>
          </a:p>
          <a:p>
            <a:pPr marL="320040" lvl="1" indent="0">
              <a:buNone/>
            </a:pPr>
            <a:r>
              <a:rPr lang="en-US" dirty="0"/>
              <a:t>if (condition) {</a:t>
            </a:r>
          </a:p>
          <a:p>
            <a:pPr marL="320040" lvl="1" indent="0">
              <a:buNone/>
            </a:pPr>
            <a:r>
              <a:rPr lang="en-US" dirty="0"/>
              <a:t>    statement 1; //executes when condition is true   </a:t>
            </a:r>
          </a:p>
          <a:p>
            <a:pPr marL="320040" lvl="1" indent="0">
              <a:buNone/>
            </a:pPr>
            <a:r>
              <a:rPr lang="en-US" dirty="0"/>
              <a:t>} else {</a:t>
            </a:r>
          </a:p>
          <a:p>
            <a:pPr marL="320040" lvl="1" indent="0">
              <a:buNone/>
            </a:pPr>
            <a:r>
              <a:rPr lang="en-US" dirty="0"/>
              <a:t>    statement 2; //executes when condition is false   </a:t>
            </a:r>
          </a:p>
          <a:p>
            <a:pPr marL="320040" lvl="1" indent="0">
              <a:buNone/>
            </a:pPr>
            <a:r>
              <a:rPr lang="en-US" dirty="0"/>
              <a:t>}</a:t>
            </a:r>
            <a:endParaRPr lang="en-US" dirty="0" smtClean="0"/>
          </a:p>
          <a:p>
            <a:endParaRPr lang="en-US" dirty="0"/>
          </a:p>
        </p:txBody>
      </p:sp>
    </p:spTree>
    <p:extLst>
      <p:ext uri="{BB962C8B-B14F-4D97-AF65-F5344CB8AC3E}">
        <p14:creationId xmlns:p14="http://schemas.microsoft.com/office/powerpoint/2010/main" val="10943187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a:xfrm>
            <a:off x="914400" y="1143000"/>
            <a:ext cx="7772400" cy="5257800"/>
          </a:xfrm>
        </p:spPr>
        <p:txBody>
          <a:bodyPr>
            <a:normAutofit/>
          </a:bodyPr>
          <a:lstStyle/>
          <a:p>
            <a:pPr marL="0" indent="0">
              <a:buNone/>
            </a:pPr>
            <a:r>
              <a:rPr lang="en-US" dirty="0"/>
              <a:t>public class Student {</a:t>
            </a:r>
          </a:p>
          <a:p>
            <a:pPr marL="0" indent="0">
              <a:buNone/>
            </a:pPr>
            <a:r>
              <a:rPr lang="en-US" dirty="0"/>
              <a:t>    public static void main(String[] </a:t>
            </a:r>
            <a:r>
              <a:rPr lang="en-US" dirty="0" err="1"/>
              <a:t>args</a:t>
            </a:r>
            <a:r>
              <a:rPr lang="en-US" dirty="0"/>
              <a:t>) {</a:t>
            </a:r>
          </a:p>
          <a:p>
            <a:pPr marL="0" indent="0">
              <a:buNone/>
            </a:pPr>
            <a:r>
              <a:rPr lang="en-US" dirty="0"/>
              <a:t>        </a:t>
            </a:r>
            <a:r>
              <a:rPr lang="en-US" dirty="0" err="1"/>
              <a:t>int</a:t>
            </a:r>
            <a:r>
              <a:rPr lang="en-US" dirty="0"/>
              <a:t> x = 10;</a:t>
            </a:r>
          </a:p>
          <a:p>
            <a:pPr marL="0" indent="0">
              <a:buNone/>
            </a:pPr>
            <a:r>
              <a:rPr lang="en-US" dirty="0"/>
              <a:t>        </a:t>
            </a:r>
            <a:r>
              <a:rPr lang="en-US" dirty="0" err="1"/>
              <a:t>int</a:t>
            </a:r>
            <a:r>
              <a:rPr lang="en-US" dirty="0"/>
              <a:t> y = 12;</a:t>
            </a:r>
          </a:p>
          <a:p>
            <a:pPr marL="0" indent="0">
              <a:buNone/>
            </a:pPr>
            <a:r>
              <a:rPr lang="en-US" dirty="0"/>
              <a:t>        if (x + y &lt; 10) {</a:t>
            </a:r>
          </a:p>
          <a:p>
            <a:pPr marL="0" indent="0">
              <a:buNone/>
            </a:pPr>
            <a:r>
              <a:rPr lang="en-US" dirty="0"/>
              <a:t>            </a:t>
            </a:r>
            <a:r>
              <a:rPr lang="en-US" dirty="0" err="1"/>
              <a:t>System.out.println</a:t>
            </a:r>
            <a:r>
              <a:rPr lang="en-US" dirty="0"/>
              <a:t>("x + y is less than      10");</a:t>
            </a:r>
          </a:p>
          <a:p>
            <a:pPr marL="0" indent="0">
              <a:buNone/>
            </a:pPr>
            <a:r>
              <a:rPr lang="en-US" dirty="0"/>
              <a:t>        } else {</a:t>
            </a:r>
          </a:p>
          <a:p>
            <a:pPr marL="0" indent="0">
              <a:buNone/>
            </a:pPr>
            <a:r>
              <a:rPr lang="en-US" dirty="0"/>
              <a:t>            </a:t>
            </a:r>
            <a:r>
              <a:rPr lang="en-US" dirty="0" err="1"/>
              <a:t>System.out.println</a:t>
            </a:r>
            <a:r>
              <a:rPr lang="en-US" dirty="0"/>
              <a:t>("x + y is greater than 20");</a:t>
            </a:r>
          </a:p>
          <a:p>
            <a:pPr marL="0" indent="0">
              <a:buNone/>
            </a:pPr>
            <a:r>
              <a:rPr lang="en-US" dirty="0"/>
              <a:t>        }</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3788693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a:xfrm>
            <a:off x="914400" y="1219200"/>
            <a:ext cx="7772400" cy="5181600"/>
          </a:xfrm>
        </p:spPr>
        <p:txBody>
          <a:bodyPr>
            <a:normAutofit/>
          </a:bodyPr>
          <a:lstStyle/>
          <a:p>
            <a:pPr>
              <a:lnSpc>
                <a:spcPct val="150000"/>
              </a:lnSpc>
            </a:pPr>
            <a:r>
              <a:rPr lang="en-US" b="1" dirty="0"/>
              <a:t>if-else-if ladder</a:t>
            </a:r>
            <a:r>
              <a:rPr lang="en-US" b="1" dirty="0" smtClean="0"/>
              <a:t>: </a:t>
            </a:r>
            <a:r>
              <a:rPr lang="en-US" dirty="0"/>
              <a:t>The if-else-if statement contains the if-statement followed by multiple else-if statements. In other words, we can say that it is the chain of if-else statements that create a decision tree where the program may enter in the block of code where the condition is true. We can also define an else statement at the end of the chain.</a:t>
            </a:r>
            <a:endParaRPr lang="en-US" b="1" dirty="0"/>
          </a:p>
          <a:p>
            <a:pPr>
              <a:lnSpc>
                <a:spcPct val="150000"/>
              </a:lnSpc>
            </a:pPr>
            <a:r>
              <a:rPr lang="en-US" dirty="0"/>
              <a:t>Syntax of if-else-if statement is given below.</a:t>
            </a:r>
          </a:p>
        </p:txBody>
      </p:sp>
    </p:spTree>
    <p:extLst>
      <p:ext uri="{BB962C8B-B14F-4D97-AF65-F5344CB8AC3E}">
        <p14:creationId xmlns:p14="http://schemas.microsoft.com/office/powerpoint/2010/main" val="39222129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a:xfrm>
            <a:off x="914400" y="990600"/>
            <a:ext cx="7772400" cy="5257800"/>
          </a:xfrm>
        </p:spPr>
        <p:txBody>
          <a:bodyPr>
            <a:normAutofit fontScale="92500" lnSpcReduction="10000"/>
          </a:bodyPr>
          <a:lstStyle/>
          <a:p>
            <a:pPr marL="0" indent="0">
              <a:buNone/>
            </a:pPr>
            <a:r>
              <a:rPr lang="en-US" dirty="0"/>
              <a:t>if (condition 1</a:t>
            </a:r>
            <a:r>
              <a:rPr lang="en-US" dirty="0" smtClean="0"/>
              <a:t>)</a:t>
            </a:r>
          </a:p>
          <a:p>
            <a:pPr marL="0" indent="0">
              <a:buNone/>
            </a:pPr>
            <a:r>
              <a:rPr lang="en-US" dirty="0" smtClean="0"/>
              <a:t>{</a:t>
            </a:r>
            <a:endParaRPr lang="en-US" dirty="0"/>
          </a:p>
          <a:p>
            <a:pPr marL="0" indent="0">
              <a:buNone/>
            </a:pPr>
            <a:r>
              <a:rPr lang="en-US" dirty="0"/>
              <a:t>    statement 1; //executes when condition 1 is true   </a:t>
            </a:r>
          </a:p>
          <a:p>
            <a:pPr marL="0" indent="0">
              <a:buNone/>
            </a:pPr>
            <a:r>
              <a:rPr lang="en-US" dirty="0"/>
              <a:t>} </a:t>
            </a:r>
            <a:endParaRPr lang="en-US" dirty="0" smtClean="0"/>
          </a:p>
          <a:p>
            <a:pPr marL="0" indent="0">
              <a:buNone/>
            </a:pPr>
            <a:r>
              <a:rPr lang="en-US" dirty="0" smtClean="0"/>
              <a:t>else </a:t>
            </a:r>
            <a:r>
              <a:rPr lang="en-US" dirty="0"/>
              <a:t>if (condition 2) </a:t>
            </a:r>
            <a:endParaRPr lang="en-US" dirty="0" smtClean="0"/>
          </a:p>
          <a:p>
            <a:pPr marL="0" indent="0">
              <a:buNone/>
            </a:pPr>
            <a:r>
              <a:rPr lang="en-US" dirty="0" smtClean="0"/>
              <a:t>{</a:t>
            </a:r>
            <a:endParaRPr lang="en-US" dirty="0"/>
          </a:p>
          <a:p>
            <a:pPr marL="0" indent="0">
              <a:buNone/>
            </a:pPr>
            <a:r>
              <a:rPr lang="en-US" dirty="0"/>
              <a:t>    statement 2; //executes when condition 2 is true   </a:t>
            </a:r>
          </a:p>
          <a:p>
            <a:pPr marL="0" indent="0">
              <a:buNone/>
            </a:pPr>
            <a:r>
              <a:rPr lang="en-US" dirty="0"/>
              <a:t>} </a:t>
            </a:r>
            <a:endParaRPr lang="en-US" dirty="0" smtClean="0"/>
          </a:p>
          <a:p>
            <a:pPr marL="0" indent="0">
              <a:buNone/>
            </a:pPr>
            <a:r>
              <a:rPr lang="en-US" dirty="0" smtClean="0"/>
              <a:t>else </a:t>
            </a:r>
          </a:p>
          <a:p>
            <a:pPr marL="0" indent="0">
              <a:buNone/>
            </a:pPr>
            <a:r>
              <a:rPr lang="en-US" dirty="0" smtClean="0"/>
              <a:t>{</a:t>
            </a:r>
            <a:endParaRPr lang="en-US" dirty="0"/>
          </a:p>
          <a:p>
            <a:pPr marL="0" indent="0">
              <a:buNone/>
            </a:pPr>
            <a:r>
              <a:rPr lang="en-US" dirty="0" smtClean="0"/>
              <a:t>    </a:t>
            </a:r>
            <a:r>
              <a:rPr lang="en-US" dirty="0"/>
              <a:t>statement 2; //executes when all the conditions are false   </a:t>
            </a:r>
          </a:p>
          <a:p>
            <a:pPr marL="0" indent="0">
              <a:buNone/>
            </a:pPr>
            <a:r>
              <a:rPr lang="en-US" dirty="0"/>
              <a:t>}</a:t>
            </a:r>
          </a:p>
        </p:txBody>
      </p:sp>
    </p:spTree>
    <p:extLst>
      <p:ext uri="{BB962C8B-B14F-4D97-AF65-F5344CB8AC3E}">
        <p14:creationId xmlns:p14="http://schemas.microsoft.com/office/powerpoint/2010/main" val="11943954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a:xfrm>
            <a:off x="914400" y="1143000"/>
            <a:ext cx="7772400" cy="5257800"/>
          </a:xfrm>
        </p:spPr>
        <p:txBody>
          <a:bodyPr>
            <a:normAutofit fontScale="85000" lnSpcReduction="20000"/>
          </a:bodyPr>
          <a:lstStyle/>
          <a:p>
            <a:pPr marL="0" indent="0">
              <a:buNone/>
            </a:pPr>
            <a:r>
              <a:rPr lang="en-US" dirty="0"/>
              <a:t>public class Student {</a:t>
            </a:r>
          </a:p>
          <a:p>
            <a:pPr marL="0" indent="0">
              <a:buNone/>
            </a:pPr>
            <a:r>
              <a:rPr lang="en-US" dirty="0"/>
              <a:t>    public static void main(String[] </a:t>
            </a:r>
            <a:r>
              <a:rPr lang="en-US" dirty="0" err="1"/>
              <a:t>args</a:t>
            </a:r>
            <a:r>
              <a:rPr lang="en-US" dirty="0"/>
              <a:t>) {</a:t>
            </a:r>
          </a:p>
          <a:p>
            <a:pPr marL="0" indent="0">
              <a:buNone/>
            </a:pPr>
            <a:r>
              <a:rPr lang="en-US" dirty="0" smtClean="0"/>
              <a:t>        </a:t>
            </a:r>
            <a:r>
              <a:rPr lang="en-US" dirty="0"/>
              <a:t>String city = "Delhi";</a:t>
            </a:r>
          </a:p>
          <a:p>
            <a:pPr marL="0" indent="0">
              <a:buNone/>
            </a:pPr>
            <a:r>
              <a:rPr lang="en-US" dirty="0"/>
              <a:t>        if (city == "Meerut") {</a:t>
            </a:r>
          </a:p>
          <a:p>
            <a:pPr marL="0" indent="0">
              <a:buNone/>
            </a:pPr>
            <a:r>
              <a:rPr lang="en-US" dirty="0"/>
              <a:t>            </a:t>
            </a:r>
            <a:r>
              <a:rPr lang="en-US" dirty="0" err="1"/>
              <a:t>System.out.println</a:t>
            </a:r>
            <a:r>
              <a:rPr lang="en-US" dirty="0"/>
              <a:t>("city is </a:t>
            </a:r>
            <a:r>
              <a:rPr lang="en-US" dirty="0" err="1"/>
              <a:t>meerut</a:t>
            </a:r>
            <a:r>
              <a:rPr lang="en-US" dirty="0"/>
              <a:t>");</a:t>
            </a:r>
          </a:p>
          <a:p>
            <a:pPr marL="0" indent="0">
              <a:buNone/>
            </a:pPr>
            <a:r>
              <a:rPr lang="en-US" dirty="0"/>
              <a:t>        } else if (city == "Noida") {</a:t>
            </a:r>
          </a:p>
          <a:p>
            <a:pPr marL="0" indent="0">
              <a:buNone/>
            </a:pPr>
            <a:r>
              <a:rPr lang="en-US" dirty="0"/>
              <a:t>            </a:t>
            </a:r>
            <a:r>
              <a:rPr lang="en-US" dirty="0" err="1"/>
              <a:t>System.out.println</a:t>
            </a:r>
            <a:r>
              <a:rPr lang="en-US" dirty="0"/>
              <a:t>("city is </a:t>
            </a:r>
            <a:r>
              <a:rPr lang="en-US" dirty="0" err="1"/>
              <a:t>noida</a:t>
            </a:r>
            <a:r>
              <a:rPr lang="en-US" dirty="0"/>
              <a:t>");</a:t>
            </a:r>
          </a:p>
          <a:p>
            <a:pPr marL="0" indent="0">
              <a:buNone/>
            </a:pPr>
            <a:r>
              <a:rPr lang="en-US" dirty="0"/>
              <a:t>        } else if (city == "Agra") {</a:t>
            </a:r>
          </a:p>
          <a:p>
            <a:pPr marL="0" indent="0">
              <a:buNone/>
            </a:pPr>
            <a:r>
              <a:rPr lang="en-US" dirty="0"/>
              <a:t>            </a:t>
            </a:r>
            <a:r>
              <a:rPr lang="en-US" dirty="0" err="1"/>
              <a:t>System.out.println</a:t>
            </a:r>
            <a:r>
              <a:rPr lang="en-US" dirty="0"/>
              <a:t>("city is </a:t>
            </a:r>
            <a:r>
              <a:rPr lang="en-US" dirty="0" err="1"/>
              <a:t>agra</a:t>
            </a:r>
            <a:r>
              <a:rPr lang="en-US" dirty="0"/>
              <a:t>");</a:t>
            </a:r>
          </a:p>
          <a:p>
            <a:pPr marL="0" indent="0">
              <a:buNone/>
            </a:pPr>
            <a:r>
              <a:rPr lang="en-US" dirty="0"/>
              <a:t>        } else {</a:t>
            </a:r>
          </a:p>
          <a:p>
            <a:pPr marL="0" indent="0">
              <a:buNone/>
            </a:pPr>
            <a:r>
              <a:rPr lang="en-US" dirty="0" smtClean="0"/>
              <a:t>            </a:t>
            </a:r>
            <a:r>
              <a:rPr lang="en-US" dirty="0" err="1"/>
              <a:t>System.out.println</a:t>
            </a:r>
            <a:r>
              <a:rPr lang="en-US" dirty="0"/>
              <a:t>(city);</a:t>
            </a:r>
          </a:p>
          <a:p>
            <a:pPr marL="0" indent="0">
              <a:buNone/>
            </a:pPr>
            <a:r>
              <a:rPr lang="en-US" dirty="0"/>
              <a:t>        }</a:t>
            </a:r>
          </a:p>
          <a:p>
            <a:pPr marL="0" indent="0">
              <a:buNone/>
            </a:pPr>
            <a:r>
              <a:rPr lang="en-US" dirty="0"/>
              <a:t>    }</a:t>
            </a:r>
          </a:p>
          <a:p>
            <a:pPr marL="0" indent="0">
              <a:buNone/>
            </a:pPr>
            <a:r>
              <a:rPr lang="en-US" dirty="0" smtClean="0"/>
              <a:t>}</a:t>
            </a:r>
            <a:endParaRPr lang="en-US" dirty="0"/>
          </a:p>
        </p:txBody>
      </p:sp>
    </p:spTree>
    <p:extLst>
      <p:ext uri="{BB962C8B-B14F-4D97-AF65-F5344CB8AC3E}">
        <p14:creationId xmlns:p14="http://schemas.microsoft.com/office/powerpoint/2010/main" val="20498374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a:xfrm>
            <a:off x="914400" y="990600"/>
            <a:ext cx="7772400" cy="5562600"/>
          </a:xfrm>
        </p:spPr>
        <p:txBody>
          <a:bodyPr>
            <a:normAutofit fontScale="85000" lnSpcReduction="20000"/>
          </a:bodyPr>
          <a:lstStyle/>
          <a:p>
            <a:r>
              <a:rPr lang="en-US" b="1" dirty="0"/>
              <a:t>Nested </a:t>
            </a:r>
            <a:r>
              <a:rPr lang="en-US" b="1" dirty="0" smtClean="0"/>
              <a:t>if-statement</a:t>
            </a:r>
            <a:r>
              <a:rPr lang="en-US" dirty="0" smtClean="0"/>
              <a:t>: </a:t>
            </a:r>
            <a:r>
              <a:rPr lang="en-US" dirty="0"/>
              <a:t>In nested if-statements, the if statement can contain a </a:t>
            </a:r>
            <a:r>
              <a:rPr lang="en-US" b="1" dirty="0"/>
              <a:t>if</a:t>
            </a:r>
            <a:r>
              <a:rPr lang="en-US" dirty="0"/>
              <a:t> or </a:t>
            </a:r>
            <a:r>
              <a:rPr lang="en-US" b="1" dirty="0"/>
              <a:t>if-else</a:t>
            </a:r>
            <a:r>
              <a:rPr lang="en-US" dirty="0"/>
              <a:t> statement inside another if or else-if statement</a:t>
            </a:r>
            <a:r>
              <a:rPr lang="en-US" dirty="0" smtClean="0"/>
              <a:t>.</a:t>
            </a:r>
          </a:p>
          <a:p>
            <a:pPr marL="0" indent="0">
              <a:buNone/>
            </a:pPr>
            <a:r>
              <a:rPr lang="en-US" b="1" dirty="0"/>
              <a:t> </a:t>
            </a:r>
            <a:r>
              <a:rPr lang="en-US" b="1" dirty="0" smtClean="0"/>
              <a:t>  Syntax</a:t>
            </a:r>
            <a:r>
              <a:rPr lang="en-US" b="1" dirty="0"/>
              <a:t> </a:t>
            </a:r>
            <a:r>
              <a:rPr lang="en-US" b="1" dirty="0" smtClean="0"/>
              <a:t>	</a:t>
            </a:r>
          </a:p>
          <a:p>
            <a:pPr marL="0" indent="0">
              <a:buNone/>
            </a:pPr>
            <a:r>
              <a:rPr lang="en-US" b="1" dirty="0" smtClean="0"/>
              <a:t> </a:t>
            </a:r>
            <a:r>
              <a:rPr lang="en-US" dirty="0" smtClean="0"/>
              <a:t>if </a:t>
            </a:r>
            <a:r>
              <a:rPr lang="en-US" dirty="0"/>
              <a:t>(condition 1) </a:t>
            </a:r>
            <a:endParaRPr lang="en-US" dirty="0" smtClean="0"/>
          </a:p>
          <a:p>
            <a:pPr marL="0" indent="0">
              <a:buNone/>
            </a:pPr>
            <a:r>
              <a:rPr lang="en-US" dirty="0" smtClean="0"/>
              <a:t>{</a:t>
            </a:r>
            <a:endParaRPr lang="en-US" dirty="0"/>
          </a:p>
          <a:p>
            <a:pPr marL="0" indent="0">
              <a:buNone/>
            </a:pPr>
            <a:r>
              <a:rPr lang="en-US" dirty="0"/>
              <a:t>    statement 1; //executes when condition 1 is true   </a:t>
            </a:r>
          </a:p>
          <a:p>
            <a:pPr marL="0" indent="0">
              <a:buNone/>
            </a:pPr>
            <a:r>
              <a:rPr lang="en-US" dirty="0"/>
              <a:t>    if (condition 2</a:t>
            </a:r>
            <a:r>
              <a:rPr lang="en-US" dirty="0" smtClean="0"/>
              <a:t>)</a:t>
            </a:r>
          </a:p>
          <a:p>
            <a:pPr marL="0" indent="0">
              <a:buNone/>
            </a:pPr>
            <a:r>
              <a:rPr lang="en-US" dirty="0"/>
              <a:t> </a:t>
            </a:r>
            <a:r>
              <a:rPr lang="en-US" dirty="0" smtClean="0"/>
              <a:t>  </a:t>
            </a:r>
            <a:r>
              <a:rPr lang="en-US" dirty="0"/>
              <a:t>{</a:t>
            </a:r>
          </a:p>
          <a:p>
            <a:pPr marL="0" indent="0">
              <a:buNone/>
            </a:pPr>
            <a:r>
              <a:rPr lang="en-US" dirty="0"/>
              <a:t>        statement 2; //executes when condition 2 is true   </a:t>
            </a:r>
          </a:p>
          <a:p>
            <a:pPr marL="0" indent="0">
              <a:buNone/>
            </a:pPr>
            <a:r>
              <a:rPr lang="en-US" dirty="0"/>
              <a:t>    } </a:t>
            </a:r>
            <a:endParaRPr lang="en-US" dirty="0" smtClean="0"/>
          </a:p>
          <a:p>
            <a:pPr marL="0" indent="0">
              <a:buNone/>
            </a:pPr>
            <a:r>
              <a:rPr lang="en-US" dirty="0" smtClean="0"/>
              <a:t>   else</a:t>
            </a:r>
          </a:p>
          <a:p>
            <a:pPr marL="0" indent="0">
              <a:buNone/>
            </a:pPr>
            <a:r>
              <a:rPr lang="en-US" dirty="0"/>
              <a:t> </a:t>
            </a:r>
            <a:r>
              <a:rPr lang="en-US" dirty="0" smtClean="0"/>
              <a:t>  </a:t>
            </a:r>
            <a:r>
              <a:rPr lang="en-US" dirty="0"/>
              <a:t>{</a:t>
            </a:r>
          </a:p>
          <a:p>
            <a:pPr marL="0" indent="0">
              <a:buNone/>
            </a:pPr>
            <a:r>
              <a:rPr lang="en-US" dirty="0"/>
              <a:t>        statement 2; //executes when condition 2 is false   </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29520737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a:xfrm>
            <a:off x="914400" y="990600"/>
            <a:ext cx="7772400" cy="5715000"/>
          </a:xfrm>
        </p:spPr>
        <p:txBody>
          <a:bodyPr>
            <a:normAutofit fontScale="85000" lnSpcReduction="20000"/>
          </a:bodyPr>
          <a:lstStyle/>
          <a:p>
            <a:pPr marL="0" indent="0">
              <a:buNone/>
            </a:pPr>
            <a:r>
              <a:rPr lang="en-US" dirty="0"/>
              <a:t>public class Student {</a:t>
            </a:r>
          </a:p>
          <a:p>
            <a:pPr marL="0" indent="0">
              <a:buNone/>
            </a:pPr>
            <a:r>
              <a:rPr lang="en-US" dirty="0"/>
              <a:t>    public static void main(String[] </a:t>
            </a:r>
            <a:r>
              <a:rPr lang="en-US" dirty="0" err="1"/>
              <a:t>args</a:t>
            </a:r>
            <a:r>
              <a:rPr lang="en-US" dirty="0"/>
              <a:t>) {</a:t>
            </a:r>
          </a:p>
          <a:p>
            <a:pPr marL="0" indent="0">
              <a:buNone/>
            </a:pPr>
            <a:r>
              <a:rPr lang="en-US" dirty="0" smtClean="0"/>
              <a:t>        </a:t>
            </a:r>
            <a:r>
              <a:rPr lang="en-US" dirty="0"/>
              <a:t>String address = "Delhi, India</a:t>
            </a:r>
            <a:r>
              <a:rPr lang="en-US" dirty="0" smtClean="0"/>
              <a:t>";</a:t>
            </a:r>
            <a:endParaRPr lang="en-US" dirty="0"/>
          </a:p>
          <a:p>
            <a:pPr marL="0" indent="0">
              <a:buNone/>
            </a:pPr>
            <a:r>
              <a:rPr lang="en-US" dirty="0"/>
              <a:t>        if (</a:t>
            </a:r>
            <a:r>
              <a:rPr lang="en-US" dirty="0" err="1"/>
              <a:t>address.endsWith</a:t>
            </a:r>
            <a:r>
              <a:rPr lang="en-US" dirty="0"/>
              <a:t>("India")) </a:t>
            </a:r>
            <a:r>
              <a:rPr lang="en-US" dirty="0" smtClean="0"/>
              <a:t>{</a:t>
            </a:r>
          </a:p>
          <a:p>
            <a:pPr marL="0" indent="0">
              <a:buNone/>
            </a:pPr>
            <a:r>
              <a:rPr lang="en-US" dirty="0" smtClean="0"/>
              <a:t>            if (</a:t>
            </a:r>
            <a:r>
              <a:rPr lang="en-US" dirty="0" err="1" smtClean="0"/>
              <a:t>address.contains</a:t>
            </a:r>
            <a:r>
              <a:rPr lang="en-US" dirty="0" smtClean="0"/>
              <a:t>("Meerut")) {</a:t>
            </a:r>
          </a:p>
          <a:p>
            <a:pPr marL="0" indent="0">
              <a:buNone/>
            </a:pPr>
            <a:r>
              <a:rPr lang="en-US" dirty="0" smtClean="0"/>
              <a:t>                </a:t>
            </a:r>
            <a:r>
              <a:rPr lang="en-US" dirty="0" err="1"/>
              <a:t>System.out.println</a:t>
            </a:r>
            <a:r>
              <a:rPr lang="en-US" dirty="0"/>
              <a:t>("Your city is Meerut");</a:t>
            </a:r>
          </a:p>
          <a:p>
            <a:pPr marL="0" indent="0">
              <a:buNone/>
            </a:pPr>
            <a:r>
              <a:rPr lang="en-US" dirty="0"/>
              <a:t>            } else if (</a:t>
            </a:r>
            <a:r>
              <a:rPr lang="en-US" dirty="0" err="1"/>
              <a:t>address.contains</a:t>
            </a:r>
            <a:r>
              <a:rPr lang="en-US" dirty="0"/>
              <a:t>("Noida")) {</a:t>
            </a:r>
          </a:p>
          <a:p>
            <a:pPr marL="0" indent="0">
              <a:buNone/>
            </a:pPr>
            <a:r>
              <a:rPr lang="en-US" dirty="0"/>
              <a:t>                </a:t>
            </a:r>
            <a:r>
              <a:rPr lang="en-US" dirty="0" err="1"/>
              <a:t>System.out.println</a:t>
            </a:r>
            <a:r>
              <a:rPr lang="en-US" dirty="0"/>
              <a:t>("Your city is Noida");</a:t>
            </a:r>
          </a:p>
          <a:p>
            <a:pPr marL="0" indent="0">
              <a:buNone/>
            </a:pPr>
            <a:r>
              <a:rPr lang="en-US" dirty="0"/>
              <a:t>            } else {</a:t>
            </a:r>
          </a:p>
          <a:p>
            <a:pPr marL="0" indent="0">
              <a:buNone/>
            </a:pPr>
            <a:r>
              <a:rPr lang="en-US" dirty="0"/>
              <a:t>                </a:t>
            </a:r>
            <a:r>
              <a:rPr lang="en-US" dirty="0" err="1"/>
              <a:t>System.out.println</a:t>
            </a:r>
            <a:r>
              <a:rPr lang="en-US" dirty="0"/>
              <a:t>(</a:t>
            </a:r>
            <a:r>
              <a:rPr lang="en-US" dirty="0" err="1"/>
              <a:t>address.split</a:t>
            </a:r>
            <a:r>
              <a:rPr lang="en-US" dirty="0"/>
              <a:t>(",")[0]);</a:t>
            </a:r>
          </a:p>
          <a:p>
            <a:pPr marL="0" indent="0">
              <a:buNone/>
            </a:pPr>
            <a:r>
              <a:rPr lang="en-US" dirty="0"/>
              <a:t>            }</a:t>
            </a:r>
          </a:p>
          <a:p>
            <a:pPr marL="0" indent="0">
              <a:buNone/>
            </a:pPr>
            <a:r>
              <a:rPr lang="en-US" dirty="0"/>
              <a:t>        } else {</a:t>
            </a:r>
          </a:p>
          <a:p>
            <a:pPr marL="0" indent="0">
              <a:buNone/>
            </a:pPr>
            <a:r>
              <a:rPr lang="en-US" dirty="0" smtClean="0"/>
              <a:t>            </a:t>
            </a:r>
            <a:r>
              <a:rPr lang="en-US" dirty="0" err="1"/>
              <a:t>System.out.println</a:t>
            </a:r>
            <a:r>
              <a:rPr lang="en-US" dirty="0"/>
              <a:t>("You are not living in India");</a:t>
            </a:r>
          </a:p>
          <a:p>
            <a:pPr marL="0" indent="0">
              <a:buNone/>
            </a:pPr>
            <a:r>
              <a:rPr lang="en-US" dirty="0"/>
              <a:t>        }</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258089374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a:xfrm>
            <a:off x="914400" y="990600"/>
            <a:ext cx="7772400" cy="4572000"/>
          </a:xfrm>
        </p:spPr>
        <p:txBody>
          <a:bodyPr>
            <a:normAutofit lnSpcReduction="10000"/>
          </a:bodyPr>
          <a:lstStyle/>
          <a:p>
            <a:pPr>
              <a:lnSpc>
                <a:spcPct val="150000"/>
              </a:lnSpc>
            </a:pPr>
            <a:r>
              <a:rPr lang="en-US" b="1" dirty="0"/>
              <a:t>Switch Statement</a:t>
            </a:r>
            <a:r>
              <a:rPr lang="en-US" dirty="0" smtClean="0"/>
              <a:t>: </a:t>
            </a:r>
            <a:r>
              <a:rPr lang="en-US" dirty="0"/>
              <a:t>In Java, </a:t>
            </a:r>
            <a:r>
              <a:rPr lang="en-US" dirty="0">
                <a:hlinkClick r:id="rId2"/>
              </a:rPr>
              <a:t>Switch statements</a:t>
            </a:r>
            <a:r>
              <a:rPr lang="en-US" dirty="0"/>
              <a:t> are similar to if-else-if statements. The switch statement contains multiple blocks of code called cases and a single case is executed based on the variable which is being switched. The switch statement is easier to use instead of if-else-if statements. It also enhances the readability of the program.</a:t>
            </a:r>
          </a:p>
          <a:p>
            <a:pPr lvl="1"/>
            <a:endParaRPr lang="en-US" dirty="0"/>
          </a:p>
        </p:txBody>
      </p:sp>
    </p:spTree>
    <p:extLst>
      <p:ext uri="{BB962C8B-B14F-4D97-AF65-F5344CB8AC3E}">
        <p14:creationId xmlns:p14="http://schemas.microsoft.com/office/powerpoint/2010/main" val="375830877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a:xfrm>
            <a:off x="914400" y="1447800"/>
            <a:ext cx="7772400" cy="4800600"/>
          </a:xfrm>
        </p:spPr>
        <p:txBody>
          <a:bodyPr/>
          <a:lstStyle/>
          <a:p>
            <a:pPr marL="274320" lvl="1" indent="-274320">
              <a:spcBef>
                <a:spcPts val="580"/>
              </a:spcBef>
              <a:buClr>
                <a:schemeClr val="accent1"/>
              </a:buClr>
            </a:pPr>
            <a:r>
              <a:rPr lang="en-US" dirty="0"/>
              <a:t>The case variables can be </a:t>
            </a:r>
            <a:r>
              <a:rPr lang="en-US" dirty="0" err="1"/>
              <a:t>int</a:t>
            </a:r>
            <a:r>
              <a:rPr lang="en-US" dirty="0"/>
              <a:t>, short, byte, char, or enumeration. String type is also supported since version 7 of Java</a:t>
            </a:r>
          </a:p>
          <a:p>
            <a:r>
              <a:rPr lang="en-US" dirty="0"/>
              <a:t>Cases cannot be duplicate</a:t>
            </a:r>
          </a:p>
          <a:p>
            <a:r>
              <a:rPr lang="en-US" dirty="0"/>
              <a:t>Default statement is executed when any of the case doesn't match the value of expression. It is optional.</a:t>
            </a:r>
          </a:p>
          <a:p>
            <a:r>
              <a:rPr lang="en-US" dirty="0"/>
              <a:t>Break statement terminates the switch block when the condition is satisfied.</a:t>
            </a:r>
            <a:br>
              <a:rPr lang="en-US" dirty="0"/>
            </a:br>
            <a:r>
              <a:rPr lang="en-US" dirty="0"/>
              <a:t>It is optional, if not used, next case is executed.</a:t>
            </a:r>
          </a:p>
          <a:p>
            <a:endParaRPr lang="en-US" dirty="0"/>
          </a:p>
        </p:txBody>
      </p:sp>
    </p:spTree>
    <p:extLst>
      <p:ext uri="{BB962C8B-B14F-4D97-AF65-F5344CB8AC3E}">
        <p14:creationId xmlns:p14="http://schemas.microsoft.com/office/powerpoint/2010/main" val="31615292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a:xfrm>
            <a:off x="914400" y="990600"/>
            <a:ext cx="7772400" cy="5486400"/>
          </a:xfrm>
        </p:spPr>
        <p:txBody>
          <a:bodyPr>
            <a:normAutofit fontScale="92500" lnSpcReduction="10000"/>
          </a:bodyPr>
          <a:lstStyle/>
          <a:p>
            <a:pPr marL="0" indent="0">
              <a:buNone/>
            </a:pPr>
            <a:r>
              <a:rPr lang="en-US" dirty="0"/>
              <a:t>switch (expression) {</a:t>
            </a:r>
          </a:p>
          <a:p>
            <a:pPr marL="0" indent="0">
              <a:buNone/>
            </a:pPr>
            <a:r>
              <a:rPr lang="en-US" dirty="0"/>
              <a:t>    case value1:</a:t>
            </a:r>
          </a:p>
          <a:p>
            <a:pPr marL="0" indent="0">
              <a:buNone/>
            </a:pPr>
            <a:r>
              <a:rPr lang="en-US" dirty="0"/>
              <a:t>        statement1;</a:t>
            </a:r>
          </a:p>
          <a:p>
            <a:pPr marL="0" indent="0">
              <a:buNone/>
            </a:pPr>
            <a:r>
              <a:rPr lang="en-US" dirty="0"/>
              <a:t>        break;</a:t>
            </a:r>
          </a:p>
          <a:p>
            <a:pPr marL="0" indent="0">
              <a:buNone/>
            </a:pPr>
            <a:r>
              <a:rPr lang="en-US" dirty="0"/>
              <a:t>        .</a:t>
            </a:r>
          </a:p>
          <a:p>
            <a:pPr marL="0" indent="0">
              <a:buNone/>
            </a:pPr>
            <a:r>
              <a:rPr lang="en-US" dirty="0"/>
              <a:t>        .</a:t>
            </a:r>
          </a:p>
          <a:p>
            <a:pPr marL="0" indent="0">
              <a:buNone/>
            </a:pPr>
            <a:r>
              <a:rPr lang="en-US" dirty="0"/>
              <a:t>        .</a:t>
            </a:r>
          </a:p>
          <a:p>
            <a:pPr marL="0" indent="0">
              <a:buNone/>
            </a:pPr>
            <a:r>
              <a:rPr lang="en-US" dirty="0"/>
              <a:t>    </a:t>
            </a:r>
            <a:r>
              <a:rPr lang="en-US" dirty="0" smtClean="0"/>
              <a:t>case </a:t>
            </a:r>
            <a:r>
              <a:rPr lang="en-US" dirty="0" err="1"/>
              <a:t>valueN</a:t>
            </a:r>
            <a:r>
              <a:rPr lang="en-US" dirty="0"/>
              <a:t>:</a:t>
            </a:r>
          </a:p>
          <a:p>
            <a:pPr marL="0" indent="0">
              <a:buNone/>
            </a:pPr>
            <a:r>
              <a:rPr lang="en-US" dirty="0"/>
              <a:t>        </a:t>
            </a:r>
            <a:r>
              <a:rPr lang="en-US" dirty="0" err="1" smtClean="0"/>
              <a:t>statementN</a:t>
            </a:r>
            <a:r>
              <a:rPr lang="en-US" dirty="0"/>
              <a:t>;</a:t>
            </a:r>
          </a:p>
          <a:p>
            <a:pPr marL="0" indent="0">
              <a:buNone/>
            </a:pPr>
            <a:r>
              <a:rPr lang="en-US" dirty="0"/>
              <a:t>        break;</a:t>
            </a:r>
          </a:p>
          <a:p>
            <a:pPr marL="0" indent="0">
              <a:buNone/>
            </a:pPr>
            <a:r>
              <a:rPr lang="en-US" dirty="0"/>
              <a:t>    default:</a:t>
            </a:r>
          </a:p>
          <a:p>
            <a:pPr marL="0" indent="0">
              <a:buNone/>
            </a:pPr>
            <a:r>
              <a:rPr lang="en-US" dirty="0"/>
              <a:t>    default statement;</a:t>
            </a:r>
          </a:p>
          <a:p>
            <a:pPr marL="0" indent="0">
              <a:buNone/>
            </a:pPr>
            <a:r>
              <a:rPr lang="en-US" dirty="0"/>
              <a:t>}</a:t>
            </a:r>
          </a:p>
        </p:txBody>
      </p:sp>
    </p:spTree>
    <p:extLst>
      <p:ext uri="{BB962C8B-B14F-4D97-AF65-F5344CB8AC3E}">
        <p14:creationId xmlns:p14="http://schemas.microsoft.com/office/powerpoint/2010/main" val="19204307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a:xfrm>
            <a:off x="914400" y="1066800"/>
            <a:ext cx="7772400" cy="5486400"/>
          </a:xfrm>
        </p:spPr>
        <p:txBody>
          <a:bodyPr>
            <a:normAutofit fontScale="85000" lnSpcReduction="20000"/>
          </a:bodyPr>
          <a:lstStyle/>
          <a:p>
            <a:pPr marL="0" indent="0">
              <a:buNone/>
            </a:pPr>
            <a:r>
              <a:rPr lang="en-US" dirty="0"/>
              <a:t>public class Student </a:t>
            </a:r>
            <a:r>
              <a:rPr lang="en-US" dirty="0" smtClean="0"/>
              <a:t>{</a:t>
            </a:r>
            <a:endParaRPr lang="en-US" dirty="0"/>
          </a:p>
          <a:p>
            <a:pPr marL="0" indent="0">
              <a:buNone/>
            </a:pPr>
            <a:r>
              <a:rPr lang="en-US" dirty="0"/>
              <a:t>    public static void main(String[] </a:t>
            </a:r>
            <a:r>
              <a:rPr lang="en-US" dirty="0" err="1"/>
              <a:t>args</a:t>
            </a:r>
            <a:r>
              <a:rPr lang="en-US" dirty="0"/>
              <a:t>) {</a:t>
            </a:r>
          </a:p>
          <a:p>
            <a:pPr marL="0" indent="0">
              <a:buNone/>
            </a:pPr>
            <a:r>
              <a:rPr lang="en-US" dirty="0"/>
              <a:t>        </a:t>
            </a:r>
            <a:r>
              <a:rPr lang="en-US" dirty="0" err="1"/>
              <a:t>int</a:t>
            </a:r>
            <a:r>
              <a:rPr lang="en-US" dirty="0"/>
              <a:t> </a:t>
            </a:r>
            <a:r>
              <a:rPr lang="en-US" dirty="0" err="1"/>
              <a:t>num</a:t>
            </a:r>
            <a:r>
              <a:rPr lang="en-US" dirty="0"/>
              <a:t> = 2;</a:t>
            </a:r>
          </a:p>
          <a:p>
            <a:pPr marL="0" indent="0">
              <a:buNone/>
            </a:pPr>
            <a:r>
              <a:rPr lang="en-US" dirty="0"/>
              <a:t>        switch (</a:t>
            </a:r>
            <a:r>
              <a:rPr lang="en-US" dirty="0" err="1"/>
              <a:t>num</a:t>
            </a:r>
            <a:r>
              <a:rPr lang="en-US" dirty="0"/>
              <a:t>) {</a:t>
            </a:r>
          </a:p>
          <a:p>
            <a:pPr marL="0" indent="0">
              <a:buNone/>
            </a:pPr>
            <a:r>
              <a:rPr lang="en-US" dirty="0"/>
              <a:t>            case 0:</a:t>
            </a:r>
          </a:p>
          <a:p>
            <a:pPr marL="0" indent="0">
              <a:buNone/>
            </a:pPr>
            <a:r>
              <a:rPr lang="en-US" dirty="0"/>
              <a:t>                </a:t>
            </a:r>
            <a:r>
              <a:rPr lang="en-US" dirty="0" err="1"/>
              <a:t>System.out.println</a:t>
            </a:r>
            <a:r>
              <a:rPr lang="en-US" dirty="0"/>
              <a:t>("number is 0");</a:t>
            </a:r>
          </a:p>
          <a:p>
            <a:pPr marL="0" indent="0">
              <a:buNone/>
            </a:pPr>
            <a:r>
              <a:rPr lang="en-US" dirty="0"/>
              <a:t>                break;</a:t>
            </a:r>
          </a:p>
          <a:p>
            <a:pPr marL="0" indent="0">
              <a:buNone/>
            </a:pPr>
            <a:r>
              <a:rPr lang="en-US" dirty="0"/>
              <a:t>            case 1:</a:t>
            </a:r>
          </a:p>
          <a:p>
            <a:pPr marL="0" indent="0">
              <a:buNone/>
            </a:pPr>
            <a:r>
              <a:rPr lang="en-US" dirty="0"/>
              <a:t>                </a:t>
            </a:r>
            <a:r>
              <a:rPr lang="en-US" dirty="0" err="1"/>
              <a:t>System.out.println</a:t>
            </a:r>
            <a:r>
              <a:rPr lang="en-US" dirty="0"/>
              <a:t>("number is 1");</a:t>
            </a:r>
          </a:p>
          <a:p>
            <a:pPr marL="0" indent="0">
              <a:buNone/>
            </a:pPr>
            <a:r>
              <a:rPr lang="en-US" dirty="0"/>
              <a:t>                break;</a:t>
            </a:r>
          </a:p>
          <a:p>
            <a:pPr marL="0" indent="0">
              <a:buNone/>
            </a:pPr>
            <a:r>
              <a:rPr lang="en-US" dirty="0"/>
              <a:t>            default:</a:t>
            </a:r>
          </a:p>
          <a:p>
            <a:pPr marL="0" indent="0">
              <a:buNone/>
            </a:pPr>
            <a:r>
              <a:rPr lang="en-US" dirty="0"/>
              <a:t>                </a:t>
            </a:r>
            <a:r>
              <a:rPr lang="en-US" dirty="0" err="1"/>
              <a:t>System.out.println</a:t>
            </a:r>
            <a:r>
              <a:rPr lang="en-US" dirty="0"/>
              <a:t>(</a:t>
            </a:r>
            <a:r>
              <a:rPr lang="en-US" dirty="0" err="1"/>
              <a:t>num</a:t>
            </a:r>
            <a:r>
              <a:rPr lang="en-US" dirty="0"/>
              <a:t>);</a:t>
            </a:r>
          </a:p>
          <a:p>
            <a:pPr marL="0" indent="0">
              <a:buNone/>
            </a:pPr>
            <a:r>
              <a:rPr lang="en-US" dirty="0"/>
              <a:t>        }</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35674447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p:txBody>
          <a:bodyPr/>
          <a:lstStyle/>
          <a:p>
            <a:pPr>
              <a:lnSpc>
                <a:spcPct val="150000"/>
              </a:lnSpc>
            </a:pPr>
            <a:r>
              <a:rPr lang="en-US" b="1" dirty="0"/>
              <a:t>Loop </a:t>
            </a:r>
            <a:r>
              <a:rPr lang="en-US" b="1" dirty="0" smtClean="0"/>
              <a:t>Statements : </a:t>
            </a:r>
            <a:r>
              <a:rPr lang="en-US" dirty="0"/>
              <a:t>In programming, sometimes we need to execute the block of code repeatedly while some condition evaluates to true. However, loop statements are used to execute the set of instructions in a repeated order. The execution of the set of instructions depends upon a particular condition.</a:t>
            </a:r>
            <a:endParaRPr lang="en-US" b="1" dirty="0" smtClean="0"/>
          </a:p>
          <a:p>
            <a:endParaRPr lang="en-US" b="1" dirty="0"/>
          </a:p>
          <a:p>
            <a:endParaRPr lang="en-US" dirty="0"/>
          </a:p>
        </p:txBody>
      </p:sp>
    </p:spTree>
    <p:extLst>
      <p:ext uri="{BB962C8B-B14F-4D97-AF65-F5344CB8AC3E}">
        <p14:creationId xmlns:p14="http://schemas.microsoft.com/office/powerpoint/2010/main" val="283884290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p:txBody>
          <a:bodyPr/>
          <a:lstStyle/>
          <a:p>
            <a:pPr>
              <a:lnSpc>
                <a:spcPct val="150000"/>
              </a:lnSpc>
            </a:pPr>
            <a:r>
              <a:rPr lang="en-US" dirty="0"/>
              <a:t>In Java, we have three types of loops that execute similarly. However, there are differences in their syntax and condition checking time</a:t>
            </a:r>
            <a:r>
              <a:rPr lang="en-US" dirty="0" smtClean="0"/>
              <a:t>.</a:t>
            </a:r>
          </a:p>
          <a:p>
            <a:pPr marL="0" indent="0">
              <a:lnSpc>
                <a:spcPct val="150000"/>
              </a:lnSpc>
              <a:buNone/>
            </a:pPr>
            <a:endParaRPr lang="en-US" dirty="0" smtClean="0"/>
          </a:p>
          <a:p>
            <a:pPr lvl="1">
              <a:lnSpc>
                <a:spcPct val="150000"/>
              </a:lnSpc>
            </a:pPr>
            <a:r>
              <a:rPr lang="en-US" dirty="0"/>
              <a:t>for loop</a:t>
            </a:r>
          </a:p>
          <a:p>
            <a:pPr lvl="1">
              <a:lnSpc>
                <a:spcPct val="150000"/>
              </a:lnSpc>
            </a:pPr>
            <a:r>
              <a:rPr lang="en-US" dirty="0"/>
              <a:t>while loop</a:t>
            </a:r>
          </a:p>
          <a:p>
            <a:pPr lvl="1">
              <a:lnSpc>
                <a:spcPct val="150000"/>
              </a:lnSpc>
            </a:pPr>
            <a:r>
              <a:rPr lang="en-US" dirty="0"/>
              <a:t>do-while loop</a:t>
            </a:r>
          </a:p>
          <a:p>
            <a:pPr lvl="1">
              <a:lnSpc>
                <a:spcPct val="150000"/>
              </a:lnSpc>
            </a:pPr>
            <a:endParaRPr lang="en-US" dirty="0"/>
          </a:p>
        </p:txBody>
      </p:sp>
    </p:spTree>
    <p:extLst>
      <p:ext uri="{BB962C8B-B14F-4D97-AF65-F5344CB8AC3E}">
        <p14:creationId xmlns:p14="http://schemas.microsoft.com/office/powerpoint/2010/main" val="35181847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a:xfrm>
            <a:off x="914400" y="990600"/>
            <a:ext cx="7772400" cy="5486400"/>
          </a:xfrm>
        </p:spPr>
        <p:txBody>
          <a:bodyPr>
            <a:normAutofit lnSpcReduction="10000"/>
          </a:bodyPr>
          <a:lstStyle/>
          <a:p>
            <a:r>
              <a:rPr lang="en-US" b="1" dirty="0"/>
              <a:t>while </a:t>
            </a:r>
            <a:r>
              <a:rPr lang="en-US" b="1" dirty="0" smtClean="0"/>
              <a:t>loop :</a:t>
            </a:r>
          </a:p>
          <a:p>
            <a:pPr lvl="1">
              <a:lnSpc>
                <a:spcPct val="150000"/>
              </a:lnSpc>
            </a:pPr>
            <a:r>
              <a:rPr lang="en-US" dirty="0"/>
              <a:t>The </a:t>
            </a:r>
            <a:r>
              <a:rPr lang="en-US" dirty="0">
                <a:hlinkClick r:id="rId2"/>
              </a:rPr>
              <a:t>while loop</a:t>
            </a:r>
            <a:r>
              <a:rPr lang="en-US" dirty="0"/>
              <a:t> is </a:t>
            </a:r>
            <a:r>
              <a:rPr lang="en-US" dirty="0" smtClean="0"/>
              <a:t>used </a:t>
            </a:r>
            <a:r>
              <a:rPr lang="en-US" dirty="0"/>
              <a:t>to iterate over the number of statements multiple times. However, if we don't know the number of iterations in advance, it is recommended to use a while loop</a:t>
            </a:r>
            <a:r>
              <a:rPr lang="en-US" dirty="0" smtClean="0"/>
              <a:t>.</a:t>
            </a:r>
          </a:p>
          <a:p>
            <a:pPr lvl="1">
              <a:lnSpc>
                <a:spcPct val="150000"/>
              </a:lnSpc>
            </a:pPr>
            <a:r>
              <a:rPr lang="en-US" dirty="0"/>
              <a:t>It is also known as the entry-controlled loop since the condition is checked at the start of the loop. If the condition is true, then the loop body will be executed; otherwise, the statements after the loop will be executed.</a:t>
            </a:r>
            <a:endParaRPr lang="en-US" b="1" dirty="0"/>
          </a:p>
          <a:p>
            <a:endParaRPr lang="en-US" dirty="0"/>
          </a:p>
        </p:txBody>
      </p:sp>
    </p:spTree>
    <p:extLst>
      <p:ext uri="{BB962C8B-B14F-4D97-AF65-F5344CB8AC3E}">
        <p14:creationId xmlns:p14="http://schemas.microsoft.com/office/powerpoint/2010/main" val="46995463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a:xfrm>
            <a:off x="914400" y="1066800"/>
            <a:ext cx="7772400" cy="5562600"/>
          </a:xfrm>
        </p:spPr>
        <p:txBody>
          <a:bodyPr>
            <a:normAutofit fontScale="92500" lnSpcReduction="20000"/>
          </a:bodyPr>
          <a:lstStyle/>
          <a:p>
            <a:r>
              <a:rPr lang="en-US" b="1" dirty="0"/>
              <a:t>syntax </a:t>
            </a:r>
            <a:r>
              <a:rPr lang="en-US" b="1" dirty="0" smtClean="0"/>
              <a:t>:</a:t>
            </a:r>
          </a:p>
          <a:p>
            <a:pPr marL="320040" lvl="1" indent="0">
              <a:buNone/>
            </a:pPr>
            <a:r>
              <a:rPr lang="en-US" dirty="0"/>
              <a:t>while (condition) {</a:t>
            </a:r>
          </a:p>
          <a:p>
            <a:pPr marL="320040" lvl="1" indent="0">
              <a:buNone/>
            </a:pPr>
            <a:r>
              <a:rPr lang="en-US" dirty="0"/>
              <a:t>    //looping statements    </a:t>
            </a:r>
          </a:p>
          <a:p>
            <a:pPr marL="320040" lvl="1" indent="0">
              <a:buNone/>
            </a:pPr>
            <a:r>
              <a:rPr lang="en-US" dirty="0" smtClean="0"/>
              <a:t>}</a:t>
            </a:r>
          </a:p>
          <a:p>
            <a:pPr marL="320040" lvl="1" indent="0">
              <a:buNone/>
            </a:pPr>
            <a:endParaRPr lang="en-US" dirty="0" smtClean="0"/>
          </a:p>
          <a:p>
            <a:pPr marL="320040" lvl="1" indent="0">
              <a:buNone/>
            </a:pPr>
            <a:r>
              <a:rPr lang="en-US" b="1" dirty="0" smtClean="0"/>
              <a:t>Example</a:t>
            </a:r>
            <a:r>
              <a:rPr lang="en-US" dirty="0" smtClean="0"/>
              <a:t> :</a:t>
            </a:r>
          </a:p>
          <a:p>
            <a:pPr marL="320040" lvl="1" indent="0">
              <a:buNone/>
            </a:pPr>
            <a:r>
              <a:rPr lang="en-US" dirty="0"/>
              <a:t>public class Calculation {</a:t>
            </a:r>
          </a:p>
          <a:p>
            <a:pPr marL="320040" lvl="1" indent="0">
              <a:buNone/>
            </a:pPr>
            <a:r>
              <a:rPr lang="en-US" dirty="0"/>
              <a:t>    public static void main(String[] </a:t>
            </a:r>
            <a:r>
              <a:rPr lang="en-US" dirty="0" err="1"/>
              <a:t>args</a:t>
            </a:r>
            <a:r>
              <a:rPr lang="en-US" dirty="0"/>
              <a:t>) {</a:t>
            </a:r>
          </a:p>
          <a:p>
            <a:pPr marL="320040" lvl="1" indent="0">
              <a:buNone/>
            </a:pPr>
            <a:r>
              <a:rPr lang="en-US" dirty="0" smtClean="0"/>
              <a:t>	</a:t>
            </a:r>
            <a:r>
              <a:rPr lang="en-US" dirty="0" err="1" smtClean="0"/>
              <a:t>int</a:t>
            </a:r>
            <a:r>
              <a:rPr lang="en-US" dirty="0" smtClean="0"/>
              <a:t> </a:t>
            </a:r>
            <a:r>
              <a:rPr lang="en-US" dirty="0" err="1"/>
              <a:t>i</a:t>
            </a:r>
            <a:r>
              <a:rPr lang="en-US" dirty="0"/>
              <a:t> = 0;</a:t>
            </a:r>
          </a:p>
          <a:p>
            <a:pPr marL="320040" lvl="1" indent="0">
              <a:buNone/>
            </a:pPr>
            <a:r>
              <a:rPr lang="en-US" dirty="0"/>
              <a:t>        </a:t>
            </a:r>
            <a:r>
              <a:rPr lang="en-US" dirty="0" err="1"/>
              <a:t>System.out.println</a:t>
            </a:r>
            <a:r>
              <a:rPr lang="en-US" dirty="0"/>
              <a:t>("Printing the list of first 10 even numbers \n");</a:t>
            </a:r>
          </a:p>
          <a:p>
            <a:pPr marL="320040" lvl="1" indent="0">
              <a:buNone/>
            </a:pPr>
            <a:r>
              <a:rPr lang="en-US" dirty="0"/>
              <a:t>        while (</a:t>
            </a:r>
            <a:r>
              <a:rPr lang="en-US" dirty="0" err="1"/>
              <a:t>i</a:t>
            </a:r>
            <a:r>
              <a:rPr lang="en-US" dirty="0"/>
              <a:t> &lt;= 10) {</a:t>
            </a:r>
          </a:p>
          <a:p>
            <a:pPr marL="320040" lvl="1" indent="0">
              <a:buNone/>
            </a:pPr>
            <a:r>
              <a:rPr lang="en-US" dirty="0"/>
              <a:t>            </a:t>
            </a:r>
            <a:r>
              <a:rPr lang="en-US" dirty="0" err="1"/>
              <a:t>System.out.println</a:t>
            </a:r>
            <a:r>
              <a:rPr lang="en-US" dirty="0"/>
              <a:t>(</a:t>
            </a:r>
            <a:r>
              <a:rPr lang="en-US" dirty="0" err="1"/>
              <a:t>i</a:t>
            </a:r>
            <a:r>
              <a:rPr lang="en-US" dirty="0"/>
              <a:t>);</a:t>
            </a:r>
          </a:p>
          <a:p>
            <a:pPr marL="320040" lvl="1" indent="0">
              <a:buNone/>
            </a:pPr>
            <a:r>
              <a:rPr lang="en-US" dirty="0"/>
              <a:t>            </a:t>
            </a:r>
            <a:r>
              <a:rPr lang="en-US" dirty="0" err="1"/>
              <a:t>i</a:t>
            </a:r>
            <a:r>
              <a:rPr lang="en-US" dirty="0"/>
              <a:t> = </a:t>
            </a:r>
            <a:r>
              <a:rPr lang="en-US" dirty="0" err="1"/>
              <a:t>i</a:t>
            </a:r>
            <a:r>
              <a:rPr lang="en-US" dirty="0"/>
              <a:t> + 2;</a:t>
            </a:r>
          </a:p>
          <a:p>
            <a:pPr marL="320040" lvl="1" indent="0">
              <a:buNone/>
            </a:pPr>
            <a:r>
              <a:rPr lang="en-US" dirty="0"/>
              <a:t>        }</a:t>
            </a:r>
          </a:p>
          <a:p>
            <a:pPr marL="320040" lvl="1" indent="0">
              <a:buNone/>
            </a:pPr>
            <a:r>
              <a:rPr lang="en-US" dirty="0"/>
              <a:t>    }</a:t>
            </a:r>
          </a:p>
          <a:p>
            <a:pPr marL="320040" lvl="1" indent="0">
              <a:buNone/>
            </a:pPr>
            <a:r>
              <a:rPr lang="en-US" dirty="0"/>
              <a:t>}</a:t>
            </a:r>
          </a:p>
        </p:txBody>
      </p:sp>
    </p:spTree>
    <p:extLst>
      <p:ext uri="{BB962C8B-B14F-4D97-AF65-F5344CB8AC3E}">
        <p14:creationId xmlns:p14="http://schemas.microsoft.com/office/powerpoint/2010/main" val="37839713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p:txBody>
          <a:bodyPr/>
          <a:lstStyle/>
          <a:p>
            <a:r>
              <a:rPr lang="en-US" b="1" dirty="0"/>
              <a:t>do-while </a:t>
            </a:r>
            <a:r>
              <a:rPr lang="en-US" b="1" dirty="0" smtClean="0"/>
              <a:t>loop :</a:t>
            </a:r>
          </a:p>
          <a:p>
            <a:pPr lvl="1">
              <a:lnSpc>
                <a:spcPct val="150000"/>
              </a:lnSpc>
            </a:pPr>
            <a:r>
              <a:rPr lang="en-US" dirty="0"/>
              <a:t>The </a:t>
            </a:r>
            <a:r>
              <a:rPr lang="en-US" dirty="0">
                <a:hlinkClick r:id="rId2"/>
              </a:rPr>
              <a:t>do-while loop</a:t>
            </a:r>
            <a:r>
              <a:rPr lang="en-US" dirty="0"/>
              <a:t> checks the condition at the end of the loop after executing the loop statements. When the number of iteration is not known and we have to execute the loop at least once, we can use do-while loop</a:t>
            </a:r>
            <a:r>
              <a:rPr lang="en-US" dirty="0" smtClean="0"/>
              <a:t>.</a:t>
            </a:r>
          </a:p>
          <a:p>
            <a:pPr lvl="1">
              <a:lnSpc>
                <a:spcPct val="150000"/>
              </a:lnSpc>
            </a:pPr>
            <a:r>
              <a:rPr lang="en-US" dirty="0"/>
              <a:t>It is also known as the exit-controlled loop since the condition is not checked in advance.</a:t>
            </a:r>
            <a:endParaRPr lang="en-US" b="1" dirty="0"/>
          </a:p>
          <a:p>
            <a:endParaRPr lang="en-US" dirty="0"/>
          </a:p>
        </p:txBody>
      </p:sp>
    </p:spTree>
    <p:extLst>
      <p:ext uri="{BB962C8B-B14F-4D97-AF65-F5344CB8AC3E}">
        <p14:creationId xmlns:p14="http://schemas.microsoft.com/office/powerpoint/2010/main" val="390182979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a:xfrm>
            <a:off x="914400" y="1066800"/>
            <a:ext cx="7772400" cy="5562600"/>
          </a:xfrm>
        </p:spPr>
        <p:txBody>
          <a:bodyPr>
            <a:normAutofit fontScale="92500" lnSpcReduction="20000"/>
          </a:bodyPr>
          <a:lstStyle/>
          <a:p>
            <a:r>
              <a:rPr lang="en-US" b="1" dirty="0" smtClean="0"/>
              <a:t>Syntax:</a:t>
            </a:r>
          </a:p>
          <a:p>
            <a:pPr marL="320040" lvl="1" indent="0">
              <a:buNone/>
            </a:pPr>
            <a:r>
              <a:rPr lang="en-US" dirty="0"/>
              <a:t>do {</a:t>
            </a:r>
          </a:p>
          <a:p>
            <a:pPr marL="320040" lvl="1" indent="0">
              <a:buNone/>
            </a:pPr>
            <a:r>
              <a:rPr lang="en-US" dirty="0"/>
              <a:t>    //statements    </a:t>
            </a:r>
          </a:p>
          <a:p>
            <a:pPr marL="320040" lvl="1" indent="0">
              <a:buNone/>
            </a:pPr>
            <a:r>
              <a:rPr lang="en-US" dirty="0"/>
              <a:t>} </a:t>
            </a:r>
            <a:endParaRPr lang="en-US" dirty="0" smtClean="0"/>
          </a:p>
          <a:p>
            <a:pPr marL="320040" lvl="1" indent="0">
              <a:buNone/>
            </a:pPr>
            <a:endParaRPr lang="en-US" dirty="0" smtClean="0"/>
          </a:p>
          <a:p>
            <a:pPr marL="320040" lvl="1" indent="0">
              <a:buNone/>
            </a:pPr>
            <a:r>
              <a:rPr lang="en-US" b="1" dirty="0" smtClean="0"/>
              <a:t>Example:</a:t>
            </a:r>
          </a:p>
          <a:p>
            <a:pPr marL="320040" lvl="1" indent="0">
              <a:buNone/>
            </a:pPr>
            <a:r>
              <a:rPr lang="en-US" dirty="0"/>
              <a:t>public class Calculation {</a:t>
            </a:r>
          </a:p>
          <a:p>
            <a:pPr marL="320040" lvl="1" indent="0">
              <a:buNone/>
            </a:pPr>
            <a:r>
              <a:rPr lang="en-US" dirty="0"/>
              <a:t>    public static void main(String[] </a:t>
            </a:r>
            <a:r>
              <a:rPr lang="en-US" dirty="0" err="1"/>
              <a:t>args</a:t>
            </a:r>
            <a:r>
              <a:rPr lang="en-US" dirty="0"/>
              <a:t>) {</a:t>
            </a:r>
          </a:p>
          <a:p>
            <a:pPr marL="320040" lvl="1" indent="0">
              <a:buNone/>
            </a:pPr>
            <a:r>
              <a:rPr lang="en-US" dirty="0" smtClean="0"/>
              <a:t>	</a:t>
            </a:r>
            <a:r>
              <a:rPr lang="en-US" dirty="0" err="1" smtClean="0"/>
              <a:t>int</a:t>
            </a:r>
            <a:r>
              <a:rPr lang="en-US" dirty="0" smtClean="0"/>
              <a:t> </a:t>
            </a:r>
            <a:r>
              <a:rPr lang="en-US" dirty="0" err="1"/>
              <a:t>i</a:t>
            </a:r>
            <a:r>
              <a:rPr lang="en-US" dirty="0"/>
              <a:t> = 0;</a:t>
            </a:r>
          </a:p>
          <a:p>
            <a:pPr marL="320040" lvl="1" indent="0">
              <a:buNone/>
            </a:pPr>
            <a:r>
              <a:rPr lang="en-US" dirty="0"/>
              <a:t>        </a:t>
            </a:r>
            <a:r>
              <a:rPr lang="en-US" dirty="0" err="1"/>
              <a:t>System.out.println</a:t>
            </a:r>
            <a:r>
              <a:rPr lang="en-US" dirty="0"/>
              <a:t>("Printing the list of first 10 even numbers \n");</a:t>
            </a:r>
          </a:p>
          <a:p>
            <a:pPr marL="320040" lvl="1" indent="0">
              <a:buNone/>
            </a:pPr>
            <a:r>
              <a:rPr lang="en-US" dirty="0"/>
              <a:t>        do {</a:t>
            </a:r>
          </a:p>
          <a:p>
            <a:pPr marL="320040" lvl="1" indent="0">
              <a:buNone/>
            </a:pPr>
            <a:r>
              <a:rPr lang="en-US" dirty="0"/>
              <a:t>            </a:t>
            </a:r>
            <a:r>
              <a:rPr lang="en-US" dirty="0" err="1"/>
              <a:t>System.out.println</a:t>
            </a:r>
            <a:r>
              <a:rPr lang="en-US" dirty="0"/>
              <a:t>(</a:t>
            </a:r>
            <a:r>
              <a:rPr lang="en-US" dirty="0" err="1"/>
              <a:t>i</a:t>
            </a:r>
            <a:r>
              <a:rPr lang="en-US" dirty="0"/>
              <a:t>);</a:t>
            </a:r>
          </a:p>
          <a:p>
            <a:pPr marL="320040" lvl="1" indent="0">
              <a:buNone/>
            </a:pPr>
            <a:r>
              <a:rPr lang="en-US" dirty="0"/>
              <a:t>            </a:t>
            </a:r>
            <a:r>
              <a:rPr lang="en-US" dirty="0" err="1"/>
              <a:t>i</a:t>
            </a:r>
            <a:r>
              <a:rPr lang="en-US" dirty="0"/>
              <a:t> = </a:t>
            </a:r>
            <a:r>
              <a:rPr lang="en-US" dirty="0" err="1"/>
              <a:t>i</a:t>
            </a:r>
            <a:r>
              <a:rPr lang="en-US" dirty="0"/>
              <a:t> + 2;</a:t>
            </a:r>
          </a:p>
          <a:p>
            <a:pPr marL="320040" lvl="1" indent="0">
              <a:buNone/>
            </a:pPr>
            <a:r>
              <a:rPr lang="en-US" dirty="0"/>
              <a:t>        } while (</a:t>
            </a:r>
            <a:r>
              <a:rPr lang="en-US" dirty="0" err="1"/>
              <a:t>i</a:t>
            </a:r>
            <a:r>
              <a:rPr lang="en-US" dirty="0"/>
              <a:t> &lt;= 10);</a:t>
            </a:r>
          </a:p>
          <a:p>
            <a:pPr marL="320040" lvl="1" indent="0">
              <a:buNone/>
            </a:pPr>
            <a:r>
              <a:rPr lang="en-US" dirty="0"/>
              <a:t>    }</a:t>
            </a:r>
          </a:p>
          <a:p>
            <a:pPr marL="320040" lvl="1" indent="0">
              <a:buNone/>
            </a:pPr>
            <a:r>
              <a:rPr lang="en-US" dirty="0"/>
              <a:t>}</a:t>
            </a:r>
          </a:p>
        </p:txBody>
      </p:sp>
    </p:spTree>
    <p:extLst>
      <p:ext uri="{BB962C8B-B14F-4D97-AF65-F5344CB8AC3E}">
        <p14:creationId xmlns:p14="http://schemas.microsoft.com/office/powerpoint/2010/main" val="38337165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a:xfrm>
            <a:off x="914400" y="1143000"/>
            <a:ext cx="7772400" cy="5334000"/>
          </a:xfrm>
        </p:spPr>
        <p:txBody>
          <a:bodyPr>
            <a:normAutofit fontScale="92500" lnSpcReduction="10000"/>
          </a:bodyPr>
          <a:lstStyle/>
          <a:p>
            <a:pPr>
              <a:lnSpc>
                <a:spcPct val="150000"/>
              </a:lnSpc>
            </a:pPr>
            <a:r>
              <a:rPr lang="en-US" b="1" dirty="0"/>
              <a:t>for </a:t>
            </a:r>
            <a:r>
              <a:rPr lang="en-US" b="1" dirty="0" smtClean="0"/>
              <a:t>loop : </a:t>
            </a:r>
            <a:r>
              <a:rPr lang="en-US" dirty="0" smtClean="0"/>
              <a:t>It </a:t>
            </a:r>
            <a:r>
              <a:rPr lang="en-US" dirty="0"/>
              <a:t>enables us to initialize the loop variable, check the condition, and increment/decrement in a single line of code. We use the for loop only when we exactly know the number of times, we want to execute the block of code</a:t>
            </a:r>
            <a:r>
              <a:rPr lang="en-US" dirty="0" smtClean="0"/>
              <a:t>.</a:t>
            </a:r>
          </a:p>
          <a:p>
            <a:pPr>
              <a:lnSpc>
                <a:spcPct val="150000"/>
              </a:lnSpc>
            </a:pPr>
            <a:r>
              <a:rPr lang="en-US" b="1" dirty="0" smtClean="0"/>
              <a:t>Syntax:</a:t>
            </a:r>
          </a:p>
          <a:p>
            <a:pPr marL="0" indent="0">
              <a:lnSpc>
                <a:spcPct val="170000"/>
              </a:lnSpc>
              <a:buNone/>
            </a:pPr>
            <a:r>
              <a:rPr lang="en-US" dirty="0"/>
              <a:t>for (initialization, condition, increment / decrement) {</a:t>
            </a:r>
          </a:p>
          <a:p>
            <a:pPr marL="0" indent="0">
              <a:lnSpc>
                <a:spcPct val="170000"/>
              </a:lnSpc>
              <a:buNone/>
            </a:pPr>
            <a:r>
              <a:rPr lang="en-US" dirty="0"/>
              <a:t>    //block of statements    </a:t>
            </a:r>
          </a:p>
          <a:p>
            <a:pPr marL="0" indent="0">
              <a:lnSpc>
                <a:spcPct val="170000"/>
              </a:lnSpc>
              <a:buNone/>
            </a:pPr>
            <a:r>
              <a:rPr lang="en-US" dirty="0"/>
              <a:t>}</a:t>
            </a:r>
          </a:p>
          <a:p>
            <a:endParaRPr lang="en-US" dirty="0"/>
          </a:p>
        </p:txBody>
      </p:sp>
    </p:spTree>
    <p:extLst>
      <p:ext uri="{BB962C8B-B14F-4D97-AF65-F5344CB8AC3E}">
        <p14:creationId xmlns:p14="http://schemas.microsoft.com/office/powerpoint/2010/main" val="16041115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a:xfrm>
            <a:off x="914400" y="1066800"/>
            <a:ext cx="7772400" cy="5257800"/>
          </a:xfrm>
        </p:spPr>
        <p:txBody>
          <a:bodyPr>
            <a:normAutofit/>
          </a:bodyPr>
          <a:lstStyle/>
          <a:p>
            <a:pPr marL="0" indent="0">
              <a:buNone/>
            </a:pPr>
            <a:r>
              <a:rPr lang="en-US" dirty="0"/>
              <a:t>public class </a:t>
            </a:r>
            <a:r>
              <a:rPr lang="en-US" dirty="0" smtClean="0"/>
              <a:t>Calculation </a:t>
            </a:r>
            <a:r>
              <a:rPr lang="en-US" dirty="0"/>
              <a:t>{</a:t>
            </a:r>
          </a:p>
          <a:p>
            <a:pPr marL="0" indent="0">
              <a:buNone/>
            </a:pPr>
            <a:r>
              <a:rPr lang="en-US" dirty="0"/>
              <a:t>    public static void main(String[] </a:t>
            </a:r>
            <a:r>
              <a:rPr lang="en-US" dirty="0" err="1"/>
              <a:t>args</a:t>
            </a:r>
            <a:r>
              <a:rPr lang="en-US" dirty="0"/>
              <a:t>) {</a:t>
            </a:r>
          </a:p>
          <a:p>
            <a:pPr marL="0" indent="0">
              <a:buNone/>
            </a:pPr>
            <a:r>
              <a:rPr lang="en-US" dirty="0" smtClean="0"/>
              <a:t>        </a:t>
            </a:r>
            <a:r>
              <a:rPr lang="en-US" dirty="0" err="1" smtClean="0"/>
              <a:t>int</a:t>
            </a:r>
            <a:r>
              <a:rPr lang="en-US" dirty="0" smtClean="0"/>
              <a:t> </a:t>
            </a:r>
            <a:r>
              <a:rPr lang="en-US" dirty="0"/>
              <a:t>sum = 0;</a:t>
            </a:r>
          </a:p>
          <a:p>
            <a:pPr marL="0" indent="0">
              <a:buNone/>
            </a:pPr>
            <a:r>
              <a:rPr lang="en-US" dirty="0"/>
              <a:t>        for (</a:t>
            </a:r>
            <a:r>
              <a:rPr lang="en-US" dirty="0" err="1"/>
              <a:t>int</a:t>
            </a:r>
            <a:r>
              <a:rPr lang="en-US" dirty="0"/>
              <a:t> j = 1; j &lt;= 10; j++) </a:t>
            </a:r>
            <a:endParaRPr lang="en-US" dirty="0" smtClean="0"/>
          </a:p>
          <a:p>
            <a:pPr marL="0" indent="0">
              <a:buNone/>
            </a:pPr>
            <a:r>
              <a:rPr lang="en-US" dirty="0" smtClean="0"/>
              <a:t>        {</a:t>
            </a:r>
            <a:endParaRPr lang="en-US" dirty="0"/>
          </a:p>
          <a:p>
            <a:pPr marL="0" indent="0">
              <a:buNone/>
            </a:pPr>
            <a:r>
              <a:rPr lang="en-US" dirty="0"/>
              <a:t>            sum = sum + j;</a:t>
            </a:r>
          </a:p>
          <a:p>
            <a:pPr marL="0" indent="0">
              <a:buNone/>
            </a:pPr>
            <a:r>
              <a:rPr lang="en-US" dirty="0"/>
              <a:t>        }</a:t>
            </a:r>
          </a:p>
          <a:p>
            <a:pPr marL="0" indent="0">
              <a:buNone/>
            </a:pPr>
            <a:r>
              <a:rPr lang="en-US" dirty="0"/>
              <a:t>        </a:t>
            </a:r>
            <a:r>
              <a:rPr lang="en-US" dirty="0" err="1"/>
              <a:t>System.out.println</a:t>
            </a:r>
            <a:r>
              <a:rPr lang="en-US" dirty="0"/>
              <a:t>("The sum of first 10 natural numbers is " + sum);</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62932859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a:xfrm>
            <a:off x="914400" y="1066800"/>
            <a:ext cx="7772400" cy="5334000"/>
          </a:xfrm>
        </p:spPr>
        <p:txBody>
          <a:bodyPr>
            <a:normAutofit/>
          </a:bodyPr>
          <a:lstStyle/>
          <a:p>
            <a:pPr>
              <a:lnSpc>
                <a:spcPct val="150000"/>
              </a:lnSpc>
            </a:pPr>
            <a:r>
              <a:rPr lang="en-US" b="1" dirty="0"/>
              <a:t>for-each </a:t>
            </a:r>
            <a:r>
              <a:rPr lang="en-US" b="1" dirty="0" smtClean="0"/>
              <a:t>loop : </a:t>
            </a:r>
            <a:r>
              <a:rPr lang="en-US" dirty="0"/>
              <a:t>Java provides an enhanced for loop to traverse the data structures like array or collection. In the for-each loop, we don't need to update the loop variable. The syntax to use the for-each loop in java is given below</a:t>
            </a:r>
            <a:r>
              <a:rPr lang="en-US" dirty="0" smtClean="0"/>
              <a:t>.</a:t>
            </a:r>
          </a:p>
          <a:p>
            <a:pPr marL="0" indent="0">
              <a:lnSpc>
                <a:spcPct val="150000"/>
              </a:lnSpc>
              <a:buNone/>
            </a:pPr>
            <a:r>
              <a:rPr lang="en-US" dirty="0"/>
              <a:t>for (</a:t>
            </a:r>
            <a:r>
              <a:rPr lang="en-US" dirty="0" err="1" smtClean="0"/>
              <a:t>data_type</a:t>
            </a:r>
            <a:r>
              <a:rPr lang="en-US" dirty="0" smtClean="0"/>
              <a:t> </a:t>
            </a:r>
            <a:r>
              <a:rPr lang="en-US" dirty="0" err="1" smtClean="0"/>
              <a:t>var</a:t>
            </a:r>
            <a:r>
              <a:rPr lang="en-US" dirty="0"/>
              <a:t>: </a:t>
            </a:r>
            <a:r>
              <a:rPr lang="en-US" dirty="0" err="1"/>
              <a:t>array_name</a:t>
            </a:r>
            <a:r>
              <a:rPr lang="en-US" dirty="0"/>
              <a:t> / </a:t>
            </a:r>
            <a:r>
              <a:rPr lang="en-US" dirty="0" err="1"/>
              <a:t>collection_name</a:t>
            </a:r>
            <a:r>
              <a:rPr lang="en-US" dirty="0"/>
              <a:t>) {</a:t>
            </a:r>
          </a:p>
          <a:p>
            <a:pPr marL="0" indent="0">
              <a:lnSpc>
                <a:spcPct val="150000"/>
              </a:lnSpc>
              <a:buNone/>
            </a:pPr>
            <a:r>
              <a:rPr lang="en-US" dirty="0"/>
              <a:t>    //statements    </a:t>
            </a:r>
          </a:p>
          <a:p>
            <a:pPr marL="0" indent="0">
              <a:lnSpc>
                <a:spcPct val="150000"/>
              </a:lnSpc>
              <a:buNone/>
            </a:pPr>
            <a:r>
              <a:rPr lang="en-US" dirty="0"/>
              <a:t>}</a:t>
            </a:r>
            <a:endParaRPr lang="en-US" dirty="0" smtClean="0"/>
          </a:p>
          <a:p>
            <a:endParaRPr lang="en-US" b="1" dirty="0"/>
          </a:p>
          <a:p>
            <a:endParaRPr lang="en-US" dirty="0"/>
          </a:p>
        </p:txBody>
      </p:sp>
    </p:spTree>
    <p:extLst>
      <p:ext uri="{BB962C8B-B14F-4D97-AF65-F5344CB8AC3E}">
        <p14:creationId xmlns:p14="http://schemas.microsoft.com/office/powerpoint/2010/main" val="424441934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a:xfrm>
            <a:off x="914400" y="990600"/>
            <a:ext cx="7772400" cy="5410200"/>
          </a:xfrm>
        </p:spPr>
        <p:txBody>
          <a:bodyPr>
            <a:normAutofit fontScale="77500" lnSpcReduction="20000"/>
          </a:bodyPr>
          <a:lstStyle/>
          <a:p>
            <a:pPr marL="0" indent="0">
              <a:buNone/>
            </a:pPr>
            <a:r>
              <a:rPr lang="en-US" dirty="0"/>
              <a:t>public class Calculation {</a:t>
            </a:r>
          </a:p>
          <a:p>
            <a:pPr marL="0" indent="0">
              <a:buNone/>
            </a:pPr>
            <a:r>
              <a:rPr lang="en-US" dirty="0"/>
              <a:t>    public static void main(String[] </a:t>
            </a:r>
            <a:r>
              <a:rPr lang="en-US" dirty="0" err="1"/>
              <a:t>args</a:t>
            </a:r>
            <a:r>
              <a:rPr lang="en-US" dirty="0"/>
              <a:t>) </a:t>
            </a:r>
            <a:r>
              <a:rPr lang="en-US" dirty="0" smtClean="0"/>
              <a:t>{  </a:t>
            </a:r>
            <a:endParaRPr lang="en-US" dirty="0"/>
          </a:p>
          <a:p>
            <a:pPr marL="0" indent="0">
              <a:buNone/>
            </a:pPr>
            <a:r>
              <a:rPr lang="en-US" dirty="0"/>
              <a:t>        String[] names = {</a:t>
            </a:r>
          </a:p>
          <a:p>
            <a:pPr marL="0" indent="0">
              <a:buNone/>
            </a:pPr>
            <a:r>
              <a:rPr lang="en-US" dirty="0"/>
              <a:t>            "Java",</a:t>
            </a:r>
          </a:p>
          <a:p>
            <a:pPr marL="0" indent="0">
              <a:buNone/>
            </a:pPr>
            <a:r>
              <a:rPr lang="en-US" dirty="0"/>
              <a:t>            "C",</a:t>
            </a:r>
          </a:p>
          <a:p>
            <a:pPr marL="0" indent="0">
              <a:buNone/>
            </a:pPr>
            <a:r>
              <a:rPr lang="en-US" dirty="0"/>
              <a:t>            "C++",</a:t>
            </a:r>
          </a:p>
          <a:p>
            <a:pPr marL="0" indent="0">
              <a:buNone/>
            </a:pPr>
            <a:r>
              <a:rPr lang="en-US" dirty="0"/>
              <a:t>            "Python",</a:t>
            </a:r>
          </a:p>
          <a:p>
            <a:pPr marL="0" indent="0">
              <a:buNone/>
            </a:pPr>
            <a:r>
              <a:rPr lang="en-US" dirty="0"/>
              <a:t>            "JavaScript"</a:t>
            </a:r>
          </a:p>
          <a:p>
            <a:pPr marL="0" indent="0">
              <a:buNone/>
            </a:pPr>
            <a:r>
              <a:rPr lang="en-US" dirty="0"/>
              <a:t>        };</a:t>
            </a:r>
          </a:p>
          <a:p>
            <a:pPr marL="0" indent="0">
              <a:buNone/>
            </a:pPr>
            <a:r>
              <a:rPr lang="en-US" dirty="0"/>
              <a:t>        </a:t>
            </a:r>
            <a:r>
              <a:rPr lang="en-US" dirty="0" err="1"/>
              <a:t>System.out.println</a:t>
            </a:r>
            <a:r>
              <a:rPr lang="en-US" dirty="0"/>
              <a:t>("Printing the content of the array names:\n");</a:t>
            </a:r>
          </a:p>
          <a:p>
            <a:pPr marL="0" indent="0">
              <a:buNone/>
            </a:pPr>
            <a:r>
              <a:rPr lang="en-US" dirty="0"/>
              <a:t>        for (String name: names) {</a:t>
            </a:r>
          </a:p>
          <a:p>
            <a:pPr marL="0" indent="0">
              <a:buNone/>
            </a:pPr>
            <a:r>
              <a:rPr lang="en-US" dirty="0"/>
              <a:t>            </a:t>
            </a:r>
            <a:r>
              <a:rPr lang="en-US" dirty="0" err="1"/>
              <a:t>System.out.println</a:t>
            </a:r>
            <a:r>
              <a:rPr lang="en-US" dirty="0"/>
              <a:t>(name);</a:t>
            </a:r>
          </a:p>
          <a:p>
            <a:pPr marL="0" indent="0">
              <a:buNone/>
            </a:pPr>
            <a:r>
              <a:rPr lang="en-US" dirty="0"/>
              <a:t>        }</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3052742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p:txBody>
          <a:bodyPr/>
          <a:lstStyle/>
          <a:p>
            <a:pPr>
              <a:lnSpc>
                <a:spcPct val="150000"/>
              </a:lnSpc>
            </a:pPr>
            <a:r>
              <a:rPr lang="en-US" b="1" dirty="0"/>
              <a:t>Jump </a:t>
            </a:r>
            <a:r>
              <a:rPr lang="en-US" b="1" dirty="0" smtClean="0"/>
              <a:t>Statements :</a:t>
            </a:r>
            <a:r>
              <a:rPr lang="en-US" dirty="0"/>
              <a:t>Jump statements are used to transfer the control of the program to the specific statements. In other words, jump statements transfer the execution control to the other part of the program. There are two types of jump statements in Java, i.e., break and continue.</a:t>
            </a:r>
          </a:p>
          <a:p>
            <a:pPr marL="0" indent="0">
              <a:buNone/>
            </a:pPr>
            <a:r>
              <a:rPr lang="en-US" dirty="0"/>
              <a:t/>
            </a:r>
            <a:br>
              <a:rPr lang="en-US" dirty="0"/>
            </a:br>
            <a:endParaRPr lang="en-US" dirty="0"/>
          </a:p>
          <a:p>
            <a:endParaRPr lang="en-US" dirty="0"/>
          </a:p>
        </p:txBody>
      </p:sp>
    </p:spTree>
    <p:extLst>
      <p:ext uri="{BB962C8B-B14F-4D97-AF65-F5344CB8AC3E}">
        <p14:creationId xmlns:p14="http://schemas.microsoft.com/office/powerpoint/2010/main" val="1723745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a:xfrm>
            <a:off x="914400" y="1066800"/>
            <a:ext cx="7772400" cy="5334000"/>
          </a:xfrm>
        </p:spPr>
        <p:txBody>
          <a:bodyPr>
            <a:normAutofit lnSpcReduction="10000"/>
          </a:bodyPr>
          <a:lstStyle/>
          <a:p>
            <a:pPr>
              <a:lnSpc>
                <a:spcPct val="150000"/>
              </a:lnSpc>
            </a:pPr>
            <a:r>
              <a:rPr lang="en-US" b="1" dirty="0"/>
              <a:t>break</a:t>
            </a:r>
            <a:r>
              <a:rPr lang="en-US" dirty="0"/>
              <a:t> </a:t>
            </a:r>
            <a:r>
              <a:rPr lang="en-US" dirty="0" smtClean="0"/>
              <a:t> : </a:t>
            </a:r>
            <a:r>
              <a:rPr lang="en-US" dirty="0"/>
              <a:t>As the name suggests, the </a:t>
            </a:r>
            <a:r>
              <a:rPr lang="en-US" dirty="0">
                <a:hlinkClick r:id="rId2"/>
              </a:rPr>
              <a:t>break statement</a:t>
            </a:r>
            <a:r>
              <a:rPr lang="en-US" dirty="0"/>
              <a:t> is used to break the current flow of the program and transfer the control to the next statement outside a loop or switch statement. However, it breaks only the inner loop in the case of the nested loop.</a:t>
            </a:r>
          </a:p>
          <a:p>
            <a:pPr>
              <a:lnSpc>
                <a:spcPct val="150000"/>
              </a:lnSpc>
            </a:pPr>
            <a:r>
              <a:rPr lang="en-US" dirty="0"/>
              <a:t>The break statement cannot be used independently in the Java program, i.e., it can only be written inside the loop or switch statement.</a:t>
            </a:r>
          </a:p>
          <a:p>
            <a:endParaRPr lang="en-US" dirty="0"/>
          </a:p>
          <a:p>
            <a:endParaRPr lang="en-US" dirty="0"/>
          </a:p>
        </p:txBody>
      </p:sp>
    </p:spTree>
    <p:extLst>
      <p:ext uri="{BB962C8B-B14F-4D97-AF65-F5344CB8AC3E}">
        <p14:creationId xmlns:p14="http://schemas.microsoft.com/office/powerpoint/2010/main" val="38678358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a:xfrm>
            <a:off x="914400" y="1066800"/>
            <a:ext cx="7772400" cy="5486400"/>
          </a:xfrm>
        </p:spPr>
        <p:txBody>
          <a:bodyPr>
            <a:normAutofit fontScale="92500" lnSpcReduction="10000"/>
          </a:bodyPr>
          <a:lstStyle/>
          <a:p>
            <a:pPr marL="0" indent="0">
              <a:buNone/>
            </a:pPr>
            <a:r>
              <a:rPr lang="en-US" dirty="0"/>
              <a:t>public class </a:t>
            </a:r>
            <a:r>
              <a:rPr lang="en-US" dirty="0" err="1"/>
              <a:t>BreakExample</a:t>
            </a:r>
            <a:r>
              <a:rPr lang="en-US" dirty="0"/>
              <a:t> {</a:t>
            </a:r>
          </a:p>
          <a:p>
            <a:pPr marL="0" indent="0">
              <a:buNone/>
            </a:pPr>
            <a:endParaRPr lang="en-US" dirty="0"/>
          </a:p>
          <a:p>
            <a:pPr marL="0" indent="0">
              <a:buNone/>
            </a:pPr>
            <a:r>
              <a:rPr lang="en-US" dirty="0"/>
              <a:t>    public static void main(String[] </a:t>
            </a:r>
            <a:r>
              <a:rPr lang="en-US" dirty="0" err="1"/>
              <a:t>args</a:t>
            </a:r>
            <a:r>
              <a:rPr lang="en-US" dirty="0"/>
              <a:t>) {</a:t>
            </a:r>
          </a:p>
          <a:p>
            <a:pPr marL="0" indent="0">
              <a:buNone/>
            </a:pPr>
            <a:r>
              <a:rPr lang="en-US" dirty="0" smtClean="0"/>
              <a:t>	for </a:t>
            </a:r>
            <a:r>
              <a:rPr lang="en-US" dirty="0"/>
              <a:t>(</a:t>
            </a:r>
            <a:r>
              <a:rPr lang="en-US" dirty="0" err="1"/>
              <a:t>int</a:t>
            </a:r>
            <a:r>
              <a:rPr lang="en-US" dirty="0"/>
              <a:t> </a:t>
            </a:r>
            <a:r>
              <a:rPr lang="en-US" dirty="0" err="1"/>
              <a:t>i</a:t>
            </a:r>
            <a:r>
              <a:rPr lang="en-US" dirty="0"/>
              <a:t> = 0; </a:t>
            </a:r>
            <a:r>
              <a:rPr lang="en-US" dirty="0" err="1"/>
              <a:t>i</a:t>
            </a:r>
            <a:r>
              <a:rPr lang="en-US" dirty="0"/>
              <a:t> &lt;= 10; </a:t>
            </a:r>
            <a:r>
              <a:rPr lang="en-US" dirty="0" err="1"/>
              <a:t>i</a:t>
            </a:r>
            <a:r>
              <a:rPr lang="en-US" dirty="0"/>
              <a:t>++) </a:t>
            </a:r>
            <a:endParaRPr lang="en-US" dirty="0" smtClean="0"/>
          </a:p>
          <a:p>
            <a:pPr marL="0" indent="0">
              <a:buNone/>
            </a:pPr>
            <a:r>
              <a:rPr lang="en-US" dirty="0"/>
              <a:t>	</a:t>
            </a:r>
            <a:r>
              <a:rPr lang="en-US" dirty="0" smtClean="0"/>
              <a:t>{</a:t>
            </a:r>
            <a:endParaRPr lang="en-US" dirty="0"/>
          </a:p>
          <a:p>
            <a:pPr marL="0" indent="0">
              <a:buNone/>
            </a:pPr>
            <a:r>
              <a:rPr lang="en-US" dirty="0"/>
              <a:t>           </a:t>
            </a:r>
            <a:r>
              <a:rPr lang="en-US" dirty="0" smtClean="0"/>
              <a:t>   	</a:t>
            </a:r>
            <a:r>
              <a:rPr lang="en-US" dirty="0" err="1" smtClean="0"/>
              <a:t>System.out.println</a:t>
            </a:r>
            <a:r>
              <a:rPr lang="en-US" dirty="0" smtClean="0"/>
              <a:t>(</a:t>
            </a:r>
            <a:r>
              <a:rPr lang="en-US" dirty="0" err="1" smtClean="0"/>
              <a:t>i</a:t>
            </a:r>
            <a:r>
              <a:rPr lang="en-US" dirty="0"/>
              <a:t>);</a:t>
            </a:r>
          </a:p>
          <a:p>
            <a:pPr marL="0" indent="0">
              <a:buNone/>
            </a:pPr>
            <a:r>
              <a:rPr lang="en-US" dirty="0"/>
              <a:t>           </a:t>
            </a:r>
            <a:r>
              <a:rPr lang="en-US" dirty="0" smtClean="0"/>
              <a:t>  		 </a:t>
            </a:r>
            <a:r>
              <a:rPr lang="en-US" dirty="0"/>
              <a:t>if (</a:t>
            </a:r>
            <a:r>
              <a:rPr lang="en-US" dirty="0" err="1"/>
              <a:t>i</a:t>
            </a:r>
            <a:r>
              <a:rPr lang="en-US" dirty="0"/>
              <a:t> == 6</a:t>
            </a:r>
            <a:r>
              <a:rPr lang="en-US" dirty="0" smtClean="0"/>
              <a:t>)</a:t>
            </a:r>
          </a:p>
          <a:p>
            <a:pPr marL="0" indent="0">
              <a:buNone/>
            </a:pPr>
            <a:r>
              <a:rPr lang="en-US" dirty="0"/>
              <a:t>	</a:t>
            </a:r>
            <a:r>
              <a:rPr lang="en-US" dirty="0" smtClean="0"/>
              <a:t>	 </a:t>
            </a:r>
            <a:r>
              <a:rPr lang="en-US" dirty="0"/>
              <a:t>{</a:t>
            </a:r>
          </a:p>
          <a:p>
            <a:pPr marL="0" indent="0">
              <a:buNone/>
            </a:pPr>
            <a:r>
              <a:rPr lang="en-US" dirty="0"/>
              <a:t>                </a:t>
            </a:r>
            <a:r>
              <a:rPr lang="en-US" dirty="0" smtClean="0"/>
              <a:t> 		 break</a:t>
            </a:r>
            <a:r>
              <a:rPr lang="en-US" dirty="0"/>
              <a:t>;</a:t>
            </a:r>
          </a:p>
          <a:p>
            <a:pPr marL="0" indent="0">
              <a:buNone/>
            </a:pPr>
            <a:r>
              <a:rPr lang="en-US" dirty="0"/>
              <a:t>           </a:t>
            </a:r>
            <a:r>
              <a:rPr lang="en-US" dirty="0" smtClean="0"/>
              <a:t>		 </a:t>
            </a:r>
            <a:r>
              <a:rPr lang="en-US" dirty="0"/>
              <a:t>}</a:t>
            </a:r>
          </a:p>
          <a:p>
            <a:pPr marL="0" indent="0">
              <a:buNone/>
            </a:pPr>
            <a:r>
              <a:rPr lang="en-US" dirty="0"/>
              <a:t>       </a:t>
            </a:r>
            <a:r>
              <a:rPr lang="en-US" dirty="0" smtClean="0"/>
              <a:t>	 </a:t>
            </a:r>
            <a:r>
              <a:rPr lang="en-US" dirty="0"/>
              <a:t>}</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6652422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p:txBody>
          <a:bodyPr/>
          <a:lstStyle/>
          <a:p>
            <a:pPr>
              <a:lnSpc>
                <a:spcPct val="150000"/>
              </a:lnSpc>
            </a:pPr>
            <a:r>
              <a:rPr lang="en-US" b="1" dirty="0" smtClean="0"/>
              <a:t>Continue</a:t>
            </a:r>
            <a:r>
              <a:rPr lang="en-US" dirty="0" smtClean="0"/>
              <a:t>: </a:t>
            </a:r>
            <a:r>
              <a:rPr lang="en-US" dirty="0"/>
              <a:t>Unlike break statement, the </a:t>
            </a:r>
            <a:r>
              <a:rPr lang="en-US" dirty="0">
                <a:hlinkClick r:id="rId2"/>
              </a:rPr>
              <a:t>continue statement</a:t>
            </a:r>
            <a:r>
              <a:rPr lang="en-US" dirty="0"/>
              <a:t> doesn't break the loop, whereas, it skips the specific part of the loop and jumps to the next iteration of the loop immediately. </a:t>
            </a:r>
          </a:p>
          <a:p>
            <a:endParaRPr lang="en-US" dirty="0"/>
          </a:p>
        </p:txBody>
      </p:sp>
    </p:spTree>
    <p:extLst>
      <p:ext uri="{BB962C8B-B14F-4D97-AF65-F5344CB8AC3E}">
        <p14:creationId xmlns:p14="http://schemas.microsoft.com/office/powerpoint/2010/main" val="19104759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Control Statements</a:t>
            </a:r>
          </a:p>
        </p:txBody>
      </p:sp>
      <p:sp>
        <p:nvSpPr>
          <p:cNvPr id="3" name="Content Placeholder 2"/>
          <p:cNvSpPr>
            <a:spLocks noGrp="1"/>
          </p:cNvSpPr>
          <p:nvPr>
            <p:ph sz="quarter" idx="1"/>
          </p:nvPr>
        </p:nvSpPr>
        <p:spPr>
          <a:xfrm>
            <a:off x="914400" y="1143000"/>
            <a:ext cx="7772400" cy="5334000"/>
          </a:xfrm>
        </p:spPr>
        <p:txBody>
          <a:bodyPr>
            <a:normAutofit fontScale="55000" lnSpcReduction="20000"/>
          </a:bodyPr>
          <a:lstStyle/>
          <a:p>
            <a:pPr marL="0" indent="0">
              <a:lnSpc>
                <a:spcPct val="120000"/>
              </a:lnSpc>
              <a:buNone/>
            </a:pPr>
            <a:r>
              <a:rPr lang="en-US" sz="3600" dirty="0"/>
              <a:t>public class </a:t>
            </a:r>
            <a:r>
              <a:rPr lang="en-US" sz="3600" dirty="0" err="1"/>
              <a:t>ContinueExample</a:t>
            </a:r>
            <a:r>
              <a:rPr lang="en-US" sz="3600" dirty="0"/>
              <a:t> {</a:t>
            </a:r>
          </a:p>
          <a:p>
            <a:pPr marL="0" indent="0">
              <a:lnSpc>
                <a:spcPct val="120000"/>
              </a:lnSpc>
              <a:buNone/>
            </a:pPr>
            <a:endParaRPr lang="en-US" sz="3600" dirty="0"/>
          </a:p>
          <a:p>
            <a:pPr marL="0" indent="0">
              <a:lnSpc>
                <a:spcPct val="120000"/>
              </a:lnSpc>
              <a:buNone/>
            </a:pPr>
            <a:r>
              <a:rPr lang="en-US" sz="3600" dirty="0"/>
              <a:t>    public static void main(String[] </a:t>
            </a:r>
            <a:r>
              <a:rPr lang="en-US" sz="3600" dirty="0" err="1"/>
              <a:t>args</a:t>
            </a:r>
            <a:r>
              <a:rPr lang="en-US" sz="3600" dirty="0"/>
              <a:t>) </a:t>
            </a:r>
            <a:r>
              <a:rPr lang="en-US" sz="3600" dirty="0" smtClean="0"/>
              <a:t>{</a:t>
            </a:r>
            <a:endParaRPr lang="en-US" sz="3600" dirty="0"/>
          </a:p>
          <a:p>
            <a:pPr marL="0" indent="0">
              <a:lnSpc>
                <a:spcPct val="120000"/>
              </a:lnSpc>
              <a:buNone/>
            </a:pPr>
            <a:r>
              <a:rPr lang="en-US" sz="3600" dirty="0"/>
              <a:t>        for (</a:t>
            </a:r>
            <a:r>
              <a:rPr lang="en-US" sz="3600" dirty="0" err="1"/>
              <a:t>int</a:t>
            </a:r>
            <a:r>
              <a:rPr lang="en-US" sz="3600" dirty="0"/>
              <a:t> </a:t>
            </a:r>
            <a:r>
              <a:rPr lang="en-US" sz="3600" dirty="0" err="1"/>
              <a:t>i</a:t>
            </a:r>
            <a:r>
              <a:rPr lang="en-US" sz="3600" dirty="0"/>
              <a:t> = 0; </a:t>
            </a:r>
            <a:r>
              <a:rPr lang="en-US" sz="3600" dirty="0" err="1"/>
              <a:t>i</a:t>
            </a:r>
            <a:r>
              <a:rPr lang="en-US" sz="3600" dirty="0"/>
              <a:t> &lt;= 2; </a:t>
            </a:r>
            <a:r>
              <a:rPr lang="en-US" sz="3600" dirty="0" err="1"/>
              <a:t>i</a:t>
            </a:r>
            <a:r>
              <a:rPr lang="en-US" sz="3600" dirty="0"/>
              <a:t>++) </a:t>
            </a:r>
            <a:r>
              <a:rPr lang="en-US" sz="3600" dirty="0" smtClean="0"/>
              <a:t>{</a:t>
            </a:r>
            <a:endParaRPr lang="en-US" sz="3600" dirty="0"/>
          </a:p>
          <a:p>
            <a:pPr marL="0" indent="0">
              <a:lnSpc>
                <a:spcPct val="120000"/>
              </a:lnSpc>
              <a:buNone/>
            </a:pPr>
            <a:r>
              <a:rPr lang="en-US" sz="3600" dirty="0"/>
              <a:t>            for (</a:t>
            </a:r>
            <a:r>
              <a:rPr lang="en-US" sz="3600" dirty="0" err="1"/>
              <a:t>int</a:t>
            </a:r>
            <a:r>
              <a:rPr lang="en-US" sz="3600" dirty="0"/>
              <a:t> j = </a:t>
            </a:r>
            <a:r>
              <a:rPr lang="en-US" sz="3600" dirty="0" err="1"/>
              <a:t>i</a:t>
            </a:r>
            <a:r>
              <a:rPr lang="en-US" sz="3600" dirty="0"/>
              <a:t>; j &lt;= 5; j++) </a:t>
            </a:r>
            <a:r>
              <a:rPr lang="en-US" sz="3600" dirty="0" smtClean="0"/>
              <a:t>{</a:t>
            </a:r>
            <a:endParaRPr lang="en-US" sz="3600" dirty="0"/>
          </a:p>
          <a:p>
            <a:pPr marL="0" indent="0">
              <a:lnSpc>
                <a:spcPct val="120000"/>
              </a:lnSpc>
              <a:buNone/>
            </a:pPr>
            <a:r>
              <a:rPr lang="en-US" sz="3600" dirty="0"/>
              <a:t>                if (j == 4) {</a:t>
            </a:r>
          </a:p>
          <a:p>
            <a:pPr marL="0" indent="0">
              <a:lnSpc>
                <a:spcPct val="120000"/>
              </a:lnSpc>
              <a:buNone/>
            </a:pPr>
            <a:r>
              <a:rPr lang="en-US" sz="3600" dirty="0"/>
              <a:t>                    continue;</a:t>
            </a:r>
          </a:p>
          <a:p>
            <a:pPr marL="0" indent="0">
              <a:lnSpc>
                <a:spcPct val="120000"/>
              </a:lnSpc>
              <a:buNone/>
            </a:pPr>
            <a:r>
              <a:rPr lang="en-US" sz="3600" dirty="0"/>
              <a:t>                }</a:t>
            </a:r>
          </a:p>
          <a:p>
            <a:pPr marL="0" indent="0">
              <a:lnSpc>
                <a:spcPct val="120000"/>
              </a:lnSpc>
              <a:buNone/>
            </a:pPr>
            <a:r>
              <a:rPr lang="en-US" sz="3600" dirty="0"/>
              <a:t>                </a:t>
            </a:r>
            <a:r>
              <a:rPr lang="en-US" sz="3600" dirty="0" err="1"/>
              <a:t>System.out.println</a:t>
            </a:r>
            <a:r>
              <a:rPr lang="en-US" sz="3600" dirty="0"/>
              <a:t>(j);</a:t>
            </a:r>
          </a:p>
          <a:p>
            <a:pPr marL="0" indent="0">
              <a:lnSpc>
                <a:spcPct val="120000"/>
              </a:lnSpc>
              <a:buNone/>
            </a:pPr>
            <a:r>
              <a:rPr lang="en-US" sz="3600" dirty="0"/>
              <a:t>            }</a:t>
            </a:r>
          </a:p>
          <a:p>
            <a:pPr marL="0" indent="0">
              <a:lnSpc>
                <a:spcPct val="120000"/>
              </a:lnSpc>
              <a:buNone/>
            </a:pPr>
            <a:r>
              <a:rPr lang="en-US" sz="3600" dirty="0"/>
              <a:t>        }</a:t>
            </a:r>
          </a:p>
          <a:p>
            <a:pPr marL="0" indent="0">
              <a:lnSpc>
                <a:spcPct val="120000"/>
              </a:lnSpc>
              <a:buNone/>
            </a:pPr>
            <a:r>
              <a:rPr lang="en-US" sz="3600" dirty="0"/>
              <a:t>    </a:t>
            </a:r>
            <a:r>
              <a:rPr lang="en-US" sz="3600" dirty="0" smtClean="0"/>
              <a:t>}</a:t>
            </a:r>
            <a:endParaRPr lang="en-US" sz="3600" dirty="0"/>
          </a:p>
          <a:p>
            <a:pPr marL="0" indent="0">
              <a:lnSpc>
                <a:spcPct val="120000"/>
              </a:lnSpc>
              <a:buNone/>
            </a:pPr>
            <a:r>
              <a:rPr lang="en-US" sz="3600" dirty="0"/>
              <a:t>}</a:t>
            </a:r>
          </a:p>
        </p:txBody>
      </p:sp>
    </p:spTree>
    <p:extLst>
      <p:ext uri="{BB962C8B-B14F-4D97-AF65-F5344CB8AC3E}">
        <p14:creationId xmlns:p14="http://schemas.microsoft.com/office/powerpoint/2010/main" val="30095299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BASIC OPERATORS</a:t>
            </a:r>
            <a:endParaRPr lang="en-US" dirty="0"/>
          </a:p>
        </p:txBody>
      </p:sp>
      <p:sp>
        <p:nvSpPr>
          <p:cNvPr id="3" name="Content Placeholder 2"/>
          <p:cNvSpPr>
            <a:spLocks noGrp="1"/>
          </p:cNvSpPr>
          <p:nvPr>
            <p:ph sz="quarter" idx="1"/>
          </p:nvPr>
        </p:nvSpPr>
        <p:spPr>
          <a:xfrm>
            <a:off x="914400" y="1143000"/>
            <a:ext cx="7772400" cy="4572000"/>
          </a:xfrm>
        </p:spPr>
        <p:txBody>
          <a:bodyPr/>
          <a:lstStyle/>
          <a:p>
            <a:r>
              <a:rPr lang="en-US" dirty="0"/>
              <a:t>Java provides a rich set of operators to manipulate variables. We can divide all the Java operators into the </a:t>
            </a:r>
            <a:r>
              <a:rPr lang="en-US" dirty="0" smtClean="0"/>
              <a:t>following groups:</a:t>
            </a:r>
          </a:p>
          <a:p>
            <a:pPr marL="0" indent="0">
              <a:buNone/>
            </a:pPr>
            <a:endParaRPr lang="en-US" dirty="0" smtClean="0"/>
          </a:p>
          <a:p>
            <a:pPr lvl="1"/>
            <a:r>
              <a:rPr lang="en-US" dirty="0"/>
              <a:t>Arithmetic Operators</a:t>
            </a:r>
          </a:p>
          <a:p>
            <a:pPr lvl="1"/>
            <a:r>
              <a:rPr lang="en-US" dirty="0"/>
              <a:t>Relational Operators</a:t>
            </a:r>
          </a:p>
          <a:p>
            <a:pPr lvl="1"/>
            <a:r>
              <a:rPr lang="en-US" dirty="0"/>
              <a:t>Bitwise Operators</a:t>
            </a:r>
          </a:p>
          <a:p>
            <a:pPr lvl="1"/>
            <a:r>
              <a:rPr lang="en-US" dirty="0"/>
              <a:t>Logical Operators</a:t>
            </a:r>
          </a:p>
          <a:p>
            <a:pPr lvl="1"/>
            <a:r>
              <a:rPr lang="en-US" dirty="0"/>
              <a:t>Assignment Operators</a:t>
            </a:r>
          </a:p>
          <a:p>
            <a:pPr lvl="1"/>
            <a:r>
              <a:rPr lang="en-US" dirty="0" err="1"/>
              <a:t>Misc</a:t>
            </a:r>
            <a:r>
              <a:rPr lang="en-US" dirty="0"/>
              <a:t> Operators</a:t>
            </a:r>
            <a:endParaRPr lang="en-US" dirty="0"/>
          </a:p>
        </p:txBody>
      </p:sp>
    </p:spTree>
    <p:extLst>
      <p:ext uri="{BB962C8B-B14F-4D97-AF65-F5344CB8AC3E}">
        <p14:creationId xmlns:p14="http://schemas.microsoft.com/office/powerpoint/2010/main" val="370865120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BASIC OPERATORS</a:t>
            </a:r>
          </a:p>
        </p:txBody>
      </p:sp>
      <p:sp>
        <p:nvSpPr>
          <p:cNvPr id="3" name="Content Placeholder 2"/>
          <p:cNvSpPr>
            <a:spLocks noGrp="1"/>
          </p:cNvSpPr>
          <p:nvPr>
            <p:ph sz="quarter" idx="1"/>
          </p:nvPr>
        </p:nvSpPr>
        <p:spPr>
          <a:xfrm>
            <a:off x="914400" y="1143000"/>
            <a:ext cx="7772400" cy="4572000"/>
          </a:xfrm>
        </p:spPr>
        <p:txBody>
          <a:bodyPr/>
          <a:lstStyle/>
          <a:p>
            <a:r>
              <a:rPr lang="en-US" b="1" dirty="0"/>
              <a:t>The Arithmetic Operators</a:t>
            </a:r>
            <a:r>
              <a:rPr lang="en-US" b="1" dirty="0" smtClean="0"/>
              <a:t>:</a:t>
            </a:r>
          </a:p>
          <a:p>
            <a:pPr lvl="1">
              <a:lnSpc>
                <a:spcPct val="150000"/>
              </a:lnSpc>
            </a:pPr>
            <a:r>
              <a:rPr lang="en-US" dirty="0"/>
              <a:t>Arithmetic operators are used in mathematical expressions in the same way that they are used in algebra. The </a:t>
            </a:r>
            <a:r>
              <a:rPr lang="en-US" dirty="0" smtClean="0"/>
              <a:t>following table </a:t>
            </a:r>
            <a:r>
              <a:rPr lang="en-US" dirty="0"/>
              <a:t>lists the arithmetic operators</a:t>
            </a:r>
            <a:r>
              <a:rPr lang="en-US" dirty="0" smtClean="0"/>
              <a:t>:</a:t>
            </a:r>
          </a:p>
          <a:p>
            <a:pPr lvl="1">
              <a:lnSpc>
                <a:spcPct val="150000"/>
              </a:lnSpc>
            </a:pPr>
            <a:r>
              <a:rPr lang="en-US" dirty="0"/>
              <a:t>Assume integer variable A holds 10 and variable B holds 20 then:</a:t>
            </a:r>
            <a:endParaRPr lang="en-US" b="1" dirty="0"/>
          </a:p>
        </p:txBody>
      </p:sp>
    </p:spTree>
    <p:extLst>
      <p:ext uri="{BB962C8B-B14F-4D97-AF65-F5344CB8AC3E}">
        <p14:creationId xmlns:p14="http://schemas.microsoft.com/office/powerpoint/2010/main" val="6076958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BASIC OPERATORS</a:t>
            </a:r>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533400" y="1371600"/>
            <a:ext cx="8337750" cy="4191000"/>
          </a:xfrm>
        </p:spPr>
      </p:pic>
    </p:spTree>
    <p:extLst>
      <p:ext uri="{BB962C8B-B14F-4D97-AF65-F5344CB8AC3E}">
        <p14:creationId xmlns:p14="http://schemas.microsoft.com/office/powerpoint/2010/main" val="124332676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BASIC OPERATORS</a:t>
            </a:r>
          </a:p>
        </p:txBody>
      </p:sp>
      <p:sp>
        <p:nvSpPr>
          <p:cNvPr id="3" name="Content Placeholder 2"/>
          <p:cNvSpPr>
            <a:spLocks noGrp="1"/>
          </p:cNvSpPr>
          <p:nvPr>
            <p:ph sz="quarter" idx="1"/>
          </p:nvPr>
        </p:nvSpPr>
        <p:spPr>
          <a:xfrm>
            <a:off x="914400" y="1066800"/>
            <a:ext cx="7772400" cy="4572000"/>
          </a:xfrm>
        </p:spPr>
        <p:txBody>
          <a:bodyPr/>
          <a:lstStyle/>
          <a:p>
            <a:r>
              <a:rPr lang="en-US" b="1" dirty="0"/>
              <a:t>The Relational Operators</a:t>
            </a:r>
            <a:r>
              <a:rPr lang="en-US" b="1" dirty="0" smtClean="0"/>
              <a:t>:</a:t>
            </a:r>
          </a:p>
          <a:p>
            <a:pPr lvl="1">
              <a:lnSpc>
                <a:spcPct val="150000"/>
              </a:lnSpc>
            </a:pPr>
            <a:r>
              <a:rPr lang="en-US" dirty="0"/>
              <a:t>There are following relational operators supported by Java language</a:t>
            </a:r>
          </a:p>
          <a:p>
            <a:pPr lvl="1">
              <a:lnSpc>
                <a:spcPct val="150000"/>
              </a:lnSpc>
            </a:pPr>
            <a:r>
              <a:rPr lang="en-US" dirty="0"/>
              <a:t>Assume variable A holds 10 and variable B holds 20 then:</a:t>
            </a:r>
            <a:endParaRPr lang="en-US" b="1" dirty="0"/>
          </a:p>
        </p:txBody>
      </p:sp>
    </p:spTree>
    <p:extLst>
      <p:ext uri="{BB962C8B-B14F-4D97-AF65-F5344CB8AC3E}">
        <p14:creationId xmlns:p14="http://schemas.microsoft.com/office/powerpoint/2010/main" val="4099354615"/>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BASIC OPERATORS</a:t>
            </a:r>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453200" y="1219200"/>
            <a:ext cx="8147876" cy="4038600"/>
          </a:xfrm>
        </p:spPr>
      </p:pic>
    </p:spTree>
    <p:extLst>
      <p:ext uri="{BB962C8B-B14F-4D97-AF65-F5344CB8AC3E}">
        <p14:creationId xmlns:p14="http://schemas.microsoft.com/office/powerpoint/2010/main" val="1389035568"/>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BASIC OPERATORS</a:t>
            </a:r>
          </a:p>
        </p:txBody>
      </p:sp>
      <p:sp>
        <p:nvSpPr>
          <p:cNvPr id="3" name="Content Placeholder 2"/>
          <p:cNvSpPr>
            <a:spLocks noGrp="1"/>
          </p:cNvSpPr>
          <p:nvPr>
            <p:ph sz="quarter" idx="1"/>
          </p:nvPr>
        </p:nvSpPr>
        <p:spPr>
          <a:xfrm>
            <a:off x="914400" y="1066800"/>
            <a:ext cx="7772400" cy="5486400"/>
          </a:xfrm>
        </p:spPr>
        <p:txBody>
          <a:bodyPr>
            <a:normAutofit lnSpcReduction="10000"/>
          </a:bodyPr>
          <a:lstStyle/>
          <a:p>
            <a:r>
              <a:rPr lang="en-US" b="1" dirty="0"/>
              <a:t>The Bitwise Operators</a:t>
            </a:r>
            <a:r>
              <a:rPr lang="en-US" b="1" dirty="0" smtClean="0"/>
              <a:t>:</a:t>
            </a:r>
          </a:p>
          <a:p>
            <a:pPr lvl="1">
              <a:lnSpc>
                <a:spcPct val="150000"/>
              </a:lnSpc>
            </a:pPr>
            <a:r>
              <a:rPr lang="en-US" dirty="0"/>
              <a:t>Java defines several bitwise operators which can be applied to the integer types, long, </a:t>
            </a:r>
            <a:r>
              <a:rPr lang="en-US" dirty="0" err="1"/>
              <a:t>int</a:t>
            </a:r>
            <a:r>
              <a:rPr lang="en-US" dirty="0"/>
              <a:t>, short, char, and byte.</a:t>
            </a:r>
          </a:p>
          <a:p>
            <a:pPr lvl="1">
              <a:lnSpc>
                <a:spcPct val="150000"/>
              </a:lnSpc>
            </a:pPr>
            <a:r>
              <a:rPr lang="en-US" dirty="0"/>
              <a:t>Bitwise operator works on bits and perform bit by bit operation. Assume if a = 60; and b = 13; Now in binary format</a:t>
            </a:r>
          </a:p>
          <a:p>
            <a:pPr lvl="1">
              <a:lnSpc>
                <a:spcPct val="150000"/>
              </a:lnSpc>
            </a:pPr>
            <a:r>
              <a:rPr lang="en-US" dirty="0"/>
              <a:t>they will be as follows:</a:t>
            </a:r>
          </a:p>
          <a:p>
            <a:pPr lvl="1">
              <a:lnSpc>
                <a:spcPct val="150000"/>
              </a:lnSpc>
            </a:pPr>
            <a:r>
              <a:rPr lang="en-US" dirty="0"/>
              <a:t>a = 0011 1100</a:t>
            </a:r>
          </a:p>
          <a:p>
            <a:pPr lvl="1">
              <a:lnSpc>
                <a:spcPct val="150000"/>
              </a:lnSpc>
            </a:pPr>
            <a:r>
              <a:rPr lang="en-US" dirty="0"/>
              <a:t>b = 0000 </a:t>
            </a:r>
            <a:r>
              <a:rPr lang="en-US" dirty="0" smtClean="0"/>
              <a:t>1101</a:t>
            </a:r>
            <a:endParaRPr lang="en-US" dirty="0"/>
          </a:p>
        </p:txBody>
      </p:sp>
    </p:spTree>
    <p:extLst>
      <p:ext uri="{BB962C8B-B14F-4D97-AF65-F5344CB8AC3E}">
        <p14:creationId xmlns:p14="http://schemas.microsoft.com/office/powerpoint/2010/main" val="2881860992"/>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BASIC OPERATORS</a:t>
            </a:r>
          </a:p>
        </p:txBody>
      </p:sp>
      <p:sp>
        <p:nvSpPr>
          <p:cNvPr id="3" name="Content Placeholder 2"/>
          <p:cNvSpPr>
            <a:spLocks noGrp="1"/>
          </p:cNvSpPr>
          <p:nvPr>
            <p:ph sz="quarter" idx="1"/>
          </p:nvPr>
        </p:nvSpPr>
        <p:spPr/>
        <p:txBody>
          <a:bodyPr/>
          <a:lstStyle/>
          <a:p>
            <a:pPr>
              <a:lnSpc>
                <a:spcPct val="150000"/>
              </a:lnSpc>
            </a:pPr>
            <a:r>
              <a:rPr lang="en-US" dirty="0" err="1"/>
              <a:t>a&amp;b</a:t>
            </a:r>
            <a:r>
              <a:rPr lang="en-US" dirty="0"/>
              <a:t> = 0000 1100</a:t>
            </a:r>
          </a:p>
          <a:p>
            <a:pPr>
              <a:lnSpc>
                <a:spcPct val="150000"/>
              </a:lnSpc>
            </a:pPr>
            <a:r>
              <a:rPr lang="en-US" dirty="0" err="1"/>
              <a:t>a|b</a:t>
            </a:r>
            <a:r>
              <a:rPr lang="en-US" dirty="0"/>
              <a:t> = 0011 1101</a:t>
            </a:r>
          </a:p>
          <a:p>
            <a:pPr>
              <a:lnSpc>
                <a:spcPct val="150000"/>
              </a:lnSpc>
            </a:pPr>
            <a:r>
              <a:rPr lang="en-US" dirty="0" err="1"/>
              <a:t>a^b</a:t>
            </a:r>
            <a:r>
              <a:rPr lang="en-US" dirty="0"/>
              <a:t> = 0011 0001</a:t>
            </a:r>
          </a:p>
          <a:p>
            <a:pPr>
              <a:lnSpc>
                <a:spcPct val="150000"/>
              </a:lnSpc>
            </a:pPr>
            <a:r>
              <a:rPr lang="en-US" dirty="0"/>
              <a:t>~a = 1100 </a:t>
            </a:r>
            <a:r>
              <a:rPr lang="en-US" dirty="0" smtClean="0"/>
              <a:t>0011</a:t>
            </a:r>
          </a:p>
          <a:p>
            <a:pPr>
              <a:lnSpc>
                <a:spcPct val="150000"/>
              </a:lnSpc>
            </a:pPr>
            <a:r>
              <a:rPr lang="en-US" dirty="0"/>
              <a:t>The following table lists the bitwise operators:</a:t>
            </a:r>
          </a:p>
          <a:p>
            <a:pPr>
              <a:lnSpc>
                <a:spcPct val="150000"/>
              </a:lnSpc>
            </a:pPr>
            <a:r>
              <a:rPr lang="en-US" dirty="0"/>
              <a:t>Assume integer variable A holds 60 and variable B holds 13 then:</a:t>
            </a:r>
            <a:endParaRPr lang="en-US" dirty="0"/>
          </a:p>
        </p:txBody>
      </p:sp>
    </p:spTree>
    <p:extLst>
      <p:ext uri="{BB962C8B-B14F-4D97-AF65-F5344CB8AC3E}">
        <p14:creationId xmlns:p14="http://schemas.microsoft.com/office/powerpoint/2010/main" val="2662087109"/>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BASIC OPERATORS</a:t>
            </a:r>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928048" y="1143000"/>
            <a:ext cx="7686675" cy="2343150"/>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0752" y="3475914"/>
            <a:ext cx="7705725" cy="2819400"/>
          </a:xfrm>
          <a:prstGeom prst="rect">
            <a:avLst/>
          </a:prstGeom>
        </p:spPr>
      </p:pic>
    </p:spTree>
    <p:extLst>
      <p:ext uri="{BB962C8B-B14F-4D97-AF65-F5344CB8AC3E}">
        <p14:creationId xmlns:p14="http://schemas.microsoft.com/office/powerpoint/2010/main" val="3131708934"/>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BASIC OPERATORS</a:t>
            </a:r>
          </a:p>
        </p:txBody>
      </p:sp>
      <p:sp>
        <p:nvSpPr>
          <p:cNvPr id="3" name="Content Placeholder 2"/>
          <p:cNvSpPr>
            <a:spLocks noGrp="1"/>
          </p:cNvSpPr>
          <p:nvPr>
            <p:ph sz="quarter" idx="1"/>
          </p:nvPr>
        </p:nvSpPr>
        <p:spPr>
          <a:xfrm>
            <a:off x="910988" y="1066800"/>
            <a:ext cx="7772400" cy="4572000"/>
          </a:xfrm>
        </p:spPr>
        <p:txBody>
          <a:bodyPr/>
          <a:lstStyle/>
          <a:p>
            <a:r>
              <a:rPr lang="en-US" b="1" dirty="0"/>
              <a:t>The Logical Operators</a:t>
            </a:r>
            <a:r>
              <a:rPr lang="en-US" b="1" dirty="0" smtClean="0"/>
              <a:t>:</a:t>
            </a:r>
          </a:p>
          <a:p>
            <a:pPr lvl="1"/>
            <a:r>
              <a:rPr lang="en-US" dirty="0"/>
              <a:t>The following table lists the logical operators:</a:t>
            </a:r>
          </a:p>
          <a:p>
            <a:pPr lvl="1"/>
            <a:r>
              <a:rPr lang="en-US" dirty="0"/>
              <a:t>Assume boolean variables A holds true and variable B holds false then:</a:t>
            </a:r>
            <a:endParaRPr lang="en-US"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9720" y="3048000"/>
            <a:ext cx="8781880" cy="2667000"/>
          </a:xfrm>
          <a:prstGeom prst="rect">
            <a:avLst/>
          </a:prstGeom>
        </p:spPr>
      </p:pic>
    </p:spTree>
    <p:extLst>
      <p:ext uri="{BB962C8B-B14F-4D97-AF65-F5344CB8AC3E}">
        <p14:creationId xmlns:p14="http://schemas.microsoft.com/office/powerpoint/2010/main" val="1686392991"/>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BASIC OPERATORS</a:t>
            </a:r>
          </a:p>
        </p:txBody>
      </p:sp>
      <p:sp>
        <p:nvSpPr>
          <p:cNvPr id="3" name="Content Placeholder 2"/>
          <p:cNvSpPr>
            <a:spLocks noGrp="1"/>
          </p:cNvSpPr>
          <p:nvPr>
            <p:ph sz="quarter" idx="1"/>
          </p:nvPr>
        </p:nvSpPr>
        <p:spPr>
          <a:xfrm>
            <a:off x="914400" y="914400"/>
            <a:ext cx="7772400" cy="5562600"/>
          </a:xfrm>
        </p:spPr>
        <p:txBody>
          <a:bodyPr/>
          <a:lstStyle/>
          <a:p>
            <a:r>
              <a:rPr lang="en-US" b="1" dirty="0"/>
              <a:t>The Assignment Operators</a:t>
            </a:r>
            <a:r>
              <a:rPr lang="en-US" b="1" dirty="0" smtClean="0"/>
              <a:t>:</a:t>
            </a:r>
          </a:p>
          <a:p>
            <a:pPr lvl="1"/>
            <a:r>
              <a:rPr lang="en-US" dirty="0"/>
              <a:t>There are following assignment operators supported by Java language</a:t>
            </a:r>
            <a:r>
              <a:rPr lang="en-US" dirty="0" smtClean="0"/>
              <a:t>:</a:t>
            </a:r>
          </a:p>
          <a:p>
            <a:pPr marL="0" indent="0">
              <a:buNone/>
            </a:pPr>
            <a:r>
              <a:rPr lang="en-US" dirty="0" smtClean="0"/>
              <a:t>	</a:t>
            </a:r>
            <a:endParaRPr lang="en-US"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7262" y="2362200"/>
            <a:ext cx="7686675" cy="2457450"/>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2047" y="4812826"/>
            <a:ext cx="7677150" cy="1914525"/>
          </a:xfrm>
          <a:prstGeom prst="rect">
            <a:avLst/>
          </a:prstGeom>
        </p:spPr>
      </p:pic>
    </p:spTree>
    <p:extLst>
      <p:ext uri="{BB962C8B-B14F-4D97-AF65-F5344CB8AC3E}">
        <p14:creationId xmlns:p14="http://schemas.microsoft.com/office/powerpoint/2010/main" val="436719871"/>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Misc</a:t>
            </a:r>
            <a:r>
              <a:rPr lang="en-US" dirty="0"/>
              <a:t> Operators</a:t>
            </a:r>
            <a:endParaRPr lang="en-US" dirty="0"/>
          </a:p>
        </p:txBody>
      </p:sp>
      <p:sp>
        <p:nvSpPr>
          <p:cNvPr id="3" name="Content Placeholder 2"/>
          <p:cNvSpPr>
            <a:spLocks noGrp="1"/>
          </p:cNvSpPr>
          <p:nvPr>
            <p:ph sz="quarter" idx="1"/>
          </p:nvPr>
        </p:nvSpPr>
        <p:spPr>
          <a:xfrm>
            <a:off x="914400" y="1143000"/>
            <a:ext cx="7772400" cy="4572000"/>
          </a:xfrm>
        </p:spPr>
        <p:txBody>
          <a:bodyPr>
            <a:normAutofit lnSpcReduction="10000"/>
          </a:bodyPr>
          <a:lstStyle/>
          <a:p>
            <a:r>
              <a:rPr lang="en-US" dirty="0"/>
              <a:t>There are few other operators supported by Java </a:t>
            </a:r>
            <a:r>
              <a:rPr lang="en-US" dirty="0" smtClean="0"/>
              <a:t>Language.</a:t>
            </a:r>
          </a:p>
          <a:p>
            <a:pPr marL="0" indent="0">
              <a:buNone/>
            </a:pPr>
            <a:endParaRPr lang="en-US" dirty="0" smtClean="0"/>
          </a:p>
          <a:p>
            <a:r>
              <a:rPr lang="en-US" b="1" dirty="0"/>
              <a:t>Conditional Operator ( ? : </a:t>
            </a:r>
            <a:r>
              <a:rPr lang="en-US" b="1" dirty="0" smtClean="0"/>
              <a:t>):</a:t>
            </a:r>
          </a:p>
          <a:p>
            <a:pPr lvl="1">
              <a:lnSpc>
                <a:spcPct val="150000"/>
              </a:lnSpc>
            </a:pPr>
            <a:r>
              <a:rPr lang="en-US" dirty="0"/>
              <a:t>Conditional operator is also known as the ternary operator. This operator consists of three operands and is used </a:t>
            </a:r>
            <a:r>
              <a:rPr lang="en-US" dirty="0" smtClean="0"/>
              <a:t>to evaluate </a:t>
            </a:r>
            <a:r>
              <a:rPr lang="en-US" dirty="0"/>
              <a:t>boolean expressions. The goal of the operator is to decide which value should be assigned to the variable. </a:t>
            </a:r>
            <a:r>
              <a:rPr lang="en-US" dirty="0" smtClean="0"/>
              <a:t>The operator </a:t>
            </a:r>
            <a:r>
              <a:rPr lang="en-US" dirty="0"/>
              <a:t>is written as :</a:t>
            </a:r>
            <a:endParaRPr lang="en-US" b="1" dirty="0"/>
          </a:p>
        </p:txBody>
      </p:sp>
    </p:spTree>
    <p:extLst>
      <p:ext uri="{BB962C8B-B14F-4D97-AF65-F5344CB8AC3E}">
        <p14:creationId xmlns:p14="http://schemas.microsoft.com/office/powerpoint/2010/main" val="307725378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Misc</a:t>
            </a:r>
            <a:r>
              <a:rPr lang="en-US" dirty="0"/>
              <a:t> Operators</a:t>
            </a:r>
          </a:p>
        </p:txBody>
      </p:sp>
      <p:sp>
        <p:nvSpPr>
          <p:cNvPr id="3" name="Content Placeholder 2"/>
          <p:cNvSpPr>
            <a:spLocks noGrp="1"/>
          </p:cNvSpPr>
          <p:nvPr>
            <p:ph sz="quarter" idx="1"/>
          </p:nvPr>
        </p:nvSpPr>
        <p:spPr>
          <a:xfrm>
            <a:off x="914400" y="1219200"/>
            <a:ext cx="7772400" cy="4572000"/>
          </a:xfrm>
        </p:spPr>
        <p:txBody>
          <a:bodyPr/>
          <a:lstStyle/>
          <a:p>
            <a:r>
              <a:rPr lang="en-US" dirty="0"/>
              <a:t>variable x = (expression) ? value if true : value if </a:t>
            </a:r>
            <a:r>
              <a:rPr lang="en-US" dirty="0" smtClean="0"/>
              <a:t>false</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9200" y="2590800"/>
            <a:ext cx="7369980" cy="3352800"/>
          </a:xfrm>
          <a:prstGeom prst="rect">
            <a:avLst/>
          </a:prstGeom>
        </p:spPr>
      </p:pic>
    </p:spTree>
    <p:extLst>
      <p:ext uri="{BB962C8B-B14F-4D97-AF65-F5344CB8AC3E}">
        <p14:creationId xmlns:p14="http://schemas.microsoft.com/office/powerpoint/2010/main" val="2034575929"/>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Misc</a:t>
            </a:r>
            <a:r>
              <a:rPr lang="en-US" dirty="0"/>
              <a:t> Operators</a:t>
            </a:r>
          </a:p>
        </p:txBody>
      </p:sp>
      <p:sp>
        <p:nvSpPr>
          <p:cNvPr id="3" name="Content Placeholder 2"/>
          <p:cNvSpPr>
            <a:spLocks noGrp="1"/>
          </p:cNvSpPr>
          <p:nvPr>
            <p:ph sz="quarter" idx="1"/>
          </p:nvPr>
        </p:nvSpPr>
        <p:spPr>
          <a:xfrm>
            <a:off x="914400" y="1143000"/>
            <a:ext cx="7772400" cy="4572000"/>
          </a:xfrm>
        </p:spPr>
        <p:txBody>
          <a:bodyPr/>
          <a:lstStyle/>
          <a:p>
            <a:r>
              <a:rPr lang="en-US" b="1" dirty="0" err="1"/>
              <a:t>instanceOf</a:t>
            </a:r>
            <a:r>
              <a:rPr lang="en-US" b="1" dirty="0"/>
              <a:t> </a:t>
            </a:r>
            <a:r>
              <a:rPr lang="en-US" b="1" dirty="0" smtClean="0"/>
              <a:t>Operator :</a:t>
            </a:r>
          </a:p>
          <a:p>
            <a:pPr lvl="1">
              <a:lnSpc>
                <a:spcPct val="150000"/>
              </a:lnSpc>
            </a:pPr>
            <a:r>
              <a:rPr lang="en-US" dirty="0"/>
              <a:t>This operator is used only for object reference variables. The operator checks whether the object is of a </a:t>
            </a:r>
            <a:r>
              <a:rPr lang="en-US" dirty="0" smtClean="0"/>
              <a:t>particular type(class </a:t>
            </a:r>
            <a:r>
              <a:rPr lang="en-US" dirty="0"/>
              <a:t>type or interface type). </a:t>
            </a:r>
            <a:r>
              <a:rPr lang="en-US" dirty="0" err="1"/>
              <a:t>instanceOf</a:t>
            </a:r>
            <a:r>
              <a:rPr lang="en-US" dirty="0"/>
              <a:t> operator is </a:t>
            </a:r>
            <a:r>
              <a:rPr lang="en-US" dirty="0" err="1"/>
              <a:t>wriiten</a:t>
            </a:r>
            <a:r>
              <a:rPr lang="en-US" dirty="0"/>
              <a:t> as</a:t>
            </a:r>
            <a:r>
              <a:rPr lang="en-US" dirty="0" smtClean="0"/>
              <a:t>:</a:t>
            </a:r>
          </a:p>
          <a:p>
            <a:pPr lvl="1">
              <a:lnSpc>
                <a:spcPct val="150000"/>
              </a:lnSpc>
            </a:pPr>
            <a:r>
              <a:rPr lang="en-US" dirty="0"/>
              <a:t>( Object reference variable ) </a:t>
            </a:r>
            <a:r>
              <a:rPr lang="en-US" dirty="0" err="1"/>
              <a:t>instanceOf</a:t>
            </a:r>
            <a:r>
              <a:rPr lang="en-US" dirty="0"/>
              <a:t> (class/interface type)</a:t>
            </a:r>
            <a:endParaRPr lang="en-US" b="1" dirty="0"/>
          </a:p>
        </p:txBody>
      </p:sp>
    </p:spTree>
    <p:extLst>
      <p:ext uri="{BB962C8B-B14F-4D97-AF65-F5344CB8AC3E}">
        <p14:creationId xmlns:p14="http://schemas.microsoft.com/office/powerpoint/2010/main" val="1439837242"/>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Misc</a:t>
            </a:r>
            <a:r>
              <a:rPr lang="en-US" dirty="0"/>
              <a:t> Operators</a:t>
            </a:r>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066800" y="2133600"/>
            <a:ext cx="6928044" cy="2686050"/>
          </a:xfrm>
        </p:spPr>
      </p:pic>
    </p:spTree>
    <p:extLst>
      <p:ext uri="{BB962C8B-B14F-4D97-AF65-F5344CB8AC3E}">
        <p14:creationId xmlns:p14="http://schemas.microsoft.com/office/powerpoint/2010/main" val="1888789561"/>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 ARRAYS</a:t>
            </a:r>
            <a:endParaRPr lang="en-US" dirty="0"/>
          </a:p>
        </p:txBody>
      </p:sp>
      <p:sp>
        <p:nvSpPr>
          <p:cNvPr id="3" name="Content Placeholder 2"/>
          <p:cNvSpPr>
            <a:spLocks noGrp="1"/>
          </p:cNvSpPr>
          <p:nvPr>
            <p:ph sz="quarter" idx="1"/>
          </p:nvPr>
        </p:nvSpPr>
        <p:spPr>
          <a:xfrm>
            <a:off x="914400" y="1219200"/>
            <a:ext cx="7772400" cy="4572000"/>
          </a:xfrm>
        </p:spPr>
        <p:txBody>
          <a:bodyPr/>
          <a:lstStyle/>
          <a:p>
            <a:pPr>
              <a:lnSpc>
                <a:spcPct val="150000"/>
              </a:lnSpc>
            </a:pPr>
            <a:r>
              <a:rPr lang="en-US" dirty="0"/>
              <a:t>Java provides a data structure, the array, which stores a fixed-size sequential collection of elements of the same type.</a:t>
            </a:r>
          </a:p>
          <a:p>
            <a:pPr>
              <a:lnSpc>
                <a:spcPct val="150000"/>
              </a:lnSpc>
            </a:pPr>
            <a:r>
              <a:rPr lang="en-US" dirty="0"/>
              <a:t>An array is used to store a collection of data, but it is often more useful to think of an array as a collection of </a:t>
            </a:r>
            <a:r>
              <a:rPr lang="en-US" dirty="0" smtClean="0"/>
              <a:t>variables of </a:t>
            </a:r>
            <a:r>
              <a:rPr lang="en-US" dirty="0"/>
              <a:t>the same type.</a:t>
            </a:r>
            <a:endParaRPr lang="en-US" dirty="0"/>
          </a:p>
        </p:txBody>
      </p:sp>
    </p:spTree>
    <p:extLst>
      <p:ext uri="{BB962C8B-B14F-4D97-AF65-F5344CB8AC3E}">
        <p14:creationId xmlns:p14="http://schemas.microsoft.com/office/powerpoint/2010/main" val="207058859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 ARRAYS</a:t>
            </a:r>
          </a:p>
        </p:txBody>
      </p:sp>
      <p:sp>
        <p:nvSpPr>
          <p:cNvPr id="3" name="Content Placeholder 2"/>
          <p:cNvSpPr>
            <a:spLocks noGrp="1"/>
          </p:cNvSpPr>
          <p:nvPr>
            <p:ph sz="quarter" idx="1"/>
          </p:nvPr>
        </p:nvSpPr>
        <p:spPr>
          <a:xfrm>
            <a:off x="914400" y="1066800"/>
            <a:ext cx="7772400" cy="5257800"/>
          </a:xfrm>
        </p:spPr>
        <p:txBody>
          <a:bodyPr>
            <a:normAutofit/>
          </a:bodyPr>
          <a:lstStyle/>
          <a:p>
            <a:r>
              <a:rPr lang="en-US" b="1" dirty="0"/>
              <a:t>Declaring Array Variables</a:t>
            </a:r>
            <a:r>
              <a:rPr lang="en-US" b="1" dirty="0" smtClean="0"/>
              <a:t>:</a:t>
            </a:r>
          </a:p>
          <a:p>
            <a:pPr lvl="1">
              <a:lnSpc>
                <a:spcPct val="150000"/>
              </a:lnSpc>
            </a:pPr>
            <a:r>
              <a:rPr lang="en-US" dirty="0"/>
              <a:t>To use an array in a program, you must declare a variable to reference the array, and you must specify the type of array</a:t>
            </a:r>
          </a:p>
          <a:p>
            <a:pPr lvl="1">
              <a:lnSpc>
                <a:spcPct val="150000"/>
              </a:lnSpc>
            </a:pPr>
            <a:r>
              <a:rPr lang="en-US" dirty="0"/>
              <a:t>T</a:t>
            </a:r>
            <a:r>
              <a:rPr lang="en-US" dirty="0" smtClean="0"/>
              <a:t>he </a:t>
            </a:r>
            <a:r>
              <a:rPr lang="en-US" dirty="0"/>
              <a:t>variable can reference. Here is the syntax for declaring an array variable</a:t>
            </a:r>
            <a:r>
              <a:rPr lang="en-US" dirty="0" smtClean="0"/>
              <a:t>:</a:t>
            </a:r>
          </a:p>
          <a:p>
            <a:pPr marL="320040" lvl="1" indent="0">
              <a:lnSpc>
                <a:spcPct val="150000"/>
              </a:lnSpc>
              <a:buNone/>
            </a:pPr>
            <a:r>
              <a:rPr lang="en-US" dirty="0" smtClean="0"/>
              <a:t>   dataType</a:t>
            </a:r>
            <a:r>
              <a:rPr lang="en-US" dirty="0"/>
              <a:t>[] arrayRefVar; // preferred way</a:t>
            </a:r>
            <a:r>
              <a:rPr lang="en-US" dirty="0" smtClean="0"/>
              <a:t>.</a:t>
            </a:r>
          </a:p>
          <a:p>
            <a:pPr marL="320040" lvl="1" indent="0">
              <a:buNone/>
            </a:pPr>
            <a:r>
              <a:rPr lang="en-US" dirty="0" smtClean="0"/>
              <a:t>   or</a:t>
            </a:r>
            <a:endParaRPr lang="en-US" dirty="0"/>
          </a:p>
          <a:p>
            <a:pPr marL="320040" lvl="1" indent="0">
              <a:buNone/>
            </a:pPr>
            <a:r>
              <a:rPr lang="en-US" dirty="0" smtClean="0"/>
              <a:t>   dataType </a:t>
            </a:r>
            <a:r>
              <a:rPr lang="en-US" dirty="0"/>
              <a:t>arrayRefVar[]; // works but not preferred way.</a:t>
            </a:r>
            <a:endParaRPr lang="en-US" dirty="0"/>
          </a:p>
        </p:txBody>
      </p:sp>
    </p:spTree>
    <p:extLst>
      <p:ext uri="{BB962C8B-B14F-4D97-AF65-F5344CB8AC3E}">
        <p14:creationId xmlns:p14="http://schemas.microsoft.com/office/powerpoint/2010/main" val="215328649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 ARRAYS</a:t>
            </a:r>
          </a:p>
        </p:txBody>
      </p:sp>
      <p:sp>
        <p:nvSpPr>
          <p:cNvPr id="3" name="Content Placeholder 2"/>
          <p:cNvSpPr>
            <a:spLocks noGrp="1"/>
          </p:cNvSpPr>
          <p:nvPr>
            <p:ph sz="quarter" idx="1"/>
          </p:nvPr>
        </p:nvSpPr>
        <p:spPr/>
        <p:txBody>
          <a:bodyPr>
            <a:normAutofit lnSpcReduction="10000"/>
          </a:bodyPr>
          <a:lstStyle/>
          <a:p>
            <a:r>
              <a:rPr lang="en-US" b="1" dirty="0"/>
              <a:t>Creating Arrays</a:t>
            </a:r>
            <a:r>
              <a:rPr lang="en-US" b="1" dirty="0" smtClean="0"/>
              <a:t>:</a:t>
            </a:r>
          </a:p>
          <a:p>
            <a:pPr lvl="1">
              <a:lnSpc>
                <a:spcPct val="150000"/>
              </a:lnSpc>
            </a:pPr>
            <a:r>
              <a:rPr lang="en-US" dirty="0"/>
              <a:t>You can create an array by using the new operator with the following </a:t>
            </a:r>
            <a:r>
              <a:rPr lang="en-US" dirty="0" smtClean="0"/>
              <a:t>syntax:</a:t>
            </a:r>
          </a:p>
          <a:p>
            <a:pPr lvl="1">
              <a:lnSpc>
                <a:spcPct val="150000"/>
              </a:lnSpc>
            </a:pPr>
            <a:r>
              <a:rPr lang="en-US" b="1" dirty="0"/>
              <a:t>arrayRefVar = new dataType[</a:t>
            </a:r>
            <a:r>
              <a:rPr lang="en-US" b="1" dirty="0" err="1"/>
              <a:t>arraySize</a:t>
            </a:r>
            <a:r>
              <a:rPr lang="en-US" b="1" dirty="0" smtClean="0"/>
              <a:t>];</a:t>
            </a:r>
          </a:p>
          <a:p>
            <a:pPr lvl="1">
              <a:lnSpc>
                <a:spcPct val="150000"/>
              </a:lnSpc>
            </a:pPr>
            <a:r>
              <a:rPr lang="en-US" dirty="0" smtClean="0"/>
              <a:t>The </a:t>
            </a:r>
            <a:r>
              <a:rPr lang="en-US" dirty="0"/>
              <a:t>above statement does two things</a:t>
            </a:r>
            <a:r>
              <a:rPr lang="en-US" dirty="0" smtClean="0"/>
              <a:t>:</a:t>
            </a:r>
          </a:p>
          <a:p>
            <a:pPr lvl="1">
              <a:lnSpc>
                <a:spcPct val="150000"/>
              </a:lnSpc>
            </a:pPr>
            <a:r>
              <a:rPr lang="en-US" dirty="0"/>
              <a:t>It creates an array using new dataType[</a:t>
            </a:r>
            <a:r>
              <a:rPr lang="en-US" dirty="0" err="1"/>
              <a:t>arraySize</a:t>
            </a:r>
            <a:r>
              <a:rPr lang="en-US" dirty="0"/>
              <a:t>];</a:t>
            </a:r>
          </a:p>
          <a:p>
            <a:pPr lvl="1">
              <a:lnSpc>
                <a:spcPct val="150000"/>
              </a:lnSpc>
            </a:pPr>
            <a:r>
              <a:rPr lang="en-US" dirty="0"/>
              <a:t>It assigns the reference of the newly created array to the variable arrayRefVar.</a:t>
            </a:r>
            <a:endParaRPr lang="en-US" b="1" dirty="0"/>
          </a:p>
        </p:txBody>
      </p:sp>
    </p:spTree>
    <p:extLst>
      <p:ext uri="{BB962C8B-B14F-4D97-AF65-F5344CB8AC3E}">
        <p14:creationId xmlns:p14="http://schemas.microsoft.com/office/powerpoint/2010/main" val="354719665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 ARRAYS</a:t>
            </a:r>
          </a:p>
        </p:txBody>
      </p:sp>
      <p:sp>
        <p:nvSpPr>
          <p:cNvPr id="3" name="Content Placeholder 2"/>
          <p:cNvSpPr>
            <a:spLocks noGrp="1"/>
          </p:cNvSpPr>
          <p:nvPr>
            <p:ph sz="quarter" idx="1"/>
          </p:nvPr>
        </p:nvSpPr>
        <p:spPr>
          <a:xfrm>
            <a:off x="914400" y="1143000"/>
            <a:ext cx="7772400" cy="4572000"/>
          </a:xfrm>
        </p:spPr>
        <p:txBody>
          <a:bodyPr/>
          <a:lstStyle/>
          <a:p>
            <a:pPr>
              <a:lnSpc>
                <a:spcPct val="150000"/>
              </a:lnSpc>
            </a:pPr>
            <a:r>
              <a:rPr lang="en-US" dirty="0"/>
              <a:t>Declaring an array variable, creating an array, and assigning the reference of the array to the variable can be </a:t>
            </a:r>
            <a:r>
              <a:rPr lang="en-US" dirty="0" smtClean="0"/>
              <a:t>combined in </a:t>
            </a:r>
            <a:r>
              <a:rPr lang="en-US" dirty="0"/>
              <a:t>one statement, as shown below</a:t>
            </a:r>
            <a:r>
              <a:rPr lang="en-US" dirty="0" smtClean="0"/>
              <a:t>:</a:t>
            </a:r>
          </a:p>
          <a:p>
            <a:pPr>
              <a:lnSpc>
                <a:spcPct val="150000"/>
              </a:lnSpc>
            </a:pPr>
            <a:r>
              <a:rPr lang="en-US" dirty="0"/>
              <a:t>dataType[] </a:t>
            </a:r>
            <a:r>
              <a:rPr lang="en-US" dirty="0" smtClean="0"/>
              <a:t>arrayRefVar </a:t>
            </a:r>
            <a:r>
              <a:rPr lang="en-US" dirty="0"/>
              <a:t>= new dataType[</a:t>
            </a:r>
            <a:r>
              <a:rPr lang="en-US" dirty="0" err="1"/>
              <a:t>arraySize</a:t>
            </a:r>
            <a:r>
              <a:rPr lang="en-US" dirty="0" smtClean="0"/>
              <a:t>];</a:t>
            </a:r>
          </a:p>
          <a:p>
            <a:pPr>
              <a:lnSpc>
                <a:spcPct val="150000"/>
              </a:lnSpc>
            </a:pPr>
            <a:r>
              <a:rPr lang="en-US" dirty="0" smtClean="0"/>
              <a:t>Ex : double</a:t>
            </a:r>
            <a:r>
              <a:rPr lang="en-US" dirty="0"/>
              <a:t>[] </a:t>
            </a:r>
            <a:r>
              <a:rPr lang="en-US" dirty="0" err="1"/>
              <a:t>myList</a:t>
            </a:r>
            <a:r>
              <a:rPr lang="en-US" dirty="0"/>
              <a:t> = new double[10];</a:t>
            </a:r>
            <a:endParaRPr lang="en-US" dirty="0"/>
          </a:p>
        </p:txBody>
      </p:sp>
    </p:spTree>
    <p:extLst>
      <p:ext uri="{BB962C8B-B14F-4D97-AF65-F5344CB8AC3E}">
        <p14:creationId xmlns:p14="http://schemas.microsoft.com/office/powerpoint/2010/main" val="357023837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 ARRAYS</a:t>
            </a:r>
          </a:p>
        </p:txBody>
      </p:sp>
      <p:sp>
        <p:nvSpPr>
          <p:cNvPr id="3" name="Content Placeholder 2"/>
          <p:cNvSpPr>
            <a:spLocks noGrp="1"/>
          </p:cNvSpPr>
          <p:nvPr>
            <p:ph sz="quarter" idx="1"/>
          </p:nvPr>
        </p:nvSpPr>
        <p:spPr/>
        <p:txBody>
          <a:bodyPr>
            <a:normAutofit/>
          </a:bodyPr>
          <a:lstStyle/>
          <a:p>
            <a:r>
              <a:rPr lang="en-US" b="1" dirty="0" smtClean="0"/>
              <a:t>Processing </a:t>
            </a:r>
            <a:r>
              <a:rPr lang="en-US" b="1" dirty="0"/>
              <a:t>Arrays</a:t>
            </a:r>
            <a:r>
              <a:rPr lang="en-US" b="1" dirty="0" smtClean="0"/>
              <a:t>:</a:t>
            </a:r>
          </a:p>
          <a:p>
            <a:r>
              <a:rPr lang="en-US" sz="2800" dirty="0"/>
              <a:t>When processing array elements, we often use either for loop or </a:t>
            </a:r>
            <a:r>
              <a:rPr lang="en-US" sz="2800" dirty="0" err="1"/>
              <a:t>foreach</a:t>
            </a:r>
            <a:r>
              <a:rPr lang="en-US" sz="2800" dirty="0"/>
              <a:t> loop because all of the elements in an array </a:t>
            </a:r>
            <a:r>
              <a:rPr lang="en-US" sz="2800" dirty="0" smtClean="0"/>
              <a:t>are of </a:t>
            </a:r>
            <a:r>
              <a:rPr lang="en-US" sz="2800" dirty="0"/>
              <a:t>the same type and the size of the array </a:t>
            </a:r>
            <a:r>
              <a:rPr lang="en-US" sz="2800" dirty="0" smtClean="0"/>
              <a:t>is </a:t>
            </a:r>
            <a:r>
              <a:rPr lang="en-US" sz="2800" dirty="0"/>
              <a:t>known</a:t>
            </a:r>
            <a:r>
              <a:rPr lang="en-US" sz="2800" dirty="0" smtClean="0"/>
              <a:t>.</a:t>
            </a:r>
          </a:p>
          <a:p>
            <a:r>
              <a:rPr lang="en-US" dirty="0"/>
              <a:t>Example</a:t>
            </a:r>
            <a:r>
              <a:rPr lang="en-US" dirty="0" smtClean="0"/>
              <a:t>:</a:t>
            </a:r>
          </a:p>
        </p:txBody>
      </p:sp>
    </p:spTree>
    <p:extLst>
      <p:ext uri="{BB962C8B-B14F-4D97-AF65-F5344CB8AC3E}">
        <p14:creationId xmlns:p14="http://schemas.microsoft.com/office/powerpoint/2010/main" val="1683782674"/>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 ARRAYS</a:t>
            </a:r>
          </a:p>
        </p:txBody>
      </p:sp>
      <p:pic>
        <p:nvPicPr>
          <p:cNvPr id="4" name="Content Placeholder 3"/>
          <p:cNvPicPr>
            <a:picLocks noGrp="1" noChangeAspect="1"/>
          </p:cNvPicPr>
          <p:nvPr>
            <p:ph sz="quarter" idx="1"/>
          </p:nvPr>
        </p:nvPicPr>
        <p:blipFill>
          <a:blip r:embed="rId2">
            <a:extLst>
              <a:ext uri="{28A0092B-C50C-407E-A947-70E740481C1C}">
                <a14:useLocalDpi xmlns:a14="http://schemas.microsoft.com/office/drawing/2010/main" val="0"/>
              </a:ext>
            </a:extLst>
          </a:blip>
          <a:stretch>
            <a:fillRect/>
          </a:stretch>
        </p:blipFill>
        <p:spPr>
          <a:xfrm>
            <a:off x="1600200" y="914400"/>
            <a:ext cx="6172200" cy="5643562"/>
          </a:xfrm>
        </p:spPr>
      </p:pic>
    </p:spTree>
    <p:extLst>
      <p:ext uri="{BB962C8B-B14F-4D97-AF65-F5344CB8AC3E}">
        <p14:creationId xmlns:p14="http://schemas.microsoft.com/office/powerpoint/2010/main" val="9885328"/>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 ARRAYS</a:t>
            </a:r>
          </a:p>
        </p:txBody>
      </p:sp>
      <p:sp>
        <p:nvSpPr>
          <p:cNvPr id="3" name="Content Placeholder 2"/>
          <p:cNvSpPr>
            <a:spLocks noGrp="1"/>
          </p:cNvSpPr>
          <p:nvPr>
            <p:ph sz="quarter" idx="1"/>
          </p:nvPr>
        </p:nvSpPr>
        <p:spPr/>
        <p:txBody>
          <a:bodyPr/>
          <a:lstStyle/>
          <a:p>
            <a:r>
              <a:rPr lang="en-US" b="1" dirty="0" smtClean="0"/>
              <a:t>The </a:t>
            </a:r>
            <a:r>
              <a:rPr lang="en-US" b="1" dirty="0" err="1"/>
              <a:t>foreach</a:t>
            </a:r>
            <a:r>
              <a:rPr lang="en-US" b="1" dirty="0"/>
              <a:t> Loops</a:t>
            </a:r>
            <a:r>
              <a:rPr lang="en-US" b="1" dirty="0" smtClean="0"/>
              <a:t>:</a:t>
            </a:r>
          </a:p>
          <a:p>
            <a:pPr lvl="1"/>
            <a:r>
              <a:rPr lang="en-US" dirty="0"/>
              <a:t>JDK 1.5 introduced a new for loop, known as </a:t>
            </a:r>
            <a:r>
              <a:rPr lang="en-US" dirty="0" err="1"/>
              <a:t>foreach</a:t>
            </a:r>
            <a:r>
              <a:rPr lang="en-US" dirty="0"/>
              <a:t> loop or enhanced for loop, which enables you to traverse the</a:t>
            </a:r>
          </a:p>
          <a:p>
            <a:pPr lvl="1"/>
            <a:r>
              <a:rPr lang="en-US" dirty="0"/>
              <a:t>complete array sequentially without using an index variable</a:t>
            </a:r>
            <a:r>
              <a:rPr lang="en-US" dirty="0" smtClean="0"/>
              <a:t>.</a:t>
            </a:r>
          </a:p>
          <a:p>
            <a:pPr lvl="1"/>
            <a:r>
              <a:rPr lang="en-US" dirty="0"/>
              <a:t>Example</a:t>
            </a:r>
            <a:r>
              <a:rPr lang="en-US" dirty="0" smtClean="0"/>
              <a:t>:</a:t>
            </a:r>
          </a:p>
          <a:p>
            <a:pPr lvl="2"/>
            <a:r>
              <a:rPr lang="en-US" dirty="0"/>
              <a:t>The following code displays all the elements in the array </a:t>
            </a:r>
            <a:r>
              <a:rPr lang="en-US" dirty="0" err="1"/>
              <a:t>myList</a:t>
            </a:r>
            <a:r>
              <a:rPr lang="en-US" dirty="0"/>
              <a:t>:</a:t>
            </a:r>
            <a:endParaRPr lang="en-US" b="1" dirty="0"/>
          </a:p>
        </p:txBody>
      </p:sp>
    </p:spTree>
    <p:extLst>
      <p:ext uri="{BB962C8B-B14F-4D97-AF65-F5344CB8AC3E}">
        <p14:creationId xmlns:p14="http://schemas.microsoft.com/office/powerpoint/2010/main" val="3172399700"/>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 ARRAYS</a:t>
            </a:r>
          </a:p>
        </p:txBody>
      </p:sp>
      <p:sp>
        <p:nvSpPr>
          <p:cNvPr id="3" name="Content Placeholder 2"/>
          <p:cNvSpPr>
            <a:spLocks noGrp="1"/>
          </p:cNvSpPr>
          <p:nvPr>
            <p:ph sz="quarter" idx="1"/>
          </p:nvPr>
        </p:nvSpPr>
        <p:spPr/>
        <p:txBody>
          <a:bodyPr>
            <a:normAutofit fontScale="77500" lnSpcReduction="20000"/>
          </a:bodyPr>
          <a:lstStyle/>
          <a:p>
            <a:pPr marL="0" indent="0">
              <a:buNone/>
            </a:pPr>
            <a:r>
              <a:rPr lang="en-US" dirty="0"/>
              <a:t>public class </a:t>
            </a:r>
            <a:r>
              <a:rPr lang="en-US" dirty="0" err="1"/>
              <a:t>TestArray</a:t>
            </a:r>
            <a:r>
              <a:rPr lang="en-US" dirty="0"/>
              <a:t> {</a:t>
            </a:r>
          </a:p>
          <a:p>
            <a:pPr marL="0" indent="0">
              <a:buNone/>
            </a:pPr>
            <a:r>
              <a:rPr lang="en-US" dirty="0"/>
              <a:t>    public static void main(String[] </a:t>
            </a:r>
            <a:r>
              <a:rPr lang="en-US" dirty="0" err="1"/>
              <a:t>args</a:t>
            </a:r>
            <a:r>
              <a:rPr lang="en-US" dirty="0"/>
              <a:t>) {</a:t>
            </a:r>
          </a:p>
          <a:p>
            <a:pPr marL="0" indent="0">
              <a:buNone/>
            </a:pPr>
            <a:r>
              <a:rPr lang="en-US" dirty="0"/>
              <a:t>        double[] </a:t>
            </a:r>
            <a:r>
              <a:rPr lang="en-US" dirty="0" err="1"/>
              <a:t>myList</a:t>
            </a:r>
            <a:r>
              <a:rPr lang="en-US" dirty="0"/>
              <a:t> = {</a:t>
            </a:r>
          </a:p>
          <a:p>
            <a:pPr marL="0" indent="0">
              <a:buNone/>
            </a:pPr>
            <a:r>
              <a:rPr lang="en-US" dirty="0"/>
              <a:t>            1.9,</a:t>
            </a:r>
          </a:p>
          <a:p>
            <a:pPr marL="0" indent="0">
              <a:buNone/>
            </a:pPr>
            <a:r>
              <a:rPr lang="en-US" dirty="0"/>
              <a:t>            2.9,</a:t>
            </a:r>
          </a:p>
          <a:p>
            <a:pPr marL="0" indent="0">
              <a:buNone/>
            </a:pPr>
            <a:r>
              <a:rPr lang="en-US" dirty="0"/>
              <a:t>            3.4,</a:t>
            </a:r>
          </a:p>
          <a:p>
            <a:pPr marL="0" indent="0">
              <a:buNone/>
            </a:pPr>
            <a:r>
              <a:rPr lang="en-US" dirty="0"/>
              <a:t>            3.5</a:t>
            </a:r>
          </a:p>
          <a:p>
            <a:pPr marL="0" indent="0">
              <a:buNone/>
            </a:pPr>
            <a:r>
              <a:rPr lang="en-US" dirty="0"/>
              <a:t>        };</a:t>
            </a:r>
          </a:p>
          <a:p>
            <a:pPr marL="0" indent="0">
              <a:buNone/>
            </a:pPr>
            <a:r>
              <a:rPr lang="en-US" dirty="0"/>
              <a:t>        // Print all the array elements</a:t>
            </a:r>
          </a:p>
          <a:p>
            <a:pPr marL="0" indent="0">
              <a:buNone/>
            </a:pPr>
            <a:r>
              <a:rPr lang="en-US" dirty="0"/>
              <a:t>        for (double element: </a:t>
            </a:r>
            <a:r>
              <a:rPr lang="en-US" dirty="0" err="1"/>
              <a:t>myList</a:t>
            </a:r>
            <a:r>
              <a:rPr lang="en-US" dirty="0"/>
              <a:t>) {</a:t>
            </a:r>
          </a:p>
          <a:p>
            <a:pPr marL="0" indent="0">
              <a:buNone/>
            </a:pPr>
            <a:r>
              <a:rPr lang="en-US" dirty="0"/>
              <a:t>            </a:t>
            </a:r>
            <a:r>
              <a:rPr lang="en-US" dirty="0" err="1"/>
              <a:t>System.out.println</a:t>
            </a:r>
            <a:r>
              <a:rPr lang="en-US" dirty="0"/>
              <a:t>(element);</a:t>
            </a:r>
          </a:p>
          <a:p>
            <a:pPr marL="0" indent="0">
              <a:buNone/>
            </a:pPr>
            <a:r>
              <a:rPr lang="en-US" dirty="0"/>
              <a:t>        }</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2400334049"/>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 ARRAYS</a:t>
            </a:r>
          </a:p>
        </p:txBody>
      </p:sp>
      <p:sp>
        <p:nvSpPr>
          <p:cNvPr id="3" name="Content Placeholder 2"/>
          <p:cNvSpPr>
            <a:spLocks noGrp="1"/>
          </p:cNvSpPr>
          <p:nvPr>
            <p:ph sz="quarter" idx="1"/>
          </p:nvPr>
        </p:nvSpPr>
        <p:spPr/>
        <p:txBody>
          <a:bodyPr/>
          <a:lstStyle/>
          <a:p>
            <a:r>
              <a:rPr lang="en-US" b="1" dirty="0"/>
              <a:t>Passing </a:t>
            </a:r>
            <a:r>
              <a:rPr lang="en-US" b="1" dirty="0" smtClean="0"/>
              <a:t>Arrays </a:t>
            </a:r>
            <a:r>
              <a:rPr lang="en-US" b="1" dirty="0"/>
              <a:t>to Methods</a:t>
            </a:r>
            <a:r>
              <a:rPr lang="en-US" b="1" dirty="0" smtClean="0"/>
              <a:t>:</a:t>
            </a:r>
          </a:p>
          <a:p>
            <a:pPr lvl="1"/>
            <a:r>
              <a:rPr lang="en-US" dirty="0"/>
              <a:t>Just as you can pass primitive type values to methods, you can also pass arrays to methods. For example, the </a:t>
            </a:r>
            <a:r>
              <a:rPr lang="en-US" dirty="0" smtClean="0"/>
              <a:t>following method </a:t>
            </a:r>
            <a:r>
              <a:rPr lang="en-US" dirty="0"/>
              <a:t>displays the elements in an </a:t>
            </a:r>
            <a:r>
              <a:rPr lang="en-US" dirty="0" err="1"/>
              <a:t>int</a:t>
            </a:r>
            <a:r>
              <a:rPr lang="en-US" dirty="0"/>
              <a:t> array</a:t>
            </a:r>
            <a:r>
              <a:rPr lang="en-US" dirty="0" smtClean="0"/>
              <a:t>:</a:t>
            </a:r>
          </a:p>
          <a:p>
            <a:pPr lvl="1"/>
            <a:endParaRPr lang="en-US" dirty="0" smtClean="0"/>
          </a:p>
          <a:p>
            <a:pPr marL="320040" lvl="1" indent="0">
              <a:buNone/>
            </a:pPr>
            <a:r>
              <a:rPr lang="en-US" dirty="0"/>
              <a:t>public static void </a:t>
            </a:r>
            <a:r>
              <a:rPr lang="en-US" dirty="0" err="1"/>
              <a:t>printArray</a:t>
            </a:r>
            <a:r>
              <a:rPr lang="en-US" dirty="0"/>
              <a:t>(</a:t>
            </a:r>
            <a:r>
              <a:rPr lang="en-US" dirty="0" err="1"/>
              <a:t>int</a:t>
            </a:r>
            <a:r>
              <a:rPr lang="en-US" dirty="0"/>
              <a:t>[] array) {</a:t>
            </a:r>
          </a:p>
          <a:p>
            <a:pPr marL="320040" lvl="1" indent="0">
              <a:buNone/>
            </a:pPr>
            <a:r>
              <a:rPr lang="en-US" dirty="0"/>
              <a:t>for (</a:t>
            </a:r>
            <a:r>
              <a:rPr lang="en-US" dirty="0" err="1"/>
              <a:t>int</a:t>
            </a:r>
            <a:r>
              <a:rPr lang="en-US" dirty="0"/>
              <a:t> </a:t>
            </a:r>
            <a:r>
              <a:rPr lang="en-US" dirty="0" err="1"/>
              <a:t>i</a:t>
            </a:r>
            <a:r>
              <a:rPr lang="en-US" dirty="0"/>
              <a:t> = 0; </a:t>
            </a:r>
            <a:r>
              <a:rPr lang="en-US" dirty="0" err="1"/>
              <a:t>i</a:t>
            </a:r>
            <a:r>
              <a:rPr lang="en-US" dirty="0"/>
              <a:t> &lt; </a:t>
            </a:r>
            <a:r>
              <a:rPr lang="en-US" dirty="0" err="1"/>
              <a:t>array.length</a:t>
            </a:r>
            <a:r>
              <a:rPr lang="en-US" dirty="0"/>
              <a:t>; </a:t>
            </a:r>
            <a:r>
              <a:rPr lang="en-US" dirty="0" err="1"/>
              <a:t>i</a:t>
            </a:r>
            <a:r>
              <a:rPr lang="en-US" dirty="0"/>
              <a:t>++) {</a:t>
            </a:r>
          </a:p>
          <a:p>
            <a:pPr marL="320040" lvl="1" indent="0">
              <a:buNone/>
            </a:pPr>
            <a:r>
              <a:rPr lang="en-US" dirty="0" err="1"/>
              <a:t>System.out.print</a:t>
            </a:r>
            <a:r>
              <a:rPr lang="en-US" dirty="0"/>
              <a:t>(array[</a:t>
            </a:r>
            <a:r>
              <a:rPr lang="en-US" dirty="0" err="1"/>
              <a:t>i</a:t>
            </a:r>
            <a:r>
              <a:rPr lang="en-US" dirty="0"/>
              <a:t>] + " ");</a:t>
            </a:r>
          </a:p>
          <a:p>
            <a:pPr marL="320040" lvl="1" indent="0">
              <a:buNone/>
            </a:pPr>
            <a:r>
              <a:rPr lang="en-US" dirty="0"/>
              <a:t>}</a:t>
            </a:r>
          </a:p>
          <a:p>
            <a:pPr marL="320040" lvl="1" indent="0">
              <a:buNone/>
            </a:pPr>
            <a:r>
              <a:rPr lang="en-US" dirty="0"/>
              <a:t>}</a:t>
            </a:r>
          </a:p>
        </p:txBody>
      </p:sp>
    </p:spTree>
    <p:extLst>
      <p:ext uri="{BB962C8B-B14F-4D97-AF65-F5344CB8AC3E}">
        <p14:creationId xmlns:p14="http://schemas.microsoft.com/office/powerpoint/2010/main" val="2952377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 - ARRAYS</a:t>
            </a:r>
          </a:p>
        </p:txBody>
      </p:sp>
      <p:sp>
        <p:nvSpPr>
          <p:cNvPr id="3" name="Content Placeholder 2"/>
          <p:cNvSpPr>
            <a:spLocks noGrp="1"/>
          </p:cNvSpPr>
          <p:nvPr>
            <p:ph sz="quarter" idx="1"/>
          </p:nvPr>
        </p:nvSpPr>
        <p:spPr/>
        <p:txBody>
          <a:bodyPr/>
          <a:lstStyle/>
          <a:p>
            <a:r>
              <a:rPr lang="en-US" dirty="0"/>
              <a:t>You can invoke it by passing an array. For example, the following statement invokes the </a:t>
            </a:r>
            <a:r>
              <a:rPr lang="en-US" dirty="0" err="1"/>
              <a:t>printArray</a:t>
            </a:r>
            <a:r>
              <a:rPr lang="en-US" dirty="0"/>
              <a:t> method to </a:t>
            </a:r>
            <a:r>
              <a:rPr lang="en-US" dirty="0" smtClean="0"/>
              <a:t>display 3</a:t>
            </a:r>
            <a:r>
              <a:rPr lang="en-US" dirty="0"/>
              <a:t>, 1, 2, 6, 4, and 2</a:t>
            </a:r>
            <a:r>
              <a:rPr lang="en-US" dirty="0" smtClean="0"/>
              <a:t>:</a:t>
            </a:r>
          </a:p>
          <a:p>
            <a:r>
              <a:rPr lang="en-US" b="1" dirty="0" err="1"/>
              <a:t>printArray</a:t>
            </a:r>
            <a:r>
              <a:rPr lang="en-US" b="1" dirty="0"/>
              <a:t>(new </a:t>
            </a:r>
            <a:r>
              <a:rPr lang="en-US" b="1" dirty="0" err="1"/>
              <a:t>int</a:t>
            </a:r>
            <a:r>
              <a:rPr lang="en-US" b="1" dirty="0"/>
              <a:t>[]{3, 1, 2, 6, 4, 2});</a:t>
            </a:r>
            <a:endParaRPr lang="en-US" b="1" dirty="0"/>
          </a:p>
        </p:txBody>
      </p:sp>
    </p:spTree>
    <p:extLst>
      <p:ext uri="{BB962C8B-B14F-4D97-AF65-F5344CB8AC3E}">
        <p14:creationId xmlns:p14="http://schemas.microsoft.com/office/powerpoint/2010/main" val="192716788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Access Modifiers in Java</a:t>
            </a:r>
            <a:endParaRPr lang="en-US" dirty="0"/>
          </a:p>
        </p:txBody>
      </p:sp>
      <p:sp>
        <p:nvSpPr>
          <p:cNvPr id="3" name="Content Placeholder 2"/>
          <p:cNvSpPr>
            <a:spLocks noGrp="1"/>
          </p:cNvSpPr>
          <p:nvPr>
            <p:ph sz="quarter" idx="1"/>
          </p:nvPr>
        </p:nvSpPr>
        <p:spPr/>
        <p:txBody>
          <a:bodyPr/>
          <a:lstStyle/>
          <a:p>
            <a:pPr>
              <a:lnSpc>
                <a:spcPct val="150000"/>
              </a:lnSpc>
            </a:pPr>
            <a:r>
              <a:rPr lang="en-US" dirty="0"/>
              <a:t>The access modifiers in Java specifies the accessibility or scope of a field, method, constructor, or class. We can change the access level of fields, constructors, methods, and class by applying the access modifier on it</a:t>
            </a:r>
            <a:r>
              <a:rPr lang="en-US" dirty="0" smtClean="0"/>
              <a:t>.</a:t>
            </a:r>
          </a:p>
          <a:p>
            <a:pPr>
              <a:lnSpc>
                <a:spcPct val="150000"/>
              </a:lnSpc>
            </a:pPr>
            <a:r>
              <a:rPr lang="en-US" dirty="0"/>
              <a:t>There are four types of Java access modifiers:</a:t>
            </a:r>
            <a:endParaRPr lang="en-US" dirty="0"/>
          </a:p>
        </p:txBody>
      </p:sp>
    </p:spTree>
    <p:extLst>
      <p:ext uri="{BB962C8B-B14F-4D97-AF65-F5344CB8AC3E}">
        <p14:creationId xmlns:p14="http://schemas.microsoft.com/office/powerpoint/2010/main" val="235435176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Modifiers in Java</a:t>
            </a:r>
          </a:p>
        </p:txBody>
      </p:sp>
      <p:sp>
        <p:nvSpPr>
          <p:cNvPr id="3" name="Content Placeholder 2"/>
          <p:cNvSpPr>
            <a:spLocks noGrp="1"/>
          </p:cNvSpPr>
          <p:nvPr>
            <p:ph sz="quarter" idx="1"/>
          </p:nvPr>
        </p:nvSpPr>
        <p:spPr>
          <a:xfrm>
            <a:off x="914400" y="1219200"/>
            <a:ext cx="7772400" cy="5334000"/>
          </a:xfrm>
        </p:spPr>
        <p:txBody>
          <a:bodyPr>
            <a:normAutofit/>
          </a:bodyPr>
          <a:lstStyle/>
          <a:p>
            <a:r>
              <a:rPr lang="en-US" b="1" dirty="0"/>
              <a:t>Private</a:t>
            </a:r>
            <a:r>
              <a:rPr lang="en-US" dirty="0"/>
              <a:t>: The access level of a private modifier is only within the class. It cannot be accessed from outside the class.</a:t>
            </a:r>
          </a:p>
          <a:p>
            <a:r>
              <a:rPr lang="en-US" b="1" dirty="0"/>
              <a:t>Default</a:t>
            </a:r>
            <a:r>
              <a:rPr lang="en-US" dirty="0"/>
              <a:t>: The access level of a default modifier is only within the package. It cannot be accessed from outside the package. If you do not specify any access level, it will be the default.</a:t>
            </a:r>
          </a:p>
          <a:p>
            <a:r>
              <a:rPr lang="en-US" b="1" dirty="0"/>
              <a:t>Protected</a:t>
            </a:r>
            <a:r>
              <a:rPr lang="en-US" dirty="0"/>
              <a:t>: The access level of a protected modifier is within the package and outside the package through child class. If you do not make the child class, it cannot be accessed from outside the package.</a:t>
            </a:r>
          </a:p>
          <a:p>
            <a:endParaRPr lang="en-US" dirty="0"/>
          </a:p>
        </p:txBody>
      </p:sp>
    </p:spTree>
    <p:extLst>
      <p:ext uri="{BB962C8B-B14F-4D97-AF65-F5344CB8AC3E}">
        <p14:creationId xmlns:p14="http://schemas.microsoft.com/office/powerpoint/2010/main" val="99827537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Modifiers in Java</a:t>
            </a:r>
          </a:p>
        </p:txBody>
      </p:sp>
      <p:sp>
        <p:nvSpPr>
          <p:cNvPr id="3" name="Content Placeholder 2"/>
          <p:cNvSpPr>
            <a:spLocks noGrp="1"/>
          </p:cNvSpPr>
          <p:nvPr>
            <p:ph sz="quarter" idx="1"/>
          </p:nvPr>
        </p:nvSpPr>
        <p:spPr/>
        <p:txBody>
          <a:bodyPr/>
          <a:lstStyle/>
          <a:p>
            <a:r>
              <a:rPr lang="en-US" b="1" dirty="0"/>
              <a:t>Public</a:t>
            </a:r>
            <a:r>
              <a:rPr lang="en-US" dirty="0"/>
              <a:t>: The access level of a public modifier is everywhere. It can be accessed from within the class, outside the class, within the package and outside the package.</a:t>
            </a:r>
          </a:p>
          <a:p>
            <a:r>
              <a:rPr lang="en-US" dirty="0" smtClean="0"/>
              <a:t>Examples:</a:t>
            </a:r>
            <a:endParaRPr lang="en-US" dirty="0"/>
          </a:p>
        </p:txBody>
      </p:sp>
    </p:spTree>
    <p:extLst>
      <p:ext uri="{BB962C8B-B14F-4D97-AF65-F5344CB8AC3E}">
        <p14:creationId xmlns:p14="http://schemas.microsoft.com/office/powerpoint/2010/main" val="426761729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Modifiers in Java</a:t>
            </a:r>
          </a:p>
        </p:txBody>
      </p:sp>
      <p:sp>
        <p:nvSpPr>
          <p:cNvPr id="3" name="Content Placeholder 2"/>
          <p:cNvSpPr>
            <a:spLocks noGrp="1"/>
          </p:cNvSpPr>
          <p:nvPr>
            <p:ph sz="quarter" idx="1"/>
          </p:nvPr>
        </p:nvSpPr>
        <p:spPr>
          <a:xfrm>
            <a:off x="914400" y="1066800"/>
            <a:ext cx="7772400" cy="5410200"/>
          </a:xfrm>
        </p:spPr>
        <p:txBody>
          <a:bodyPr>
            <a:normAutofit fontScale="85000" lnSpcReduction="20000"/>
          </a:bodyPr>
          <a:lstStyle/>
          <a:p>
            <a:r>
              <a:rPr lang="en-US" b="1" dirty="0" smtClean="0"/>
              <a:t>Private :</a:t>
            </a:r>
            <a:endParaRPr lang="en-US" b="1" dirty="0"/>
          </a:p>
          <a:p>
            <a:pPr marL="0" indent="0">
              <a:buNone/>
            </a:pPr>
            <a:r>
              <a:rPr lang="en-US" dirty="0"/>
              <a:t>class A {</a:t>
            </a:r>
          </a:p>
          <a:p>
            <a:pPr marL="0" indent="0">
              <a:buNone/>
            </a:pPr>
            <a:r>
              <a:rPr lang="en-US" dirty="0"/>
              <a:t>    private </a:t>
            </a:r>
            <a:r>
              <a:rPr lang="en-US" dirty="0" err="1"/>
              <a:t>int</a:t>
            </a:r>
            <a:r>
              <a:rPr lang="en-US" dirty="0"/>
              <a:t> data = 40;</a:t>
            </a:r>
          </a:p>
          <a:p>
            <a:pPr marL="0" indent="0">
              <a:buNone/>
            </a:pPr>
            <a:r>
              <a:rPr lang="en-US" dirty="0"/>
              <a:t>    private void </a:t>
            </a:r>
            <a:r>
              <a:rPr lang="en-US" dirty="0" err="1"/>
              <a:t>msg</a:t>
            </a:r>
            <a:r>
              <a:rPr lang="en-US" dirty="0"/>
              <a:t>() {</a:t>
            </a:r>
          </a:p>
          <a:p>
            <a:pPr marL="0" indent="0">
              <a:buNone/>
            </a:pPr>
            <a:r>
              <a:rPr lang="en-US" dirty="0"/>
              <a:t>        </a:t>
            </a:r>
            <a:r>
              <a:rPr lang="en-US" dirty="0" err="1"/>
              <a:t>System.out.println</a:t>
            </a:r>
            <a:r>
              <a:rPr lang="en-US" dirty="0"/>
              <a:t>("Hello java");</a:t>
            </a:r>
          </a:p>
          <a:p>
            <a:pPr marL="0" indent="0">
              <a:buNone/>
            </a:pPr>
            <a:r>
              <a:rPr lang="en-US" dirty="0"/>
              <a:t>    }</a:t>
            </a:r>
          </a:p>
          <a:p>
            <a:pPr marL="0" indent="0">
              <a:buNone/>
            </a:pPr>
            <a:r>
              <a:rPr lang="en-US" dirty="0"/>
              <a:t>}</a:t>
            </a:r>
          </a:p>
          <a:p>
            <a:pPr marL="0" indent="0">
              <a:buNone/>
            </a:pPr>
            <a:endParaRPr lang="en-US" dirty="0"/>
          </a:p>
          <a:p>
            <a:pPr marL="0" indent="0">
              <a:buNone/>
            </a:pPr>
            <a:r>
              <a:rPr lang="en-US" dirty="0"/>
              <a:t>public class Simple {</a:t>
            </a:r>
          </a:p>
          <a:p>
            <a:pPr marL="0" indent="0">
              <a:buNone/>
            </a:pPr>
            <a:r>
              <a:rPr lang="en-US" dirty="0"/>
              <a:t>    public static void main(String </a:t>
            </a:r>
            <a:r>
              <a:rPr lang="en-US" dirty="0" err="1"/>
              <a:t>args</a:t>
            </a:r>
            <a:r>
              <a:rPr lang="en-US" dirty="0"/>
              <a:t>[]) {</a:t>
            </a:r>
          </a:p>
          <a:p>
            <a:pPr marL="0" indent="0">
              <a:buNone/>
            </a:pPr>
            <a:r>
              <a:rPr lang="en-US" dirty="0"/>
              <a:t>        A </a:t>
            </a:r>
            <a:r>
              <a:rPr lang="en-US" dirty="0" err="1"/>
              <a:t>obj</a:t>
            </a:r>
            <a:r>
              <a:rPr lang="en-US" dirty="0"/>
              <a:t> = new A();</a:t>
            </a:r>
          </a:p>
          <a:p>
            <a:pPr marL="0" indent="0">
              <a:buNone/>
            </a:pPr>
            <a:r>
              <a:rPr lang="en-US" dirty="0"/>
              <a:t>        </a:t>
            </a:r>
            <a:r>
              <a:rPr lang="en-US" dirty="0" err="1"/>
              <a:t>System.out.println</a:t>
            </a:r>
            <a:r>
              <a:rPr lang="en-US" dirty="0"/>
              <a:t>(</a:t>
            </a:r>
            <a:r>
              <a:rPr lang="en-US" dirty="0" err="1"/>
              <a:t>obj.data</a:t>
            </a:r>
            <a:r>
              <a:rPr lang="en-US" dirty="0"/>
              <a:t>); //Compile Time Error  </a:t>
            </a:r>
          </a:p>
          <a:p>
            <a:pPr marL="0" indent="0">
              <a:buNone/>
            </a:pPr>
            <a:r>
              <a:rPr lang="en-US" dirty="0"/>
              <a:t>        obj.msg(); //Compile Time Error  </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78310073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Modifiers in Java</a:t>
            </a:r>
          </a:p>
        </p:txBody>
      </p:sp>
      <p:sp>
        <p:nvSpPr>
          <p:cNvPr id="3" name="Content Placeholder 2"/>
          <p:cNvSpPr>
            <a:spLocks noGrp="1"/>
          </p:cNvSpPr>
          <p:nvPr>
            <p:ph sz="quarter" idx="1"/>
          </p:nvPr>
        </p:nvSpPr>
        <p:spPr>
          <a:xfrm>
            <a:off x="914400" y="990600"/>
            <a:ext cx="7772400" cy="5486400"/>
          </a:xfrm>
        </p:spPr>
        <p:txBody>
          <a:bodyPr>
            <a:normAutofit fontScale="85000" lnSpcReduction="20000"/>
          </a:bodyPr>
          <a:lstStyle/>
          <a:p>
            <a:r>
              <a:rPr lang="en-US" b="1" dirty="0"/>
              <a:t>Role of Private </a:t>
            </a:r>
            <a:r>
              <a:rPr lang="en-US" b="1" dirty="0" smtClean="0"/>
              <a:t>Constructor:</a:t>
            </a:r>
          </a:p>
          <a:p>
            <a:r>
              <a:rPr lang="en-US" dirty="0"/>
              <a:t>If you make any class constructor private, you cannot create the instance of that class from outside the class. For example</a:t>
            </a:r>
            <a:r>
              <a:rPr lang="en-US" dirty="0" smtClean="0"/>
              <a:t>:</a:t>
            </a:r>
          </a:p>
          <a:p>
            <a:endParaRPr lang="en-US" dirty="0" smtClean="0"/>
          </a:p>
          <a:p>
            <a:pPr marL="0" indent="0">
              <a:buNone/>
            </a:pPr>
            <a:r>
              <a:rPr lang="en-US" dirty="0"/>
              <a:t>class A {</a:t>
            </a:r>
          </a:p>
          <a:p>
            <a:pPr marL="0" indent="0">
              <a:buNone/>
            </a:pPr>
            <a:r>
              <a:rPr lang="en-US" dirty="0"/>
              <a:t>    private A() {} //private constructor  </a:t>
            </a:r>
          </a:p>
          <a:p>
            <a:pPr marL="0" indent="0">
              <a:buNone/>
            </a:pPr>
            <a:r>
              <a:rPr lang="en-US" dirty="0"/>
              <a:t>    void </a:t>
            </a:r>
            <a:r>
              <a:rPr lang="en-US" dirty="0" err="1"/>
              <a:t>msg</a:t>
            </a:r>
            <a:r>
              <a:rPr lang="en-US" dirty="0"/>
              <a:t>() {</a:t>
            </a:r>
          </a:p>
          <a:p>
            <a:pPr marL="0" indent="0">
              <a:buNone/>
            </a:pPr>
            <a:r>
              <a:rPr lang="en-US" dirty="0"/>
              <a:t>        </a:t>
            </a:r>
            <a:r>
              <a:rPr lang="en-US" dirty="0" err="1"/>
              <a:t>System.out.println</a:t>
            </a:r>
            <a:r>
              <a:rPr lang="en-US" dirty="0"/>
              <a:t>("Hello java");</a:t>
            </a:r>
          </a:p>
          <a:p>
            <a:pPr marL="0" indent="0">
              <a:buNone/>
            </a:pPr>
            <a:r>
              <a:rPr lang="en-US" dirty="0"/>
              <a:t>    }</a:t>
            </a:r>
          </a:p>
          <a:p>
            <a:pPr marL="0" indent="0">
              <a:buNone/>
            </a:pPr>
            <a:r>
              <a:rPr lang="en-US" dirty="0"/>
              <a:t>}</a:t>
            </a:r>
          </a:p>
          <a:p>
            <a:pPr marL="0" indent="0">
              <a:buNone/>
            </a:pPr>
            <a:r>
              <a:rPr lang="en-US" dirty="0"/>
              <a:t>public class Simple {</a:t>
            </a:r>
          </a:p>
          <a:p>
            <a:pPr marL="0" indent="0">
              <a:buNone/>
            </a:pPr>
            <a:r>
              <a:rPr lang="en-US" dirty="0"/>
              <a:t>    public static void main(String </a:t>
            </a:r>
            <a:r>
              <a:rPr lang="en-US" dirty="0" err="1"/>
              <a:t>args</a:t>
            </a:r>
            <a:r>
              <a:rPr lang="en-US" dirty="0"/>
              <a:t>[]) {</a:t>
            </a:r>
          </a:p>
          <a:p>
            <a:pPr marL="0" indent="0">
              <a:buNone/>
            </a:pPr>
            <a:r>
              <a:rPr lang="en-US" dirty="0"/>
              <a:t>        A </a:t>
            </a:r>
            <a:r>
              <a:rPr lang="en-US" dirty="0" err="1"/>
              <a:t>obj</a:t>
            </a:r>
            <a:r>
              <a:rPr lang="en-US" dirty="0"/>
              <a:t> = new A(); //Compile Time Error  </a:t>
            </a:r>
          </a:p>
          <a:p>
            <a:pPr marL="0" indent="0">
              <a:buNone/>
            </a:pPr>
            <a:r>
              <a:rPr lang="en-US" dirty="0"/>
              <a:t>    }</a:t>
            </a:r>
          </a:p>
          <a:p>
            <a:pPr marL="0" indent="0">
              <a:buNone/>
            </a:pPr>
            <a:r>
              <a:rPr lang="en-US" dirty="0"/>
              <a:t>}</a:t>
            </a:r>
            <a:endParaRPr lang="en-US" dirty="0"/>
          </a:p>
          <a:p>
            <a:endParaRPr lang="en-US" dirty="0"/>
          </a:p>
        </p:txBody>
      </p:sp>
    </p:spTree>
    <p:extLst>
      <p:ext uri="{BB962C8B-B14F-4D97-AF65-F5344CB8AC3E}">
        <p14:creationId xmlns:p14="http://schemas.microsoft.com/office/powerpoint/2010/main" val="256648622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Modifiers in Java</a:t>
            </a:r>
          </a:p>
        </p:txBody>
      </p:sp>
      <p:sp>
        <p:nvSpPr>
          <p:cNvPr id="3" name="Content Placeholder 2"/>
          <p:cNvSpPr>
            <a:spLocks noGrp="1"/>
          </p:cNvSpPr>
          <p:nvPr>
            <p:ph sz="quarter" idx="1"/>
          </p:nvPr>
        </p:nvSpPr>
        <p:spPr>
          <a:xfrm>
            <a:off x="914400" y="1143000"/>
            <a:ext cx="7772400" cy="5334000"/>
          </a:xfrm>
        </p:spPr>
        <p:txBody>
          <a:bodyPr>
            <a:normAutofit lnSpcReduction="10000"/>
          </a:bodyPr>
          <a:lstStyle/>
          <a:p>
            <a:r>
              <a:rPr lang="en-US" b="1" dirty="0" smtClean="0"/>
              <a:t>Default:</a:t>
            </a:r>
          </a:p>
          <a:p>
            <a:pPr lvl="1"/>
            <a:r>
              <a:rPr lang="en-US" dirty="0"/>
              <a:t>If you don't use any modifier, it is treated as </a:t>
            </a:r>
            <a:r>
              <a:rPr lang="en-US" b="1" dirty="0"/>
              <a:t>default</a:t>
            </a:r>
            <a:r>
              <a:rPr lang="en-US" dirty="0"/>
              <a:t> by default. The default modifier is accessible only within package. It cannot be accessed from outside the package. It provides more accessibility than private. </a:t>
            </a:r>
            <a:endParaRPr lang="en-US" dirty="0" smtClean="0"/>
          </a:p>
          <a:p>
            <a:pPr marL="320040" lvl="1" indent="0">
              <a:buNone/>
            </a:pPr>
            <a:endParaRPr lang="en-US" dirty="0" smtClean="0"/>
          </a:p>
          <a:p>
            <a:pPr marL="320040" lvl="1" indent="0">
              <a:buNone/>
            </a:pPr>
            <a:r>
              <a:rPr lang="en-US" dirty="0" smtClean="0"/>
              <a:t>//</a:t>
            </a:r>
            <a:r>
              <a:rPr lang="en-US" dirty="0"/>
              <a:t>save by A.java  </a:t>
            </a:r>
          </a:p>
          <a:p>
            <a:pPr marL="320040" lvl="1" indent="0">
              <a:buNone/>
            </a:pPr>
            <a:r>
              <a:rPr lang="en-US" dirty="0"/>
              <a:t>package pack;</a:t>
            </a:r>
          </a:p>
          <a:p>
            <a:pPr marL="320040" lvl="1" indent="0">
              <a:buNone/>
            </a:pPr>
            <a:r>
              <a:rPr lang="en-US" dirty="0"/>
              <a:t>class A {</a:t>
            </a:r>
          </a:p>
          <a:p>
            <a:pPr marL="320040" lvl="1" indent="0">
              <a:buNone/>
            </a:pPr>
            <a:r>
              <a:rPr lang="en-US" dirty="0"/>
              <a:t>    void </a:t>
            </a:r>
            <a:r>
              <a:rPr lang="en-US" dirty="0" err="1"/>
              <a:t>msg</a:t>
            </a:r>
            <a:r>
              <a:rPr lang="en-US" dirty="0"/>
              <a:t>() {</a:t>
            </a:r>
          </a:p>
          <a:p>
            <a:pPr marL="320040" lvl="1" indent="0">
              <a:buNone/>
            </a:pPr>
            <a:r>
              <a:rPr lang="en-US" dirty="0"/>
              <a:t>        </a:t>
            </a:r>
            <a:r>
              <a:rPr lang="en-US" dirty="0" err="1"/>
              <a:t>System.out.println</a:t>
            </a:r>
            <a:r>
              <a:rPr lang="en-US" dirty="0"/>
              <a:t>("Hello");</a:t>
            </a:r>
          </a:p>
          <a:p>
            <a:pPr marL="320040" lvl="1" indent="0">
              <a:buNone/>
            </a:pPr>
            <a:r>
              <a:rPr lang="en-US" dirty="0"/>
              <a:t>    }</a:t>
            </a:r>
          </a:p>
          <a:p>
            <a:pPr marL="320040" lvl="1" indent="0">
              <a:buNone/>
            </a:pPr>
            <a:r>
              <a:rPr lang="en-US" dirty="0"/>
              <a:t>}</a:t>
            </a:r>
            <a:endParaRPr lang="en-US" dirty="0"/>
          </a:p>
          <a:p>
            <a:endParaRPr lang="en-US" dirty="0"/>
          </a:p>
        </p:txBody>
      </p:sp>
    </p:spTree>
    <p:extLst>
      <p:ext uri="{BB962C8B-B14F-4D97-AF65-F5344CB8AC3E}">
        <p14:creationId xmlns:p14="http://schemas.microsoft.com/office/powerpoint/2010/main" val="409331860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Modifiers in Java</a:t>
            </a:r>
          </a:p>
        </p:txBody>
      </p:sp>
      <p:sp>
        <p:nvSpPr>
          <p:cNvPr id="3" name="Content Placeholder 2"/>
          <p:cNvSpPr>
            <a:spLocks noGrp="1"/>
          </p:cNvSpPr>
          <p:nvPr>
            <p:ph sz="quarter" idx="1"/>
          </p:nvPr>
        </p:nvSpPr>
        <p:spPr>
          <a:xfrm>
            <a:off x="914400" y="1066800"/>
            <a:ext cx="7772400" cy="5181600"/>
          </a:xfrm>
        </p:spPr>
        <p:txBody>
          <a:bodyPr>
            <a:normAutofit lnSpcReduction="10000"/>
          </a:bodyPr>
          <a:lstStyle/>
          <a:p>
            <a:pPr marL="0" indent="0">
              <a:buNone/>
            </a:pPr>
            <a:r>
              <a:rPr lang="en-US" dirty="0"/>
              <a:t>//save by B.java  </a:t>
            </a:r>
          </a:p>
          <a:p>
            <a:pPr marL="0" indent="0">
              <a:buNone/>
            </a:pPr>
            <a:r>
              <a:rPr lang="en-US" dirty="0"/>
              <a:t>package </a:t>
            </a:r>
            <a:r>
              <a:rPr lang="en-US" dirty="0" err="1"/>
              <a:t>mypack</a:t>
            </a:r>
            <a:r>
              <a:rPr lang="en-US" dirty="0"/>
              <a:t>;</a:t>
            </a:r>
          </a:p>
          <a:p>
            <a:pPr marL="0" indent="0">
              <a:buNone/>
            </a:pPr>
            <a:r>
              <a:rPr lang="en-US" dirty="0"/>
              <a:t>import pack.*;</a:t>
            </a:r>
          </a:p>
          <a:p>
            <a:pPr marL="0" indent="0">
              <a:buNone/>
            </a:pPr>
            <a:r>
              <a:rPr lang="en-US" dirty="0"/>
              <a:t>class B {</a:t>
            </a:r>
          </a:p>
          <a:p>
            <a:pPr marL="0" indent="0">
              <a:buNone/>
            </a:pPr>
            <a:r>
              <a:rPr lang="en-US" dirty="0"/>
              <a:t>    public static void main(String </a:t>
            </a:r>
            <a:r>
              <a:rPr lang="en-US" dirty="0" err="1"/>
              <a:t>args</a:t>
            </a:r>
            <a:r>
              <a:rPr lang="en-US" dirty="0"/>
              <a:t>[]) {</a:t>
            </a:r>
          </a:p>
          <a:p>
            <a:pPr marL="0" indent="0">
              <a:buNone/>
            </a:pPr>
            <a:r>
              <a:rPr lang="en-US" dirty="0"/>
              <a:t>        A </a:t>
            </a:r>
            <a:r>
              <a:rPr lang="en-US" dirty="0" err="1"/>
              <a:t>obj</a:t>
            </a:r>
            <a:r>
              <a:rPr lang="en-US" dirty="0"/>
              <a:t> = new A(); //Compile Time Error  </a:t>
            </a:r>
          </a:p>
          <a:p>
            <a:pPr marL="0" indent="0">
              <a:buNone/>
            </a:pPr>
            <a:r>
              <a:rPr lang="en-US" dirty="0"/>
              <a:t>        obj.msg(); //Compile Time Error  </a:t>
            </a:r>
          </a:p>
          <a:p>
            <a:pPr marL="0" indent="0">
              <a:buNone/>
            </a:pPr>
            <a:r>
              <a:rPr lang="en-US" dirty="0"/>
              <a:t>    }</a:t>
            </a:r>
          </a:p>
          <a:p>
            <a:pPr marL="0" indent="0">
              <a:buNone/>
            </a:pPr>
            <a:r>
              <a:rPr lang="en-US" dirty="0" smtClean="0"/>
              <a:t>}</a:t>
            </a:r>
          </a:p>
          <a:p>
            <a:r>
              <a:rPr lang="en-US" dirty="0"/>
              <a:t>In the above example, the scope of class A and its method </a:t>
            </a:r>
            <a:r>
              <a:rPr lang="en-US" dirty="0" err="1"/>
              <a:t>msg</a:t>
            </a:r>
            <a:r>
              <a:rPr lang="en-US" dirty="0"/>
              <a:t>() is default so it cannot be accessed from outside the package.</a:t>
            </a:r>
          </a:p>
          <a:p>
            <a:endParaRPr lang="en-US" dirty="0"/>
          </a:p>
        </p:txBody>
      </p:sp>
    </p:spTree>
    <p:extLst>
      <p:ext uri="{BB962C8B-B14F-4D97-AF65-F5344CB8AC3E}">
        <p14:creationId xmlns:p14="http://schemas.microsoft.com/office/powerpoint/2010/main" val="382066117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Modifiers in Java</a:t>
            </a:r>
          </a:p>
        </p:txBody>
      </p:sp>
      <p:sp>
        <p:nvSpPr>
          <p:cNvPr id="3" name="Content Placeholder 2"/>
          <p:cNvSpPr>
            <a:spLocks noGrp="1"/>
          </p:cNvSpPr>
          <p:nvPr>
            <p:ph sz="quarter" idx="1"/>
          </p:nvPr>
        </p:nvSpPr>
        <p:spPr/>
        <p:txBody>
          <a:bodyPr>
            <a:normAutofit fontScale="92500"/>
          </a:bodyPr>
          <a:lstStyle/>
          <a:p>
            <a:r>
              <a:rPr lang="en-US" b="1" dirty="0" smtClean="0"/>
              <a:t>Protected :</a:t>
            </a:r>
          </a:p>
          <a:p>
            <a:pPr lvl="1">
              <a:lnSpc>
                <a:spcPct val="150000"/>
              </a:lnSpc>
            </a:pPr>
            <a:r>
              <a:rPr lang="en-US" dirty="0"/>
              <a:t>The </a:t>
            </a:r>
            <a:r>
              <a:rPr lang="en-US" b="1" dirty="0"/>
              <a:t>protected access modifier</a:t>
            </a:r>
            <a:r>
              <a:rPr lang="en-US" dirty="0"/>
              <a:t> is accessible within package and outside the package but through inheritance only.</a:t>
            </a:r>
          </a:p>
          <a:p>
            <a:pPr lvl="1">
              <a:lnSpc>
                <a:spcPct val="150000"/>
              </a:lnSpc>
            </a:pPr>
            <a:r>
              <a:rPr lang="en-US" dirty="0"/>
              <a:t>The protected access modifier can be applied on the data member, method and constructor. It can't be applied on the class.</a:t>
            </a:r>
          </a:p>
          <a:p>
            <a:pPr lvl="1">
              <a:lnSpc>
                <a:spcPct val="150000"/>
              </a:lnSpc>
            </a:pPr>
            <a:r>
              <a:rPr lang="en-US" dirty="0"/>
              <a:t>It provides more accessibility than the default </a:t>
            </a:r>
            <a:r>
              <a:rPr lang="en-US" dirty="0" err="1"/>
              <a:t>modifer</a:t>
            </a:r>
            <a:r>
              <a:rPr lang="en-US" dirty="0"/>
              <a:t>.</a:t>
            </a:r>
          </a:p>
          <a:p>
            <a:pPr lvl="1"/>
            <a:endParaRPr lang="en-US" b="1" dirty="0"/>
          </a:p>
          <a:p>
            <a:endParaRPr lang="en-US" dirty="0"/>
          </a:p>
        </p:txBody>
      </p:sp>
    </p:spTree>
    <p:extLst>
      <p:ext uri="{BB962C8B-B14F-4D97-AF65-F5344CB8AC3E}">
        <p14:creationId xmlns:p14="http://schemas.microsoft.com/office/powerpoint/2010/main" val="263353747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Modifiers in Java</a:t>
            </a:r>
          </a:p>
        </p:txBody>
      </p:sp>
      <p:sp>
        <p:nvSpPr>
          <p:cNvPr id="3" name="Content Placeholder 2"/>
          <p:cNvSpPr>
            <a:spLocks noGrp="1"/>
          </p:cNvSpPr>
          <p:nvPr>
            <p:ph sz="quarter" idx="1"/>
          </p:nvPr>
        </p:nvSpPr>
        <p:spPr>
          <a:xfrm>
            <a:off x="914400" y="1143000"/>
            <a:ext cx="7772400" cy="5181600"/>
          </a:xfrm>
        </p:spPr>
        <p:txBody>
          <a:bodyPr>
            <a:normAutofit fontScale="92500" lnSpcReduction="10000"/>
          </a:bodyPr>
          <a:lstStyle/>
          <a:p>
            <a:r>
              <a:rPr lang="en-US" b="1" dirty="0"/>
              <a:t>Example of protected access </a:t>
            </a:r>
            <a:r>
              <a:rPr lang="en-US" b="1" dirty="0" smtClean="0"/>
              <a:t>modifier</a:t>
            </a:r>
          </a:p>
          <a:p>
            <a:pPr lvl="1"/>
            <a:r>
              <a:rPr lang="en-US" dirty="0"/>
              <a:t>In this example, we have created the two packages pack and </a:t>
            </a:r>
            <a:r>
              <a:rPr lang="en-US" dirty="0" err="1"/>
              <a:t>mypack</a:t>
            </a:r>
            <a:r>
              <a:rPr lang="en-US" dirty="0"/>
              <a:t>. The A class of pack package is public, so can be accessed from outside the package. But </a:t>
            </a:r>
            <a:r>
              <a:rPr lang="en-US" dirty="0" err="1"/>
              <a:t>msg</a:t>
            </a:r>
            <a:r>
              <a:rPr lang="en-US" dirty="0"/>
              <a:t> method of this package is declared as protected, so it can be accessed from outside the class only through inheritance</a:t>
            </a:r>
            <a:r>
              <a:rPr lang="en-US" dirty="0" smtClean="0"/>
              <a:t>.</a:t>
            </a:r>
          </a:p>
          <a:p>
            <a:pPr lvl="1"/>
            <a:endParaRPr lang="en-US" dirty="0"/>
          </a:p>
          <a:p>
            <a:pPr marL="320040" lvl="1" indent="0">
              <a:buNone/>
            </a:pPr>
            <a:r>
              <a:rPr lang="en-US" dirty="0"/>
              <a:t>//save by A.java  </a:t>
            </a:r>
          </a:p>
          <a:p>
            <a:pPr marL="320040" lvl="1" indent="0">
              <a:buNone/>
            </a:pPr>
            <a:r>
              <a:rPr lang="en-US" dirty="0"/>
              <a:t>package pack;</a:t>
            </a:r>
          </a:p>
          <a:p>
            <a:pPr marL="320040" lvl="1" indent="0">
              <a:buNone/>
            </a:pPr>
            <a:r>
              <a:rPr lang="en-US" dirty="0"/>
              <a:t>public class A {</a:t>
            </a:r>
          </a:p>
          <a:p>
            <a:pPr marL="320040" lvl="1" indent="0">
              <a:buNone/>
            </a:pPr>
            <a:r>
              <a:rPr lang="en-US" dirty="0"/>
              <a:t>    protected void </a:t>
            </a:r>
            <a:r>
              <a:rPr lang="en-US" dirty="0" err="1"/>
              <a:t>msg</a:t>
            </a:r>
            <a:r>
              <a:rPr lang="en-US" dirty="0"/>
              <a:t>() {</a:t>
            </a:r>
          </a:p>
          <a:p>
            <a:pPr marL="320040" lvl="1" indent="0">
              <a:buNone/>
            </a:pPr>
            <a:r>
              <a:rPr lang="en-US" dirty="0"/>
              <a:t>        </a:t>
            </a:r>
            <a:r>
              <a:rPr lang="en-US" dirty="0" err="1"/>
              <a:t>System.out.println</a:t>
            </a:r>
            <a:r>
              <a:rPr lang="en-US" dirty="0"/>
              <a:t>("Hello");</a:t>
            </a:r>
          </a:p>
          <a:p>
            <a:pPr marL="320040" lvl="1" indent="0">
              <a:buNone/>
            </a:pPr>
            <a:r>
              <a:rPr lang="en-US" dirty="0"/>
              <a:t>    }</a:t>
            </a:r>
          </a:p>
          <a:p>
            <a:pPr marL="320040" lvl="1" indent="0">
              <a:buNone/>
            </a:pPr>
            <a:r>
              <a:rPr lang="en-US" dirty="0"/>
              <a:t>}</a:t>
            </a:r>
          </a:p>
        </p:txBody>
      </p:sp>
    </p:spTree>
    <p:extLst>
      <p:ext uri="{BB962C8B-B14F-4D97-AF65-F5344CB8AC3E}">
        <p14:creationId xmlns:p14="http://schemas.microsoft.com/office/powerpoint/2010/main" val="24281458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Modifiers in Java</a:t>
            </a:r>
          </a:p>
        </p:txBody>
      </p:sp>
      <p:sp>
        <p:nvSpPr>
          <p:cNvPr id="3" name="Content Placeholder 2"/>
          <p:cNvSpPr>
            <a:spLocks noGrp="1"/>
          </p:cNvSpPr>
          <p:nvPr>
            <p:ph sz="quarter" idx="1"/>
          </p:nvPr>
        </p:nvSpPr>
        <p:spPr>
          <a:xfrm>
            <a:off x="914400" y="1219200"/>
            <a:ext cx="7772400" cy="4572000"/>
          </a:xfrm>
        </p:spPr>
        <p:txBody>
          <a:bodyPr>
            <a:normAutofit lnSpcReduction="10000"/>
          </a:bodyPr>
          <a:lstStyle/>
          <a:p>
            <a:pPr marL="0" indent="0">
              <a:buNone/>
            </a:pPr>
            <a:r>
              <a:rPr lang="en-US" dirty="0"/>
              <a:t>//save by B.java  </a:t>
            </a:r>
          </a:p>
          <a:p>
            <a:pPr marL="0" indent="0">
              <a:buNone/>
            </a:pPr>
            <a:r>
              <a:rPr lang="en-US" dirty="0"/>
              <a:t>package </a:t>
            </a:r>
            <a:r>
              <a:rPr lang="en-US" dirty="0" err="1"/>
              <a:t>mypack</a:t>
            </a:r>
            <a:r>
              <a:rPr lang="en-US" dirty="0"/>
              <a:t>;</a:t>
            </a:r>
          </a:p>
          <a:p>
            <a:pPr marL="0" indent="0">
              <a:buNone/>
            </a:pPr>
            <a:r>
              <a:rPr lang="en-US" dirty="0"/>
              <a:t>import pack.*;</a:t>
            </a:r>
          </a:p>
          <a:p>
            <a:pPr marL="0" indent="0">
              <a:buNone/>
            </a:pPr>
            <a:endParaRPr lang="en-US" dirty="0"/>
          </a:p>
          <a:p>
            <a:pPr marL="0" indent="0">
              <a:buNone/>
            </a:pPr>
            <a:r>
              <a:rPr lang="en-US" dirty="0"/>
              <a:t>class B extends A {</a:t>
            </a:r>
          </a:p>
          <a:p>
            <a:pPr marL="0" indent="0">
              <a:buNone/>
            </a:pPr>
            <a:r>
              <a:rPr lang="en-US" dirty="0"/>
              <a:t>    public static void main(String </a:t>
            </a:r>
            <a:r>
              <a:rPr lang="en-US" dirty="0" err="1"/>
              <a:t>args</a:t>
            </a:r>
            <a:r>
              <a:rPr lang="en-US" dirty="0"/>
              <a:t>[]) {</a:t>
            </a:r>
          </a:p>
          <a:p>
            <a:pPr marL="0" indent="0">
              <a:buNone/>
            </a:pPr>
            <a:r>
              <a:rPr lang="en-US" dirty="0"/>
              <a:t>        B </a:t>
            </a:r>
            <a:r>
              <a:rPr lang="en-US" dirty="0" err="1"/>
              <a:t>obj</a:t>
            </a:r>
            <a:r>
              <a:rPr lang="en-US" dirty="0"/>
              <a:t> = new B();</a:t>
            </a:r>
          </a:p>
          <a:p>
            <a:pPr marL="0" indent="0">
              <a:buNone/>
            </a:pPr>
            <a:r>
              <a:rPr lang="en-US" dirty="0"/>
              <a:t>        obj.msg();</a:t>
            </a:r>
          </a:p>
          <a:p>
            <a:pPr marL="0" indent="0">
              <a:buNone/>
            </a:pPr>
            <a:r>
              <a:rPr lang="en-US" dirty="0"/>
              <a:t>    }</a:t>
            </a:r>
          </a:p>
          <a:p>
            <a:pPr marL="0" indent="0">
              <a:buNone/>
            </a:pPr>
            <a:r>
              <a:rPr lang="en-US" dirty="0"/>
              <a:t>}</a:t>
            </a:r>
          </a:p>
        </p:txBody>
      </p:sp>
    </p:spTree>
    <p:extLst>
      <p:ext uri="{BB962C8B-B14F-4D97-AF65-F5344CB8AC3E}">
        <p14:creationId xmlns:p14="http://schemas.microsoft.com/office/powerpoint/2010/main" val="122751600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Modifiers in Java</a:t>
            </a:r>
          </a:p>
        </p:txBody>
      </p:sp>
      <p:sp>
        <p:nvSpPr>
          <p:cNvPr id="3" name="Content Placeholder 2"/>
          <p:cNvSpPr>
            <a:spLocks noGrp="1"/>
          </p:cNvSpPr>
          <p:nvPr>
            <p:ph sz="quarter" idx="1"/>
          </p:nvPr>
        </p:nvSpPr>
        <p:spPr>
          <a:xfrm>
            <a:off x="914400" y="1143000"/>
            <a:ext cx="7772400" cy="5410200"/>
          </a:xfrm>
        </p:spPr>
        <p:txBody>
          <a:bodyPr>
            <a:normAutofit/>
          </a:bodyPr>
          <a:lstStyle/>
          <a:p>
            <a:r>
              <a:rPr lang="en-US" b="1" dirty="0" smtClean="0"/>
              <a:t>Public :</a:t>
            </a:r>
          </a:p>
          <a:p>
            <a:pPr lvl="1"/>
            <a:r>
              <a:rPr lang="en-US" dirty="0"/>
              <a:t>The </a:t>
            </a:r>
            <a:r>
              <a:rPr lang="en-US" b="1" dirty="0"/>
              <a:t>public access modifier</a:t>
            </a:r>
            <a:r>
              <a:rPr lang="en-US" dirty="0"/>
              <a:t> is accessible everywhere. It has the widest scope among all other modifiers.</a:t>
            </a:r>
          </a:p>
          <a:p>
            <a:pPr lvl="1"/>
            <a:r>
              <a:rPr lang="en-US" b="1" dirty="0"/>
              <a:t>Example of public access modifier</a:t>
            </a:r>
            <a:endParaRPr lang="en-US" dirty="0"/>
          </a:p>
          <a:p>
            <a:pPr marL="320040" lvl="1" indent="0">
              <a:buNone/>
            </a:pPr>
            <a:r>
              <a:rPr lang="en-US" dirty="0"/>
              <a:t>//save by A.java  </a:t>
            </a:r>
          </a:p>
          <a:p>
            <a:pPr marL="320040" lvl="1" indent="0">
              <a:buNone/>
            </a:pPr>
            <a:endParaRPr lang="en-US" dirty="0"/>
          </a:p>
          <a:p>
            <a:pPr marL="320040" lvl="1" indent="0">
              <a:buNone/>
            </a:pPr>
            <a:r>
              <a:rPr lang="en-US" dirty="0"/>
              <a:t>package pack;</a:t>
            </a:r>
          </a:p>
          <a:p>
            <a:pPr marL="320040" lvl="1" indent="0">
              <a:buNone/>
            </a:pPr>
            <a:r>
              <a:rPr lang="en-US" dirty="0"/>
              <a:t>public class A {</a:t>
            </a:r>
          </a:p>
          <a:p>
            <a:pPr marL="320040" lvl="1" indent="0">
              <a:buNone/>
            </a:pPr>
            <a:r>
              <a:rPr lang="en-US" dirty="0"/>
              <a:t>    public void </a:t>
            </a:r>
            <a:r>
              <a:rPr lang="en-US" dirty="0" err="1"/>
              <a:t>msg</a:t>
            </a:r>
            <a:r>
              <a:rPr lang="en-US" dirty="0"/>
              <a:t>() {</a:t>
            </a:r>
          </a:p>
          <a:p>
            <a:pPr marL="320040" lvl="1" indent="0">
              <a:buNone/>
            </a:pPr>
            <a:r>
              <a:rPr lang="en-US" dirty="0"/>
              <a:t>        </a:t>
            </a:r>
            <a:r>
              <a:rPr lang="en-US" dirty="0" err="1"/>
              <a:t>System.out.println</a:t>
            </a:r>
            <a:r>
              <a:rPr lang="en-US" dirty="0"/>
              <a:t>("Hello");</a:t>
            </a:r>
          </a:p>
          <a:p>
            <a:pPr marL="320040" lvl="1" indent="0">
              <a:buNone/>
            </a:pPr>
            <a:r>
              <a:rPr lang="en-US" dirty="0"/>
              <a:t>    }</a:t>
            </a:r>
          </a:p>
          <a:p>
            <a:pPr marL="320040" lvl="1" indent="0">
              <a:buNone/>
            </a:pPr>
            <a:r>
              <a:rPr lang="en-US" dirty="0"/>
              <a:t>}</a:t>
            </a:r>
            <a:endParaRPr lang="en-US" dirty="0"/>
          </a:p>
          <a:p>
            <a:endParaRPr lang="en-US" dirty="0"/>
          </a:p>
        </p:txBody>
      </p:sp>
    </p:spTree>
    <p:extLst>
      <p:ext uri="{BB962C8B-B14F-4D97-AF65-F5344CB8AC3E}">
        <p14:creationId xmlns:p14="http://schemas.microsoft.com/office/powerpoint/2010/main" val="171560278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Access Modifiers in Java</a:t>
            </a:r>
          </a:p>
        </p:txBody>
      </p:sp>
      <p:sp>
        <p:nvSpPr>
          <p:cNvPr id="3" name="Content Placeholder 2"/>
          <p:cNvSpPr>
            <a:spLocks noGrp="1"/>
          </p:cNvSpPr>
          <p:nvPr>
            <p:ph sz="quarter" idx="1"/>
          </p:nvPr>
        </p:nvSpPr>
        <p:spPr>
          <a:xfrm>
            <a:off x="914400" y="1219200"/>
            <a:ext cx="7772400" cy="4572000"/>
          </a:xfrm>
        </p:spPr>
        <p:txBody>
          <a:bodyPr>
            <a:normAutofit fontScale="92500" lnSpcReduction="10000"/>
          </a:bodyPr>
          <a:lstStyle/>
          <a:p>
            <a:pPr marL="0" indent="0">
              <a:buNone/>
            </a:pPr>
            <a:r>
              <a:rPr lang="en-US" dirty="0"/>
              <a:t>//save by B.java  </a:t>
            </a:r>
          </a:p>
          <a:p>
            <a:pPr marL="0" indent="0">
              <a:buNone/>
            </a:pPr>
            <a:r>
              <a:rPr lang="en-US" dirty="0"/>
              <a:t>  </a:t>
            </a:r>
          </a:p>
          <a:p>
            <a:pPr marL="0" indent="0">
              <a:buNone/>
            </a:pPr>
            <a:r>
              <a:rPr lang="en-US" b="1" dirty="0"/>
              <a:t>package</a:t>
            </a:r>
            <a:r>
              <a:rPr lang="en-US" dirty="0"/>
              <a:t> </a:t>
            </a:r>
            <a:r>
              <a:rPr lang="en-US" dirty="0" err="1"/>
              <a:t>mypack</a:t>
            </a:r>
            <a:r>
              <a:rPr lang="en-US" dirty="0"/>
              <a:t>;  </a:t>
            </a:r>
          </a:p>
          <a:p>
            <a:pPr marL="0" indent="0">
              <a:buNone/>
            </a:pPr>
            <a:r>
              <a:rPr lang="en-US" b="1" dirty="0"/>
              <a:t>import</a:t>
            </a:r>
            <a:r>
              <a:rPr lang="en-US" dirty="0"/>
              <a:t> pack.*;  </a:t>
            </a:r>
          </a:p>
          <a:p>
            <a:pPr marL="0" indent="0">
              <a:buNone/>
            </a:pPr>
            <a:r>
              <a:rPr lang="en-US" dirty="0"/>
              <a:t>  </a:t>
            </a:r>
          </a:p>
          <a:p>
            <a:pPr marL="0" indent="0">
              <a:buNone/>
            </a:pPr>
            <a:r>
              <a:rPr lang="en-US" b="1" dirty="0"/>
              <a:t>class</a:t>
            </a:r>
            <a:r>
              <a:rPr lang="en-US" dirty="0"/>
              <a:t> B{  </a:t>
            </a:r>
          </a:p>
          <a:p>
            <a:pPr marL="0" indent="0">
              <a:buNone/>
            </a:pPr>
            <a:r>
              <a:rPr lang="en-US" dirty="0"/>
              <a:t>  </a:t>
            </a:r>
            <a:r>
              <a:rPr lang="en-US" b="1" dirty="0"/>
              <a:t>public</a:t>
            </a:r>
            <a:r>
              <a:rPr lang="en-US" dirty="0"/>
              <a:t> </a:t>
            </a:r>
            <a:r>
              <a:rPr lang="en-US" b="1" dirty="0"/>
              <a:t>static</a:t>
            </a:r>
            <a:r>
              <a:rPr lang="en-US" dirty="0"/>
              <a:t> </a:t>
            </a:r>
            <a:r>
              <a:rPr lang="en-US" b="1" dirty="0"/>
              <a:t>void</a:t>
            </a:r>
            <a:r>
              <a:rPr lang="en-US" dirty="0"/>
              <a:t> main(String </a:t>
            </a:r>
            <a:r>
              <a:rPr lang="en-US" dirty="0" err="1"/>
              <a:t>args</a:t>
            </a:r>
            <a:r>
              <a:rPr lang="en-US" dirty="0"/>
              <a:t>[]){  </a:t>
            </a:r>
          </a:p>
          <a:p>
            <a:pPr marL="0" indent="0">
              <a:buNone/>
            </a:pPr>
            <a:r>
              <a:rPr lang="en-US" dirty="0"/>
              <a:t>   A </a:t>
            </a:r>
            <a:r>
              <a:rPr lang="en-US" dirty="0" err="1"/>
              <a:t>obj</a:t>
            </a:r>
            <a:r>
              <a:rPr lang="en-US" dirty="0"/>
              <a:t> = </a:t>
            </a:r>
            <a:r>
              <a:rPr lang="en-US" b="1" dirty="0"/>
              <a:t>new</a:t>
            </a:r>
            <a:r>
              <a:rPr lang="en-US" dirty="0"/>
              <a:t> A();  </a:t>
            </a:r>
          </a:p>
          <a:p>
            <a:pPr marL="0" indent="0">
              <a:buNone/>
            </a:pPr>
            <a:r>
              <a:rPr lang="en-US" dirty="0"/>
              <a:t>   obj.msg();  </a:t>
            </a:r>
          </a:p>
          <a:p>
            <a:pPr marL="0" indent="0">
              <a:buNone/>
            </a:pPr>
            <a:r>
              <a:rPr lang="en-US" dirty="0"/>
              <a:t>  }  </a:t>
            </a:r>
          </a:p>
          <a:p>
            <a:pPr marL="0" indent="0">
              <a:buNone/>
            </a:pPr>
            <a:r>
              <a:rPr lang="en-US" dirty="0"/>
              <a:t>}  </a:t>
            </a:r>
          </a:p>
          <a:p>
            <a:endParaRPr lang="en-US" dirty="0"/>
          </a:p>
        </p:txBody>
      </p:sp>
    </p:spTree>
    <p:extLst>
      <p:ext uri="{BB962C8B-B14F-4D97-AF65-F5344CB8AC3E}">
        <p14:creationId xmlns:p14="http://schemas.microsoft.com/office/powerpoint/2010/main" val="10276954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Foundry">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Foundry">
    <a:dk1>
      <a:sysClr val="windowText" lastClr="000000"/>
    </a:dk1>
    <a:lt1>
      <a:sysClr val="window" lastClr="FFFFFF"/>
    </a:lt1>
    <a:dk2>
      <a:srgbClr val="676A55"/>
    </a:dk2>
    <a:lt2>
      <a:srgbClr val="EAEBDE"/>
    </a:lt2>
    <a:accent1>
      <a:srgbClr val="72A376"/>
    </a:accent1>
    <a:accent2>
      <a:srgbClr val="B0CCB0"/>
    </a:accent2>
    <a:accent3>
      <a:srgbClr val="A8CDD7"/>
    </a:accent3>
    <a:accent4>
      <a:srgbClr val="C0BEAF"/>
    </a:accent4>
    <a:accent5>
      <a:srgbClr val="CEC597"/>
    </a:accent5>
    <a:accent6>
      <a:srgbClr val="E8B7B7"/>
    </a:accent6>
    <a:hlink>
      <a:srgbClr val="DB5353"/>
    </a:hlink>
    <a:folHlink>
      <a:srgbClr val="903638"/>
    </a:folHlink>
  </a:clrScheme>
</a:themeOverride>
</file>

<file path=docProps/app.xml><?xml version="1.0" encoding="utf-8"?>
<Properties xmlns="http://schemas.openxmlformats.org/officeDocument/2006/extended-properties" xmlns:vt="http://schemas.openxmlformats.org/officeDocument/2006/docPropsVTypes">
  <Template/>
  <TotalTime>754</TotalTime>
  <Words>3697</Words>
  <Application>Microsoft Office PowerPoint</Application>
  <PresentationFormat>On-screen Show (4:3)</PresentationFormat>
  <Paragraphs>693</Paragraphs>
  <Slides>100</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100</vt:i4>
      </vt:variant>
    </vt:vector>
  </HeadingPairs>
  <TitlesOfParts>
    <vt:vector size="106" baseType="lpstr">
      <vt:lpstr>Calibri</vt:lpstr>
      <vt:lpstr>Cambria</vt:lpstr>
      <vt:lpstr>Franklin Gothic Book</vt:lpstr>
      <vt:lpstr>Perpetua</vt:lpstr>
      <vt:lpstr>Wingdings 2</vt:lpstr>
      <vt:lpstr>Equity</vt:lpstr>
      <vt:lpstr>Java Programming</vt:lpstr>
      <vt:lpstr>   About Java</vt:lpstr>
      <vt:lpstr>Types of Java Applications :</vt:lpstr>
      <vt:lpstr>Types of Java Applications :</vt:lpstr>
      <vt:lpstr>Types of Java Applications :</vt:lpstr>
      <vt:lpstr>Types of Java Applications :</vt:lpstr>
      <vt:lpstr>Flavours in Java  Flavours in Java Flavours in Java Flavors in Java :</vt:lpstr>
      <vt:lpstr>Flavors in Java :</vt:lpstr>
      <vt:lpstr>Flavors in Java :</vt:lpstr>
      <vt:lpstr>Flavors in Java :</vt:lpstr>
      <vt:lpstr>Flavors in Java :</vt:lpstr>
      <vt:lpstr>Java Program Development Environment</vt:lpstr>
      <vt:lpstr>Java Program Development Environment</vt:lpstr>
      <vt:lpstr>Java Program Development Environment</vt:lpstr>
      <vt:lpstr>Characteristics of Java </vt:lpstr>
      <vt:lpstr>Characteristics of Java </vt:lpstr>
      <vt:lpstr>Characteristics of Java </vt:lpstr>
      <vt:lpstr>Characteristics of Java </vt:lpstr>
      <vt:lpstr>Characteristics of Java </vt:lpstr>
      <vt:lpstr>Characteristics of Java </vt:lpstr>
      <vt:lpstr>Sample java Program :</vt:lpstr>
      <vt:lpstr>Sample java Program 2:</vt:lpstr>
      <vt:lpstr>Sample java Program 2:</vt:lpstr>
      <vt:lpstr>Data types in Java :</vt:lpstr>
      <vt:lpstr>Data types in Java :</vt:lpstr>
      <vt:lpstr>Data types in Java :</vt:lpstr>
      <vt:lpstr>Data types in Java :</vt:lpstr>
      <vt:lpstr>Data types in Java :</vt:lpstr>
      <vt:lpstr>Data types in Java :</vt:lpstr>
      <vt:lpstr>Data types in Java :</vt:lpstr>
      <vt:lpstr>Data types in Java : </vt:lpstr>
      <vt:lpstr>Java Control Statements :</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Control Statements</vt:lpstr>
      <vt:lpstr>JAVA BASIC OPERATORS</vt:lpstr>
      <vt:lpstr>JAVA BASIC OPERATORS</vt:lpstr>
      <vt:lpstr>JAVA BASIC OPERATORS</vt:lpstr>
      <vt:lpstr>JAVA BASIC OPERATORS</vt:lpstr>
      <vt:lpstr>JAVA BASIC OPERATORS</vt:lpstr>
      <vt:lpstr>JAVA BASIC OPERATORS</vt:lpstr>
      <vt:lpstr>JAVA BASIC OPERATORS</vt:lpstr>
      <vt:lpstr>JAVA BASIC OPERATORS</vt:lpstr>
      <vt:lpstr>JAVA BASIC OPERATORS</vt:lpstr>
      <vt:lpstr>JAVA BASIC OPERATORS</vt:lpstr>
      <vt:lpstr>Misc Operators</vt:lpstr>
      <vt:lpstr>Misc Operators</vt:lpstr>
      <vt:lpstr>Misc Operators</vt:lpstr>
      <vt:lpstr>Misc Operators</vt:lpstr>
      <vt:lpstr>JAVA - ARRAYS</vt:lpstr>
      <vt:lpstr>JAVA - ARRAYS</vt:lpstr>
      <vt:lpstr>JAVA - ARRAYS</vt:lpstr>
      <vt:lpstr>JAVA - ARRAYS</vt:lpstr>
      <vt:lpstr>JAVA - ARRAYS</vt:lpstr>
      <vt:lpstr>JAVA - ARRAYS</vt:lpstr>
      <vt:lpstr>JAVA - ARRAYS</vt:lpstr>
      <vt:lpstr>JAVA - ARRAYS</vt:lpstr>
      <vt:lpstr>JAVA - ARRAYS</vt:lpstr>
      <vt:lpstr>JAVA - ARRAYS</vt:lpstr>
      <vt:lpstr>Access Modifiers in Java</vt:lpstr>
      <vt:lpstr>Access Modifiers in Java</vt:lpstr>
      <vt:lpstr>Access Modifiers in Java</vt:lpstr>
      <vt:lpstr>Access Modifiers in Java</vt:lpstr>
      <vt:lpstr>Access Modifiers in Java</vt:lpstr>
      <vt:lpstr>Access Modifiers in Java</vt:lpstr>
      <vt:lpstr>Access Modifiers in Java</vt:lpstr>
      <vt:lpstr>Access Modifiers in Java</vt:lpstr>
      <vt:lpstr>Access Modifiers in Java</vt:lpstr>
      <vt:lpstr>Access Modifiers in Java</vt:lpstr>
      <vt:lpstr>Access Modifiers in Java</vt:lpstr>
      <vt:lpstr>Access Modifiers in Java</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Concepts</dc:title>
  <dc:creator>Lab2-01</dc:creator>
  <cp:lastModifiedBy>TUSHAR KATHANE</cp:lastModifiedBy>
  <cp:revision>228</cp:revision>
  <dcterms:created xsi:type="dcterms:W3CDTF">2017-12-14T08:59:32Z</dcterms:created>
  <dcterms:modified xsi:type="dcterms:W3CDTF">2023-08-22T18:33:40Z</dcterms:modified>
</cp:coreProperties>
</file>