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14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12E1-50BB-4D39-A947-2FA1985E3DC1}" type="datetimeFigureOut">
              <a:rPr lang="en-US" smtClean="0"/>
              <a:t>11/8/2023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4A13E-E486-4652-91A6-C373BCC914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8736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bIns="91440" anchor="b" anchorCtr="0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65F0D8-3483-4E75-BE56-B8181858E28A}" type="datetimeFigureOut">
              <a:rPr lang="en-US" smtClean="0"/>
              <a:pPr/>
              <a:t>11/8/2023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chemeClr val="bg1"/>
          </a:solidFill>
          <a:latin typeface="Cambria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mbria" pitchFamily="18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70025"/>
          </a:xfrm>
        </p:spPr>
        <p:txBody>
          <a:bodyPr/>
          <a:lstStyle/>
          <a:p>
            <a:r>
              <a:rPr lang="en-US" b="0" dirty="0"/>
              <a:t>Java Programming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105835"/>
            <a:ext cx="8305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Java Programming</a:t>
            </a:r>
            <a:br>
              <a:rPr lang="en-US" sz="4000" b="1" dirty="0"/>
            </a:br>
            <a:r>
              <a:rPr lang="en-US" sz="4000" dirty="0"/>
              <a:t>IT-11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What is an Event? </a:t>
            </a:r>
          </a:p>
          <a:p>
            <a:pPr lvl="1" fontAlgn="base"/>
            <a:r>
              <a:rPr lang="en-US" dirty="0"/>
              <a:t>Change in the state of an object is known as event i.e. event describes the change in state of source. </a:t>
            </a:r>
          </a:p>
          <a:p>
            <a:pPr lvl="1" fontAlgn="base"/>
            <a:r>
              <a:rPr lang="en-US" dirty="0"/>
              <a:t>Events are generated as result of user interaction with the graphical user interface components. </a:t>
            </a:r>
          </a:p>
          <a:p>
            <a:pPr lvl="1" fontAlgn="base"/>
            <a:r>
              <a:rPr lang="en-US" dirty="0"/>
              <a:t>For example, clicking on a button, moving the mouse, entering a character through </a:t>
            </a:r>
            <a:r>
              <a:rPr lang="en-US" dirty="0" err="1"/>
              <a:t>keyboard,selecting</a:t>
            </a:r>
            <a:r>
              <a:rPr lang="en-US" dirty="0"/>
              <a:t> an item from list, scrolling the page are the activities that causes an event to happen.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5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Event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/>
          </a:bodyPr>
          <a:lstStyle/>
          <a:p>
            <a:r>
              <a:rPr lang="en-US" dirty="0"/>
              <a:t>The events can be broadly classified into two categories: </a:t>
            </a:r>
          </a:p>
          <a:p>
            <a:endParaRPr lang="en-US" dirty="0"/>
          </a:p>
          <a:p>
            <a:r>
              <a:rPr lang="en-US" b="1" dirty="0"/>
              <a:t>Foreground Events </a:t>
            </a:r>
            <a:r>
              <a:rPr lang="en-US" dirty="0"/>
              <a:t>– </a:t>
            </a:r>
          </a:p>
          <a:p>
            <a:pPr lvl="1"/>
            <a:r>
              <a:rPr lang="en-US" dirty="0"/>
              <a:t>Those events which require the direct interaction of user.</a:t>
            </a:r>
          </a:p>
          <a:p>
            <a:pPr lvl="1"/>
            <a:r>
              <a:rPr lang="en-US" dirty="0"/>
              <a:t>They are generated as consequences of a person interacting with the graphical components in Graphical User Interface. </a:t>
            </a:r>
          </a:p>
          <a:p>
            <a:pPr lvl="1"/>
            <a:r>
              <a:rPr lang="en-US" dirty="0"/>
              <a:t>For example, clicking on a button, moving the mouse, entering a character through </a:t>
            </a:r>
            <a:r>
              <a:rPr lang="en-US" dirty="0" err="1"/>
              <a:t>keyboard,selecting</a:t>
            </a:r>
            <a:r>
              <a:rPr lang="en-US" dirty="0"/>
              <a:t> an item from list, scrolling the page etc.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5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Event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Background Events </a:t>
            </a:r>
            <a:r>
              <a:rPr lang="en-US" dirty="0"/>
              <a:t>–</a:t>
            </a:r>
          </a:p>
          <a:p>
            <a:pPr lvl="1"/>
            <a:r>
              <a:rPr lang="en-US" dirty="0"/>
              <a:t> Those events that require the interaction of end user are known as background events.</a:t>
            </a:r>
          </a:p>
          <a:p>
            <a:pPr lvl="1"/>
            <a:r>
              <a:rPr lang="en-US" dirty="0"/>
              <a:t> Operating system interrupts, hardware or software failure, timer expires, an operation completion are the example of background events.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Event Handling?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dirty="0"/>
              <a:t>Event Handling is the mechanism that controls the event and decides what should happen if an event occurs. </a:t>
            </a:r>
          </a:p>
          <a:p>
            <a:r>
              <a:rPr lang="en-US" dirty="0"/>
              <a:t>This mechanism have the code which is known as event handler that is executed when an event occurs.</a:t>
            </a:r>
          </a:p>
          <a:p>
            <a:r>
              <a:rPr lang="en-US" dirty="0"/>
              <a:t> Java Uses the Delegation Event Model to handle the events.</a:t>
            </a:r>
          </a:p>
          <a:p>
            <a:r>
              <a:rPr lang="en-US" dirty="0"/>
              <a:t> This model defines the standard mechanism to generate and handle the events.</a:t>
            </a:r>
          </a:p>
          <a:p>
            <a:r>
              <a:rPr lang="en-US" dirty="0"/>
              <a:t>Let's have a brief introduction to this model. </a:t>
            </a:r>
          </a:p>
        </p:txBody>
      </p:sp>
    </p:spTree>
    <p:extLst>
      <p:ext uri="{BB962C8B-B14F-4D97-AF65-F5344CB8AC3E}">
        <p14:creationId xmlns:p14="http://schemas.microsoft.com/office/powerpoint/2010/main" val="135148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 Event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5066" y="990600"/>
            <a:ext cx="77724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Delegation Event Model has the following key participants namely: </a:t>
            </a:r>
          </a:p>
          <a:p>
            <a:r>
              <a:rPr lang="en-US" b="1" dirty="0"/>
              <a:t>Source </a:t>
            </a:r>
            <a:r>
              <a:rPr lang="en-US" dirty="0"/>
              <a:t>– </a:t>
            </a:r>
          </a:p>
          <a:p>
            <a:pPr lvl="1"/>
            <a:r>
              <a:rPr lang="en-US" dirty="0"/>
              <a:t>The source is an object on which event occurs. </a:t>
            </a:r>
          </a:p>
          <a:p>
            <a:pPr lvl="1"/>
            <a:r>
              <a:rPr lang="en-US" dirty="0"/>
              <a:t>Source is responsible for providing information of the occurred event to it's handler. </a:t>
            </a:r>
          </a:p>
          <a:p>
            <a:endParaRPr lang="en-US" dirty="0"/>
          </a:p>
          <a:p>
            <a:r>
              <a:rPr lang="en-US" b="1" dirty="0"/>
              <a:t>Listener </a:t>
            </a:r>
            <a:r>
              <a:rPr lang="en-US" dirty="0"/>
              <a:t>– </a:t>
            </a:r>
          </a:p>
          <a:p>
            <a:pPr lvl="1"/>
            <a:r>
              <a:rPr lang="en-US" dirty="0"/>
              <a:t>It is also known as event handler.</a:t>
            </a:r>
          </a:p>
          <a:p>
            <a:pPr lvl="1"/>
            <a:r>
              <a:rPr lang="en-US" dirty="0"/>
              <a:t>Listener is responsible for generating response to an event.</a:t>
            </a:r>
          </a:p>
          <a:p>
            <a:pPr lvl="1"/>
            <a:r>
              <a:rPr lang="en-US" dirty="0"/>
              <a:t> Listener waits until it receives an event. Once the event is received , the listener process the event an then returns.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9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 Event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5301" y="1143000"/>
            <a:ext cx="7772400" cy="5334000"/>
          </a:xfrm>
        </p:spPr>
        <p:txBody>
          <a:bodyPr>
            <a:normAutofit/>
          </a:bodyPr>
          <a:lstStyle/>
          <a:p>
            <a:r>
              <a:rPr lang="en-US" dirty="0"/>
              <a:t>The benefit of this approach is that the user interface logic is completely separated from the logic that generates the event. </a:t>
            </a:r>
          </a:p>
          <a:p>
            <a:r>
              <a:rPr lang="en-US" dirty="0"/>
              <a:t>The user interface element is able to delegate the processing of an event to the separate piece of code.</a:t>
            </a:r>
          </a:p>
          <a:p>
            <a:r>
              <a:rPr lang="en-US" dirty="0"/>
              <a:t>In this model ,Listener needs to be registered with the source object so that the listener can receive the event notification. </a:t>
            </a:r>
          </a:p>
          <a:p>
            <a:r>
              <a:rPr lang="en-US" dirty="0"/>
              <a:t>This is an efficient way of handling the event because the event notifications are sent only to those listener that want to receive them. </a:t>
            </a:r>
          </a:p>
        </p:txBody>
      </p:sp>
    </p:spTree>
    <p:extLst>
      <p:ext uri="{BB962C8B-B14F-4D97-AF65-F5344CB8AC3E}">
        <p14:creationId xmlns:p14="http://schemas.microsoft.com/office/powerpoint/2010/main" val="394756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involved in event handling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/>
          <a:lstStyle/>
          <a:p>
            <a:r>
              <a:rPr lang="en-US" dirty="0"/>
              <a:t>The User clicks the button and the event is generated. </a:t>
            </a:r>
          </a:p>
          <a:p>
            <a:r>
              <a:rPr lang="en-US" dirty="0"/>
              <a:t>Now the object of concerned event class is created automatically and information about the source and the event get populated with in same object. </a:t>
            </a:r>
          </a:p>
          <a:p>
            <a:r>
              <a:rPr lang="en-US" dirty="0"/>
              <a:t>Event object is forwarded to the method of registered listener class. </a:t>
            </a:r>
          </a:p>
          <a:p>
            <a:r>
              <a:rPr lang="en-US" dirty="0"/>
              <a:t>the method is now get executed and returns.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8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AWT Event Classes: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 fontScale="92500"/>
          </a:bodyPr>
          <a:lstStyle/>
          <a:p>
            <a:r>
              <a:rPr lang="en-US" dirty="0"/>
              <a:t>Following is the list of commonly used event classes. </a:t>
            </a:r>
          </a:p>
          <a:p>
            <a:r>
              <a:rPr lang="en-US" b="1" dirty="0" err="1"/>
              <a:t>AWTEvent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It is the root event class for all AWT events. </a:t>
            </a:r>
          </a:p>
          <a:p>
            <a:r>
              <a:rPr lang="en-US" b="1" dirty="0" err="1"/>
              <a:t>ActionEvent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ActionEvent</a:t>
            </a:r>
            <a:r>
              <a:rPr lang="en-US" dirty="0"/>
              <a:t> is generated when button is clicked or the item of a list is double clicked. 	</a:t>
            </a:r>
          </a:p>
          <a:p>
            <a:r>
              <a:rPr lang="en-US" b="1" dirty="0" err="1"/>
              <a:t>KeyEvent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On entering the character the Key event is generated.</a:t>
            </a:r>
          </a:p>
          <a:p>
            <a:r>
              <a:rPr lang="en-US" b="1" dirty="0" err="1"/>
              <a:t>MouseEvent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This event indicates a mouse action occurred in a component 	</a:t>
            </a:r>
          </a:p>
          <a:p>
            <a:r>
              <a:rPr lang="en-US" dirty="0"/>
              <a:t> </a:t>
            </a:r>
            <a:r>
              <a:rPr lang="en-US" b="1" dirty="0" err="1"/>
              <a:t>TextEvent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The object of this class represents the text events. 	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45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AWT Event Classes: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en-US" b="1" dirty="0" err="1"/>
              <a:t>WindowEvent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The object of this class represents the change in state of a window. 	</a:t>
            </a:r>
          </a:p>
          <a:p>
            <a:r>
              <a:rPr lang="en-US" b="1" dirty="0" err="1"/>
              <a:t>ComponentEvent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The object of this class represents the change in state of a window. 	</a:t>
            </a:r>
          </a:p>
          <a:p>
            <a:r>
              <a:rPr lang="en-US" b="1" dirty="0" err="1"/>
              <a:t>ContainerEvent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The object of this class represents the change in state of a window. 	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8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ActionListener</a:t>
            </a:r>
            <a:r>
              <a:rPr lang="en-US" dirty="0"/>
              <a:t> Interface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/>
          <a:lstStyle/>
          <a:p>
            <a:r>
              <a:rPr lang="en-US" dirty="0"/>
              <a:t>The Java </a:t>
            </a:r>
            <a:r>
              <a:rPr lang="en-US" dirty="0" err="1"/>
              <a:t>ActionListener</a:t>
            </a:r>
            <a:r>
              <a:rPr lang="en-US" dirty="0"/>
              <a:t> is notified whenever you click on the button or menu item. </a:t>
            </a:r>
          </a:p>
          <a:p>
            <a:r>
              <a:rPr lang="en-US" dirty="0"/>
              <a:t>It is notified against </a:t>
            </a:r>
            <a:r>
              <a:rPr lang="en-US" dirty="0" err="1"/>
              <a:t>ActionEvent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ActionListener</a:t>
            </a:r>
            <a:r>
              <a:rPr lang="en-US" dirty="0"/>
              <a:t> interface is found in </a:t>
            </a:r>
            <a:r>
              <a:rPr lang="en-US" dirty="0" err="1"/>
              <a:t>java.awt.event</a:t>
            </a:r>
            <a:r>
              <a:rPr lang="en-US" dirty="0"/>
              <a:t> package. </a:t>
            </a:r>
          </a:p>
          <a:p>
            <a:r>
              <a:rPr lang="en-US" dirty="0"/>
              <a:t>It has only one method: </a:t>
            </a:r>
            <a:r>
              <a:rPr lang="en-US" dirty="0" err="1"/>
              <a:t>actionPerformed</a:t>
            </a:r>
            <a:r>
              <a:rPr lang="en-US" dirty="0"/>
              <a:t>(). </a:t>
            </a:r>
          </a:p>
          <a:p>
            <a:r>
              <a:rPr lang="en-US" b="1" dirty="0" err="1"/>
              <a:t>actionPerformed</a:t>
            </a:r>
            <a:r>
              <a:rPr lang="en-US" b="1" dirty="0"/>
              <a:t>() method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actionPerformed</a:t>
            </a:r>
            <a:r>
              <a:rPr lang="en-US" dirty="0"/>
              <a:t>() method is invoked automatically whenever you click on the registered component </a:t>
            </a:r>
          </a:p>
        </p:txBody>
      </p:sp>
    </p:spTree>
    <p:extLst>
      <p:ext uri="{BB962C8B-B14F-4D97-AF65-F5344CB8AC3E}">
        <p14:creationId xmlns:p14="http://schemas.microsoft.com/office/powerpoint/2010/main" val="213999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java.awt.event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public class ActionListenerExample1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Frame f=new Frame("ActionListener Example"); </a:t>
            </a:r>
          </a:p>
          <a:p>
            <a:pPr marL="0" indent="0">
              <a:buNone/>
            </a:pPr>
            <a:r>
              <a:rPr lang="en-US" dirty="0"/>
              <a:t> final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tf</a:t>
            </a:r>
            <a:r>
              <a:rPr lang="en-US" dirty="0"/>
              <a:t>=new </a:t>
            </a:r>
            <a:r>
              <a:rPr lang="en-US" dirty="0" err="1"/>
              <a:t>TextField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tf.setBounds</a:t>
            </a:r>
            <a:r>
              <a:rPr lang="en-US" dirty="0"/>
              <a:t>(50,50, 150,20); </a:t>
            </a:r>
          </a:p>
          <a:p>
            <a:pPr marL="0" indent="0">
              <a:buNone/>
            </a:pPr>
            <a:r>
              <a:rPr lang="en-US" dirty="0"/>
              <a:t> Button b=new Button("Click Here");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b.setBounds</a:t>
            </a:r>
            <a:r>
              <a:rPr lang="en-US" dirty="0"/>
              <a:t>(50,100,60,30);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308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6675" y="1066800"/>
            <a:ext cx="7772400" cy="4572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b.addActionListener</a:t>
            </a:r>
            <a:r>
              <a:rPr lang="en-US" dirty="0"/>
              <a:t>(this</a:t>
            </a:r>
          </a:p>
          <a:p>
            <a:pPr marL="0" indent="0">
              <a:buNone/>
            </a:pPr>
            <a:r>
              <a:rPr lang="en-US" dirty="0"/>
              <a:t>new ActionListener( )</a:t>
            </a:r>
          </a:p>
          <a:p>
            <a:pPr marL="0" indent="0">
              <a:buNone/>
            </a:pPr>
            <a:r>
              <a:rPr lang="en-US" dirty="0"/>
              <a:t>{ 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tf.setText</a:t>
            </a:r>
            <a:r>
              <a:rPr lang="en-US" dirty="0"/>
              <a:t>("Welcome to </a:t>
            </a:r>
            <a:r>
              <a:rPr lang="en-US" dirty="0" err="1"/>
              <a:t>pune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} 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} </a:t>
            </a:r>
            <a:r>
              <a:rPr lang="en-US" dirty="0" err="1"/>
              <a:t>f.add</a:t>
            </a:r>
            <a:r>
              <a:rPr lang="en-US" dirty="0"/>
              <a:t>(b);  </a:t>
            </a:r>
            <a:r>
              <a:rPr lang="en-US" dirty="0" err="1"/>
              <a:t>f.add</a:t>
            </a:r>
            <a:r>
              <a:rPr lang="en-US" dirty="0"/>
              <a:t>(</a:t>
            </a:r>
            <a:r>
              <a:rPr lang="en-US" dirty="0" err="1"/>
              <a:t>tf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f.setSize</a:t>
            </a:r>
            <a:r>
              <a:rPr lang="en-US" dirty="0"/>
              <a:t>(400,400);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7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66800"/>
            <a:ext cx="5410200" cy="5410200"/>
          </a:xfrm>
        </p:spPr>
      </p:pic>
    </p:spTree>
    <p:extLst>
      <p:ext uri="{BB962C8B-B14F-4D97-AF65-F5344CB8AC3E}">
        <p14:creationId xmlns:p14="http://schemas.microsoft.com/office/powerpoint/2010/main" val="1121239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TextField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33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java.awt.event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dirty="0" err="1"/>
              <a:t>TextFieldExample</a:t>
            </a:r>
            <a:r>
              <a:rPr lang="en-US" dirty="0"/>
              <a:t> extends Frame implements </a:t>
            </a:r>
            <a:r>
              <a:rPr lang="en-US" dirty="0" err="1"/>
              <a:t>ActionListener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tf1,tf2,tf3; </a:t>
            </a:r>
          </a:p>
          <a:p>
            <a:pPr marL="0" indent="0">
              <a:buNone/>
            </a:pPr>
            <a:r>
              <a:rPr lang="en-US" dirty="0"/>
              <a:t> Button b1,b2; </a:t>
            </a:r>
          </a:p>
          <a:p>
            <a:pPr marL="0" indent="0">
              <a:buNone/>
            </a:pPr>
            <a:r>
              <a:rPr lang="en-US" dirty="0" err="1"/>
              <a:t>TextFieldExample</a:t>
            </a:r>
            <a:r>
              <a:rPr lang="en-US" dirty="0"/>
              <a:t>(){ </a:t>
            </a:r>
          </a:p>
          <a:p>
            <a:pPr marL="0" indent="0">
              <a:buNone/>
            </a:pPr>
            <a:r>
              <a:rPr lang="en-US" dirty="0"/>
              <a:t> tf1=new </a:t>
            </a:r>
            <a:r>
              <a:rPr lang="en-US" dirty="0" err="1"/>
              <a:t>TextField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tf1.setBounds(50,50,150,20); </a:t>
            </a:r>
          </a:p>
          <a:p>
            <a:pPr marL="0" indent="0">
              <a:buNone/>
            </a:pPr>
            <a:r>
              <a:rPr lang="en-US" dirty="0"/>
              <a:t> tf2=new </a:t>
            </a:r>
            <a:r>
              <a:rPr lang="en-US" dirty="0" err="1"/>
              <a:t>TextField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tf2.setBounds(50,100,150,20); </a:t>
            </a:r>
          </a:p>
          <a:p>
            <a:pPr marL="0" indent="0">
              <a:buNone/>
            </a:pPr>
            <a:r>
              <a:rPr lang="en-US" dirty="0"/>
              <a:t> tf3=new </a:t>
            </a:r>
            <a:r>
              <a:rPr lang="en-US" dirty="0" err="1"/>
              <a:t>TextField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tf3.setBounds(50,150,150,20);</a:t>
            </a:r>
          </a:p>
        </p:txBody>
      </p:sp>
    </p:spTree>
    <p:extLst>
      <p:ext uri="{BB962C8B-B14F-4D97-AF65-F5344CB8AC3E}">
        <p14:creationId xmlns:p14="http://schemas.microsoft.com/office/powerpoint/2010/main" val="331381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TextField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tf3.setEditable(false);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b1=new Button("+"); </a:t>
            </a:r>
          </a:p>
          <a:p>
            <a:pPr marL="0" indent="0">
              <a:buNone/>
            </a:pPr>
            <a:r>
              <a:rPr lang="en-US" dirty="0"/>
              <a:t> b1.setBounds(50,200,50,50); </a:t>
            </a:r>
          </a:p>
          <a:p>
            <a:pPr marL="0" indent="0">
              <a:buNone/>
            </a:pPr>
            <a:r>
              <a:rPr lang="en-US" dirty="0"/>
              <a:t> b2=new Button("-"); </a:t>
            </a:r>
          </a:p>
          <a:p>
            <a:pPr marL="0" indent="0">
              <a:buNone/>
            </a:pPr>
            <a:r>
              <a:rPr lang="en-US" dirty="0"/>
              <a:t> b2.setBounds(120,200,50,50);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b1.addActionListener(this); </a:t>
            </a:r>
          </a:p>
          <a:p>
            <a:pPr marL="0" indent="0">
              <a:buNone/>
            </a:pPr>
            <a:r>
              <a:rPr lang="en-US" dirty="0"/>
              <a:t> b2.addActionListener(this);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add(tf1);add(tf2);add(tf3);add(b1);add(b2);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setSize</a:t>
            </a:r>
            <a:r>
              <a:rPr lang="en-US" dirty="0"/>
              <a:t>(300,300);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400202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TextField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String s1=tf1.getText(); </a:t>
            </a:r>
          </a:p>
          <a:p>
            <a:pPr marL="0" indent="0">
              <a:buNone/>
            </a:pPr>
            <a:r>
              <a:rPr lang="en-US" dirty="0"/>
              <a:t> String s2=tf2.getText();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a=</a:t>
            </a:r>
            <a:r>
              <a:rPr lang="en-US" dirty="0" err="1"/>
              <a:t>Integer.parseInt</a:t>
            </a:r>
            <a:r>
              <a:rPr lang="en-US" dirty="0"/>
              <a:t>(s1);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b=</a:t>
            </a:r>
            <a:r>
              <a:rPr lang="en-US" dirty="0" err="1"/>
              <a:t>Integer.parseInt</a:t>
            </a:r>
            <a:r>
              <a:rPr lang="en-US" dirty="0"/>
              <a:t>(s2);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c=0; </a:t>
            </a:r>
          </a:p>
          <a:p>
            <a:pPr marL="0" indent="0">
              <a:buNone/>
            </a:pPr>
            <a:r>
              <a:rPr lang="en-US" dirty="0"/>
              <a:t> if(</a:t>
            </a:r>
            <a:r>
              <a:rPr lang="en-US" dirty="0" err="1"/>
              <a:t>e.getSource</a:t>
            </a:r>
            <a:r>
              <a:rPr lang="en-US" dirty="0"/>
              <a:t>()==b1)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	c=</a:t>
            </a:r>
            <a:r>
              <a:rPr lang="en-US" dirty="0" err="1"/>
              <a:t>a+b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else if(</a:t>
            </a:r>
            <a:r>
              <a:rPr lang="en-US" dirty="0" err="1"/>
              <a:t>e.getSource</a:t>
            </a:r>
            <a:r>
              <a:rPr lang="en-US" dirty="0"/>
              <a:t>()==b2)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 c=a-b;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274320" lvl="1" indent="0">
              <a:buNone/>
            </a:pPr>
            <a:r>
              <a:rPr lang="en-US" dirty="0"/>
              <a:t> String result=</a:t>
            </a:r>
            <a:r>
              <a:rPr lang="en-US" dirty="0" err="1"/>
              <a:t>String.valueOf</a:t>
            </a:r>
            <a:r>
              <a:rPr lang="en-US" dirty="0"/>
              <a:t>(c); </a:t>
            </a:r>
          </a:p>
          <a:p>
            <a:pPr marL="274320" lvl="1" indent="0">
              <a:buNone/>
            </a:pPr>
            <a:r>
              <a:rPr lang="en-US" dirty="0"/>
              <a:t> tf3.setText(result);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2648795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TextField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 new </a:t>
            </a:r>
            <a:r>
              <a:rPr lang="en-US" dirty="0" err="1"/>
              <a:t>TextFieldExample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695575"/>
            <a:ext cx="3962400" cy="397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53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MouseListener</a:t>
            </a:r>
            <a:r>
              <a:rPr lang="en-US" dirty="0"/>
              <a:t> Interface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86400"/>
          </a:xfrm>
        </p:spPr>
        <p:txBody>
          <a:bodyPr>
            <a:normAutofit/>
          </a:bodyPr>
          <a:lstStyle/>
          <a:p>
            <a:r>
              <a:rPr lang="en-US" dirty="0"/>
              <a:t>The Java </a:t>
            </a:r>
            <a:r>
              <a:rPr lang="en-US" dirty="0" err="1"/>
              <a:t>MouseListener</a:t>
            </a:r>
            <a:r>
              <a:rPr lang="en-US" dirty="0"/>
              <a:t> is notified whenever you change the state of mouse.</a:t>
            </a:r>
          </a:p>
          <a:p>
            <a:r>
              <a:rPr lang="en-US" dirty="0"/>
              <a:t> It is notified against </a:t>
            </a:r>
            <a:r>
              <a:rPr lang="en-US" dirty="0" err="1"/>
              <a:t>MouseEvent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MouseListener</a:t>
            </a:r>
            <a:r>
              <a:rPr lang="en-US" dirty="0"/>
              <a:t> interface is found in </a:t>
            </a:r>
            <a:r>
              <a:rPr lang="en-US" dirty="0" err="1"/>
              <a:t>java.awt.event</a:t>
            </a:r>
            <a:r>
              <a:rPr lang="en-US" dirty="0"/>
              <a:t> package. </a:t>
            </a:r>
          </a:p>
          <a:p>
            <a:r>
              <a:rPr lang="en-US" dirty="0"/>
              <a:t>It has five methods. </a:t>
            </a:r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mouseClicked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 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public abstract void </a:t>
            </a:r>
            <a:r>
              <a:rPr lang="en-US" dirty="0" err="1"/>
              <a:t>mouseEntered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</a:t>
            </a:r>
            <a:endParaRPr lang="en-US" sz="2800" dirty="0"/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mouseExited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 </a:t>
            </a:r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mousePressed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 </a:t>
            </a:r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mouseReleased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</a:t>
            </a:r>
          </a:p>
        </p:txBody>
      </p:sp>
    </p:spTree>
    <p:extLst>
      <p:ext uri="{BB962C8B-B14F-4D97-AF65-F5344CB8AC3E}">
        <p14:creationId xmlns:p14="http://schemas.microsoft.com/office/powerpoint/2010/main" val="2049557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9851" y="1066800"/>
            <a:ext cx="7772400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java.awt.event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dirty="0" err="1"/>
              <a:t>MouseListenerExample</a:t>
            </a:r>
            <a:r>
              <a:rPr lang="en-US" dirty="0"/>
              <a:t> extends Frame implements </a:t>
            </a:r>
            <a:r>
              <a:rPr lang="en-US" dirty="0" err="1"/>
              <a:t>MouseListener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Label l;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MouseListenerExample</a:t>
            </a:r>
            <a:r>
              <a:rPr lang="en-US" dirty="0"/>
              <a:t>(){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addMouseListener</a:t>
            </a:r>
            <a:r>
              <a:rPr lang="en-US" dirty="0"/>
              <a:t>(this);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l=new Label();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l.setBounds</a:t>
            </a:r>
            <a:r>
              <a:rPr lang="en-US" dirty="0"/>
              <a:t>(20,50,100,20); </a:t>
            </a:r>
          </a:p>
          <a:p>
            <a:pPr marL="0" indent="0">
              <a:buNone/>
            </a:pPr>
            <a:r>
              <a:rPr lang="en-US" dirty="0"/>
              <a:t> add(l);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setSize</a:t>
            </a:r>
            <a:r>
              <a:rPr lang="en-US" dirty="0"/>
              <a:t>(300,300);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357210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mouseClicked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("Mouse Clicked");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mouseEntered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("Mouse Entered");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mouseExited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("Mouse Exited");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44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95400"/>
            <a:ext cx="77724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mousePressed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("Mouse Pressed");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mouseReleased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("Mouse Released");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 new </a:t>
            </a:r>
            <a:r>
              <a:rPr lang="en-US" dirty="0" err="1"/>
              <a:t>MouseListenerExample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0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5" y="1219200"/>
            <a:ext cx="4905375" cy="4741316"/>
          </a:xfrm>
        </p:spPr>
      </p:pic>
    </p:spTree>
    <p:extLst>
      <p:ext uri="{BB962C8B-B14F-4D97-AF65-F5344CB8AC3E}">
        <p14:creationId xmlns:p14="http://schemas.microsoft.com/office/powerpoint/2010/main" val="654305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MouseMotionListener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>
            <a:normAutofit/>
          </a:bodyPr>
          <a:lstStyle/>
          <a:p>
            <a:r>
              <a:rPr lang="en-US" dirty="0"/>
              <a:t>The Java </a:t>
            </a:r>
            <a:r>
              <a:rPr lang="en-US" dirty="0" err="1"/>
              <a:t>MouseMotionListener</a:t>
            </a:r>
            <a:r>
              <a:rPr lang="en-US" dirty="0"/>
              <a:t> is notified whenever you move or drag mouse.</a:t>
            </a:r>
          </a:p>
          <a:p>
            <a:r>
              <a:rPr lang="en-US" dirty="0"/>
              <a:t> It is notified against </a:t>
            </a:r>
            <a:r>
              <a:rPr lang="en-US" dirty="0" err="1"/>
              <a:t>MouseEvent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MouseMotionListener</a:t>
            </a:r>
            <a:r>
              <a:rPr lang="en-US" dirty="0"/>
              <a:t> interface is found in </a:t>
            </a:r>
            <a:r>
              <a:rPr lang="en-US" dirty="0" err="1"/>
              <a:t>java.awt.event</a:t>
            </a:r>
            <a:r>
              <a:rPr lang="en-US" dirty="0"/>
              <a:t> package. It has two methods.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mouseDragged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 </a:t>
            </a:r>
          </a:p>
          <a:p>
            <a:pPr lvl="1"/>
            <a:r>
              <a:rPr lang="en-US" b="1" dirty="0"/>
              <a:t>public abstract void </a:t>
            </a:r>
            <a:r>
              <a:rPr lang="en-US" dirty="0" err="1"/>
              <a:t>mouseMoved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68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2361" y="990600"/>
            <a:ext cx="77724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java.awt.event.MouseEvent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java.awt.event.MouseMotionListener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 public class Paint extends Frame implements </a:t>
            </a:r>
            <a:r>
              <a:rPr lang="en-US" dirty="0" err="1"/>
              <a:t>MouseMotionListener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Label l; </a:t>
            </a:r>
          </a:p>
          <a:p>
            <a:pPr marL="0" indent="0">
              <a:buNone/>
            </a:pPr>
            <a:r>
              <a:rPr lang="en-US" dirty="0"/>
              <a:t> Color c=</a:t>
            </a:r>
            <a:r>
              <a:rPr lang="en-US" dirty="0" err="1"/>
              <a:t>Color.BLUE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 Paint(){ </a:t>
            </a:r>
          </a:p>
          <a:p>
            <a:pPr marL="0" indent="0">
              <a:buNone/>
            </a:pPr>
            <a:r>
              <a:rPr lang="en-US" dirty="0"/>
              <a:t> l=new Label();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l.setBounds</a:t>
            </a:r>
            <a:r>
              <a:rPr lang="en-US" dirty="0"/>
              <a:t>(20,40,100,20); </a:t>
            </a:r>
          </a:p>
          <a:p>
            <a:pPr marL="0" indent="0">
              <a:buNone/>
            </a:pPr>
            <a:r>
              <a:rPr lang="en-US" dirty="0"/>
              <a:t> add(l);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addMouseMotionListener</a:t>
            </a:r>
            <a:r>
              <a:rPr lang="en-US" dirty="0"/>
              <a:t>(this);</a:t>
            </a:r>
          </a:p>
        </p:txBody>
      </p:sp>
    </p:spTree>
    <p:extLst>
      <p:ext uri="{BB962C8B-B14F-4D97-AF65-F5344CB8AC3E}">
        <p14:creationId xmlns:p14="http://schemas.microsoft.com/office/powerpoint/2010/main" val="1093543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setSize</a:t>
            </a:r>
            <a:r>
              <a:rPr lang="en-US" dirty="0"/>
              <a:t>(400,400);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mouseDragged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 err="1"/>
              <a:t>l.setText</a:t>
            </a:r>
            <a:r>
              <a:rPr lang="en-US" dirty="0"/>
              <a:t>("X="+</a:t>
            </a:r>
            <a:r>
              <a:rPr lang="en-US" dirty="0" err="1"/>
              <a:t>e.getX</a:t>
            </a:r>
            <a:r>
              <a:rPr lang="en-US" dirty="0"/>
              <a:t>()+", Y="+</a:t>
            </a:r>
            <a:r>
              <a:rPr lang="en-US" dirty="0" err="1"/>
              <a:t>e.getY</a:t>
            </a:r>
            <a:r>
              <a:rPr lang="en-US" dirty="0"/>
              <a:t>()); </a:t>
            </a:r>
          </a:p>
          <a:p>
            <a:pPr marL="0" indent="0">
              <a:buNone/>
            </a:pPr>
            <a:r>
              <a:rPr lang="en-US" dirty="0"/>
              <a:t>Graphics g=</a:t>
            </a:r>
            <a:r>
              <a:rPr lang="en-US" dirty="0" err="1"/>
              <a:t>getGraphics</a:t>
            </a:r>
            <a:r>
              <a:rPr lang="en-US" dirty="0"/>
              <a:t>();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g.setColor</a:t>
            </a:r>
            <a:r>
              <a:rPr lang="en-US" dirty="0"/>
              <a:t>(</a:t>
            </a:r>
            <a:r>
              <a:rPr lang="en-US" dirty="0" err="1"/>
              <a:t>Color.RED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g.fillOval</a:t>
            </a:r>
            <a:r>
              <a:rPr lang="en-US" dirty="0"/>
              <a:t>(</a:t>
            </a:r>
            <a:r>
              <a:rPr lang="en-US" dirty="0" err="1"/>
              <a:t>e.getX</a:t>
            </a:r>
            <a:r>
              <a:rPr lang="en-US" dirty="0"/>
              <a:t>(),</a:t>
            </a:r>
            <a:r>
              <a:rPr lang="en-US" dirty="0" err="1"/>
              <a:t>e.getY</a:t>
            </a:r>
            <a:r>
              <a:rPr lang="en-US" dirty="0"/>
              <a:t>(),20,20);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78977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mouseMoved</a:t>
            </a:r>
            <a:r>
              <a:rPr lang="en-US" dirty="0"/>
              <a:t>(</a:t>
            </a:r>
            <a:r>
              <a:rPr lang="en-US" dirty="0" err="1"/>
              <a:t>MouseEvent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("X="+</a:t>
            </a:r>
            <a:r>
              <a:rPr lang="en-US" dirty="0" err="1"/>
              <a:t>e.getX</a:t>
            </a:r>
            <a:r>
              <a:rPr lang="en-US" dirty="0"/>
              <a:t>()+", Y="+</a:t>
            </a:r>
            <a:r>
              <a:rPr lang="en-US" dirty="0" err="1"/>
              <a:t>e.getY</a:t>
            </a:r>
            <a:r>
              <a:rPr lang="en-US" dirty="0"/>
              <a:t>());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 new Paint();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4040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47800"/>
            <a:ext cx="4495800" cy="4484561"/>
          </a:xfrm>
        </p:spPr>
      </p:pic>
    </p:spTree>
    <p:extLst>
      <p:ext uri="{BB962C8B-B14F-4D97-AF65-F5344CB8AC3E}">
        <p14:creationId xmlns:p14="http://schemas.microsoft.com/office/powerpoint/2010/main" val="958560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ItemListener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Java </a:t>
            </a:r>
            <a:r>
              <a:rPr lang="en-US" dirty="0" err="1"/>
              <a:t>ItemListener</a:t>
            </a:r>
            <a:r>
              <a:rPr lang="en-US" dirty="0"/>
              <a:t> is notified whenever you click on the checkbox.</a:t>
            </a:r>
          </a:p>
          <a:p>
            <a:r>
              <a:rPr lang="en-US" dirty="0"/>
              <a:t> It is notified against </a:t>
            </a:r>
            <a:r>
              <a:rPr lang="en-US" dirty="0" err="1"/>
              <a:t>ItemEvent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ItemListener</a:t>
            </a:r>
            <a:r>
              <a:rPr lang="en-US" dirty="0"/>
              <a:t> interface is found in </a:t>
            </a:r>
            <a:r>
              <a:rPr lang="en-US" dirty="0" err="1"/>
              <a:t>java.awt.event</a:t>
            </a:r>
            <a:r>
              <a:rPr lang="en-US" dirty="0"/>
              <a:t> package.</a:t>
            </a:r>
          </a:p>
          <a:p>
            <a:r>
              <a:rPr lang="en-US" dirty="0"/>
              <a:t> It has only one method: </a:t>
            </a:r>
            <a:r>
              <a:rPr lang="en-US" dirty="0" err="1"/>
              <a:t>itemStateChanged</a:t>
            </a:r>
            <a:r>
              <a:rPr lang="en-US" dirty="0"/>
              <a:t>().</a:t>
            </a:r>
          </a:p>
          <a:p>
            <a:r>
              <a:rPr lang="en-US" b="1" dirty="0" err="1"/>
              <a:t>itemStateChanged</a:t>
            </a:r>
            <a:r>
              <a:rPr lang="en-US" b="1" dirty="0"/>
              <a:t>() method </a:t>
            </a:r>
          </a:p>
          <a:p>
            <a:r>
              <a:rPr lang="en-US" dirty="0"/>
              <a:t>The </a:t>
            </a:r>
            <a:r>
              <a:rPr lang="en-US" dirty="0" err="1"/>
              <a:t>itemStateChanged</a:t>
            </a:r>
            <a:r>
              <a:rPr lang="en-US" dirty="0"/>
              <a:t>() method is invoked automatically whenever you click or unclick on the registered checkbox component.</a:t>
            </a:r>
          </a:p>
        </p:txBody>
      </p:sp>
    </p:spTree>
    <p:extLst>
      <p:ext uri="{BB962C8B-B14F-4D97-AF65-F5344CB8AC3E}">
        <p14:creationId xmlns:p14="http://schemas.microsoft.com/office/powerpoint/2010/main" val="1341481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checkBox1.addItemListener(this); </a:t>
            </a:r>
          </a:p>
          <a:p>
            <a:pPr marL="0" indent="0">
              <a:buNone/>
            </a:pPr>
            <a:r>
              <a:rPr lang="en-US" dirty="0"/>
              <a:t> checkBox2.addItemListener(this);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f.setSize</a:t>
            </a:r>
            <a:r>
              <a:rPr lang="en-US" dirty="0"/>
              <a:t>(400,400);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f.setVisible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itemStateChanged</a:t>
            </a:r>
            <a:r>
              <a:rPr lang="en-US" dirty="0"/>
              <a:t>(</a:t>
            </a:r>
            <a:r>
              <a:rPr lang="en-US" dirty="0" err="1"/>
              <a:t>ItemEvent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if(</a:t>
            </a:r>
            <a:r>
              <a:rPr lang="en-US" dirty="0" err="1"/>
              <a:t>e.getSource</a:t>
            </a:r>
            <a:r>
              <a:rPr lang="en-US" dirty="0"/>
              <a:t>()==checkBox1)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label.setText</a:t>
            </a:r>
            <a:r>
              <a:rPr lang="en-US" dirty="0"/>
              <a:t>("C++ Checkbox: " </a:t>
            </a:r>
          </a:p>
          <a:p>
            <a:pPr marL="0" indent="0">
              <a:buNone/>
            </a:pPr>
            <a:r>
              <a:rPr lang="en-US" dirty="0"/>
              <a:t> + (</a:t>
            </a:r>
            <a:r>
              <a:rPr lang="en-US" dirty="0" err="1"/>
              <a:t>e.getStateChange</a:t>
            </a:r>
            <a:r>
              <a:rPr lang="en-US" dirty="0"/>
              <a:t>()==1?"checked":"unchecked")); </a:t>
            </a:r>
          </a:p>
          <a:p>
            <a:pPr marL="0" indent="0">
              <a:buNone/>
            </a:pPr>
            <a:r>
              <a:rPr lang="en-US" dirty="0"/>
              <a:t> if(</a:t>
            </a:r>
            <a:r>
              <a:rPr lang="en-US" dirty="0" err="1"/>
              <a:t>e.getSource</a:t>
            </a:r>
            <a:r>
              <a:rPr lang="en-US" dirty="0"/>
              <a:t>()==checkBox2)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label.setText</a:t>
            </a:r>
            <a:r>
              <a:rPr lang="en-US" dirty="0"/>
              <a:t>("Java Checkbox: " </a:t>
            </a:r>
          </a:p>
          <a:p>
            <a:pPr marL="0" indent="0">
              <a:buNone/>
            </a:pPr>
            <a:r>
              <a:rPr lang="en-US" dirty="0"/>
              <a:t> + (</a:t>
            </a:r>
            <a:r>
              <a:rPr lang="en-US" dirty="0" err="1"/>
              <a:t>e.getStateChange</a:t>
            </a:r>
            <a:r>
              <a:rPr lang="en-US" dirty="0"/>
              <a:t>()==1?"checked":"unchecked"));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081087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</a:t>
            </a:r>
          </a:p>
          <a:p>
            <a:pPr marL="0" indent="0">
              <a:buNone/>
            </a:pP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 new </a:t>
            </a:r>
            <a:r>
              <a:rPr lang="en-US" dirty="0" err="1"/>
              <a:t>ItemListenerExample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80109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19200"/>
            <a:ext cx="5105400" cy="5080000"/>
          </a:xfrm>
        </p:spPr>
      </p:pic>
    </p:spTree>
    <p:extLst>
      <p:ext uri="{BB962C8B-B14F-4D97-AF65-F5344CB8AC3E}">
        <p14:creationId xmlns:p14="http://schemas.microsoft.com/office/powerpoint/2010/main" val="2872508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KeyListener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Java </a:t>
            </a:r>
            <a:r>
              <a:rPr lang="en-US" dirty="0" err="1"/>
              <a:t>KeyListener</a:t>
            </a:r>
            <a:r>
              <a:rPr lang="en-US" dirty="0"/>
              <a:t> is notified whenever you change the state of key. </a:t>
            </a:r>
          </a:p>
          <a:p>
            <a:r>
              <a:rPr lang="en-US" dirty="0"/>
              <a:t>It is notified against </a:t>
            </a:r>
            <a:r>
              <a:rPr lang="en-US" dirty="0" err="1"/>
              <a:t>KeyEvent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 err="1"/>
              <a:t>KeyListener</a:t>
            </a:r>
            <a:r>
              <a:rPr lang="en-US" dirty="0"/>
              <a:t> interface is found in </a:t>
            </a:r>
            <a:r>
              <a:rPr lang="en-US" dirty="0" err="1"/>
              <a:t>java.awt.event</a:t>
            </a:r>
            <a:r>
              <a:rPr lang="en-US" dirty="0"/>
              <a:t> package. It has three methods.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public abstract void </a:t>
            </a:r>
            <a:r>
              <a:rPr lang="en-US" dirty="0" err="1"/>
              <a:t>keyPressed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e); </a:t>
            </a:r>
          </a:p>
          <a:p>
            <a:r>
              <a:rPr lang="en-US" b="1" dirty="0"/>
              <a:t>public abstract void </a:t>
            </a:r>
            <a:r>
              <a:rPr lang="en-US" dirty="0" err="1"/>
              <a:t>keyReleased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e); </a:t>
            </a:r>
          </a:p>
          <a:p>
            <a:r>
              <a:rPr lang="en-US" b="1" dirty="0"/>
              <a:t>public abstract void </a:t>
            </a:r>
            <a:r>
              <a:rPr lang="en-US" dirty="0" err="1"/>
              <a:t>keyTyped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11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KeyListener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java.awt.event</a:t>
            </a:r>
            <a:r>
              <a:rPr lang="en-US" dirty="0"/>
              <a:t>.*; </a:t>
            </a:r>
          </a:p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dirty="0" err="1"/>
              <a:t>KeyListenerExample</a:t>
            </a:r>
            <a:r>
              <a:rPr lang="en-US" dirty="0"/>
              <a:t> extends Frame implements </a:t>
            </a:r>
            <a:r>
              <a:rPr lang="en-US" dirty="0" err="1"/>
              <a:t>KeyListener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 Label l;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TextArea</a:t>
            </a:r>
            <a:r>
              <a:rPr lang="en-US" dirty="0"/>
              <a:t> area;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KeyListenerExample</a:t>
            </a:r>
            <a:r>
              <a:rPr lang="en-US" dirty="0"/>
              <a:t>(){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l=new Label();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l.setBounds</a:t>
            </a:r>
            <a:r>
              <a:rPr lang="en-US" dirty="0"/>
              <a:t>(20,50,100,20); </a:t>
            </a:r>
          </a:p>
          <a:p>
            <a:pPr marL="0" indent="0">
              <a:buNone/>
            </a:pPr>
            <a:r>
              <a:rPr lang="en-US" dirty="0"/>
              <a:t> area=new </a:t>
            </a:r>
            <a:r>
              <a:rPr lang="en-US" dirty="0" err="1"/>
              <a:t>TextArea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area.setBounds</a:t>
            </a:r>
            <a:r>
              <a:rPr lang="en-US" dirty="0"/>
              <a:t>(20,80,300, 300);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area.addKeyListener</a:t>
            </a:r>
            <a:r>
              <a:rPr lang="en-US" dirty="0"/>
              <a:t>(this); </a:t>
            </a:r>
          </a:p>
        </p:txBody>
      </p:sp>
    </p:spTree>
    <p:extLst>
      <p:ext uri="{BB962C8B-B14F-4D97-AF65-F5344CB8AC3E}">
        <p14:creationId xmlns:p14="http://schemas.microsoft.com/office/powerpoint/2010/main" val="2273933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KeyListener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add(l);add(area);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setSize</a:t>
            </a:r>
            <a:r>
              <a:rPr lang="en-US" dirty="0"/>
              <a:t>(400,400);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setLayout</a:t>
            </a:r>
            <a:r>
              <a:rPr lang="en-US" dirty="0"/>
              <a:t>(null);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setVisible</a:t>
            </a:r>
            <a:r>
              <a:rPr lang="en-US" dirty="0"/>
              <a:t>(true);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keyPressed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("Key Pressed");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6848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KeyListener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keyReleased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("Key Released");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public void </a:t>
            </a:r>
            <a:r>
              <a:rPr lang="en-US" dirty="0" err="1"/>
              <a:t>keyTyped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l.setText</a:t>
            </a:r>
            <a:r>
              <a:rPr lang="en-US" dirty="0"/>
              <a:t>("Key Typed");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public static void main(String[] </a:t>
            </a:r>
            <a:r>
              <a:rPr lang="en-US" dirty="0" err="1"/>
              <a:t>args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 new </a:t>
            </a:r>
            <a:r>
              <a:rPr lang="en-US" dirty="0" err="1"/>
              <a:t>KeyListenerExample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818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KeyListener</a:t>
            </a:r>
            <a:r>
              <a:rPr lang="en-US" dirty="0"/>
              <a:t> Interface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143000"/>
            <a:ext cx="5410200" cy="5396675"/>
          </a:xfrm>
        </p:spPr>
      </p:pic>
    </p:spTree>
    <p:extLst>
      <p:ext uri="{BB962C8B-B14F-4D97-AF65-F5344CB8AC3E}">
        <p14:creationId xmlns:p14="http://schemas.microsoft.com/office/powerpoint/2010/main" val="26482884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3038</TotalTime>
  <Words>2119</Words>
  <Application>Microsoft Office PowerPoint</Application>
  <PresentationFormat>On-screen Show (4:3)</PresentationFormat>
  <Paragraphs>314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Calibri</vt:lpstr>
      <vt:lpstr>Cambria</vt:lpstr>
      <vt:lpstr>Franklin Gothic Book</vt:lpstr>
      <vt:lpstr>Perpetua</vt:lpstr>
      <vt:lpstr>Wingdings 2</vt:lpstr>
      <vt:lpstr>Equity</vt:lpstr>
      <vt:lpstr>Java Programming</vt:lpstr>
      <vt:lpstr>Event Handling </vt:lpstr>
      <vt:lpstr>Types of Event </vt:lpstr>
      <vt:lpstr>Types of Event </vt:lpstr>
      <vt:lpstr>What is Event Handling? </vt:lpstr>
      <vt:lpstr>Delegation Event Model </vt:lpstr>
      <vt:lpstr>Delegation Event Model </vt:lpstr>
      <vt:lpstr>Steps involved in event handling </vt:lpstr>
      <vt:lpstr>AWT Event Classes: </vt:lpstr>
      <vt:lpstr>AWT Event Classes: </vt:lpstr>
      <vt:lpstr>Java ActionListener Interface </vt:lpstr>
      <vt:lpstr>Example</vt:lpstr>
      <vt:lpstr>Example</vt:lpstr>
      <vt:lpstr>Example</vt:lpstr>
      <vt:lpstr>TextField Example</vt:lpstr>
      <vt:lpstr>TextField Example</vt:lpstr>
      <vt:lpstr>TextField Example</vt:lpstr>
      <vt:lpstr>TextField Example</vt:lpstr>
      <vt:lpstr>Java MouseListener Interface </vt:lpstr>
      <vt:lpstr>Example</vt:lpstr>
      <vt:lpstr>Example</vt:lpstr>
      <vt:lpstr>Example</vt:lpstr>
      <vt:lpstr>Example</vt:lpstr>
      <vt:lpstr>MouseMotionListener</vt:lpstr>
      <vt:lpstr>Example</vt:lpstr>
      <vt:lpstr>Example</vt:lpstr>
      <vt:lpstr>Example</vt:lpstr>
      <vt:lpstr>Example</vt:lpstr>
      <vt:lpstr>Java ItemListener Interface</vt:lpstr>
      <vt:lpstr>Example</vt:lpstr>
      <vt:lpstr>Example</vt:lpstr>
      <vt:lpstr>Example</vt:lpstr>
      <vt:lpstr>Java KeyListener Interface</vt:lpstr>
      <vt:lpstr>Java KeyListener Interface</vt:lpstr>
      <vt:lpstr>Java KeyListener Interface</vt:lpstr>
      <vt:lpstr>Java KeyListener Interface</vt:lpstr>
      <vt:lpstr>Java KeyListener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Lab2-01</dc:creator>
  <cp:lastModifiedBy>Aniket Kumare</cp:lastModifiedBy>
  <cp:revision>1107</cp:revision>
  <dcterms:created xsi:type="dcterms:W3CDTF">2017-12-14T08:59:32Z</dcterms:created>
  <dcterms:modified xsi:type="dcterms:W3CDTF">2023-11-08T13:57:58Z</dcterms:modified>
</cp:coreProperties>
</file>