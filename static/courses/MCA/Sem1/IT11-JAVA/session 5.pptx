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12E1-50BB-4D39-A947-2FA1985E3DC1}" type="datetimeFigureOut">
              <a:rPr lang="en-US" smtClean="0"/>
              <a:t>09-Sep-23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4A13E-E486-4652-91A6-C373BCC914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8736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bIns="91440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65F0D8-3483-4E75-BE56-B8181858E28A}" type="datetimeFigureOut">
              <a:rPr lang="en-US" smtClean="0"/>
              <a:pPr/>
              <a:t>09-Sep-23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chemeClr val="bg1"/>
          </a:solidFill>
          <a:latin typeface="Cambria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mbria" pitchFamily="18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70025"/>
          </a:xfrm>
        </p:spPr>
        <p:txBody>
          <a:bodyPr/>
          <a:lstStyle/>
          <a:p>
            <a:r>
              <a:rPr lang="en-US" b="0" dirty="0"/>
              <a:t>Java Programming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105835"/>
            <a:ext cx="8305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Java Programming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/>
              <a:t>IT-11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56356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Calibri"/>
                <a:cs typeface="Calibri"/>
              </a:rPr>
              <a:t/>
            </a:r>
            <a:br>
              <a:rPr lang="en-US" sz="2400" dirty="0" smtClean="0">
                <a:latin typeface="Calibri"/>
                <a:cs typeface="Calibri"/>
              </a:rPr>
            </a:br>
            <a:r>
              <a:rPr lang="en-US" sz="2400" dirty="0" smtClean="0">
                <a:latin typeface="Calibri"/>
                <a:cs typeface="Calibri"/>
              </a:rPr>
              <a:t/>
            </a:r>
            <a:br>
              <a:rPr lang="en-US" sz="2400" dirty="0" smtClean="0">
                <a:latin typeface="Calibri"/>
                <a:cs typeface="Calibri"/>
              </a:rPr>
            </a:br>
            <a:r>
              <a:rPr lang="en-US" sz="2400" dirty="0" smtClean="0">
                <a:latin typeface="Calibri"/>
                <a:cs typeface="Calibri"/>
              </a:rPr>
              <a:t/>
            </a:r>
            <a:br>
              <a:rPr lang="en-US" sz="2400" dirty="0" smtClean="0">
                <a:latin typeface="Calibri"/>
                <a:cs typeface="Calibri"/>
              </a:rPr>
            </a:br>
            <a:r>
              <a:rPr lang="en-US" sz="2400" dirty="0" smtClean="0"/>
              <a:t>Methods in Java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1860" y="1066800"/>
            <a:ext cx="8610600" cy="5562600"/>
          </a:xfrm>
        </p:spPr>
        <p:txBody>
          <a:bodyPr>
            <a:normAutofit fontScale="92500"/>
          </a:bodyPr>
          <a:lstStyle/>
          <a:p>
            <a:pPr lvl="2">
              <a:buNone/>
            </a:pP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dirty="0"/>
              <a:t>In Java, methods are blocks of code that perform specific tasks or functions. Methods are defined within classes and can be called or invoked to perform their tasks. Here's a basic overview of how to define and use methods in Java</a:t>
            </a:r>
            <a:r>
              <a:rPr lang="en-US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You declare a method within a class using the following syntax</a:t>
            </a:r>
            <a:r>
              <a:rPr lang="en-US" sz="2400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&lt; access_modifier &gt; &lt; </a:t>
            </a:r>
            <a:r>
              <a:rPr lang="en-US" sz="2000" b="1" dirty="0" err="1"/>
              <a:t>return_type</a:t>
            </a:r>
            <a:r>
              <a:rPr lang="en-US" sz="2000" b="1" dirty="0"/>
              <a:t> &gt; &lt; </a:t>
            </a:r>
            <a:r>
              <a:rPr lang="en-US" sz="2000" b="1" dirty="0" err="1"/>
              <a:t>method_name</a:t>
            </a:r>
            <a:r>
              <a:rPr lang="en-US" sz="2000" b="1" dirty="0"/>
              <a:t> &gt; ( &lt; </a:t>
            </a:r>
            <a:r>
              <a:rPr lang="en-US" sz="2000" b="1" dirty="0" err="1"/>
              <a:t>parameter_list</a:t>
            </a:r>
            <a:r>
              <a:rPr lang="en-US" sz="2000" b="1" dirty="0"/>
              <a:t> &gt; )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    // method body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/>
              <a:t>}</a:t>
            </a: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8478" y="1066800"/>
            <a:ext cx="7772400" cy="5410200"/>
          </a:xfrm>
        </p:spPr>
        <p:txBody>
          <a:bodyPr>
            <a:normAutofit/>
          </a:bodyPr>
          <a:lstStyle/>
          <a:p>
            <a:r>
              <a:rPr lang="en-US" b="1" dirty="0"/>
              <a:t>&lt;access_modifier&gt;: </a:t>
            </a:r>
            <a:r>
              <a:rPr lang="en-US" dirty="0"/>
              <a:t>Specifies the visibility of the method (e.g., public, private, protected, or package-private).</a:t>
            </a:r>
          </a:p>
          <a:p>
            <a:r>
              <a:rPr lang="en-US" b="1" dirty="0"/>
              <a:t>&lt;</a:t>
            </a:r>
            <a:r>
              <a:rPr lang="en-US" b="1" dirty="0" err="1"/>
              <a:t>return_type</a:t>
            </a:r>
            <a:r>
              <a:rPr lang="en-US" b="1" dirty="0"/>
              <a:t>&gt;: </a:t>
            </a:r>
            <a:r>
              <a:rPr lang="en-US" dirty="0"/>
              <a:t>Specifies the data type of the value that the method returns. Use void if the method doesn't return a value.</a:t>
            </a:r>
          </a:p>
          <a:p>
            <a:r>
              <a:rPr lang="en-US" b="1" dirty="0"/>
              <a:t>&lt;</a:t>
            </a:r>
            <a:r>
              <a:rPr lang="en-US" b="1" dirty="0" err="1"/>
              <a:t>method_name</a:t>
            </a:r>
            <a:r>
              <a:rPr lang="en-US" b="1" dirty="0"/>
              <a:t>&gt;: </a:t>
            </a:r>
            <a:r>
              <a:rPr lang="en-US" dirty="0"/>
              <a:t>The name of the method.</a:t>
            </a:r>
          </a:p>
          <a:p>
            <a:r>
              <a:rPr lang="en-US" b="1" dirty="0"/>
              <a:t>&lt;</a:t>
            </a:r>
            <a:r>
              <a:rPr lang="en-US" b="1" dirty="0" err="1"/>
              <a:t>parameter_list</a:t>
            </a:r>
            <a:r>
              <a:rPr lang="en-US" b="1" dirty="0"/>
              <a:t>&gt;: </a:t>
            </a:r>
            <a:r>
              <a:rPr lang="en-US" dirty="0"/>
              <a:t>A list of parameters (input values) the method accepts, enclosed in parentheses. If the method doesn't take any parameters, use empty parentheses ().</a:t>
            </a:r>
          </a:p>
        </p:txBody>
      </p:sp>
    </p:spTree>
    <p:extLst>
      <p:ext uri="{BB962C8B-B14F-4D97-AF65-F5344CB8AC3E}">
        <p14:creationId xmlns:p14="http://schemas.microsoft.com/office/powerpoint/2010/main" val="164275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b="1" dirty="0"/>
              <a:t>Method </a:t>
            </a:r>
            <a:r>
              <a:rPr lang="en-US" b="1" dirty="0" smtClean="0"/>
              <a:t>Body: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method body contains the actual code that defines what the method does</a:t>
            </a:r>
            <a:r>
              <a:rPr lang="en-US" dirty="0" smtClean="0"/>
              <a:t>. It </a:t>
            </a:r>
            <a:r>
              <a:rPr lang="en-US" dirty="0"/>
              <a:t>is enclosed in curly braces </a:t>
            </a:r>
            <a:r>
              <a:rPr lang="en-US" dirty="0" smtClean="0"/>
              <a:t>{}.</a:t>
            </a:r>
          </a:p>
          <a:p>
            <a:endParaRPr lang="en-US" dirty="0"/>
          </a:p>
          <a:p>
            <a:r>
              <a:rPr lang="en-US" b="1" dirty="0"/>
              <a:t>Method </a:t>
            </a:r>
            <a:r>
              <a:rPr lang="en-US" b="1" dirty="0" smtClean="0"/>
              <a:t>Invocation: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use or call a method, you need to invoke it from another part of your program.You do this by specifying the method name followed by parentheses and passing any required arguments inside the </a:t>
            </a:r>
            <a:r>
              <a:rPr lang="en-US" dirty="0" smtClean="0"/>
              <a:t>parentheses(if </a:t>
            </a:r>
            <a:r>
              <a:rPr lang="en-US" dirty="0"/>
              <a:t>the method accepts parameters).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3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// Method definition with no parameters and returning an integer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addNumbers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a = 5;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b = 10;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sum = a + b;</a:t>
            </a:r>
          </a:p>
          <a:p>
            <a:pPr marL="0" indent="0">
              <a:buNone/>
            </a:pPr>
            <a:r>
              <a:rPr lang="en-US" dirty="0"/>
              <a:t>        return sum;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7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// Creating an instance of </a:t>
            </a:r>
            <a:r>
              <a:rPr lang="en-US" dirty="0" err="1"/>
              <a:t>MyClass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myObject</a:t>
            </a:r>
            <a:r>
              <a:rPr lang="en-US" dirty="0"/>
              <a:t> = new </a:t>
            </a:r>
            <a:r>
              <a:rPr lang="en-US" dirty="0" err="1"/>
              <a:t>MyClass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Calling the </a:t>
            </a:r>
            <a:r>
              <a:rPr lang="en-US" dirty="0" err="1"/>
              <a:t>addNumbers</a:t>
            </a:r>
            <a:r>
              <a:rPr lang="en-US" dirty="0"/>
              <a:t> method and storing the result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result = </a:t>
            </a:r>
            <a:r>
              <a:rPr lang="en-US" dirty="0" err="1"/>
              <a:t>myObject.addNumbers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Printing the result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("Sum of numbers: " + result);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22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/>
          <a:lstStyle/>
          <a:p>
            <a:r>
              <a:rPr lang="en-US" dirty="0"/>
              <a:t>In Java, Method Overloading allows different methods to have the same name, but different signatures where the signature can differ by the number of input parameters or type of input parameters, or a mixture of both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Method overloading in Java is also known as</a:t>
            </a:r>
            <a:r>
              <a:rPr lang="en-US" b="1" i="1" dirty="0"/>
              <a:t> </a:t>
            </a:r>
            <a:r>
              <a:rPr lang="en-US" b="1" dirty="0"/>
              <a:t>Compile-time Polymorphism, </a:t>
            </a:r>
            <a:r>
              <a:rPr lang="en-US" b="1" i="1" dirty="0"/>
              <a:t>Static Polymorphism, or </a:t>
            </a:r>
            <a:r>
              <a:rPr lang="en-US" b="1" dirty="0"/>
              <a:t>Early binding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4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 in </a:t>
            </a:r>
            <a:r>
              <a:rPr lang="en-US" dirty="0" smtClean="0"/>
              <a:t>Java 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14400"/>
            <a:ext cx="7772400" cy="5638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smtClean="0"/>
              <a:t>Calculate{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sum(</a:t>
            </a:r>
            <a:r>
              <a:rPr lang="en-US" dirty="0" err="1"/>
              <a:t>int</a:t>
            </a:r>
            <a:r>
              <a:rPr lang="en-US" dirty="0"/>
              <a:t> x, </a:t>
            </a:r>
            <a:r>
              <a:rPr lang="en-US" dirty="0" err="1"/>
              <a:t>int</a:t>
            </a:r>
            <a:r>
              <a:rPr lang="en-US" dirty="0"/>
              <a:t> y)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     </a:t>
            </a:r>
            <a:r>
              <a:rPr lang="en-US" dirty="0"/>
              <a:t>return (x + y);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sum(</a:t>
            </a:r>
            <a:r>
              <a:rPr lang="en-US" dirty="0" err="1"/>
              <a:t>int</a:t>
            </a:r>
            <a:r>
              <a:rPr lang="en-US" dirty="0"/>
              <a:t> x, </a:t>
            </a:r>
            <a:r>
              <a:rPr lang="en-US" dirty="0" err="1"/>
              <a:t>int</a:t>
            </a:r>
            <a:r>
              <a:rPr lang="en-US" dirty="0"/>
              <a:t> y, </a:t>
            </a:r>
            <a:r>
              <a:rPr lang="en-US" dirty="0" err="1"/>
              <a:t>int</a:t>
            </a:r>
            <a:r>
              <a:rPr lang="en-US" dirty="0"/>
              <a:t> z) {</a:t>
            </a:r>
          </a:p>
          <a:p>
            <a:pPr marL="0" indent="0">
              <a:buNone/>
            </a:pPr>
            <a:r>
              <a:rPr lang="en-US" dirty="0"/>
              <a:t>        return (x + y + z);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double sum(double x, double y) {</a:t>
            </a:r>
          </a:p>
          <a:p>
            <a:pPr marL="0" indent="0">
              <a:buNone/>
            </a:pPr>
            <a:r>
              <a:rPr lang="en-US" dirty="0"/>
              <a:t>        return (x + y);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67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 in Java 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public static void main(String </a:t>
            </a:r>
            <a:r>
              <a:rPr lang="en-US" dirty="0" err="1"/>
              <a:t>args</a:t>
            </a:r>
            <a:r>
              <a:rPr lang="en-US" dirty="0"/>
              <a:t>[]) {</a:t>
            </a:r>
          </a:p>
          <a:p>
            <a:pPr marL="0" indent="0">
              <a:buNone/>
            </a:pPr>
            <a:r>
              <a:rPr lang="en-US" dirty="0"/>
              <a:t>        Sum s = new Sum();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s.sum</a:t>
            </a:r>
            <a:r>
              <a:rPr lang="en-US" dirty="0"/>
              <a:t>(10, 20));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s.sum</a:t>
            </a:r>
            <a:r>
              <a:rPr lang="en-US" dirty="0"/>
              <a:t>(10, 20, 30));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s.sum</a:t>
            </a:r>
            <a:r>
              <a:rPr lang="en-US" dirty="0"/>
              <a:t>(10.5, 20.5));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9278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/>
          <a:lstStyle/>
          <a:p>
            <a:pPr fontAlgn="base"/>
            <a:r>
              <a:rPr lang="en-US" dirty="0"/>
              <a:t>Changing the </a:t>
            </a:r>
            <a:r>
              <a:rPr lang="en-US" b="1" dirty="0"/>
              <a:t>Number</a:t>
            </a:r>
            <a:r>
              <a:rPr lang="en-US" dirty="0"/>
              <a:t> of Parameters.</a:t>
            </a:r>
          </a:p>
          <a:p>
            <a:pPr fontAlgn="base"/>
            <a:r>
              <a:rPr lang="en-US" dirty="0"/>
              <a:t>Changing Data </a:t>
            </a:r>
            <a:r>
              <a:rPr lang="en-US" b="1" dirty="0"/>
              <a:t>Types</a:t>
            </a:r>
            <a:r>
              <a:rPr lang="en-US" dirty="0"/>
              <a:t> of the Arguments.</a:t>
            </a:r>
          </a:p>
          <a:p>
            <a:pPr fontAlgn="base"/>
            <a:r>
              <a:rPr lang="en-US" dirty="0"/>
              <a:t>Changing the </a:t>
            </a:r>
            <a:r>
              <a:rPr lang="en-US" b="1" dirty="0"/>
              <a:t>Order</a:t>
            </a:r>
            <a:r>
              <a:rPr lang="en-US" dirty="0"/>
              <a:t> of the Parameters of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82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Changing the </a:t>
            </a:r>
            <a:r>
              <a:rPr lang="en-US" b="1" dirty="0"/>
              <a:t>Number</a:t>
            </a:r>
            <a:r>
              <a:rPr lang="en-US" dirty="0"/>
              <a:t> of </a:t>
            </a:r>
            <a:r>
              <a:rPr lang="en-US" dirty="0" smtClean="0"/>
              <a:t>Parameters:</a:t>
            </a:r>
          </a:p>
          <a:p>
            <a:pPr lvl="1" fontAlgn="base"/>
            <a:r>
              <a:rPr lang="en-US" dirty="0"/>
              <a:t>Method overloading can be achieved by changing the number of parameters while passing to different methods</a:t>
            </a:r>
            <a:r>
              <a:rPr lang="en-US" dirty="0" smtClean="0"/>
              <a:t>.</a:t>
            </a:r>
          </a:p>
          <a:p>
            <a:pPr lvl="1" fontAlgn="base"/>
            <a:endParaRPr lang="en-US" dirty="0"/>
          </a:p>
          <a:p>
            <a:pPr marL="0" indent="0">
              <a:buNone/>
            </a:pPr>
            <a:r>
              <a:rPr lang="en-US" dirty="0"/>
              <a:t>import java.io</a:t>
            </a:r>
            <a:r>
              <a:rPr lang="en-US" dirty="0" smtClean="0"/>
              <a:t>.*;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Product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multiply(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 = a * b;</a:t>
            </a:r>
          </a:p>
          <a:p>
            <a:pPr marL="0" indent="0">
              <a:buNone/>
            </a:pPr>
            <a:r>
              <a:rPr lang="en-US" dirty="0"/>
              <a:t>        return prod;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multiply(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b, </a:t>
            </a:r>
            <a:r>
              <a:rPr lang="en-US" dirty="0" err="1"/>
              <a:t>int</a:t>
            </a:r>
            <a:r>
              <a:rPr lang="en-US" dirty="0"/>
              <a:t> c)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 = a * b * c;</a:t>
            </a:r>
          </a:p>
          <a:p>
            <a:pPr marL="0" indent="0">
              <a:buNone/>
            </a:pPr>
            <a:r>
              <a:rPr lang="en-US" dirty="0"/>
              <a:t>        return prod;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7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Product </a:t>
            </a:r>
            <a:r>
              <a:rPr lang="en-US" dirty="0" err="1"/>
              <a:t>ob</a:t>
            </a:r>
            <a:r>
              <a:rPr lang="en-US" dirty="0"/>
              <a:t> = new Product();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prod1 = </a:t>
            </a:r>
            <a:r>
              <a:rPr lang="en-US" dirty="0" err="1"/>
              <a:t>ob.multiply</a:t>
            </a:r>
            <a:r>
              <a:rPr lang="en-US" dirty="0"/>
              <a:t>(1, 2);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"Product of the two integer value :" + prod1);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prod2 = </a:t>
            </a:r>
            <a:r>
              <a:rPr lang="en-US" dirty="0" err="1"/>
              <a:t>ob.multiply</a:t>
            </a:r>
            <a:r>
              <a:rPr lang="en-US" dirty="0"/>
              <a:t>(1, 2, 3);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"Product of the three integer value :" + prod2);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02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0087" y="914400"/>
            <a:ext cx="77724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Changing Data Types of the </a:t>
            </a:r>
            <a:r>
              <a:rPr lang="en-US" b="1" dirty="0" smtClean="0"/>
              <a:t>Arguments:</a:t>
            </a:r>
          </a:p>
          <a:p>
            <a:pPr lvl="1"/>
            <a:r>
              <a:rPr lang="en-US" dirty="0"/>
              <a:t>In many cases, methods can be considered Overloaded if they have the same name but have different parameter types, methods are considered to be overloaded</a:t>
            </a:r>
            <a:r>
              <a:rPr lang="en-US" dirty="0" smtClean="0"/>
              <a:t>.</a:t>
            </a:r>
          </a:p>
          <a:p>
            <a:pPr lvl="1"/>
            <a:endParaRPr lang="en-US" b="1" dirty="0"/>
          </a:p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class Product {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Prod(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b, </a:t>
            </a:r>
            <a:r>
              <a:rPr lang="en-US" dirty="0" err="1"/>
              <a:t>int</a:t>
            </a:r>
            <a:r>
              <a:rPr lang="en-US" dirty="0"/>
              <a:t> c)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prod1 = a * b * c;</a:t>
            </a:r>
          </a:p>
          <a:p>
            <a:pPr marL="0" indent="0">
              <a:buNone/>
            </a:pPr>
            <a:r>
              <a:rPr lang="en-US" dirty="0"/>
              <a:t>        return prod1;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double Prod(double a, double b, double c) {</a:t>
            </a:r>
          </a:p>
          <a:p>
            <a:pPr marL="0" indent="0">
              <a:buNone/>
            </a:pPr>
            <a:r>
              <a:rPr lang="en-US" dirty="0"/>
              <a:t>        double prod2 = a * b * c;</a:t>
            </a:r>
          </a:p>
          <a:p>
            <a:pPr marL="0" indent="0">
              <a:buNone/>
            </a:pPr>
            <a:r>
              <a:rPr lang="en-US" dirty="0"/>
              <a:t>        return prod2;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5551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Product </a:t>
            </a:r>
            <a:r>
              <a:rPr lang="en-US" dirty="0" err="1"/>
              <a:t>obj</a:t>
            </a:r>
            <a:r>
              <a:rPr lang="en-US" dirty="0"/>
              <a:t> = new Product();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prod1 = </a:t>
            </a:r>
            <a:r>
              <a:rPr lang="en-US" dirty="0" err="1"/>
              <a:t>obj.Prod</a:t>
            </a:r>
            <a:r>
              <a:rPr lang="en-US" dirty="0"/>
              <a:t>(1, 2, 3);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"Product of the three integer value :" + prod1);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double prod2 = </a:t>
            </a:r>
            <a:r>
              <a:rPr lang="en-US" dirty="0" err="1"/>
              <a:t>obj.Prod</a:t>
            </a:r>
            <a:r>
              <a:rPr lang="en-US" dirty="0"/>
              <a:t>(1.0, 2.0, 3.0);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"Product of the three double value :" + prod2);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679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/>
          <a:lstStyle/>
          <a:p>
            <a:r>
              <a:rPr lang="en-US" b="1" dirty="0"/>
              <a:t>Changing the Order of the Parameters of Methods</a:t>
            </a:r>
          </a:p>
          <a:p>
            <a:pPr lvl="1"/>
            <a:r>
              <a:rPr lang="en-US" dirty="0"/>
              <a:t>Method overloading can also be implemented by rearranging the parameters of two or more overloaded methods. For example, if the parameters of method 1 are (String name,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roll_no</a:t>
            </a:r>
            <a:r>
              <a:rPr lang="en-US" dirty="0"/>
              <a:t>) and the other method is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roll_no</a:t>
            </a:r>
            <a:r>
              <a:rPr lang="en-US" dirty="0"/>
              <a:t>, String name) but both have the same name, then these 2 methods are considered to be overloaded with different sequences of parameters.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476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StudentId</a:t>
            </a:r>
            <a:r>
              <a:rPr lang="en-US" dirty="0"/>
              <a:t>(String name,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roll_no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("Name :" + name + " " +</a:t>
            </a:r>
          </a:p>
          <a:p>
            <a:pPr marL="0" indent="0">
              <a:buNone/>
            </a:pPr>
            <a:r>
              <a:rPr lang="en-US" dirty="0"/>
              <a:t>            "Roll-No :" + </a:t>
            </a:r>
            <a:r>
              <a:rPr lang="en-US" dirty="0" err="1"/>
              <a:t>roll_no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StudentId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roll_no</a:t>
            </a:r>
            <a:r>
              <a:rPr lang="en-US" dirty="0"/>
              <a:t>, String name)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("Roll-No :" + </a:t>
            </a:r>
            <a:r>
              <a:rPr lang="en-US" dirty="0" err="1"/>
              <a:t>roll_no</a:t>
            </a:r>
            <a:r>
              <a:rPr lang="en-US" dirty="0"/>
              <a:t> + " " +</a:t>
            </a:r>
          </a:p>
          <a:p>
            <a:pPr marL="0" indent="0">
              <a:buNone/>
            </a:pPr>
            <a:r>
              <a:rPr lang="en-US" dirty="0"/>
              <a:t>            "Name :" + name);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573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Method Overloading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Student </a:t>
            </a:r>
            <a:r>
              <a:rPr lang="en-US" dirty="0" err="1"/>
              <a:t>obj</a:t>
            </a:r>
            <a:r>
              <a:rPr lang="en-US" dirty="0"/>
              <a:t> = new Student();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obj.StudentId</a:t>
            </a:r>
            <a:r>
              <a:rPr lang="en-US" dirty="0"/>
              <a:t>("</a:t>
            </a:r>
            <a:r>
              <a:rPr lang="en-US" dirty="0" err="1"/>
              <a:t>Spyder</a:t>
            </a:r>
            <a:r>
              <a:rPr lang="en-US" dirty="0"/>
              <a:t>", 1);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obj.StudentId</a:t>
            </a:r>
            <a:r>
              <a:rPr lang="en-US" dirty="0"/>
              <a:t>(2, "</a:t>
            </a:r>
            <a:r>
              <a:rPr lang="en-US" dirty="0" err="1"/>
              <a:t>Kamlesh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436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10200"/>
          </a:xfrm>
        </p:spPr>
        <p:txBody>
          <a:bodyPr/>
          <a:lstStyle/>
          <a:p>
            <a:r>
              <a:rPr lang="en-US" b="1" dirty="0"/>
              <a:t>What if the exact prototype does not match with arguments?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Priority-wise, the compiler takes these steps</a:t>
            </a:r>
            <a:r>
              <a:rPr lang="en-US" dirty="0" smtClean="0"/>
              <a:t>:</a:t>
            </a:r>
          </a:p>
          <a:p>
            <a:pPr lvl="1" fontAlgn="base">
              <a:lnSpc>
                <a:spcPct val="150000"/>
              </a:lnSpc>
            </a:pPr>
            <a:r>
              <a:rPr lang="en-US" dirty="0"/>
              <a:t>Type Conversion but to a higher type(in terms of range) in the same family.</a:t>
            </a:r>
          </a:p>
          <a:p>
            <a:pPr lvl="1" fontAlgn="base">
              <a:lnSpc>
                <a:spcPct val="150000"/>
              </a:lnSpc>
            </a:pPr>
            <a:r>
              <a:rPr lang="en-US" dirty="0"/>
              <a:t>Type conversion to the next higher family(suppose if there is no long data type available for an </a:t>
            </a:r>
            <a:r>
              <a:rPr lang="en-US" dirty="0" err="1"/>
              <a:t>int</a:t>
            </a:r>
            <a:r>
              <a:rPr lang="en-US" dirty="0"/>
              <a:t> data type, then it will search for the float data type).</a:t>
            </a: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604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52600" y="1371600"/>
            <a:ext cx="6172200" cy="52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9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package Practice;</a:t>
            </a:r>
          </a:p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r>
              <a:rPr lang="en-US" dirty="0"/>
              <a:t>    public void show(double x)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 float" + x);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public void show(String s)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 String" + s);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public void show(byte b)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 byte" + b);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8590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UseDemo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byte a = 25;</a:t>
            </a:r>
          </a:p>
          <a:p>
            <a:pPr marL="0" indent="0">
              <a:buNone/>
            </a:pPr>
            <a:r>
              <a:rPr lang="en-US" dirty="0"/>
              <a:t>        Demo </a:t>
            </a:r>
            <a:r>
              <a:rPr lang="en-US" dirty="0" err="1"/>
              <a:t>obj</a:t>
            </a:r>
            <a:r>
              <a:rPr lang="en-US" dirty="0"/>
              <a:t> = new Demo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(a</a:t>
            </a:r>
            <a:r>
              <a:rPr lang="en-US" dirty="0" smtClean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("hello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(250</a:t>
            </a:r>
            <a:r>
              <a:rPr lang="en-US" dirty="0" smtClean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('A</a:t>
            </a:r>
            <a:r>
              <a:rPr lang="en-US" dirty="0" smtClean="0"/>
              <a:t>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("A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 smtClean="0"/>
              <a:t>obj.show</a:t>
            </a:r>
            <a:r>
              <a:rPr lang="en-US" dirty="0" smtClean="0"/>
              <a:t>(7.5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2583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5066" y="990600"/>
            <a:ext cx="77724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Recursion in Java is a programming technique where a method calls itself to solve a </a:t>
            </a:r>
            <a:r>
              <a:rPr lang="en-US" dirty="0" smtClean="0"/>
              <a:t>problem.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Recursive </a:t>
            </a:r>
            <a:r>
              <a:rPr lang="en-US" dirty="0"/>
              <a:t>methods are often used for tasks that can be broken down into smaller, similar </a:t>
            </a:r>
            <a:r>
              <a:rPr lang="en-US" dirty="0" smtClean="0"/>
              <a:t>sub problems.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successfully implement recursion in Java, you need to define a base case (or termination condition) and a recursive case (or continuation condition).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26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0990"/>
            <a:ext cx="7772400" cy="487362"/>
          </a:xfrm>
        </p:spPr>
        <p:txBody>
          <a:bodyPr/>
          <a:lstStyle/>
          <a:p>
            <a:r>
              <a:rPr lang="en-US" dirty="0"/>
              <a:t>Recursion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86400"/>
          </a:xfrm>
        </p:spPr>
        <p:txBody>
          <a:bodyPr/>
          <a:lstStyle/>
          <a:p>
            <a:r>
              <a:rPr lang="en-US" b="1" dirty="0"/>
              <a:t>Base Case: </a:t>
            </a:r>
            <a:endParaRPr lang="en-US" b="1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base case is the condition under which the recursive method stops calling itself.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When </a:t>
            </a:r>
            <a:r>
              <a:rPr lang="en-US" dirty="0"/>
              <a:t>the base case is met, the recursion stops, and the method returns a result without making further recursive calls</a:t>
            </a:r>
            <a:r>
              <a:rPr lang="en-US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Failing to provide a base case can lead to infinite recursion and a stack overflow error.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896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6910" y="1066800"/>
            <a:ext cx="7772400" cy="4572000"/>
          </a:xfrm>
        </p:spPr>
        <p:txBody>
          <a:bodyPr/>
          <a:lstStyle/>
          <a:p>
            <a:r>
              <a:rPr lang="en-US" b="1" dirty="0"/>
              <a:t>Recursive Case: 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recursive case is the condition under which the method calls itself to solve a smaller or simpler </a:t>
            </a:r>
            <a:r>
              <a:rPr lang="en-US" dirty="0" smtClean="0"/>
              <a:t>sub problem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Each </a:t>
            </a:r>
            <a:r>
              <a:rPr lang="en-US" dirty="0"/>
              <a:t>recursive call should ideally bring you closer to the base case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Here's an example of a simple recursive function in Java that calculates the factorial of a number: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04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FactorialCalculator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</a:t>
            </a:r>
            <a:r>
              <a:rPr lang="en-US" dirty="0" err="1"/>
              <a:t>int</a:t>
            </a:r>
            <a:r>
              <a:rPr lang="en-US" dirty="0"/>
              <a:t> factorial(</a:t>
            </a:r>
            <a:r>
              <a:rPr lang="en-US" dirty="0" err="1"/>
              <a:t>int</a:t>
            </a:r>
            <a:r>
              <a:rPr lang="en-US" dirty="0"/>
              <a:t> n) {</a:t>
            </a:r>
          </a:p>
          <a:p>
            <a:pPr marL="0" indent="0">
              <a:buNone/>
            </a:pPr>
            <a:r>
              <a:rPr lang="en-US" dirty="0"/>
              <a:t>        // Base case: When n is 0 or 1, the factorial is 1.</a:t>
            </a:r>
          </a:p>
          <a:p>
            <a:pPr marL="0" indent="0">
              <a:buNone/>
            </a:pPr>
            <a:r>
              <a:rPr lang="en-US" dirty="0"/>
              <a:t>        if (n == 0 || n == 1) {</a:t>
            </a:r>
          </a:p>
          <a:p>
            <a:pPr marL="0" indent="0">
              <a:buNone/>
            </a:pPr>
            <a:r>
              <a:rPr lang="en-US" dirty="0"/>
              <a:t>            return 1;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Recursive case: Multiply n by the factorial of (n-1).</a:t>
            </a:r>
          </a:p>
          <a:p>
            <a:pPr marL="0" indent="0">
              <a:buNone/>
            </a:pPr>
            <a:r>
              <a:rPr lang="en-US" dirty="0"/>
              <a:t>        return n * factorial(n - 1);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result = factorial(5); // Calculate 5!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("Factorial of 5 is: " + result);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9043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83693" y="1066800"/>
            <a:ext cx="7772400" cy="4572000"/>
          </a:xfrm>
        </p:spPr>
        <p:txBody>
          <a:bodyPr/>
          <a:lstStyle/>
          <a:p>
            <a:r>
              <a:rPr lang="en-US" dirty="0"/>
              <a:t>In this example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The base case is when n is 0 or 1. In this case, the method returns 1 because 0! and 1! are both 1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The recursive case calculates the factorial of n by multiplying n </a:t>
            </a:r>
            <a:r>
              <a:rPr lang="en-US" dirty="0" smtClean="0"/>
              <a:t>with </a:t>
            </a:r>
            <a:r>
              <a:rPr lang="en-US" dirty="0"/>
              <a:t>the factorial of (n-1</a:t>
            </a:r>
            <a:r>
              <a:rPr lang="en-US" dirty="0" smtClean="0"/>
              <a:t>).</a:t>
            </a:r>
          </a:p>
          <a:p>
            <a:r>
              <a:rPr lang="en-US" dirty="0"/>
              <a:t>When you run this program, it will calculate and print the factorial of 5, which is 120.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7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/>
          <a:lstStyle/>
          <a:p>
            <a:r>
              <a:rPr lang="en-US" dirty="0"/>
              <a:t>Recursion is a powerful technique but should be used carefully.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lead to stack overflow errors if not implemented properly with a base case and appropriate termination conditions. </a:t>
            </a:r>
            <a:endParaRPr lang="en-US" dirty="0" smtClean="0"/>
          </a:p>
          <a:p>
            <a:r>
              <a:rPr lang="en-US" dirty="0" smtClean="0"/>
              <a:t>Additionally</a:t>
            </a:r>
            <a:r>
              <a:rPr lang="en-US" dirty="0"/>
              <a:t>, excessive recursion can be less efficient than iterative solutions for certain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566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Members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2578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Java, static members are class-level members, which means they belong to the class itself rather than to an instance of the class.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Static </a:t>
            </a:r>
            <a:r>
              <a:rPr lang="en-US" dirty="0"/>
              <a:t>members are shared among all instances of the class and can be accessed using the class </a:t>
            </a:r>
            <a:r>
              <a:rPr lang="en-US" dirty="0" smtClean="0"/>
              <a:t>name.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There </a:t>
            </a:r>
            <a:r>
              <a:rPr lang="en-US" dirty="0"/>
              <a:t>are three main types of static members in Java: static variables, static methods, and static initializer blocks.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Here's </a:t>
            </a:r>
            <a:r>
              <a:rPr lang="en-US" dirty="0"/>
              <a:t>how to work with them: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05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Static Variables(Class Variables</a:t>
            </a:r>
            <a:r>
              <a:rPr lang="en-US" b="1" dirty="0" smtClean="0"/>
              <a:t>):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Static </a:t>
            </a:r>
            <a:r>
              <a:rPr lang="en-US" dirty="0"/>
              <a:t>variables are declared using the static keyword and are shared among all instances of the class</a:t>
            </a:r>
            <a:r>
              <a:rPr lang="en-US" dirty="0" smtClean="0"/>
              <a:t>. They </a:t>
            </a:r>
            <a:r>
              <a:rPr lang="en-US" dirty="0"/>
              <a:t>are often </a:t>
            </a:r>
            <a:r>
              <a:rPr lang="en-US" dirty="0" smtClean="0"/>
              <a:t>used for </a:t>
            </a:r>
            <a:r>
              <a:rPr lang="en-US" dirty="0"/>
              <a:t>constants or shared data among objects of the same class</a:t>
            </a:r>
            <a:r>
              <a:rPr lang="en-US" dirty="0" smtClean="0"/>
              <a:t>.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b="1" dirty="0"/>
              <a:t>public class </a:t>
            </a:r>
            <a:r>
              <a:rPr lang="en-US" b="1" dirty="0" err="1"/>
              <a:t>MyClass</a:t>
            </a:r>
            <a:r>
              <a:rPr lang="en-US" b="1" dirty="0"/>
              <a:t> {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b="1" dirty="0"/>
              <a:t>    public static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staticVariable</a:t>
            </a:r>
            <a:r>
              <a:rPr lang="en-US" b="1" dirty="0"/>
              <a:t> = 0;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b="1" dirty="0" smtClean="0"/>
              <a:t>}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dirty="0"/>
              <a:t>You can access a static variable using the class name</a:t>
            </a:r>
            <a:r>
              <a:rPr lang="en-US" dirty="0" smtClean="0"/>
              <a:t>: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b="1" dirty="0" err="1"/>
              <a:t>int</a:t>
            </a:r>
            <a:r>
              <a:rPr lang="en-US" b="1" dirty="0"/>
              <a:t> value = </a:t>
            </a:r>
            <a:r>
              <a:rPr lang="en-US" b="1" dirty="0" err="1"/>
              <a:t>MyClass.staticVariable</a:t>
            </a:r>
            <a:r>
              <a:rPr lang="en-US" b="1" dirty="0"/>
              <a:t>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53660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r>
              <a:rPr lang="en-US" b="1" dirty="0"/>
              <a:t>Static </a:t>
            </a:r>
            <a:r>
              <a:rPr lang="en-US" b="1" dirty="0" smtClean="0"/>
              <a:t>Methods:</a:t>
            </a:r>
          </a:p>
          <a:p>
            <a:pPr lvl="1"/>
            <a:r>
              <a:rPr lang="en-US" dirty="0" smtClean="0"/>
              <a:t>Static </a:t>
            </a:r>
            <a:r>
              <a:rPr lang="en-US" dirty="0"/>
              <a:t>methods are also declared with the static keyword and can be called without creating an instance of the class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They </a:t>
            </a:r>
            <a:r>
              <a:rPr lang="en-US" dirty="0"/>
              <a:t>are often </a:t>
            </a:r>
            <a:r>
              <a:rPr lang="en-US" dirty="0" smtClean="0"/>
              <a:t>used for </a:t>
            </a:r>
            <a:r>
              <a:rPr lang="en-US" dirty="0"/>
              <a:t>utility functions or operations that don 't depend on </a:t>
            </a:r>
            <a:r>
              <a:rPr lang="en-US" dirty="0" smtClean="0"/>
              <a:t>Instance-specific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marL="320040" lvl="1" indent="0">
              <a:buNone/>
            </a:pPr>
            <a:r>
              <a:rPr lang="en-US" b="1" dirty="0"/>
              <a:t>public class </a:t>
            </a:r>
            <a:r>
              <a:rPr lang="en-US" b="1" dirty="0" err="1"/>
              <a:t>MyMath</a:t>
            </a:r>
            <a:r>
              <a:rPr lang="en-US" b="1" dirty="0"/>
              <a:t> {</a:t>
            </a:r>
          </a:p>
          <a:p>
            <a:pPr marL="320040" lvl="1" indent="0">
              <a:buNone/>
            </a:pPr>
            <a:r>
              <a:rPr lang="en-US" b="1" dirty="0"/>
              <a:t>    public static </a:t>
            </a:r>
            <a:r>
              <a:rPr lang="en-US" b="1" dirty="0" err="1"/>
              <a:t>int</a:t>
            </a:r>
            <a:r>
              <a:rPr lang="en-US" b="1" dirty="0"/>
              <a:t> add(</a:t>
            </a:r>
            <a:r>
              <a:rPr lang="en-US" b="1" dirty="0" err="1"/>
              <a:t>int</a:t>
            </a:r>
            <a:r>
              <a:rPr lang="en-US" b="1" dirty="0"/>
              <a:t> a, </a:t>
            </a:r>
            <a:r>
              <a:rPr lang="en-US" b="1" dirty="0" err="1"/>
              <a:t>int</a:t>
            </a:r>
            <a:r>
              <a:rPr lang="en-US" b="1" dirty="0"/>
              <a:t> b) {</a:t>
            </a:r>
          </a:p>
          <a:p>
            <a:pPr marL="320040" lvl="1" indent="0">
              <a:buNone/>
            </a:pPr>
            <a:r>
              <a:rPr lang="en-US" b="1" dirty="0"/>
              <a:t>        return a + b;</a:t>
            </a:r>
          </a:p>
          <a:p>
            <a:pPr marL="320040" lvl="1" indent="0">
              <a:buNone/>
            </a:pPr>
            <a:r>
              <a:rPr lang="en-US" b="1" dirty="0"/>
              <a:t>    }</a:t>
            </a:r>
          </a:p>
          <a:p>
            <a:pPr marL="320040" lvl="1" indent="0">
              <a:buNone/>
            </a:pPr>
            <a:r>
              <a:rPr lang="en-US" b="1" dirty="0" smtClean="0"/>
              <a:t>}</a:t>
            </a:r>
          </a:p>
          <a:p>
            <a:pPr marL="320040" lvl="1" indent="0">
              <a:buNone/>
            </a:pPr>
            <a:r>
              <a:rPr lang="en-US" dirty="0"/>
              <a:t>You can call a static method using the class name</a:t>
            </a:r>
            <a:r>
              <a:rPr lang="en-US" dirty="0" smtClean="0"/>
              <a:t>:</a:t>
            </a:r>
          </a:p>
          <a:p>
            <a:pPr marL="320040" lvl="1" indent="0">
              <a:buNone/>
            </a:pPr>
            <a:r>
              <a:rPr lang="en-US" b="1" dirty="0" err="1"/>
              <a:t>int</a:t>
            </a:r>
            <a:r>
              <a:rPr lang="en-US" b="1" dirty="0"/>
              <a:t> sum = </a:t>
            </a:r>
            <a:r>
              <a:rPr lang="en-US" b="1" dirty="0" err="1"/>
              <a:t>MyMath.add</a:t>
            </a:r>
            <a:r>
              <a:rPr lang="en-US" b="1" dirty="0"/>
              <a:t>(5, 10);</a:t>
            </a:r>
          </a:p>
        </p:txBody>
      </p:sp>
    </p:spTree>
    <p:extLst>
      <p:ext uri="{BB962C8B-B14F-4D97-AF65-F5344CB8AC3E}">
        <p14:creationId xmlns:p14="http://schemas.microsoft.com/office/powerpoint/2010/main" val="2181316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Static Initializer Blocks:</a:t>
            </a:r>
            <a:endParaRPr lang="en-US" dirty="0"/>
          </a:p>
          <a:p>
            <a:pPr lvl="1"/>
            <a:r>
              <a:rPr lang="en-US" dirty="0"/>
              <a:t>Static initializer blocks are used to initialize static variables or perform one-time setup tasks for a class. They are executed when the class is loaded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staticVariable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static {</a:t>
            </a:r>
          </a:p>
          <a:p>
            <a:pPr marL="0" indent="0">
              <a:buNone/>
            </a:pPr>
            <a:r>
              <a:rPr lang="en-US" dirty="0"/>
              <a:t>        // Initialize </a:t>
            </a:r>
            <a:r>
              <a:rPr lang="en-US" dirty="0" err="1"/>
              <a:t>staticVariable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staticVariable</a:t>
            </a:r>
            <a:r>
              <a:rPr lang="en-US" dirty="0"/>
              <a:t> = 42;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Static </a:t>
            </a:r>
            <a:r>
              <a:rPr lang="en-US" dirty="0"/>
              <a:t>initializer blocks are executed once, the first time the class is loaded or a static member is accessed.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85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</a:t>
            </a:r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Java, the </a:t>
            </a:r>
            <a:r>
              <a:rPr lang="en-US" dirty="0" smtClean="0"/>
              <a:t>‘</a:t>
            </a:r>
            <a:r>
              <a:rPr lang="en-US" b="1" dirty="0" smtClean="0"/>
              <a:t>this’</a:t>
            </a:r>
            <a:r>
              <a:rPr lang="en-US" dirty="0" smtClean="0"/>
              <a:t> </a:t>
            </a:r>
            <a:r>
              <a:rPr lang="en-US" dirty="0"/>
              <a:t>reference is a keyword that refers to the current instance of the class in which it is used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can be used in various contexts to access </a:t>
            </a:r>
            <a:r>
              <a:rPr lang="en-US" b="1" dirty="0"/>
              <a:t>instance variables, call instance methods, or differentiate between instance variables and method parameters </a:t>
            </a:r>
            <a:r>
              <a:rPr lang="en-US" dirty="0"/>
              <a:t>with the same name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Here </a:t>
            </a:r>
            <a:r>
              <a:rPr lang="en-US" dirty="0"/>
              <a:t>are some common uses of the this reference:</a:t>
            </a:r>
          </a:p>
        </p:txBody>
      </p:sp>
    </p:spTree>
    <p:extLst>
      <p:ext uri="{BB962C8B-B14F-4D97-AF65-F5344CB8AC3E}">
        <p14:creationId xmlns:p14="http://schemas.microsoft.com/office/powerpoint/2010/main" val="169704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Accessing Instance Variables: </a:t>
            </a:r>
            <a:r>
              <a:rPr lang="en-US" dirty="0"/>
              <a:t>You can use </a:t>
            </a:r>
            <a:r>
              <a:rPr lang="en-US" dirty="0" smtClean="0"/>
              <a:t>‘</a:t>
            </a:r>
            <a:r>
              <a:rPr lang="en-US" b="1" dirty="0" smtClean="0"/>
              <a:t>this’</a:t>
            </a:r>
            <a:r>
              <a:rPr lang="en-US" dirty="0" smtClean="0"/>
              <a:t> </a:t>
            </a:r>
            <a:r>
              <a:rPr lang="en-US" dirty="0"/>
              <a:t>to access instance variables within a class</a:t>
            </a:r>
            <a:r>
              <a:rPr lang="en-US" dirty="0" smtClean="0"/>
              <a:t>. This </a:t>
            </a:r>
            <a:r>
              <a:rPr lang="en-US" dirty="0"/>
              <a:t>is particularly useful when there is a naming conflict between a method parameter and an instance variable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err="1"/>
              <a:t>MyClass</a:t>
            </a:r>
            <a:r>
              <a:rPr lang="en-US" b="1" dirty="0"/>
              <a:t> {</a:t>
            </a:r>
          </a:p>
          <a:p>
            <a:pPr marL="0" indent="0">
              <a:buNone/>
            </a:pPr>
            <a:r>
              <a:rPr lang="en-US" b="1" dirty="0"/>
              <a:t>    private </a:t>
            </a:r>
            <a:r>
              <a:rPr lang="en-US" b="1" dirty="0" err="1"/>
              <a:t>int</a:t>
            </a:r>
            <a:r>
              <a:rPr lang="en-US" b="1" dirty="0"/>
              <a:t> value;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public </a:t>
            </a:r>
            <a:r>
              <a:rPr lang="en-US" b="1" dirty="0" err="1"/>
              <a:t>MyClass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value) {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this.value</a:t>
            </a:r>
            <a:r>
              <a:rPr lang="en-US" b="1" dirty="0"/>
              <a:t> = value; // Use "this" to access the instance variable</a:t>
            </a:r>
          </a:p>
          <a:p>
            <a:pPr marL="0" indent="0">
              <a:buNone/>
            </a:pPr>
            <a:r>
              <a:rPr lang="en-US" b="1" dirty="0"/>
              <a:t>    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0255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Calling Another Constructor: </a:t>
            </a:r>
            <a:endParaRPr lang="en-US" b="1" dirty="0" smtClean="0"/>
          </a:p>
          <a:p>
            <a:pPr lvl="1"/>
            <a:r>
              <a:rPr lang="en-US" dirty="0" smtClean="0"/>
              <a:t>Inside </a:t>
            </a:r>
            <a:r>
              <a:rPr lang="en-US" dirty="0"/>
              <a:t>a constructor, you can use </a:t>
            </a:r>
            <a:r>
              <a:rPr lang="en-US" b="1" dirty="0"/>
              <a:t>this</a:t>
            </a:r>
            <a:r>
              <a:rPr lang="en-US" dirty="0"/>
              <a:t> to call another constructor of the same class</a:t>
            </a:r>
            <a:r>
              <a:rPr lang="en-US" dirty="0" smtClean="0"/>
              <a:t>. This </a:t>
            </a:r>
            <a:r>
              <a:rPr lang="en-US" dirty="0"/>
              <a:t>is often </a:t>
            </a:r>
            <a:r>
              <a:rPr lang="en-US" dirty="0" smtClean="0"/>
              <a:t>used for </a:t>
            </a:r>
            <a:r>
              <a:rPr lang="en-US" dirty="0"/>
              <a:t>constructor </a:t>
            </a:r>
            <a:r>
              <a:rPr lang="en-US" dirty="0" smtClean="0"/>
              <a:t>chaining.</a:t>
            </a:r>
          </a:p>
          <a:p>
            <a:pPr lvl="1"/>
            <a:endParaRPr lang="en-US" dirty="0" smtClean="0"/>
          </a:p>
          <a:p>
            <a:pPr marL="320040" lvl="1" indent="0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320040" lvl="1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value;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r>
              <a:rPr lang="en-US" dirty="0"/>
              <a:t>    public </a:t>
            </a:r>
            <a:r>
              <a:rPr lang="en-US" dirty="0" err="1"/>
              <a:t>MyClass</a:t>
            </a:r>
            <a:r>
              <a:rPr lang="en-US" dirty="0"/>
              <a:t>() {</a:t>
            </a:r>
          </a:p>
          <a:p>
            <a:pPr marL="320040" lvl="1" indent="0">
              <a:buNone/>
            </a:pPr>
            <a:r>
              <a:rPr lang="en-US" dirty="0"/>
              <a:t>        this(0); // Calls the parameterized constructor with a default value</a:t>
            </a:r>
          </a:p>
          <a:p>
            <a:pPr marL="320040" lvl="1" indent="0">
              <a:buNone/>
            </a:pPr>
            <a:r>
              <a:rPr lang="en-US" dirty="0"/>
              <a:t>    }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r>
              <a:rPr lang="en-US" dirty="0"/>
              <a:t>    public </a:t>
            </a:r>
            <a:r>
              <a:rPr lang="en-US" dirty="0" err="1"/>
              <a:t>MyClass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value) {</a:t>
            </a:r>
          </a:p>
          <a:p>
            <a:pPr marL="320040" lvl="1" indent="0">
              <a:buNone/>
            </a:pPr>
            <a:r>
              <a:rPr lang="en-US" dirty="0"/>
              <a:t>        </a:t>
            </a:r>
            <a:r>
              <a:rPr lang="en-US" dirty="0" err="1"/>
              <a:t>this.value</a:t>
            </a:r>
            <a:r>
              <a:rPr lang="en-US" dirty="0"/>
              <a:t> = value;</a:t>
            </a:r>
          </a:p>
          <a:p>
            <a:pPr marL="320040" lvl="1" indent="0">
              <a:buNone/>
            </a:pPr>
            <a:r>
              <a:rPr lang="en-US" dirty="0"/>
              <a:t>    }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383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“reference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Returning the Current Instance:</a:t>
            </a:r>
            <a:r>
              <a:rPr lang="en-US" dirty="0"/>
              <a:t> You can use this </a:t>
            </a:r>
            <a:r>
              <a:rPr lang="en-US" dirty="0" smtClean="0"/>
              <a:t>to return </a:t>
            </a:r>
            <a:r>
              <a:rPr lang="en-US" dirty="0"/>
              <a:t>the current instance of the class from a method, which </a:t>
            </a:r>
            <a:r>
              <a:rPr lang="en-US" dirty="0" smtClean="0"/>
              <a:t>allows for </a:t>
            </a:r>
            <a:r>
              <a:rPr lang="en-US" dirty="0"/>
              <a:t>method chaining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value;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setValue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value)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this.value</a:t>
            </a:r>
            <a:r>
              <a:rPr lang="en-US" dirty="0"/>
              <a:t> = value;</a:t>
            </a:r>
          </a:p>
          <a:p>
            <a:pPr marL="0" indent="0">
              <a:buNone/>
            </a:pPr>
            <a:r>
              <a:rPr lang="en-US" dirty="0"/>
              <a:t>        return this; // Return the current instance for method chaining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9051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Passing the Current Object to Another Method: </a:t>
            </a:r>
            <a:r>
              <a:rPr lang="en-US" dirty="0"/>
              <a:t>You can pass the current object(i.e., this) to other methods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value;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printValue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("Value: " + </a:t>
            </a:r>
            <a:r>
              <a:rPr lang="en-US" dirty="0" err="1"/>
              <a:t>this.value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performOperation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// Pass the current object to another method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someOtherMethod</a:t>
            </a:r>
            <a:r>
              <a:rPr lang="en-US" dirty="0"/>
              <a:t>(this);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24570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“this “reference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7812" y="914400"/>
            <a:ext cx="77724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Used in Inner Classes: </a:t>
            </a:r>
            <a:endParaRPr lang="en-US" b="1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an inner class, this refers to the inner class instance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you need to refer to the outer class instance, you can use </a:t>
            </a:r>
            <a:r>
              <a:rPr lang="en-US" dirty="0" err="1"/>
              <a:t>OuterClassName.this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320040" lvl="1" indent="0">
              <a:buNone/>
            </a:pPr>
            <a:r>
              <a:rPr lang="en-US" dirty="0"/>
              <a:t>public class Outer {</a:t>
            </a:r>
          </a:p>
          <a:p>
            <a:pPr marL="320040" lvl="1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value = 10;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r>
              <a:rPr lang="en-US" dirty="0"/>
              <a:t>    public class Inner {</a:t>
            </a:r>
          </a:p>
          <a:p>
            <a:pPr marL="320040" lvl="1" indent="0">
              <a:buNone/>
            </a:pPr>
            <a:r>
              <a:rPr lang="en-US" dirty="0"/>
              <a:t>        private </a:t>
            </a:r>
            <a:r>
              <a:rPr lang="en-US" dirty="0" err="1"/>
              <a:t>int</a:t>
            </a:r>
            <a:r>
              <a:rPr lang="en-US" dirty="0"/>
              <a:t> value = 20;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r>
              <a:rPr lang="en-US" dirty="0"/>
              <a:t>        public void </a:t>
            </a:r>
            <a:r>
              <a:rPr lang="en-US" dirty="0" err="1"/>
              <a:t>printValues</a:t>
            </a:r>
            <a:r>
              <a:rPr lang="en-US" dirty="0"/>
              <a:t>() {</a:t>
            </a:r>
          </a:p>
          <a:p>
            <a:pPr marL="320040" lvl="1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("Inner value: " + </a:t>
            </a:r>
            <a:r>
              <a:rPr lang="en-US" dirty="0" err="1"/>
              <a:t>this.value</a:t>
            </a:r>
            <a:r>
              <a:rPr lang="en-US" dirty="0"/>
              <a:t>); // Refers to inner class value</a:t>
            </a:r>
          </a:p>
          <a:p>
            <a:pPr marL="320040" lvl="1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("Outer value: " + </a:t>
            </a:r>
            <a:r>
              <a:rPr lang="en-US" dirty="0" err="1"/>
              <a:t>Outer.this.value</a:t>
            </a:r>
            <a:r>
              <a:rPr lang="en-US" dirty="0"/>
              <a:t>); // Refers to outer class value</a:t>
            </a:r>
          </a:p>
          <a:p>
            <a:pPr marL="320040" lvl="1" indent="0">
              <a:buNone/>
            </a:pPr>
            <a:r>
              <a:rPr lang="en-US" dirty="0"/>
              <a:t>        }</a:t>
            </a:r>
          </a:p>
          <a:p>
            <a:pPr marL="320040" lvl="1" indent="0">
              <a:buNone/>
            </a:pPr>
            <a:r>
              <a:rPr lang="en-US" dirty="0"/>
              <a:t>    }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230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 smtClean="0"/>
              <a:t>Mutator</a:t>
            </a:r>
            <a:r>
              <a:rPr lang="en-US" dirty="0" smtClean="0"/>
              <a:t>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methods, also known as </a:t>
            </a:r>
            <a:r>
              <a:rPr lang="en-US" b="1" dirty="0"/>
              <a:t>getter</a:t>
            </a:r>
            <a:r>
              <a:rPr lang="en-US" dirty="0"/>
              <a:t> and </a:t>
            </a:r>
            <a:r>
              <a:rPr lang="en-US" b="1" dirty="0"/>
              <a:t>setter</a:t>
            </a:r>
            <a:r>
              <a:rPr lang="en-US" dirty="0"/>
              <a:t> methods, are an essential part of object-oriented programming.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are used to access and modify the private fields (instance variables) of a class, providing controlled access to an object's state. </a:t>
            </a:r>
            <a:endParaRPr lang="en-US" dirty="0" smtClean="0"/>
          </a:p>
          <a:p>
            <a:r>
              <a:rPr lang="en-US" b="1" dirty="0" err="1"/>
              <a:t>Accessor</a:t>
            </a:r>
            <a:r>
              <a:rPr lang="en-US" b="1" dirty="0"/>
              <a:t> Methods (Getters):</a:t>
            </a:r>
          </a:p>
          <a:p>
            <a:pPr lvl="1"/>
            <a:r>
              <a:rPr lang="en-US" b="1" dirty="0"/>
              <a:t>Naming Convention:</a:t>
            </a:r>
            <a:r>
              <a:rPr lang="en-US" dirty="0"/>
              <a:t> </a:t>
            </a:r>
            <a:r>
              <a:rPr lang="en-US" dirty="0" err="1"/>
              <a:t>Accessor</a:t>
            </a:r>
            <a:r>
              <a:rPr lang="en-US" dirty="0"/>
              <a:t> methods should have names that begin with </a:t>
            </a:r>
            <a:r>
              <a:rPr lang="en-US" b="1" dirty="0"/>
              <a:t>"get" </a:t>
            </a:r>
            <a:r>
              <a:rPr lang="en-US" dirty="0"/>
              <a:t>followed by the name of the variable they retrieve.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method name should be in </a:t>
            </a:r>
            <a:r>
              <a:rPr lang="en-US" dirty="0" err="1"/>
              <a:t>camelCase</a:t>
            </a:r>
            <a:r>
              <a:rPr lang="en-US" dirty="0"/>
              <a:t> and describe the attribute being accessed.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34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return age;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String </a:t>
            </a:r>
            <a:r>
              <a:rPr lang="en-US" dirty="0" err="1"/>
              <a:t>getName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return name;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6729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en-US" b="1" dirty="0"/>
              <a:t>No Arguments:</a:t>
            </a:r>
            <a:r>
              <a:rPr lang="en-US" dirty="0"/>
              <a:t> </a:t>
            </a:r>
            <a:r>
              <a:rPr lang="en-US" dirty="0" err="1"/>
              <a:t>Accessor</a:t>
            </a:r>
            <a:r>
              <a:rPr lang="en-US" dirty="0"/>
              <a:t> methods typically do not take any arguments. They directly return the value of the associated instance variable.</a:t>
            </a:r>
          </a:p>
          <a:p>
            <a:r>
              <a:rPr lang="en-US" b="1" dirty="0"/>
              <a:t>Return Type:</a:t>
            </a:r>
            <a:r>
              <a:rPr lang="en-US" dirty="0"/>
              <a:t> The return type of an </a:t>
            </a:r>
            <a:r>
              <a:rPr lang="en-US" dirty="0" err="1"/>
              <a:t>accessor</a:t>
            </a:r>
            <a:r>
              <a:rPr lang="en-US" dirty="0"/>
              <a:t> method should match the data type of the associated instance variable.</a:t>
            </a:r>
          </a:p>
          <a:p>
            <a:r>
              <a:rPr lang="en-US" b="1" dirty="0"/>
              <a:t>Encapsulation:</a:t>
            </a:r>
            <a:r>
              <a:rPr lang="en-US" dirty="0"/>
              <a:t> </a:t>
            </a:r>
            <a:r>
              <a:rPr lang="en-US" dirty="0" err="1"/>
              <a:t>Accessor</a:t>
            </a:r>
            <a:r>
              <a:rPr lang="en-US" dirty="0"/>
              <a:t> methods allow controlled access to private instance variables. They enable you to hide the implementation details of your class while providing a way to retrieve its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877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86400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Mutator</a:t>
            </a:r>
            <a:r>
              <a:rPr lang="en-US" b="1" dirty="0"/>
              <a:t> Methods (Setters):</a:t>
            </a:r>
          </a:p>
          <a:p>
            <a:pPr lvl="1"/>
            <a:r>
              <a:rPr lang="en-US" b="1" dirty="0"/>
              <a:t>Naming Convention:</a:t>
            </a:r>
            <a:r>
              <a:rPr lang="en-US" dirty="0"/>
              <a:t> </a:t>
            </a:r>
            <a:r>
              <a:rPr lang="en-US" dirty="0" err="1"/>
              <a:t>Mutator</a:t>
            </a:r>
            <a:r>
              <a:rPr lang="en-US" dirty="0"/>
              <a:t> methods should have names that begin with </a:t>
            </a:r>
            <a:r>
              <a:rPr lang="en-US" b="1" dirty="0"/>
              <a:t>"set" </a:t>
            </a:r>
            <a:r>
              <a:rPr lang="en-US" dirty="0"/>
              <a:t>followed by the name of the variable they modify.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method name should be in </a:t>
            </a:r>
            <a:r>
              <a:rPr lang="en-US" dirty="0" err="1"/>
              <a:t>camelCase</a:t>
            </a:r>
            <a:r>
              <a:rPr lang="en-US" dirty="0"/>
              <a:t> and describe the attribute being set</a:t>
            </a:r>
            <a:r>
              <a:rPr lang="en-US" dirty="0" smtClean="0"/>
              <a:t>.	</a:t>
            </a:r>
          </a:p>
          <a:p>
            <a:pPr lvl="1"/>
            <a:endParaRPr lang="en-US" dirty="0"/>
          </a:p>
          <a:p>
            <a:pPr marL="320040" lvl="1" indent="0">
              <a:buNone/>
            </a:pPr>
            <a:r>
              <a:rPr lang="en-US" dirty="0"/>
              <a:t>public void </a:t>
            </a:r>
            <a:r>
              <a:rPr lang="en-US" dirty="0" err="1"/>
              <a:t>setAge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age) {</a:t>
            </a:r>
          </a:p>
          <a:p>
            <a:pPr marL="320040" lvl="1" indent="0">
              <a:buNone/>
            </a:pPr>
            <a:r>
              <a:rPr lang="en-US" dirty="0"/>
              <a:t>  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r>
              <a:rPr lang="en-US" dirty="0"/>
              <a:t>public void </a:t>
            </a:r>
            <a:r>
              <a:rPr lang="en-US" dirty="0" err="1"/>
              <a:t>setName</a:t>
            </a:r>
            <a:r>
              <a:rPr lang="en-US" dirty="0"/>
              <a:t>(String name) {</a:t>
            </a:r>
          </a:p>
          <a:p>
            <a:pPr marL="320040" lvl="1" indent="0">
              <a:buNone/>
            </a:pPr>
            <a:r>
              <a:rPr lang="en-US" dirty="0"/>
              <a:t>    this.name = name;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3811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/>
          </a:bodyPr>
          <a:lstStyle/>
          <a:p>
            <a:r>
              <a:rPr lang="en-US" b="1" dirty="0"/>
              <a:t>Single Argument: </a:t>
            </a:r>
            <a:r>
              <a:rPr lang="en-US" dirty="0" err="1"/>
              <a:t>Mutator</a:t>
            </a:r>
            <a:r>
              <a:rPr lang="en-US" dirty="0"/>
              <a:t> methods typically take a single argument, which is the new value to set for the associated instance variable.</a:t>
            </a:r>
          </a:p>
          <a:p>
            <a:endParaRPr lang="en-US" dirty="0"/>
          </a:p>
          <a:p>
            <a:r>
              <a:rPr lang="en-US" b="1" dirty="0"/>
              <a:t>Return Type: </a:t>
            </a:r>
            <a:r>
              <a:rPr lang="en-US" dirty="0" err="1"/>
              <a:t>Mutator</a:t>
            </a:r>
            <a:r>
              <a:rPr lang="en-US" dirty="0"/>
              <a:t> methods </a:t>
            </a:r>
            <a:r>
              <a:rPr lang="en-US" dirty="0" smtClean="0"/>
              <a:t>usually return </a:t>
            </a:r>
            <a:r>
              <a:rPr lang="en-US" dirty="0"/>
              <a:t>void to indicate that they don 't return any value.</a:t>
            </a:r>
          </a:p>
          <a:p>
            <a:endParaRPr lang="en-US" dirty="0"/>
          </a:p>
          <a:p>
            <a:r>
              <a:rPr lang="en-US" b="1" dirty="0"/>
              <a:t>Validation:</a:t>
            </a:r>
            <a:r>
              <a:rPr lang="en-US" dirty="0"/>
              <a:t> You can include validation logic in </a:t>
            </a:r>
            <a:r>
              <a:rPr lang="en-US" dirty="0" err="1"/>
              <a:t>mutator</a:t>
            </a:r>
            <a:r>
              <a:rPr lang="en-US" dirty="0"/>
              <a:t> methods to ensure that the new value is within valid ranges or meets certain criteria.</a:t>
            </a:r>
          </a:p>
        </p:txBody>
      </p:sp>
    </p:spTree>
    <p:extLst>
      <p:ext uri="{BB962C8B-B14F-4D97-AF65-F5344CB8AC3E}">
        <p14:creationId xmlns:p14="http://schemas.microsoft.com/office/powerpoint/2010/main" val="7301396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</a:t>
            </a:r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setAge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age) {</a:t>
            </a:r>
          </a:p>
          <a:p>
            <a:pPr marL="0" indent="0">
              <a:buNone/>
            </a:pPr>
            <a:r>
              <a:rPr lang="en-US" dirty="0"/>
              <a:t>    if (age &gt;= 0 &amp;&amp; age &lt;= 150) { // Validate age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    } else {</a:t>
            </a:r>
          </a:p>
          <a:p>
            <a:pPr marL="0" indent="0">
              <a:buNone/>
            </a:pPr>
            <a:r>
              <a:rPr lang="en-US" dirty="0"/>
              <a:t>        throw new </a:t>
            </a:r>
            <a:r>
              <a:rPr lang="en-US" dirty="0" err="1"/>
              <a:t>IllegalArgumentException</a:t>
            </a:r>
            <a:r>
              <a:rPr lang="en-US" dirty="0"/>
              <a:t>("Invalid age value");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028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</TotalTime>
  <Words>2821</Words>
  <Application>Microsoft Office PowerPoint</Application>
  <PresentationFormat>On-screen Show (4:3)</PresentationFormat>
  <Paragraphs>379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Cambria</vt:lpstr>
      <vt:lpstr>Franklin Gothic Book</vt:lpstr>
      <vt:lpstr>Perpetua</vt:lpstr>
      <vt:lpstr>Wingdings 2</vt:lpstr>
      <vt:lpstr>Equity</vt:lpstr>
      <vt:lpstr>Java Programming</vt:lpstr>
      <vt:lpstr>   Methods in Java</vt:lpstr>
      <vt:lpstr>Methods in Java</vt:lpstr>
      <vt:lpstr>Methods in Java</vt:lpstr>
      <vt:lpstr>Methods in Java</vt:lpstr>
      <vt:lpstr>Methods in Java</vt:lpstr>
      <vt:lpstr>Method Overloading in Java</vt:lpstr>
      <vt:lpstr>Method Overloading in Java : Example</vt:lpstr>
      <vt:lpstr>Method Overloading in Java : Example</vt:lpstr>
      <vt:lpstr>Different Ways of Method Overloading in Java</vt:lpstr>
      <vt:lpstr>Different Ways of Method Overloading in Java</vt:lpstr>
      <vt:lpstr>Different Ways of Method Overloading in Java</vt:lpstr>
      <vt:lpstr>Different Ways of Method Overloading in Java</vt:lpstr>
      <vt:lpstr>Different Ways of Method Overloading in Java</vt:lpstr>
      <vt:lpstr>Different Ways of Method Overloading in Java</vt:lpstr>
      <vt:lpstr>Different Ways of Method Overloading in Java</vt:lpstr>
      <vt:lpstr>Different Ways of Method Overloading in Java</vt:lpstr>
      <vt:lpstr>Type Conversion</vt:lpstr>
      <vt:lpstr>Type Conversion</vt:lpstr>
      <vt:lpstr>Type Conversion</vt:lpstr>
      <vt:lpstr>Type Conversion</vt:lpstr>
      <vt:lpstr>Recursion in java</vt:lpstr>
      <vt:lpstr>Recursion in java</vt:lpstr>
      <vt:lpstr>Recursion in java</vt:lpstr>
      <vt:lpstr>Recursion in java</vt:lpstr>
      <vt:lpstr>Recursion in java</vt:lpstr>
      <vt:lpstr>Recursion in java</vt:lpstr>
      <vt:lpstr>Static Members in Java</vt:lpstr>
      <vt:lpstr>Static Members in Java</vt:lpstr>
      <vt:lpstr>Static Members in Java</vt:lpstr>
      <vt:lpstr>Static Members in Java</vt:lpstr>
      <vt:lpstr>Use of “this “reference</vt:lpstr>
      <vt:lpstr>Use of “this “reference</vt:lpstr>
      <vt:lpstr>Use of “this “reference</vt:lpstr>
      <vt:lpstr>Use of “this “reference</vt:lpstr>
      <vt:lpstr>Use of “this “reference</vt:lpstr>
      <vt:lpstr>Use of “this “reference</vt:lpstr>
      <vt:lpstr>Design of Accessors and Mutator Methods</vt:lpstr>
      <vt:lpstr>Design of Accessors and Mutator Methods</vt:lpstr>
      <vt:lpstr>Design of Accessors and Mutator Methods</vt:lpstr>
      <vt:lpstr>Design of Accessors and Mutator Methods</vt:lpstr>
      <vt:lpstr>Design of Accessors and Mutator Methods</vt:lpstr>
      <vt:lpstr>Design of Accessors and Mutator Methods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Lab2-01</dc:creator>
  <cp:lastModifiedBy>TUSHAR KATHANE</cp:lastModifiedBy>
  <cp:revision>441</cp:revision>
  <dcterms:created xsi:type="dcterms:W3CDTF">2017-12-14T08:59:32Z</dcterms:created>
  <dcterms:modified xsi:type="dcterms:W3CDTF">2023-09-09T18:07:59Z</dcterms:modified>
</cp:coreProperties>
</file>