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612E1-50BB-4D39-A947-2FA1985E3DC1}" type="datetimeFigureOut">
              <a:rPr lang="en-US" smtClean="0"/>
              <a:t>31-Aug-23</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4A13E-E486-4652-91A6-C373BCC91415}" type="slidenum">
              <a:rPr lang="en-US" smtClean="0"/>
              <a:t>‹#›</a:t>
            </a:fld>
            <a:endParaRPr lang="en-US" dirty="0"/>
          </a:p>
        </p:txBody>
      </p:sp>
    </p:spTree>
    <p:extLst>
      <p:ext uri="{BB962C8B-B14F-4D97-AF65-F5344CB8AC3E}">
        <p14:creationId xmlns:p14="http://schemas.microsoft.com/office/powerpoint/2010/main" val="363107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lvl1pPr>
              <a:defRPr>
                <a:latin typeface="Cambria" pitchFamily="18" charset="0"/>
              </a:defRPr>
            </a:lvl1pPr>
          </a:lstStyle>
          <a:p>
            <a:fld id="{1D65F0D8-3483-4E75-BE56-B8181858E28A}" type="datetimeFigureOut">
              <a:rPr lang="en-US" smtClean="0"/>
              <a:pPr/>
              <a:t>31-Aug-23</a:t>
            </a:fld>
            <a:endParaRPr lang="en-US" dirty="0"/>
          </a:p>
        </p:txBody>
      </p:sp>
      <p:sp>
        <p:nvSpPr>
          <p:cNvPr id="17" name="Footer Placeholder 16"/>
          <p:cNvSpPr>
            <a:spLocks noGrp="1"/>
          </p:cNvSpPr>
          <p:nvPr>
            <p:ph type="ftr" sz="quarter" idx="11"/>
          </p:nvPr>
        </p:nvSpPr>
        <p:spPr/>
        <p:txBody>
          <a:bodyPr/>
          <a:lstStyle>
            <a:lvl1pPr>
              <a:defRPr>
                <a:latin typeface="Cambria" pitchFamily="18" charset="0"/>
              </a:defRPr>
            </a:lvl1p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8ED27E2-38FA-439A-8819-60CEBB2B9B55}" type="slidenum">
              <a:rPr lang="en-US" smtClean="0"/>
              <a:pPr/>
              <a:t>‹#›</a:t>
            </a:fld>
            <a:endParaRPr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mbria" pitchFamily="18" charset="0"/>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5" name="Footer Placeholder 4"/>
          <p:cNvSpPr>
            <a:spLocks noGrp="1"/>
          </p:cNvSpPr>
          <p:nvPr>
            <p:ph type="ftr" sz="quarter" idx="11"/>
          </p:nvPr>
        </p:nvSpPr>
        <p:spPr>
          <a:xfrm>
            <a:off x="800100" y="6172200"/>
            <a:ext cx="4000500" cy="457200"/>
          </a:xfrm>
        </p:spPr>
        <p:txBody>
          <a:bodyPr/>
          <a:lstStyle/>
          <a:p>
            <a:endParaRPr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Date Placeholder 2"/>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dirty="0"/>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6" name="Footer Placeholder 5"/>
          <p:cNvSpPr>
            <a:spLocks noGrp="1"/>
          </p:cNvSpPr>
          <p:nvPr>
            <p:ph type="ftr" sz="quarter" idx="11"/>
          </p:nvPr>
        </p:nvSpPr>
        <p:spPr>
          <a:xfrm>
            <a:off x="914400" y="6172200"/>
            <a:ext cx="3886200" cy="457200"/>
          </a:xfrm>
        </p:spPr>
        <p:txBody>
          <a:bodyPr/>
          <a:lstStyle/>
          <a:p>
            <a:endParaRPr lang="en-US" dirty="0"/>
          </a:p>
        </p:txBody>
      </p:sp>
      <p:sp>
        <p:nvSpPr>
          <p:cNvPr id="7" name="Slide Number Placeholder 6"/>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31-Aug-23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914400" y="274638"/>
            <a:ext cx="7772400" cy="487362"/>
          </a:xfrm>
          <a:prstGeom prst="rect">
            <a:avLst/>
          </a:prstGeom>
          <a:solidFill>
            <a:schemeClr val="accent1">
              <a:alpha val="72000"/>
            </a:schemeClr>
          </a:solidFill>
        </p:spPr>
        <p:txBody>
          <a:bodyPr bIns="91440" anchor="b" anchorCtr="0">
            <a:no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65F0D8-3483-4E75-BE56-B8181858E28A}" type="datetimeFigureOut">
              <a:rPr lang="en-US" smtClean="0"/>
              <a:pPr/>
              <a:t>31-Aug-23</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8ED27E2-38FA-439A-8819-60CEBB2B9B5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800" b="1" kern="1200">
          <a:solidFill>
            <a:schemeClr val="bg1"/>
          </a:solidFill>
          <a:latin typeface="Cambria" pitchFamily="18" charset="0"/>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Cambria" pitchFamily="18" charset="0"/>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Cambria" pitchFamily="18" charset="0"/>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Cambria" pitchFamily="18" charset="0"/>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Cambria" pitchFamily="18" charset="0"/>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Cambria" pitchFamily="18"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0"/>
            <a:ext cx="8229600" cy="1470025"/>
          </a:xfrm>
        </p:spPr>
        <p:txBody>
          <a:bodyPr/>
          <a:lstStyle/>
          <a:p>
            <a:r>
              <a:rPr lang="en-US" b="0" dirty="0"/>
              <a:t>Java Programming</a:t>
            </a:r>
            <a:endParaRPr lang="en-US" dirty="0"/>
          </a:p>
        </p:txBody>
      </p:sp>
      <p:sp>
        <p:nvSpPr>
          <p:cNvPr id="6" name="Rectangle 5"/>
          <p:cNvSpPr/>
          <p:nvPr/>
        </p:nvSpPr>
        <p:spPr>
          <a:xfrm>
            <a:off x="381000" y="3105835"/>
            <a:ext cx="8305800" cy="1323439"/>
          </a:xfrm>
          <a:prstGeom prst="rect">
            <a:avLst/>
          </a:prstGeom>
        </p:spPr>
        <p:txBody>
          <a:bodyPr wrap="square">
            <a:spAutoFit/>
          </a:bodyPr>
          <a:lstStyle/>
          <a:p>
            <a:pPr algn="ctr"/>
            <a:r>
              <a:rPr lang="en-US" sz="4000" b="1" dirty="0"/>
              <a:t>Java Programming</a:t>
            </a:r>
            <a:r>
              <a:rPr lang="en-US" sz="4000" b="1" dirty="0" smtClean="0"/>
              <a:t/>
            </a:r>
            <a:br>
              <a:rPr lang="en-US" sz="4000" b="1" dirty="0" smtClean="0"/>
            </a:br>
            <a:r>
              <a:rPr lang="en-US" sz="4000" dirty="0"/>
              <a:t>IT-11</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563562"/>
          </a:xfrm>
        </p:spPr>
        <p:txBody>
          <a:bodyPr>
            <a:noAutofit/>
          </a:bodyPr>
          <a:lstStyle/>
          <a:p>
            <a:r>
              <a:rPr lang="en-US" sz="2400" dirty="0" smtClean="0">
                <a:latin typeface="Calibri"/>
                <a:cs typeface="Calibri"/>
              </a:rPr>
              <a:t/>
            </a:r>
            <a:br>
              <a:rPr lang="en-US" sz="2400" dirty="0" smtClean="0">
                <a:latin typeface="Calibri"/>
                <a:cs typeface="Calibri"/>
              </a:rPr>
            </a:br>
            <a:r>
              <a:rPr lang="en-US" sz="2400" dirty="0" smtClean="0">
                <a:latin typeface="Calibri"/>
                <a:cs typeface="Calibri"/>
              </a:rPr>
              <a:t/>
            </a:r>
            <a:br>
              <a:rPr lang="en-US" sz="2400" dirty="0" smtClean="0">
                <a:latin typeface="Calibri"/>
                <a:cs typeface="Calibri"/>
              </a:rPr>
            </a:br>
            <a:r>
              <a:rPr lang="en-US" sz="2400" dirty="0" smtClean="0">
                <a:latin typeface="Calibri"/>
                <a:cs typeface="Calibri"/>
              </a:rPr>
              <a:t/>
            </a:r>
            <a:br>
              <a:rPr lang="en-US" sz="2400" dirty="0" smtClean="0">
                <a:latin typeface="Calibri"/>
                <a:cs typeface="Calibri"/>
              </a:rPr>
            </a:br>
            <a:r>
              <a:rPr lang="en-US" sz="2400" dirty="0"/>
              <a:t>Classes and Objects in </a:t>
            </a:r>
            <a:r>
              <a:rPr lang="en-US" sz="2400" dirty="0" smtClean="0"/>
              <a:t>Java</a:t>
            </a:r>
            <a:endParaRPr lang="en-US" sz="2400" dirty="0"/>
          </a:p>
        </p:txBody>
      </p:sp>
      <p:sp>
        <p:nvSpPr>
          <p:cNvPr id="3" name="Content Placeholder 2"/>
          <p:cNvSpPr>
            <a:spLocks noGrp="1"/>
          </p:cNvSpPr>
          <p:nvPr>
            <p:ph sz="quarter" idx="1"/>
          </p:nvPr>
        </p:nvSpPr>
        <p:spPr>
          <a:xfrm>
            <a:off x="304800" y="1447800"/>
            <a:ext cx="8610600" cy="4267200"/>
          </a:xfrm>
        </p:spPr>
        <p:txBody>
          <a:bodyPr>
            <a:normAutofit fontScale="92500"/>
          </a:bodyPr>
          <a:lstStyle/>
          <a:p>
            <a:pPr lvl="2">
              <a:buNone/>
            </a:pPr>
            <a:endParaRPr lang="en-US" sz="1600" dirty="0" smtClean="0"/>
          </a:p>
          <a:p>
            <a:pPr>
              <a:lnSpc>
                <a:spcPct val="150000"/>
              </a:lnSpc>
            </a:pPr>
            <a:r>
              <a:rPr lang="en-US" dirty="0"/>
              <a:t>In Java, classes and objects are basic concepts of Object Oriented Programming (OOPs) that are used to represent real-world concepts and entities. The class represents a group of objects having similar properties and behavior. For example, the animal type </a:t>
            </a:r>
            <a:r>
              <a:rPr lang="en-US" b="1" dirty="0"/>
              <a:t>Dog</a:t>
            </a:r>
            <a:r>
              <a:rPr lang="en-US" dirty="0"/>
              <a:t> is a class while a particular dog named </a:t>
            </a:r>
            <a:r>
              <a:rPr lang="en-US" b="1" dirty="0"/>
              <a:t>Tommy </a:t>
            </a:r>
            <a:r>
              <a:rPr lang="en-US" dirty="0"/>
              <a:t>is an object of the </a:t>
            </a:r>
            <a:r>
              <a:rPr lang="en-US" b="1" dirty="0"/>
              <a:t>Dog</a:t>
            </a:r>
            <a:r>
              <a:rPr lang="en-US" dirty="0"/>
              <a:t> class.</a:t>
            </a:r>
          </a:p>
          <a:p>
            <a:pPr marL="320040" lvl="1" indent="0">
              <a:buNone/>
            </a:pPr>
            <a:endParaRPr lang="en-US" sz="2000" dirty="0" smtClean="0"/>
          </a:p>
          <a:p>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smtClean="0"/>
              <a:t>Classes</a:t>
            </a:r>
            <a:endParaRPr lang="en-US" dirty="0"/>
          </a:p>
        </p:txBody>
      </p:sp>
      <p:sp>
        <p:nvSpPr>
          <p:cNvPr id="3" name="Content Placeholder 2"/>
          <p:cNvSpPr>
            <a:spLocks noGrp="1"/>
          </p:cNvSpPr>
          <p:nvPr>
            <p:ph sz="quarter" idx="1"/>
          </p:nvPr>
        </p:nvSpPr>
        <p:spPr>
          <a:xfrm>
            <a:off x="914400" y="990600"/>
            <a:ext cx="7772400" cy="4572000"/>
          </a:xfrm>
        </p:spPr>
        <p:txBody>
          <a:bodyPr/>
          <a:lstStyle/>
          <a:p>
            <a:pPr>
              <a:lnSpc>
                <a:spcPct val="150000"/>
              </a:lnSpc>
            </a:pPr>
            <a:r>
              <a:rPr lang="en-US" dirty="0"/>
              <a:t>A class in Java is a set of objects which shares common characteristics/ behavior and common properties/ attributes. It is a user-defined blueprint or prototype from which objects are created. For example, Student is a class while a particular student named Ravi is an object.</a:t>
            </a:r>
          </a:p>
        </p:txBody>
      </p:sp>
    </p:spTree>
    <p:extLst>
      <p:ext uri="{BB962C8B-B14F-4D97-AF65-F5344CB8AC3E}">
        <p14:creationId xmlns:p14="http://schemas.microsoft.com/office/powerpoint/2010/main" val="2251469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Java </a:t>
            </a:r>
            <a:r>
              <a:rPr lang="en-US" dirty="0" smtClean="0"/>
              <a:t>Classes</a:t>
            </a:r>
            <a:endParaRPr lang="en-US" dirty="0"/>
          </a:p>
        </p:txBody>
      </p:sp>
      <p:sp>
        <p:nvSpPr>
          <p:cNvPr id="3" name="Content Placeholder 2"/>
          <p:cNvSpPr>
            <a:spLocks noGrp="1"/>
          </p:cNvSpPr>
          <p:nvPr>
            <p:ph sz="quarter" idx="1"/>
          </p:nvPr>
        </p:nvSpPr>
        <p:spPr>
          <a:xfrm>
            <a:off x="914400" y="1066800"/>
            <a:ext cx="7772400" cy="5334000"/>
          </a:xfrm>
        </p:spPr>
        <p:txBody>
          <a:bodyPr>
            <a:normAutofit/>
          </a:bodyPr>
          <a:lstStyle/>
          <a:p>
            <a:pPr fontAlgn="base"/>
            <a:r>
              <a:rPr lang="en-US" dirty="0"/>
              <a:t>Class is not a real-world entity. It is just a template or blueprint or prototype from which objects are created.</a:t>
            </a:r>
          </a:p>
          <a:p>
            <a:pPr fontAlgn="base"/>
            <a:r>
              <a:rPr lang="en-US" dirty="0"/>
              <a:t>Class does not occupy memory.</a:t>
            </a:r>
          </a:p>
          <a:p>
            <a:pPr fontAlgn="base"/>
            <a:r>
              <a:rPr lang="en-US" dirty="0"/>
              <a:t>Class is a group of variables of different data types and a group of methods.</a:t>
            </a:r>
          </a:p>
          <a:p>
            <a:pPr fontAlgn="base"/>
            <a:r>
              <a:rPr lang="en-US" dirty="0"/>
              <a:t>A Class in Java can contain:</a:t>
            </a:r>
          </a:p>
          <a:p>
            <a:pPr lvl="1" fontAlgn="base"/>
            <a:r>
              <a:rPr lang="en-US" dirty="0"/>
              <a:t>Data member</a:t>
            </a:r>
          </a:p>
          <a:p>
            <a:pPr lvl="1" fontAlgn="base"/>
            <a:r>
              <a:rPr lang="en-US" dirty="0"/>
              <a:t>Method</a:t>
            </a:r>
          </a:p>
          <a:p>
            <a:pPr lvl="1" fontAlgn="base"/>
            <a:r>
              <a:rPr lang="en-US" dirty="0"/>
              <a:t>Constructor</a:t>
            </a:r>
          </a:p>
          <a:p>
            <a:pPr lvl="1" fontAlgn="base"/>
            <a:r>
              <a:rPr lang="en-US" dirty="0"/>
              <a:t>Nested Class</a:t>
            </a:r>
          </a:p>
          <a:p>
            <a:pPr lvl="1" fontAlgn="base"/>
            <a:r>
              <a:rPr lang="en-US" dirty="0"/>
              <a:t>Interface</a:t>
            </a:r>
          </a:p>
          <a:p>
            <a:endParaRPr lang="en-US" dirty="0"/>
          </a:p>
        </p:txBody>
      </p:sp>
    </p:spTree>
    <p:extLst>
      <p:ext uri="{BB962C8B-B14F-4D97-AF65-F5344CB8AC3E}">
        <p14:creationId xmlns:p14="http://schemas.microsoft.com/office/powerpoint/2010/main" val="1176527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Declaration in </a:t>
            </a:r>
            <a:r>
              <a:rPr lang="en-US" dirty="0" smtClean="0"/>
              <a:t>Java</a:t>
            </a:r>
            <a:endParaRPr lang="en-US" dirty="0"/>
          </a:p>
        </p:txBody>
      </p:sp>
      <p:sp>
        <p:nvSpPr>
          <p:cNvPr id="3" name="Content Placeholder 2"/>
          <p:cNvSpPr>
            <a:spLocks noGrp="1"/>
          </p:cNvSpPr>
          <p:nvPr>
            <p:ph sz="quarter" idx="1"/>
          </p:nvPr>
        </p:nvSpPr>
        <p:spPr>
          <a:xfrm>
            <a:off x="914400" y="1219200"/>
            <a:ext cx="7772400" cy="4572000"/>
          </a:xfrm>
        </p:spPr>
        <p:txBody>
          <a:bodyPr/>
          <a:lstStyle/>
          <a:p>
            <a:pPr marL="0" indent="0">
              <a:buNone/>
            </a:pPr>
            <a:r>
              <a:rPr lang="en-US" dirty="0"/>
              <a:t>access_modifier class &lt; class_name </a:t>
            </a:r>
            <a:r>
              <a:rPr lang="en-US" dirty="0" smtClean="0"/>
              <a:t>&gt;</a:t>
            </a:r>
          </a:p>
          <a:p>
            <a:pPr marL="0" indent="0">
              <a:buNone/>
            </a:pPr>
            <a:r>
              <a:rPr lang="en-US" dirty="0" smtClean="0"/>
              <a:t> </a:t>
            </a:r>
            <a:r>
              <a:rPr lang="en-US" dirty="0"/>
              <a:t>{</a:t>
            </a:r>
          </a:p>
          <a:p>
            <a:pPr marL="0" indent="0">
              <a:buNone/>
            </a:pPr>
            <a:r>
              <a:rPr lang="en-US" dirty="0"/>
              <a:t>    data member;</a:t>
            </a:r>
          </a:p>
          <a:p>
            <a:pPr marL="0" indent="0">
              <a:buNone/>
            </a:pPr>
            <a:r>
              <a:rPr lang="en-US" dirty="0"/>
              <a:t>    method;</a:t>
            </a:r>
          </a:p>
          <a:p>
            <a:pPr marL="0" indent="0">
              <a:buNone/>
            </a:pPr>
            <a:r>
              <a:rPr lang="en-US" dirty="0"/>
              <a:t>    constructor;</a:t>
            </a:r>
          </a:p>
          <a:p>
            <a:pPr marL="0" indent="0">
              <a:buNone/>
            </a:pPr>
            <a:r>
              <a:rPr lang="en-US" dirty="0"/>
              <a:t>    nested class;</a:t>
            </a:r>
          </a:p>
          <a:p>
            <a:pPr marL="0" indent="0">
              <a:buNone/>
            </a:pPr>
            <a:r>
              <a:rPr lang="en-US" dirty="0"/>
              <a:t>    interface;</a:t>
            </a:r>
          </a:p>
          <a:p>
            <a:pPr marL="0" indent="0">
              <a:buNone/>
            </a:pPr>
            <a:r>
              <a:rPr lang="en-US" dirty="0"/>
              <a:t>}</a:t>
            </a:r>
          </a:p>
        </p:txBody>
      </p:sp>
    </p:spTree>
    <p:extLst>
      <p:ext uri="{BB962C8B-B14F-4D97-AF65-F5344CB8AC3E}">
        <p14:creationId xmlns:p14="http://schemas.microsoft.com/office/powerpoint/2010/main" val="3272421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Java </a:t>
            </a:r>
            <a:r>
              <a:rPr lang="en-US" dirty="0" smtClean="0"/>
              <a:t>Class</a:t>
            </a:r>
            <a:endParaRPr lang="en-US" dirty="0"/>
          </a:p>
        </p:txBody>
      </p:sp>
      <p:sp>
        <p:nvSpPr>
          <p:cNvPr id="3" name="Content Placeholder 2"/>
          <p:cNvSpPr>
            <a:spLocks noGrp="1"/>
          </p:cNvSpPr>
          <p:nvPr>
            <p:ph sz="quarter" idx="1"/>
          </p:nvPr>
        </p:nvSpPr>
        <p:spPr>
          <a:xfrm>
            <a:off x="914400" y="914400"/>
            <a:ext cx="7772400" cy="5715000"/>
          </a:xfrm>
        </p:spPr>
        <p:txBody>
          <a:bodyPr>
            <a:normAutofit fontScale="85000" lnSpcReduction="20000"/>
          </a:bodyPr>
          <a:lstStyle/>
          <a:p>
            <a:pPr marL="0" indent="0">
              <a:buNone/>
            </a:pPr>
            <a:r>
              <a:rPr lang="en-US" dirty="0"/>
              <a:t>// Java Program for class example</a:t>
            </a:r>
          </a:p>
          <a:p>
            <a:pPr marL="0" indent="0">
              <a:buNone/>
            </a:pPr>
            <a:endParaRPr lang="en-US" dirty="0"/>
          </a:p>
          <a:p>
            <a:pPr marL="0" indent="0">
              <a:buNone/>
            </a:pPr>
            <a:r>
              <a:rPr lang="en-US" dirty="0"/>
              <a:t>class Student {</a:t>
            </a:r>
          </a:p>
          <a:p>
            <a:pPr marL="0" indent="0">
              <a:buNone/>
            </a:pPr>
            <a:r>
              <a:rPr lang="en-US" dirty="0"/>
              <a:t>    // data member (also instance variable)</a:t>
            </a:r>
          </a:p>
          <a:p>
            <a:pPr marL="0" indent="0">
              <a:buNone/>
            </a:pPr>
            <a:r>
              <a:rPr lang="en-US" dirty="0"/>
              <a:t>    </a:t>
            </a:r>
            <a:r>
              <a:rPr lang="en-US" dirty="0" err="1"/>
              <a:t>int</a:t>
            </a:r>
            <a:r>
              <a:rPr lang="en-US" dirty="0"/>
              <a:t> </a:t>
            </a:r>
            <a:r>
              <a:rPr lang="en-US" dirty="0" smtClean="0"/>
              <a:t>id=101;</a:t>
            </a:r>
            <a:endParaRPr lang="en-US" dirty="0"/>
          </a:p>
          <a:p>
            <a:pPr marL="0" indent="0">
              <a:buNone/>
            </a:pPr>
            <a:r>
              <a:rPr lang="en-US" dirty="0"/>
              <a:t>    // data member (also instance variable)</a:t>
            </a:r>
          </a:p>
          <a:p>
            <a:pPr marL="0" indent="0">
              <a:buNone/>
            </a:pPr>
            <a:r>
              <a:rPr lang="en-US" dirty="0"/>
              <a:t>    String </a:t>
            </a:r>
            <a:r>
              <a:rPr lang="en-US" dirty="0" smtClean="0"/>
              <a:t>name=“Ravi”;</a:t>
            </a:r>
            <a:endParaRPr lang="en-US" dirty="0"/>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a:t>        // creating an object of</a:t>
            </a:r>
          </a:p>
          <a:p>
            <a:pPr marL="0" indent="0">
              <a:buNone/>
            </a:pPr>
            <a:r>
              <a:rPr lang="en-US" dirty="0"/>
              <a:t>        // Student</a:t>
            </a:r>
          </a:p>
          <a:p>
            <a:pPr marL="0" indent="0">
              <a:buNone/>
            </a:pPr>
            <a:r>
              <a:rPr lang="en-US" dirty="0"/>
              <a:t>        Student s1 = new Student();</a:t>
            </a:r>
          </a:p>
          <a:p>
            <a:pPr marL="0" indent="0">
              <a:buNone/>
            </a:pPr>
            <a:r>
              <a:rPr lang="en-US" dirty="0"/>
              <a:t>        </a:t>
            </a:r>
            <a:r>
              <a:rPr lang="en-US" dirty="0" err="1"/>
              <a:t>System.out.println</a:t>
            </a:r>
            <a:r>
              <a:rPr lang="en-US" dirty="0"/>
              <a:t>(s1.id);</a:t>
            </a:r>
          </a:p>
          <a:p>
            <a:pPr marL="0" indent="0">
              <a:buNone/>
            </a:pPr>
            <a:r>
              <a:rPr lang="en-US" dirty="0"/>
              <a:t>        </a:t>
            </a:r>
            <a:r>
              <a:rPr lang="en-US" dirty="0" err="1"/>
              <a:t>System.out.println</a:t>
            </a:r>
            <a:r>
              <a:rPr lang="en-US" dirty="0"/>
              <a:t>(s1.name);</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232113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Java </a:t>
            </a:r>
            <a:r>
              <a:rPr lang="en-US" dirty="0" smtClean="0"/>
              <a:t>Classes</a:t>
            </a:r>
            <a:endParaRPr lang="en-US" dirty="0"/>
          </a:p>
        </p:txBody>
      </p:sp>
      <p:sp>
        <p:nvSpPr>
          <p:cNvPr id="3" name="Content Placeholder 2"/>
          <p:cNvSpPr>
            <a:spLocks noGrp="1"/>
          </p:cNvSpPr>
          <p:nvPr>
            <p:ph sz="quarter" idx="1"/>
          </p:nvPr>
        </p:nvSpPr>
        <p:spPr>
          <a:xfrm>
            <a:off x="914400" y="1143000"/>
            <a:ext cx="7772400" cy="5334000"/>
          </a:xfrm>
        </p:spPr>
        <p:txBody>
          <a:bodyPr>
            <a:normAutofit fontScale="92500" lnSpcReduction="10000"/>
          </a:bodyPr>
          <a:lstStyle/>
          <a:p>
            <a:r>
              <a:rPr lang="en-US" dirty="0"/>
              <a:t> In general, class declarations can include these components, in order: </a:t>
            </a:r>
            <a:endParaRPr lang="en-US" dirty="0" smtClean="0"/>
          </a:p>
          <a:p>
            <a:pPr fontAlgn="base"/>
            <a:r>
              <a:rPr lang="en-US" b="1" dirty="0"/>
              <a:t>Modifiers</a:t>
            </a:r>
            <a:r>
              <a:rPr lang="en-US" dirty="0"/>
              <a:t>: A class can be public or has default </a:t>
            </a:r>
            <a:r>
              <a:rPr lang="en-US" dirty="0" smtClean="0"/>
              <a:t>access</a:t>
            </a:r>
          </a:p>
          <a:p>
            <a:pPr fontAlgn="base"/>
            <a:r>
              <a:rPr lang="en-US" b="1" dirty="0" smtClean="0"/>
              <a:t>Class keyword: </a:t>
            </a:r>
            <a:r>
              <a:rPr lang="en-US" dirty="0" smtClean="0"/>
              <a:t>class keyword is used to create a class.</a:t>
            </a:r>
          </a:p>
          <a:p>
            <a:pPr fontAlgn="base"/>
            <a:r>
              <a:rPr lang="en-US" b="1" dirty="0" smtClean="0"/>
              <a:t>Class </a:t>
            </a:r>
            <a:r>
              <a:rPr lang="en-US" b="1" dirty="0"/>
              <a:t>name:</a:t>
            </a:r>
            <a:r>
              <a:rPr lang="en-US" dirty="0"/>
              <a:t> The name should begin with an initial letter (capitalized by convention).</a:t>
            </a:r>
          </a:p>
          <a:p>
            <a:pPr fontAlgn="base"/>
            <a:r>
              <a:rPr lang="en-US" b="1" dirty="0"/>
              <a:t>Superclass(if any):</a:t>
            </a:r>
            <a:r>
              <a:rPr lang="en-US" dirty="0"/>
              <a:t> The name of the class’s parent (superclass), if any, preceded by the keyword extends. A class can only extend (subclass) one parent.</a:t>
            </a:r>
          </a:p>
          <a:p>
            <a:pPr fontAlgn="base"/>
            <a:r>
              <a:rPr lang="en-US" b="1" dirty="0"/>
              <a:t>Interfaces(if any):</a:t>
            </a:r>
            <a:r>
              <a:rPr lang="en-US" dirty="0"/>
              <a:t> A comma-separated list of interfaces implemented by the class, if any, preceded by the keyword implements. A class can implement more than one interface.</a:t>
            </a:r>
          </a:p>
          <a:p>
            <a:pPr fontAlgn="base"/>
            <a:r>
              <a:rPr lang="en-US" b="1" dirty="0"/>
              <a:t>Body:</a:t>
            </a:r>
            <a:r>
              <a:rPr lang="en-US" dirty="0"/>
              <a:t> The class body is surrounded by braces, { }.</a:t>
            </a:r>
          </a:p>
          <a:p>
            <a:pPr lvl="1"/>
            <a:endParaRPr lang="en-US" dirty="0"/>
          </a:p>
        </p:txBody>
      </p:sp>
    </p:spTree>
    <p:extLst>
      <p:ext uri="{BB962C8B-B14F-4D97-AF65-F5344CB8AC3E}">
        <p14:creationId xmlns:p14="http://schemas.microsoft.com/office/powerpoint/2010/main" val="980066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smtClean="0"/>
              <a:t>Objects</a:t>
            </a:r>
            <a:endParaRPr lang="en-US" dirty="0"/>
          </a:p>
        </p:txBody>
      </p:sp>
      <p:sp>
        <p:nvSpPr>
          <p:cNvPr id="3" name="Content Placeholder 2"/>
          <p:cNvSpPr>
            <a:spLocks noGrp="1"/>
          </p:cNvSpPr>
          <p:nvPr>
            <p:ph sz="quarter" idx="1"/>
          </p:nvPr>
        </p:nvSpPr>
        <p:spPr>
          <a:xfrm>
            <a:off x="914400" y="1066800"/>
            <a:ext cx="7772400" cy="5562600"/>
          </a:xfrm>
        </p:spPr>
        <p:txBody>
          <a:bodyPr>
            <a:normAutofit/>
          </a:bodyPr>
          <a:lstStyle/>
          <a:p>
            <a:r>
              <a:rPr lang="en-US" dirty="0"/>
              <a:t>An object in Java is a basic unit of Object-Oriented Programming and represents real-life entities. Objects are the instances of a class that are created to use the attributes and methods of a class</a:t>
            </a:r>
            <a:r>
              <a:rPr lang="en-US" dirty="0" smtClean="0"/>
              <a:t>.</a:t>
            </a:r>
          </a:p>
          <a:p>
            <a:r>
              <a:rPr lang="en-US" dirty="0"/>
              <a:t> An object consists of : </a:t>
            </a:r>
            <a:endParaRPr lang="en-US" dirty="0" smtClean="0"/>
          </a:p>
          <a:p>
            <a:pPr lvl="1" fontAlgn="base"/>
            <a:r>
              <a:rPr lang="en-US" b="1" dirty="0"/>
              <a:t>State</a:t>
            </a:r>
            <a:r>
              <a:rPr lang="en-US" dirty="0"/>
              <a:t>: It is represented by attributes of an object. It also reflects the properties of an object.</a:t>
            </a:r>
          </a:p>
          <a:p>
            <a:pPr lvl="1" fontAlgn="base"/>
            <a:r>
              <a:rPr lang="en-US" b="1" dirty="0"/>
              <a:t>Behavior</a:t>
            </a:r>
            <a:r>
              <a:rPr lang="en-US" dirty="0"/>
              <a:t>: It is represented by the methods of an object. It also reflects the response of an object with other objects.</a:t>
            </a:r>
          </a:p>
          <a:p>
            <a:pPr lvl="1" fontAlgn="base"/>
            <a:r>
              <a:rPr lang="en-US" b="1" dirty="0"/>
              <a:t>Identity</a:t>
            </a:r>
            <a:r>
              <a:rPr lang="en-US" dirty="0"/>
              <a:t>: It gives a unique name to an object and enables one object to interact with other objects.</a:t>
            </a:r>
          </a:p>
          <a:p>
            <a:pPr lvl="1"/>
            <a:endParaRPr lang="en-US" dirty="0"/>
          </a:p>
        </p:txBody>
      </p:sp>
    </p:spTree>
    <p:extLst>
      <p:ext uri="{BB962C8B-B14F-4D97-AF65-F5344CB8AC3E}">
        <p14:creationId xmlns:p14="http://schemas.microsoft.com/office/powerpoint/2010/main" val="2317183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an object: dog</a:t>
            </a:r>
          </a:p>
        </p:txBody>
      </p:sp>
      <p:pic>
        <p:nvPicPr>
          <p:cNvPr id="4" name="Content Placeholder 3"/>
          <p:cNvPicPr>
            <a:picLocks noGrp="1" noChangeAspect="1"/>
          </p:cNvPicPr>
          <p:nvPr>
            <p:ph sz="quarter" idx="1"/>
          </p:nvPr>
        </p:nvPicPr>
        <p:blipFill>
          <a:blip r:embed="rId2"/>
          <a:stretch>
            <a:fillRect/>
          </a:stretch>
        </p:blipFill>
        <p:spPr>
          <a:xfrm>
            <a:off x="187200" y="1981200"/>
            <a:ext cx="8804400" cy="2911872"/>
          </a:xfrm>
          <a:prstGeom prst="rect">
            <a:avLst/>
          </a:prstGeom>
        </p:spPr>
      </p:pic>
    </p:spTree>
    <p:extLst>
      <p:ext uri="{BB962C8B-B14F-4D97-AF65-F5344CB8AC3E}">
        <p14:creationId xmlns:p14="http://schemas.microsoft.com/office/powerpoint/2010/main" val="3559477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Declaring Objects</a:t>
            </a:r>
          </a:p>
        </p:txBody>
      </p:sp>
      <p:sp>
        <p:nvSpPr>
          <p:cNvPr id="3" name="Content Placeholder 2"/>
          <p:cNvSpPr>
            <a:spLocks noGrp="1"/>
          </p:cNvSpPr>
          <p:nvPr>
            <p:ph sz="quarter" idx="1"/>
          </p:nvPr>
        </p:nvSpPr>
        <p:spPr>
          <a:xfrm>
            <a:off x="914400" y="990600"/>
            <a:ext cx="7772400" cy="4572000"/>
          </a:xfrm>
        </p:spPr>
        <p:txBody>
          <a:bodyPr/>
          <a:lstStyle/>
          <a:p>
            <a:r>
              <a:rPr lang="en-US" dirty="0"/>
              <a:t>When an object of a class is created, the class is said to be </a:t>
            </a:r>
            <a:r>
              <a:rPr lang="en-US" b="1" dirty="0"/>
              <a:t>instantiated</a:t>
            </a:r>
            <a:r>
              <a:rPr lang="en-US" dirty="0"/>
              <a:t>. All the instances share the attributes and the behavior of the class. But the values of those attributes, i.e. the state are unique for each object. A single class may have any number of instances.</a:t>
            </a:r>
          </a:p>
        </p:txBody>
      </p:sp>
      <p:pic>
        <p:nvPicPr>
          <p:cNvPr id="4" name="Picture 3"/>
          <p:cNvPicPr>
            <a:picLocks noChangeAspect="1"/>
          </p:cNvPicPr>
          <p:nvPr/>
        </p:nvPicPr>
        <p:blipFill>
          <a:blip r:embed="rId2"/>
          <a:stretch>
            <a:fillRect/>
          </a:stretch>
        </p:blipFill>
        <p:spPr>
          <a:xfrm>
            <a:off x="990600" y="3429000"/>
            <a:ext cx="7162800" cy="3276600"/>
          </a:xfrm>
          <a:prstGeom prst="rect">
            <a:avLst/>
          </a:prstGeom>
        </p:spPr>
      </p:pic>
    </p:spTree>
    <p:extLst>
      <p:ext uri="{BB962C8B-B14F-4D97-AF65-F5344CB8AC3E}">
        <p14:creationId xmlns:p14="http://schemas.microsoft.com/office/powerpoint/2010/main" val="1469848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Initializing a Java </a:t>
            </a:r>
            <a:r>
              <a:rPr lang="en-US" dirty="0" smtClean="0"/>
              <a:t>object</a:t>
            </a:r>
            <a:endParaRPr lang="en-US" dirty="0"/>
          </a:p>
        </p:txBody>
      </p:sp>
      <p:sp>
        <p:nvSpPr>
          <p:cNvPr id="3" name="Content Placeholder 2"/>
          <p:cNvSpPr>
            <a:spLocks noGrp="1"/>
          </p:cNvSpPr>
          <p:nvPr>
            <p:ph sz="quarter" idx="1"/>
          </p:nvPr>
        </p:nvSpPr>
        <p:spPr>
          <a:xfrm>
            <a:off x="914400" y="1066800"/>
            <a:ext cx="7772400" cy="4572000"/>
          </a:xfrm>
        </p:spPr>
        <p:txBody>
          <a:bodyPr>
            <a:normAutofit fontScale="92500" lnSpcReduction="10000"/>
          </a:bodyPr>
          <a:lstStyle/>
          <a:p>
            <a:r>
              <a:rPr lang="en-US" dirty="0"/>
              <a:t>The new operator instantiates a class by allocating memory for a new object and returning a reference to that memory. The new operator also invokes the class constructor. </a:t>
            </a:r>
            <a:endParaRPr lang="en-US" dirty="0" smtClean="0"/>
          </a:p>
          <a:p>
            <a:endParaRPr lang="en-US" dirty="0" smtClean="0"/>
          </a:p>
          <a:p>
            <a:pPr marL="274320" lvl="1" indent="0">
              <a:buNone/>
            </a:pPr>
            <a:r>
              <a:rPr lang="en-US" dirty="0"/>
              <a:t>// Class Declaration</a:t>
            </a:r>
          </a:p>
          <a:p>
            <a:pPr marL="274320" lvl="1" indent="0">
              <a:buNone/>
            </a:pPr>
            <a:r>
              <a:rPr lang="en-US" dirty="0"/>
              <a:t>public class Dog {</a:t>
            </a:r>
          </a:p>
          <a:p>
            <a:pPr marL="274320" lvl="1" indent="0">
              <a:buNone/>
            </a:pPr>
            <a:r>
              <a:rPr lang="en-US" dirty="0"/>
              <a:t>    // Instance Variables</a:t>
            </a:r>
          </a:p>
          <a:p>
            <a:pPr marL="274320" lvl="1" indent="0">
              <a:buNone/>
            </a:pPr>
            <a:r>
              <a:rPr lang="en-US" dirty="0"/>
              <a:t>    String name;</a:t>
            </a:r>
          </a:p>
          <a:p>
            <a:pPr marL="274320" lvl="1" indent="0">
              <a:buNone/>
            </a:pPr>
            <a:r>
              <a:rPr lang="en-US" dirty="0"/>
              <a:t>    String breed;</a:t>
            </a:r>
          </a:p>
          <a:p>
            <a:pPr marL="274320" lvl="1" indent="0">
              <a:buNone/>
            </a:pPr>
            <a:r>
              <a:rPr lang="en-US" dirty="0"/>
              <a:t>    </a:t>
            </a:r>
            <a:r>
              <a:rPr lang="en-US" dirty="0" err="1"/>
              <a:t>int</a:t>
            </a:r>
            <a:r>
              <a:rPr lang="en-US" dirty="0"/>
              <a:t> age;</a:t>
            </a:r>
          </a:p>
          <a:p>
            <a:pPr marL="274320" lvl="1" indent="0">
              <a:buNone/>
            </a:pPr>
            <a:r>
              <a:rPr lang="en-US" dirty="0"/>
              <a:t>    String color;</a:t>
            </a:r>
          </a:p>
          <a:p>
            <a:pPr lvl="1"/>
            <a:endParaRPr lang="en-US" dirty="0"/>
          </a:p>
        </p:txBody>
      </p:sp>
    </p:spTree>
    <p:extLst>
      <p:ext uri="{BB962C8B-B14F-4D97-AF65-F5344CB8AC3E}">
        <p14:creationId xmlns:p14="http://schemas.microsoft.com/office/powerpoint/2010/main" val="340627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Initializing a Java object</a:t>
            </a:r>
          </a:p>
        </p:txBody>
      </p:sp>
      <p:sp>
        <p:nvSpPr>
          <p:cNvPr id="3" name="Content Placeholder 2"/>
          <p:cNvSpPr>
            <a:spLocks noGrp="1"/>
          </p:cNvSpPr>
          <p:nvPr>
            <p:ph sz="quarter" idx="1"/>
          </p:nvPr>
        </p:nvSpPr>
        <p:spPr>
          <a:xfrm>
            <a:off x="914400" y="914400"/>
            <a:ext cx="7772400" cy="5562600"/>
          </a:xfrm>
        </p:spPr>
        <p:txBody>
          <a:bodyPr>
            <a:normAutofit fontScale="77500" lnSpcReduction="20000"/>
          </a:bodyPr>
          <a:lstStyle/>
          <a:p>
            <a:pPr marL="0" indent="0">
              <a:buNone/>
            </a:pPr>
            <a:r>
              <a:rPr lang="en-US" dirty="0" smtClean="0"/>
              <a:t>public </a:t>
            </a:r>
            <a:r>
              <a:rPr lang="en-US" dirty="0"/>
              <a:t>Dog(String name, String breed, </a:t>
            </a:r>
            <a:r>
              <a:rPr lang="en-US" dirty="0" err="1"/>
              <a:t>int</a:t>
            </a:r>
            <a:r>
              <a:rPr lang="en-US" dirty="0"/>
              <a:t> age,</a:t>
            </a:r>
          </a:p>
          <a:p>
            <a:pPr marL="0" indent="0">
              <a:buNone/>
            </a:pPr>
            <a:r>
              <a:rPr lang="en-US" dirty="0"/>
              <a:t>        String color) {</a:t>
            </a:r>
          </a:p>
          <a:p>
            <a:pPr marL="0" indent="0">
              <a:buNone/>
            </a:pPr>
            <a:r>
              <a:rPr lang="en-US" dirty="0"/>
              <a:t>        this.name = name;</a:t>
            </a:r>
          </a:p>
          <a:p>
            <a:pPr marL="0" indent="0">
              <a:buNone/>
            </a:pPr>
            <a:r>
              <a:rPr lang="en-US" dirty="0"/>
              <a:t>        </a:t>
            </a:r>
            <a:r>
              <a:rPr lang="en-US" dirty="0" err="1"/>
              <a:t>this.breed</a:t>
            </a:r>
            <a:r>
              <a:rPr lang="en-US" dirty="0"/>
              <a:t> = breed;</a:t>
            </a:r>
          </a:p>
          <a:p>
            <a:pPr marL="0" indent="0">
              <a:buNone/>
            </a:pPr>
            <a:r>
              <a:rPr lang="en-US" dirty="0"/>
              <a:t>        </a:t>
            </a:r>
            <a:r>
              <a:rPr lang="en-US" dirty="0" err="1"/>
              <a:t>this.age</a:t>
            </a:r>
            <a:r>
              <a:rPr lang="en-US" dirty="0"/>
              <a:t> = age;</a:t>
            </a:r>
          </a:p>
          <a:p>
            <a:pPr marL="0" indent="0">
              <a:buNone/>
            </a:pPr>
            <a:r>
              <a:rPr lang="en-US" dirty="0"/>
              <a:t>        </a:t>
            </a:r>
            <a:r>
              <a:rPr lang="en-US" dirty="0" err="1"/>
              <a:t>this.color</a:t>
            </a:r>
            <a:r>
              <a:rPr lang="en-US" dirty="0"/>
              <a:t> = color;</a:t>
            </a:r>
          </a:p>
          <a:p>
            <a:pPr marL="0" indent="0">
              <a:buNone/>
            </a:pPr>
            <a:r>
              <a:rPr lang="en-US" dirty="0"/>
              <a:t>    }</a:t>
            </a:r>
          </a:p>
          <a:p>
            <a:pPr marL="0" indent="0">
              <a:buNone/>
            </a:pPr>
            <a:r>
              <a:rPr lang="en-US" dirty="0"/>
              <a:t>    public void display() {</a:t>
            </a:r>
          </a:p>
          <a:p>
            <a:pPr marL="0" indent="0">
              <a:buNone/>
            </a:pPr>
            <a:r>
              <a:rPr lang="en-US" dirty="0"/>
              <a:t>        </a:t>
            </a:r>
            <a:r>
              <a:rPr lang="en-US" dirty="0" err="1"/>
              <a:t>System.out.println</a:t>
            </a:r>
            <a:r>
              <a:rPr lang="en-US" dirty="0"/>
              <a:t>("Hi my name is " + this.name + ",my breed ,age and color are :" + </a:t>
            </a:r>
            <a:r>
              <a:rPr lang="en-US" dirty="0" err="1"/>
              <a:t>this.breed</a:t>
            </a:r>
            <a:r>
              <a:rPr lang="en-US" dirty="0"/>
              <a:t> + "," + </a:t>
            </a:r>
            <a:r>
              <a:rPr lang="en-US" dirty="0" err="1"/>
              <a:t>this.age</a:t>
            </a:r>
            <a:r>
              <a:rPr lang="en-US" dirty="0"/>
              <a:t> + "," + </a:t>
            </a:r>
            <a:r>
              <a:rPr lang="en-US" dirty="0" err="1"/>
              <a:t>this.color</a:t>
            </a:r>
            <a:r>
              <a:rPr lang="en-US" dirty="0"/>
              <a:t>);</a:t>
            </a:r>
          </a:p>
          <a:p>
            <a:pPr marL="0" indent="0">
              <a:buNone/>
            </a:pPr>
            <a:r>
              <a:rPr lang="en-US" dirty="0"/>
              <a:t>    }</a:t>
            </a:r>
          </a:p>
          <a:p>
            <a:pPr marL="0" indent="0">
              <a:buNone/>
            </a:pPr>
            <a:r>
              <a:rPr lang="en-US" dirty="0"/>
              <a:t>    public static void main(String[] </a:t>
            </a:r>
            <a:r>
              <a:rPr lang="en-US" dirty="0" err="1"/>
              <a:t>args</a:t>
            </a:r>
            <a:r>
              <a:rPr lang="en-US" dirty="0"/>
              <a:t>) {</a:t>
            </a:r>
          </a:p>
          <a:p>
            <a:pPr marL="0" indent="0">
              <a:buNone/>
            </a:pPr>
            <a:r>
              <a:rPr lang="en-US" dirty="0"/>
              <a:t>        Dog </a:t>
            </a:r>
            <a:r>
              <a:rPr lang="en-US" dirty="0" err="1"/>
              <a:t>tuffy</a:t>
            </a:r>
            <a:endParaRPr lang="en-US" dirty="0"/>
          </a:p>
          <a:p>
            <a:pPr marL="0" indent="0">
              <a:buNone/>
            </a:pPr>
            <a:r>
              <a:rPr lang="en-US" dirty="0"/>
              <a:t>            = new Dog("</a:t>
            </a:r>
            <a:r>
              <a:rPr lang="en-US" dirty="0" err="1"/>
              <a:t>tuffy</a:t>
            </a:r>
            <a:r>
              <a:rPr lang="en-US" dirty="0"/>
              <a:t>", "</a:t>
            </a:r>
            <a:r>
              <a:rPr lang="en-US" dirty="0" err="1"/>
              <a:t>papillon</a:t>
            </a:r>
            <a:r>
              <a:rPr lang="en-US" dirty="0"/>
              <a:t>", 5, "white");</a:t>
            </a:r>
          </a:p>
          <a:p>
            <a:pPr marL="0" indent="0">
              <a:buNone/>
            </a:pPr>
            <a:r>
              <a:rPr lang="en-US" dirty="0"/>
              <a:t>        </a:t>
            </a:r>
            <a:r>
              <a:rPr lang="en-US" dirty="0" err="1"/>
              <a:t>tuffy.display</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920805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Garbage Collection in </a:t>
            </a:r>
            <a:r>
              <a:rPr lang="en-US" dirty="0" smtClean="0"/>
              <a:t>Java</a:t>
            </a:r>
            <a:endParaRPr lang="en-US" dirty="0"/>
          </a:p>
        </p:txBody>
      </p:sp>
      <p:sp>
        <p:nvSpPr>
          <p:cNvPr id="3" name="Content Placeholder 2"/>
          <p:cNvSpPr>
            <a:spLocks noGrp="1"/>
          </p:cNvSpPr>
          <p:nvPr>
            <p:ph sz="quarter" idx="1"/>
          </p:nvPr>
        </p:nvSpPr>
        <p:spPr>
          <a:xfrm>
            <a:off x="889379" y="1066800"/>
            <a:ext cx="7772400" cy="5410200"/>
          </a:xfrm>
        </p:spPr>
        <p:txBody>
          <a:bodyPr>
            <a:normAutofit fontScale="92500"/>
          </a:bodyPr>
          <a:lstStyle/>
          <a:p>
            <a:pPr>
              <a:lnSpc>
                <a:spcPct val="150000"/>
              </a:lnSpc>
            </a:pPr>
            <a:r>
              <a:rPr lang="en-US" dirty="0"/>
              <a:t>Garbage collection in Java is the process by which Java programs perform automatic memory management. Java programs compile to </a:t>
            </a:r>
            <a:r>
              <a:rPr lang="en-US" dirty="0" err="1"/>
              <a:t>bytecode</a:t>
            </a:r>
            <a:r>
              <a:rPr lang="en-US" dirty="0"/>
              <a:t> that can be run on a Java Virtual Machine, or JVM for short. When Java programs run on the JVM, objects are created on the heap, which is a portion of memory dedicated to the program. Eventually, some objects will no longer be needed. The garbage collector finds these unused objects and deletes them to free up memory.</a:t>
            </a:r>
          </a:p>
        </p:txBody>
      </p:sp>
    </p:spTree>
    <p:extLst>
      <p:ext uri="{BB962C8B-B14F-4D97-AF65-F5344CB8AC3E}">
        <p14:creationId xmlns:p14="http://schemas.microsoft.com/office/powerpoint/2010/main" val="275558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Garbage Collection in Java</a:t>
            </a:r>
          </a:p>
        </p:txBody>
      </p:sp>
      <p:sp>
        <p:nvSpPr>
          <p:cNvPr id="3" name="Content Placeholder 2"/>
          <p:cNvSpPr>
            <a:spLocks noGrp="1"/>
          </p:cNvSpPr>
          <p:nvPr>
            <p:ph sz="quarter" idx="1"/>
          </p:nvPr>
        </p:nvSpPr>
        <p:spPr>
          <a:xfrm>
            <a:off x="914400" y="1066800"/>
            <a:ext cx="7772400" cy="5410200"/>
          </a:xfrm>
        </p:spPr>
        <p:txBody>
          <a:bodyPr>
            <a:normAutofit/>
          </a:bodyPr>
          <a:lstStyle/>
          <a:p>
            <a:r>
              <a:rPr lang="en-US" dirty="0"/>
              <a:t>Java garbage collection is an automatic process. Automatic garbage collection is the process of looking at heap memory, identifying which objects are in use and which are not, and deleting the unused objects. </a:t>
            </a:r>
            <a:endParaRPr lang="en-US" dirty="0" smtClean="0"/>
          </a:p>
          <a:p>
            <a:r>
              <a:rPr lang="en-US" dirty="0"/>
              <a:t>An unused or unreferenced object is no longer referenced by any part of your program. So the memory used by an unreferenced object can be reclaimed.</a:t>
            </a:r>
            <a:endParaRPr lang="en-US" dirty="0" smtClean="0"/>
          </a:p>
          <a:p>
            <a:r>
              <a:rPr lang="en-US" dirty="0"/>
              <a:t> The programmer does not need to mark objects to be deleted explicitly. The garbage collection implementation lives in the JVM. </a:t>
            </a:r>
          </a:p>
        </p:txBody>
      </p:sp>
    </p:spTree>
    <p:extLst>
      <p:ext uri="{BB962C8B-B14F-4D97-AF65-F5344CB8AC3E}">
        <p14:creationId xmlns:p14="http://schemas.microsoft.com/office/powerpoint/2010/main" val="3858824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Garbage Collection in </a:t>
            </a:r>
            <a:r>
              <a:rPr lang="en-US" dirty="0" smtClean="0"/>
              <a:t>Java</a:t>
            </a:r>
            <a:endParaRPr lang="en-US" dirty="0"/>
          </a:p>
        </p:txBody>
      </p:sp>
      <p:sp>
        <p:nvSpPr>
          <p:cNvPr id="3" name="Content Placeholder 2"/>
          <p:cNvSpPr>
            <a:spLocks noGrp="1"/>
          </p:cNvSpPr>
          <p:nvPr>
            <p:ph sz="quarter" idx="1"/>
          </p:nvPr>
        </p:nvSpPr>
        <p:spPr>
          <a:xfrm>
            <a:off x="914400" y="1143000"/>
            <a:ext cx="7772400" cy="4572000"/>
          </a:xfrm>
        </p:spPr>
        <p:txBody>
          <a:bodyPr/>
          <a:lstStyle/>
          <a:p>
            <a:r>
              <a:rPr lang="en-US" dirty="0"/>
              <a:t>The advantages of Garbage Collection in Java are</a:t>
            </a:r>
            <a:r>
              <a:rPr lang="en-US" dirty="0" smtClean="0"/>
              <a:t>:</a:t>
            </a:r>
          </a:p>
          <a:p>
            <a:pPr lvl="1" fontAlgn="base"/>
            <a:r>
              <a:rPr lang="en-US" dirty="0"/>
              <a:t>It makes java memory-efficient because the garbage collector removes the unreferenced objects from heap memory.</a:t>
            </a:r>
          </a:p>
          <a:p>
            <a:pPr lvl="1" fontAlgn="base"/>
            <a:r>
              <a:rPr lang="en-US" dirty="0"/>
              <a:t>It is automatically done by the garbage collector(a part of JVM), so we don’t need extra effort.</a:t>
            </a:r>
          </a:p>
          <a:p>
            <a:pPr lvl="2"/>
            <a:endParaRPr lang="en-US" dirty="0"/>
          </a:p>
        </p:txBody>
      </p:sp>
    </p:spTree>
    <p:extLst>
      <p:ext uri="{BB962C8B-B14F-4D97-AF65-F5344CB8AC3E}">
        <p14:creationId xmlns:p14="http://schemas.microsoft.com/office/powerpoint/2010/main" val="66915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smtClean="0"/>
              <a:t>Constructors in Java:</a:t>
            </a:r>
            <a:endParaRPr lang="en-US" dirty="0"/>
          </a:p>
        </p:txBody>
      </p:sp>
      <p:sp>
        <p:nvSpPr>
          <p:cNvPr id="3" name="Content Placeholder 2"/>
          <p:cNvSpPr>
            <a:spLocks noGrp="1"/>
          </p:cNvSpPr>
          <p:nvPr>
            <p:ph sz="quarter" idx="1"/>
          </p:nvPr>
        </p:nvSpPr>
        <p:spPr>
          <a:xfrm>
            <a:off x="914400" y="1066800"/>
            <a:ext cx="7772400" cy="5410200"/>
          </a:xfrm>
        </p:spPr>
        <p:txBody>
          <a:bodyPr>
            <a:normAutofit fontScale="92500" lnSpcReduction="10000"/>
          </a:bodyPr>
          <a:lstStyle/>
          <a:p>
            <a:r>
              <a:rPr lang="en-US" dirty="0"/>
              <a:t>A constructor initializes an object when it is created. It has the same name as its class and is syntactically similar to </a:t>
            </a:r>
            <a:r>
              <a:rPr lang="en-US" dirty="0" smtClean="0"/>
              <a:t>a method</a:t>
            </a:r>
            <a:r>
              <a:rPr lang="en-US" dirty="0"/>
              <a:t>. However, constructors have no explicit return type</a:t>
            </a:r>
            <a:r>
              <a:rPr lang="en-US" dirty="0" smtClean="0"/>
              <a:t>.</a:t>
            </a:r>
          </a:p>
          <a:p>
            <a:r>
              <a:rPr lang="en-US" dirty="0"/>
              <a:t>Typically, you will use a constructor to give initial values to the instance variables defined by the class, or to </a:t>
            </a:r>
            <a:r>
              <a:rPr lang="en-US" dirty="0" smtClean="0"/>
              <a:t>perform any </a:t>
            </a:r>
            <a:r>
              <a:rPr lang="en-US" dirty="0"/>
              <a:t>other startup procedures required to create a fully formed object</a:t>
            </a:r>
            <a:r>
              <a:rPr lang="en-US" dirty="0" smtClean="0"/>
              <a:t>.</a:t>
            </a:r>
          </a:p>
          <a:p>
            <a:r>
              <a:rPr lang="en-US" dirty="0"/>
              <a:t>All classes have constructors, whether you define one or not, because Java automatically provides a default constructor</a:t>
            </a:r>
          </a:p>
          <a:p>
            <a:r>
              <a:rPr lang="en-US" dirty="0"/>
              <a:t>that initializes all member variables to zero. However, once you define your own constructor, the default constructor </a:t>
            </a:r>
            <a:r>
              <a:rPr lang="en-US" dirty="0" smtClean="0"/>
              <a:t>is no </a:t>
            </a:r>
            <a:r>
              <a:rPr lang="en-US" dirty="0"/>
              <a:t>longer used.</a:t>
            </a:r>
          </a:p>
        </p:txBody>
      </p:sp>
    </p:spTree>
    <p:extLst>
      <p:ext uri="{BB962C8B-B14F-4D97-AF65-F5344CB8AC3E}">
        <p14:creationId xmlns:p14="http://schemas.microsoft.com/office/powerpoint/2010/main" val="198530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219200"/>
            <a:ext cx="7772400" cy="4572000"/>
          </a:xfrm>
        </p:spPr>
        <p:txBody>
          <a:bodyPr/>
          <a:lstStyle/>
          <a:p>
            <a:r>
              <a:rPr lang="en-US" dirty="0"/>
              <a:t>Here is a simple example that uses a constructor</a:t>
            </a:r>
            <a:r>
              <a:rPr lang="en-US" dirty="0" smtClean="0"/>
              <a:t>:</a:t>
            </a:r>
          </a:p>
          <a:p>
            <a:endParaRPr lang="en-US" dirty="0" smtClean="0"/>
          </a:p>
          <a:p>
            <a:pPr marL="320040" lvl="1" indent="0">
              <a:buNone/>
            </a:pPr>
            <a:r>
              <a:rPr lang="en-US" dirty="0"/>
              <a:t>// A simple constructor.</a:t>
            </a:r>
          </a:p>
          <a:p>
            <a:pPr marL="320040" lvl="1" indent="0">
              <a:buNone/>
            </a:pPr>
            <a:r>
              <a:rPr lang="en-US" dirty="0"/>
              <a:t>class </a:t>
            </a:r>
            <a:r>
              <a:rPr lang="en-US" dirty="0" err="1"/>
              <a:t>MyClass</a:t>
            </a:r>
            <a:r>
              <a:rPr lang="en-US" dirty="0"/>
              <a:t> {</a:t>
            </a:r>
          </a:p>
          <a:p>
            <a:pPr marL="320040" lvl="1" indent="0">
              <a:buNone/>
            </a:pPr>
            <a:r>
              <a:rPr lang="en-US" dirty="0" err="1"/>
              <a:t>int</a:t>
            </a:r>
            <a:r>
              <a:rPr lang="en-US" dirty="0"/>
              <a:t> x;</a:t>
            </a:r>
          </a:p>
          <a:p>
            <a:pPr marL="320040" lvl="1" indent="0">
              <a:buNone/>
            </a:pPr>
            <a:r>
              <a:rPr lang="en-US" dirty="0"/>
              <a:t>// Following is the constructor</a:t>
            </a:r>
          </a:p>
          <a:p>
            <a:pPr marL="320040" lvl="1" indent="0">
              <a:buNone/>
            </a:pPr>
            <a:r>
              <a:rPr lang="en-US" dirty="0" err="1"/>
              <a:t>MyClass</a:t>
            </a:r>
            <a:r>
              <a:rPr lang="en-US" dirty="0"/>
              <a:t>() {</a:t>
            </a:r>
          </a:p>
          <a:p>
            <a:pPr marL="320040" lvl="1" indent="0">
              <a:buNone/>
            </a:pPr>
            <a:r>
              <a:rPr lang="en-US" dirty="0"/>
              <a:t>x = 10;</a:t>
            </a:r>
          </a:p>
          <a:p>
            <a:pPr marL="320040" lvl="1" indent="0">
              <a:buNone/>
            </a:pPr>
            <a:r>
              <a:rPr lang="en-US" dirty="0"/>
              <a:t>}</a:t>
            </a:r>
          </a:p>
          <a:p>
            <a:pPr marL="320040" lvl="1" indent="0">
              <a:buNone/>
            </a:pPr>
            <a:r>
              <a:rPr lang="en-US" dirty="0"/>
              <a:t>}</a:t>
            </a:r>
          </a:p>
        </p:txBody>
      </p:sp>
    </p:spTree>
    <p:extLst>
      <p:ext uri="{BB962C8B-B14F-4D97-AF65-F5344CB8AC3E}">
        <p14:creationId xmlns:p14="http://schemas.microsoft.com/office/powerpoint/2010/main" val="6808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4572000"/>
          </a:xfrm>
        </p:spPr>
        <p:txBody>
          <a:bodyPr/>
          <a:lstStyle/>
          <a:p>
            <a:r>
              <a:rPr lang="en-US" dirty="0"/>
              <a:t>You would call constructor to initialize objects as follows</a:t>
            </a:r>
            <a:r>
              <a:rPr lang="en-US" dirty="0" smtClean="0"/>
              <a:t>:</a:t>
            </a:r>
          </a:p>
          <a:p>
            <a:pPr marL="0" indent="0">
              <a:buNone/>
            </a:pPr>
            <a:endParaRPr lang="en-US" dirty="0" smtClean="0"/>
          </a:p>
          <a:p>
            <a:pPr marL="320040" lvl="1" indent="0">
              <a:buNone/>
            </a:pPr>
            <a:r>
              <a:rPr lang="en-US" dirty="0"/>
              <a:t>public class </a:t>
            </a:r>
            <a:r>
              <a:rPr lang="en-US" dirty="0" err="1"/>
              <a:t>ConsDemo</a:t>
            </a:r>
            <a:r>
              <a:rPr lang="en-US" dirty="0"/>
              <a:t> {</a:t>
            </a:r>
          </a:p>
          <a:p>
            <a:pPr marL="320040" lvl="1" indent="0">
              <a:buNone/>
            </a:pPr>
            <a:r>
              <a:rPr lang="en-US" dirty="0"/>
              <a:t>    public static void main(String </a:t>
            </a:r>
            <a:r>
              <a:rPr lang="en-US" dirty="0" err="1"/>
              <a:t>args</a:t>
            </a:r>
            <a:r>
              <a:rPr lang="en-US" dirty="0"/>
              <a:t>[]) {</a:t>
            </a:r>
          </a:p>
          <a:p>
            <a:pPr marL="320040" lvl="1" indent="0">
              <a:buNone/>
            </a:pPr>
            <a:r>
              <a:rPr lang="en-US" dirty="0"/>
              <a:t>        </a:t>
            </a:r>
            <a:r>
              <a:rPr lang="en-US" dirty="0" err="1"/>
              <a:t>MyClass</a:t>
            </a:r>
            <a:r>
              <a:rPr lang="en-US" dirty="0"/>
              <a:t> t1 = new </a:t>
            </a:r>
            <a:r>
              <a:rPr lang="en-US" dirty="0" err="1"/>
              <a:t>MyClass</a:t>
            </a:r>
            <a:r>
              <a:rPr lang="en-US" dirty="0"/>
              <a:t>();</a:t>
            </a:r>
          </a:p>
          <a:p>
            <a:pPr marL="320040" lvl="1" indent="0">
              <a:buNone/>
            </a:pPr>
            <a:r>
              <a:rPr lang="en-US" dirty="0"/>
              <a:t>        </a:t>
            </a:r>
            <a:r>
              <a:rPr lang="en-US" dirty="0" err="1"/>
              <a:t>MyClass</a:t>
            </a:r>
            <a:r>
              <a:rPr lang="en-US" dirty="0"/>
              <a:t> t2 = new </a:t>
            </a:r>
            <a:r>
              <a:rPr lang="en-US" dirty="0" err="1"/>
              <a:t>MyClass</a:t>
            </a:r>
            <a:r>
              <a:rPr lang="en-US" dirty="0"/>
              <a:t>();</a:t>
            </a:r>
          </a:p>
          <a:p>
            <a:pPr marL="320040" lvl="1" indent="0">
              <a:buNone/>
            </a:pPr>
            <a:r>
              <a:rPr lang="en-US" dirty="0"/>
              <a:t>        </a:t>
            </a:r>
            <a:r>
              <a:rPr lang="en-US" dirty="0" err="1"/>
              <a:t>System.out.println</a:t>
            </a:r>
            <a:r>
              <a:rPr lang="en-US" dirty="0"/>
              <a:t>(t1.x + " " + t2.x);</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3982267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410200"/>
          </a:xfrm>
        </p:spPr>
        <p:txBody>
          <a:bodyPr>
            <a:normAutofit lnSpcReduction="10000"/>
          </a:bodyPr>
          <a:lstStyle/>
          <a:p>
            <a:r>
              <a:rPr lang="en-US" dirty="0"/>
              <a:t>Most often you will need a constructor that accepts one or more parameters. Parameters are added to a constructor in </a:t>
            </a:r>
            <a:r>
              <a:rPr lang="en-US" dirty="0" smtClean="0"/>
              <a:t>the same </a:t>
            </a:r>
            <a:r>
              <a:rPr lang="en-US" dirty="0"/>
              <a:t>way that they are added to a </a:t>
            </a:r>
            <a:r>
              <a:rPr lang="en-US" dirty="0" smtClean="0"/>
              <a:t>method: just </a:t>
            </a:r>
            <a:r>
              <a:rPr lang="en-US" dirty="0"/>
              <a:t>declare them inside the parentheses after the constructor's name</a:t>
            </a:r>
            <a:r>
              <a:rPr lang="en-US" dirty="0" smtClean="0"/>
              <a:t>.</a:t>
            </a:r>
          </a:p>
          <a:p>
            <a:pPr lvl="1"/>
            <a:endParaRPr lang="en-US" dirty="0" smtClean="0"/>
          </a:p>
          <a:p>
            <a:pPr marL="320040" lvl="1" indent="0">
              <a:buNone/>
            </a:pPr>
            <a:r>
              <a:rPr lang="en-US" dirty="0" smtClean="0"/>
              <a:t>// </a:t>
            </a:r>
            <a:r>
              <a:rPr lang="en-US" dirty="0"/>
              <a:t>A simple constructor.</a:t>
            </a:r>
          </a:p>
          <a:p>
            <a:pPr marL="320040" lvl="1" indent="0">
              <a:buNone/>
            </a:pPr>
            <a:r>
              <a:rPr lang="en-US" dirty="0"/>
              <a:t>class </a:t>
            </a:r>
            <a:r>
              <a:rPr lang="en-US" dirty="0" err="1"/>
              <a:t>MyClass</a:t>
            </a:r>
            <a:r>
              <a:rPr lang="en-US" dirty="0"/>
              <a:t> {</a:t>
            </a:r>
          </a:p>
          <a:p>
            <a:pPr marL="320040" lvl="1" indent="0">
              <a:buNone/>
            </a:pPr>
            <a:r>
              <a:rPr lang="en-US" dirty="0"/>
              <a:t>    </a:t>
            </a:r>
            <a:r>
              <a:rPr lang="en-US" dirty="0" err="1"/>
              <a:t>int</a:t>
            </a:r>
            <a:r>
              <a:rPr lang="en-US" dirty="0"/>
              <a:t> x;</a:t>
            </a:r>
          </a:p>
          <a:p>
            <a:pPr marL="320040" lvl="1" indent="0">
              <a:buNone/>
            </a:pPr>
            <a:r>
              <a:rPr lang="en-US" dirty="0"/>
              <a:t>    // Following is the constructor</a:t>
            </a:r>
          </a:p>
          <a:p>
            <a:pPr marL="320040" lvl="1" indent="0">
              <a:buNone/>
            </a:pPr>
            <a:r>
              <a:rPr lang="en-US" dirty="0"/>
              <a:t>    </a:t>
            </a:r>
            <a:r>
              <a:rPr lang="en-US" dirty="0" err="1"/>
              <a:t>MyClass</a:t>
            </a:r>
            <a:r>
              <a:rPr lang="en-US" dirty="0"/>
              <a:t>(</a:t>
            </a:r>
            <a:r>
              <a:rPr lang="en-US" dirty="0" err="1"/>
              <a:t>int</a:t>
            </a:r>
            <a:r>
              <a:rPr lang="en-US" dirty="0"/>
              <a:t> </a:t>
            </a:r>
            <a:r>
              <a:rPr lang="en-US" dirty="0" err="1"/>
              <a:t>i</a:t>
            </a:r>
            <a:r>
              <a:rPr lang="en-US" dirty="0"/>
              <a:t>) {</a:t>
            </a:r>
          </a:p>
          <a:p>
            <a:pPr marL="320040" lvl="1" indent="0">
              <a:buNone/>
            </a:pPr>
            <a:r>
              <a:rPr lang="en-US" dirty="0"/>
              <a:t>        x = </a:t>
            </a:r>
            <a:r>
              <a:rPr lang="en-US" dirty="0" err="1"/>
              <a:t>i</a:t>
            </a:r>
            <a:r>
              <a:rPr lang="en-US" dirty="0"/>
              <a:t>;</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3550559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lstStyle/>
          <a:p>
            <a:r>
              <a:rPr lang="en-US" dirty="0"/>
              <a:t>You would call constructor to initialize objects as follows</a:t>
            </a:r>
            <a:r>
              <a:rPr lang="en-US" dirty="0" smtClean="0"/>
              <a:t>:</a:t>
            </a:r>
          </a:p>
          <a:p>
            <a:endParaRPr lang="en-US" dirty="0" smtClean="0"/>
          </a:p>
          <a:p>
            <a:pPr marL="320040" lvl="1" indent="0">
              <a:buNone/>
            </a:pPr>
            <a:r>
              <a:rPr lang="en-US" dirty="0"/>
              <a:t>public class </a:t>
            </a:r>
            <a:r>
              <a:rPr lang="en-US" dirty="0" err="1"/>
              <a:t>ConsDemo</a:t>
            </a:r>
            <a:r>
              <a:rPr lang="en-US" dirty="0"/>
              <a:t> {</a:t>
            </a:r>
          </a:p>
          <a:p>
            <a:pPr marL="320040" lvl="1" indent="0">
              <a:buNone/>
            </a:pPr>
            <a:r>
              <a:rPr lang="en-US" dirty="0"/>
              <a:t>public static void main(String </a:t>
            </a:r>
            <a:r>
              <a:rPr lang="en-US" dirty="0" err="1"/>
              <a:t>args</a:t>
            </a:r>
            <a:r>
              <a:rPr lang="en-US" dirty="0"/>
              <a:t>[]) {</a:t>
            </a:r>
          </a:p>
          <a:p>
            <a:pPr marL="320040" lvl="1" indent="0">
              <a:buNone/>
            </a:pPr>
            <a:r>
              <a:rPr lang="en-US" dirty="0" err="1"/>
              <a:t>MyClass</a:t>
            </a:r>
            <a:r>
              <a:rPr lang="en-US" dirty="0"/>
              <a:t> t1 = new </a:t>
            </a:r>
            <a:r>
              <a:rPr lang="en-US" dirty="0" err="1"/>
              <a:t>MyClass</a:t>
            </a:r>
            <a:r>
              <a:rPr lang="en-US" dirty="0"/>
              <a:t>( 10 );</a:t>
            </a:r>
          </a:p>
          <a:p>
            <a:pPr marL="320040" lvl="1" indent="0">
              <a:buNone/>
            </a:pPr>
            <a:r>
              <a:rPr lang="en-US" dirty="0" err="1"/>
              <a:t>MyClass</a:t>
            </a:r>
            <a:r>
              <a:rPr lang="en-US" dirty="0"/>
              <a:t> t2 = new </a:t>
            </a:r>
            <a:r>
              <a:rPr lang="en-US" dirty="0" err="1"/>
              <a:t>MyClass</a:t>
            </a:r>
            <a:r>
              <a:rPr lang="en-US" dirty="0"/>
              <a:t>( 20 );</a:t>
            </a:r>
          </a:p>
          <a:p>
            <a:pPr marL="320040" lvl="1" indent="0">
              <a:buNone/>
            </a:pPr>
            <a:r>
              <a:rPr lang="en-US" dirty="0" err="1"/>
              <a:t>System.out.println</a:t>
            </a:r>
            <a:r>
              <a:rPr lang="en-US" dirty="0"/>
              <a:t>(t1.x + " " + t2.x);</a:t>
            </a:r>
          </a:p>
          <a:p>
            <a:pPr marL="320040" lvl="1" indent="0">
              <a:buNone/>
            </a:pPr>
            <a:r>
              <a:rPr lang="en-US" dirty="0"/>
              <a:t>}</a:t>
            </a:r>
          </a:p>
          <a:p>
            <a:pPr marL="320040" lvl="1" indent="0">
              <a:buNone/>
            </a:pPr>
            <a:r>
              <a:rPr lang="en-US" dirty="0"/>
              <a:t>}</a:t>
            </a:r>
          </a:p>
        </p:txBody>
      </p:sp>
    </p:spTree>
    <p:extLst>
      <p:ext uri="{BB962C8B-B14F-4D97-AF65-F5344CB8AC3E}">
        <p14:creationId xmlns:p14="http://schemas.microsoft.com/office/powerpoint/2010/main" val="1262031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code block</a:t>
            </a:r>
          </a:p>
        </p:txBody>
      </p:sp>
      <p:sp>
        <p:nvSpPr>
          <p:cNvPr id="3" name="Content Placeholder 2"/>
          <p:cNvSpPr>
            <a:spLocks noGrp="1"/>
          </p:cNvSpPr>
          <p:nvPr>
            <p:ph sz="quarter" idx="1"/>
          </p:nvPr>
        </p:nvSpPr>
        <p:spPr>
          <a:xfrm>
            <a:off x="904164" y="1143000"/>
            <a:ext cx="7772400" cy="5334000"/>
          </a:xfrm>
        </p:spPr>
        <p:txBody>
          <a:bodyPr/>
          <a:lstStyle/>
          <a:p>
            <a:r>
              <a:rPr lang="en-US" dirty="0"/>
              <a:t>In order to perform any operations while assigning values to an instance data member, an initializer block is used. In simpler terms, the initializer block is used to declare/initialize the common part of various constructors of a class. It runs every time whenever the object is created. </a:t>
            </a:r>
            <a:endParaRPr lang="en-US" dirty="0" smtClean="0"/>
          </a:p>
          <a:p>
            <a:r>
              <a:rPr lang="en-US" dirty="0"/>
              <a:t>The initializer block contains the code that is always executed whenever an instance is created and it runs each time when an object of the class is created. There are 3 areas where we can use the initializer blocks:</a:t>
            </a:r>
          </a:p>
        </p:txBody>
      </p:sp>
    </p:spTree>
    <p:extLst>
      <p:ext uri="{BB962C8B-B14F-4D97-AF65-F5344CB8AC3E}">
        <p14:creationId xmlns:p14="http://schemas.microsoft.com/office/powerpoint/2010/main" val="31164898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code block</a:t>
            </a:r>
          </a:p>
        </p:txBody>
      </p:sp>
      <p:sp>
        <p:nvSpPr>
          <p:cNvPr id="3" name="Content Placeholder 2"/>
          <p:cNvSpPr>
            <a:spLocks noGrp="1"/>
          </p:cNvSpPr>
          <p:nvPr>
            <p:ph sz="quarter" idx="1"/>
          </p:nvPr>
        </p:nvSpPr>
        <p:spPr>
          <a:xfrm>
            <a:off x="921224" y="1219200"/>
            <a:ext cx="7772400" cy="4572000"/>
          </a:xfrm>
        </p:spPr>
        <p:txBody>
          <a:bodyPr>
            <a:normAutofit lnSpcReduction="10000"/>
          </a:bodyPr>
          <a:lstStyle/>
          <a:p>
            <a:pPr fontAlgn="base"/>
            <a:r>
              <a:rPr lang="en-US" dirty="0"/>
              <a:t>Constructors</a:t>
            </a:r>
          </a:p>
          <a:p>
            <a:pPr fontAlgn="base"/>
            <a:r>
              <a:rPr lang="en-US" dirty="0"/>
              <a:t>Methods</a:t>
            </a:r>
          </a:p>
          <a:p>
            <a:pPr fontAlgn="base"/>
            <a:r>
              <a:rPr lang="en-US" dirty="0"/>
              <a:t>Blocks </a:t>
            </a:r>
            <a:endParaRPr lang="en-US" dirty="0" smtClean="0"/>
          </a:p>
          <a:p>
            <a:pPr fontAlgn="base"/>
            <a:endParaRPr lang="en-US" dirty="0" smtClean="0"/>
          </a:p>
          <a:p>
            <a:pPr marL="274320" lvl="1" indent="0">
              <a:buNone/>
            </a:pPr>
            <a:r>
              <a:rPr lang="en-US" dirty="0"/>
              <a:t>// Java Program to Illustrate Initializer Block</a:t>
            </a:r>
          </a:p>
          <a:p>
            <a:pPr marL="274320" lvl="1" indent="0">
              <a:buNone/>
            </a:pPr>
            <a:r>
              <a:rPr lang="en-US" dirty="0"/>
              <a:t>// Class</a:t>
            </a:r>
          </a:p>
          <a:p>
            <a:pPr marL="274320" lvl="1" indent="0">
              <a:buNone/>
            </a:pPr>
            <a:r>
              <a:rPr lang="en-US" dirty="0"/>
              <a:t>class Car {</a:t>
            </a:r>
          </a:p>
          <a:p>
            <a:pPr marL="274320" lvl="1" indent="0">
              <a:buNone/>
            </a:pPr>
            <a:r>
              <a:rPr lang="en-US" dirty="0"/>
              <a:t>    // Class member variable</a:t>
            </a:r>
          </a:p>
          <a:p>
            <a:pPr marL="274320" lvl="1" indent="0">
              <a:buNone/>
            </a:pPr>
            <a:r>
              <a:rPr lang="en-US" dirty="0"/>
              <a:t>    </a:t>
            </a:r>
            <a:r>
              <a:rPr lang="en-US" dirty="0" err="1"/>
              <a:t>int</a:t>
            </a:r>
            <a:r>
              <a:rPr lang="en-US" dirty="0"/>
              <a:t> speed;</a:t>
            </a:r>
          </a:p>
          <a:p>
            <a:pPr marL="274320" lvl="1" indent="0">
              <a:buNone/>
            </a:pPr>
            <a:endParaRPr lang="en-US" dirty="0"/>
          </a:p>
          <a:p>
            <a:pPr marL="0" indent="0">
              <a:buNone/>
            </a:pPr>
            <a:r>
              <a:rPr lang="en-US" dirty="0"/>
              <a:t>    </a:t>
            </a:r>
          </a:p>
          <a:p>
            <a:endParaRPr lang="en-US" dirty="0"/>
          </a:p>
        </p:txBody>
      </p:sp>
    </p:spTree>
    <p:extLst>
      <p:ext uri="{BB962C8B-B14F-4D97-AF65-F5344CB8AC3E}">
        <p14:creationId xmlns:p14="http://schemas.microsoft.com/office/powerpoint/2010/main" val="4149999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initialization code block</a:t>
            </a:r>
          </a:p>
        </p:txBody>
      </p:sp>
      <p:sp>
        <p:nvSpPr>
          <p:cNvPr id="3" name="Content Placeholder 2"/>
          <p:cNvSpPr>
            <a:spLocks noGrp="1"/>
          </p:cNvSpPr>
          <p:nvPr>
            <p:ph sz="quarter" idx="1"/>
          </p:nvPr>
        </p:nvSpPr>
        <p:spPr>
          <a:xfrm>
            <a:off x="882555" y="990600"/>
            <a:ext cx="7772400" cy="5638800"/>
          </a:xfrm>
        </p:spPr>
        <p:txBody>
          <a:bodyPr>
            <a:normAutofit fontScale="85000" lnSpcReduction="20000"/>
          </a:bodyPr>
          <a:lstStyle/>
          <a:p>
            <a:pPr marL="0" indent="0">
              <a:buNone/>
            </a:pPr>
            <a:r>
              <a:rPr lang="en-US" dirty="0"/>
              <a:t>// Constructor</a:t>
            </a:r>
          </a:p>
          <a:p>
            <a:pPr marL="0" indent="0">
              <a:buNone/>
            </a:pPr>
            <a:r>
              <a:rPr lang="en-US" dirty="0"/>
              <a:t>    Car() {</a:t>
            </a:r>
          </a:p>
          <a:p>
            <a:pPr marL="0" indent="0">
              <a:buNone/>
            </a:pPr>
            <a:endParaRPr lang="en-US" dirty="0"/>
          </a:p>
          <a:p>
            <a:pPr marL="0" indent="0">
              <a:buNone/>
            </a:pPr>
            <a:r>
              <a:rPr lang="en-US" dirty="0"/>
              <a:t>        // Print statement when constructor is called</a:t>
            </a:r>
          </a:p>
          <a:p>
            <a:pPr marL="0" indent="0">
              <a:buNone/>
            </a:pPr>
            <a:r>
              <a:rPr lang="en-US" dirty="0"/>
              <a:t>        </a:t>
            </a:r>
            <a:r>
              <a:rPr lang="en-US" dirty="0" err="1"/>
              <a:t>System.out.println</a:t>
            </a:r>
            <a:r>
              <a:rPr lang="en-US" dirty="0"/>
              <a:t>("Speed of Car: " + speed);</a:t>
            </a:r>
          </a:p>
          <a:p>
            <a:pPr marL="0" indent="0">
              <a:buNone/>
            </a:pPr>
            <a:r>
              <a:rPr lang="en-US" dirty="0"/>
              <a:t>    }</a:t>
            </a:r>
          </a:p>
          <a:p>
            <a:pPr marL="0" indent="0">
              <a:buNone/>
            </a:pPr>
            <a:r>
              <a:rPr lang="en-US" dirty="0" smtClean="0"/>
              <a:t>// </a:t>
            </a:r>
            <a:r>
              <a:rPr lang="en-US" dirty="0"/>
              <a:t>Block</a:t>
            </a:r>
          </a:p>
          <a:p>
            <a:pPr marL="0" indent="0">
              <a:buNone/>
            </a:pPr>
            <a:r>
              <a:rPr lang="en-US" dirty="0"/>
              <a:t>    {</a:t>
            </a:r>
          </a:p>
          <a:p>
            <a:pPr marL="0" indent="0">
              <a:buNone/>
            </a:pPr>
            <a:r>
              <a:rPr lang="en-US" dirty="0"/>
              <a:t>        speed = 60;</a:t>
            </a:r>
          </a:p>
          <a:p>
            <a:pPr marL="0" indent="0">
              <a:buNone/>
            </a:pPr>
            <a:r>
              <a:rPr lang="en-US" dirty="0"/>
              <a:t>    }</a:t>
            </a:r>
          </a:p>
          <a:p>
            <a:pPr marL="0" indent="0">
              <a:buNone/>
            </a:pPr>
            <a:r>
              <a:rPr lang="en-US" dirty="0"/>
              <a:t>    // Class member method</a:t>
            </a:r>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Car </a:t>
            </a:r>
            <a:r>
              <a:rPr lang="en-US" dirty="0" err="1"/>
              <a:t>obj</a:t>
            </a:r>
            <a:r>
              <a:rPr lang="en-US" dirty="0"/>
              <a:t> = new Car();</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573228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Nested and Inner </a:t>
            </a:r>
            <a:r>
              <a:rPr lang="en-US" dirty="0" smtClean="0"/>
              <a:t>Class</a:t>
            </a:r>
            <a:endParaRPr lang="en-US" dirty="0"/>
          </a:p>
        </p:txBody>
      </p:sp>
      <p:sp>
        <p:nvSpPr>
          <p:cNvPr id="3" name="Content Placeholder 2"/>
          <p:cNvSpPr>
            <a:spLocks noGrp="1"/>
          </p:cNvSpPr>
          <p:nvPr>
            <p:ph sz="quarter" idx="1"/>
          </p:nvPr>
        </p:nvSpPr>
        <p:spPr/>
        <p:txBody>
          <a:bodyPr/>
          <a:lstStyle/>
          <a:p>
            <a:r>
              <a:rPr lang="en-US" dirty="0"/>
              <a:t>In Java, you can define a class within another class. Such class is </a:t>
            </a:r>
            <a:r>
              <a:rPr lang="en-US" dirty="0" smtClean="0"/>
              <a:t>known as Nested Classes.</a:t>
            </a:r>
          </a:p>
          <a:p>
            <a:r>
              <a:rPr lang="en-US" dirty="0"/>
              <a:t>For example</a:t>
            </a:r>
            <a:r>
              <a:rPr lang="en-US" dirty="0" smtClean="0"/>
              <a:t>,	</a:t>
            </a:r>
          </a:p>
          <a:p>
            <a:pPr lvl="1"/>
            <a:endParaRPr lang="en-US" dirty="0" smtClean="0"/>
          </a:p>
          <a:p>
            <a:pPr marL="320040" lvl="1" indent="0">
              <a:buNone/>
            </a:pPr>
            <a:r>
              <a:rPr lang="en-US" dirty="0"/>
              <a:t>class </a:t>
            </a:r>
            <a:r>
              <a:rPr lang="en-US" dirty="0" err="1"/>
              <a:t>OuterClass</a:t>
            </a:r>
            <a:r>
              <a:rPr lang="en-US" dirty="0"/>
              <a:t> {</a:t>
            </a:r>
          </a:p>
          <a:p>
            <a:pPr marL="320040" lvl="1" indent="0">
              <a:buNone/>
            </a:pPr>
            <a:r>
              <a:rPr lang="en-US" dirty="0" smtClean="0"/>
              <a:t>    // ...</a:t>
            </a:r>
          </a:p>
          <a:p>
            <a:pPr marL="320040" lvl="1" indent="0">
              <a:buNone/>
            </a:pPr>
            <a:r>
              <a:rPr lang="en-US" dirty="0" smtClean="0"/>
              <a:t>    class </a:t>
            </a:r>
            <a:r>
              <a:rPr lang="en-US" dirty="0" err="1" smtClean="0"/>
              <a:t>NestedClass</a:t>
            </a:r>
            <a:r>
              <a:rPr lang="en-US" dirty="0" smtClean="0"/>
              <a:t> {</a:t>
            </a:r>
          </a:p>
          <a:p>
            <a:pPr marL="320040" lvl="1" indent="0">
              <a:buNone/>
            </a:pPr>
            <a:r>
              <a:rPr lang="en-US" dirty="0" smtClean="0"/>
              <a:t>        </a:t>
            </a:r>
            <a:r>
              <a:rPr lang="en-US" dirty="0"/>
              <a:t>// ...</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4275404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Nested and Inner Class</a:t>
            </a:r>
          </a:p>
        </p:txBody>
      </p:sp>
      <p:sp>
        <p:nvSpPr>
          <p:cNvPr id="3" name="Content Placeholder 2"/>
          <p:cNvSpPr>
            <a:spLocks noGrp="1"/>
          </p:cNvSpPr>
          <p:nvPr>
            <p:ph sz="quarter" idx="1"/>
          </p:nvPr>
        </p:nvSpPr>
        <p:spPr>
          <a:xfrm>
            <a:off x="914400" y="1219200"/>
            <a:ext cx="7772400" cy="5334000"/>
          </a:xfrm>
        </p:spPr>
        <p:txBody>
          <a:bodyPr>
            <a:normAutofit/>
          </a:bodyPr>
          <a:lstStyle/>
          <a:p>
            <a:r>
              <a:rPr lang="en-US" dirty="0"/>
              <a:t>There are two types of nested classes you can create in Java</a:t>
            </a:r>
            <a:r>
              <a:rPr lang="en-US" dirty="0" smtClean="0"/>
              <a:t>.</a:t>
            </a:r>
          </a:p>
          <a:p>
            <a:r>
              <a:rPr lang="en-US" dirty="0"/>
              <a:t>Non-static nested class (inner class)</a:t>
            </a:r>
          </a:p>
          <a:p>
            <a:r>
              <a:rPr lang="en-US" dirty="0"/>
              <a:t>Static nested </a:t>
            </a:r>
            <a:r>
              <a:rPr lang="en-US" dirty="0" smtClean="0"/>
              <a:t>class</a:t>
            </a:r>
          </a:p>
          <a:p>
            <a:r>
              <a:rPr lang="en-US" b="1" dirty="0"/>
              <a:t>Non-Static Nested Class (Inner Class)</a:t>
            </a:r>
          </a:p>
          <a:p>
            <a:pPr lvl="1"/>
            <a:r>
              <a:rPr lang="en-US" dirty="0"/>
              <a:t>A non-static nested class is a class within another class. It has access to members of the enclosing class (outer class). It is commonly known as </a:t>
            </a:r>
            <a:r>
              <a:rPr lang="en-US" dirty="0" smtClean="0"/>
              <a:t> </a:t>
            </a:r>
            <a:r>
              <a:rPr lang="en-US" b="1" dirty="0" smtClean="0"/>
              <a:t>Inner Class.</a:t>
            </a:r>
            <a:endParaRPr lang="en-US" b="1" dirty="0"/>
          </a:p>
          <a:p>
            <a:pPr lvl="1"/>
            <a:r>
              <a:rPr lang="en-US" dirty="0"/>
              <a:t>Since the </a:t>
            </a:r>
            <a:r>
              <a:rPr lang="en-US" dirty="0" smtClean="0"/>
              <a:t>Inner Class </a:t>
            </a:r>
            <a:r>
              <a:rPr lang="en-US" dirty="0"/>
              <a:t>exists within the outer class, you must instantiate the outer class first, in order to instantiate the inner class.</a:t>
            </a:r>
          </a:p>
        </p:txBody>
      </p:sp>
    </p:spTree>
    <p:extLst>
      <p:ext uri="{BB962C8B-B14F-4D97-AF65-F5344CB8AC3E}">
        <p14:creationId xmlns:p14="http://schemas.microsoft.com/office/powerpoint/2010/main" val="4012162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Inner </a:t>
            </a:r>
            <a:r>
              <a:rPr lang="en-US" dirty="0" smtClean="0"/>
              <a:t>class</a:t>
            </a:r>
            <a:endParaRPr lang="en-US" dirty="0"/>
          </a:p>
        </p:txBody>
      </p:sp>
      <p:sp>
        <p:nvSpPr>
          <p:cNvPr id="3" name="Content Placeholder 2"/>
          <p:cNvSpPr>
            <a:spLocks noGrp="1"/>
          </p:cNvSpPr>
          <p:nvPr>
            <p:ph sz="quarter" idx="1"/>
          </p:nvPr>
        </p:nvSpPr>
        <p:spPr>
          <a:xfrm>
            <a:off x="914400" y="990600"/>
            <a:ext cx="7772400" cy="5638800"/>
          </a:xfrm>
        </p:spPr>
        <p:txBody>
          <a:bodyPr>
            <a:normAutofit fontScale="92500" lnSpcReduction="10000"/>
          </a:bodyPr>
          <a:lstStyle/>
          <a:p>
            <a:pPr marL="0" indent="0">
              <a:buNone/>
            </a:pPr>
            <a:r>
              <a:rPr lang="en-US" dirty="0"/>
              <a:t>class CPU {</a:t>
            </a:r>
          </a:p>
          <a:p>
            <a:pPr marL="0" indent="0">
              <a:buNone/>
            </a:pPr>
            <a:r>
              <a:rPr lang="en-US" dirty="0"/>
              <a:t>    double price;</a:t>
            </a:r>
          </a:p>
          <a:p>
            <a:pPr marL="0" indent="0">
              <a:buNone/>
            </a:pPr>
            <a:r>
              <a:rPr lang="en-US" dirty="0"/>
              <a:t>    // nested class</a:t>
            </a:r>
          </a:p>
          <a:p>
            <a:pPr marL="0" indent="0">
              <a:buNone/>
            </a:pPr>
            <a:r>
              <a:rPr lang="en-US" dirty="0"/>
              <a:t>    class Processor {</a:t>
            </a:r>
          </a:p>
          <a:p>
            <a:pPr marL="0" indent="0">
              <a:buNone/>
            </a:pPr>
            <a:endParaRPr lang="en-US" dirty="0"/>
          </a:p>
          <a:p>
            <a:pPr marL="0" indent="0">
              <a:buNone/>
            </a:pPr>
            <a:r>
              <a:rPr lang="en-US" dirty="0"/>
              <a:t>        // members of nested class</a:t>
            </a:r>
          </a:p>
          <a:p>
            <a:pPr marL="0" indent="0">
              <a:buNone/>
            </a:pPr>
            <a:r>
              <a:rPr lang="en-US" dirty="0"/>
              <a:t>        double cores;</a:t>
            </a:r>
          </a:p>
          <a:p>
            <a:pPr marL="0" indent="0">
              <a:buNone/>
            </a:pPr>
            <a:r>
              <a:rPr lang="en-US" dirty="0"/>
              <a:t>        String manufacturer;</a:t>
            </a:r>
          </a:p>
          <a:p>
            <a:pPr marL="0" indent="0">
              <a:buNone/>
            </a:pPr>
            <a:endParaRPr lang="en-US" dirty="0"/>
          </a:p>
          <a:p>
            <a:pPr marL="0" indent="0">
              <a:buNone/>
            </a:pPr>
            <a:r>
              <a:rPr lang="en-US" dirty="0"/>
              <a:t>        double </a:t>
            </a:r>
            <a:r>
              <a:rPr lang="en-US" dirty="0" err="1"/>
              <a:t>getCache</a:t>
            </a:r>
            <a:r>
              <a:rPr lang="en-US" dirty="0"/>
              <a:t>() {</a:t>
            </a:r>
          </a:p>
          <a:p>
            <a:pPr marL="0" indent="0">
              <a:buNone/>
            </a:pPr>
            <a:r>
              <a:rPr lang="en-US" dirty="0"/>
              <a:t>            return 4.3;</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30662051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Inner class</a:t>
            </a:r>
          </a:p>
        </p:txBody>
      </p:sp>
      <p:sp>
        <p:nvSpPr>
          <p:cNvPr id="3" name="Content Placeholder 2"/>
          <p:cNvSpPr>
            <a:spLocks noGrp="1"/>
          </p:cNvSpPr>
          <p:nvPr>
            <p:ph sz="quarter" idx="1"/>
          </p:nvPr>
        </p:nvSpPr>
        <p:spPr>
          <a:xfrm>
            <a:off x="900752" y="1143000"/>
            <a:ext cx="7772400" cy="5334000"/>
          </a:xfrm>
        </p:spPr>
        <p:txBody>
          <a:bodyPr>
            <a:normAutofit lnSpcReduction="10000"/>
          </a:bodyPr>
          <a:lstStyle/>
          <a:p>
            <a:pPr marL="0" indent="0">
              <a:buNone/>
            </a:pPr>
            <a:r>
              <a:rPr lang="en-US" dirty="0"/>
              <a:t>// nested protected class</a:t>
            </a:r>
          </a:p>
          <a:p>
            <a:pPr marL="0" indent="0">
              <a:buNone/>
            </a:pPr>
            <a:r>
              <a:rPr lang="en-US" dirty="0"/>
              <a:t>    protected class RAM {</a:t>
            </a:r>
          </a:p>
          <a:p>
            <a:pPr marL="0" indent="0">
              <a:buNone/>
            </a:pPr>
            <a:endParaRPr lang="en-US" dirty="0"/>
          </a:p>
          <a:p>
            <a:pPr marL="0" indent="0">
              <a:buNone/>
            </a:pPr>
            <a:r>
              <a:rPr lang="en-US" dirty="0"/>
              <a:t>        // members of protected nested class</a:t>
            </a:r>
          </a:p>
          <a:p>
            <a:pPr marL="0" indent="0">
              <a:buNone/>
            </a:pPr>
            <a:r>
              <a:rPr lang="en-US" dirty="0"/>
              <a:t>        double memory;</a:t>
            </a:r>
          </a:p>
          <a:p>
            <a:pPr marL="0" indent="0">
              <a:buNone/>
            </a:pPr>
            <a:r>
              <a:rPr lang="en-US" dirty="0"/>
              <a:t>        String manufacturer;</a:t>
            </a:r>
          </a:p>
          <a:p>
            <a:pPr marL="0" indent="0">
              <a:buNone/>
            </a:pPr>
            <a:endParaRPr lang="en-US" dirty="0"/>
          </a:p>
          <a:p>
            <a:pPr marL="0" indent="0">
              <a:buNone/>
            </a:pPr>
            <a:r>
              <a:rPr lang="en-US" dirty="0"/>
              <a:t>        double </a:t>
            </a:r>
            <a:r>
              <a:rPr lang="en-US" dirty="0" err="1"/>
              <a:t>getClockSpeed</a:t>
            </a:r>
            <a:r>
              <a:rPr lang="en-US" dirty="0"/>
              <a:t>() {</a:t>
            </a:r>
          </a:p>
          <a:p>
            <a:pPr marL="0" indent="0">
              <a:buNone/>
            </a:pPr>
            <a:r>
              <a:rPr lang="en-US" dirty="0"/>
              <a:t>            return 5.5;</a:t>
            </a:r>
          </a:p>
          <a:p>
            <a:pPr marL="0" indent="0">
              <a:buNone/>
            </a:pPr>
            <a:r>
              <a:rPr lang="en-US" dirty="0"/>
              <a:t>        }</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3865832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Inner class</a:t>
            </a:r>
          </a:p>
        </p:txBody>
      </p:sp>
      <p:sp>
        <p:nvSpPr>
          <p:cNvPr id="3" name="Content Placeholder 2"/>
          <p:cNvSpPr>
            <a:spLocks noGrp="1"/>
          </p:cNvSpPr>
          <p:nvPr>
            <p:ph sz="quarter" idx="1"/>
          </p:nvPr>
        </p:nvSpPr>
        <p:spPr>
          <a:xfrm>
            <a:off x="914400" y="990600"/>
            <a:ext cx="7772400" cy="5638800"/>
          </a:xfrm>
        </p:spPr>
        <p:txBody>
          <a:bodyPr>
            <a:normAutofit fontScale="77500" lnSpcReduction="20000"/>
          </a:bodyPr>
          <a:lstStyle/>
          <a:p>
            <a:pPr marL="0" indent="0">
              <a:buNone/>
            </a:pPr>
            <a:r>
              <a:rPr lang="en-US" dirty="0"/>
              <a:t>public class </a:t>
            </a:r>
            <a:r>
              <a:rPr lang="en-US" dirty="0" err="1"/>
              <a:t>MainClass</a:t>
            </a:r>
            <a:r>
              <a:rPr lang="en-US" dirty="0"/>
              <a:t> {</a:t>
            </a:r>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 create object of Outer class CPU</a:t>
            </a:r>
          </a:p>
          <a:p>
            <a:pPr marL="0" indent="0">
              <a:buNone/>
            </a:pPr>
            <a:r>
              <a:rPr lang="en-US" dirty="0"/>
              <a:t>        CPU </a:t>
            </a:r>
            <a:r>
              <a:rPr lang="en-US" dirty="0" err="1"/>
              <a:t>cpu</a:t>
            </a:r>
            <a:r>
              <a:rPr lang="en-US" dirty="0"/>
              <a:t> = new CPU();</a:t>
            </a:r>
          </a:p>
          <a:p>
            <a:pPr marL="0" indent="0">
              <a:buNone/>
            </a:pPr>
            <a:endParaRPr lang="en-US" dirty="0"/>
          </a:p>
          <a:p>
            <a:pPr marL="0" indent="0">
              <a:buNone/>
            </a:pPr>
            <a:r>
              <a:rPr lang="en-US" dirty="0"/>
              <a:t>        // create an object of inner class Processor using outer class</a:t>
            </a:r>
          </a:p>
          <a:p>
            <a:pPr marL="0" indent="0">
              <a:buNone/>
            </a:pPr>
            <a:r>
              <a:rPr lang="en-US" dirty="0"/>
              <a:t>        </a:t>
            </a:r>
            <a:r>
              <a:rPr lang="en-US" dirty="0" err="1"/>
              <a:t>CPU.Processor</a:t>
            </a:r>
            <a:r>
              <a:rPr lang="en-US" dirty="0"/>
              <a:t> processor = </a:t>
            </a:r>
            <a:r>
              <a:rPr lang="en-US" dirty="0" err="1"/>
              <a:t>cpu.new</a:t>
            </a:r>
            <a:r>
              <a:rPr lang="en-US" dirty="0"/>
              <a:t> Processor();</a:t>
            </a:r>
          </a:p>
          <a:p>
            <a:pPr marL="0" indent="0">
              <a:buNone/>
            </a:pPr>
            <a:endParaRPr lang="en-US" dirty="0"/>
          </a:p>
          <a:p>
            <a:pPr marL="0" indent="0">
              <a:buNone/>
            </a:pPr>
            <a:r>
              <a:rPr lang="en-US" dirty="0"/>
              <a:t>        // create an object of inner class RAM using outer class CPU</a:t>
            </a:r>
          </a:p>
          <a:p>
            <a:pPr marL="0" indent="0">
              <a:buNone/>
            </a:pPr>
            <a:r>
              <a:rPr lang="en-US" dirty="0"/>
              <a:t>        CPU.RAM ram = </a:t>
            </a:r>
            <a:r>
              <a:rPr lang="en-US" dirty="0" err="1"/>
              <a:t>cpu.new</a:t>
            </a:r>
            <a:r>
              <a:rPr lang="en-US" dirty="0"/>
              <a:t> RAM();</a:t>
            </a:r>
          </a:p>
          <a:p>
            <a:pPr marL="0" indent="0">
              <a:buNone/>
            </a:pPr>
            <a:r>
              <a:rPr lang="en-US" dirty="0"/>
              <a:t>        </a:t>
            </a:r>
            <a:r>
              <a:rPr lang="en-US" dirty="0" err="1"/>
              <a:t>System.out.println</a:t>
            </a:r>
            <a:r>
              <a:rPr lang="en-US" dirty="0"/>
              <a:t>("Processor Cache = " + </a:t>
            </a:r>
            <a:r>
              <a:rPr lang="en-US" dirty="0" err="1"/>
              <a:t>processor.getCache</a:t>
            </a:r>
            <a:r>
              <a:rPr lang="en-US" dirty="0"/>
              <a:t>());</a:t>
            </a:r>
          </a:p>
          <a:p>
            <a:pPr marL="0" indent="0">
              <a:buNone/>
            </a:pPr>
            <a:r>
              <a:rPr lang="en-US" dirty="0"/>
              <a:t>        </a:t>
            </a:r>
            <a:r>
              <a:rPr lang="en-US" dirty="0" err="1"/>
              <a:t>System.out.println</a:t>
            </a:r>
            <a:r>
              <a:rPr lang="en-US" dirty="0"/>
              <a:t>("Ram Clock speed = " + </a:t>
            </a:r>
            <a:r>
              <a:rPr lang="en-US" dirty="0" err="1"/>
              <a:t>ram.getClockSpeed</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571079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Inner class</a:t>
            </a:r>
          </a:p>
        </p:txBody>
      </p:sp>
      <p:sp>
        <p:nvSpPr>
          <p:cNvPr id="3" name="Content Placeholder 2"/>
          <p:cNvSpPr>
            <a:spLocks noGrp="1"/>
          </p:cNvSpPr>
          <p:nvPr>
            <p:ph sz="quarter" idx="1"/>
          </p:nvPr>
        </p:nvSpPr>
        <p:spPr>
          <a:xfrm>
            <a:off x="914400" y="1143000"/>
            <a:ext cx="7772400" cy="5257800"/>
          </a:xfrm>
        </p:spPr>
        <p:txBody>
          <a:bodyPr>
            <a:normAutofit/>
          </a:bodyPr>
          <a:lstStyle/>
          <a:p>
            <a:r>
              <a:rPr lang="en-US" dirty="0"/>
              <a:t>In the </a:t>
            </a:r>
            <a:r>
              <a:rPr lang="en-US" dirty="0" smtClean="0"/>
              <a:t>above </a:t>
            </a:r>
            <a:r>
              <a:rPr lang="en-US" dirty="0"/>
              <a:t>program, there are two nested classes</a:t>
            </a:r>
            <a:r>
              <a:rPr lang="en-US" dirty="0" smtClean="0"/>
              <a:t>: Processor and RAM </a:t>
            </a:r>
            <a:r>
              <a:rPr lang="en-US" dirty="0"/>
              <a:t>inside the outer class</a:t>
            </a:r>
            <a:r>
              <a:rPr lang="en-US" dirty="0" smtClean="0"/>
              <a:t>: CPU</a:t>
            </a:r>
          </a:p>
          <a:p>
            <a:r>
              <a:rPr lang="en-US" dirty="0"/>
              <a:t>We can declare the inner class as protected. Hence, we have declared the RAM class as protected</a:t>
            </a:r>
            <a:r>
              <a:rPr lang="en-US" dirty="0" smtClean="0"/>
              <a:t>.</a:t>
            </a:r>
          </a:p>
          <a:p>
            <a:r>
              <a:rPr lang="en-US" dirty="0"/>
              <a:t>Inside the Main </a:t>
            </a:r>
            <a:r>
              <a:rPr lang="en-US" dirty="0" smtClean="0"/>
              <a:t>class,</a:t>
            </a:r>
          </a:p>
          <a:p>
            <a:pPr lvl="1"/>
            <a:r>
              <a:rPr lang="en-US" dirty="0" smtClean="0"/>
              <a:t>we </a:t>
            </a:r>
            <a:r>
              <a:rPr lang="en-US" dirty="0"/>
              <a:t>first created an instance of an outer class </a:t>
            </a:r>
            <a:r>
              <a:rPr lang="en-US" dirty="0" smtClean="0"/>
              <a:t>CPU named </a:t>
            </a:r>
            <a:r>
              <a:rPr lang="en-US" dirty="0" err="1" smtClean="0"/>
              <a:t>cpu</a:t>
            </a:r>
            <a:endParaRPr lang="en-US" dirty="0" smtClean="0"/>
          </a:p>
          <a:p>
            <a:pPr lvl="1"/>
            <a:r>
              <a:rPr lang="en-US" dirty="0"/>
              <a:t>Using the instance of the outer class, we then created objects of inner classes</a:t>
            </a:r>
            <a:r>
              <a:rPr lang="en-US" dirty="0" smtClean="0"/>
              <a:t>:</a:t>
            </a:r>
          </a:p>
          <a:p>
            <a:pPr lvl="1"/>
            <a:endParaRPr lang="en-US" dirty="0" smtClean="0"/>
          </a:p>
          <a:p>
            <a:pPr lvl="1"/>
            <a:r>
              <a:rPr lang="pt-BR" dirty="0"/>
              <a:t>CPU.Processor processor = cpu.new Processor</a:t>
            </a:r>
            <a:r>
              <a:rPr lang="pt-BR" dirty="0" smtClean="0"/>
              <a:t>;</a:t>
            </a:r>
            <a:endParaRPr lang="pt-BR" dirty="0"/>
          </a:p>
          <a:p>
            <a:pPr lvl="1"/>
            <a:r>
              <a:rPr lang="pt-BR" dirty="0"/>
              <a:t>CPU.RAM ram = cpu.new RAM();</a:t>
            </a:r>
            <a:endParaRPr lang="en-US" dirty="0"/>
          </a:p>
          <a:p>
            <a:endParaRPr lang="en-US" dirty="0"/>
          </a:p>
        </p:txBody>
      </p:sp>
    </p:spTree>
    <p:extLst>
      <p:ext uri="{BB962C8B-B14F-4D97-AF65-F5344CB8AC3E}">
        <p14:creationId xmlns:p14="http://schemas.microsoft.com/office/powerpoint/2010/main" val="3365757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Static Nested </a:t>
            </a:r>
            <a:r>
              <a:rPr lang="en-US" dirty="0" smtClean="0"/>
              <a:t>Class</a:t>
            </a:r>
            <a:endParaRPr lang="en-US" dirty="0"/>
          </a:p>
        </p:txBody>
      </p:sp>
      <p:sp>
        <p:nvSpPr>
          <p:cNvPr id="3" name="Content Placeholder 2"/>
          <p:cNvSpPr>
            <a:spLocks noGrp="1"/>
          </p:cNvSpPr>
          <p:nvPr>
            <p:ph sz="quarter" idx="1"/>
          </p:nvPr>
        </p:nvSpPr>
        <p:spPr/>
        <p:txBody>
          <a:bodyPr/>
          <a:lstStyle/>
          <a:p>
            <a:r>
              <a:rPr lang="en-US" dirty="0"/>
              <a:t>In Java, we can also define </a:t>
            </a:r>
            <a:r>
              <a:rPr lang="en-US" dirty="0" smtClean="0"/>
              <a:t>a Static </a:t>
            </a:r>
            <a:r>
              <a:rPr lang="en-US" dirty="0"/>
              <a:t>class inside another class. Such class is known </a:t>
            </a:r>
            <a:r>
              <a:rPr lang="en-US" dirty="0" smtClean="0"/>
              <a:t>as static nested class. </a:t>
            </a:r>
            <a:r>
              <a:rPr lang="en-US" dirty="0"/>
              <a:t>Static nested classes are not called static inner classes</a:t>
            </a:r>
            <a:r>
              <a:rPr lang="en-US" dirty="0" smtClean="0"/>
              <a:t>.</a:t>
            </a:r>
          </a:p>
          <a:p>
            <a:r>
              <a:rPr lang="en-US" dirty="0"/>
              <a:t>Unlike inner class, a static nested class cannot access the member variables of the outer class. It is because the </a:t>
            </a:r>
            <a:r>
              <a:rPr lang="en-US" b="1" dirty="0"/>
              <a:t>static nested class</a:t>
            </a:r>
            <a:r>
              <a:rPr lang="en-US" dirty="0"/>
              <a:t> doesn't require you to create an instance of the outer class</a:t>
            </a:r>
            <a:r>
              <a:rPr lang="en-US" dirty="0" smtClean="0"/>
              <a:t>.</a:t>
            </a:r>
          </a:p>
          <a:p>
            <a:r>
              <a:rPr lang="en-US" b="1" dirty="0" err="1"/>
              <a:t>OuterClass.NestedClass</a:t>
            </a:r>
            <a:r>
              <a:rPr lang="en-US" b="1" dirty="0"/>
              <a:t> </a:t>
            </a:r>
            <a:r>
              <a:rPr lang="en-US" b="1" dirty="0" err="1"/>
              <a:t>obj</a:t>
            </a:r>
            <a:r>
              <a:rPr lang="en-US" b="1" dirty="0"/>
              <a:t> = new </a:t>
            </a:r>
            <a:r>
              <a:rPr lang="en-US" b="1" dirty="0" err="1"/>
              <a:t>OuterClass.NestedClass</a:t>
            </a:r>
            <a:r>
              <a:rPr lang="en-US" b="1" dirty="0"/>
              <a:t>();</a:t>
            </a:r>
          </a:p>
        </p:txBody>
      </p:sp>
    </p:spTree>
    <p:extLst>
      <p:ext uri="{BB962C8B-B14F-4D97-AF65-F5344CB8AC3E}">
        <p14:creationId xmlns:p14="http://schemas.microsoft.com/office/powerpoint/2010/main" val="695385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Static Inner </a:t>
            </a:r>
            <a:r>
              <a:rPr lang="en-US" dirty="0" smtClean="0"/>
              <a:t>Class</a:t>
            </a:r>
            <a:endParaRPr lang="en-US" dirty="0"/>
          </a:p>
        </p:txBody>
      </p:sp>
      <p:sp>
        <p:nvSpPr>
          <p:cNvPr id="3" name="Content Placeholder 2"/>
          <p:cNvSpPr>
            <a:spLocks noGrp="1"/>
          </p:cNvSpPr>
          <p:nvPr>
            <p:ph sz="quarter" idx="1"/>
          </p:nvPr>
        </p:nvSpPr>
        <p:spPr>
          <a:xfrm>
            <a:off x="914400" y="990600"/>
            <a:ext cx="7772400" cy="5638800"/>
          </a:xfrm>
        </p:spPr>
        <p:txBody>
          <a:bodyPr>
            <a:normAutofit fontScale="70000" lnSpcReduction="20000"/>
          </a:bodyPr>
          <a:lstStyle/>
          <a:p>
            <a:pPr marL="0" indent="0">
              <a:buNone/>
            </a:pPr>
            <a:r>
              <a:rPr lang="en-US" dirty="0"/>
              <a:t>class </a:t>
            </a:r>
            <a:r>
              <a:rPr lang="en-US" dirty="0" err="1"/>
              <a:t>MotherBoard</a:t>
            </a:r>
            <a:r>
              <a:rPr lang="en-US" dirty="0"/>
              <a:t> </a:t>
            </a:r>
            <a:r>
              <a:rPr lang="en-US" dirty="0" smtClean="0"/>
              <a:t>{</a:t>
            </a:r>
            <a:endParaRPr lang="en-US" dirty="0"/>
          </a:p>
          <a:p>
            <a:pPr marL="0" indent="0">
              <a:buNone/>
            </a:pPr>
            <a:r>
              <a:rPr lang="en-US" dirty="0"/>
              <a:t>    // static nested class</a:t>
            </a:r>
          </a:p>
          <a:p>
            <a:pPr marL="0" indent="0">
              <a:buNone/>
            </a:pPr>
            <a:r>
              <a:rPr lang="en-US" dirty="0"/>
              <a:t>    static class USB {</a:t>
            </a:r>
          </a:p>
          <a:p>
            <a:pPr marL="0" indent="0">
              <a:buNone/>
            </a:pPr>
            <a:r>
              <a:rPr lang="en-US" dirty="0"/>
              <a:t>        </a:t>
            </a:r>
            <a:r>
              <a:rPr lang="en-US" dirty="0" err="1"/>
              <a:t>int</a:t>
            </a:r>
            <a:r>
              <a:rPr lang="en-US" dirty="0"/>
              <a:t> usb2 = 2;</a:t>
            </a:r>
          </a:p>
          <a:p>
            <a:pPr marL="0" indent="0">
              <a:buNone/>
            </a:pPr>
            <a:r>
              <a:rPr lang="en-US" dirty="0"/>
              <a:t>        </a:t>
            </a:r>
            <a:r>
              <a:rPr lang="en-US" dirty="0" err="1"/>
              <a:t>int</a:t>
            </a:r>
            <a:r>
              <a:rPr lang="en-US" dirty="0"/>
              <a:t> usb3 = 1;</a:t>
            </a:r>
          </a:p>
          <a:p>
            <a:pPr marL="0" indent="0">
              <a:buNone/>
            </a:pPr>
            <a:r>
              <a:rPr lang="en-US" dirty="0"/>
              <a:t>        </a:t>
            </a:r>
            <a:r>
              <a:rPr lang="en-US" dirty="0" err="1"/>
              <a:t>int</a:t>
            </a:r>
            <a:r>
              <a:rPr lang="en-US" dirty="0"/>
              <a:t> </a:t>
            </a:r>
            <a:r>
              <a:rPr lang="en-US" dirty="0" err="1"/>
              <a:t>getTotalPorts</a:t>
            </a:r>
            <a:r>
              <a:rPr lang="en-US" dirty="0"/>
              <a:t>() {</a:t>
            </a:r>
          </a:p>
          <a:p>
            <a:pPr marL="0" indent="0">
              <a:buNone/>
            </a:pPr>
            <a:r>
              <a:rPr lang="en-US" dirty="0"/>
              <a:t>            return usb2 + usb3;</a:t>
            </a:r>
          </a:p>
          <a:p>
            <a:pPr marL="0" indent="0">
              <a:buNone/>
            </a:pPr>
            <a:r>
              <a:rPr lang="en-US" dirty="0"/>
              <a:t>        }</a:t>
            </a:r>
          </a:p>
          <a:p>
            <a:pPr marL="0" indent="0">
              <a:buNone/>
            </a:pPr>
            <a:r>
              <a:rPr lang="en-US" dirty="0"/>
              <a:t>    </a:t>
            </a:r>
            <a:r>
              <a:rPr lang="en-US" dirty="0" smtClean="0"/>
              <a:t>}</a:t>
            </a:r>
            <a:endParaRPr lang="en-US" dirty="0"/>
          </a:p>
          <a:p>
            <a:pPr marL="0" indent="0">
              <a:buNone/>
            </a:pPr>
            <a:r>
              <a:rPr lang="en-US" dirty="0"/>
              <a:t>}</a:t>
            </a:r>
          </a:p>
          <a:p>
            <a:pPr marL="0" indent="0">
              <a:buNone/>
            </a:pPr>
            <a:r>
              <a:rPr lang="en-US" dirty="0"/>
              <a:t>public class Main {</a:t>
            </a:r>
          </a:p>
          <a:p>
            <a:pPr marL="0" indent="0">
              <a:buNone/>
            </a:pPr>
            <a:r>
              <a:rPr lang="en-US" dirty="0"/>
              <a:t>    public static void main(String[] </a:t>
            </a:r>
            <a:r>
              <a:rPr lang="en-US" dirty="0" err="1"/>
              <a:t>args</a:t>
            </a:r>
            <a:r>
              <a:rPr lang="en-US" dirty="0"/>
              <a:t>) </a:t>
            </a:r>
            <a:r>
              <a:rPr lang="en-US" dirty="0" smtClean="0"/>
              <a:t>{</a:t>
            </a:r>
            <a:endParaRPr lang="en-US" dirty="0"/>
          </a:p>
          <a:p>
            <a:pPr marL="0" indent="0">
              <a:buNone/>
            </a:pPr>
            <a:r>
              <a:rPr lang="en-US" dirty="0"/>
              <a:t>        // create an object of the static nested class</a:t>
            </a:r>
          </a:p>
          <a:p>
            <a:pPr marL="0" indent="0">
              <a:buNone/>
            </a:pPr>
            <a:r>
              <a:rPr lang="en-US" dirty="0"/>
              <a:t>        // using the name of the outer class</a:t>
            </a:r>
          </a:p>
          <a:p>
            <a:pPr marL="0" indent="0">
              <a:buNone/>
            </a:pPr>
            <a:r>
              <a:rPr lang="en-US" dirty="0"/>
              <a:t>        </a:t>
            </a:r>
            <a:r>
              <a:rPr lang="en-US" dirty="0" err="1"/>
              <a:t>MotherBoard.USB</a:t>
            </a:r>
            <a:r>
              <a:rPr lang="en-US" dirty="0"/>
              <a:t> </a:t>
            </a:r>
            <a:r>
              <a:rPr lang="en-US" dirty="0" err="1"/>
              <a:t>usb</a:t>
            </a:r>
            <a:r>
              <a:rPr lang="en-US" dirty="0"/>
              <a:t> = new </a:t>
            </a:r>
            <a:r>
              <a:rPr lang="en-US" dirty="0" err="1"/>
              <a:t>MotherBoard.USB</a:t>
            </a:r>
            <a:r>
              <a:rPr lang="en-US" dirty="0"/>
              <a:t>();</a:t>
            </a:r>
          </a:p>
          <a:p>
            <a:pPr marL="0" indent="0">
              <a:buNone/>
            </a:pPr>
            <a:r>
              <a:rPr lang="en-US" dirty="0"/>
              <a:t>        </a:t>
            </a:r>
            <a:r>
              <a:rPr lang="en-US" dirty="0" err="1"/>
              <a:t>System.out.println</a:t>
            </a:r>
            <a:r>
              <a:rPr lang="en-US" dirty="0"/>
              <a:t>("Total Ports = " + </a:t>
            </a:r>
            <a:r>
              <a:rPr lang="en-US" dirty="0" err="1"/>
              <a:t>usb.getTotalPorts</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681688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 Static Inner Class</a:t>
            </a:r>
          </a:p>
        </p:txBody>
      </p:sp>
      <p:sp>
        <p:nvSpPr>
          <p:cNvPr id="3" name="Content Placeholder 2"/>
          <p:cNvSpPr>
            <a:spLocks noGrp="1"/>
          </p:cNvSpPr>
          <p:nvPr>
            <p:ph sz="quarter" idx="1"/>
          </p:nvPr>
        </p:nvSpPr>
        <p:spPr/>
        <p:txBody>
          <a:bodyPr/>
          <a:lstStyle/>
          <a:p>
            <a:r>
              <a:rPr lang="en-US" dirty="0"/>
              <a:t>In the above program, we have created a static class named </a:t>
            </a:r>
            <a:r>
              <a:rPr lang="en-US" dirty="0" smtClean="0"/>
              <a:t>USB inside the class </a:t>
            </a:r>
            <a:r>
              <a:rPr lang="en-US" dirty="0" err="1" smtClean="0"/>
              <a:t>MotherBoard</a:t>
            </a:r>
            <a:r>
              <a:rPr lang="en-US" dirty="0" smtClean="0"/>
              <a:t>.</a:t>
            </a:r>
          </a:p>
          <a:p>
            <a:r>
              <a:rPr lang="en-US" b="1" dirty="0" err="1"/>
              <a:t>MotherBoard.USB</a:t>
            </a:r>
            <a:r>
              <a:rPr lang="en-US" b="1" dirty="0"/>
              <a:t> </a:t>
            </a:r>
            <a:r>
              <a:rPr lang="en-US" b="1" dirty="0" err="1"/>
              <a:t>usb</a:t>
            </a:r>
            <a:r>
              <a:rPr lang="en-US" b="1" dirty="0"/>
              <a:t> = new </a:t>
            </a:r>
            <a:r>
              <a:rPr lang="en-US" b="1" dirty="0" err="1"/>
              <a:t>MotherBoard.USB</a:t>
            </a:r>
            <a:r>
              <a:rPr lang="en-US" b="1" dirty="0" smtClean="0"/>
              <a:t>();</a:t>
            </a:r>
          </a:p>
          <a:p>
            <a:r>
              <a:rPr lang="en-US" dirty="0"/>
              <a:t>Here, we are creating an object </a:t>
            </a:r>
            <a:r>
              <a:rPr lang="en-US" dirty="0" smtClean="0"/>
              <a:t>of USB </a:t>
            </a:r>
            <a:r>
              <a:rPr lang="en-US" dirty="0"/>
              <a:t>using the name of the outer class.</a:t>
            </a:r>
            <a:endParaRPr lang="en-US" b="1" dirty="0"/>
          </a:p>
        </p:txBody>
      </p:sp>
    </p:spTree>
    <p:extLst>
      <p:ext uri="{BB962C8B-B14F-4D97-AF65-F5344CB8AC3E}">
        <p14:creationId xmlns:p14="http://schemas.microsoft.com/office/powerpoint/2010/main" val="3267595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Anonymous </a:t>
            </a:r>
            <a:r>
              <a:rPr lang="en-US" dirty="0" smtClean="0"/>
              <a:t>Class</a:t>
            </a:r>
            <a:endParaRPr lang="en-US" dirty="0"/>
          </a:p>
        </p:txBody>
      </p:sp>
      <p:sp>
        <p:nvSpPr>
          <p:cNvPr id="3" name="Content Placeholder 2"/>
          <p:cNvSpPr>
            <a:spLocks noGrp="1"/>
          </p:cNvSpPr>
          <p:nvPr>
            <p:ph sz="quarter" idx="1"/>
          </p:nvPr>
        </p:nvSpPr>
        <p:spPr>
          <a:xfrm>
            <a:off x="914400" y="990600"/>
            <a:ext cx="7772400" cy="5029200"/>
          </a:xfrm>
        </p:spPr>
        <p:txBody>
          <a:bodyPr/>
          <a:lstStyle/>
          <a:p>
            <a:r>
              <a:rPr lang="en-US" dirty="0"/>
              <a:t>In Java, a class can contain another class known as nested class. It's possible to create a nested class without giving any name</a:t>
            </a:r>
            <a:r>
              <a:rPr lang="en-US" dirty="0" smtClean="0"/>
              <a:t>.</a:t>
            </a:r>
          </a:p>
          <a:p>
            <a:r>
              <a:rPr lang="en-US" dirty="0"/>
              <a:t>A nested class that doesn't have any name is known as an anonymous class</a:t>
            </a:r>
            <a:r>
              <a:rPr lang="en-US" dirty="0" smtClean="0"/>
              <a:t>.</a:t>
            </a:r>
          </a:p>
          <a:p>
            <a:r>
              <a:rPr lang="en-US" dirty="0"/>
              <a:t>An anonymous class must be defined inside another class. Hence, it is also known as an anonymous inner class. Its syntax is:</a:t>
            </a:r>
          </a:p>
        </p:txBody>
      </p:sp>
    </p:spTree>
    <p:extLst>
      <p:ext uri="{BB962C8B-B14F-4D97-AF65-F5344CB8AC3E}">
        <p14:creationId xmlns:p14="http://schemas.microsoft.com/office/powerpoint/2010/main" val="18056482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Anonymous Class</a:t>
            </a:r>
          </a:p>
        </p:txBody>
      </p:sp>
      <p:sp>
        <p:nvSpPr>
          <p:cNvPr id="3" name="Content Placeholder 2"/>
          <p:cNvSpPr>
            <a:spLocks noGrp="1"/>
          </p:cNvSpPr>
          <p:nvPr>
            <p:ph sz="quarter" idx="1"/>
          </p:nvPr>
        </p:nvSpPr>
        <p:spPr>
          <a:xfrm>
            <a:off x="914400" y="1219200"/>
            <a:ext cx="7772400" cy="4572000"/>
          </a:xfrm>
        </p:spPr>
        <p:txBody>
          <a:bodyPr>
            <a:normAutofit/>
          </a:bodyPr>
          <a:lstStyle/>
          <a:p>
            <a:pPr marL="0" indent="0">
              <a:buNone/>
            </a:pPr>
            <a:r>
              <a:rPr lang="en-US" dirty="0"/>
              <a:t>class </a:t>
            </a:r>
            <a:r>
              <a:rPr lang="en-US" dirty="0" err="1"/>
              <a:t>outerClass</a:t>
            </a:r>
            <a:r>
              <a:rPr lang="en-US" dirty="0"/>
              <a:t> {</a:t>
            </a:r>
          </a:p>
          <a:p>
            <a:pPr marL="0" indent="0">
              <a:buNone/>
            </a:pPr>
            <a:endParaRPr lang="en-US" dirty="0"/>
          </a:p>
          <a:p>
            <a:pPr marL="0" indent="0">
              <a:buNone/>
            </a:pPr>
            <a:r>
              <a:rPr lang="en-US" dirty="0"/>
              <a:t>    // defining anonymous class</a:t>
            </a:r>
          </a:p>
          <a:p>
            <a:pPr marL="0" indent="0">
              <a:buNone/>
            </a:pPr>
            <a:r>
              <a:rPr lang="en-US" dirty="0"/>
              <a:t>    object1 = new Type(</a:t>
            </a:r>
            <a:r>
              <a:rPr lang="en-US" dirty="0" err="1"/>
              <a:t>parameterList</a:t>
            </a:r>
            <a:r>
              <a:rPr lang="en-US" dirty="0"/>
              <a:t>) {</a:t>
            </a:r>
          </a:p>
          <a:p>
            <a:pPr marL="0" indent="0">
              <a:buNone/>
            </a:pPr>
            <a:r>
              <a:rPr lang="en-US" dirty="0"/>
              <a:t>        // body of the anonymous class</a:t>
            </a:r>
          </a:p>
          <a:p>
            <a:pPr marL="0" indent="0">
              <a:buNone/>
            </a:pPr>
            <a:r>
              <a:rPr lang="en-US" dirty="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28886604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Anonymous Class</a:t>
            </a:r>
          </a:p>
        </p:txBody>
      </p:sp>
      <p:sp>
        <p:nvSpPr>
          <p:cNvPr id="3" name="Content Placeholder 2"/>
          <p:cNvSpPr>
            <a:spLocks noGrp="1"/>
          </p:cNvSpPr>
          <p:nvPr>
            <p:ph sz="quarter" idx="1"/>
          </p:nvPr>
        </p:nvSpPr>
        <p:spPr>
          <a:xfrm>
            <a:off x="928048" y="1219200"/>
            <a:ext cx="7772400" cy="4953000"/>
          </a:xfrm>
        </p:spPr>
        <p:txBody>
          <a:bodyPr>
            <a:normAutofit/>
          </a:bodyPr>
          <a:lstStyle/>
          <a:p>
            <a:r>
              <a:rPr lang="en-US" dirty="0"/>
              <a:t>Anonymous classes usually extend superclass </a:t>
            </a:r>
            <a:r>
              <a:rPr lang="en-US" dirty="0" smtClean="0"/>
              <a:t>or </a:t>
            </a:r>
            <a:r>
              <a:rPr lang="en-US" dirty="0"/>
              <a:t>implement interfaces.</a:t>
            </a:r>
          </a:p>
          <a:p>
            <a:r>
              <a:rPr lang="en-US" dirty="0"/>
              <a:t>Here, </a:t>
            </a:r>
            <a:r>
              <a:rPr lang="en-US" b="1" dirty="0"/>
              <a:t>Type</a:t>
            </a:r>
            <a:r>
              <a:rPr lang="en-US" dirty="0"/>
              <a:t> can be</a:t>
            </a:r>
          </a:p>
          <a:p>
            <a:pPr lvl="1"/>
            <a:r>
              <a:rPr lang="en-US" dirty="0"/>
              <a:t>a superclass that an anonymous class extends</a:t>
            </a:r>
          </a:p>
          <a:p>
            <a:pPr lvl="1"/>
            <a:r>
              <a:rPr lang="en-US" dirty="0"/>
              <a:t>an interface that an anonymous class </a:t>
            </a:r>
            <a:r>
              <a:rPr lang="en-US" dirty="0" smtClean="0"/>
              <a:t>implements</a:t>
            </a:r>
          </a:p>
          <a:p>
            <a:r>
              <a:rPr lang="en-US" dirty="0"/>
              <a:t>The above code creates an </a:t>
            </a:r>
            <a:r>
              <a:rPr lang="en-US" dirty="0" smtClean="0"/>
              <a:t>object,Object1</a:t>
            </a:r>
            <a:r>
              <a:rPr lang="en-US" dirty="0"/>
              <a:t> , of an anonymous class at runtime</a:t>
            </a:r>
            <a:r>
              <a:rPr lang="en-US" dirty="0" smtClean="0"/>
              <a:t>.</a:t>
            </a:r>
          </a:p>
          <a:p>
            <a:r>
              <a:rPr lang="en-US" b="1" dirty="0"/>
              <a:t>Note:</a:t>
            </a:r>
            <a:r>
              <a:rPr lang="en-US" dirty="0"/>
              <a:t> Anonymous classes are defined inside an expression. So, the semicolon is used at the end of anonymous classes to indicate the end of the expression.</a:t>
            </a:r>
          </a:p>
          <a:p>
            <a:pPr marL="0" indent="0">
              <a:buNone/>
            </a:pPr>
            <a:endParaRPr lang="en-US" dirty="0"/>
          </a:p>
          <a:p>
            <a:pPr lvl="1"/>
            <a:endParaRPr lang="en-US" dirty="0"/>
          </a:p>
        </p:txBody>
      </p:sp>
    </p:spTree>
    <p:extLst>
      <p:ext uri="{BB962C8B-B14F-4D97-AF65-F5344CB8AC3E}">
        <p14:creationId xmlns:p14="http://schemas.microsoft.com/office/powerpoint/2010/main" val="3783565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 </a:t>
            </a:r>
            <a:r>
              <a:rPr lang="en-US" dirty="0"/>
              <a:t>1: Anonymous </a:t>
            </a:r>
            <a:r>
              <a:rPr lang="en-US" dirty="0" smtClean="0"/>
              <a:t>Class (Extending Class)</a:t>
            </a:r>
            <a:endParaRPr lang="en-US" dirty="0"/>
          </a:p>
        </p:txBody>
      </p:sp>
      <p:sp>
        <p:nvSpPr>
          <p:cNvPr id="3" name="Content Placeholder 2"/>
          <p:cNvSpPr>
            <a:spLocks noGrp="1"/>
          </p:cNvSpPr>
          <p:nvPr>
            <p:ph sz="quarter" idx="1"/>
          </p:nvPr>
        </p:nvSpPr>
        <p:spPr>
          <a:xfrm>
            <a:off x="914400" y="990600"/>
            <a:ext cx="7772400" cy="5486400"/>
          </a:xfrm>
        </p:spPr>
        <p:txBody>
          <a:bodyPr>
            <a:normAutofit fontScale="70000" lnSpcReduction="20000"/>
          </a:bodyPr>
          <a:lstStyle/>
          <a:p>
            <a:pPr marL="0" indent="0">
              <a:buNone/>
            </a:pPr>
            <a:r>
              <a:rPr lang="en-US" dirty="0"/>
              <a:t>class Polygon {</a:t>
            </a:r>
          </a:p>
          <a:p>
            <a:pPr marL="0" indent="0">
              <a:buNone/>
            </a:pPr>
            <a:r>
              <a:rPr lang="en-US" dirty="0"/>
              <a:t>    public void display() {</a:t>
            </a:r>
          </a:p>
          <a:p>
            <a:pPr marL="0" indent="0">
              <a:buNone/>
            </a:pPr>
            <a:r>
              <a:rPr lang="en-US" dirty="0"/>
              <a:t>        </a:t>
            </a:r>
            <a:r>
              <a:rPr lang="en-US" dirty="0" err="1"/>
              <a:t>System.out.println</a:t>
            </a:r>
            <a:r>
              <a:rPr lang="en-US" dirty="0"/>
              <a:t>("Inside the Polygon class");</a:t>
            </a:r>
          </a:p>
          <a:p>
            <a:pPr marL="0" indent="0">
              <a:buNone/>
            </a:pPr>
            <a:r>
              <a:rPr lang="en-US" dirty="0"/>
              <a:t>    }</a:t>
            </a:r>
          </a:p>
          <a:p>
            <a:pPr marL="0" indent="0">
              <a:buNone/>
            </a:pPr>
            <a:r>
              <a:rPr lang="en-US" dirty="0"/>
              <a:t>}</a:t>
            </a:r>
          </a:p>
          <a:p>
            <a:pPr marL="0" indent="0">
              <a:buNone/>
            </a:pPr>
            <a:endParaRPr lang="en-US" dirty="0"/>
          </a:p>
          <a:p>
            <a:pPr marL="0" indent="0">
              <a:buNone/>
            </a:pPr>
            <a:r>
              <a:rPr lang="en-US" dirty="0"/>
              <a:t>class </a:t>
            </a:r>
            <a:r>
              <a:rPr lang="en-US" dirty="0" err="1"/>
              <a:t>AnonymousDemo</a:t>
            </a:r>
            <a:r>
              <a:rPr lang="en-US" dirty="0"/>
              <a:t> {</a:t>
            </a:r>
          </a:p>
          <a:p>
            <a:pPr marL="0" indent="0">
              <a:buNone/>
            </a:pPr>
            <a:r>
              <a:rPr lang="en-US" dirty="0"/>
              <a:t>    public void </a:t>
            </a:r>
            <a:r>
              <a:rPr lang="en-US" dirty="0" err="1"/>
              <a:t>createClass</a:t>
            </a:r>
            <a:r>
              <a:rPr lang="en-US" dirty="0"/>
              <a:t>() {</a:t>
            </a:r>
          </a:p>
          <a:p>
            <a:pPr marL="0" indent="0">
              <a:buNone/>
            </a:pPr>
            <a:endParaRPr lang="en-US" dirty="0"/>
          </a:p>
          <a:p>
            <a:pPr marL="0" indent="0">
              <a:buNone/>
            </a:pPr>
            <a:r>
              <a:rPr lang="en-US" dirty="0"/>
              <a:t>        // creation of anonymous class extending class Polygon</a:t>
            </a:r>
          </a:p>
          <a:p>
            <a:pPr marL="0" indent="0">
              <a:buNone/>
            </a:pPr>
            <a:r>
              <a:rPr lang="en-US" dirty="0"/>
              <a:t>        Polygon p1 = new Polygon() {</a:t>
            </a:r>
          </a:p>
          <a:p>
            <a:pPr marL="0" indent="0">
              <a:buNone/>
            </a:pPr>
            <a:r>
              <a:rPr lang="en-US" dirty="0"/>
              <a:t>            public void display() {</a:t>
            </a:r>
          </a:p>
          <a:p>
            <a:pPr marL="0" indent="0">
              <a:buNone/>
            </a:pPr>
            <a:r>
              <a:rPr lang="en-US" dirty="0"/>
              <a:t>                </a:t>
            </a:r>
            <a:r>
              <a:rPr lang="en-US" dirty="0" err="1"/>
              <a:t>System.out.println</a:t>
            </a:r>
            <a:r>
              <a:rPr lang="en-US" dirty="0"/>
              <a:t>("Inside an anonymous class.");</a:t>
            </a:r>
          </a:p>
          <a:p>
            <a:pPr marL="0" indent="0">
              <a:buNone/>
            </a:pPr>
            <a:r>
              <a:rPr lang="en-US" dirty="0"/>
              <a:t>            }</a:t>
            </a:r>
          </a:p>
          <a:p>
            <a:pPr marL="0" indent="0">
              <a:buNone/>
            </a:pPr>
            <a:r>
              <a:rPr lang="en-US" dirty="0"/>
              <a:t>        };</a:t>
            </a:r>
          </a:p>
          <a:p>
            <a:pPr marL="0" indent="0">
              <a:buNone/>
            </a:pPr>
            <a:r>
              <a:rPr lang="en-US" dirty="0"/>
              <a:t>        p1.display();</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979100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 1: Anonymous Class (Extending Class)</a:t>
            </a:r>
          </a:p>
        </p:txBody>
      </p:sp>
      <p:sp>
        <p:nvSpPr>
          <p:cNvPr id="3" name="Content Placeholder 2"/>
          <p:cNvSpPr>
            <a:spLocks noGrp="1"/>
          </p:cNvSpPr>
          <p:nvPr>
            <p:ph sz="quarter" idx="1"/>
          </p:nvPr>
        </p:nvSpPr>
        <p:spPr/>
        <p:txBody>
          <a:bodyPr/>
          <a:lstStyle/>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AnonymousDemo</a:t>
            </a:r>
            <a:r>
              <a:rPr lang="en-US" dirty="0"/>
              <a:t> an = new </a:t>
            </a:r>
            <a:r>
              <a:rPr lang="en-US" dirty="0" err="1"/>
              <a:t>AnonymousDemo</a:t>
            </a:r>
            <a:r>
              <a:rPr lang="en-US" dirty="0"/>
              <a:t>();</a:t>
            </a:r>
          </a:p>
          <a:p>
            <a:pPr marL="0" indent="0">
              <a:buNone/>
            </a:pPr>
            <a:r>
              <a:rPr lang="en-US" dirty="0"/>
              <a:t>        </a:t>
            </a:r>
            <a:r>
              <a:rPr lang="en-US" dirty="0" err="1"/>
              <a:t>an.createClass</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404168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 1: Anonymous Class (Extending Class)</a:t>
            </a:r>
          </a:p>
        </p:txBody>
      </p:sp>
      <p:sp>
        <p:nvSpPr>
          <p:cNvPr id="3" name="Content Placeholder 2"/>
          <p:cNvSpPr>
            <a:spLocks noGrp="1"/>
          </p:cNvSpPr>
          <p:nvPr>
            <p:ph sz="quarter" idx="1"/>
          </p:nvPr>
        </p:nvSpPr>
        <p:spPr/>
        <p:txBody>
          <a:bodyPr/>
          <a:lstStyle/>
          <a:p>
            <a:r>
              <a:rPr lang="en-US" dirty="0"/>
              <a:t>In the above example, we have created a </a:t>
            </a:r>
            <a:r>
              <a:rPr lang="en-US" dirty="0" smtClean="0"/>
              <a:t>class Polygon</a:t>
            </a:r>
            <a:r>
              <a:rPr lang="en-US" dirty="0"/>
              <a:t>. It has a single </a:t>
            </a:r>
            <a:r>
              <a:rPr lang="en-US" dirty="0" smtClean="0"/>
              <a:t>method display().</a:t>
            </a:r>
          </a:p>
          <a:p>
            <a:r>
              <a:rPr lang="en-US" dirty="0"/>
              <a:t>We then created an anonymous class that extends the class </a:t>
            </a:r>
            <a:r>
              <a:rPr lang="en-US" dirty="0" smtClean="0"/>
              <a:t> Polygon </a:t>
            </a:r>
            <a:r>
              <a:rPr lang="en-US" dirty="0"/>
              <a:t>and overrides </a:t>
            </a:r>
            <a:r>
              <a:rPr lang="en-US" dirty="0" smtClean="0"/>
              <a:t>the display() method.</a:t>
            </a:r>
          </a:p>
          <a:p>
            <a:r>
              <a:rPr lang="en-US" dirty="0"/>
              <a:t>When we run the program, an </a:t>
            </a:r>
            <a:r>
              <a:rPr lang="en-US" dirty="0" smtClean="0"/>
              <a:t>object p1 </a:t>
            </a:r>
            <a:r>
              <a:rPr lang="en-US" dirty="0"/>
              <a:t>of the anonymous class is created. The object then calls </a:t>
            </a:r>
            <a:r>
              <a:rPr lang="en-US" dirty="0" smtClean="0"/>
              <a:t>the display() </a:t>
            </a:r>
            <a:r>
              <a:rPr lang="en-US" dirty="0"/>
              <a:t>method of the anonymous class.</a:t>
            </a:r>
          </a:p>
        </p:txBody>
      </p:sp>
    </p:spTree>
    <p:extLst>
      <p:ext uri="{BB962C8B-B14F-4D97-AF65-F5344CB8AC3E}">
        <p14:creationId xmlns:p14="http://schemas.microsoft.com/office/powerpoint/2010/main" val="607355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 Implementing an </a:t>
            </a:r>
            <a:r>
              <a:rPr lang="en-US" dirty="0" smtClean="0"/>
              <a:t>Interface</a:t>
            </a:r>
            <a:endParaRPr lang="en-US" dirty="0"/>
          </a:p>
        </p:txBody>
      </p:sp>
      <p:sp>
        <p:nvSpPr>
          <p:cNvPr id="3" name="Content Placeholder 2"/>
          <p:cNvSpPr>
            <a:spLocks noGrp="1"/>
          </p:cNvSpPr>
          <p:nvPr>
            <p:ph sz="quarter" idx="1"/>
          </p:nvPr>
        </p:nvSpPr>
        <p:spPr>
          <a:xfrm>
            <a:off x="914400" y="990600"/>
            <a:ext cx="7772400" cy="5486400"/>
          </a:xfrm>
        </p:spPr>
        <p:txBody>
          <a:bodyPr>
            <a:normAutofit fontScale="77500" lnSpcReduction="20000"/>
          </a:bodyPr>
          <a:lstStyle/>
          <a:p>
            <a:pPr marL="0" indent="0">
              <a:buNone/>
            </a:pPr>
            <a:r>
              <a:rPr lang="en-US" dirty="0"/>
              <a:t>interface Polygon {</a:t>
            </a:r>
          </a:p>
          <a:p>
            <a:pPr marL="0" indent="0">
              <a:buNone/>
            </a:pPr>
            <a:r>
              <a:rPr lang="en-US" dirty="0"/>
              <a:t>    public void display();</a:t>
            </a:r>
          </a:p>
          <a:p>
            <a:pPr marL="0" indent="0">
              <a:buNone/>
            </a:pPr>
            <a:r>
              <a:rPr lang="en-US" dirty="0"/>
              <a:t>}</a:t>
            </a:r>
          </a:p>
          <a:p>
            <a:pPr marL="0" indent="0">
              <a:buNone/>
            </a:pPr>
            <a:endParaRPr lang="en-US" dirty="0"/>
          </a:p>
          <a:p>
            <a:pPr marL="0" indent="0">
              <a:buNone/>
            </a:pPr>
            <a:r>
              <a:rPr lang="en-US" dirty="0"/>
              <a:t>class </a:t>
            </a:r>
            <a:r>
              <a:rPr lang="en-US" dirty="0" err="1"/>
              <a:t>AnonymousDemo</a:t>
            </a:r>
            <a:r>
              <a:rPr lang="en-US" dirty="0"/>
              <a:t> {</a:t>
            </a:r>
          </a:p>
          <a:p>
            <a:pPr marL="0" indent="0">
              <a:buNone/>
            </a:pPr>
            <a:r>
              <a:rPr lang="en-US" dirty="0"/>
              <a:t>    public void </a:t>
            </a:r>
            <a:r>
              <a:rPr lang="en-US" dirty="0" err="1"/>
              <a:t>createClass</a:t>
            </a:r>
            <a:r>
              <a:rPr lang="en-US" dirty="0"/>
              <a:t>() {</a:t>
            </a:r>
          </a:p>
          <a:p>
            <a:pPr marL="0" indent="0">
              <a:buNone/>
            </a:pPr>
            <a:endParaRPr lang="en-US" dirty="0"/>
          </a:p>
          <a:p>
            <a:pPr marL="0" indent="0">
              <a:buNone/>
            </a:pPr>
            <a:r>
              <a:rPr lang="en-US" dirty="0"/>
              <a:t>        // anonymous class implementing interface</a:t>
            </a:r>
          </a:p>
          <a:p>
            <a:pPr marL="0" indent="0">
              <a:buNone/>
            </a:pPr>
            <a:r>
              <a:rPr lang="en-US" dirty="0"/>
              <a:t>        Polygon p1 = new Polygon() {</a:t>
            </a:r>
          </a:p>
          <a:p>
            <a:pPr marL="0" indent="0">
              <a:buNone/>
            </a:pPr>
            <a:r>
              <a:rPr lang="en-US" dirty="0"/>
              <a:t>            public void display() {</a:t>
            </a:r>
          </a:p>
          <a:p>
            <a:pPr marL="0" indent="0">
              <a:buNone/>
            </a:pPr>
            <a:r>
              <a:rPr lang="en-US" dirty="0"/>
              <a:t>                </a:t>
            </a:r>
            <a:r>
              <a:rPr lang="en-US" dirty="0" err="1"/>
              <a:t>System.out.println</a:t>
            </a:r>
            <a:r>
              <a:rPr lang="en-US" dirty="0"/>
              <a:t>("Inside an anonymous class.");</a:t>
            </a:r>
          </a:p>
          <a:p>
            <a:pPr marL="0" indent="0">
              <a:buNone/>
            </a:pPr>
            <a:r>
              <a:rPr lang="en-US" dirty="0"/>
              <a:t>            }</a:t>
            </a:r>
          </a:p>
          <a:p>
            <a:pPr marL="0" indent="0">
              <a:buNone/>
            </a:pPr>
            <a:r>
              <a:rPr lang="en-US" dirty="0"/>
              <a:t>        };</a:t>
            </a:r>
          </a:p>
          <a:p>
            <a:pPr marL="0" indent="0">
              <a:buNone/>
            </a:pPr>
            <a:r>
              <a:rPr lang="en-US" dirty="0"/>
              <a:t>        p1.display();</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147295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 Implementing an Interface</a:t>
            </a:r>
          </a:p>
        </p:txBody>
      </p:sp>
      <p:sp>
        <p:nvSpPr>
          <p:cNvPr id="3" name="Content Placeholder 2"/>
          <p:cNvSpPr>
            <a:spLocks noGrp="1"/>
          </p:cNvSpPr>
          <p:nvPr>
            <p:ph sz="quarter" idx="1"/>
          </p:nvPr>
        </p:nvSpPr>
        <p:spPr/>
        <p:txBody>
          <a:bodyPr/>
          <a:lstStyle/>
          <a:p>
            <a:pPr marL="0" indent="0">
              <a:buNone/>
            </a:pPr>
            <a:r>
              <a:rPr lang="en-US" dirty="0"/>
              <a:t>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AnonymousDemo</a:t>
            </a:r>
            <a:r>
              <a:rPr lang="en-US" dirty="0"/>
              <a:t> an = new </a:t>
            </a:r>
            <a:r>
              <a:rPr lang="en-US" dirty="0" err="1"/>
              <a:t>AnonymousDemo</a:t>
            </a:r>
            <a:r>
              <a:rPr lang="en-US" dirty="0"/>
              <a:t>();</a:t>
            </a:r>
          </a:p>
          <a:p>
            <a:pPr marL="0" indent="0">
              <a:buNone/>
            </a:pPr>
            <a:r>
              <a:rPr lang="en-US" dirty="0"/>
              <a:t>        </a:t>
            </a:r>
            <a:r>
              <a:rPr lang="en-US" dirty="0" err="1"/>
              <a:t>an.createClass</a:t>
            </a:r>
            <a:r>
              <a:rPr lang="en-US" dirty="0"/>
              <a:t>();</a:t>
            </a:r>
          </a:p>
          <a:p>
            <a:pPr marL="0" indent="0">
              <a:buNone/>
            </a:pPr>
            <a:r>
              <a:rPr lang="en-US" dirty="0"/>
              <a:t>    }</a:t>
            </a:r>
          </a:p>
          <a:p>
            <a:pPr marL="0" indent="0">
              <a:buNone/>
            </a:pPr>
            <a:r>
              <a:rPr lang="en-US" dirty="0" smtClean="0"/>
              <a:t>}</a:t>
            </a:r>
            <a:endParaRPr lang="en-US" dirty="0"/>
          </a:p>
          <a:p>
            <a:pPr marL="0" indent="0">
              <a:buNone/>
            </a:pPr>
            <a:r>
              <a:rPr lang="en-US" dirty="0"/>
              <a:t>In the above example, we have created an anonymous class that implements </a:t>
            </a:r>
            <a:r>
              <a:rPr lang="en-US" dirty="0" smtClean="0"/>
              <a:t>the Polygon Interface.</a:t>
            </a:r>
            <a:endParaRPr lang="en-US" dirty="0"/>
          </a:p>
        </p:txBody>
      </p:sp>
    </p:spTree>
    <p:extLst>
      <p:ext uri="{BB962C8B-B14F-4D97-AF65-F5344CB8AC3E}">
        <p14:creationId xmlns:p14="http://schemas.microsoft.com/office/powerpoint/2010/main" val="4149979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 in </a:t>
            </a:r>
            <a:r>
              <a:rPr lang="en-US" dirty="0" smtClean="0"/>
              <a:t>Java</a:t>
            </a:r>
            <a:endParaRPr lang="en-US" dirty="0"/>
          </a:p>
        </p:txBody>
      </p:sp>
      <p:sp>
        <p:nvSpPr>
          <p:cNvPr id="3" name="Content Placeholder 2"/>
          <p:cNvSpPr>
            <a:spLocks noGrp="1"/>
          </p:cNvSpPr>
          <p:nvPr>
            <p:ph sz="quarter" idx="1"/>
          </p:nvPr>
        </p:nvSpPr>
        <p:spPr>
          <a:xfrm>
            <a:off x="914400" y="990600"/>
            <a:ext cx="7772400" cy="5715000"/>
          </a:xfrm>
        </p:spPr>
        <p:txBody>
          <a:bodyPr>
            <a:normAutofit/>
          </a:bodyPr>
          <a:lstStyle/>
          <a:p>
            <a:r>
              <a:rPr lang="en-US" dirty="0"/>
              <a:t>An abstract class in Java is one that is declared with the abstract keyword</a:t>
            </a:r>
            <a:r>
              <a:rPr lang="en-US" dirty="0" smtClean="0"/>
              <a:t>.</a:t>
            </a:r>
          </a:p>
          <a:p>
            <a:r>
              <a:rPr lang="en-US" dirty="0"/>
              <a:t>It may have both abstract and non-abstract methods(methods with bodies</a:t>
            </a:r>
            <a:r>
              <a:rPr lang="en-US" dirty="0" smtClean="0"/>
              <a:t>).</a:t>
            </a:r>
          </a:p>
          <a:p>
            <a:r>
              <a:rPr lang="en-US" dirty="0"/>
              <a:t>An abstract is a java modifier applicable for classes and methods in java but</a:t>
            </a:r>
            <a:r>
              <a:rPr lang="en-US" i="1" dirty="0"/>
              <a:t> not for Variables</a:t>
            </a:r>
            <a:r>
              <a:rPr lang="en-US" dirty="0"/>
              <a:t>. </a:t>
            </a:r>
            <a:endParaRPr lang="en-US" dirty="0" smtClean="0"/>
          </a:p>
          <a:p>
            <a:r>
              <a:rPr lang="en-US" dirty="0"/>
              <a:t>Java abstract class is a class that can not be initiated by itself, it needs to be </a:t>
            </a:r>
            <a:r>
              <a:rPr lang="en-US" dirty="0" err="1"/>
              <a:t>subclassed</a:t>
            </a:r>
            <a:r>
              <a:rPr lang="en-US" dirty="0"/>
              <a:t> by another class to use its properties. </a:t>
            </a:r>
            <a:endParaRPr lang="en-US" dirty="0" smtClean="0"/>
          </a:p>
          <a:p>
            <a:r>
              <a:rPr lang="en-US" dirty="0"/>
              <a:t>An abstract class is declared using the “abstract” keyword in its class definition.</a:t>
            </a:r>
            <a:endParaRPr lang="en-US" dirty="0"/>
          </a:p>
        </p:txBody>
      </p:sp>
    </p:spTree>
    <p:extLst>
      <p:ext uri="{BB962C8B-B14F-4D97-AF65-F5344CB8AC3E}">
        <p14:creationId xmlns:p14="http://schemas.microsoft.com/office/powerpoint/2010/main" val="904366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 in Java</a:t>
            </a:r>
          </a:p>
        </p:txBody>
      </p:sp>
      <p:sp>
        <p:nvSpPr>
          <p:cNvPr id="3" name="Content Placeholder 2"/>
          <p:cNvSpPr>
            <a:spLocks noGrp="1"/>
          </p:cNvSpPr>
          <p:nvPr>
            <p:ph sz="quarter" idx="1"/>
          </p:nvPr>
        </p:nvSpPr>
        <p:spPr/>
        <p:txBody>
          <a:bodyPr/>
          <a:lstStyle/>
          <a:p>
            <a:pPr marL="0" indent="0">
              <a:buNone/>
            </a:pPr>
            <a:r>
              <a:rPr lang="en-US" dirty="0"/>
              <a:t>abstract class Shape {</a:t>
            </a:r>
          </a:p>
          <a:p>
            <a:pPr marL="0" indent="0">
              <a:buNone/>
            </a:pPr>
            <a:r>
              <a:rPr lang="en-US" dirty="0"/>
              <a:t>    </a:t>
            </a:r>
            <a:r>
              <a:rPr lang="en-US" dirty="0" err="1"/>
              <a:t>int</a:t>
            </a:r>
            <a:r>
              <a:rPr lang="en-US" dirty="0"/>
              <a:t> color;</a:t>
            </a:r>
          </a:p>
          <a:p>
            <a:pPr marL="0" indent="0">
              <a:buNone/>
            </a:pPr>
            <a:r>
              <a:rPr lang="en-US" dirty="0"/>
              <a:t>    // An abstract function</a:t>
            </a:r>
          </a:p>
          <a:p>
            <a:pPr marL="0" indent="0">
              <a:buNone/>
            </a:pPr>
            <a:r>
              <a:rPr lang="en-US" dirty="0"/>
              <a:t>    abstract void draw();</a:t>
            </a:r>
          </a:p>
          <a:p>
            <a:pPr marL="0" indent="0">
              <a:buNone/>
            </a:pPr>
            <a:r>
              <a:rPr lang="en-US" dirty="0"/>
              <a:t>}</a:t>
            </a:r>
          </a:p>
        </p:txBody>
      </p:sp>
    </p:spTree>
    <p:extLst>
      <p:ext uri="{BB962C8B-B14F-4D97-AF65-F5344CB8AC3E}">
        <p14:creationId xmlns:p14="http://schemas.microsoft.com/office/powerpoint/2010/main" val="316456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 in Java</a:t>
            </a:r>
          </a:p>
        </p:txBody>
      </p:sp>
      <p:sp>
        <p:nvSpPr>
          <p:cNvPr id="3" name="Content Placeholder 2"/>
          <p:cNvSpPr>
            <a:spLocks noGrp="1"/>
          </p:cNvSpPr>
          <p:nvPr>
            <p:ph sz="quarter" idx="1"/>
          </p:nvPr>
        </p:nvSpPr>
        <p:spPr>
          <a:xfrm>
            <a:off x="949657" y="1143000"/>
            <a:ext cx="7772400" cy="5562600"/>
          </a:xfrm>
        </p:spPr>
        <p:txBody>
          <a:bodyPr>
            <a:normAutofit fontScale="92500" lnSpcReduction="10000"/>
          </a:bodyPr>
          <a:lstStyle/>
          <a:p>
            <a:pPr>
              <a:lnSpc>
                <a:spcPct val="160000"/>
              </a:lnSpc>
            </a:pPr>
            <a:r>
              <a:rPr lang="en-US" dirty="0"/>
              <a:t>An instance of an abstract class can not be created.</a:t>
            </a:r>
          </a:p>
          <a:p>
            <a:pPr fontAlgn="base">
              <a:lnSpc>
                <a:spcPct val="160000"/>
              </a:lnSpc>
            </a:pPr>
            <a:r>
              <a:rPr lang="en-US" dirty="0"/>
              <a:t>Constructors are allowed.</a:t>
            </a:r>
          </a:p>
          <a:p>
            <a:pPr fontAlgn="base">
              <a:lnSpc>
                <a:spcPct val="160000"/>
              </a:lnSpc>
            </a:pPr>
            <a:r>
              <a:rPr lang="en-US" dirty="0"/>
              <a:t>We can have an abstract class without any abstract method.</a:t>
            </a:r>
          </a:p>
          <a:p>
            <a:pPr fontAlgn="base">
              <a:lnSpc>
                <a:spcPct val="160000"/>
              </a:lnSpc>
            </a:pPr>
            <a:r>
              <a:rPr lang="en-US" dirty="0"/>
              <a:t>There can be a </a:t>
            </a:r>
            <a:r>
              <a:rPr lang="en-US" b="1" dirty="0"/>
              <a:t>final method</a:t>
            </a:r>
            <a:r>
              <a:rPr lang="en-US" dirty="0"/>
              <a:t> in abstract class but any abstract method in class(abstract class) can not be declared as final  or in simpler terms final method can not be abstract itself as it will yield an error: “Illegal combination of modifiers: abstract and final</a:t>
            </a:r>
            <a:r>
              <a:rPr lang="en-US" dirty="0" smtClean="0"/>
              <a:t>”</a:t>
            </a:r>
            <a:endParaRPr lang="en-US" dirty="0"/>
          </a:p>
        </p:txBody>
      </p:sp>
    </p:spTree>
    <p:extLst>
      <p:ext uri="{BB962C8B-B14F-4D97-AF65-F5344CB8AC3E}">
        <p14:creationId xmlns:p14="http://schemas.microsoft.com/office/powerpoint/2010/main" val="421963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 Class in Java</a:t>
            </a:r>
          </a:p>
        </p:txBody>
      </p:sp>
      <p:sp>
        <p:nvSpPr>
          <p:cNvPr id="3" name="Content Placeholder 2"/>
          <p:cNvSpPr>
            <a:spLocks noGrp="1"/>
          </p:cNvSpPr>
          <p:nvPr>
            <p:ph sz="quarter" idx="1"/>
          </p:nvPr>
        </p:nvSpPr>
        <p:spPr>
          <a:xfrm>
            <a:off x="914400" y="990600"/>
            <a:ext cx="7772400" cy="5562600"/>
          </a:xfrm>
        </p:spPr>
        <p:txBody>
          <a:bodyPr>
            <a:normAutofit/>
          </a:bodyPr>
          <a:lstStyle/>
          <a:p>
            <a:pPr fontAlgn="base"/>
            <a:r>
              <a:rPr lang="en-US" dirty="0"/>
              <a:t>We can define static methods in an abstract class</a:t>
            </a:r>
          </a:p>
          <a:p>
            <a:pPr fontAlgn="base"/>
            <a:r>
              <a:rPr lang="en-US" dirty="0"/>
              <a:t>We can use the </a:t>
            </a:r>
            <a:r>
              <a:rPr lang="en-US" b="1" dirty="0"/>
              <a:t>abstract keyword</a:t>
            </a:r>
            <a:r>
              <a:rPr lang="en-US" dirty="0"/>
              <a:t> for declaring </a:t>
            </a:r>
            <a:r>
              <a:rPr lang="en-US" b="1" i="1" dirty="0"/>
              <a:t>top-level classes (Outer class) as well as inner classes</a:t>
            </a:r>
            <a:r>
              <a:rPr lang="en-US" dirty="0"/>
              <a:t> as abstract</a:t>
            </a:r>
          </a:p>
          <a:p>
            <a:pPr fontAlgn="base"/>
            <a:r>
              <a:rPr lang="en-US" dirty="0"/>
              <a:t>If a</a:t>
            </a:r>
            <a:r>
              <a:rPr lang="en-US" b="1" dirty="0"/>
              <a:t> class</a:t>
            </a:r>
            <a:r>
              <a:rPr lang="en-US" dirty="0"/>
              <a:t> contains at least </a:t>
            </a:r>
            <a:r>
              <a:rPr lang="en-US" b="1" dirty="0"/>
              <a:t>one abstract method </a:t>
            </a:r>
            <a:r>
              <a:rPr lang="en-US" dirty="0"/>
              <a:t>then compulsory should declare a class as abstract </a:t>
            </a:r>
          </a:p>
          <a:p>
            <a:pPr fontAlgn="base"/>
            <a:r>
              <a:rPr lang="en-US" dirty="0"/>
              <a:t>If the</a:t>
            </a:r>
            <a:r>
              <a:rPr lang="en-US" b="1" dirty="0"/>
              <a:t> Child class</a:t>
            </a:r>
            <a:r>
              <a:rPr lang="en-US" dirty="0"/>
              <a:t> is unable to provide implementation to all abstract methods of the</a:t>
            </a:r>
            <a:r>
              <a:rPr lang="en-US" b="1" dirty="0"/>
              <a:t> Parent class </a:t>
            </a:r>
            <a:r>
              <a:rPr lang="en-US" dirty="0"/>
              <a:t>then we should declare that </a:t>
            </a:r>
            <a:r>
              <a:rPr lang="en-US" b="1" dirty="0"/>
              <a:t>Child class as abstract </a:t>
            </a:r>
            <a:r>
              <a:rPr lang="en-US" dirty="0"/>
              <a:t>so that the next level Child class should provide implementation to the remaining abstract method</a:t>
            </a:r>
          </a:p>
          <a:p>
            <a:endParaRPr lang="en-US" dirty="0"/>
          </a:p>
        </p:txBody>
      </p:sp>
    </p:spTree>
    <p:extLst>
      <p:ext uri="{BB962C8B-B14F-4D97-AF65-F5344CB8AC3E}">
        <p14:creationId xmlns:p14="http://schemas.microsoft.com/office/powerpoint/2010/main" val="1598564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Abstract Class in </a:t>
            </a:r>
            <a:r>
              <a:rPr lang="en-US" dirty="0" smtClean="0"/>
              <a:t>Java</a:t>
            </a:r>
            <a:endParaRPr lang="en-US" dirty="0"/>
          </a:p>
        </p:txBody>
      </p:sp>
      <p:sp>
        <p:nvSpPr>
          <p:cNvPr id="3" name="Content Placeholder 2"/>
          <p:cNvSpPr>
            <a:spLocks noGrp="1"/>
          </p:cNvSpPr>
          <p:nvPr>
            <p:ph sz="quarter" idx="1"/>
          </p:nvPr>
        </p:nvSpPr>
        <p:spPr>
          <a:xfrm>
            <a:off x="914400" y="990600"/>
            <a:ext cx="7772400" cy="5486400"/>
          </a:xfrm>
        </p:spPr>
        <p:txBody>
          <a:bodyPr>
            <a:normAutofit fontScale="70000" lnSpcReduction="20000"/>
          </a:bodyPr>
          <a:lstStyle/>
          <a:p>
            <a:pPr marL="0" indent="0">
              <a:buNone/>
            </a:pPr>
            <a:r>
              <a:rPr lang="en-US" dirty="0"/>
              <a:t>// Abstract class</a:t>
            </a:r>
          </a:p>
          <a:p>
            <a:pPr marL="0" indent="0">
              <a:buNone/>
            </a:pPr>
            <a:r>
              <a:rPr lang="en-US" dirty="0"/>
              <a:t>abstract class </a:t>
            </a:r>
            <a:r>
              <a:rPr lang="en-US" dirty="0" err="1"/>
              <a:t>Sunstar</a:t>
            </a:r>
            <a:r>
              <a:rPr lang="en-US" dirty="0"/>
              <a:t> {</a:t>
            </a:r>
          </a:p>
          <a:p>
            <a:pPr marL="0" indent="0">
              <a:buNone/>
            </a:pPr>
            <a:r>
              <a:rPr lang="en-US" dirty="0"/>
              <a:t>    abstract void </a:t>
            </a:r>
            <a:r>
              <a:rPr lang="en-US" dirty="0" err="1"/>
              <a:t>printInfo</a:t>
            </a:r>
            <a:r>
              <a:rPr lang="en-US" dirty="0"/>
              <a:t>();</a:t>
            </a:r>
          </a:p>
          <a:p>
            <a:pPr marL="0" indent="0">
              <a:buNone/>
            </a:pPr>
            <a:r>
              <a:rPr lang="en-US" dirty="0" smtClean="0"/>
              <a:t>}</a:t>
            </a:r>
          </a:p>
          <a:p>
            <a:pPr marL="0" indent="0">
              <a:buNone/>
            </a:pPr>
            <a:r>
              <a:rPr lang="en-US" dirty="0"/>
              <a:t>// Abstraction performed using extends</a:t>
            </a:r>
          </a:p>
          <a:p>
            <a:pPr marL="0" indent="0">
              <a:buNone/>
            </a:pPr>
            <a:r>
              <a:rPr lang="en-US" dirty="0"/>
              <a:t>class Employee extends </a:t>
            </a:r>
            <a:r>
              <a:rPr lang="en-US" dirty="0" err="1"/>
              <a:t>Sunstar</a:t>
            </a:r>
            <a:r>
              <a:rPr lang="en-US" dirty="0"/>
              <a:t> {</a:t>
            </a:r>
          </a:p>
          <a:p>
            <a:pPr marL="0" indent="0">
              <a:buNone/>
            </a:pPr>
            <a:r>
              <a:rPr lang="en-US" dirty="0"/>
              <a:t>    void </a:t>
            </a:r>
            <a:r>
              <a:rPr lang="en-US" dirty="0" err="1"/>
              <a:t>printInfo</a:t>
            </a:r>
            <a:r>
              <a:rPr lang="en-US" dirty="0"/>
              <a:t>() {</a:t>
            </a:r>
          </a:p>
          <a:p>
            <a:pPr marL="0" indent="0">
              <a:buNone/>
            </a:pPr>
            <a:r>
              <a:rPr lang="en-US" dirty="0"/>
              <a:t>        String name = "</a:t>
            </a:r>
            <a:r>
              <a:rPr lang="en-US" dirty="0" err="1"/>
              <a:t>avinash</a:t>
            </a:r>
            <a:r>
              <a:rPr lang="en-US" dirty="0"/>
              <a:t>";</a:t>
            </a:r>
          </a:p>
          <a:p>
            <a:pPr marL="0" indent="0">
              <a:buNone/>
            </a:pPr>
            <a:r>
              <a:rPr lang="en-US" dirty="0"/>
              <a:t>        </a:t>
            </a:r>
            <a:r>
              <a:rPr lang="en-US" dirty="0" err="1"/>
              <a:t>int</a:t>
            </a:r>
            <a:r>
              <a:rPr lang="en-US" dirty="0"/>
              <a:t> age = 21;</a:t>
            </a:r>
          </a:p>
          <a:p>
            <a:pPr marL="0" indent="0">
              <a:buNone/>
            </a:pPr>
            <a:r>
              <a:rPr lang="en-US" dirty="0"/>
              <a:t>        float salary = 222.2 F;</a:t>
            </a:r>
          </a:p>
          <a:p>
            <a:pPr marL="0" indent="0">
              <a:buNone/>
            </a:pPr>
            <a:endParaRPr lang="en-US" dirty="0"/>
          </a:p>
          <a:p>
            <a:pPr marL="0" indent="0">
              <a:buNone/>
            </a:pPr>
            <a:r>
              <a:rPr lang="en-US" dirty="0"/>
              <a:t>        </a:t>
            </a:r>
            <a:r>
              <a:rPr lang="en-US" dirty="0" err="1"/>
              <a:t>System.out.println</a:t>
            </a:r>
            <a:r>
              <a:rPr lang="en-US" dirty="0"/>
              <a:t>(name);</a:t>
            </a:r>
          </a:p>
          <a:p>
            <a:pPr marL="0" indent="0">
              <a:buNone/>
            </a:pPr>
            <a:r>
              <a:rPr lang="en-US" dirty="0"/>
              <a:t>        </a:t>
            </a:r>
            <a:r>
              <a:rPr lang="en-US" dirty="0" err="1"/>
              <a:t>System.out.println</a:t>
            </a:r>
            <a:r>
              <a:rPr lang="en-US" dirty="0"/>
              <a:t>(age);</a:t>
            </a:r>
          </a:p>
          <a:p>
            <a:pPr marL="0" indent="0">
              <a:buNone/>
            </a:pPr>
            <a:r>
              <a:rPr lang="en-US" dirty="0"/>
              <a:t>        </a:t>
            </a:r>
            <a:r>
              <a:rPr lang="en-US" dirty="0" err="1"/>
              <a:t>System.out.println</a:t>
            </a:r>
            <a:r>
              <a:rPr lang="en-US" dirty="0"/>
              <a:t>(salary);</a:t>
            </a:r>
          </a:p>
          <a:p>
            <a:pPr marL="0" indent="0">
              <a:buNone/>
            </a:pPr>
            <a:endParaRPr lang="en-US" dirty="0"/>
          </a:p>
          <a:p>
            <a:pPr marL="0" indent="0">
              <a:buNone/>
            </a:pPr>
            <a:r>
              <a:rPr lang="en-US" dirty="0"/>
              <a:t>    }</a:t>
            </a:r>
          </a:p>
          <a:p>
            <a:pPr marL="0" indent="0">
              <a:buNone/>
            </a:pPr>
            <a:endParaRPr lang="en-US" dirty="0"/>
          </a:p>
          <a:p>
            <a:pPr marL="0" indent="0">
              <a:buNone/>
            </a:pPr>
            <a:r>
              <a:rPr lang="en-US" dirty="0"/>
              <a:t>}</a:t>
            </a:r>
          </a:p>
        </p:txBody>
      </p:sp>
    </p:spTree>
    <p:extLst>
      <p:ext uri="{BB962C8B-B14F-4D97-AF65-F5344CB8AC3E}">
        <p14:creationId xmlns:p14="http://schemas.microsoft.com/office/powerpoint/2010/main" val="16626116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Abstract Class in Java</a:t>
            </a:r>
          </a:p>
        </p:txBody>
      </p:sp>
      <p:sp>
        <p:nvSpPr>
          <p:cNvPr id="3" name="Content Placeholder 2"/>
          <p:cNvSpPr>
            <a:spLocks noGrp="1"/>
          </p:cNvSpPr>
          <p:nvPr>
            <p:ph sz="quarter" idx="1"/>
          </p:nvPr>
        </p:nvSpPr>
        <p:spPr/>
        <p:txBody>
          <a:bodyPr/>
          <a:lstStyle/>
          <a:p>
            <a:pPr marL="0" indent="0">
              <a:buNone/>
            </a:pPr>
            <a:r>
              <a:rPr lang="en-US" dirty="0"/>
              <a:t>// Base class</a:t>
            </a:r>
          </a:p>
          <a:p>
            <a:pPr marL="0" indent="0">
              <a:buNone/>
            </a:pPr>
            <a:r>
              <a:rPr lang="en-US" dirty="0"/>
              <a:t>class Base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Sunstar</a:t>
            </a:r>
            <a:r>
              <a:rPr lang="en-US" dirty="0"/>
              <a:t> s = new Employee();</a:t>
            </a:r>
          </a:p>
          <a:p>
            <a:pPr marL="0" indent="0">
              <a:buNone/>
            </a:pPr>
            <a:r>
              <a:rPr lang="en-US" dirty="0"/>
              <a:t>        </a:t>
            </a:r>
            <a:r>
              <a:rPr lang="en-US" dirty="0" err="1"/>
              <a:t>s.printInfo</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1524051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a:t>
            </a:r>
            <a:r>
              <a:rPr lang="en-US" dirty="0" smtClean="0"/>
              <a:t>class</a:t>
            </a:r>
            <a:endParaRPr lang="en-US" dirty="0"/>
          </a:p>
        </p:txBody>
      </p:sp>
      <p:sp>
        <p:nvSpPr>
          <p:cNvPr id="3" name="Content Placeholder 2"/>
          <p:cNvSpPr>
            <a:spLocks noGrp="1"/>
          </p:cNvSpPr>
          <p:nvPr>
            <p:ph sz="quarter" idx="1"/>
          </p:nvPr>
        </p:nvSpPr>
        <p:spPr>
          <a:xfrm>
            <a:off x="914400" y="990600"/>
            <a:ext cx="7772400" cy="5562600"/>
          </a:xfrm>
        </p:spPr>
        <p:txBody>
          <a:bodyPr>
            <a:normAutofit lnSpcReduction="10000"/>
          </a:bodyPr>
          <a:lstStyle/>
          <a:p>
            <a:r>
              <a:rPr lang="en-US" b="1" dirty="0"/>
              <a:t>Observation </a:t>
            </a:r>
            <a:r>
              <a:rPr lang="en-US" b="1" dirty="0" smtClean="0"/>
              <a:t>1</a:t>
            </a:r>
            <a:r>
              <a:rPr lang="en-US" dirty="0" smtClean="0"/>
              <a:t>:</a:t>
            </a:r>
          </a:p>
          <a:p>
            <a:pPr lvl="1"/>
            <a:r>
              <a:rPr lang="en-US" dirty="0"/>
              <a:t>In Java, just like in C++ an instance of an abstract class cannot be created, we can have references to abstract class type though. </a:t>
            </a:r>
            <a:endParaRPr lang="en-US" dirty="0" smtClean="0"/>
          </a:p>
          <a:p>
            <a:pPr marL="320040" lvl="1" indent="0">
              <a:buNone/>
            </a:pPr>
            <a:endParaRPr lang="en-US" dirty="0" smtClean="0"/>
          </a:p>
          <a:p>
            <a:pPr marL="320040" lvl="1" indent="0">
              <a:buNone/>
            </a:pPr>
            <a:r>
              <a:rPr lang="en-US" dirty="0"/>
              <a:t>abstract class Base {</a:t>
            </a:r>
          </a:p>
          <a:p>
            <a:pPr marL="320040" lvl="1" indent="0">
              <a:buNone/>
            </a:pPr>
            <a:r>
              <a:rPr lang="en-US" dirty="0"/>
              <a:t>    abstract void fun();</a:t>
            </a:r>
          </a:p>
          <a:p>
            <a:pPr marL="320040" lvl="1" indent="0">
              <a:buNone/>
            </a:pPr>
            <a:r>
              <a:rPr lang="en-US" dirty="0" smtClean="0"/>
              <a:t>}</a:t>
            </a:r>
          </a:p>
          <a:p>
            <a:pPr marL="320040" lvl="1" indent="0">
              <a:buNone/>
            </a:pPr>
            <a:r>
              <a:rPr lang="en-US" dirty="0"/>
              <a:t>// Class 2</a:t>
            </a:r>
          </a:p>
          <a:p>
            <a:pPr marL="320040" lvl="1" indent="0">
              <a:buNone/>
            </a:pPr>
            <a:r>
              <a:rPr lang="en-US" dirty="0"/>
              <a:t>class Derived extends Base {</a:t>
            </a:r>
          </a:p>
          <a:p>
            <a:pPr marL="320040" lvl="1" indent="0">
              <a:buNone/>
            </a:pPr>
            <a:r>
              <a:rPr lang="en-US" dirty="0"/>
              <a:t>    void fun() {</a:t>
            </a:r>
          </a:p>
          <a:p>
            <a:pPr marL="320040" lvl="1" indent="0">
              <a:buNone/>
            </a:pPr>
            <a:r>
              <a:rPr lang="en-US" dirty="0"/>
              <a:t>        </a:t>
            </a:r>
            <a:r>
              <a:rPr lang="en-US" dirty="0" err="1"/>
              <a:t>System.out.println</a:t>
            </a:r>
            <a:r>
              <a:rPr lang="en-US" dirty="0"/>
              <a:t>("Derived fun() called");</a:t>
            </a:r>
          </a:p>
          <a:p>
            <a:pPr marL="320040" lvl="1" indent="0">
              <a:buNone/>
            </a:pPr>
            <a:r>
              <a:rPr lang="en-US" dirty="0"/>
              <a:t>    }</a:t>
            </a:r>
          </a:p>
          <a:p>
            <a:pPr marL="320040" lvl="1" indent="0">
              <a:buNone/>
            </a:pPr>
            <a:r>
              <a:rPr lang="en-US" dirty="0"/>
              <a:t>}</a:t>
            </a:r>
            <a:endParaRPr lang="en-US" dirty="0"/>
          </a:p>
        </p:txBody>
      </p:sp>
    </p:spTree>
    <p:extLst>
      <p:ext uri="{BB962C8B-B14F-4D97-AF65-F5344CB8AC3E}">
        <p14:creationId xmlns:p14="http://schemas.microsoft.com/office/powerpoint/2010/main" val="35678018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class</a:t>
            </a:r>
          </a:p>
        </p:txBody>
      </p:sp>
      <p:sp>
        <p:nvSpPr>
          <p:cNvPr id="3" name="Content Placeholder 2"/>
          <p:cNvSpPr>
            <a:spLocks noGrp="1"/>
          </p:cNvSpPr>
          <p:nvPr>
            <p:ph sz="quarter" idx="1"/>
          </p:nvPr>
        </p:nvSpPr>
        <p:spPr>
          <a:xfrm>
            <a:off x="914400" y="990600"/>
            <a:ext cx="7772400" cy="5638800"/>
          </a:xfrm>
        </p:spPr>
        <p:txBody>
          <a:bodyPr>
            <a:normAutofit fontScale="77500" lnSpcReduction="20000"/>
          </a:bodyPr>
          <a:lstStyle/>
          <a:p>
            <a:pPr marL="0" indent="0">
              <a:buNone/>
            </a:pPr>
            <a:r>
              <a:rPr lang="en-US" dirty="0"/>
              <a:t>// Class 3</a:t>
            </a:r>
          </a:p>
          <a:p>
            <a:pPr marL="0" indent="0">
              <a:buNone/>
            </a:pPr>
            <a:r>
              <a:rPr lang="en-US" dirty="0"/>
              <a:t>// Main class</a:t>
            </a:r>
          </a:p>
          <a:p>
            <a:pPr marL="0" indent="0">
              <a:buNone/>
            </a:pPr>
            <a:r>
              <a:rPr lang="en-US" dirty="0"/>
              <a:t>class Main {</a:t>
            </a:r>
          </a:p>
          <a:p>
            <a:pPr marL="0" indent="0">
              <a:buNone/>
            </a:pPr>
            <a:endParaRPr lang="en-US" dirty="0"/>
          </a:p>
          <a:p>
            <a:pPr marL="0" indent="0">
              <a:buNone/>
            </a:pPr>
            <a:r>
              <a:rPr lang="en-US" dirty="0"/>
              <a:t>    // Main driver method</a:t>
            </a:r>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 Uncommenting the following line will cause</a:t>
            </a:r>
          </a:p>
          <a:p>
            <a:pPr marL="0" indent="0">
              <a:buNone/>
            </a:pPr>
            <a:r>
              <a:rPr lang="en-US" dirty="0"/>
              <a:t>        // compiler error as the line tries to create an</a:t>
            </a:r>
          </a:p>
          <a:p>
            <a:pPr marL="0" indent="0">
              <a:buNone/>
            </a:pPr>
            <a:r>
              <a:rPr lang="en-US" dirty="0"/>
              <a:t>        // instance of abstract class. Base b = new Base();</a:t>
            </a:r>
          </a:p>
          <a:p>
            <a:pPr marL="0" indent="0">
              <a:buNone/>
            </a:pPr>
            <a:endParaRPr lang="en-US" dirty="0"/>
          </a:p>
          <a:p>
            <a:pPr marL="0" indent="0">
              <a:buNone/>
            </a:pPr>
            <a:r>
              <a:rPr lang="en-US" dirty="0"/>
              <a:t>        // We can have references of Base type.</a:t>
            </a:r>
          </a:p>
          <a:p>
            <a:pPr marL="0" indent="0">
              <a:buNone/>
            </a:pPr>
            <a:r>
              <a:rPr lang="en-US" dirty="0"/>
              <a:t>        Base b = new Derived();</a:t>
            </a:r>
          </a:p>
          <a:p>
            <a:pPr marL="0" indent="0">
              <a:buNone/>
            </a:pPr>
            <a:r>
              <a:rPr lang="en-US" dirty="0"/>
              <a:t>        </a:t>
            </a:r>
            <a:r>
              <a:rPr lang="en-US" dirty="0" err="1"/>
              <a:t>b.fun</a:t>
            </a:r>
            <a:r>
              <a:rPr lang="en-US" dirty="0"/>
              <a:t>();</a:t>
            </a:r>
          </a:p>
          <a:p>
            <a:pPr marL="0" indent="0">
              <a:buNone/>
            </a:pPr>
            <a:r>
              <a:rPr lang="en-US" dirty="0"/>
              <a:t>    }</a:t>
            </a:r>
          </a:p>
          <a:p>
            <a:pPr marL="0" indent="0">
              <a:buNone/>
            </a:pPr>
            <a:r>
              <a:rPr lang="en-US" dirty="0" smtClean="0"/>
              <a:t>}</a:t>
            </a:r>
          </a:p>
          <a:p>
            <a:pPr marL="0" indent="0">
              <a:buNone/>
            </a:pPr>
            <a:r>
              <a:rPr lang="en-US" dirty="0"/>
              <a:t>Output :Derived fun() </a:t>
            </a:r>
            <a:r>
              <a:rPr lang="en-US" dirty="0" err="1" smtClean="0"/>
              <a:t>calleds</a:t>
            </a:r>
            <a:endParaRPr lang="en-US" dirty="0"/>
          </a:p>
        </p:txBody>
      </p:sp>
    </p:spTree>
    <p:extLst>
      <p:ext uri="{BB962C8B-B14F-4D97-AF65-F5344CB8AC3E}">
        <p14:creationId xmlns:p14="http://schemas.microsoft.com/office/powerpoint/2010/main" val="3276179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class</a:t>
            </a:r>
          </a:p>
        </p:txBody>
      </p:sp>
      <p:sp>
        <p:nvSpPr>
          <p:cNvPr id="3" name="Content Placeholder 2"/>
          <p:cNvSpPr>
            <a:spLocks noGrp="1"/>
          </p:cNvSpPr>
          <p:nvPr>
            <p:ph sz="quarter" idx="1"/>
          </p:nvPr>
        </p:nvSpPr>
        <p:spPr>
          <a:xfrm>
            <a:off x="914400" y="1066800"/>
            <a:ext cx="7772400" cy="5562600"/>
          </a:xfrm>
        </p:spPr>
        <p:txBody>
          <a:bodyPr>
            <a:normAutofit fontScale="92500" lnSpcReduction="10000"/>
          </a:bodyPr>
          <a:lstStyle/>
          <a:p>
            <a:pPr fontAlgn="base"/>
            <a:r>
              <a:rPr lang="en-US" b="1" dirty="0"/>
              <a:t>Observation </a:t>
            </a:r>
            <a:r>
              <a:rPr lang="en-US" b="1" dirty="0" smtClean="0"/>
              <a:t>2 :</a:t>
            </a:r>
          </a:p>
          <a:p>
            <a:pPr lvl="1" fontAlgn="base"/>
            <a:r>
              <a:rPr lang="en-US" dirty="0"/>
              <a:t> an </a:t>
            </a:r>
            <a:r>
              <a:rPr lang="en-US" b="1" dirty="0"/>
              <a:t>abstract class</a:t>
            </a:r>
            <a:r>
              <a:rPr lang="en-US" dirty="0"/>
              <a:t> can contain </a:t>
            </a:r>
            <a:r>
              <a:rPr lang="en-US" b="1" dirty="0"/>
              <a:t>constructors</a:t>
            </a:r>
            <a:r>
              <a:rPr lang="en-US" dirty="0"/>
              <a:t> in Java. And a constructor of an abstract class is called when an instance of an inherited class is created.</a:t>
            </a:r>
            <a:r>
              <a:rPr lang="en-US" dirty="0"/>
              <a:t/>
            </a:r>
            <a:br>
              <a:rPr lang="en-US" dirty="0"/>
            </a:br>
            <a:endParaRPr lang="en-US" dirty="0" smtClean="0"/>
          </a:p>
          <a:p>
            <a:pPr marL="320040" lvl="1" indent="0" fontAlgn="base">
              <a:buNone/>
            </a:pPr>
            <a:r>
              <a:rPr lang="en-US" dirty="0" smtClean="0"/>
              <a:t>abstract </a:t>
            </a:r>
            <a:r>
              <a:rPr lang="en-US" dirty="0"/>
              <a:t>class Base {</a:t>
            </a:r>
          </a:p>
          <a:p>
            <a:pPr marL="320040" lvl="1" indent="0" fontAlgn="base">
              <a:buNone/>
            </a:pPr>
            <a:endParaRPr lang="en-US" dirty="0"/>
          </a:p>
          <a:p>
            <a:pPr marL="320040" lvl="1" indent="0" fontAlgn="base">
              <a:buNone/>
            </a:pPr>
            <a:r>
              <a:rPr lang="en-US" dirty="0"/>
              <a:t>    // Constructor of class 1</a:t>
            </a:r>
          </a:p>
          <a:p>
            <a:pPr marL="320040" lvl="1" indent="0" fontAlgn="base">
              <a:buNone/>
            </a:pPr>
            <a:r>
              <a:rPr lang="en-US" dirty="0"/>
              <a:t>    Base() {</a:t>
            </a:r>
          </a:p>
          <a:p>
            <a:pPr marL="320040" lvl="1" indent="0" fontAlgn="base">
              <a:buNone/>
            </a:pPr>
            <a:r>
              <a:rPr lang="en-US" dirty="0"/>
              <a:t>        // Print statement</a:t>
            </a:r>
          </a:p>
          <a:p>
            <a:pPr marL="320040" lvl="1" indent="0" fontAlgn="base">
              <a:buNone/>
            </a:pPr>
            <a:r>
              <a:rPr lang="en-US" dirty="0"/>
              <a:t>        </a:t>
            </a:r>
            <a:r>
              <a:rPr lang="en-US" dirty="0" err="1"/>
              <a:t>System.out.println</a:t>
            </a:r>
            <a:r>
              <a:rPr lang="en-US" dirty="0"/>
              <a:t>("Base Constructor Called");</a:t>
            </a:r>
          </a:p>
          <a:p>
            <a:pPr marL="320040" lvl="1" indent="0" fontAlgn="base">
              <a:buNone/>
            </a:pPr>
            <a:r>
              <a:rPr lang="en-US" dirty="0"/>
              <a:t>    }</a:t>
            </a:r>
          </a:p>
          <a:p>
            <a:pPr marL="320040" lvl="1" indent="0" fontAlgn="base">
              <a:buNone/>
            </a:pPr>
            <a:endParaRPr lang="en-US" dirty="0"/>
          </a:p>
          <a:p>
            <a:pPr marL="320040" lvl="1" indent="0" fontAlgn="base">
              <a:buNone/>
            </a:pPr>
            <a:r>
              <a:rPr lang="en-US" dirty="0"/>
              <a:t>    // Abstract method inside class1</a:t>
            </a:r>
          </a:p>
          <a:p>
            <a:pPr marL="320040" lvl="1" indent="0" fontAlgn="base">
              <a:buNone/>
            </a:pPr>
            <a:r>
              <a:rPr lang="en-US" dirty="0"/>
              <a:t>    abstract void fun();</a:t>
            </a:r>
          </a:p>
          <a:p>
            <a:pPr marL="320040" lvl="1" indent="0" fontAlgn="base">
              <a:buNone/>
            </a:pPr>
            <a:r>
              <a:rPr lang="en-US" dirty="0"/>
              <a:t>}</a:t>
            </a:r>
          </a:p>
        </p:txBody>
      </p:sp>
    </p:spTree>
    <p:extLst>
      <p:ext uri="{BB962C8B-B14F-4D97-AF65-F5344CB8AC3E}">
        <p14:creationId xmlns:p14="http://schemas.microsoft.com/office/powerpoint/2010/main" val="38237684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class</a:t>
            </a:r>
          </a:p>
        </p:txBody>
      </p:sp>
      <p:sp>
        <p:nvSpPr>
          <p:cNvPr id="3" name="Content Placeholder 2"/>
          <p:cNvSpPr>
            <a:spLocks noGrp="1"/>
          </p:cNvSpPr>
          <p:nvPr>
            <p:ph sz="quarter" idx="1"/>
          </p:nvPr>
        </p:nvSpPr>
        <p:spPr>
          <a:xfrm>
            <a:off x="914400" y="990600"/>
            <a:ext cx="7772400" cy="5486400"/>
          </a:xfrm>
        </p:spPr>
        <p:txBody>
          <a:bodyPr>
            <a:normAutofit fontScale="92500" lnSpcReduction="10000"/>
          </a:bodyPr>
          <a:lstStyle/>
          <a:p>
            <a:pPr marL="0" indent="0">
              <a:buNone/>
            </a:pPr>
            <a:r>
              <a:rPr lang="en-US" dirty="0"/>
              <a:t>// Class 2</a:t>
            </a:r>
          </a:p>
          <a:p>
            <a:pPr marL="0" indent="0">
              <a:buNone/>
            </a:pPr>
            <a:r>
              <a:rPr lang="en-US" dirty="0"/>
              <a:t>class Derived extends Base {</a:t>
            </a:r>
          </a:p>
          <a:p>
            <a:pPr marL="0" indent="0">
              <a:buNone/>
            </a:pPr>
            <a:endParaRPr lang="en-US" dirty="0"/>
          </a:p>
          <a:p>
            <a:pPr marL="0" indent="0">
              <a:buNone/>
            </a:pPr>
            <a:r>
              <a:rPr lang="en-US" dirty="0"/>
              <a:t>    // Constructor of class2</a:t>
            </a:r>
          </a:p>
          <a:p>
            <a:pPr marL="0" indent="0">
              <a:buNone/>
            </a:pPr>
            <a:r>
              <a:rPr lang="en-US" dirty="0"/>
              <a:t>    Derived() {</a:t>
            </a:r>
          </a:p>
          <a:p>
            <a:pPr marL="0" indent="0">
              <a:buNone/>
            </a:pPr>
            <a:r>
              <a:rPr lang="en-US" dirty="0"/>
              <a:t>        </a:t>
            </a:r>
            <a:r>
              <a:rPr lang="en-US" dirty="0" err="1"/>
              <a:t>System.out.println</a:t>
            </a:r>
            <a:r>
              <a:rPr lang="en-US" dirty="0"/>
              <a:t>("Derived Constructor Called");</a:t>
            </a:r>
          </a:p>
          <a:p>
            <a:pPr marL="0" indent="0">
              <a:buNone/>
            </a:pPr>
            <a:r>
              <a:rPr lang="en-US" dirty="0"/>
              <a:t>    }</a:t>
            </a:r>
          </a:p>
          <a:p>
            <a:pPr marL="0" indent="0">
              <a:buNone/>
            </a:pPr>
            <a:endParaRPr lang="en-US" dirty="0"/>
          </a:p>
          <a:p>
            <a:pPr marL="0" indent="0">
              <a:buNone/>
            </a:pPr>
            <a:r>
              <a:rPr lang="en-US" dirty="0"/>
              <a:t>    // Method of class2</a:t>
            </a:r>
          </a:p>
          <a:p>
            <a:pPr marL="0" indent="0">
              <a:buNone/>
            </a:pPr>
            <a:r>
              <a:rPr lang="en-US" dirty="0"/>
              <a:t>    void fun() {</a:t>
            </a:r>
          </a:p>
          <a:p>
            <a:pPr marL="0" indent="0">
              <a:buNone/>
            </a:pPr>
            <a:r>
              <a:rPr lang="en-US" dirty="0"/>
              <a:t>        </a:t>
            </a:r>
            <a:r>
              <a:rPr lang="en-US" dirty="0" err="1"/>
              <a:t>System.out.println</a:t>
            </a:r>
            <a:r>
              <a:rPr lang="en-US" dirty="0"/>
              <a:t>("Derived fun() called");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2620510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class</a:t>
            </a:r>
          </a:p>
        </p:txBody>
      </p:sp>
      <p:sp>
        <p:nvSpPr>
          <p:cNvPr id="3" name="Content Placeholder 2"/>
          <p:cNvSpPr>
            <a:spLocks noGrp="1"/>
          </p:cNvSpPr>
          <p:nvPr>
            <p:ph sz="quarter" idx="1"/>
          </p:nvPr>
        </p:nvSpPr>
        <p:spPr>
          <a:xfrm>
            <a:off x="914400" y="990600"/>
            <a:ext cx="7772400" cy="5486400"/>
          </a:xfrm>
        </p:spPr>
        <p:txBody>
          <a:bodyPr>
            <a:normAutofit fontScale="92500" lnSpcReduction="10000"/>
          </a:bodyPr>
          <a:lstStyle/>
          <a:p>
            <a:pPr marL="0" indent="0">
              <a:buNone/>
            </a:pPr>
            <a:r>
              <a:rPr lang="en-US" dirty="0"/>
              <a:t>// Class 3</a:t>
            </a:r>
          </a:p>
          <a:p>
            <a:pPr marL="0" indent="0">
              <a:buNone/>
            </a:pPr>
            <a:r>
              <a:rPr lang="en-US" dirty="0"/>
              <a:t>// Main class</a:t>
            </a:r>
          </a:p>
          <a:p>
            <a:pPr marL="0" indent="0">
              <a:buNone/>
            </a:pPr>
            <a:r>
              <a:rPr lang="en-US" dirty="0"/>
              <a:t>class </a:t>
            </a:r>
            <a:r>
              <a:rPr lang="en-US" dirty="0" smtClean="0"/>
              <a:t>Test </a:t>
            </a:r>
            <a:r>
              <a:rPr lang="en-US" dirty="0"/>
              <a:t>{</a:t>
            </a:r>
          </a:p>
          <a:p>
            <a:pPr marL="0" indent="0">
              <a:buNone/>
            </a:pPr>
            <a:endParaRPr lang="en-US" dirty="0"/>
          </a:p>
          <a:p>
            <a:pPr marL="0" indent="0">
              <a:buNone/>
            </a:pPr>
            <a:r>
              <a:rPr lang="en-US" dirty="0" smtClean="0"/>
              <a:t>public </a:t>
            </a:r>
            <a:r>
              <a:rPr lang="en-US" dirty="0"/>
              <a:t>static void main(String </a:t>
            </a:r>
            <a:r>
              <a:rPr lang="en-US" dirty="0" err="1"/>
              <a:t>args</a:t>
            </a:r>
            <a:r>
              <a:rPr lang="en-US" dirty="0"/>
              <a:t>[]) {</a:t>
            </a:r>
          </a:p>
          <a:p>
            <a:pPr marL="0" indent="0">
              <a:buNone/>
            </a:pPr>
            <a:r>
              <a:rPr lang="en-US" dirty="0" smtClean="0"/>
              <a:t>	Derived </a:t>
            </a:r>
            <a:r>
              <a:rPr lang="en-US" dirty="0"/>
              <a:t>d = new Derived();</a:t>
            </a:r>
          </a:p>
          <a:p>
            <a:pPr marL="0" indent="0">
              <a:buNone/>
            </a:pPr>
            <a:r>
              <a:rPr lang="en-US" dirty="0"/>
              <a:t>        </a:t>
            </a:r>
            <a:r>
              <a:rPr lang="en-US" dirty="0" smtClean="0"/>
              <a:t>	</a:t>
            </a:r>
            <a:r>
              <a:rPr lang="en-US" dirty="0" err="1" smtClean="0"/>
              <a:t>d.fun</a:t>
            </a:r>
            <a:r>
              <a:rPr lang="en-US" dirty="0"/>
              <a:t>();</a:t>
            </a:r>
          </a:p>
          <a:p>
            <a:pPr marL="0" indent="0">
              <a:buNone/>
            </a:pPr>
            <a:r>
              <a:rPr lang="en-US" dirty="0"/>
              <a:t>    }</a:t>
            </a:r>
          </a:p>
          <a:p>
            <a:pPr marL="0" indent="0">
              <a:buNone/>
            </a:pPr>
            <a:r>
              <a:rPr lang="en-US" dirty="0" smtClean="0"/>
              <a:t>}</a:t>
            </a:r>
          </a:p>
          <a:p>
            <a:pPr marL="0" indent="0">
              <a:buNone/>
            </a:pPr>
            <a:r>
              <a:rPr lang="en-US" dirty="0" smtClean="0"/>
              <a:t>Output :</a:t>
            </a:r>
          </a:p>
          <a:p>
            <a:pPr marL="0" indent="0">
              <a:buNone/>
            </a:pPr>
            <a:r>
              <a:rPr lang="en-US" dirty="0"/>
              <a:t>	Base Constructor Called</a:t>
            </a:r>
          </a:p>
          <a:p>
            <a:pPr marL="0" indent="0">
              <a:buNone/>
            </a:pPr>
            <a:r>
              <a:rPr lang="en-US" dirty="0" smtClean="0"/>
              <a:t>	Derived </a:t>
            </a:r>
            <a:r>
              <a:rPr lang="en-US" dirty="0"/>
              <a:t>Constructor Called</a:t>
            </a:r>
          </a:p>
          <a:p>
            <a:pPr marL="0" indent="0">
              <a:buNone/>
            </a:pPr>
            <a:r>
              <a:rPr lang="en-US" dirty="0" smtClean="0"/>
              <a:t>	Derived </a:t>
            </a:r>
            <a:r>
              <a:rPr lang="en-US" dirty="0"/>
              <a:t>fun() called</a:t>
            </a:r>
            <a:endParaRPr lang="en-US" dirty="0" smtClean="0"/>
          </a:p>
          <a:p>
            <a:pPr marL="0" indent="0">
              <a:buNone/>
            </a:pPr>
            <a:endParaRPr lang="en-US" dirty="0"/>
          </a:p>
        </p:txBody>
      </p:sp>
    </p:spTree>
    <p:extLst>
      <p:ext uri="{BB962C8B-B14F-4D97-AF65-F5344CB8AC3E}">
        <p14:creationId xmlns:p14="http://schemas.microsoft.com/office/powerpoint/2010/main" val="2412215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class</a:t>
            </a:r>
          </a:p>
        </p:txBody>
      </p:sp>
      <p:sp>
        <p:nvSpPr>
          <p:cNvPr id="3" name="Content Placeholder 2"/>
          <p:cNvSpPr>
            <a:spLocks noGrp="1"/>
          </p:cNvSpPr>
          <p:nvPr>
            <p:ph sz="quarter" idx="1"/>
          </p:nvPr>
        </p:nvSpPr>
        <p:spPr>
          <a:xfrm>
            <a:off x="914400" y="914400"/>
            <a:ext cx="7772400" cy="5638800"/>
          </a:xfrm>
        </p:spPr>
        <p:txBody>
          <a:bodyPr>
            <a:normAutofit/>
          </a:bodyPr>
          <a:lstStyle/>
          <a:p>
            <a:pPr fontAlgn="base"/>
            <a:r>
              <a:rPr lang="en-US" b="1" dirty="0"/>
              <a:t>Observation </a:t>
            </a:r>
            <a:r>
              <a:rPr lang="en-US" b="1" dirty="0" smtClean="0"/>
              <a:t>3</a:t>
            </a:r>
            <a:r>
              <a:rPr lang="en-US" dirty="0" smtClean="0"/>
              <a:t>:</a:t>
            </a:r>
          </a:p>
          <a:p>
            <a:pPr lvl="1" fontAlgn="base"/>
            <a:r>
              <a:rPr lang="en-US" dirty="0"/>
              <a:t>we can have </a:t>
            </a:r>
            <a:r>
              <a:rPr lang="en-US" i="1" dirty="0"/>
              <a:t>an abstract class without any abstract method</a:t>
            </a:r>
            <a:r>
              <a:rPr lang="en-US" dirty="0"/>
              <a:t>. This allows us to </a:t>
            </a:r>
            <a:r>
              <a:rPr lang="en-US" i="1" dirty="0"/>
              <a:t>create classes that cannot be instantiated but can only be inherited</a:t>
            </a:r>
            <a:r>
              <a:rPr lang="en-US" dirty="0"/>
              <a:t>. </a:t>
            </a:r>
            <a:endParaRPr lang="en-US" dirty="0" smtClean="0"/>
          </a:p>
          <a:p>
            <a:pPr lvl="1" fontAlgn="base"/>
            <a:endParaRPr lang="en-US" dirty="0" smtClean="0"/>
          </a:p>
          <a:p>
            <a:pPr marL="320040" lvl="1" indent="0" fontAlgn="base">
              <a:buNone/>
            </a:pPr>
            <a:r>
              <a:rPr lang="en-US" dirty="0"/>
              <a:t>abstract class Base {</a:t>
            </a:r>
          </a:p>
          <a:p>
            <a:pPr marL="320040" lvl="1" indent="0" fontAlgn="base">
              <a:buNone/>
            </a:pPr>
            <a:endParaRPr lang="en-US" dirty="0"/>
          </a:p>
          <a:p>
            <a:pPr marL="320040" lvl="1" indent="0" fontAlgn="base">
              <a:buNone/>
            </a:pPr>
            <a:r>
              <a:rPr lang="en-US" dirty="0"/>
              <a:t>    // Demo method. This is not an abstract method.</a:t>
            </a:r>
          </a:p>
          <a:p>
            <a:pPr marL="320040" lvl="1" indent="0" fontAlgn="base">
              <a:buNone/>
            </a:pPr>
            <a:r>
              <a:rPr lang="en-US" dirty="0"/>
              <a:t>    void fun() {</a:t>
            </a:r>
          </a:p>
          <a:p>
            <a:pPr marL="320040" lvl="1" indent="0" fontAlgn="base">
              <a:buNone/>
            </a:pPr>
            <a:r>
              <a:rPr lang="en-US" dirty="0" err="1" smtClean="0"/>
              <a:t>System.out.println</a:t>
            </a:r>
            <a:r>
              <a:rPr lang="en-US" dirty="0"/>
              <a:t>("Function of Base class is called");</a:t>
            </a:r>
          </a:p>
          <a:p>
            <a:pPr marL="320040" lvl="1" indent="0" fontAlgn="base">
              <a:buNone/>
            </a:pPr>
            <a:r>
              <a:rPr lang="en-US" dirty="0"/>
              <a:t>    }</a:t>
            </a:r>
          </a:p>
          <a:p>
            <a:pPr marL="320040" lvl="1" indent="0" fontAlgn="base">
              <a:buNone/>
            </a:pPr>
            <a:r>
              <a:rPr lang="en-US" dirty="0"/>
              <a:t>}</a:t>
            </a:r>
            <a:endParaRPr lang="en-US" dirty="0"/>
          </a:p>
        </p:txBody>
      </p:sp>
    </p:spTree>
    <p:extLst>
      <p:ext uri="{BB962C8B-B14F-4D97-AF65-F5344CB8AC3E}">
        <p14:creationId xmlns:p14="http://schemas.microsoft.com/office/powerpoint/2010/main" val="1456051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Abstract class</a:t>
            </a:r>
          </a:p>
        </p:txBody>
      </p:sp>
      <p:sp>
        <p:nvSpPr>
          <p:cNvPr id="3" name="Content Placeholder 2"/>
          <p:cNvSpPr>
            <a:spLocks noGrp="1"/>
          </p:cNvSpPr>
          <p:nvPr>
            <p:ph sz="quarter" idx="1"/>
          </p:nvPr>
        </p:nvSpPr>
        <p:spPr>
          <a:xfrm>
            <a:off x="914400" y="1066800"/>
            <a:ext cx="7772400" cy="4572000"/>
          </a:xfrm>
        </p:spPr>
        <p:txBody>
          <a:bodyPr>
            <a:normAutofit lnSpcReduction="10000"/>
          </a:bodyPr>
          <a:lstStyle/>
          <a:p>
            <a:pPr marL="0" indent="0">
              <a:buNone/>
            </a:pPr>
            <a:r>
              <a:rPr lang="en-US" dirty="0"/>
              <a:t>class Derived extends Base {</a:t>
            </a:r>
          </a:p>
          <a:p>
            <a:pPr marL="0" indent="0">
              <a:buNone/>
            </a:pPr>
            <a:r>
              <a:rPr lang="en-US" dirty="0" smtClean="0"/>
              <a:t>}</a:t>
            </a:r>
          </a:p>
          <a:p>
            <a:pPr marL="0" indent="0">
              <a:buNone/>
            </a:pPr>
            <a:endParaRPr lang="en-US" dirty="0" smtClean="0"/>
          </a:p>
          <a:p>
            <a:pPr marL="0" indent="0">
              <a:buNone/>
            </a:pPr>
            <a:r>
              <a:rPr lang="en-US" dirty="0"/>
              <a:t>class Main {</a:t>
            </a:r>
          </a:p>
          <a:p>
            <a:pPr marL="0" indent="0">
              <a:buNone/>
            </a:pPr>
            <a:endParaRPr lang="en-US" dirty="0"/>
          </a:p>
          <a:p>
            <a:pPr marL="0" indent="0">
              <a:buNone/>
            </a:pPr>
            <a:r>
              <a:rPr lang="en-US" dirty="0" smtClean="0"/>
              <a:t>public </a:t>
            </a:r>
            <a:r>
              <a:rPr lang="en-US" dirty="0"/>
              <a:t>static void main(String </a:t>
            </a:r>
            <a:r>
              <a:rPr lang="en-US" dirty="0" err="1"/>
              <a:t>args</a:t>
            </a:r>
            <a:r>
              <a:rPr lang="en-US" dirty="0"/>
              <a:t>[]) </a:t>
            </a:r>
            <a:r>
              <a:rPr lang="en-US" dirty="0" smtClean="0"/>
              <a:t>{</a:t>
            </a:r>
            <a:endParaRPr lang="en-US" dirty="0"/>
          </a:p>
          <a:p>
            <a:pPr marL="0" indent="0">
              <a:buNone/>
            </a:pPr>
            <a:r>
              <a:rPr lang="en-US" dirty="0"/>
              <a:t>        Derived d = new Derived</a:t>
            </a:r>
            <a:r>
              <a:rPr lang="en-US" dirty="0" smtClean="0"/>
              <a:t>();</a:t>
            </a:r>
            <a:endParaRPr lang="en-US" dirty="0"/>
          </a:p>
          <a:p>
            <a:pPr marL="0" indent="0">
              <a:buNone/>
            </a:pPr>
            <a:r>
              <a:rPr lang="en-US" dirty="0"/>
              <a:t>        </a:t>
            </a:r>
            <a:r>
              <a:rPr lang="en-US" dirty="0" err="1"/>
              <a:t>d.fun</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5420855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in Java</a:t>
            </a:r>
            <a:endParaRPr lang="en-US" dirty="0"/>
          </a:p>
        </p:txBody>
      </p:sp>
      <p:sp>
        <p:nvSpPr>
          <p:cNvPr id="3" name="Content Placeholder 2"/>
          <p:cNvSpPr>
            <a:spLocks noGrp="1"/>
          </p:cNvSpPr>
          <p:nvPr>
            <p:ph sz="quarter" idx="1"/>
          </p:nvPr>
        </p:nvSpPr>
        <p:spPr>
          <a:xfrm>
            <a:off x="914400" y="1143000"/>
            <a:ext cx="7772400" cy="5486400"/>
          </a:xfrm>
        </p:spPr>
        <p:txBody>
          <a:bodyPr>
            <a:normAutofit lnSpcReduction="10000"/>
          </a:bodyPr>
          <a:lstStyle/>
          <a:p>
            <a:r>
              <a:rPr lang="en-US" dirty="0"/>
              <a:t>The interface in Java is </a:t>
            </a:r>
            <a:r>
              <a:rPr lang="en-US" i="1" dirty="0"/>
              <a:t>a </a:t>
            </a:r>
            <a:r>
              <a:rPr lang="en-US" dirty="0"/>
              <a:t>mechanism to achieve abstraction. </a:t>
            </a:r>
            <a:endParaRPr lang="en-US" dirty="0" smtClean="0"/>
          </a:p>
          <a:p>
            <a:r>
              <a:rPr lang="en-US" dirty="0" smtClean="0"/>
              <a:t>There </a:t>
            </a:r>
            <a:r>
              <a:rPr lang="en-US" dirty="0"/>
              <a:t>can be only abstract methods in the Java interface</a:t>
            </a:r>
            <a:r>
              <a:rPr lang="en-US" dirty="0" smtClean="0"/>
              <a:t>,</a:t>
            </a:r>
            <a:r>
              <a:rPr lang="en-US" dirty="0"/>
              <a:t> not the method body. </a:t>
            </a:r>
            <a:endParaRPr lang="en-US" dirty="0" smtClean="0"/>
          </a:p>
          <a:p>
            <a:r>
              <a:rPr lang="en-US" dirty="0"/>
              <a:t> It is used to achieve abstraction and multiple</a:t>
            </a:r>
            <a:r>
              <a:rPr lang="en-US" u="sng" dirty="0"/>
              <a:t> </a:t>
            </a:r>
            <a:r>
              <a:rPr lang="en-US" dirty="0"/>
              <a:t>inheritance in Java</a:t>
            </a:r>
            <a:r>
              <a:rPr lang="en-US" dirty="0" smtClean="0"/>
              <a:t>.</a:t>
            </a:r>
          </a:p>
          <a:p>
            <a:r>
              <a:rPr lang="en-US" dirty="0"/>
              <a:t>In other words, you can say that interfaces can have abstract methods and variables. </a:t>
            </a:r>
            <a:endParaRPr lang="en-US" dirty="0" smtClean="0"/>
          </a:p>
          <a:p>
            <a:r>
              <a:rPr lang="en-US" dirty="0"/>
              <a:t>It cannot have a method body</a:t>
            </a:r>
            <a:r>
              <a:rPr lang="en-US" dirty="0" smtClean="0"/>
              <a:t>.</a:t>
            </a:r>
          </a:p>
          <a:p>
            <a:r>
              <a:rPr lang="en-US" dirty="0"/>
              <a:t>If a class implements an interface and does not provide method bodies for all functions specified in the interface, then the class must be declared abstract.</a:t>
            </a:r>
          </a:p>
          <a:p>
            <a:endParaRPr lang="en-US" dirty="0"/>
          </a:p>
        </p:txBody>
      </p:sp>
    </p:spTree>
    <p:extLst>
      <p:ext uri="{BB962C8B-B14F-4D97-AF65-F5344CB8AC3E}">
        <p14:creationId xmlns:p14="http://schemas.microsoft.com/office/powerpoint/2010/main" val="16801235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in Java</a:t>
            </a:r>
          </a:p>
        </p:txBody>
      </p:sp>
      <p:sp>
        <p:nvSpPr>
          <p:cNvPr id="3" name="Content Placeholder 2"/>
          <p:cNvSpPr>
            <a:spLocks noGrp="1"/>
          </p:cNvSpPr>
          <p:nvPr>
            <p:ph sz="quarter" idx="1"/>
          </p:nvPr>
        </p:nvSpPr>
        <p:spPr/>
        <p:txBody>
          <a:bodyPr/>
          <a:lstStyle/>
          <a:p>
            <a:pPr marL="0" indent="0">
              <a:buNone/>
            </a:pPr>
            <a:r>
              <a:rPr lang="en-US" dirty="0"/>
              <a:t>interface {</a:t>
            </a:r>
          </a:p>
          <a:p>
            <a:pPr marL="0" indent="0">
              <a:buNone/>
            </a:pPr>
            <a:endParaRPr lang="en-US" dirty="0"/>
          </a:p>
          <a:p>
            <a:pPr marL="0" indent="0">
              <a:buNone/>
            </a:pPr>
            <a:r>
              <a:rPr lang="en-US" dirty="0"/>
              <a:t>    // declare constant fields</a:t>
            </a:r>
          </a:p>
          <a:p>
            <a:pPr marL="0" indent="0">
              <a:buNone/>
            </a:pPr>
            <a:r>
              <a:rPr lang="en-US" dirty="0"/>
              <a:t>    // declare methods that abstract </a:t>
            </a:r>
          </a:p>
          <a:p>
            <a:pPr marL="0" indent="0">
              <a:buNone/>
            </a:pPr>
            <a:r>
              <a:rPr lang="en-US" dirty="0"/>
              <a:t>    // by default.   </a:t>
            </a:r>
          </a:p>
          <a:p>
            <a:pPr marL="0" indent="0">
              <a:buNone/>
            </a:pPr>
            <a:r>
              <a:rPr lang="en-US" dirty="0"/>
              <a:t>}</a:t>
            </a:r>
          </a:p>
        </p:txBody>
      </p:sp>
    </p:spTree>
    <p:extLst>
      <p:ext uri="{BB962C8B-B14F-4D97-AF65-F5344CB8AC3E}">
        <p14:creationId xmlns:p14="http://schemas.microsoft.com/office/powerpoint/2010/main" val="38250030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in Java</a:t>
            </a:r>
          </a:p>
        </p:txBody>
      </p:sp>
      <p:sp>
        <p:nvSpPr>
          <p:cNvPr id="3" name="Content Placeholder 2"/>
          <p:cNvSpPr>
            <a:spLocks noGrp="1"/>
          </p:cNvSpPr>
          <p:nvPr>
            <p:ph sz="quarter" idx="1"/>
          </p:nvPr>
        </p:nvSpPr>
        <p:spPr>
          <a:xfrm>
            <a:off x="914400" y="1066800"/>
            <a:ext cx="7772400" cy="5410200"/>
          </a:xfrm>
        </p:spPr>
        <p:txBody>
          <a:bodyPr/>
          <a:lstStyle/>
          <a:p>
            <a:r>
              <a:rPr lang="en-US" dirty="0"/>
              <a:t>To declare an interface, use the interface keyword</a:t>
            </a:r>
            <a:r>
              <a:rPr lang="en-US" dirty="0" smtClean="0"/>
              <a:t>.</a:t>
            </a:r>
          </a:p>
          <a:p>
            <a:r>
              <a:rPr lang="en-US" dirty="0" smtClean="0"/>
              <a:t> </a:t>
            </a:r>
            <a:r>
              <a:rPr lang="en-US" dirty="0"/>
              <a:t>It is used to provide total abstraction. That means all the methods in an interface are declared with an empty body and are public and all fields are public, static, and final by default. </a:t>
            </a:r>
            <a:endParaRPr lang="en-US" dirty="0" smtClean="0"/>
          </a:p>
          <a:p>
            <a:r>
              <a:rPr lang="en-US" dirty="0" smtClean="0"/>
              <a:t>A </a:t>
            </a:r>
            <a:r>
              <a:rPr lang="en-US" dirty="0"/>
              <a:t>class that implements an interface must implement all the methods declared in the interface. </a:t>
            </a:r>
            <a:endParaRPr lang="en-US" dirty="0" smtClean="0"/>
          </a:p>
          <a:p>
            <a:r>
              <a:rPr lang="en-US" dirty="0" smtClean="0"/>
              <a:t>To </a:t>
            </a:r>
            <a:r>
              <a:rPr lang="en-US" dirty="0"/>
              <a:t>implement interface use </a:t>
            </a:r>
            <a:r>
              <a:rPr lang="en-US" b="1" dirty="0"/>
              <a:t>implements</a:t>
            </a:r>
            <a:r>
              <a:rPr lang="en-US" dirty="0"/>
              <a:t> keyword.</a:t>
            </a:r>
            <a:endParaRPr lang="en-US" dirty="0"/>
          </a:p>
        </p:txBody>
      </p:sp>
    </p:spTree>
    <p:extLst>
      <p:ext uri="{BB962C8B-B14F-4D97-AF65-F5344CB8AC3E}">
        <p14:creationId xmlns:p14="http://schemas.microsoft.com/office/powerpoint/2010/main" val="36392699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Why do we use an Interface?</a:t>
            </a:r>
          </a:p>
        </p:txBody>
      </p:sp>
      <p:sp>
        <p:nvSpPr>
          <p:cNvPr id="3" name="Content Placeholder 2"/>
          <p:cNvSpPr>
            <a:spLocks noGrp="1"/>
          </p:cNvSpPr>
          <p:nvPr>
            <p:ph sz="quarter" idx="1"/>
          </p:nvPr>
        </p:nvSpPr>
        <p:spPr>
          <a:xfrm>
            <a:off x="914400" y="990600"/>
            <a:ext cx="7772400" cy="5486400"/>
          </a:xfrm>
        </p:spPr>
        <p:txBody>
          <a:bodyPr>
            <a:normAutofit/>
          </a:bodyPr>
          <a:lstStyle/>
          <a:p>
            <a:pPr fontAlgn="base"/>
            <a:r>
              <a:rPr lang="en-US" dirty="0"/>
              <a:t>It is used to achieve total abstraction.</a:t>
            </a:r>
          </a:p>
          <a:p>
            <a:pPr fontAlgn="base"/>
            <a:r>
              <a:rPr lang="en-US" dirty="0"/>
              <a:t>Since java does not support multiple inheritances in the case of class, by using an interface it can achieve multiple inheritances.</a:t>
            </a:r>
          </a:p>
          <a:p>
            <a:pPr fontAlgn="base"/>
            <a:r>
              <a:rPr lang="en-US" dirty="0"/>
              <a:t>Any class can extend only 1 class but can any class implement infinite number of interface.</a:t>
            </a:r>
          </a:p>
          <a:p>
            <a:pPr fontAlgn="base"/>
            <a:r>
              <a:rPr lang="en-US" dirty="0" smtClean="0"/>
              <a:t>Interfaces </a:t>
            </a:r>
            <a:r>
              <a:rPr lang="en-US" dirty="0"/>
              <a:t>are used to implement abstraction. So the question arises why use interfaces when we have abstract classes</a:t>
            </a:r>
            <a:r>
              <a:rPr lang="en-US" dirty="0" smtClean="0"/>
              <a:t>?</a:t>
            </a:r>
          </a:p>
          <a:p>
            <a:pPr fontAlgn="base"/>
            <a:r>
              <a:rPr lang="en-US" dirty="0"/>
              <a:t>The reason is, abstract classes may contain non-final variables, whereas variables in the interface are final, public and static.</a:t>
            </a:r>
          </a:p>
          <a:p>
            <a:endParaRPr lang="en-US" dirty="0"/>
          </a:p>
        </p:txBody>
      </p:sp>
    </p:spTree>
    <p:extLst>
      <p:ext uri="{BB962C8B-B14F-4D97-AF65-F5344CB8AC3E}">
        <p14:creationId xmlns:p14="http://schemas.microsoft.com/office/powerpoint/2010/main" val="37096227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lstStyle/>
          <a:p>
            <a:pPr marL="0" indent="0">
              <a:buNone/>
            </a:pPr>
            <a:r>
              <a:rPr lang="en-US" dirty="0"/>
              <a:t>// A simple interface</a:t>
            </a:r>
          </a:p>
          <a:p>
            <a:pPr marL="0" indent="0">
              <a:buNone/>
            </a:pPr>
            <a:endParaRPr lang="en-US" dirty="0"/>
          </a:p>
          <a:p>
            <a:pPr marL="0" indent="0">
              <a:buNone/>
            </a:pPr>
            <a:r>
              <a:rPr lang="en-US" dirty="0"/>
              <a:t>interface Player {</a:t>
            </a:r>
          </a:p>
          <a:p>
            <a:pPr marL="0" indent="0">
              <a:buNone/>
            </a:pPr>
            <a:r>
              <a:rPr lang="en-US" dirty="0"/>
              <a:t>    final </a:t>
            </a:r>
            <a:r>
              <a:rPr lang="en-US" dirty="0" err="1"/>
              <a:t>int</a:t>
            </a:r>
            <a:r>
              <a:rPr lang="en-US" dirty="0"/>
              <a:t> id = 10;</a:t>
            </a:r>
          </a:p>
          <a:p>
            <a:pPr marL="0" indent="0">
              <a:buNone/>
            </a:pPr>
            <a:r>
              <a:rPr lang="en-US" dirty="0"/>
              <a:t>    </a:t>
            </a:r>
            <a:r>
              <a:rPr lang="en-US" dirty="0" err="1"/>
              <a:t>int</a:t>
            </a:r>
            <a:r>
              <a:rPr lang="en-US" dirty="0"/>
              <a:t> move();</a:t>
            </a:r>
          </a:p>
          <a:p>
            <a:pPr marL="0" indent="0">
              <a:buNone/>
            </a:pPr>
            <a:r>
              <a:rPr lang="en-US" dirty="0" smtClean="0"/>
              <a:t>}</a:t>
            </a:r>
          </a:p>
          <a:p>
            <a:pPr marL="0" indent="0">
              <a:buNone/>
            </a:pPr>
            <a:r>
              <a:rPr lang="en-US" dirty="0"/>
              <a:t>To implement an interface we use </a:t>
            </a:r>
            <a:r>
              <a:rPr lang="en-US" dirty="0" smtClean="0"/>
              <a:t>the keyword</a:t>
            </a:r>
            <a:r>
              <a:rPr lang="en-US" dirty="0"/>
              <a:t> </a:t>
            </a:r>
            <a:r>
              <a:rPr lang="en-US" b="1" dirty="0"/>
              <a:t>implements</a:t>
            </a:r>
            <a:endParaRPr lang="en-US" dirty="0"/>
          </a:p>
        </p:txBody>
      </p:sp>
    </p:spTree>
    <p:extLst>
      <p:ext uri="{BB962C8B-B14F-4D97-AF65-F5344CB8AC3E}">
        <p14:creationId xmlns:p14="http://schemas.microsoft.com/office/powerpoint/2010/main" val="13829787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990600"/>
            <a:ext cx="7772400" cy="5029200"/>
          </a:xfrm>
        </p:spPr>
        <p:txBody>
          <a:bodyPr/>
          <a:lstStyle/>
          <a:p>
            <a:pPr marL="0" indent="0">
              <a:buNone/>
            </a:pPr>
            <a:r>
              <a:rPr lang="en-US" dirty="0"/>
              <a:t>import java.io.*;</a:t>
            </a:r>
          </a:p>
          <a:p>
            <a:pPr marL="0" indent="0">
              <a:buNone/>
            </a:pPr>
            <a:endParaRPr lang="en-US" dirty="0"/>
          </a:p>
          <a:p>
            <a:pPr marL="0" indent="0">
              <a:buNone/>
            </a:pPr>
            <a:r>
              <a:rPr lang="en-US" dirty="0"/>
              <a:t>interface Vehicle {</a:t>
            </a:r>
          </a:p>
          <a:p>
            <a:pPr marL="0" indent="0">
              <a:buNone/>
            </a:pPr>
            <a:endParaRPr lang="en-US" dirty="0"/>
          </a:p>
          <a:p>
            <a:pPr marL="0" indent="0">
              <a:buNone/>
            </a:pPr>
            <a:r>
              <a:rPr lang="en-US" dirty="0"/>
              <a:t>    // all are the abstract methods.</a:t>
            </a:r>
          </a:p>
          <a:p>
            <a:pPr marL="0" indent="0">
              <a:buNone/>
            </a:pPr>
            <a:r>
              <a:rPr lang="en-US" dirty="0"/>
              <a:t>    void </a:t>
            </a:r>
            <a:r>
              <a:rPr lang="en-US" dirty="0" err="1"/>
              <a:t>changeGear</a:t>
            </a:r>
            <a:r>
              <a:rPr lang="en-US" dirty="0"/>
              <a:t>(</a:t>
            </a:r>
            <a:r>
              <a:rPr lang="en-US" dirty="0" err="1"/>
              <a:t>int</a:t>
            </a:r>
            <a:r>
              <a:rPr lang="en-US" dirty="0"/>
              <a:t> a);</a:t>
            </a:r>
          </a:p>
          <a:p>
            <a:pPr marL="0" indent="0">
              <a:buNone/>
            </a:pPr>
            <a:r>
              <a:rPr lang="en-US" dirty="0"/>
              <a:t>    void </a:t>
            </a:r>
            <a:r>
              <a:rPr lang="en-US" dirty="0" err="1"/>
              <a:t>speedUp</a:t>
            </a:r>
            <a:r>
              <a:rPr lang="en-US" dirty="0"/>
              <a:t>(</a:t>
            </a:r>
            <a:r>
              <a:rPr lang="en-US" dirty="0" err="1"/>
              <a:t>int</a:t>
            </a:r>
            <a:r>
              <a:rPr lang="en-US" dirty="0"/>
              <a:t> a);</a:t>
            </a:r>
          </a:p>
          <a:p>
            <a:pPr marL="0" indent="0">
              <a:buNone/>
            </a:pPr>
            <a:r>
              <a:rPr lang="en-US" dirty="0"/>
              <a:t>    void </a:t>
            </a:r>
            <a:r>
              <a:rPr lang="en-US" dirty="0" err="1"/>
              <a:t>applyBrakes</a:t>
            </a:r>
            <a:r>
              <a:rPr lang="en-US" dirty="0"/>
              <a:t>(</a:t>
            </a:r>
            <a:r>
              <a:rPr lang="en-US" dirty="0" err="1"/>
              <a:t>int</a:t>
            </a:r>
            <a:r>
              <a:rPr lang="en-US" dirty="0"/>
              <a:t> a);</a:t>
            </a:r>
          </a:p>
          <a:p>
            <a:pPr marL="0" indent="0">
              <a:buNone/>
            </a:pPr>
            <a:r>
              <a:rPr lang="en-US" dirty="0"/>
              <a:t>}</a:t>
            </a:r>
          </a:p>
        </p:txBody>
      </p:sp>
    </p:spTree>
    <p:extLst>
      <p:ext uri="{BB962C8B-B14F-4D97-AF65-F5344CB8AC3E}">
        <p14:creationId xmlns:p14="http://schemas.microsoft.com/office/powerpoint/2010/main" val="42516016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990600"/>
            <a:ext cx="7772400" cy="5562600"/>
          </a:xfrm>
        </p:spPr>
        <p:txBody>
          <a:bodyPr>
            <a:normAutofit fontScale="85000" lnSpcReduction="20000"/>
          </a:bodyPr>
          <a:lstStyle/>
          <a:p>
            <a:pPr marL="0" indent="0">
              <a:buNone/>
            </a:pPr>
            <a:r>
              <a:rPr lang="en-US" dirty="0"/>
              <a:t>class Bicycle implements Vehicle </a:t>
            </a:r>
            <a:r>
              <a:rPr lang="en-US" dirty="0" smtClean="0"/>
              <a:t>{</a:t>
            </a:r>
            <a:endParaRPr lang="en-US" dirty="0"/>
          </a:p>
          <a:p>
            <a:pPr marL="0" indent="0">
              <a:buNone/>
            </a:pPr>
            <a:r>
              <a:rPr lang="en-US" dirty="0"/>
              <a:t>    </a:t>
            </a:r>
            <a:r>
              <a:rPr lang="en-US" dirty="0" err="1"/>
              <a:t>int</a:t>
            </a:r>
            <a:r>
              <a:rPr lang="en-US" dirty="0"/>
              <a:t> speed;</a:t>
            </a:r>
          </a:p>
          <a:p>
            <a:pPr marL="0" indent="0">
              <a:buNone/>
            </a:pPr>
            <a:r>
              <a:rPr lang="en-US" dirty="0"/>
              <a:t>    </a:t>
            </a:r>
            <a:r>
              <a:rPr lang="en-US" dirty="0" err="1"/>
              <a:t>int</a:t>
            </a:r>
            <a:r>
              <a:rPr lang="en-US" dirty="0"/>
              <a:t> gear;</a:t>
            </a:r>
          </a:p>
          <a:p>
            <a:pPr marL="0" indent="0">
              <a:buNone/>
            </a:pPr>
            <a:endParaRPr lang="en-US" dirty="0"/>
          </a:p>
          <a:p>
            <a:pPr marL="0" indent="0">
              <a:buNone/>
            </a:pPr>
            <a:r>
              <a:rPr lang="en-US" dirty="0"/>
              <a:t>    // to change gear</a:t>
            </a:r>
          </a:p>
          <a:p>
            <a:pPr marL="0" indent="0">
              <a:buNone/>
            </a:pPr>
            <a:r>
              <a:rPr lang="en-US" dirty="0"/>
              <a:t>    @Override</a:t>
            </a:r>
          </a:p>
          <a:p>
            <a:pPr marL="0" indent="0">
              <a:buNone/>
            </a:pPr>
            <a:r>
              <a:rPr lang="en-US" dirty="0"/>
              <a:t>    public void </a:t>
            </a:r>
            <a:r>
              <a:rPr lang="en-US" dirty="0" err="1"/>
              <a:t>changeGear</a:t>
            </a:r>
            <a:r>
              <a:rPr lang="en-US" dirty="0"/>
              <a:t>(</a:t>
            </a:r>
            <a:r>
              <a:rPr lang="en-US" dirty="0" err="1"/>
              <a:t>int</a:t>
            </a:r>
            <a:r>
              <a:rPr lang="en-US" dirty="0"/>
              <a:t> </a:t>
            </a:r>
            <a:r>
              <a:rPr lang="en-US" dirty="0" err="1"/>
              <a:t>newGear</a:t>
            </a:r>
            <a:r>
              <a:rPr lang="en-US" dirty="0"/>
              <a:t>) </a:t>
            </a:r>
            <a:r>
              <a:rPr lang="en-US" dirty="0" smtClean="0"/>
              <a:t>{</a:t>
            </a:r>
            <a:endParaRPr lang="en-US" dirty="0"/>
          </a:p>
          <a:p>
            <a:pPr marL="0" indent="0">
              <a:buNone/>
            </a:pPr>
            <a:r>
              <a:rPr lang="en-US" dirty="0"/>
              <a:t>        gear = </a:t>
            </a:r>
            <a:r>
              <a:rPr lang="en-US" dirty="0" err="1"/>
              <a:t>newGear</a:t>
            </a:r>
            <a:r>
              <a:rPr lang="en-US" dirty="0"/>
              <a:t>;</a:t>
            </a:r>
          </a:p>
          <a:p>
            <a:pPr marL="0" indent="0">
              <a:buNone/>
            </a:pPr>
            <a:r>
              <a:rPr lang="en-US" dirty="0"/>
              <a:t>    </a:t>
            </a:r>
            <a:r>
              <a:rPr lang="en-US" dirty="0" smtClean="0"/>
              <a:t>}</a:t>
            </a:r>
          </a:p>
          <a:p>
            <a:pPr marL="0" indent="0">
              <a:buNone/>
            </a:pPr>
            <a:endParaRPr lang="en-US" dirty="0" smtClean="0"/>
          </a:p>
          <a:p>
            <a:pPr marL="0" indent="0">
              <a:buNone/>
            </a:pPr>
            <a:r>
              <a:rPr lang="en-US" dirty="0"/>
              <a:t>// to increase speed</a:t>
            </a:r>
          </a:p>
          <a:p>
            <a:pPr marL="0" indent="0">
              <a:buNone/>
            </a:pPr>
            <a:r>
              <a:rPr lang="en-US" dirty="0"/>
              <a:t>@Override</a:t>
            </a:r>
          </a:p>
          <a:p>
            <a:pPr marL="0" indent="0">
              <a:buNone/>
            </a:pPr>
            <a:r>
              <a:rPr lang="en-US" dirty="0"/>
              <a:t>public void </a:t>
            </a:r>
            <a:r>
              <a:rPr lang="en-US" dirty="0" err="1"/>
              <a:t>speedUp</a:t>
            </a:r>
            <a:r>
              <a:rPr lang="en-US" dirty="0"/>
              <a:t>(</a:t>
            </a:r>
            <a:r>
              <a:rPr lang="en-US" dirty="0" err="1"/>
              <a:t>int</a:t>
            </a:r>
            <a:r>
              <a:rPr lang="en-US" dirty="0"/>
              <a:t> increment) {</a:t>
            </a:r>
          </a:p>
          <a:p>
            <a:pPr marL="0" indent="0">
              <a:buNone/>
            </a:pPr>
            <a:endParaRPr lang="en-US" dirty="0"/>
          </a:p>
          <a:p>
            <a:pPr marL="0" indent="0">
              <a:buNone/>
            </a:pPr>
            <a:r>
              <a:rPr lang="en-US" dirty="0"/>
              <a:t>    speed = speed + increment;</a:t>
            </a:r>
          </a:p>
          <a:p>
            <a:pPr marL="0" indent="0">
              <a:buNone/>
            </a:pPr>
            <a:r>
              <a:rPr lang="en-US" dirty="0"/>
              <a:t>}</a:t>
            </a:r>
          </a:p>
        </p:txBody>
      </p:sp>
    </p:spTree>
    <p:extLst>
      <p:ext uri="{BB962C8B-B14F-4D97-AF65-F5344CB8AC3E}">
        <p14:creationId xmlns:p14="http://schemas.microsoft.com/office/powerpoint/2010/main" val="1125395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181600"/>
          </a:xfrm>
        </p:spPr>
        <p:txBody>
          <a:bodyPr>
            <a:normAutofit fontScale="92500" lnSpcReduction="10000"/>
          </a:bodyPr>
          <a:lstStyle/>
          <a:p>
            <a:pPr marL="0" indent="0">
              <a:buNone/>
            </a:pPr>
            <a:r>
              <a:rPr lang="en-US" dirty="0"/>
              <a:t>// to decrease speed</a:t>
            </a:r>
          </a:p>
          <a:p>
            <a:pPr marL="0" indent="0">
              <a:buNone/>
            </a:pPr>
            <a:r>
              <a:rPr lang="en-US" dirty="0"/>
              <a:t>@Override</a:t>
            </a:r>
          </a:p>
          <a:p>
            <a:pPr marL="0" indent="0">
              <a:buNone/>
            </a:pPr>
            <a:r>
              <a:rPr lang="en-US" dirty="0"/>
              <a:t>public void </a:t>
            </a:r>
            <a:r>
              <a:rPr lang="en-US" dirty="0" err="1"/>
              <a:t>applyBrakes</a:t>
            </a:r>
            <a:r>
              <a:rPr lang="en-US" dirty="0"/>
              <a:t>(</a:t>
            </a:r>
            <a:r>
              <a:rPr lang="en-US" dirty="0" err="1"/>
              <a:t>int</a:t>
            </a:r>
            <a:r>
              <a:rPr lang="en-US" dirty="0"/>
              <a:t> decrement) {</a:t>
            </a:r>
          </a:p>
          <a:p>
            <a:pPr marL="0" indent="0">
              <a:buNone/>
            </a:pPr>
            <a:endParaRPr lang="en-US" dirty="0"/>
          </a:p>
          <a:p>
            <a:pPr marL="0" indent="0">
              <a:buNone/>
            </a:pPr>
            <a:r>
              <a:rPr lang="en-US" dirty="0"/>
              <a:t>    speed = speed - decrement;</a:t>
            </a:r>
          </a:p>
          <a:p>
            <a:pPr marL="0" indent="0">
              <a:buNone/>
            </a:pPr>
            <a:r>
              <a:rPr lang="en-US" dirty="0"/>
              <a:t>}</a:t>
            </a:r>
          </a:p>
          <a:p>
            <a:pPr marL="0" indent="0">
              <a:buNone/>
            </a:pPr>
            <a:endParaRPr lang="en-US" dirty="0"/>
          </a:p>
          <a:p>
            <a:pPr marL="0" indent="0">
              <a:buNone/>
            </a:pPr>
            <a:r>
              <a:rPr lang="en-US" dirty="0"/>
              <a:t>public void </a:t>
            </a:r>
            <a:r>
              <a:rPr lang="en-US" dirty="0" err="1"/>
              <a:t>printStates</a:t>
            </a:r>
            <a:r>
              <a:rPr lang="en-US" dirty="0"/>
              <a:t>() {</a:t>
            </a:r>
          </a:p>
          <a:p>
            <a:pPr marL="0" indent="0">
              <a:buNone/>
            </a:pPr>
            <a:r>
              <a:rPr lang="en-US" dirty="0"/>
              <a:t>    </a:t>
            </a:r>
            <a:r>
              <a:rPr lang="en-US" dirty="0" err="1"/>
              <a:t>System.out.println</a:t>
            </a:r>
            <a:r>
              <a:rPr lang="en-US" dirty="0"/>
              <a:t>("speed: " + speed +</a:t>
            </a:r>
          </a:p>
          <a:p>
            <a:pPr marL="0" indent="0">
              <a:buNone/>
            </a:pPr>
            <a:r>
              <a:rPr lang="en-US" dirty="0"/>
              <a:t>        " gear: " + gear);</a:t>
            </a:r>
          </a:p>
          <a:p>
            <a:pPr marL="0" indent="0">
              <a:buNone/>
            </a:pPr>
            <a:r>
              <a:rPr lang="en-US" dirty="0"/>
              <a:t>}</a:t>
            </a:r>
          </a:p>
          <a:p>
            <a:pPr marL="0" indent="0">
              <a:buNone/>
            </a:pPr>
            <a:r>
              <a:rPr lang="en-US" dirty="0"/>
              <a:t>}</a:t>
            </a:r>
          </a:p>
        </p:txBody>
      </p:sp>
    </p:spTree>
    <p:extLst>
      <p:ext uri="{BB962C8B-B14F-4D97-AF65-F5344CB8AC3E}">
        <p14:creationId xmlns:p14="http://schemas.microsoft.com/office/powerpoint/2010/main" val="20597414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486400"/>
          </a:xfrm>
        </p:spPr>
        <p:txBody>
          <a:bodyPr>
            <a:normAutofit fontScale="77500" lnSpcReduction="20000"/>
          </a:bodyPr>
          <a:lstStyle/>
          <a:p>
            <a:pPr marL="0" indent="0">
              <a:buNone/>
            </a:pPr>
            <a:r>
              <a:rPr lang="en-US" dirty="0"/>
              <a:t>class Bike implements Vehicle </a:t>
            </a:r>
            <a:r>
              <a:rPr lang="en-US" dirty="0" smtClean="0"/>
              <a:t>{</a:t>
            </a:r>
            <a:endParaRPr lang="en-US" dirty="0"/>
          </a:p>
          <a:p>
            <a:pPr marL="0" indent="0">
              <a:buNone/>
            </a:pPr>
            <a:r>
              <a:rPr lang="en-US" dirty="0"/>
              <a:t>    </a:t>
            </a:r>
            <a:r>
              <a:rPr lang="en-US" dirty="0" err="1"/>
              <a:t>int</a:t>
            </a:r>
            <a:r>
              <a:rPr lang="en-US" dirty="0"/>
              <a:t> speed;</a:t>
            </a:r>
          </a:p>
          <a:p>
            <a:pPr marL="0" indent="0">
              <a:buNone/>
            </a:pPr>
            <a:r>
              <a:rPr lang="en-US" dirty="0"/>
              <a:t>    </a:t>
            </a:r>
            <a:r>
              <a:rPr lang="en-US" dirty="0" err="1"/>
              <a:t>int</a:t>
            </a:r>
            <a:r>
              <a:rPr lang="en-US" dirty="0"/>
              <a:t> gear</a:t>
            </a:r>
            <a:r>
              <a:rPr lang="en-US" dirty="0" smtClean="0"/>
              <a:t>;</a:t>
            </a:r>
          </a:p>
          <a:p>
            <a:pPr marL="0" indent="0">
              <a:buNone/>
            </a:pPr>
            <a:endParaRPr lang="en-US" dirty="0"/>
          </a:p>
          <a:p>
            <a:pPr marL="0" indent="0">
              <a:buNone/>
            </a:pPr>
            <a:r>
              <a:rPr lang="en-US" dirty="0"/>
              <a:t>// to change gear</a:t>
            </a:r>
          </a:p>
          <a:p>
            <a:pPr marL="0" indent="0">
              <a:buNone/>
            </a:pPr>
            <a:r>
              <a:rPr lang="en-US" dirty="0"/>
              <a:t>@Override</a:t>
            </a:r>
          </a:p>
          <a:p>
            <a:pPr marL="0" indent="0">
              <a:buNone/>
            </a:pPr>
            <a:r>
              <a:rPr lang="en-US" dirty="0"/>
              <a:t>public void </a:t>
            </a:r>
            <a:r>
              <a:rPr lang="en-US" dirty="0" err="1"/>
              <a:t>changeGear</a:t>
            </a:r>
            <a:r>
              <a:rPr lang="en-US" dirty="0"/>
              <a:t>(</a:t>
            </a:r>
            <a:r>
              <a:rPr lang="en-US" dirty="0" err="1"/>
              <a:t>int</a:t>
            </a:r>
            <a:r>
              <a:rPr lang="en-US" dirty="0"/>
              <a:t> </a:t>
            </a:r>
            <a:r>
              <a:rPr lang="en-US" dirty="0" err="1"/>
              <a:t>newGear</a:t>
            </a:r>
            <a:r>
              <a:rPr lang="en-US" dirty="0"/>
              <a:t>) {</a:t>
            </a:r>
          </a:p>
          <a:p>
            <a:pPr marL="0" indent="0">
              <a:buNone/>
            </a:pPr>
            <a:endParaRPr lang="en-US" dirty="0"/>
          </a:p>
          <a:p>
            <a:pPr marL="0" indent="0">
              <a:buNone/>
            </a:pPr>
            <a:r>
              <a:rPr lang="en-US" dirty="0"/>
              <a:t>    gear = </a:t>
            </a:r>
            <a:r>
              <a:rPr lang="en-US" dirty="0" err="1"/>
              <a:t>newGear</a:t>
            </a:r>
            <a:r>
              <a:rPr lang="en-US" dirty="0"/>
              <a:t>;</a:t>
            </a:r>
          </a:p>
          <a:p>
            <a:pPr marL="0" indent="0">
              <a:buNone/>
            </a:pPr>
            <a:r>
              <a:rPr lang="en-US" dirty="0"/>
              <a:t>}</a:t>
            </a:r>
          </a:p>
          <a:p>
            <a:pPr marL="0" indent="0">
              <a:buNone/>
            </a:pPr>
            <a:endParaRPr lang="en-US" dirty="0"/>
          </a:p>
          <a:p>
            <a:pPr marL="0" indent="0">
              <a:buNone/>
            </a:pPr>
            <a:r>
              <a:rPr lang="en-US" dirty="0"/>
              <a:t>// to increase speed</a:t>
            </a:r>
          </a:p>
          <a:p>
            <a:pPr marL="0" indent="0">
              <a:buNone/>
            </a:pPr>
            <a:r>
              <a:rPr lang="en-US" dirty="0"/>
              <a:t>@Override</a:t>
            </a:r>
          </a:p>
          <a:p>
            <a:pPr marL="0" indent="0">
              <a:buNone/>
            </a:pPr>
            <a:r>
              <a:rPr lang="en-US" dirty="0"/>
              <a:t>public void </a:t>
            </a:r>
            <a:r>
              <a:rPr lang="en-US" dirty="0" err="1"/>
              <a:t>speedUp</a:t>
            </a:r>
            <a:r>
              <a:rPr lang="en-US" dirty="0"/>
              <a:t>(</a:t>
            </a:r>
            <a:r>
              <a:rPr lang="en-US" dirty="0" err="1"/>
              <a:t>int</a:t>
            </a:r>
            <a:r>
              <a:rPr lang="en-US" dirty="0"/>
              <a:t> increment) {</a:t>
            </a:r>
          </a:p>
          <a:p>
            <a:pPr marL="0" indent="0">
              <a:buNone/>
            </a:pPr>
            <a:endParaRPr lang="en-US" dirty="0"/>
          </a:p>
          <a:p>
            <a:pPr marL="0" indent="0">
              <a:buNone/>
            </a:pPr>
            <a:r>
              <a:rPr lang="en-US" dirty="0"/>
              <a:t>    speed = speed + increment;</a:t>
            </a:r>
          </a:p>
          <a:p>
            <a:pPr marL="0" indent="0">
              <a:buNone/>
            </a:pPr>
            <a:r>
              <a:rPr lang="en-US" dirty="0"/>
              <a:t>}</a:t>
            </a:r>
          </a:p>
        </p:txBody>
      </p:sp>
    </p:spTree>
    <p:extLst>
      <p:ext uri="{BB962C8B-B14F-4D97-AF65-F5344CB8AC3E}">
        <p14:creationId xmlns:p14="http://schemas.microsoft.com/office/powerpoint/2010/main" val="31957616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562600"/>
          </a:xfrm>
        </p:spPr>
        <p:txBody>
          <a:bodyPr>
            <a:normAutofit fontScale="92500" lnSpcReduction="10000"/>
          </a:bodyPr>
          <a:lstStyle/>
          <a:p>
            <a:pPr marL="0" indent="0">
              <a:buNone/>
            </a:pPr>
            <a:r>
              <a:rPr lang="en-US" dirty="0"/>
              <a:t>// to decrease speed</a:t>
            </a:r>
          </a:p>
          <a:p>
            <a:pPr marL="0" indent="0">
              <a:buNone/>
            </a:pPr>
            <a:r>
              <a:rPr lang="en-US" dirty="0"/>
              <a:t>@Override</a:t>
            </a:r>
          </a:p>
          <a:p>
            <a:pPr marL="0" indent="0">
              <a:buNone/>
            </a:pPr>
            <a:r>
              <a:rPr lang="en-US" dirty="0"/>
              <a:t>public void </a:t>
            </a:r>
            <a:r>
              <a:rPr lang="en-US" dirty="0" err="1"/>
              <a:t>applyBrakes</a:t>
            </a:r>
            <a:r>
              <a:rPr lang="en-US" dirty="0"/>
              <a:t>(</a:t>
            </a:r>
            <a:r>
              <a:rPr lang="en-US" dirty="0" err="1"/>
              <a:t>int</a:t>
            </a:r>
            <a:r>
              <a:rPr lang="en-US" dirty="0"/>
              <a:t> decrement) {</a:t>
            </a:r>
          </a:p>
          <a:p>
            <a:pPr marL="0" indent="0">
              <a:buNone/>
            </a:pPr>
            <a:endParaRPr lang="en-US" dirty="0"/>
          </a:p>
          <a:p>
            <a:pPr marL="0" indent="0">
              <a:buNone/>
            </a:pPr>
            <a:r>
              <a:rPr lang="en-US" dirty="0"/>
              <a:t>    speed = speed - decrement;</a:t>
            </a:r>
          </a:p>
          <a:p>
            <a:pPr marL="0" indent="0">
              <a:buNone/>
            </a:pPr>
            <a:r>
              <a:rPr lang="en-US" dirty="0"/>
              <a:t>}</a:t>
            </a:r>
          </a:p>
          <a:p>
            <a:pPr marL="0" indent="0">
              <a:buNone/>
            </a:pPr>
            <a:endParaRPr lang="en-US" dirty="0"/>
          </a:p>
          <a:p>
            <a:pPr marL="0" indent="0">
              <a:buNone/>
            </a:pPr>
            <a:r>
              <a:rPr lang="en-US" dirty="0"/>
              <a:t>public void </a:t>
            </a:r>
            <a:r>
              <a:rPr lang="en-US" dirty="0" err="1"/>
              <a:t>printStates</a:t>
            </a:r>
            <a:r>
              <a:rPr lang="en-US" dirty="0"/>
              <a:t>() {</a:t>
            </a:r>
          </a:p>
          <a:p>
            <a:pPr marL="0" indent="0">
              <a:buNone/>
            </a:pPr>
            <a:r>
              <a:rPr lang="en-US" dirty="0"/>
              <a:t>    </a:t>
            </a:r>
            <a:r>
              <a:rPr lang="en-US" dirty="0" err="1"/>
              <a:t>System.out.println</a:t>
            </a:r>
            <a:r>
              <a:rPr lang="en-US" dirty="0"/>
              <a:t>("speed: " + speed +</a:t>
            </a:r>
          </a:p>
          <a:p>
            <a:pPr marL="0" indent="0">
              <a:buNone/>
            </a:pPr>
            <a:r>
              <a:rPr lang="en-US" dirty="0"/>
              <a:t>        " gear: " + gear);</a:t>
            </a:r>
          </a:p>
          <a:p>
            <a:pPr marL="0" indent="0">
              <a:buNone/>
            </a:pPr>
            <a:r>
              <a:rPr lang="en-US" dirty="0"/>
              <a:t>}</a:t>
            </a:r>
          </a:p>
          <a:p>
            <a:pPr marL="0" indent="0">
              <a:buNone/>
            </a:pPr>
            <a:endParaRPr lang="en-US" dirty="0"/>
          </a:p>
          <a:p>
            <a:pPr marL="0" indent="0">
              <a:buNone/>
            </a:pPr>
            <a:r>
              <a:rPr lang="en-US" dirty="0"/>
              <a:t>}</a:t>
            </a:r>
          </a:p>
        </p:txBody>
      </p:sp>
    </p:spTree>
    <p:extLst>
      <p:ext uri="{BB962C8B-B14F-4D97-AF65-F5344CB8AC3E}">
        <p14:creationId xmlns:p14="http://schemas.microsoft.com/office/powerpoint/2010/main" val="33195621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1066800"/>
            <a:ext cx="7772400" cy="5334000"/>
          </a:xfrm>
        </p:spPr>
        <p:txBody>
          <a:bodyPr>
            <a:normAutofit fontScale="92500" lnSpcReduction="10000"/>
          </a:bodyPr>
          <a:lstStyle/>
          <a:p>
            <a:pPr marL="0" indent="0">
              <a:buNone/>
            </a:pPr>
            <a:r>
              <a:rPr lang="en-US" dirty="0"/>
              <a:t>class </a:t>
            </a:r>
            <a:r>
              <a:rPr lang="en-US" dirty="0" smtClean="0"/>
              <a:t>Test </a:t>
            </a:r>
            <a:r>
              <a:rPr lang="en-US" dirty="0"/>
              <a:t>{</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 creating an instance of Bicycle</a:t>
            </a:r>
          </a:p>
          <a:p>
            <a:pPr marL="0" indent="0">
              <a:buNone/>
            </a:pPr>
            <a:r>
              <a:rPr lang="en-US" dirty="0"/>
              <a:t>            // doing some operations</a:t>
            </a:r>
          </a:p>
          <a:p>
            <a:pPr marL="0" indent="0">
              <a:buNone/>
            </a:pPr>
            <a:r>
              <a:rPr lang="en-US" dirty="0"/>
              <a:t>            Bicycle </a:t>
            </a:r>
            <a:r>
              <a:rPr lang="en-US" dirty="0" err="1"/>
              <a:t>bicycle</a:t>
            </a:r>
            <a:r>
              <a:rPr lang="en-US" dirty="0"/>
              <a:t> = new Bicycle();</a:t>
            </a:r>
          </a:p>
          <a:p>
            <a:pPr marL="0" indent="0">
              <a:buNone/>
            </a:pPr>
            <a:r>
              <a:rPr lang="en-US" dirty="0"/>
              <a:t>            </a:t>
            </a:r>
            <a:r>
              <a:rPr lang="en-US" dirty="0" err="1"/>
              <a:t>bicycle.changeGear</a:t>
            </a:r>
            <a:r>
              <a:rPr lang="en-US" dirty="0"/>
              <a:t>(2);</a:t>
            </a:r>
          </a:p>
          <a:p>
            <a:pPr marL="0" indent="0">
              <a:buNone/>
            </a:pPr>
            <a:r>
              <a:rPr lang="en-US" dirty="0"/>
              <a:t>            </a:t>
            </a:r>
            <a:r>
              <a:rPr lang="en-US" dirty="0" err="1"/>
              <a:t>bicycle.speedUp</a:t>
            </a:r>
            <a:r>
              <a:rPr lang="en-US" dirty="0"/>
              <a:t>(3);</a:t>
            </a:r>
          </a:p>
          <a:p>
            <a:pPr marL="0" indent="0">
              <a:buNone/>
            </a:pPr>
            <a:r>
              <a:rPr lang="en-US" dirty="0"/>
              <a:t>            </a:t>
            </a:r>
            <a:r>
              <a:rPr lang="en-US" dirty="0" err="1"/>
              <a:t>bicycle.applyBrakes</a:t>
            </a:r>
            <a:r>
              <a:rPr lang="en-US" dirty="0"/>
              <a:t>(1);</a:t>
            </a:r>
          </a:p>
          <a:p>
            <a:pPr marL="0" indent="0">
              <a:buNone/>
            </a:pPr>
            <a:endParaRPr lang="en-US" dirty="0"/>
          </a:p>
          <a:p>
            <a:pPr marL="0" indent="0">
              <a:buNone/>
            </a:pPr>
            <a:r>
              <a:rPr lang="en-US" dirty="0"/>
              <a:t>            </a:t>
            </a:r>
            <a:r>
              <a:rPr lang="en-US" dirty="0" err="1"/>
              <a:t>System.out.println</a:t>
            </a:r>
            <a:r>
              <a:rPr lang="en-US" dirty="0"/>
              <a:t>("Bicycle present state :");</a:t>
            </a:r>
          </a:p>
          <a:p>
            <a:pPr marL="0" indent="0">
              <a:buNone/>
            </a:pPr>
            <a:r>
              <a:rPr lang="en-US" dirty="0"/>
              <a:t>            </a:t>
            </a:r>
            <a:r>
              <a:rPr lang="en-US" dirty="0" err="1"/>
              <a:t>bicycle.printStates</a:t>
            </a:r>
            <a:r>
              <a:rPr lang="en-US" dirty="0"/>
              <a:t>();</a:t>
            </a:r>
          </a:p>
        </p:txBody>
      </p:sp>
    </p:spTree>
    <p:extLst>
      <p:ext uri="{BB962C8B-B14F-4D97-AF65-F5344CB8AC3E}">
        <p14:creationId xmlns:p14="http://schemas.microsoft.com/office/powerpoint/2010/main" val="360805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normAutofit lnSpcReduction="10000"/>
          </a:bodyPr>
          <a:lstStyle/>
          <a:p>
            <a:pPr marL="0" indent="0">
              <a:buNone/>
            </a:pPr>
            <a:r>
              <a:rPr lang="en-US" dirty="0"/>
              <a:t> // creating instance of the bike.</a:t>
            </a:r>
          </a:p>
          <a:p>
            <a:pPr marL="0" indent="0">
              <a:buNone/>
            </a:pPr>
            <a:r>
              <a:rPr lang="en-US" dirty="0"/>
              <a:t> Bike </a:t>
            </a:r>
            <a:r>
              <a:rPr lang="en-US" dirty="0" err="1"/>
              <a:t>bike</a:t>
            </a:r>
            <a:r>
              <a:rPr lang="en-US" dirty="0"/>
              <a:t> = new Bike();</a:t>
            </a:r>
          </a:p>
          <a:p>
            <a:pPr marL="0" indent="0">
              <a:buNone/>
            </a:pPr>
            <a:r>
              <a:rPr lang="en-US" dirty="0"/>
              <a:t> </a:t>
            </a:r>
            <a:r>
              <a:rPr lang="en-US" dirty="0" err="1"/>
              <a:t>bike.changeGear</a:t>
            </a:r>
            <a:r>
              <a:rPr lang="en-US" dirty="0"/>
              <a:t>(1);</a:t>
            </a:r>
          </a:p>
          <a:p>
            <a:pPr marL="0" indent="0">
              <a:buNone/>
            </a:pPr>
            <a:r>
              <a:rPr lang="en-US" dirty="0"/>
              <a:t> </a:t>
            </a:r>
            <a:r>
              <a:rPr lang="en-US" dirty="0" err="1"/>
              <a:t>bike.speedUp</a:t>
            </a:r>
            <a:r>
              <a:rPr lang="en-US" dirty="0"/>
              <a:t>(4);</a:t>
            </a:r>
          </a:p>
          <a:p>
            <a:pPr marL="0" indent="0">
              <a:buNone/>
            </a:pPr>
            <a:r>
              <a:rPr lang="en-US" dirty="0"/>
              <a:t> </a:t>
            </a:r>
            <a:r>
              <a:rPr lang="en-US" dirty="0" err="1"/>
              <a:t>bike.applyBrakes</a:t>
            </a:r>
            <a:r>
              <a:rPr lang="en-US" dirty="0"/>
              <a:t>(3);</a:t>
            </a:r>
          </a:p>
          <a:p>
            <a:pPr marL="0" indent="0">
              <a:buNone/>
            </a:pPr>
            <a:endParaRPr lang="en-US" dirty="0"/>
          </a:p>
          <a:p>
            <a:pPr marL="0" indent="0">
              <a:buNone/>
            </a:pPr>
            <a:r>
              <a:rPr lang="en-US" dirty="0"/>
              <a:t> </a:t>
            </a:r>
            <a:r>
              <a:rPr lang="en-US" dirty="0" err="1"/>
              <a:t>System.out.println</a:t>
            </a:r>
            <a:r>
              <a:rPr lang="en-US" dirty="0"/>
              <a:t>("Bike present state :");</a:t>
            </a:r>
          </a:p>
          <a:p>
            <a:pPr marL="0" indent="0">
              <a:buNone/>
            </a:pPr>
            <a:r>
              <a:rPr lang="en-US" dirty="0"/>
              <a:t> </a:t>
            </a:r>
            <a:r>
              <a:rPr lang="en-US" dirty="0" err="1"/>
              <a:t>bike.printStates</a:t>
            </a:r>
            <a:r>
              <a:rPr lang="en-US" dirty="0"/>
              <a:t>();</a:t>
            </a:r>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12752269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a:xfrm>
            <a:off x="914400" y="1066800"/>
            <a:ext cx="7772400" cy="4953000"/>
          </a:xfrm>
        </p:spPr>
        <p:txBody>
          <a:bodyPr/>
          <a:lstStyle/>
          <a:p>
            <a:pPr marL="0" indent="0">
              <a:buNone/>
            </a:pPr>
            <a:r>
              <a:rPr lang="en-US" dirty="0"/>
              <a:t>Bicycle present state:</a:t>
            </a:r>
          </a:p>
          <a:p>
            <a:pPr marL="0" indent="0">
              <a:buNone/>
            </a:pPr>
            <a:r>
              <a:rPr lang="en-US" dirty="0"/>
              <a:t>    speed: 2 gear: 2</a:t>
            </a:r>
          </a:p>
          <a:p>
            <a:pPr marL="0" indent="0">
              <a:buNone/>
            </a:pPr>
            <a:r>
              <a:rPr lang="en-US" dirty="0"/>
              <a:t>Bike present state:</a:t>
            </a:r>
          </a:p>
          <a:p>
            <a:pPr marL="0" indent="0">
              <a:buNone/>
            </a:pPr>
            <a:r>
              <a:rPr lang="en-US" dirty="0"/>
              <a:t>    speed: 1 gear: 1</a:t>
            </a:r>
          </a:p>
        </p:txBody>
      </p:sp>
    </p:spTree>
    <p:extLst>
      <p:ext uri="{BB962C8B-B14F-4D97-AF65-F5344CB8AC3E}">
        <p14:creationId xmlns:p14="http://schemas.microsoft.com/office/powerpoint/2010/main" val="16367486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Features Added in Interfaces in JDK </a:t>
            </a:r>
            <a:r>
              <a:rPr lang="en-US" dirty="0" smtClean="0"/>
              <a:t>8</a:t>
            </a:r>
            <a:endParaRPr lang="en-US" dirty="0"/>
          </a:p>
        </p:txBody>
      </p:sp>
      <p:sp>
        <p:nvSpPr>
          <p:cNvPr id="3" name="Content Placeholder 2"/>
          <p:cNvSpPr>
            <a:spLocks noGrp="1"/>
          </p:cNvSpPr>
          <p:nvPr>
            <p:ph sz="quarter" idx="1"/>
          </p:nvPr>
        </p:nvSpPr>
        <p:spPr>
          <a:xfrm>
            <a:off x="914400" y="990600"/>
            <a:ext cx="7772400" cy="5029200"/>
          </a:xfrm>
        </p:spPr>
        <p:txBody>
          <a:bodyPr>
            <a:normAutofit lnSpcReduction="10000"/>
          </a:bodyPr>
          <a:lstStyle/>
          <a:p>
            <a:r>
              <a:rPr lang="en-US" dirty="0"/>
              <a:t>We can now add default implementation for interface methods. </a:t>
            </a:r>
            <a:endParaRPr lang="en-US" dirty="0" smtClean="0"/>
          </a:p>
          <a:p>
            <a:r>
              <a:rPr lang="en-US" dirty="0" smtClean="0"/>
              <a:t>This </a:t>
            </a:r>
            <a:r>
              <a:rPr lang="en-US" dirty="0"/>
              <a:t>default implementation has a special use and does not affect the intention behind interfaces</a:t>
            </a:r>
            <a:r>
              <a:rPr lang="en-US" dirty="0" smtClean="0"/>
              <a:t>.</a:t>
            </a:r>
          </a:p>
          <a:p>
            <a:endParaRPr lang="en-US" dirty="0"/>
          </a:p>
          <a:p>
            <a:pPr marL="0" indent="0">
              <a:buNone/>
            </a:pPr>
            <a:r>
              <a:rPr lang="en-US" dirty="0"/>
              <a:t>interface In1 {</a:t>
            </a:r>
          </a:p>
          <a:p>
            <a:pPr marL="0" indent="0">
              <a:buNone/>
            </a:pPr>
            <a:r>
              <a:rPr lang="en-US" dirty="0"/>
              <a:t>    final </a:t>
            </a:r>
            <a:r>
              <a:rPr lang="en-US" dirty="0" err="1"/>
              <a:t>int</a:t>
            </a:r>
            <a:r>
              <a:rPr lang="en-US" dirty="0"/>
              <a:t> a = 10;</a:t>
            </a:r>
          </a:p>
          <a:p>
            <a:pPr marL="0" indent="0">
              <a:buNone/>
            </a:pPr>
            <a:r>
              <a:rPr lang="en-US" dirty="0"/>
              <a:t>    default void display() {</a:t>
            </a:r>
          </a:p>
          <a:p>
            <a:pPr marL="0" indent="0">
              <a:buNone/>
            </a:pPr>
            <a:r>
              <a:rPr lang="en-US" dirty="0"/>
              <a:t>        </a:t>
            </a:r>
            <a:r>
              <a:rPr lang="en-US" dirty="0" err="1"/>
              <a:t>System.out.println</a:t>
            </a:r>
            <a:r>
              <a:rPr lang="en-US" dirty="0"/>
              <a:t>("hello");</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7764661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Features Added in Interfaces in JDK 8</a:t>
            </a:r>
          </a:p>
        </p:txBody>
      </p:sp>
      <p:sp>
        <p:nvSpPr>
          <p:cNvPr id="3" name="Content Placeholder 2"/>
          <p:cNvSpPr>
            <a:spLocks noGrp="1"/>
          </p:cNvSpPr>
          <p:nvPr>
            <p:ph sz="quarter" idx="1"/>
          </p:nvPr>
        </p:nvSpPr>
        <p:spPr>
          <a:xfrm>
            <a:off x="914400" y="1066800"/>
            <a:ext cx="7772400" cy="4572000"/>
          </a:xfrm>
        </p:spPr>
        <p:txBody>
          <a:bodyPr>
            <a:normAutofit lnSpcReduction="10000"/>
          </a:bodyPr>
          <a:lstStyle/>
          <a:p>
            <a:pPr marL="0" indent="0">
              <a:buNone/>
            </a:pPr>
            <a:r>
              <a:rPr lang="en-US" dirty="0"/>
              <a:t>// A class that implements the interface.</a:t>
            </a:r>
          </a:p>
          <a:p>
            <a:pPr marL="0" indent="0">
              <a:buNone/>
            </a:pPr>
            <a:r>
              <a:rPr lang="en-US" dirty="0"/>
              <a:t>class </a:t>
            </a:r>
            <a:r>
              <a:rPr lang="en-US" dirty="0" err="1"/>
              <a:t>TestClass</a:t>
            </a:r>
            <a:r>
              <a:rPr lang="en-US" dirty="0"/>
              <a:t> implements In1 {</a:t>
            </a:r>
          </a:p>
          <a:p>
            <a:pPr marL="0" indent="0">
              <a:buNone/>
            </a:pPr>
            <a:r>
              <a:rPr lang="en-US" dirty="0"/>
              <a:t>    // Driver Code</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TestClass</a:t>
            </a:r>
            <a:r>
              <a:rPr lang="en-US" dirty="0"/>
              <a:t> t = new </a:t>
            </a:r>
            <a:r>
              <a:rPr lang="en-US" dirty="0" err="1"/>
              <a:t>TestClass</a:t>
            </a:r>
            <a:r>
              <a:rPr lang="en-US" dirty="0"/>
              <a:t>();</a:t>
            </a:r>
          </a:p>
          <a:p>
            <a:pPr marL="0" indent="0">
              <a:buNone/>
            </a:pPr>
            <a:r>
              <a:rPr lang="en-US" dirty="0"/>
              <a:t>        </a:t>
            </a:r>
            <a:r>
              <a:rPr lang="en-US" dirty="0" err="1"/>
              <a:t>t.display</a:t>
            </a:r>
            <a:r>
              <a:rPr lang="en-US" dirty="0"/>
              <a:t>();</a:t>
            </a:r>
          </a:p>
          <a:p>
            <a:pPr marL="0" indent="0">
              <a:buNone/>
            </a:pPr>
            <a:r>
              <a:rPr lang="en-US" dirty="0"/>
              <a:t>    }</a:t>
            </a:r>
          </a:p>
          <a:p>
            <a:pPr marL="0" indent="0">
              <a:buNone/>
            </a:pPr>
            <a:r>
              <a:rPr lang="en-US" dirty="0" smtClean="0"/>
              <a:t>}</a:t>
            </a:r>
          </a:p>
          <a:p>
            <a:pPr marL="0" indent="0">
              <a:buNone/>
            </a:pPr>
            <a:endParaRPr lang="en-US" dirty="0"/>
          </a:p>
          <a:p>
            <a:pPr marL="0" indent="0">
              <a:buNone/>
            </a:pPr>
            <a:r>
              <a:rPr lang="en-US" dirty="0" smtClean="0"/>
              <a:t>Output </a:t>
            </a:r>
            <a:r>
              <a:rPr lang="en-US" dirty="0"/>
              <a:t>: hello</a:t>
            </a:r>
          </a:p>
        </p:txBody>
      </p:sp>
    </p:spTree>
    <p:extLst>
      <p:ext uri="{BB962C8B-B14F-4D97-AF65-F5344CB8AC3E}">
        <p14:creationId xmlns:p14="http://schemas.microsoft.com/office/powerpoint/2010/main" val="20939384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Features Added in Interfaces in JDK 8</a:t>
            </a:r>
          </a:p>
        </p:txBody>
      </p:sp>
      <p:sp>
        <p:nvSpPr>
          <p:cNvPr id="3" name="Content Placeholder 2"/>
          <p:cNvSpPr>
            <a:spLocks noGrp="1"/>
          </p:cNvSpPr>
          <p:nvPr>
            <p:ph sz="quarter" idx="1"/>
          </p:nvPr>
        </p:nvSpPr>
        <p:spPr>
          <a:xfrm>
            <a:off x="917812" y="990600"/>
            <a:ext cx="7772400" cy="5410200"/>
          </a:xfrm>
        </p:spPr>
        <p:txBody>
          <a:bodyPr>
            <a:normAutofit/>
          </a:bodyPr>
          <a:lstStyle/>
          <a:p>
            <a:r>
              <a:rPr lang="en-US" dirty="0"/>
              <a:t>Another feature that was added in JDK 8 is that we can now define static methods in interfaces that can be called independently without an object. </a:t>
            </a:r>
            <a:endParaRPr lang="en-US" dirty="0" smtClean="0"/>
          </a:p>
          <a:p>
            <a:r>
              <a:rPr lang="en-US" dirty="0" smtClean="0"/>
              <a:t>Note</a:t>
            </a:r>
            <a:r>
              <a:rPr lang="en-US" dirty="0"/>
              <a:t>: these methods are not inherited</a:t>
            </a:r>
            <a:r>
              <a:rPr lang="en-US" dirty="0" smtClean="0"/>
              <a:t>.</a:t>
            </a:r>
          </a:p>
          <a:p>
            <a:endParaRPr lang="en-US" dirty="0"/>
          </a:p>
          <a:p>
            <a:pPr marL="0" indent="0">
              <a:buNone/>
            </a:pPr>
            <a:r>
              <a:rPr lang="en-US" dirty="0"/>
              <a:t>interface In1 {</a:t>
            </a:r>
          </a:p>
          <a:p>
            <a:pPr marL="0" indent="0">
              <a:buNone/>
            </a:pPr>
            <a:r>
              <a:rPr lang="en-US" dirty="0"/>
              <a:t>    final </a:t>
            </a:r>
            <a:r>
              <a:rPr lang="en-US" dirty="0" err="1"/>
              <a:t>int</a:t>
            </a:r>
            <a:r>
              <a:rPr lang="en-US" dirty="0"/>
              <a:t> a = 10;</a:t>
            </a:r>
          </a:p>
          <a:p>
            <a:pPr marL="0" indent="0">
              <a:buNone/>
            </a:pPr>
            <a:r>
              <a:rPr lang="en-US" dirty="0"/>
              <a:t>    static void display() {</a:t>
            </a:r>
          </a:p>
          <a:p>
            <a:pPr marL="0" indent="0">
              <a:buNone/>
            </a:pPr>
            <a:r>
              <a:rPr lang="en-US" dirty="0"/>
              <a:t>        </a:t>
            </a:r>
            <a:r>
              <a:rPr lang="en-US" dirty="0" err="1"/>
              <a:t>System.out.println</a:t>
            </a:r>
            <a:r>
              <a:rPr lang="en-US" dirty="0"/>
              <a:t>("hello");</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5034443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Features Added in Interfaces in JDK 8</a:t>
            </a:r>
          </a:p>
        </p:txBody>
      </p:sp>
      <p:sp>
        <p:nvSpPr>
          <p:cNvPr id="3" name="Content Placeholder 2"/>
          <p:cNvSpPr>
            <a:spLocks noGrp="1"/>
          </p:cNvSpPr>
          <p:nvPr>
            <p:ph sz="quarter" idx="1"/>
          </p:nvPr>
        </p:nvSpPr>
        <p:spPr>
          <a:xfrm>
            <a:off x="914400" y="1066800"/>
            <a:ext cx="7772400" cy="4572000"/>
          </a:xfrm>
        </p:spPr>
        <p:txBody>
          <a:bodyPr/>
          <a:lstStyle/>
          <a:p>
            <a:pPr marL="0" indent="0">
              <a:buNone/>
            </a:pPr>
            <a:r>
              <a:rPr lang="en-US" dirty="0"/>
              <a:t>// A class that implements the interface.</a:t>
            </a:r>
          </a:p>
          <a:p>
            <a:pPr marL="0" indent="0">
              <a:buNone/>
            </a:pPr>
            <a:r>
              <a:rPr lang="en-US" dirty="0"/>
              <a:t>class </a:t>
            </a:r>
            <a:r>
              <a:rPr lang="en-US" dirty="0" err="1"/>
              <a:t>TestClass</a:t>
            </a:r>
            <a:r>
              <a:rPr lang="en-US" dirty="0"/>
              <a:t> implements In1 {</a:t>
            </a:r>
          </a:p>
          <a:p>
            <a:pPr marL="0" indent="0">
              <a:buNone/>
            </a:pPr>
            <a:r>
              <a:rPr lang="en-US" dirty="0"/>
              <a:t>    // Driver Code</a:t>
            </a:r>
          </a:p>
          <a:p>
            <a:pPr marL="0" indent="0">
              <a:buNone/>
            </a:pPr>
            <a:r>
              <a:rPr lang="en-US" dirty="0"/>
              <a:t>    public static void main(String[] </a:t>
            </a:r>
            <a:r>
              <a:rPr lang="en-US" dirty="0" err="1"/>
              <a:t>args</a:t>
            </a:r>
            <a:r>
              <a:rPr lang="en-US" dirty="0"/>
              <a:t>) {</a:t>
            </a:r>
          </a:p>
          <a:p>
            <a:pPr marL="0" indent="0">
              <a:buNone/>
            </a:pPr>
            <a:r>
              <a:rPr lang="en-US" dirty="0"/>
              <a:t>        In1.display();</a:t>
            </a:r>
          </a:p>
          <a:p>
            <a:pPr marL="0" indent="0">
              <a:buNone/>
            </a:pPr>
            <a:r>
              <a:rPr lang="en-US" dirty="0"/>
              <a:t>    }</a:t>
            </a:r>
          </a:p>
          <a:p>
            <a:pPr marL="0" indent="0">
              <a:buNone/>
            </a:pPr>
            <a:r>
              <a:rPr lang="en-US" dirty="0" smtClean="0"/>
              <a:t>}</a:t>
            </a:r>
          </a:p>
          <a:p>
            <a:pPr marL="0" indent="0">
              <a:buNone/>
            </a:pPr>
            <a:endParaRPr lang="en-US" dirty="0"/>
          </a:p>
          <a:p>
            <a:pPr marL="0" indent="0">
              <a:buNone/>
            </a:pPr>
            <a:r>
              <a:rPr lang="en-US" dirty="0" smtClean="0"/>
              <a:t>Output: hello</a:t>
            </a:r>
            <a:endParaRPr lang="en-US" dirty="0"/>
          </a:p>
        </p:txBody>
      </p:sp>
    </p:spTree>
    <p:extLst>
      <p:ext uri="{BB962C8B-B14F-4D97-AF65-F5344CB8AC3E}">
        <p14:creationId xmlns:p14="http://schemas.microsoft.com/office/powerpoint/2010/main" val="23349271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a:t>
            </a:r>
            <a:r>
              <a:rPr lang="en-US" dirty="0" smtClean="0"/>
              <a:t>Interfaces</a:t>
            </a:r>
            <a:endParaRPr lang="en-US" dirty="0"/>
          </a:p>
        </p:txBody>
      </p:sp>
      <p:sp>
        <p:nvSpPr>
          <p:cNvPr id="3" name="Content Placeholder 2"/>
          <p:cNvSpPr>
            <a:spLocks noGrp="1"/>
          </p:cNvSpPr>
          <p:nvPr>
            <p:ph sz="quarter" idx="1"/>
          </p:nvPr>
        </p:nvSpPr>
        <p:spPr>
          <a:xfrm>
            <a:off x="887104" y="1066800"/>
            <a:ext cx="7772400" cy="5562600"/>
          </a:xfrm>
        </p:spPr>
        <p:txBody>
          <a:bodyPr>
            <a:normAutofit fontScale="92500" lnSpcReduction="10000"/>
          </a:bodyPr>
          <a:lstStyle/>
          <a:p>
            <a:r>
              <a:rPr lang="en-US" dirty="0"/>
              <a:t>One interface can inherit another by use of keyword extends. When a class implements an interface that inherit another interface, it must provide implementation for all method required by the interface inheritance chain</a:t>
            </a:r>
            <a:r>
              <a:rPr lang="en-US" dirty="0" smtClean="0"/>
              <a:t>.</a:t>
            </a:r>
          </a:p>
          <a:p>
            <a:endParaRPr lang="en-US" dirty="0"/>
          </a:p>
          <a:p>
            <a:pPr marL="0" indent="0">
              <a:buNone/>
            </a:pPr>
            <a:r>
              <a:rPr lang="en-US" dirty="0"/>
              <a:t>interface A {</a:t>
            </a:r>
          </a:p>
          <a:p>
            <a:pPr marL="0" indent="0">
              <a:buNone/>
            </a:pPr>
            <a:r>
              <a:rPr lang="en-US" dirty="0"/>
              <a:t>    void method1();</a:t>
            </a:r>
          </a:p>
          <a:p>
            <a:pPr marL="0" indent="0">
              <a:buNone/>
            </a:pPr>
            <a:r>
              <a:rPr lang="en-US" dirty="0"/>
              <a:t>    void method2();</a:t>
            </a:r>
          </a:p>
          <a:p>
            <a:pPr marL="0" indent="0">
              <a:buNone/>
            </a:pPr>
            <a:r>
              <a:rPr lang="en-US" dirty="0"/>
              <a:t>}</a:t>
            </a:r>
          </a:p>
          <a:p>
            <a:pPr marL="0" indent="0">
              <a:buNone/>
            </a:pPr>
            <a:r>
              <a:rPr lang="en-US" dirty="0"/>
              <a:t>// B now includes method1 and method2</a:t>
            </a:r>
          </a:p>
          <a:p>
            <a:pPr marL="0" indent="0">
              <a:buNone/>
            </a:pPr>
            <a:r>
              <a:rPr lang="en-US" dirty="0"/>
              <a:t>interface B extends A {</a:t>
            </a:r>
          </a:p>
          <a:p>
            <a:pPr marL="0" indent="0">
              <a:buNone/>
            </a:pPr>
            <a:r>
              <a:rPr lang="en-US" dirty="0"/>
              <a:t>    void method3();</a:t>
            </a:r>
          </a:p>
          <a:p>
            <a:pPr marL="0" indent="0">
              <a:buNone/>
            </a:pPr>
            <a:r>
              <a:rPr lang="en-US" dirty="0"/>
              <a:t>}</a:t>
            </a:r>
          </a:p>
        </p:txBody>
      </p:sp>
    </p:spTree>
    <p:extLst>
      <p:ext uri="{BB962C8B-B14F-4D97-AF65-F5344CB8AC3E}">
        <p14:creationId xmlns:p14="http://schemas.microsoft.com/office/powerpoint/2010/main" val="8407450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Interfaces</a:t>
            </a:r>
          </a:p>
        </p:txBody>
      </p:sp>
      <p:sp>
        <p:nvSpPr>
          <p:cNvPr id="3" name="Content Placeholder 2"/>
          <p:cNvSpPr>
            <a:spLocks noGrp="1"/>
          </p:cNvSpPr>
          <p:nvPr>
            <p:ph sz="quarter" idx="1"/>
          </p:nvPr>
        </p:nvSpPr>
        <p:spPr>
          <a:xfrm>
            <a:off x="914400" y="990600"/>
            <a:ext cx="7772400" cy="5486400"/>
          </a:xfrm>
        </p:spPr>
        <p:txBody>
          <a:bodyPr>
            <a:normAutofit/>
          </a:bodyPr>
          <a:lstStyle/>
          <a:p>
            <a:pPr marL="0" indent="0">
              <a:buNone/>
            </a:pPr>
            <a:r>
              <a:rPr lang="en-US" dirty="0"/>
              <a:t>class </a:t>
            </a:r>
            <a:r>
              <a:rPr lang="en-US" dirty="0" smtClean="0"/>
              <a:t>Test </a:t>
            </a:r>
            <a:r>
              <a:rPr lang="en-US" dirty="0"/>
              <a:t>implements B {</a:t>
            </a:r>
          </a:p>
          <a:p>
            <a:pPr marL="0" indent="0">
              <a:buNone/>
            </a:pPr>
            <a:r>
              <a:rPr lang="en-US" dirty="0"/>
              <a:t>    public void method1() {</a:t>
            </a:r>
          </a:p>
          <a:p>
            <a:pPr marL="0" indent="0">
              <a:buNone/>
            </a:pPr>
            <a:r>
              <a:rPr lang="en-US" dirty="0"/>
              <a:t>        </a:t>
            </a:r>
            <a:r>
              <a:rPr lang="en-US" dirty="0" err="1"/>
              <a:t>System.out.println</a:t>
            </a:r>
            <a:r>
              <a:rPr lang="en-US" dirty="0"/>
              <a:t>("Method 1");</a:t>
            </a:r>
          </a:p>
          <a:p>
            <a:pPr marL="0" indent="0">
              <a:buNone/>
            </a:pPr>
            <a:r>
              <a:rPr lang="en-US" dirty="0"/>
              <a:t>    }</a:t>
            </a:r>
          </a:p>
          <a:p>
            <a:pPr marL="0" indent="0">
              <a:buNone/>
            </a:pPr>
            <a:r>
              <a:rPr lang="en-US" dirty="0"/>
              <a:t>    public void method2() {</a:t>
            </a:r>
          </a:p>
          <a:p>
            <a:pPr marL="0" indent="0">
              <a:buNone/>
            </a:pPr>
            <a:r>
              <a:rPr lang="en-US" dirty="0"/>
              <a:t>        </a:t>
            </a:r>
            <a:r>
              <a:rPr lang="en-US" dirty="0" err="1"/>
              <a:t>System.out.println</a:t>
            </a:r>
            <a:r>
              <a:rPr lang="en-US" dirty="0"/>
              <a:t>("Method 2");</a:t>
            </a:r>
          </a:p>
          <a:p>
            <a:pPr marL="0" indent="0">
              <a:buNone/>
            </a:pPr>
            <a:r>
              <a:rPr lang="en-US" dirty="0"/>
              <a:t>    }</a:t>
            </a:r>
          </a:p>
          <a:p>
            <a:pPr marL="0" indent="0">
              <a:buNone/>
            </a:pPr>
            <a:r>
              <a:rPr lang="en-US" dirty="0"/>
              <a:t>    public void method3() {</a:t>
            </a:r>
          </a:p>
          <a:p>
            <a:pPr marL="0" indent="0">
              <a:buNone/>
            </a:pPr>
            <a:r>
              <a:rPr lang="en-US" dirty="0"/>
              <a:t>        </a:t>
            </a:r>
            <a:r>
              <a:rPr lang="en-US" dirty="0" err="1"/>
              <a:t>System.out.println</a:t>
            </a:r>
            <a:r>
              <a:rPr lang="en-US" dirty="0"/>
              <a:t>("Method 3");</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2799154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914400" y="990600"/>
            <a:ext cx="7772400" cy="5029200"/>
          </a:xfrm>
        </p:spPr>
        <p:txBody>
          <a:bodyPr>
            <a:normAutofit fontScale="92500" lnSpcReduction="20000"/>
          </a:bodyPr>
          <a:lstStyle/>
          <a:p>
            <a:pPr marL="0" indent="0">
              <a:buNone/>
            </a:pPr>
            <a:r>
              <a:rPr lang="en-US" dirty="0"/>
              <a:t>// Java Program for</a:t>
            </a:r>
          </a:p>
          <a:p>
            <a:pPr marL="0" indent="0">
              <a:buNone/>
            </a:pPr>
            <a:r>
              <a:rPr lang="en-US" dirty="0"/>
              <a:t>// implementation Level wise</a:t>
            </a:r>
          </a:p>
          <a:p>
            <a:pPr marL="0" indent="0">
              <a:buNone/>
            </a:pPr>
            <a:r>
              <a:rPr lang="en-US" dirty="0"/>
              <a:t>import java.io.*;</a:t>
            </a:r>
          </a:p>
          <a:p>
            <a:pPr marL="0" indent="0">
              <a:buNone/>
            </a:pPr>
            <a:r>
              <a:rPr lang="en-US" dirty="0"/>
              <a:t>import </a:t>
            </a:r>
            <a:r>
              <a:rPr lang="en-US" dirty="0" err="1"/>
              <a:t>java.lang</a:t>
            </a:r>
            <a:r>
              <a:rPr lang="en-US" dirty="0"/>
              <a:t>.*;</a:t>
            </a:r>
          </a:p>
          <a:p>
            <a:pPr marL="0" indent="0">
              <a:buNone/>
            </a:pPr>
            <a:r>
              <a:rPr lang="en-US" dirty="0"/>
              <a:t>import </a:t>
            </a:r>
            <a:r>
              <a:rPr lang="en-US" dirty="0" err="1"/>
              <a:t>java.util</a:t>
            </a:r>
            <a:r>
              <a:rPr lang="en-US" dirty="0"/>
              <a:t>.*;</a:t>
            </a:r>
          </a:p>
          <a:p>
            <a:pPr marL="0" indent="0">
              <a:buNone/>
            </a:pPr>
            <a:endParaRPr lang="en-US" dirty="0"/>
          </a:p>
          <a:p>
            <a:pPr marL="0" indent="0">
              <a:buNone/>
            </a:pPr>
            <a:r>
              <a:rPr lang="en-US" dirty="0"/>
              <a:t>// Level 1</a:t>
            </a:r>
          </a:p>
          <a:p>
            <a:pPr marL="0" indent="0">
              <a:buNone/>
            </a:pPr>
            <a:r>
              <a:rPr lang="en-US" dirty="0"/>
              <a:t>interface Bank {</a:t>
            </a:r>
          </a:p>
          <a:p>
            <a:pPr marL="0" indent="0">
              <a:buNone/>
            </a:pPr>
            <a:r>
              <a:rPr lang="en-US" dirty="0"/>
              <a:t>    void deposit();</a:t>
            </a:r>
          </a:p>
          <a:p>
            <a:pPr marL="0" indent="0">
              <a:buNone/>
            </a:pPr>
            <a:r>
              <a:rPr lang="en-US" dirty="0"/>
              <a:t>    void withdraw();</a:t>
            </a:r>
          </a:p>
          <a:p>
            <a:pPr marL="0" indent="0">
              <a:buNone/>
            </a:pPr>
            <a:r>
              <a:rPr lang="en-US" dirty="0"/>
              <a:t>    void loan();</a:t>
            </a:r>
          </a:p>
          <a:p>
            <a:pPr marL="0" indent="0">
              <a:buNone/>
            </a:pPr>
            <a:r>
              <a:rPr lang="en-US" dirty="0"/>
              <a:t>    void account();</a:t>
            </a:r>
          </a:p>
          <a:p>
            <a:pPr marL="0" indent="0">
              <a:buNone/>
            </a:pPr>
            <a:r>
              <a:rPr lang="en-US" dirty="0"/>
              <a:t>}</a:t>
            </a:r>
          </a:p>
        </p:txBody>
      </p:sp>
    </p:spTree>
    <p:extLst>
      <p:ext uri="{BB962C8B-B14F-4D97-AF65-F5344CB8AC3E}">
        <p14:creationId xmlns:p14="http://schemas.microsoft.com/office/powerpoint/2010/main" val="4731797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990600"/>
            <a:ext cx="7772400" cy="5486400"/>
          </a:xfrm>
        </p:spPr>
        <p:txBody>
          <a:bodyPr>
            <a:normAutofit fontScale="92500"/>
          </a:bodyPr>
          <a:lstStyle/>
          <a:p>
            <a:pPr marL="0" indent="0">
              <a:buNone/>
            </a:pPr>
            <a:r>
              <a:rPr lang="en-US" dirty="0"/>
              <a:t>// Level 2</a:t>
            </a:r>
          </a:p>
          <a:p>
            <a:pPr marL="0" indent="0">
              <a:buNone/>
            </a:pPr>
            <a:r>
              <a:rPr lang="en-US" dirty="0"/>
              <a:t>abstract class Dev1 implements Bank {</a:t>
            </a:r>
          </a:p>
          <a:p>
            <a:pPr marL="0" indent="0">
              <a:buNone/>
            </a:pPr>
            <a:r>
              <a:rPr lang="en-US" dirty="0"/>
              <a:t>    public void deposit() {</a:t>
            </a:r>
          </a:p>
          <a:p>
            <a:pPr marL="0" indent="0">
              <a:buNone/>
            </a:pPr>
            <a:r>
              <a:rPr lang="en-US" dirty="0"/>
              <a:t>        </a:t>
            </a:r>
            <a:r>
              <a:rPr lang="en-US" dirty="0" err="1"/>
              <a:t>System.out.println</a:t>
            </a:r>
            <a:r>
              <a:rPr lang="en-US" dirty="0"/>
              <a:t>("Your deposit Amount :" + 100);</a:t>
            </a:r>
          </a:p>
          <a:p>
            <a:pPr marL="0" indent="0">
              <a:buNone/>
            </a:pPr>
            <a:r>
              <a:rPr lang="en-US" dirty="0"/>
              <a:t>    }</a:t>
            </a:r>
          </a:p>
          <a:p>
            <a:pPr marL="0" indent="0">
              <a:buNone/>
            </a:pPr>
            <a:r>
              <a:rPr lang="en-US" dirty="0"/>
              <a:t>}</a:t>
            </a:r>
          </a:p>
          <a:p>
            <a:pPr marL="0" indent="0">
              <a:buNone/>
            </a:pPr>
            <a:endParaRPr lang="en-US" dirty="0"/>
          </a:p>
          <a:p>
            <a:pPr marL="0" indent="0">
              <a:buNone/>
            </a:pPr>
            <a:r>
              <a:rPr lang="en-US" dirty="0"/>
              <a:t>abstract class Dev2 extends Dev1 {</a:t>
            </a:r>
          </a:p>
          <a:p>
            <a:pPr marL="0" indent="0">
              <a:buNone/>
            </a:pPr>
            <a:r>
              <a:rPr lang="en-US" dirty="0"/>
              <a:t>    public void withdraw() {</a:t>
            </a:r>
          </a:p>
          <a:p>
            <a:pPr marL="0" indent="0">
              <a:buNone/>
            </a:pPr>
            <a:r>
              <a:rPr lang="en-US" dirty="0"/>
              <a:t>        </a:t>
            </a:r>
            <a:r>
              <a:rPr lang="en-US" dirty="0" err="1"/>
              <a:t>System.out.println</a:t>
            </a:r>
            <a:r>
              <a:rPr lang="en-US" dirty="0"/>
              <a:t>("Your withdraw Amount :" + 50);</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6726982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a:xfrm>
            <a:off x="914400" y="990600"/>
            <a:ext cx="7772400" cy="5486400"/>
          </a:xfrm>
        </p:spPr>
        <p:txBody>
          <a:bodyPr>
            <a:normAutofit/>
          </a:bodyPr>
          <a:lstStyle/>
          <a:p>
            <a:pPr marL="0" indent="0">
              <a:buNone/>
            </a:pPr>
            <a:r>
              <a:rPr lang="en-US" dirty="0"/>
              <a:t>// Level 3</a:t>
            </a:r>
          </a:p>
          <a:p>
            <a:pPr marL="0" indent="0">
              <a:buNone/>
            </a:pPr>
            <a:r>
              <a:rPr lang="en-US" dirty="0"/>
              <a:t>class Dev3 extends Dev2 {</a:t>
            </a:r>
          </a:p>
          <a:p>
            <a:pPr marL="0" indent="0">
              <a:buNone/>
            </a:pPr>
            <a:r>
              <a:rPr lang="en-US" dirty="0"/>
              <a:t>    public void loan</a:t>
            </a:r>
            <a:r>
              <a:rPr lang="en-US" dirty="0" smtClean="0"/>
              <a:t>()</a:t>
            </a:r>
          </a:p>
          <a:p>
            <a:pPr marL="0" indent="0">
              <a:buNone/>
            </a:pPr>
            <a:r>
              <a:rPr lang="en-US" dirty="0"/>
              <a:t> </a:t>
            </a:r>
            <a:r>
              <a:rPr lang="en-US" dirty="0" smtClean="0"/>
              <a:t>{</a:t>
            </a:r>
          </a:p>
          <a:p>
            <a:pPr marL="0" indent="0">
              <a:buNone/>
            </a:pPr>
            <a:r>
              <a:rPr lang="en-US" dirty="0" err="1" smtClean="0"/>
              <a:t>System.out.println</a:t>
            </a:r>
            <a:r>
              <a:rPr lang="en-US" dirty="0"/>
              <a:t>("Your Loan Amount :" + 10000</a:t>
            </a:r>
            <a:r>
              <a:rPr lang="en-US" dirty="0" smtClean="0"/>
              <a:t>);</a:t>
            </a:r>
          </a:p>
          <a:p>
            <a:pPr marL="0" indent="0">
              <a:buNone/>
            </a:pPr>
            <a:r>
              <a:rPr lang="en-US" dirty="0" smtClean="0"/>
              <a:t>}</a:t>
            </a:r>
            <a:endParaRPr lang="en-US" dirty="0"/>
          </a:p>
          <a:p>
            <a:pPr marL="0" indent="0">
              <a:buNone/>
            </a:pPr>
            <a:r>
              <a:rPr lang="en-US" dirty="0"/>
              <a:t>    public void account() </a:t>
            </a:r>
            <a:endParaRPr lang="en-US" dirty="0" smtClean="0"/>
          </a:p>
          <a:p>
            <a:pPr marL="0" indent="0">
              <a:buNone/>
            </a:pPr>
            <a:r>
              <a:rPr lang="en-US" dirty="0" smtClean="0"/>
              <a:t>{</a:t>
            </a:r>
          </a:p>
          <a:p>
            <a:pPr marL="0" indent="0">
              <a:buNone/>
            </a:pPr>
            <a:r>
              <a:rPr lang="en-US" dirty="0" err="1"/>
              <a:t>System.out.println</a:t>
            </a:r>
            <a:r>
              <a:rPr lang="en-US" dirty="0"/>
              <a:t>("Your account is active ");</a:t>
            </a:r>
          </a:p>
          <a:p>
            <a:pPr marL="0" indent="0">
              <a:buNone/>
            </a:pPr>
            <a:r>
              <a:rPr lang="en-US" dirty="0" smtClean="0"/>
              <a:t>}</a:t>
            </a:r>
            <a:endParaRPr lang="en-US" dirty="0"/>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9403742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sz="quarter" idx="1"/>
          </p:nvPr>
        </p:nvSpPr>
        <p:spPr/>
        <p:txBody>
          <a:bodyPr>
            <a:normAutofit lnSpcReduction="10000"/>
          </a:bodyPr>
          <a:lstStyle/>
          <a:p>
            <a:pPr marL="0" indent="0">
              <a:buNone/>
            </a:pPr>
            <a:r>
              <a:rPr lang="en-US" dirty="0"/>
              <a:t>// Level 4</a:t>
            </a:r>
          </a:p>
          <a:p>
            <a:pPr marL="0" indent="0">
              <a:buNone/>
            </a:pPr>
            <a:r>
              <a:rPr lang="en-US" dirty="0"/>
              <a:t>class </a:t>
            </a:r>
            <a:r>
              <a:rPr lang="en-US" dirty="0" smtClean="0"/>
              <a:t>Test </a:t>
            </a:r>
            <a:r>
              <a:rPr lang="en-US" dirty="0"/>
              <a:t>{</a:t>
            </a:r>
          </a:p>
          <a:p>
            <a:pPr marL="0" indent="0">
              <a:buNone/>
            </a:pPr>
            <a:r>
              <a:rPr lang="en-US" dirty="0"/>
              <a:t>    public static void main(String[] </a:t>
            </a:r>
            <a:r>
              <a:rPr lang="en-US" dirty="0" err="1"/>
              <a:t>args</a:t>
            </a:r>
            <a:r>
              <a:rPr lang="en-US" dirty="0"/>
              <a:t>) {</a:t>
            </a:r>
          </a:p>
          <a:p>
            <a:pPr marL="0" indent="0">
              <a:buNone/>
            </a:pPr>
            <a:r>
              <a:rPr lang="en-US" dirty="0"/>
              <a:t>        Dev3 d = new Dev3();</a:t>
            </a:r>
          </a:p>
          <a:p>
            <a:pPr marL="0" indent="0">
              <a:buNone/>
            </a:pPr>
            <a:r>
              <a:rPr lang="en-US" dirty="0"/>
              <a:t>        </a:t>
            </a:r>
            <a:r>
              <a:rPr lang="en-US" dirty="0" err="1"/>
              <a:t>d.account</a:t>
            </a:r>
            <a:r>
              <a:rPr lang="en-US" dirty="0"/>
              <a:t>();</a:t>
            </a:r>
          </a:p>
          <a:p>
            <a:pPr marL="0" indent="0">
              <a:buNone/>
            </a:pPr>
            <a:r>
              <a:rPr lang="en-US" dirty="0"/>
              <a:t>        </a:t>
            </a:r>
            <a:r>
              <a:rPr lang="en-US" dirty="0" err="1"/>
              <a:t>d.loan</a:t>
            </a:r>
            <a:r>
              <a:rPr lang="en-US" dirty="0"/>
              <a:t>();</a:t>
            </a:r>
          </a:p>
          <a:p>
            <a:pPr marL="0" indent="0">
              <a:buNone/>
            </a:pPr>
            <a:r>
              <a:rPr lang="en-US" dirty="0"/>
              <a:t>        </a:t>
            </a:r>
            <a:r>
              <a:rPr lang="en-US" dirty="0" err="1"/>
              <a:t>d.deposit</a:t>
            </a:r>
            <a:r>
              <a:rPr lang="en-US" dirty="0"/>
              <a:t>();</a:t>
            </a:r>
          </a:p>
          <a:p>
            <a:pPr marL="0" indent="0">
              <a:buNone/>
            </a:pPr>
            <a:r>
              <a:rPr lang="en-US" dirty="0"/>
              <a:t>        </a:t>
            </a:r>
            <a:r>
              <a:rPr lang="en-US" dirty="0" err="1"/>
              <a:t>d.withdraw</a:t>
            </a:r>
            <a:r>
              <a:rPr lang="en-US" dirty="0"/>
              <a:t>();</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24562575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a:t>
            </a:r>
            <a:endParaRPr lang="en-US" dirty="0"/>
          </a:p>
        </p:txBody>
      </p:sp>
      <p:sp>
        <p:nvSpPr>
          <p:cNvPr id="3" name="Content Placeholder 2"/>
          <p:cNvSpPr>
            <a:spLocks noGrp="1"/>
          </p:cNvSpPr>
          <p:nvPr>
            <p:ph sz="quarter" idx="1"/>
          </p:nvPr>
        </p:nvSpPr>
        <p:spPr/>
        <p:txBody>
          <a:bodyPr/>
          <a:lstStyle/>
          <a:p>
            <a:r>
              <a:rPr lang="en-US" dirty="0"/>
              <a:t>Your account is </a:t>
            </a:r>
            <a:r>
              <a:rPr lang="en-US" dirty="0" smtClean="0"/>
              <a:t>active</a:t>
            </a:r>
          </a:p>
          <a:p>
            <a:r>
              <a:rPr lang="en-US" dirty="0"/>
              <a:t>Your </a:t>
            </a:r>
            <a:r>
              <a:rPr lang="en-US" dirty="0" smtClean="0"/>
              <a:t>Loan </a:t>
            </a:r>
            <a:r>
              <a:rPr lang="en-US" dirty="0"/>
              <a:t>Amount </a:t>
            </a:r>
            <a:r>
              <a:rPr lang="en-US" dirty="0" smtClean="0"/>
              <a:t>:10000</a:t>
            </a:r>
          </a:p>
          <a:p>
            <a:r>
              <a:rPr lang="en-US" dirty="0"/>
              <a:t>Your deposit Amount: 100</a:t>
            </a:r>
          </a:p>
          <a:p>
            <a:r>
              <a:rPr lang="en-US" dirty="0"/>
              <a:t>Your withdraw Amount: 50</a:t>
            </a:r>
          </a:p>
        </p:txBody>
      </p:sp>
    </p:spTree>
    <p:extLst>
      <p:ext uri="{BB962C8B-B14F-4D97-AF65-F5344CB8AC3E}">
        <p14:creationId xmlns:p14="http://schemas.microsoft.com/office/powerpoint/2010/main" val="38897256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966</TotalTime>
  <Words>3545</Words>
  <Application>Microsoft Office PowerPoint</Application>
  <PresentationFormat>On-screen Show (4:3)</PresentationFormat>
  <Paragraphs>744</Paragraphs>
  <Slides>77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77</vt:i4>
      </vt:variant>
    </vt:vector>
  </HeadingPairs>
  <TitlesOfParts>
    <vt:vector size="84" baseType="lpstr">
      <vt:lpstr>Arial</vt:lpstr>
      <vt:lpstr>Calibri</vt:lpstr>
      <vt:lpstr>Cambria</vt:lpstr>
      <vt:lpstr>Franklin Gothic Book</vt:lpstr>
      <vt:lpstr>Perpetua</vt:lpstr>
      <vt:lpstr>Wingdings 2</vt:lpstr>
      <vt:lpstr>Equity</vt:lpstr>
      <vt:lpstr>Java Programming</vt:lpstr>
      <vt:lpstr>   Classes and Objects in Java</vt:lpstr>
      <vt:lpstr>Java Classes</vt:lpstr>
      <vt:lpstr>Properties of Java Classes</vt:lpstr>
      <vt:lpstr>Class Declaration in Java</vt:lpstr>
      <vt:lpstr>Example of Java Class</vt:lpstr>
      <vt:lpstr>Components of Java Classes</vt:lpstr>
      <vt:lpstr>Java Objects</vt:lpstr>
      <vt:lpstr>Example of an object: dog</vt:lpstr>
      <vt:lpstr>Declaring Objects</vt:lpstr>
      <vt:lpstr>Initializing a Java object</vt:lpstr>
      <vt:lpstr>Initializing a Java object</vt:lpstr>
      <vt:lpstr>Garbage Collection in Java</vt:lpstr>
      <vt:lpstr>Garbage Collection in Java</vt:lpstr>
      <vt:lpstr>Advantages of Garbage Collection in Java</vt:lpstr>
      <vt:lpstr>The Constructors in Java:</vt:lpstr>
      <vt:lpstr>Example:</vt:lpstr>
      <vt:lpstr>Example:</vt:lpstr>
      <vt:lpstr>Example:</vt:lpstr>
      <vt:lpstr>Example:</vt:lpstr>
      <vt:lpstr>initialization code block</vt:lpstr>
      <vt:lpstr>initialization code block</vt:lpstr>
      <vt:lpstr>initialization code block</vt:lpstr>
      <vt:lpstr>Java Nested and Inner Class</vt:lpstr>
      <vt:lpstr>Java Nested and Inner Class</vt:lpstr>
      <vt:lpstr>Example 1: Inner class</vt:lpstr>
      <vt:lpstr>Example 1: Inner class</vt:lpstr>
      <vt:lpstr>Example 1: Inner class</vt:lpstr>
      <vt:lpstr>Example 1: Inner class</vt:lpstr>
      <vt:lpstr>Static Nested Class</vt:lpstr>
      <vt:lpstr>Example 3: Static Inner Class</vt:lpstr>
      <vt:lpstr>Example 3: Static Inner Class</vt:lpstr>
      <vt:lpstr>Java Anonymous Class</vt:lpstr>
      <vt:lpstr>Java Anonymous Class</vt:lpstr>
      <vt:lpstr>Java Anonymous Class</vt:lpstr>
      <vt:lpstr>Ex 1: Anonymous Class (Extending Class)</vt:lpstr>
      <vt:lpstr>Ex 1: Anonymous Class (Extending Class)</vt:lpstr>
      <vt:lpstr>Ex 1: Anonymous Class (Extending Class)</vt:lpstr>
      <vt:lpstr>Example 2 : Implementing an Interface</vt:lpstr>
      <vt:lpstr>Example 2 : Implementing an Interface</vt:lpstr>
      <vt:lpstr>Abstract Class in Java</vt:lpstr>
      <vt:lpstr>Abstract Class in Java</vt:lpstr>
      <vt:lpstr>Abstract Class in Java</vt:lpstr>
      <vt:lpstr>Abstract Class in Java</vt:lpstr>
      <vt:lpstr>Example of Abstract Class in Java</vt:lpstr>
      <vt:lpstr>Example of Abstract Class in Java</vt:lpstr>
      <vt:lpstr>Properties of Abstract class</vt:lpstr>
      <vt:lpstr>Properties of Abstract class</vt:lpstr>
      <vt:lpstr>Properties of Abstract class</vt:lpstr>
      <vt:lpstr>Properties of Abstract class</vt:lpstr>
      <vt:lpstr>Properties of Abstract class</vt:lpstr>
      <vt:lpstr>Properties of Abstract class</vt:lpstr>
      <vt:lpstr>Properties of Abstract class</vt:lpstr>
      <vt:lpstr>Interface in Java</vt:lpstr>
      <vt:lpstr>Interface in Java</vt:lpstr>
      <vt:lpstr>Interface in Java</vt:lpstr>
      <vt:lpstr>Why do we use an Interface?</vt:lpstr>
      <vt:lpstr>Example</vt:lpstr>
      <vt:lpstr>Example:</vt:lpstr>
      <vt:lpstr>Example:</vt:lpstr>
      <vt:lpstr>Example:</vt:lpstr>
      <vt:lpstr>Example:</vt:lpstr>
      <vt:lpstr>Example:</vt:lpstr>
      <vt:lpstr>Example:</vt:lpstr>
      <vt:lpstr>Example:</vt:lpstr>
      <vt:lpstr>Output</vt:lpstr>
      <vt:lpstr>New Features Added in Interfaces in JDK 8</vt:lpstr>
      <vt:lpstr>New Features Added in Interfaces in JDK 8</vt:lpstr>
      <vt:lpstr>New Features Added in Interfaces in JDK 8</vt:lpstr>
      <vt:lpstr>New Features Added in Interfaces in JDK 8</vt:lpstr>
      <vt:lpstr>Extending Interfaces</vt:lpstr>
      <vt:lpstr>Extending Interfaces</vt:lpstr>
      <vt:lpstr>Example:</vt:lpstr>
      <vt:lpstr>Example:</vt:lpstr>
      <vt:lpstr>Example:</vt:lpstr>
      <vt:lpstr>Example:</vt:lpstr>
      <vt:lpstr>Output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Lab2-01</dc:creator>
  <cp:lastModifiedBy>TUSHAR KATHANE</cp:lastModifiedBy>
  <cp:revision>359</cp:revision>
  <dcterms:created xsi:type="dcterms:W3CDTF">2017-12-14T08:59:32Z</dcterms:created>
  <dcterms:modified xsi:type="dcterms:W3CDTF">2023-08-31T05:56:34Z</dcterms:modified>
</cp:coreProperties>
</file>