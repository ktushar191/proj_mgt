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p:cViewPr varScale="1">
        <p:scale>
          <a:sx n="70" d="100"/>
          <a:sy n="70" d="100"/>
        </p:scale>
        <p:origin x="141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612E1-50BB-4D39-A947-2FA1985E3DC1}" type="datetimeFigureOut">
              <a:rPr lang="en-US" smtClean="0"/>
              <a:t>09-Oct-23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4A13E-E486-4652-91A6-C373BCC91415}" type="slidenum">
              <a:rPr lang="en-US" smtClean="0"/>
              <a:t>‹#›</a:t>
            </a:fld>
            <a:endParaRPr lang="en-US" dirty="0"/>
          </a:p>
        </p:txBody>
      </p:sp>
    </p:spTree>
    <p:extLst>
      <p:ext uri="{BB962C8B-B14F-4D97-AF65-F5344CB8AC3E}">
        <p14:creationId xmlns:p14="http://schemas.microsoft.com/office/powerpoint/2010/main" val="363107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lvl1pPr>
              <a:defRPr>
                <a:latin typeface="Cambria" pitchFamily="18" charset="0"/>
              </a:defRPr>
            </a:lvl1pPr>
          </a:lstStyle>
          <a:p>
            <a:fld id="{1D65F0D8-3483-4E75-BE56-B8181858E28A}" type="datetimeFigureOut">
              <a:rPr lang="en-US" smtClean="0"/>
              <a:pPr/>
              <a:t>09-Oct-23</a:t>
            </a:fld>
            <a:endParaRPr lang="en-US" dirty="0"/>
          </a:p>
        </p:txBody>
      </p:sp>
      <p:sp>
        <p:nvSpPr>
          <p:cNvPr id="17" name="Footer Placeholder 16"/>
          <p:cNvSpPr>
            <a:spLocks noGrp="1"/>
          </p:cNvSpPr>
          <p:nvPr>
            <p:ph type="ftr" sz="quarter" idx="11"/>
          </p:nvPr>
        </p:nvSpPr>
        <p:spPr/>
        <p:txBody>
          <a:bodyPr/>
          <a:lstStyle>
            <a:lvl1pPr>
              <a:defRPr>
                <a:latin typeface="Cambria" pitchFamily="18" charset="0"/>
              </a:defRPr>
            </a:lvl1p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8ED27E2-38FA-439A-8819-60CEBB2B9B55}"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mbria" pitchFamily="18" charset="0"/>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Date Placeholder 2"/>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09-Oct-23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487362"/>
          </a:xfrm>
          <a:prstGeom prst="rect">
            <a:avLst/>
          </a:prstGeom>
          <a:solidFill>
            <a:schemeClr val="accent1">
              <a:alpha val="72000"/>
            </a:schemeClr>
          </a:solidFill>
        </p:spPr>
        <p:txBody>
          <a:bodyPr bIns="91440" anchor="b" anchorCtr="0">
            <a:no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65F0D8-3483-4E75-BE56-B8181858E28A}" type="datetimeFigureOut">
              <a:rPr lang="en-US" smtClean="0"/>
              <a:pPr/>
              <a:t>09-Oct-23</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8ED27E2-38FA-439A-8819-60CEBB2B9B5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800" b="1" kern="1200">
          <a:solidFill>
            <a:schemeClr val="bg1"/>
          </a:solidFill>
          <a:latin typeface="Cambria" pitchFamily="18" charset="0"/>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Cambria" pitchFamily="18" charset="0"/>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Cambria" pitchFamily="18" charset="0"/>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Cambria" pitchFamily="18" charset="0"/>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Cambria" pitchFamily="18" charset="0"/>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Cambria" pitchFamily="18"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0"/>
            <a:ext cx="8229600" cy="1470025"/>
          </a:xfrm>
        </p:spPr>
        <p:txBody>
          <a:bodyPr/>
          <a:lstStyle/>
          <a:p>
            <a:r>
              <a:rPr lang="en-US" b="0" dirty="0"/>
              <a:t>Java Programming</a:t>
            </a:r>
            <a:endParaRPr lang="en-US" dirty="0"/>
          </a:p>
        </p:txBody>
      </p:sp>
      <p:sp>
        <p:nvSpPr>
          <p:cNvPr id="6" name="Rectangle 5"/>
          <p:cNvSpPr/>
          <p:nvPr/>
        </p:nvSpPr>
        <p:spPr>
          <a:xfrm>
            <a:off x="381000" y="3105835"/>
            <a:ext cx="8305800" cy="1323439"/>
          </a:xfrm>
          <a:prstGeom prst="rect">
            <a:avLst/>
          </a:prstGeom>
        </p:spPr>
        <p:txBody>
          <a:bodyPr wrap="square">
            <a:spAutoFit/>
          </a:bodyPr>
          <a:lstStyle/>
          <a:p>
            <a:pPr algn="ctr"/>
            <a:r>
              <a:rPr lang="en-US" sz="4000" b="1" dirty="0"/>
              <a:t>Java Programming</a:t>
            </a:r>
            <a:r>
              <a:rPr lang="en-US" sz="4000" b="1" dirty="0" smtClean="0"/>
              <a:t/>
            </a:r>
            <a:br>
              <a:rPr lang="en-US" sz="4000" b="1" dirty="0" smtClean="0"/>
            </a:br>
            <a:r>
              <a:rPr lang="en-US" sz="4000" dirty="0"/>
              <a:t>IT-11</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563562"/>
          </a:xfrm>
        </p:spPr>
        <p:txBody>
          <a:bodyPr>
            <a:noAutofit/>
          </a:bodyPr>
          <a:lstStyle/>
          <a:p>
            <a:pPr fontAlgn="base"/>
            <a:r>
              <a:rPr lang="en-US" sz="2400" dirty="0" smtClean="0"/>
              <a:t>Exception Handling in Java</a:t>
            </a:r>
            <a:endParaRPr lang="en-US" sz="2400" dirty="0"/>
          </a:p>
        </p:txBody>
      </p:sp>
      <p:sp>
        <p:nvSpPr>
          <p:cNvPr id="3" name="Content Placeholder 2"/>
          <p:cNvSpPr>
            <a:spLocks noGrp="1"/>
          </p:cNvSpPr>
          <p:nvPr>
            <p:ph sz="quarter" idx="1"/>
          </p:nvPr>
        </p:nvSpPr>
        <p:spPr>
          <a:xfrm>
            <a:off x="321860" y="1066800"/>
            <a:ext cx="8610600" cy="5562600"/>
          </a:xfrm>
        </p:spPr>
        <p:txBody>
          <a:bodyPr>
            <a:normAutofit fontScale="92500"/>
          </a:bodyPr>
          <a:lstStyle/>
          <a:p>
            <a:pPr>
              <a:lnSpc>
                <a:spcPct val="150000"/>
              </a:lnSpc>
            </a:pPr>
            <a:r>
              <a:rPr lang="en-US" dirty="0" smtClean="0"/>
              <a:t>An</a:t>
            </a:r>
            <a:r>
              <a:rPr lang="en-US" dirty="0"/>
              <a:t> </a:t>
            </a:r>
            <a:r>
              <a:rPr lang="en-US" i="1" dirty="0"/>
              <a:t>exception</a:t>
            </a:r>
            <a:r>
              <a:rPr lang="en-US" dirty="0"/>
              <a:t> is an error event that can happen during the execution of a program and disrupts its normal flow</a:t>
            </a:r>
            <a:r>
              <a:rPr lang="en-US" dirty="0" smtClean="0"/>
              <a:t>.</a:t>
            </a:r>
          </a:p>
          <a:p>
            <a:pPr>
              <a:lnSpc>
                <a:spcPct val="150000"/>
              </a:lnSpc>
            </a:pPr>
            <a:r>
              <a:rPr lang="en-US" dirty="0" smtClean="0"/>
              <a:t> </a:t>
            </a:r>
            <a:r>
              <a:rPr lang="en-US" dirty="0"/>
              <a:t>Java provides a robust and object-oriented way to handle exception scenarios known as Java </a:t>
            </a:r>
            <a:r>
              <a:rPr lang="en-US" b="1" dirty="0"/>
              <a:t>Exception Handling</a:t>
            </a:r>
            <a:r>
              <a:rPr lang="en-US" dirty="0"/>
              <a:t>.</a:t>
            </a:r>
          </a:p>
          <a:p>
            <a:pPr>
              <a:lnSpc>
                <a:spcPct val="150000"/>
              </a:lnSpc>
            </a:pPr>
            <a:r>
              <a:rPr lang="en-US" dirty="0"/>
              <a:t>Exceptions in Java can arise from different kinds of situations such as wrong data entered by the user, hardware failure, network connection failure, or a database server that is </a:t>
            </a:r>
            <a:r>
              <a:rPr lang="en-US" dirty="0" smtClean="0"/>
              <a:t>down.</a:t>
            </a:r>
          </a:p>
          <a:p>
            <a:pPr>
              <a:lnSpc>
                <a:spcPct val="150000"/>
              </a:lnSpc>
            </a:pPr>
            <a:r>
              <a:rPr lang="en-US" dirty="0" smtClean="0"/>
              <a:t>The </a:t>
            </a:r>
            <a:r>
              <a:rPr lang="en-US" dirty="0"/>
              <a:t>code that specifies what to do in specific exception scenarios is called </a:t>
            </a:r>
            <a:r>
              <a:rPr lang="en-US" b="1" dirty="0"/>
              <a:t>exception handling.</a:t>
            </a:r>
          </a:p>
          <a:p>
            <a:pPr>
              <a:lnSpc>
                <a:spcPct val="150000"/>
              </a:lnSpc>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Exception in Java?</a:t>
            </a:r>
          </a:p>
        </p:txBody>
      </p:sp>
      <p:sp>
        <p:nvSpPr>
          <p:cNvPr id="3" name="Content Placeholder 2"/>
          <p:cNvSpPr>
            <a:spLocks noGrp="1"/>
          </p:cNvSpPr>
          <p:nvPr>
            <p:ph sz="quarter" idx="1"/>
          </p:nvPr>
        </p:nvSpPr>
        <p:spPr>
          <a:xfrm>
            <a:off x="914400" y="1447800"/>
            <a:ext cx="7772400" cy="3733800"/>
          </a:xfrm>
        </p:spPr>
        <p:txBody>
          <a:bodyPr>
            <a:normAutofit/>
          </a:bodyPr>
          <a:lstStyle/>
          <a:p>
            <a:pPr>
              <a:lnSpc>
                <a:spcPct val="150000"/>
              </a:lnSpc>
            </a:pPr>
            <a:r>
              <a:rPr lang="en-US" dirty="0"/>
              <a:t>An exception is an unwanted or unexpected event that occurs during the execution of the program, that disrupts the flow of the program.</a:t>
            </a:r>
          </a:p>
          <a:p>
            <a:pPr>
              <a:lnSpc>
                <a:spcPct val="150000"/>
              </a:lnSpc>
            </a:pPr>
            <a:r>
              <a:rPr lang="en-US" dirty="0"/>
              <a:t>For example, if a user is trying to divide an integer by 0 then it is an exception, as it is not possible mathematically.</a:t>
            </a:r>
          </a:p>
          <a:p>
            <a:endParaRPr lang="en-US" dirty="0"/>
          </a:p>
        </p:txBody>
      </p:sp>
    </p:spTree>
    <p:extLst>
      <p:ext uri="{BB962C8B-B14F-4D97-AF65-F5344CB8AC3E}">
        <p14:creationId xmlns:p14="http://schemas.microsoft.com/office/powerpoint/2010/main" val="2272592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Exception in Java?</a:t>
            </a:r>
          </a:p>
        </p:txBody>
      </p:sp>
      <p:sp>
        <p:nvSpPr>
          <p:cNvPr id="3" name="Content Placeholder 2"/>
          <p:cNvSpPr>
            <a:spLocks noGrp="1"/>
          </p:cNvSpPr>
          <p:nvPr>
            <p:ph sz="quarter" idx="1"/>
          </p:nvPr>
        </p:nvSpPr>
        <p:spPr>
          <a:xfrm>
            <a:off x="914400" y="990600"/>
            <a:ext cx="7772400" cy="5562600"/>
          </a:xfrm>
        </p:spPr>
        <p:txBody>
          <a:bodyPr>
            <a:normAutofit/>
          </a:bodyPr>
          <a:lstStyle/>
          <a:p>
            <a:pPr>
              <a:lnSpc>
                <a:spcPct val="150000"/>
              </a:lnSpc>
            </a:pPr>
            <a:r>
              <a:rPr lang="en-US" dirty="0"/>
              <a:t>There are various types of interruptions while executing any program like errors, exceptions, and bugs. These interruptions can be due to programming mistakes or due to system issues. Depending on the conditions they can be classified as </a:t>
            </a:r>
            <a:r>
              <a:rPr lang="en-US" b="1" dirty="0"/>
              <a:t>errors</a:t>
            </a:r>
            <a:r>
              <a:rPr lang="en-US" dirty="0"/>
              <a:t> and </a:t>
            </a:r>
            <a:r>
              <a:rPr lang="en-US" b="1" dirty="0"/>
              <a:t>exceptions</a:t>
            </a:r>
            <a:r>
              <a:rPr lang="en-US" dirty="0"/>
              <a:t>.</a:t>
            </a:r>
          </a:p>
          <a:p>
            <a:pPr>
              <a:lnSpc>
                <a:spcPct val="150000"/>
              </a:lnSpc>
            </a:pPr>
            <a:r>
              <a:rPr lang="en-US" dirty="0"/>
              <a:t>Java has classes that are used to </a:t>
            </a:r>
            <a:r>
              <a:rPr lang="en-US" b="1" dirty="0"/>
              <a:t>handle built-in exceptions</a:t>
            </a:r>
            <a:r>
              <a:rPr lang="en-US" dirty="0"/>
              <a:t> and provision to create </a:t>
            </a:r>
            <a:r>
              <a:rPr lang="en-US" b="1" dirty="0"/>
              <a:t>user-defined exceptions.</a:t>
            </a:r>
          </a:p>
          <a:p>
            <a:endParaRPr lang="en-US" dirty="0"/>
          </a:p>
        </p:txBody>
      </p:sp>
    </p:spTree>
    <p:extLst>
      <p:ext uri="{BB962C8B-B14F-4D97-AF65-F5344CB8AC3E}">
        <p14:creationId xmlns:p14="http://schemas.microsoft.com/office/powerpoint/2010/main" val="3095726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Errors and Exceptions</a:t>
            </a:r>
            <a:endParaRPr lang="en-US" dirty="0"/>
          </a:p>
        </p:txBody>
      </p:sp>
      <p:sp>
        <p:nvSpPr>
          <p:cNvPr id="3" name="Content Placeholder 2"/>
          <p:cNvSpPr>
            <a:spLocks noGrp="1"/>
          </p:cNvSpPr>
          <p:nvPr>
            <p:ph sz="quarter" idx="1"/>
          </p:nvPr>
        </p:nvSpPr>
        <p:spPr>
          <a:xfrm>
            <a:off x="914400" y="990600"/>
            <a:ext cx="7772400" cy="5562600"/>
          </a:xfrm>
        </p:spPr>
        <p:txBody>
          <a:bodyPr>
            <a:normAutofit/>
          </a:bodyPr>
          <a:lstStyle/>
          <a:p>
            <a:r>
              <a:rPr lang="en-US" b="1" dirty="0" smtClean="0"/>
              <a:t>Exception:</a:t>
            </a:r>
          </a:p>
          <a:p>
            <a:pPr lvl="1">
              <a:lnSpc>
                <a:spcPct val="150000"/>
              </a:lnSpc>
            </a:pPr>
            <a:r>
              <a:rPr lang="en-US" dirty="0"/>
              <a:t>As mentioned earlier exceptions are unwanted conditions that disrupt the flow of the program.</a:t>
            </a:r>
          </a:p>
          <a:p>
            <a:pPr lvl="1">
              <a:lnSpc>
                <a:spcPct val="150000"/>
              </a:lnSpc>
            </a:pPr>
            <a:r>
              <a:rPr lang="en-US" dirty="0"/>
              <a:t>Exceptions usually occur due to the code and can be recovered.</a:t>
            </a:r>
          </a:p>
          <a:p>
            <a:pPr lvl="1">
              <a:lnSpc>
                <a:spcPct val="150000"/>
              </a:lnSpc>
            </a:pPr>
            <a:r>
              <a:rPr lang="en-US" dirty="0"/>
              <a:t>Exceptions can be of both </a:t>
            </a:r>
            <a:r>
              <a:rPr lang="en-US" b="1" dirty="0"/>
              <a:t>checked</a:t>
            </a:r>
            <a:r>
              <a:rPr lang="en-US" dirty="0"/>
              <a:t>(exceptions that are checked by the compiler) and </a:t>
            </a:r>
            <a:r>
              <a:rPr lang="en-US" b="1" dirty="0"/>
              <a:t>unchecked</a:t>
            </a:r>
            <a:r>
              <a:rPr lang="en-US" dirty="0"/>
              <a:t>(exceptions that cannot be checked by the compiler) type.</a:t>
            </a:r>
          </a:p>
          <a:p>
            <a:pPr lvl="1">
              <a:lnSpc>
                <a:spcPct val="150000"/>
              </a:lnSpc>
            </a:pPr>
            <a:endParaRPr lang="en-US" dirty="0"/>
          </a:p>
        </p:txBody>
      </p:sp>
    </p:spTree>
    <p:extLst>
      <p:ext uri="{BB962C8B-B14F-4D97-AF65-F5344CB8AC3E}">
        <p14:creationId xmlns:p14="http://schemas.microsoft.com/office/powerpoint/2010/main" val="3427583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Errors and Exceptions</a:t>
            </a:r>
          </a:p>
        </p:txBody>
      </p:sp>
      <p:sp>
        <p:nvSpPr>
          <p:cNvPr id="3" name="Content Placeholder 2"/>
          <p:cNvSpPr>
            <a:spLocks noGrp="1"/>
          </p:cNvSpPr>
          <p:nvPr>
            <p:ph sz="quarter" idx="1"/>
          </p:nvPr>
        </p:nvSpPr>
        <p:spPr/>
        <p:txBody>
          <a:bodyPr/>
          <a:lstStyle/>
          <a:p>
            <a:pPr lvl="1">
              <a:lnSpc>
                <a:spcPct val="150000"/>
              </a:lnSpc>
            </a:pPr>
            <a:r>
              <a:rPr lang="en-US" b="1" dirty="0"/>
              <a:t>Exception:</a:t>
            </a:r>
          </a:p>
          <a:p>
            <a:pPr lvl="2">
              <a:lnSpc>
                <a:spcPct val="150000"/>
              </a:lnSpc>
            </a:pPr>
            <a:r>
              <a:rPr lang="en-US" dirty="0" smtClean="0"/>
              <a:t>They </a:t>
            </a:r>
            <a:r>
              <a:rPr lang="en-US" dirty="0"/>
              <a:t>can occur at both run time and compile time.</a:t>
            </a:r>
          </a:p>
          <a:p>
            <a:pPr lvl="2">
              <a:lnSpc>
                <a:spcPct val="150000"/>
              </a:lnSpc>
            </a:pPr>
            <a:r>
              <a:rPr lang="en-US" dirty="0"/>
              <a:t>In Java, exceptions belong to </a:t>
            </a:r>
            <a:r>
              <a:rPr lang="en-US" dirty="0" err="1"/>
              <a:t>java.lang.Exception</a:t>
            </a:r>
            <a:r>
              <a:rPr lang="en-US" dirty="0"/>
              <a:t> class.</a:t>
            </a:r>
          </a:p>
          <a:p>
            <a:pPr lvl="2">
              <a:lnSpc>
                <a:spcPct val="150000"/>
              </a:lnSpc>
            </a:pPr>
            <a:endParaRPr lang="en-US" b="1" dirty="0"/>
          </a:p>
          <a:p>
            <a:endParaRPr lang="en-US" dirty="0"/>
          </a:p>
        </p:txBody>
      </p:sp>
    </p:spTree>
    <p:extLst>
      <p:ext uri="{BB962C8B-B14F-4D97-AF65-F5344CB8AC3E}">
        <p14:creationId xmlns:p14="http://schemas.microsoft.com/office/powerpoint/2010/main" val="306090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Errors and Exceptions</a:t>
            </a:r>
          </a:p>
        </p:txBody>
      </p:sp>
      <p:sp>
        <p:nvSpPr>
          <p:cNvPr id="3" name="Content Placeholder 2"/>
          <p:cNvSpPr>
            <a:spLocks noGrp="1"/>
          </p:cNvSpPr>
          <p:nvPr>
            <p:ph sz="quarter" idx="1"/>
          </p:nvPr>
        </p:nvSpPr>
        <p:spPr>
          <a:xfrm>
            <a:off x="914400" y="990600"/>
            <a:ext cx="7772400" cy="5638800"/>
          </a:xfrm>
        </p:spPr>
        <p:txBody>
          <a:bodyPr>
            <a:normAutofit lnSpcReduction="10000"/>
          </a:bodyPr>
          <a:lstStyle/>
          <a:p>
            <a:r>
              <a:rPr lang="en-US" b="1" dirty="0" smtClean="0"/>
              <a:t>Error:</a:t>
            </a:r>
          </a:p>
          <a:p>
            <a:pPr lvl="1">
              <a:lnSpc>
                <a:spcPct val="150000"/>
              </a:lnSpc>
            </a:pPr>
            <a:r>
              <a:rPr lang="en-US" dirty="0"/>
              <a:t>An error is also an unwanted condition but it is caused due to lack of resources and indicates a serious problem.</a:t>
            </a:r>
          </a:p>
          <a:p>
            <a:pPr lvl="1">
              <a:lnSpc>
                <a:spcPct val="150000"/>
              </a:lnSpc>
            </a:pPr>
            <a:r>
              <a:rPr lang="en-US" dirty="0"/>
              <a:t>Errors are irrecoverable, they cannot be handled by the programmers.</a:t>
            </a:r>
          </a:p>
          <a:p>
            <a:pPr lvl="1">
              <a:lnSpc>
                <a:spcPct val="150000"/>
              </a:lnSpc>
            </a:pPr>
            <a:r>
              <a:rPr lang="en-US" dirty="0"/>
              <a:t>Errors are of </a:t>
            </a:r>
            <a:r>
              <a:rPr lang="en-US" b="1" dirty="0"/>
              <a:t>unchecked</a:t>
            </a:r>
            <a:r>
              <a:rPr lang="en-US" dirty="0"/>
              <a:t> type only.</a:t>
            </a:r>
          </a:p>
          <a:p>
            <a:pPr lvl="1">
              <a:lnSpc>
                <a:spcPct val="150000"/>
              </a:lnSpc>
            </a:pPr>
            <a:r>
              <a:rPr lang="en-US" dirty="0"/>
              <a:t>They can occur only at run time.</a:t>
            </a:r>
          </a:p>
          <a:p>
            <a:pPr lvl="1">
              <a:lnSpc>
                <a:spcPct val="150000"/>
              </a:lnSpc>
            </a:pPr>
            <a:r>
              <a:rPr lang="en-US" dirty="0"/>
              <a:t>In java, errors belong to </a:t>
            </a:r>
            <a:r>
              <a:rPr lang="en-US" dirty="0" err="1"/>
              <a:t>java.lang.error</a:t>
            </a:r>
            <a:r>
              <a:rPr lang="en-US" dirty="0"/>
              <a:t> class.</a:t>
            </a:r>
          </a:p>
          <a:p>
            <a:pPr lvl="1">
              <a:lnSpc>
                <a:spcPct val="150000"/>
              </a:lnSpc>
            </a:pPr>
            <a:r>
              <a:rPr lang="en-US" dirty="0" err="1"/>
              <a:t>Eg</a:t>
            </a:r>
            <a:r>
              <a:rPr lang="en-US" dirty="0"/>
              <a:t>: </a:t>
            </a:r>
            <a:r>
              <a:rPr lang="en-US" dirty="0" err="1"/>
              <a:t>OutOfMemmoryError</a:t>
            </a:r>
            <a:r>
              <a:rPr lang="en-US" dirty="0"/>
              <a:t>.</a:t>
            </a:r>
          </a:p>
          <a:p>
            <a:pPr lvl="2">
              <a:lnSpc>
                <a:spcPct val="150000"/>
              </a:lnSpc>
            </a:pPr>
            <a:endParaRPr lang="en-US" b="1" dirty="0"/>
          </a:p>
          <a:p>
            <a:endParaRPr lang="en-US" dirty="0"/>
          </a:p>
        </p:txBody>
      </p:sp>
    </p:spTree>
    <p:extLst>
      <p:ext uri="{BB962C8B-B14F-4D97-AF65-F5344CB8AC3E}">
        <p14:creationId xmlns:p14="http://schemas.microsoft.com/office/powerpoint/2010/main" val="434591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a:t>
            </a:r>
            <a:r>
              <a:rPr lang="en-US" dirty="0" smtClean="0"/>
              <a:t>Hierarchy</a:t>
            </a:r>
            <a:endParaRPr lang="en-US" dirty="0"/>
          </a:p>
        </p:txBody>
      </p:sp>
      <p:sp>
        <p:nvSpPr>
          <p:cNvPr id="3" name="Content Placeholder 2"/>
          <p:cNvSpPr>
            <a:spLocks noGrp="1"/>
          </p:cNvSpPr>
          <p:nvPr>
            <p:ph sz="quarter" idx="1"/>
          </p:nvPr>
        </p:nvSpPr>
        <p:spPr>
          <a:xfrm>
            <a:off x="914400" y="990600"/>
            <a:ext cx="7772400" cy="5486400"/>
          </a:xfrm>
        </p:spPr>
        <p:txBody>
          <a:bodyPr>
            <a:normAutofit/>
          </a:bodyPr>
          <a:lstStyle/>
          <a:p>
            <a:pPr>
              <a:lnSpc>
                <a:spcPct val="150000"/>
              </a:lnSpc>
            </a:pPr>
            <a:r>
              <a:rPr lang="en-US" dirty="0"/>
              <a:t>All exception and error types are subclasses of the class </a:t>
            </a:r>
            <a:r>
              <a:rPr lang="en-US" b="1" dirty="0" err="1"/>
              <a:t>Throwable</a:t>
            </a:r>
            <a:r>
              <a:rPr lang="en-US" dirty="0"/>
              <a:t>, which is the base class of the hierarchy. </a:t>
            </a:r>
            <a:endParaRPr lang="en-US" dirty="0" smtClean="0"/>
          </a:p>
          <a:p>
            <a:pPr>
              <a:lnSpc>
                <a:spcPct val="150000"/>
              </a:lnSpc>
            </a:pPr>
            <a:r>
              <a:rPr lang="en-US" dirty="0" smtClean="0"/>
              <a:t>One </a:t>
            </a:r>
            <a:r>
              <a:rPr lang="en-US" dirty="0"/>
              <a:t>branch is headed by </a:t>
            </a:r>
            <a:r>
              <a:rPr lang="en-US" b="1" dirty="0"/>
              <a:t>Exception</a:t>
            </a:r>
            <a:r>
              <a:rPr lang="en-US" dirty="0"/>
              <a:t>. </a:t>
            </a:r>
            <a:endParaRPr lang="en-US" dirty="0" smtClean="0"/>
          </a:p>
          <a:p>
            <a:pPr>
              <a:lnSpc>
                <a:spcPct val="150000"/>
              </a:lnSpc>
            </a:pPr>
            <a:r>
              <a:rPr lang="en-US" dirty="0" smtClean="0"/>
              <a:t>This </a:t>
            </a:r>
            <a:r>
              <a:rPr lang="en-US" dirty="0"/>
              <a:t>class is used for exceptional conditions that user programs should catch. </a:t>
            </a:r>
            <a:r>
              <a:rPr lang="en-US" dirty="0" err="1"/>
              <a:t>NullPointerException</a:t>
            </a:r>
            <a:r>
              <a:rPr lang="en-US" dirty="0"/>
              <a:t> is an example of such an exception. </a:t>
            </a:r>
            <a:endParaRPr lang="en-US" dirty="0" smtClean="0"/>
          </a:p>
        </p:txBody>
      </p:sp>
    </p:spTree>
    <p:extLst>
      <p:ext uri="{BB962C8B-B14F-4D97-AF65-F5344CB8AC3E}">
        <p14:creationId xmlns:p14="http://schemas.microsoft.com/office/powerpoint/2010/main" val="1167718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Hierarchy</a:t>
            </a:r>
          </a:p>
        </p:txBody>
      </p:sp>
      <p:sp>
        <p:nvSpPr>
          <p:cNvPr id="3" name="Content Placeholder 2"/>
          <p:cNvSpPr>
            <a:spLocks noGrp="1"/>
          </p:cNvSpPr>
          <p:nvPr>
            <p:ph sz="quarter" idx="1"/>
          </p:nvPr>
        </p:nvSpPr>
        <p:spPr>
          <a:xfrm>
            <a:off x="914400" y="1447800"/>
            <a:ext cx="7772400" cy="2667000"/>
          </a:xfrm>
        </p:spPr>
        <p:txBody>
          <a:bodyPr/>
          <a:lstStyle/>
          <a:p>
            <a:pPr>
              <a:lnSpc>
                <a:spcPct val="150000"/>
              </a:lnSpc>
            </a:pPr>
            <a:r>
              <a:rPr lang="en-US" dirty="0"/>
              <a:t>Another branch, </a:t>
            </a:r>
            <a:r>
              <a:rPr lang="en-US" b="1" dirty="0"/>
              <a:t>Error</a:t>
            </a:r>
            <a:r>
              <a:rPr lang="en-US" dirty="0"/>
              <a:t> is used by the Java run-time system(JVM) to indicate errors having to do with the run-time environment itself(JRE). </a:t>
            </a:r>
          </a:p>
          <a:p>
            <a:pPr>
              <a:lnSpc>
                <a:spcPct val="150000"/>
              </a:lnSpc>
            </a:pPr>
            <a:r>
              <a:rPr lang="en-US" dirty="0" err="1"/>
              <a:t>StackOverflowError</a:t>
            </a:r>
            <a:r>
              <a:rPr lang="en-US" dirty="0"/>
              <a:t> is an example of such an error.</a:t>
            </a:r>
          </a:p>
          <a:p>
            <a:endParaRPr lang="en-US" dirty="0"/>
          </a:p>
        </p:txBody>
      </p:sp>
      <p:pic>
        <p:nvPicPr>
          <p:cNvPr id="4" name="Picture 3"/>
          <p:cNvPicPr>
            <a:picLocks noChangeAspect="1"/>
          </p:cNvPicPr>
          <p:nvPr/>
        </p:nvPicPr>
        <p:blipFill>
          <a:blip r:embed="rId2"/>
          <a:stretch>
            <a:fillRect/>
          </a:stretch>
        </p:blipFill>
        <p:spPr>
          <a:xfrm>
            <a:off x="2709510" y="3054063"/>
            <a:ext cx="3724979" cy="749873"/>
          </a:xfrm>
          <a:prstGeom prst="rect">
            <a:avLst/>
          </a:prstGeom>
        </p:spPr>
      </p:pic>
    </p:spTree>
    <p:extLst>
      <p:ext uri="{BB962C8B-B14F-4D97-AF65-F5344CB8AC3E}">
        <p14:creationId xmlns:p14="http://schemas.microsoft.com/office/powerpoint/2010/main" val="3983970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Hierarchy</a:t>
            </a:r>
          </a:p>
        </p:txBody>
      </p:sp>
      <p:pic>
        <p:nvPicPr>
          <p:cNvPr id="1026" name="Picture 2" descr="Exception Hierarchy in Java"/>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75512" y="990600"/>
            <a:ext cx="8207876" cy="494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259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
            </a:r>
            <a:r>
              <a:rPr lang="en-US" dirty="0" smtClean="0"/>
              <a:t>Exceptions</a:t>
            </a:r>
            <a:endParaRPr lang="en-US" dirty="0"/>
          </a:p>
        </p:txBody>
      </p:sp>
      <p:sp>
        <p:nvSpPr>
          <p:cNvPr id="3" name="Content Placeholder 2"/>
          <p:cNvSpPr>
            <a:spLocks noGrp="1"/>
          </p:cNvSpPr>
          <p:nvPr>
            <p:ph sz="quarter" idx="1"/>
          </p:nvPr>
        </p:nvSpPr>
        <p:spPr>
          <a:xfrm>
            <a:off x="946245" y="990600"/>
            <a:ext cx="7772400" cy="4572000"/>
          </a:xfrm>
        </p:spPr>
        <p:txBody>
          <a:bodyPr/>
          <a:lstStyle/>
          <a:p>
            <a:pPr>
              <a:lnSpc>
                <a:spcPct val="150000"/>
              </a:lnSpc>
            </a:pPr>
            <a:r>
              <a:rPr lang="en-US" dirty="0"/>
              <a:t>Java defines several types of exceptions that relate to its various class libraries. Java also allows users to define their own exceptions.</a:t>
            </a:r>
            <a:endParaRPr lang="en-US" dirty="0"/>
          </a:p>
        </p:txBody>
      </p:sp>
      <p:pic>
        <p:nvPicPr>
          <p:cNvPr id="2050" name="Picture 2" descr="types of exceptions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743200"/>
            <a:ext cx="775221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90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Exceptions</a:t>
            </a:r>
          </a:p>
        </p:txBody>
      </p:sp>
      <p:sp>
        <p:nvSpPr>
          <p:cNvPr id="3" name="Content Placeholder 2"/>
          <p:cNvSpPr>
            <a:spLocks noGrp="1"/>
          </p:cNvSpPr>
          <p:nvPr>
            <p:ph sz="quarter" idx="1"/>
          </p:nvPr>
        </p:nvSpPr>
        <p:spPr>
          <a:xfrm>
            <a:off x="914400" y="1066800"/>
            <a:ext cx="7772400" cy="4572000"/>
          </a:xfrm>
        </p:spPr>
        <p:txBody>
          <a:bodyPr/>
          <a:lstStyle/>
          <a:p>
            <a:r>
              <a:rPr lang="en-US" b="1" dirty="0"/>
              <a:t>Exceptions can be categorized in two ways</a:t>
            </a:r>
            <a:r>
              <a:rPr lang="en-US" b="1" dirty="0" smtClean="0"/>
              <a:t>:</a:t>
            </a:r>
          </a:p>
          <a:p>
            <a:endParaRPr lang="en-US" b="1" dirty="0" smtClean="0"/>
          </a:p>
          <a:p>
            <a:pPr lvl="1" fontAlgn="base"/>
            <a:r>
              <a:rPr lang="en-US" b="1" dirty="0"/>
              <a:t>Built-in Exceptions</a:t>
            </a:r>
          </a:p>
          <a:p>
            <a:pPr lvl="2" fontAlgn="base"/>
            <a:r>
              <a:rPr lang="en-US" dirty="0"/>
              <a:t>Checked Exception</a:t>
            </a:r>
          </a:p>
          <a:p>
            <a:pPr lvl="2" fontAlgn="base"/>
            <a:r>
              <a:rPr lang="en-US" dirty="0"/>
              <a:t>Unchecked Exception </a:t>
            </a:r>
            <a:endParaRPr lang="en-US" dirty="0" smtClean="0"/>
          </a:p>
          <a:p>
            <a:pPr lvl="2" fontAlgn="base"/>
            <a:endParaRPr lang="en-US" dirty="0"/>
          </a:p>
          <a:p>
            <a:pPr lvl="1" fontAlgn="base"/>
            <a:r>
              <a:rPr lang="en-US" b="1" dirty="0"/>
              <a:t>User-Defined Exceptions</a:t>
            </a:r>
          </a:p>
          <a:p>
            <a:pPr lvl="1"/>
            <a:endParaRPr lang="en-US" dirty="0"/>
          </a:p>
        </p:txBody>
      </p:sp>
    </p:spTree>
    <p:extLst>
      <p:ext uri="{BB962C8B-B14F-4D97-AF65-F5344CB8AC3E}">
        <p14:creationId xmlns:p14="http://schemas.microsoft.com/office/powerpoint/2010/main" val="838909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a:t>
            </a:r>
            <a:r>
              <a:rPr lang="en-US" dirty="0" smtClean="0"/>
              <a:t>Exceptions</a:t>
            </a:r>
            <a:endParaRPr lang="en-US" dirty="0"/>
          </a:p>
        </p:txBody>
      </p:sp>
      <p:sp>
        <p:nvSpPr>
          <p:cNvPr id="3" name="Content Placeholder 2"/>
          <p:cNvSpPr>
            <a:spLocks noGrp="1"/>
          </p:cNvSpPr>
          <p:nvPr>
            <p:ph sz="quarter" idx="1"/>
          </p:nvPr>
        </p:nvSpPr>
        <p:spPr>
          <a:xfrm>
            <a:off x="914400" y="990600"/>
            <a:ext cx="7772400" cy="5410200"/>
          </a:xfrm>
        </p:spPr>
        <p:txBody>
          <a:bodyPr>
            <a:normAutofit lnSpcReduction="10000"/>
          </a:bodyPr>
          <a:lstStyle/>
          <a:p>
            <a:pPr>
              <a:lnSpc>
                <a:spcPct val="150000"/>
              </a:lnSpc>
            </a:pPr>
            <a:r>
              <a:rPr lang="en-US" dirty="0"/>
              <a:t>Built-in exceptions are the exceptions that are available in Java libraries. These exceptions are suitable to explain certain error situations</a:t>
            </a:r>
            <a:r>
              <a:rPr lang="en-US" dirty="0" smtClean="0"/>
              <a:t>.</a:t>
            </a:r>
          </a:p>
          <a:p>
            <a:pPr>
              <a:lnSpc>
                <a:spcPct val="150000"/>
              </a:lnSpc>
            </a:pPr>
            <a:endParaRPr lang="en-US" dirty="0"/>
          </a:p>
          <a:p>
            <a:pPr>
              <a:lnSpc>
                <a:spcPct val="150000"/>
              </a:lnSpc>
            </a:pPr>
            <a:r>
              <a:rPr lang="en-US" b="1" dirty="0"/>
              <a:t>Checked Exceptions: </a:t>
            </a:r>
            <a:endParaRPr lang="en-US" b="1" dirty="0" smtClean="0"/>
          </a:p>
          <a:p>
            <a:pPr lvl="1">
              <a:lnSpc>
                <a:spcPct val="150000"/>
              </a:lnSpc>
            </a:pPr>
            <a:r>
              <a:rPr lang="en-US" dirty="0" smtClean="0"/>
              <a:t>Checked </a:t>
            </a:r>
            <a:r>
              <a:rPr lang="en-US" dirty="0"/>
              <a:t>exceptions are called compile-time exceptions because these exceptions are checked at compile-time by the compiler.</a:t>
            </a:r>
            <a:r>
              <a:rPr lang="en-US" dirty="0"/>
              <a:t/>
            </a:r>
            <a:br>
              <a:rPr lang="en-US" dirty="0"/>
            </a:br>
            <a:endParaRPr lang="en-US" dirty="0"/>
          </a:p>
        </p:txBody>
      </p:sp>
    </p:spTree>
    <p:extLst>
      <p:ext uri="{BB962C8B-B14F-4D97-AF65-F5344CB8AC3E}">
        <p14:creationId xmlns:p14="http://schemas.microsoft.com/office/powerpoint/2010/main" val="1924791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Exceptions</a:t>
            </a:r>
          </a:p>
        </p:txBody>
      </p:sp>
      <p:sp>
        <p:nvSpPr>
          <p:cNvPr id="3" name="Content Placeholder 2"/>
          <p:cNvSpPr>
            <a:spLocks noGrp="1"/>
          </p:cNvSpPr>
          <p:nvPr>
            <p:ph sz="quarter" idx="1"/>
          </p:nvPr>
        </p:nvSpPr>
        <p:spPr>
          <a:xfrm>
            <a:off x="914400" y="990600"/>
            <a:ext cx="7772400" cy="5486400"/>
          </a:xfrm>
        </p:spPr>
        <p:txBody>
          <a:bodyPr>
            <a:normAutofit/>
          </a:bodyPr>
          <a:lstStyle/>
          <a:p>
            <a:pPr>
              <a:lnSpc>
                <a:spcPct val="150000"/>
              </a:lnSpc>
            </a:pPr>
            <a:r>
              <a:rPr lang="en-US" b="1" dirty="0"/>
              <a:t>Unchecked Exceptions: </a:t>
            </a:r>
            <a:endParaRPr lang="en-US" b="1" dirty="0" smtClean="0"/>
          </a:p>
          <a:p>
            <a:pPr lvl="1">
              <a:lnSpc>
                <a:spcPct val="150000"/>
              </a:lnSpc>
            </a:pPr>
            <a:r>
              <a:rPr lang="en-US" dirty="0" smtClean="0"/>
              <a:t>The </a:t>
            </a:r>
            <a:r>
              <a:rPr lang="en-US" dirty="0"/>
              <a:t>unchecked exceptions are just opposite to the checked exceptions. </a:t>
            </a:r>
            <a:endParaRPr lang="en-US" dirty="0" smtClean="0"/>
          </a:p>
          <a:p>
            <a:pPr lvl="1">
              <a:lnSpc>
                <a:spcPct val="150000"/>
              </a:lnSpc>
            </a:pPr>
            <a:r>
              <a:rPr lang="en-US" dirty="0" smtClean="0"/>
              <a:t>The </a:t>
            </a:r>
            <a:r>
              <a:rPr lang="en-US" dirty="0"/>
              <a:t>compiler will not check these exceptions at compile time. </a:t>
            </a:r>
            <a:endParaRPr lang="en-US" dirty="0" smtClean="0"/>
          </a:p>
          <a:p>
            <a:pPr lvl="1">
              <a:lnSpc>
                <a:spcPct val="150000"/>
              </a:lnSpc>
            </a:pPr>
            <a:r>
              <a:rPr lang="en-US" dirty="0" smtClean="0"/>
              <a:t>In </a:t>
            </a:r>
            <a:r>
              <a:rPr lang="en-US" dirty="0"/>
              <a:t>simple words, if a program throws an unchecked exception, and even if we didn’t handle or declare it, the program would not give a compilation error.</a:t>
            </a:r>
          </a:p>
          <a:p>
            <a:endParaRPr lang="en-US" dirty="0"/>
          </a:p>
        </p:txBody>
      </p:sp>
    </p:spTree>
    <p:extLst>
      <p:ext uri="{BB962C8B-B14F-4D97-AF65-F5344CB8AC3E}">
        <p14:creationId xmlns:p14="http://schemas.microsoft.com/office/powerpoint/2010/main" val="2808169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r>
              <a:rPr lang="en-US" dirty="0" smtClean="0"/>
              <a:t>:</a:t>
            </a:r>
            <a:endParaRPr lang="en-US" dirty="0"/>
          </a:p>
        </p:txBody>
      </p:sp>
      <p:sp>
        <p:nvSpPr>
          <p:cNvPr id="3" name="Content Placeholder 2"/>
          <p:cNvSpPr>
            <a:spLocks noGrp="1"/>
          </p:cNvSpPr>
          <p:nvPr>
            <p:ph sz="quarter" idx="1"/>
          </p:nvPr>
        </p:nvSpPr>
        <p:spPr/>
        <p:txBody>
          <a:bodyPr/>
          <a:lstStyle/>
          <a:p>
            <a:pPr>
              <a:lnSpc>
                <a:spcPct val="150000"/>
              </a:lnSpc>
            </a:pPr>
            <a:r>
              <a:rPr lang="en-US" dirty="0"/>
              <a:t>Sometimes, the built-in exceptions in Java are not able to describe a certain situation. In such cases, users can also create exceptions, which are called ‘user-defined Exceptions’. </a:t>
            </a:r>
            <a:endParaRPr lang="en-US" dirty="0"/>
          </a:p>
        </p:txBody>
      </p:sp>
    </p:spTree>
    <p:extLst>
      <p:ext uri="{BB962C8B-B14F-4D97-AF65-F5344CB8AC3E}">
        <p14:creationId xmlns:p14="http://schemas.microsoft.com/office/powerpoint/2010/main" val="30097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Exception </a:t>
            </a:r>
            <a:r>
              <a:rPr lang="en-US" dirty="0" smtClean="0"/>
              <a:t>Keywords</a:t>
            </a:r>
            <a:endParaRPr lang="en-US" dirty="0"/>
          </a:p>
        </p:txBody>
      </p:sp>
      <p:sp>
        <p:nvSpPr>
          <p:cNvPr id="3" name="Content Placeholder 2"/>
          <p:cNvSpPr>
            <a:spLocks noGrp="1"/>
          </p:cNvSpPr>
          <p:nvPr>
            <p:ph sz="quarter" idx="1"/>
          </p:nvPr>
        </p:nvSpPr>
        <p:spPr>
          <a:xfrm>
            <a:off x="914400" y="990600"/>
            <a:ext cx="7772400" cy="5410200"/>
          </a:xfrm>
        </p:spPr>
        <p:txBody>
          <a:bodyPr/>
          <a:lstStyle/>
          <a:p>
            <a:pPr>
              <a:lnSpc>
                <a:spcPct val="150000"/>
              </a:lnSpc>
            </a:pPr>
            <a:r>
              <a:rPr lang="en-US" dirty="0"/>
              <a:t>Java provides five keywords that are used to handle the </a:t>
            </a:r>
            <a:r>
              <a:rPr lang="en-US" dirty="0" smtClean="0"/>
              <a:t>exception.</a:t>
            </a:r>
          </a:p>
          <a:p>
            <a:pPr lvl="1">
              <a:lnSpc>
                <a:spcPct val="150000"/>
              </a:lnSpc>
            </a:pPr>
            <a:r>
              <a:rPr lang="en-US" b="1" dirty="0"/>
              <a:t>t</a:t>
            </a:r>
            <a:r>
              <a:rPr lang="en-US" b="1" dirty="0" smtClean="0"/>
              <a:t>ry: </a:t>
            </a:r>
          </a:p>
          <a:p>
            <a:pPr lvl="1">
              <a:lnSpc>
                <a:spcPct val="150000"/>
              </a:lnSpc>
            </a:pPr>
            <a:r>
              <a:rPr lang="en-US" dirty="0" smtClean="0"/>
              <a:t>The </a:t>
            </a:r>
            <a:r>
              <a:rPr lang="en-US" dirty="0"/>
              <a:t>"try" keyword is used to specify a block where we should place an exception code. It means we can't use try block alone. The try block must be followed by either catch or finally</a:t>
            </a:r>
            <a:r>
              <a:rPr lang="en-US" dirty="0" smtClean="0"/>
              <a:t>.</a:t>
            </a:r>
          </a:p>
        </p:txBody>
      </p:sp>
    </p:spTree>
    <p:extLst>
      <p:ext uri="{BB962C8B-B14F-4D97-AF65-F5344CB8AC3E}">
        <p14:creationId xmlns:p14="http://schemas.microsoft.com/office/powerpoint/2010/main" val="2039465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Exception Keywords</a:t>
            </a:r>
          </a:p>
        </p:txBody>
      </p:sp>
      <p:sp>
        <p:nvSpPr>
          <p:cNvPr id="3" name="Content Placeholder 2"/>
          <p:cNvSpPr>
            <a:spLocks noGrp="1"/>
          </p:cNvSpPr>
          <p:nvPr>
            <p:ph sz="quarter" idx="1"/>
          </p:nvPr>
        </p:nvSpPr>
        <p:spPr>
          <a:xfrm>
            <a:off x="937146" y="1066800"/>
            <a:ext cx="7772400" cy="5410200"/>
          </a:xfrm>
        </p:spPr>
        <p:txBody>
          <a:bodyPr>
            <a:normAutofit lnSpcReduction="10000"/>
          </a:bodyPr>
          <a:lstStyle/>
          <a:p>
            <a:r>
              <a:rPr lang="en-US" b="1" dirty="0"/>
              <a:t>c</a:t>
            </a:r>
            <a:r>
              <a:rPr lang="en-US" b="1" dirty="0" smtClean="0"/>
              <a:t>atch:</a:t>
            </a:r>
          </a:p>
          <a:p>
            <a:pPr>
              <a:lnSpc>
                <a:spcPct val="150000"/>
              </a:lnSpc>
            </a:pPr>
            <a:r>
              <a:rPr lang="en-US" dirty="0"/>
              <a:t>The "catch" block is used to handle the exception. It must be preceded by try block which means we can't use catch block alone. It can be followed by finally block later</a:t>
            </a:r>
            <a:r>
              <a:rPr lang="en-US" dirty="0" smtClean="0"/>
              <a:t>.</a:t>
            </a:r>
          </a:p>
          <a:p>
            <a:pPr>
              <a:lnSpc>
                <a:spcPct val="150000"/>
              </a:lnSpc>
            </a:pPr>
            <a:r>
              <a:rPr lang="en-US" b="1" dirty="0"/>
              <a:t>f</a:t>
            </a:r>
            <a:r>
              <a:rPr lang="en-US" b="1" dirty="0" smtClean="0"/>
              <a:t>inally:</a:t>
            </a:r>
          </a:p>
          <a:p>
            <a:pPr>
              <a:lnSpc>
                <a:spcPct val="150000"/>
              </a:lnSpc>
            </a:pPr>
            <a:r>
              <a:rPr lang="en-US" dirty="0"/>
              <a:t>The "finally" block is used to execute the necessary code of the program. It is executed whether an exception is handled or not.</a:t>
            </a:r>
            <a:endParaRPr lang="en-US" b="1" dirty="0"/>
          </a:p>
        </p:txBody>
      </p:sp>
    </p:spTree>
    <p:extLst>
      <p:ext uri="{BB962C8B-B14F-4D97-AF65-F5344CB8AC3E}">
        <p14:creationId xmlns:p14="http://schemas.microsoft.com/office/powerpoint/2010/main" val="1106413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Exception Keywords</a:t>
            </a:r>
          </a:p>
        </p:txBody>
      </p:sp>
      <p:sp>
        <p:nvSpPr>
          <p:cNvPr id="3" name="Content Placeholder 2"/>
          <p:cNvSpPr>
            <a:spLocks noGrp="1"/>
          </p:cNvSpPr>
          <p:nvPr>
            <p:ph sz="quarter" idx="1"/>
          </p:nvPr>
        </p:nvSpPr>
        <p:spPr/>
        <p:txBody>
          <a:bodyPr/>
          <a:lstStyle/>
          <a:p>
            <a:r>
              <a:rPr lang="en-US" b="1" dirty="0"/>
              <a:t>t</a:t>
            </a:r>
            <a:r>
              <a:rPr lang="en-US" b="1" dirty="0" smtClean="0"/>
              <a:t>hrow:</a:t>
            </a:r>
          </a:p>
          <a:p>
            <a:r>
              <a:rPr lang="en-US" dirty="0"/>
              <a:t>The "throw" keyword is used to throw an exception</a:t>
            </a:r>
            <a:r>
              <a:rPr lang="en-US" dirty="0" smtClean="0"/>
              <a:t>.</a:t>
            </a:r>
          </a:p>
          <a:p>
            <a:endParaRPr lang="en-US" b="1" dirty="0"/>
          </a:p>
          <a:p>
            <a:r>
              <a:rPr lang="en-US" b="1" dirty="0"/>
              <a:t>t</a:t>
            </a:r>
            <a:r>
              <a:rPr lang="en-US" b="1" dirty="0" smtClean="0"/>
              <a:t>hrows:</a:t>
            </a:r>
          </a:p>
          <a:p>
            <a:pPr>
              <a:lnSpc>
                <a:spcPct val="150000"/>
              </a:lnSpc>
            </a:pPr>
            <a:r>
              <a:rPr lang="en-US" dirty="0"/>
              <a:t>The "throws" keyword is used to declare exceptions. It specifies that there may occur an exception in the method. It doesn't throw an exception. It is always used with method signature.</a:t>
            </a:r>
            <a:endParaRPr lang="en-US" b="1" dirty="0"/>
          </a:p>
        </p:txBody>
      </p:sp>
    </p:spTree>
    <p:extLst>
      <p:ext uri="{BB962C8B-B14F-4D97-AF65-F5344CB8AC3E}">
        <p14:creationId xmlns:p14="http://schemas.microsoft.com/office/powerpoint/2010/main" val="2407332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066800"/>
            <a:ext cx="7772400" cy="5562600"/>
          </a:xfrm>
        </p:spPr>
        <p:txBody>
          <a:bodyPr>
            <a:normAutofit/>
          </a:bodyPr>
          <a:lstStyle/>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int</a:t>
            </a:r>
            <a:r>
              <a:rPr lang="en-US" dirty="0"/>
              <a:t>[] </a:t>
            </a:r>
            <a:r>
              <a:rPr lang="en-US" dirty="0" err="1"/>
              <a:t>myNumbers</a:t>
            </a:r>
            <a:r>
              <a:rPr lang="en-US" dirty="0"/>
              <a:t> = </a:t>
            </a:r>
            <a:r>
              <a:rPr lang="en-US" dirty="0" smtClean="0"/>
              <a:t>{1,2,3};</a:t>
            </a:r>
            <a:endParaRPr lang="en-US" dirty="0"/>
          </a:p>
          <a:p>
            <a:pPr marL="0" indent="0">
              <a:buNone/>
            </a:pPr>
            <a:r>
              <a:rPr lang="en-US" dirty="0"/>
              <a:t>        </a:t>
            </a:r>
            <a:r>
              <a:rPr lang="en-US" dirty="0" err="1"/>
              <a:t>System.out.println</a:t>
            </a:r>
            <a:r>
              <a:rPr lang="en-US" dirty="0"/>
              <a:t>(</a:t>
            </a:r>
            <a:r>
              <a:rPr lang="en-US" dirty="0" err="1"/>
              <a:t>myNumbers</a:t>
            </a:r>
            <a:r>
              <a:rPr lang="en-US" dirty="0"/>
              <a:t>[10]); // error!</a:t>
            </a:r>
          </a:p>
          <a:p>
            <a:pPr marL="0" indent="0">
              <a:buNone/>
            </a:pPr>
            <a:r>
              <a:rPr lang="en-US" dirty="0"/>
              <a:t>    }</a:t>
            </a:r>
          </a:p>
          <a:p>
            <a:pPr marL="0" indent="0">
              <a:buNone/>
            </a:pPr>
            <a:r>
              <a:rPr lang="en-US" dirty="0" smtClean="0"/>
              <a:t>}</a:t>
            </a:r>
          </a:p>
          <a:p>
            <a:pPr marL="0" indent="0">
              <a:buNone/>
            </a:pPr>
            <a:r>
              <a:rPr lang="en-US" dirty="0"/>
              <a:t>This will generate an error, because </a:t>
            </a:r>
            <a:r>
              <a:rPr lang="en-US" b="1" dirty="0" err="1" smtClean="0"/>
              <a:t>myNumbers</a:t>
            </a:r>
            <a:r>
              <a:rPr lang="en-US" b="1" dirty="0" smtClean="0"/>
              <a:t>[10</a:t>
            </a:r>
            <a:r>
              <a:rPr lang="en-US" b="1" dirty="0"/>
              <a:t>]</a:t>
            </a:r>
            <a:r>
              <a:rPr lang="en-US" dirty="0"/>
              <a:t> does not exist</a:t>
            </a:r>
            <a:r>
              <a:rPr lang="en-US" dirty="0" smtClean="0"/>
              <a:t>.</a:t>
            </a:r>
            <a:r>
              <a:rPr lang="en-US" dirty="0"/>
              <a:t> The output will be something like this</a:t>
            </a:r>
            <a:r>
              <a:rPr lang="en-US" dirty="0" smtClean="0"/>
              <a:t>:</a:t>
            </a:r>
          </a:p>
          <a:p>
            <a:pPr marL="0" indent="0">
              <a:buNone/>
            </a:pPr>
            <a:r>
              <a:rPr lang="en-US" b="1" dirty="0"/>
              <a:t>Exception in thread "main" </a:t>
            </a:r>
            <a:r>
              <a:rPr lang="en-US" b="1" dirty="0" err="1"/>
              <a:t>java.lang.ArrayIndexOutOfBoundsException</a:t>
            </a:r>
            <a:r>
              <a:rPr lang="en-US" b="1" dirty="0"/>
              <a:t>: 10</a:t>
            </a:r>
            <a:r>
              <a:rPr lang="en-US" b="1" dirty="0"/>
              <a:t/>
            </a:r>
            <a:br>
              <a:rPr lang="en-US" b="1" dirty="0"/>
            </a:br>
            <a:r>
              <a:rPr lang="en-US" b="1" dirty="0"/>
              <a:t>        at </a:t>
            </a:r>
            <a:r>
              <a:rPr lang="en-US" b="1" dirty="0" err="1"/>
              <a:t>Main.main</a:t>
            </a:r>
            <a:r>
              <a:rPr lang="en-US" b="1" dirty="0"/>
              <a:t>(Main.java:4)</a:t>
            </a:r>
            <a:endParaRPr lang="en-US" b="1" dirty="0"/>
          </a:p>
        </p:txBody>
      </p:sp>
    </p:spTree>
    <p:extLst>
      <p:ext uri="{BB962C8B-B14F-4D97-AF65-F5344CB8AC3E}">
        <p14:creationId xmlns:p14="http://schemas.microsoft.com/office/powerpoint/2010/main" val="3446548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143000"/>
            <a:ext cx="7772400" cy="5410200"/>
          </a:xfrm>
        </p:spPr>
        <p:txBody>
          <a:bodyPr>
            <a:normAutofit fontScale="92500" lnSpcReduction="10000"/>
          </a:bodyPr>
          <a:lstStyle/>
          <a:p>
            <a:r>
              <a:rPr lang="en-US" dirty="0"/>
              <a:t>If an error occurs, we can use try...catch to catch the error and execute some code to handle it</a:t>
            </a:r>
            <a:r>
              <a:rPr lang="en-US" dirty="0" smtClean="0"/>
              <a:t>:</a:t>
            </a:r>
          </a:p>
          <a:p>
            <a:endParaRPr lang="en-US" dirty="0" smtClean="0"/>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try {</a:t>
            </a:r>
          </a:p>
          <a:p>
            <a:pPr marL="0" indent="0">
              <a:buNone/>
            </a:pPr>
            <a:r>
              <a:rPr lang="en-US" dirty="0"/>
              <a:t>            </a:t>
            </a:r>
            <a:r>
              <a:rPr lang="en-US" dirty="0" err="1"/>
              <a:t>int</a:t>
            </a:r>
            <a:r>
              <a:rPr lang="en-US" dirty="0"/>
              <a:t>[] </a:t>
            </a:r>
            <a:r>
              <a:rPr lang="en-US" dirty="0" err="1"/>
              <a:t>myNumbers</a:t>
            </a:r>
            <a:r>
              <a:rPr lang="en-US" dirty="0"/>
              <a:t> = { 1, 2,3};</a:t>
            </a:r>
          </a:p>
          <a:p>
            <a:pPr marL="0" indent="0">
              <a:buNone/>
            </a:pPr>
            <a:r>
              <a:rPr lang="en-US" dirty="0"/>
              <a:t>            </a:t>
            </a:r>
            <a:r>
              <a:rPr lang="en-US" dirty="0" err="1"/>
              <a:t>System.out.println</a:t>
            </a:r>
            <a:r>
              <a:rPr lang="en-US" dirty="0"/>
              <a:t>(</a:t>
            </a:r>
            <a:r>
              <a:rPr lang="en-US" dirty="0" err="1"/>
              <a:t>myNumbers</a:t>
            </a:r>
            <a:r>
              <a:rPr lang="en-US" dirty="0"/>
              <a:t>[10]);</a:t>
            </a:r>
          </a:p>
          <a:p>
            <a:pPr marL="0" indent="0">
              <a:buNone/>
            </a:pPr>
            <a:r>
              <a:rPr lang="en-US" dirty="0"/>
              <a:t>        } catch (Exception e) {</a:t>
            </a:r>
          </a:p>
          <a:p>
            <a:pPr marL="0" indent="0">
              <a:buNone/>
            </a:pPr>
            <a:r>
              <a:rPr lang="en-US" dirty="0"/>
              <a:t>            </a:t>
            </a:r>
            <a:r>
              <a:rPr lang="en-US" dirty="0" err="1"/>
              <a:t>System.out.println</a:t>
            </a:r>
            <a:r>
              <a:rPr lang="en-US" dirty="0"/>
              <a:t>("Something went wrong.");</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72091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lstStyle/>
          <a:p>
            <a:r>
              <a:rPr lang="en-US" dirty="0"/>
              <a:t>The output will be</a:t>
            </a:r>
            <a:r>
              <a:rPr lang="en-US" dirty="0" smtClean="0"/>
              <a:t>:</a:t>
            </a:r>
          </a:p>
          <a:p>
            <a:pPr lvl="1"/>
            <a:r>
              <a:rPr lang="en-US" dirty="0"/>
              <a:t>Something went wrong</a:t>
            </a:r>
            <a:r>
              <a:rPr lang="en-US" dirty="0" smtClean="0"/>
              <a:t>.</a:t>
            </a:r>
          </a:p>
          <a:p>
            <a:endParaRPr lang="en-US" dirty="0"/>
          </a:p>
          <a:p>
            <a:r>
              <a:rPr lang="en-US" b="1" dirty="0" smtClean="0"/>
              <a:t>Finally :</a:t>
            </a:r>
          </a:p>
          <a:p>
            <a:pPr lvl="1"/>
            <a:r>
              <a:rPr lang="en-US" dirty="0"/>
              <a:t>The finally statement lets you execute code, after try...catch, regardless of the result:</a:t>
            </a:r>
            <a:endParaRPr lang="en-US" dirty="0"/>
          </a:p>
          <a:p>
            <a:endParaRPr lang="en-US" dirty="0"/>
          </a:p>
        </p:txBody>
      </p:sp>
    </p:spTree>
    <p:extLst>
      <p:ext uri="{BB962C8B-B14F-4D97-AF65-F5344CB8AC3E}">
        <p14:creationId xmlns:p14="http://schemas.microsoft.com/office/powerpoint/2010/main" val="950709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334000"/>
          </a:xfrm>
        </p:spPr>
        <p:txBody>
          <a:bodyPr>
            <a:normAutofit fontScale="92500"/>
          </a:bodyPr>
          <a:lstStyle/>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try {</a:t>
            </a:r>
          </a:p>
          <a:p>
            <a:pPr marL="0" indent="0">
              <a:buNone/>
            </a:pPr>
            <a:r>
              <a:rPr lang="en-US" dirty="0"/>
              <a:t>            </a:t>
            </a:r>
            <a:r>
              <a:rPr lang="en-US" dirty="0" err="1"/>
              <a:t>int</a:t>
            </a:r>
            <a:r>
              <a:rPr lang="en-US" dirty="0"/>
              <a:t>[] </a:t>
            </a:r>
            <a:r>
              <a:rPr lang="en-US" dirty="0" err="1"/>
              <a:t>myNumbers</a:t>
            </a:r>
            <a:r>
              <a:rPr lang="en-US" dirty="0"/>
              <a:t> = { 1, 2,3 };</a:t>
            </a:r>
          </a:p>
          <a:p>
            <a:pPr marL="0" indent="0">
              <a:buNone/>
            </a:pPr>
            <a:r>
              <a:rPr lang="en-US" dirty="0"/>
              <a:t>            </a:t>
            </a:r>
            <a:r>
              <a:rPr lang="en-US" dirty="0" err="1"/>
              <a:t>System.out.println</a:t>
            </a:r>
            <a:r>
              <a:rPr lang="en-US" dirty="0"/>
              <a:t>(</a:t>
            </a:r>
            <a:r>
              <a:rPr lang="en-US" dirty="0" err="1"/>
              <a:t>myNumbers</a:t>
            </a:r>
            <a:r>
              <a:rPr lang="en-US" dirty="0"/>
              <a:t>[10]);</a:t>
            </a:r>
          </a:p>
          <a:p>
            <a:pPr marL="0" indent="0">
              <a:buNone/>
            </a:pPr>
            <a:r>
              <a:rPr lang="en-US" dirty="0"/>
              <a:t>        } catch (Exception e) {</a:t>
            </a:r>
          </a:p>
          <a:p>
            <a:pPr marL="0" indent="0">
              <a:buNone/>
            </a:pPr>
            <a:r>
              <a:rPr lang="en-US" dirty="0"/>
              <a:t>            </a:t>
            </a:r>
            <a:r>
              <a:rPr lang="en-US" dirty="0" err="1"/>
              <a:t>System.out.println</a:t>
            </a:r>
            <a:r>
              <a:rPr lang="en-US" dirty="0"/>
              <a:t>("Something went wrong.");</a:t>
            </a:r>
          </a:p>
          <a:p>
            <a:pPr marL="0" indent="0">
              <a:buNone/>
            </a:pPr>
            <a:r>
              <a:rPr lang="en-US" dirty="0"/>
              <a:t>        } finally {</a:t>
            </a:r>
          </a:p>
          <a:p>
            <a:pPr marL="0" indent="0">
              <a:buNone/>
            </a:pPr>
            <a:r>
              <a:rPr lang="en-US" dirty="0"/>
              <a:t>            </a:t>
            </a:r>
            <a:r>
              <a:rPr lang="en-US" dirty="0" err="1"/>
              <a:t>System.out.println</a:t>
            </a:r>
            <a:r>
              <a:rPr lang="en-US" dirty="0"/>
              <a:t>("The 'try catch' is finished.");</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087048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143000"/>
            <a:ext cx="7772400" cy="4572000"/>
          </a:xfrm>
        </p:spPr>
        <p:txBody>
          <a:bodyPr/>
          <a:lstStyle/>
          <a:p>
            <a:r>
              <a:rPr lang="en-US" dirty="0"/>
              <a:t>The output will be</a:t>
            </a:r>
            <a:r>
              <a:rPr lang="en-US" dirty="0" smtClean="0"/>
              <a:t>:</a:t>
            </a:r>
          </a:p>
          <a:p>
            <a:pPr lvl="1"/>
            <a:r>
              <a:rPr lang="en-US" dirty="0"/>
              <a:t>Something went wrong.</a:t>
            </a:r>
            <a:r>
              <a:rPr lang="en-US" dirty="0"/>
              <a:t/>
            </a:r>
            <a:br>
              <a:rPr lang="en-US" dirty="0"/>
            </a:br>
            <a:r>
              <a:rPr lang="en-US" dirty="0"/>
              <a:t>The 'try catch' is finished.</a:t>
            </a:r>
            <a:endParaRPr lang="en-US" dirty="0"/>
          </a:p>
        </p:txBody>
      </p:sp>
    </p:spTree>
    <p:extLst>
      <p:ext uri="{BB962C8B-B14F-4D97-AF65-F5344CB8AC3E}">
        <p14:creationId xmlns:p14="http://schemas.microsoft.com/office/powerpoint/2010/main" val="1873110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890" y="304800"/>
            <a:ext cx="7772400" cy="487362"/>
          </a:xfrm>
        </p:spPr>
        <p:txBody>
          <a:bodyPr/>
          <a:lstStyle/>
          <a:p>
            <a:r>
              <a:rPr lang="en-US" dirty="0"/>
              <a:t>The throw </a:t>
            </a:r>
            <a:r>
              <a:rPr lang="en-US" dirty="0" smtClean="0"/>
              <a:t>keyword</a:t>
            </a:r>
            <a:endParaRPr lang="en-US" dirty="0"/>
          </a:p>
        </p:txBody>
      </p:sp>
      <p:sp>
        <p:nvSpPr>
          <p:cNvPr id="3" name="Content Placeholder 2"/>
          <p:cNvSpPr>
            <a:spLocks noGrp="1"/>
          </p:cNvSpPr>
          <p:nvPr>
            <p:ph sz="quarter" idx="1"/>
          </p:nvPr>
        </p:nvSpPr>
        <p:spPr>
          <a:xfrm>
            <a:off x="914400" y="1219200"/>
            <a:ext cx="7772400" cy="5257800"/>
          </a:xfrm>
        </p:spPr>
        <p:txBody>
          <a:bodyPr>
            <a:normAutofit/>
          </a:bodyPr>
          <a:lstStyle/>
          <a:p>
            <a:pPr>
              <a:lnSpc>
                <a:spcPct val="150000"/>
              </a:lnSpc>
            </a:pPr>
            <a:r>
              <a:rPr lang="en-US" dirty="0"/>
              <a:t>The </a:t>
            </a:r>
            <a:r>
              <a:rPr lang="en-US" b="1" dirty="0"/>
              <a:t>throw</a:t>
            </a:r>
            <a:r>
              <a:rPr lang="en-US" dirty="0"/>
              <a:t> statement allows you to create a custom error</a:t>
            </a:r>
            <a:r>
              <a:rPr lang="en-US" dirty="0" smtClean="0"/>
              <a:t>.</a:t>
            </a:r>
            <a:endParaRPr lang="en-US" dirty="0"/>
          </a:p>
          <a:p>
            <a:pPr>
              <a:lnSpc>
                <a:spcPct val="150000"/>
              </a:lnSpc>
            </a:pPr>
            <a:r>
              <a:rPr lang="en-US" dirty="0"/>
              <a:t>The </a:t>
            </a:r>
            <a:r>
              <a:rPr lang="en-US" b="1" dirty="0"/>
              <a:t>throw</a:t>
            </a:r>
            <a:r>
              <a:rPr lang="en-US" dirty="0"/>
              <a:t> statement is used together with an exception type. </a:t>
            </a:r>
            <a:endParaRPr lang="en-US" dirty="0" smtClean="0"/>
          </a:p>
          <a:p>
            <a:pPr>
              <a:lnSpc>
                <a:spcPct val="150000"/>
              </a:lnSpc>
            </a:pPr>
            <a:r>
              <a:rPr lang="en-US" dirty="0" smtClean="0"/>
              <a:t>There </a:t>
            </a:r>
            <a:r>
              <a:rPr lang="en-US" dirty="0"/>
              <a:t>are many exception types available in Java: </a:t>
            </a:r>
            <a:r>
              <a:rPr lang="en-US" dirty="0" err="1"/>
              <a:t>ArithmeticException</a:t>
            </a:r>
            <a:r>
              <a:rPr lang="en-US" dirty="0"/>
              <a:t>, </a:t>
            </a:r>
            <a:r>
              <a:rPr lang="en-US" dirty="0" err="1"/>
              <a:t>FileNotFoundException</a:t>
            </a:r>
            <a:r>
              <a:rPr lang="en-US" dirty="0"/>
              <a:t>, </a:t>
            </a:r>
            <a:r>
              <a:rPr lang="en-US" dirty="0" err="1"/>
              <a:t>ArrayIndexOutOfBoundsException</a:t>
            </a:r>
            <a:r>
              <a:rPr lang="en-US" dirty="0"/>
              <a:t>, </a:t>
            </a:r>
            <a:r>
              <a:rPr lang="en-US" dirty="0" err="1"/>
              <a:t>SecurityException</a:t>
            </a:r>
            <a:r>
              <a:rPr lang="en-US" dirty="0"/>
              <a:t>, </a:t>
            </a:r>
            <a:r>
              <a:rPr lang="en-US" dirty="0" err="1"/>
              <a:t>etc</a:t>
            </a:r>
            <a:r>
              <a:rPr lang="en-US" dirty="0"/>
              <a:t>:</a:t>
            </a:r>
          </a:p>
        </p:txBody>
      </p:sp>
    </p:spTree>
    <p:extLst>
      <p:ext uri="{BB962C8B-B14F-4D97-AF65-F5344CB8AC3E}">
        <p14:creationId xmlns:p14="http://schemas.microsoft.com/office/powerpoint/2010/main" val="1770115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896203" y="990600"/>
            <a:ext cx="7772400" cy="5638800"/>
          </a:xfrm>
        </p:spPr>
        <p:txBody>
          <a:bodyPr>
            <a:normAutofit fontScale="92500" lnSpcReduction="20000"/>
          </a:bodyPr>
          <a:lstStyle/>
          <a:p>
            <a:r>
              <a:rPr lang="en-US" dirty="0"/>
              <a:t>Throw an exception if </a:t>
            </a:r>
            <a:r>
              <a:rPr lang="en-US" b="1" dirty="0"/>
              <a:t>age</a:t>
            </a:r>
            <a:r>
              <a:rPr lang="en-US" dirty="0"/>
              <a:t> is below 18 (print "Access denied"). If age is 18 or older, print "Access granted</a:t>
            </a:r>
            <a:r>
              <a:rPr lang="en-US" dirty="0" smtClean="0"/>
              <a:t>":</a:t>
            </a:r>
          </a:p>
          <a:p>
            <a:endParaRPr lang="en-US" dirty="0"/>
          </a:p>
          <a:p>
            <a:pPr marL="0" indent="0">
              <a:lnSpc>
                <a:spcPct val="120000"/>
              </a:lnSpc>
              <a:buNone/>
            </a:pPr>
            <a:r>
              <a:rPr lang="en-US" dirty="0"/>
              <a:t>public class Main {</a:t>
            </a:r>
          </a:p>
          <a:p>
            <a:pPr marL="0" indent="0">
              <a:lnSpc>
                <a:spcPct val="120000"/>
              </a:lnSpc>
              <a:buNone/>
            </a:pPr>
            <a:r>
              <a:rPr lang="en-US" dirty="0"/>
              <a:t>    static void </a:t>
            </a:r>
            <a:r>
              <a:rPr lang="en-US" dirty="0" err="1"/>
              <a:t>checkAge</a:t>
            </a:r>
            <a:r>
              <a:rPr lang="en-US" dirty="0"/>
              <a:t>(</a:t>
            </a:r>
            <a:r>
              <a:rPr lang="en-US" dirty="0" err="1"/>
              <a:t>int</a:t>
            </a:r>
            <a:r>
              <a:rPr lang="en-US" dirty="0"/>
              <a:t> age) {</a:t>
            </a:r>
          </a:p>
          <a:p>
            <a:pPr marL="0" indent="0">
              <a:lnSpc>
                <a:spcPct val="120000"/>
              </a:lnSpc>
              <a:buNone/>
            </a:pPr>
            <a:r>
              <a:rPr lang="en-US" dirty="0"/>
              <a:t>        if (age &lt; 18) {</a:t>
            </a:r>
          </a:p>
          <a:p>
            <a:pPr marL="0" indent="0">
              <a:lnSpc>
                <a:spcPct val="120000"/>
              </a:lnSpc>
              <a:buNone/>
            </a:pPr>
            <a:r>
              <a:rPr lang="en-US" dirty="0"/>
              <a:t>            throw new </a:t>
            </a:r>
            <a:r>
              <a:rPr lang="en-US" dirty="0" err="1"/>
              <a:t>ArithmeticException</a:t>
            </a:r>
            <a:r>
              <a:rPr lang="en-US" dirty="0"/>
              <a:t>("Access denied - You must be at least 18 years old.");</a:t>
            </a:r>
          </a:p>
          <a:p>
            <a:pPr marL="0" indent="0">
              <a:lnSpc>
                <a:spcPct val="120000"/>
              </a:lnSpc>
              <a:buNone/>
            </a:pPr>
            <a:r>
              <a:rPr lang="en-US" dirty="0"/>
              <a:t>        } else {</a:t>
            </a:r>
          </a:p>
          <a:p>
            <a:pPr marL="0" indent="0">
              <a:lnSpc>
                <a:spcPct val="120000"/>
              </a:lnSpc>
              <a:buNone/>
            </a:pPr>
            <a:r>
              <a:rPr lang="en-US" dirty="0"/>
              <a:t>            </a:t>
            </a:r>
            <a:r>
              <a:rPr lang="en-US" dirty="0" err="1"/>
              <a:t>System.out.println</a:t>
            </a:r>
            <a:r>
              <a:rPr lang="en-US" dirty="0"/>
              <a:t>("Access granted - You are old enough!");</a:t>
            </a:r>
          </a:p>
          <a:p>
            <a:pPr marL="0" indent="0">
              <a:lnSpc>
                <a:spcPct val="120000"/>
              </a:lnSpc>
              <a:buNone/>
            </a:pPr>
            <a:r>
              <a:rPr lang="en-US" dirty="0"/>
              <a:t>        }</a:t>
            </a:r>
          </a:p>
          <a:p>
            <a:pPr marL="0" indent="0">
              <a:lnSpc>
                <a:spcPct val="120000"/>
              </a:lnSpc>
              <a:buNone/>
            </a:pPr>
            <a:r>
              <a:rPr lang="en-US" dirty="0"/>
              <a:t>    }</a:t>
            </a:r>
          </a:p>
          <a:p>
            <a:pPr marL="0" indent="0">
              <a:lnSpc>
                <a:spcPct val="120000"/>
              </a:lnSpc>
              <a:buNone/>
            </a:pPr>
            <a:endParaRPr lang="en-US" dirty="0"/>
          </a:p>
        </p:txBody>
      </p:sp>
    </p:spTree>
    <p:extLst>
      <p:ext uri="{BB962C8B-B14F-4D97-AF65-F5344CB8AC3E}">
        <p14:creationId xmlns:p14="http://schemas.microsoft.com/office/powerpoint/2010/main" val="3908660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990600"/>
            <a:ext cx="7772400" cy="5562600"/>
          </a:xfrm>
        </p:spPr>
        <p:txBody>
          <a:bodyPr>
            <a:normAutofit/>
          </a:bodyPr>
          <a:lstStyle/>
          <a:p>
            <a:pPr marL="0" indent="0">
              <a:lnSpc>
                <a:spcPct val="120000"/>
              </a:lnSpc>
              <a:buNone/>
            </a:pPr>
            <a:r>
              <a:rPr lang="en-US" dirty="0"/>
              <a:t> public static void main(String[] </a:t>
            </a:r>
            <a:r>
              <a:rPr lang="en-US" dirty="0" err="1"/>
              <a:t>args</a:t>
            </a:r>
            <a:r>
              <a:rPr lang="en-US" dirty="0"/>
              <a:t>) {</a:t>
            </a:r>
          </a:p>
          <a:p>
            <a:pPr marL="0" indent="0">
              <a:lnSpc>
                <a:spcPct val="120000"/>
              </a:lnSpc>
              <a:buNone/>
            </a:pPr>
            <a:r>
              <a:rPr lang="en-US" dirty="0"/>
              <a:t>        </a:t>
            </a:r>
            <a:r>
              <a:rPr lang="en-US" dirty="0" err="1"/>
              <a:t>checkAge</a:t>
            </a:r>
            <a:r>
              <a:rPr lang="en-US" dirty="0"/>
              <a:t>(15); // Set age to 15 (which is below 18...)</a:t>
            </a:r>
          </a:p>
          <a:p>
            <a:pPr marL="0" indent="0">
              <a:lnSpc>
                <a:spcPct val="120000"/>
              </a:lnSpc>
              <a:buNone/>
            </a:pPr>
            <a:r>
              <a:rPr lang="en-US" dirty="0"/>
              <a:t>    }</a:t>
            </a:r>
          </a:p>
          <a:p>
            <a:pPr marL="0" indent="0">
              <a:lnSpc>
                <a:spcPct val="120000"/>
              </a:lnSpc>
              <a:buNone/>
            </a:pPr>
            <a:r>
              <a:rPr lang="en-US" dirty="0" smtClean="0"/>
              <a:t>}</a:t>
            </a:r>
          </a:p>
          <a:p>
            <a:r>
              <a:rPr lang="en-US" dirty="0"/>
              <a:t>The output will be:</a:t>
            </a:r>
          </a:p>
          <a:p>
            <a:pPr marL="0" indent="0">
              <a:buNone/>
            </a:pPr>
            <a:r>
              <a:rPr lang="en-US" dirty="0"/>
              <a:t>Exception in thread "main" </a:t>
            </a:r>
            <a:r>
              <a:rPr lang="en-US" dirty="0" err="1"/>
              <a:t>java.lang.ArithmeticException</a:t>
            </a:r>
            <a:r>
              <a:rPr lang="en-US" dirty="0"/>
              <a:t>: Access denied - You must be at least 18 years old.</a:t>
            </a:r>
            <a:r>
              <a:rPr lang="en-US" dirty="0"/>
              <a:t/>
            </a:r>
            <a:br>
              <a:rPr lang="en-US" dirty="0"/>
            </a:br>
            <a:r>
              <a:rPr lang="en-US" dirty="0"/>
              <a:t>        at </a:t>
            </a:r>
            <a:r>
              <a:rPr lang="en-US" dirty="0" err="1"/>
              <a:t>Main.checkAge</a:t>
            </a:r>
            <a:r>
              <a:rPr lang="en-US" dirty="0"/>
              <a:t>(Main.java:4)</a:t>
            </a:r>
            <a:r>
              <a:rPr lang="en-US" dirty="0"/>
              <a:t/>
            </a:r>
            <a:br>
              <a:rPr lang="en-US" dirty="0"/>
            </a:br>
            <a:r>
              <a:rPr lang="en-US" dirty="0"/>
              <a:t>        at </a:t>
            </a:r>
            <a:r>
              <a:rPr lang="en-US" dirty="0" err="1"/>
              <a:t>Main.main</a:t>
            </a:r>
            <a:r>
              <a:rPr lang="en-US" dirty="0"/>
              <a:t>(Main.java:12)</a:t>
            </a:r>
            <a:endParaRPr lang="en-US" dirty="0"/>
          </a:p>
        </p:txBody>
      </p:sp>
    </p:spTree>
    <p:extLst>
      <p:ext uri="{BB962C8B-B14F-4D97-AF65-F5344CB8AC3E}">
        <p14:creationId xmlns:p14="http://schemas.microsoft.com/office/powerpoint/2010/main" val="959921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smtClean="0"/>
              <a:t>throws </a:t>
            </a:r>
            <a:r>
              <a:rPr lang="en-US" dirty="0"/>
              <a:t>keyword</a:t>
            </a:r>
          </a:p>
        </p:txBody>
      </p:sp>
      <p:sp>
        <p:nvSpPr>
          <p:cNvPr id="3" name="Content Placeholder 2"/>
          <p:cNvSpPr>
            <a:spLocks noGrp="1"/>
          </p:cNvSpPr>
          <p:nvPr>
            <p:ph sz="quarter" idx="1"/>
          </p:nvPr>
        </p:nvSpPr>
        <p:spPr>
          <a:xfrm>
            <a:off x="914400" y="1066800"/>
            <a:ext cx="7772400" cy="5562600"/>
          </a:xfrm>
        </p:spPr>
        <p:txBody>
          <a:bodyPr>
            <a:normAutofit/>
          </a:bodyPr>
          <a:lstStyle/>
          <a:p>
            <a:r>
              <a:rPr lang="en-US" dirty="0"/>
              <a:t>Similarly, the throws keyword is used to declare the type of exceptions that might occur within the method. It is used in the method declaration</a:t>
            </a:r>
            <a:r>
              <a:rPr lang="en-US" dirty="0" smtClean="0"/>
              <a:t>.</a:t>
            </a:r>
          </a:p>
          <a:p>
            <a:endParaRPr lang="en-US" dirty="0"/>
          </a:p>
          <a:p>
            <a:pPr marL="320040" lvl="1" indent="0">
              <a:buNone/>
            </a:pPr>
            <a:r>
              <a:rPr lang="en-US" dirty="0"/>
              <a:t>import java.io</a:t>
            </a:r>
            <a:r>
              <a:rPr lang="en-US" dirty="0" smtClean="0"/>
              <a:t>.*;</a:t>
            </a:r>
            <a:endParaRPr lang="en-US" dirty="0"/>
          </a:p>
          <a:p>
            <a:pPr marL="320040" lvl="1" indent="0">
              <a:buNone/>
            </a:pPr>
            <a:r>
              <a:rPr lang="en-US" dirty="0"/>
              <a:t>class Main {</a:t>
            </a:r>
          </a:p>
          <a:p>
            <a:pPr marL="320040" lvl="1" indent="0">
              <a:buNone/>
            </a:pPr>
            <a:r>
              <a:rPr lang="en-US" dirty="0" smtClean="0"/>
              <a:t>public </a:t>
            </a:r>
            <a:r>
              <a:rPr lang="en-US" dirty="0"/>
              <a:t>static void </a:t>
            </a:r>
            <a:r>
              <a:rPr lang="en-US" dirty="0" err="1"/>
              <a:t>findFile</a:t>
            </a:r>
            <a:r>
              <a:rPr lang="en-US" dirty="0"/>
              <a:t>() throws </a:t>
            </a:r>
            <a:r>
              <a:rPr lang="en-US" dirty="0" err="1"/>
              <a:t>IOException</a:t>
            </a:r>
            <a:r>
              <a:rPr lang="en-US" dirty="0"/>
              <a:t> {</a:t>
            </a:r>
          </a:p>
          <a:p>
            <a:pPr marL="320040" lvl="1" indent="0">
              <a:buNone/>
            </a:pPr>
            <a:endParaRPr lang="en-US" dirty="0"/>
          </a:p>
          <a:p>
            <a:pPr marL="320040" lvl="1" indent="0">
              <a:buNone/>
            </a:pPr>
            <a:r>
              <a:rPr lang="en-US" dirty="0"/>
              <a:t>        File </a:t>
            </a:r>
            <a:r>
              <a:rPr lang="en-US" dirty="0" err="1"/>
              <a:t>newFile</a:t>
            </a:r>
            <a:r>
              <a:rPr lang="en-US" dirty="0"/>
              <a:t> = new File("test.txt");</a:t>
            </a:r>
          </a:p>
          <a:p>
            <a:pPr marL="320040" lvl="1" indent="0">
              <a:buNone/>
            </a:pPr>
            <a:r>
              <a:rPr lang="en-US" dirty="0"/>
              <a:t>        </a:t>
            </a:r>
            <a:r>
              <a:rPr lang="en-US" dirty="0" err="1"/>
              <a:t>FileInputStream</a:t>
            </a:r>
            <a:r>
              <a:rPr lang="en-US" dirty="0"/>
              <a:t> stream = new </a:t>
            </a:r>
            <a:r>
              <a:rPr lang="en-US" dirty="0" err="1"/>
              <a:t>FileInputStream</a:t>
            </a:r>
            <a:r>
              <a:rPr lang="en-US" dirty="0"/>
              <a:t>(</a:t>
            </a:r>
            <a:r>
              <a:rPr lang="en-US" dirty="0" err="1"/>
              <a:t>newFile</a:t>
            </a:r>
            <a:r>
              <a:rPr lang="en-US" dirty="0"/>
              <a:t>);</a:t>
            </a:r>
          </a:p>
          <a:p>
            <a:pPr marL="320040" lvl="1" indent="0">
              <a:buNone/>
            </a:pPr>
            <a:r>
              <a:rPr lang="en-US" dirty="0"/>
              <a:t>    }</a:t>
            </a:r>
          </a:p>
          <a:p>
            <a:pPr lvl="1"/>
            <a:endParaRPr lang="en-US" dirty="0"/>
          </a:p>
        </p:txBody>
      </p:sp>
    </p:spTree>
    <p:extLst>
      <p:ext uri="{BB962C8B-B14F-4D97-AF65-F5344CB8AC3E}">
        <p14:creationId xmlns:p14="http://schemas.microsoft.com/office/powerpoint/2010/main" val="458397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throws keyword</a:t>
            </a:r>
          </a:p>
        </p:txBody>
      </p:sp>
      <p:sp>
        <p:nvSpPr>
          <p:cNvPr id="3" name="Content Placeholder 2"/>
          <p:cNvSpPr>
            <a:spLocks noGrp="1"/>
          </p:cNvSpPr>
          <p:nvPr>
            <p:ph sz="quarter" idx="1"/>
          </p:nvPr>
        </p:nvSpPr>
        <p:spPr>
          <a:xfrm>
            <a:off x="922361" y="1143000"/>
            <a:ext cx="7772400" cy="5410200"/>
          </a:xfrm>
        </p:spPr>
        <p:txBody>
          <a:bodyPr>
            <a:normAutofit/>
          </a:bodyPr>
          <a:lstStyle/>
          <a:p>
            <a:pPr marL="0" indent="0">
              <a:buNone/>
            </a:pPr>
            <a:r>
              <a:rPr lang="en-US" dirty="0"/>
              <a:t> public static void main(String[] </a:t>
            </a:r>
            <a:r>
              <a:rPr lang="en-US" dirty="0" err="1"/>
              <a:t>args</a:t>
            </a:r>
            <a:r>
              <a:rPr lang="en-US" dirty="0"/>
              <a:t>) {</a:t>
            </a:r>
          </a:p>
          <a:p>
            <a:pPr marL="0" indent="0">
              <a:buNone/>
            </a:pPr>
            <a:r>
              <a:rPr lang="en-US" dirty="0"/>
              <a:t>        try {</a:t>
            </a:r>
          </a:p>
          <a:p>
            <a:pPr marL="0" indent="0">
              <a:buNone/>
            </a:pPr>
            <a:r>
              <a:rPr lang="en-US" dirty="0"/>
              <a:t>            </a:t>
            </a:r>
            <a:r>
              <a:rPr lang="en-US" dirty="0" err="1"/>
              <a:t>findFile</a:t>
            </a:r>
            <a:r>
              <a:rPr lang="en-US" dirty="0"/>
              <a:t>();</a:t>
            </a:r>
          </a:p>
          <a:p>
            <a:pPr marL="0" indent="0">
              <a:buNone/>
            </a:pPr>
            <a:r>
              <a:rPr lang="en-US" dirty="0"/>
              <a:t>        } catch (</a:t>
            </a:r>
            <a:r>
              <a:rPr lang="en-US" dirty="0" err="1"/>
              <a:t>IOException</a:t>
            </a:r>
            <a:r>
              <a:rPr lang="en-US" dirty="0"/>
              <a:t> e) {</a:t>
            </a:r>
          </a:p>
          <a:p>
            <a:pPr marL="0" indent="0">
              <a:buNone/>
            </a:pPr>
            <a:r>
              <a:rPr lang="en-US" dirty="0"/>
              <a:t>            </a:t>
            </a:r>
            <a:r>
              <a:rPr lang="en-US" dirty="0" err="1"/>
              <a:t>System.out.println</a:t>
            </a:r>
            <a:r>
              <a:rPr lang="en-US" dirty="0"/>
              <a:t>(e);</a:t>
            </a:r>
          </a:p>
          <a:p>
            <a:pPr marL="0" indent="0">
              <a:buNone/>
            </a:pPr>
            <a:r>
              <a:rPr lang="en-US" dirty="0"/>
              <a:t>        }</a:t>
            </a:r>
          </a:p>
          <a:p>
            <a:pPr marL="0" indent="0">
              <a:buNone/>
            </a:pPr>
            <a:r>
              <a:rPr lang="en-US" dirty="0"/>
              <a:t>    }</a:t>
            </a:r>
          </a:p>
          <a:p>
            <a:pPr marL="0" indent="0">
              <a:buNone/>
            </a:pPr>
            <a:r>
              <a:rPr lang="en-US" dirty="0" smtClean="0"/>
              <a:t>}</a:t>
            </a:r>
          </a:p>
          <a:p>
            <a:pPr marL="0" indent="0">
              <a:buNone/>
            </a:pPr>
            <a:r>
              <a:rPr lang="en-US" b="1" dirty="0"/>
              <a:t>Output</a:t>
            </a:r>
            <a:r>
              <a:rPr lang="en-US" b="1" dirty="0" smtClean="0"/>
              <a:t>:</a:t>
            </a:r>
          </a:p>
          <a:p>
            <a:pPr marL="0" indent="0">
              <a:buNone/>
            </a:pPr>
            <a:r>
              <a:rPr lang="en-US" b="1" dirty="0"/>
              <a:t>	</a:t>
            </a:r>
            <a:r>
              <a:rPr lang="en-US" dirty="0" err="1" smtClean="0"/>
              <a:t>java.io.FileNotFoundException</a:t>
            </a:r>
            <a:r>
              <a:rPr lang="en-US" dirty="0"/>
              <a:t>: test.txt (The system cannot find the file specified)</a:t>
            </a:r>
            <a:endParaRPr lang="en-US" dirty="0" smtClean="0"/>
          </a:p>
          <a:p>
            <a:pPr marL="0" indent="0">
              <a:buNone/>
            </a:pPr>
            <a:endParaRPr lang="en-US" dirty="0"/>
          </a:p>
        </p:txBody>
      </p:sp>
    </p:spTree>
    <p:extLst>
      <p:ext uri="{BB962C8B-B14F-4D97-AF65-F5344CB8AC3E}">
        <p14:creationId xmlns:p14="http://schemas.microsoft.com/office/powerpoint/2010/main" val="3025249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throws keyword</a:t>
            </a:r>
          </a:p>
        </p:txBody>
      </p:sp>
      <p:sp>
        <p:nvSpPr>
          <p:cNvPr id="3" name="Content Placeholder 2"/>
          <p:cNvSpPr>
            <a:spLocks noGrp="1"/>
          </p:cNvSpPr>
          <p:nvPr>
            <p:ph sz="quarter" idx="1"/>
          </p:nvPr>
        </p:nvSpPr>
        <p:spPr>
          <a:xfrm>
            <a:off x="914400" y="1066800"/>
            <a:ext cx="7772400" cy="5486400"/>
          </a:xfrm>
        </p:spPr>
        <p:txBody>
          <a:bodyPr>
            <a:normAutofit fontScale="85000" lnSpcReduction="20000"/>
          </a:bodyPr>
          <a:lstStyle/>
          <a:p>
            <a:pPr>
              <a:lnSpc>
                <a:spcPct val="150000"/>
              </a:lnSpc>
            </a:pPr>
            <a:r>
              <a:rPr lang="en-US" dirty="0"/>
              <a:t>When we run this program, if the file </a:t>
            </a:r>
            <a:r>
              <a:rPr lang="en-US" b="1" dirty="0"/>
              <a:t>test.txt</a:t>
            </a:r>
            <a:r>
              <a:rPr lang="en-US" dirty="0"/>
              <a:t> does not exist, </a:t>
            </a:r>
            <a:r>
              <a:rPr lang="en-US" dirty="0" err="1"/>
              <a:t>FileInputStream</a:t>
            </a:r>
            <a:r>
              <a:rPr lang="en-US" dirty="0"/>
              <a:t> throws a </a:t>
            </a:r>
            <a:r>
              <a:rPr lang="en-US" b="1" dirty="0" err="1"/>
              <a:t>FileNotFoundException</a:t>
            </a:r>
            <a:r>
              <a:rPr lang="en-US" dirty="0"/>
              <a:t> which extends the </a:t>
            </a:r>
            <a:r>
              <a:rPr lang="en-US" b="1" dirty="0" err="1"/>
              <a:t>IOException</a:t>
            </a:r>
            <a:r>
              <a:rPr lang="en-US" dirty="0"/>
              <a:t> class.</a:t>
            </a:r>
          </a:p>
          <a:p>
            <a:pPr>
              <a:lnSpc>
                <a:spcPct val="150000"/>
              </a:lnSpc>
            </a:pPr>
            <a:endParaRPr lang="en-US" dirty="0"/>
          </a:p>
          <a:p>
            <a:pPr>
              <a:lnSpc>
                <a:spcPct val="150000"/>
              </a:lnSpc>
            </a:pPr>
            <a:r>
              <a:rPr lang="en-US" dirty="0"/>
              <a:t>The </a:t>
            </a:r>
            <a:r>
              <a:rPr lang="en-US" b="1" dirty="0" err="1"/>
              <a:t>findFile</a:t>
            </a:r>
            <a:r>
              <a:rPr lang="en-US" b="1" dirty="0"/>
              <a:t>()</a:t>
            </a:r>
            <a:r>
              <a:rPr lang="en-US" dirty="0"/>
              <a:t> method specifies that an </a:t>
            </a:r>
            <a:r>
              <a:rPr lang="en-US" dirty="0" err="1"/>
              <a:t>IOException</a:t>
            </a:r>
            <a:r>
              <a:rPr lang="en-US" dirty="0"/>
              <a:t> can be thrown. The main() method calls this method and handles the exception if it is thrown.</a:t>
            </a:r>
          </a:p>
          <a:p>
            <a:pPr>
              <a:lnSpc>
                <a:spcPct val="150000"/>
              </a:lnSpc>
            </a:pPr>
            <a:endParaRPr lang="en-US" dirty="0"/>
          </a:p>
          <a:p>
            <a:pPr>
              <a:lnSpc>
                <a:spcPct val="150000"/>
              </a:lnSpc>
            </a:pPr>
            <a:r>
              <a:rPr lang="en-US" dirty="0"/>
              <a:t>If a method does not handle exceptions, the type of exceptions that may occur within it must be specified in the throws clause.</a:t>
            </a:r>
          </a:p>
        </p:txBody>
      </p:sp>
    </p:spTree>
    <p:extLst>
      <p:ext uri="{BB962C8B-B14F-4D97-AF65-F5344CB8AC3E}">
        <p14:creationId xmlns:p14="http://schemas.microsoft.com/office/powerpoint/2010/main" val="2468238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a:t>
            </a:r>
            <a:r>
              <a:rPr lang="en-US" dirty="0" smtClean="0"/>
              <a:t>Exceptions</a:t>
            </a:r>
            <a:endParaRPr lang="en-US" dirty="0"/>
          </a:p>
        </p:txBody>
      </p:sp>
      <p:sp>
        <p:nvSpPr>
          <p:cNvPr id="3" name="Content Placeholder 2"/>
          <p:cNvSpPr>
            <a:spLocks noGrp="1"/>
          </p:cNvSpPr>
          <p:nvPr>
            <p:ph sz="quarter" idx="1"/>
          </p:nvPr>
        </p:nvSpPr>
        <p:spPr>
          <a:xfrm>
            <a:off x="914400" y="990600"/>
            <a:ext cx="7772400" cy="5562600"/>
          </a:xfrm>
        </p:spPr>
        <p:txBody>
          <a:bodyPr>
            <a:normAutofit/>
          </a:bodyPr>
          <a:lstStyle/>
          <a:p>
            <a:pPr>
              <a:lnSpc>
                <a:spcPct val="150000"/>
              </a:lnSpc>
            </a:pPr>
            <a:r>
              <a:rPr lang="en-US" dirty="0"/>
              <a:t>You can create your own exceptions in Java. Keep the following points in mind when writing your own exception classes </a:t>
            </a:r>
            <a:r>
              <a:rPr lang="en-US" dirty="0" smtClean="0"/>
              <a:t>−</a:t>
            </a:r>
          </a:p>
          <a:p>
            <a:pPr lvl="1">
              <a:lnSpc>
                <a:spcPct val="150000"/>
              </a:lnSpc>
            </a:pPr>
            <a:r>
              <a:rPr lang="en-US" dirty="0"/>
              <a:t>All exceptions must be a child of </a:t>
            </a:r>
            <a:r>
              <a:rPr lang="en-US" dirty="0" err="1"/>
              <a:t>Throwable</a:t>
            </a:r>
            <a:r>
              <a:rPr lang="en-US" dirty="0"/>
              <a:t>.</a:t>
            </a:r>
          </a:p>
          <a:p>
            <a:pPr lvl="1">
              <a:lnSpc>
                <a:spcPct val="150000"/>
              </a:lnSpc>
            </a:pPr>
            <a:r>
              <a:rPr lang="en-US" dirty="0"/>
              <a:t>If you want to write a checked exception that is automatically enforced by the Handle or Declare Rule, you need to extend the Exception class.</a:t>
            </a:r>
          </a:p>
          <a:p>
            <a:pPr lvl="1">
              <a:lnSpc>
                <a:spcPct val="150000"/>
              </a:lnSpc>
            </a:pPr>
            <a:r>
              <a:rPr lang="en-US" dirty="0"/>
              <a:t>If you want to write a runtime exception, you need to extend the </a:t>
            </a:r>
            <a:r>
              <a:rPr lang="en-US" dirty="0" err="1"/>
              <a:t>RuntimeException</a:t>
            </a:r>
            <a:r>
              <a:rPr lang="en-US" dirty="0"/>
              <a:t> class.</a:t>
            </a:r>
          </a:p>
          <a:p>
            <a:pPr lvl="1">
              <a:lnSpc>
                <a:spcPct val="150000"/>
              </a:lnSpc>
            </a:pPr>
            <a:endParaRPr lang="en-US" dirty="0"/>
          </a:p>
        </p:txBody>
      </p:sp>
    </p:spTree>
    <p:extLst>
      <p:ext uri="{BB962C8B-B14F-4D97-AF65-F5344CB8AC3E}">
        <p14:creationId xmlns:p14="http://schemas.microsoft.com/office/powerpoint/2010/main" val="1231829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914400" y="1066800"/>
            <a:ext cx="7772400" cy="5410200"/>
          </a:xfrm>
        </p:spPr>
        <p:txBody>
          <a:bodyPr>
            <a:normAutofit/>
          </a:bodyPr>
          <a:lstStyle/>
          <a:p>
            <a:r>
              <a:rPr lang="en-US" dirty="0"/>
              <a:t>We can define our own Exception class as below </a:t>
            </a:r>
            <a:r>
              <a:rPr lang="en-US" dirty="0" smtClean="0"/>
              <a:t>−</a:t>
            </a:r>
          </a:p>
          <a:p>
            <a:r>
              <a:rPr lang="en-US" dirty="0"/>
              <a:t>You just need to extend the predefined Exception class to create your own Exception</a:t>
            </a:r>
            <a:r>
              <a:rPr lang="en-US" dirty="0" smtClean="0"/>
              <a:t>.</a:t>
            </a:r>
          </a:p>
          <a:p>
            <a:r>
              <a:rPr lang="en-US" dirty="0" smtClean="0"/>
              <a:t>These </a:t>
            </a:r>
            <a:r>
              <a:rPr lang="en-US" dirty="0"/>
              <a:t>are considered to be checked exceptions. </a:t>
            </a:r>
            <a:endParaRPr lang="en-US" dirty="0" smtClean="0"/>
          </a:p>
          <a:p>
            <a:r>
              <a:rPr lang="en-US" dirty="0" smtClean="0"/>
              <a:t>The </a:t>
            </a:r>
            <a:r>
              <a:rPr lang="en-US" dirty="0"/>
              <a:t>following </a:t>
            </a:r>
            <a:r>
              <a:rPr lang="en-US" dirty="0" err="1"/>
              <a:t>InsufficientFundsException</a:t>
            </a:r>
            <a:r>
              <a:rPr lang="en-US" dirty="0"/>
              <a:t> class is a user-defined exception that extends the Exception class, making it a checked exception. </a:t>
            </a:r>
            <a:endParaRPr lang="en-US" dirty="0" smtClean="0"/>
          </a:p>
          <a:p>
            <a:r>
              <a:rPr lang="en-US" dirty="0" smtClean="0"/>
              <a:t>An </a:t>
            </a:r>
            <a:r>
              <a:rPr lang="en-US" dirty="0"/>
              <a:t>exception class is like any other class, containing useful fields and methods.</a:t>
            </a:r>
          </a:p>
          <a:p>
            <a:pPr marL="0" indent="0">
              <a:buNone/>
            </a:pPr>
            <a:endParaRPr lang="en-US" dirty="0"/>
          </a:p>
          <a:p>
            <a:pPr marL="0" indent="0">
              <a:buNone/>
            </a:pPr>
            <a:r>
              <a:rPr lang="en-US" dirty="0"/>
              <a:t>class </a:t>
            </a:r>
            <a:r>
              <a:rPr lang="en-US" dirty="0" err="1"/>
              <a:t>InsufficientFundsException</a:t>
            </a:r>
            <a:r>
              <a:rPr lang="en-US" dirty="0"/>
              <a:t> </a:t>
            </a:r>
            <a:r>
              <a:rPr lang="en-US" dirty="0" smtClean="0"/>
              <a:t>extends </a:t>
            </a:r>
            <a:r>
              <a:rPr lang="en-US" dirty="0"/>
              <a:t>Exception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765787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914400" y="1066800"/>
            <a:ext cx="7772400" cy="5486400"/>
          </a:xfrm>
        </p:spPr>
        <p:txBody>
          <a:bodyPr>
            <a:normAutofit fontScale="92500" lnSpcReduction="20000"/>
          </a:bodyPr>
          <a:lstStyle/>
          <a:p>
            <a:pPr marL="0" indent="0">
              <a:buNone/>
            </a:pPr>
            <a:r>
              <a:rPr lang="en-US" dirty="0"/>
              <a:t>// File Name InsufficientFundsException.java</a:t>
            </a:r>
          </a:p>
          <a:p>
            <a:pPr marL="0" indent="0">
              <a:buNone/>
            </a:pPr>
            <a:r>
              <a:rPr lang="en-US" dirty="0"/>
              <a:t>import java.io.*;</a:t>
            </a:r>
          </a:p>
          <a:p>
            <a:pPr marL="0" indent="0">
              <a:buNone/>
            </a:pPr>
            <a:endParaRPr lang="en-US" dirty="0"/>
          </a:p>
          <a:p>
            <a:pPr marL="0" indent="0">
              <a:buNone/>
            </a:pPr>
            <a:r>
              <a:rPr lang="en-US" dirty="0"/>
              <a:t>public class </a:t>
            </a:r>
            <a:r>
              <a:rPr lang="en-US" dirty="0" err="1"/>
              <a:t>InsufficientFundsException</a:t>
            </a:r>
            <a:r>
              <a:rPr lang="en-US" dirty="0"/>
              <a:t> extends Exception {</a:t>
            </a:r>
          </a:p>
          <a:p>
            <a:pPr marL="0" indent="0">
              <a:buNone/>
            </a:pPr>
            <a:r>
              <a:rPr lang="en-US" dirty="0"/>
              <a:t>   private double amount;</a:t>
            </a:r>
          </a:p>
          <a:p>
            <a:pPr marL="0" indent="0">
              <a:buNone/>
            </a:pPr>
            <a:r>
              <a:rPr lang="en-US" dirty="0"/>
              <a:t>   </a:t>
            </a:r>
          </a:p>
          <a:p>
            <a:pPr marL="0" indent="0">
              <a:buNone/>
            </a:pPr>
            <a:r>
              <a:rPr lang="en-US" dirty="0"/>
              <a:t>   public </a:t>
            </a:r>
            <a:r>
              <a:rPr lang="en-US" dirty="0" err="1"/>
              <a:t>InsufficientFundsException</a:t>
            </a:r>
            <a:r>
              <a:rPr lang="en-US" dirty="0"/>
              <a:t>(double amount) {</a:t>
            </a:r>
          </a:p>
          <a:p>
            <a:pPr marL="0" indent="0">
              <a:buNone/>
            </a:pPr>
            <a:r>
              <a:rPr lang="en-US" dirty="0"/>
              <a:t>      </a:t>
            </a:r>
            <a:r>
              <a:rPr lang="en-US" dirty="0" err="1"/>
              <a:t>this.amount</a:t>
            </a:r>
            <a:r>
              <a:rPr lang="en-US" dirty="0"/>
              <a:t> = amount;</a:t>
            </a:r>
          </a:p>
          <a:p>
            <a:pPr marL="0" indent="0">
              <a:buNone/>
            </a:pPr>
            <a:r>
              <a:rPr lang="en-US" dirty="0"/>
              <a:t>   }</a:t>
            </a:r>
          </a:p>
          <a:p>
            <a:pPr marL="0" indent="0">
              <a:buNone/>
            </a:pPr>
            <a:r>
              <a:rPr lang="en-US" dirty="0"/>
              <a:t>   </a:t>
            </a:r>
          </a:p>
          <a:p>
            <a:pPr marL="0" indent="0">
              <a:buNone/>
            </a:pPr>
            <a:r>
              <a:rPr lang="en-US" dirty="0"/>
              <a:t>   public double </a:t>
            </a:r>
            <a:r>
              <a:rPr lang="en-US" dirty="0" err="1"/>
              <a:t>getAmount</a:t>
            </a:r>
            <a:r>
              <a:rPr lang="en-US" dirty="0"/>
              <a:t>() {</a:t>
            </a:r>
          </a:p>
          <a:p>
            <a:pPr marL="0" indent="0">
              <a:buNone/>
            </a:pPr>
            <a:r>
              <a:rPr lang="en-US" dirty="0"/>
              <a:t>      return amount;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335915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940558" y="1066800"/>
            <a:ext cx="7772400" cy="4572000"/>
          </a:xfrm>
        </p:spPr>
        <p:txBody>
          <a:bodyPr/>
          <a:lstStyle/>
          <a:p>
            <a:r>
              <a:rPr lang="en-US" dirty="0"/>
              <a:t>To demonstrate using our user-defined exception, the following </a:t>
            </a:r>
            <a:r>
              <a:rPr lang="en-US" dirty="0" err="1"/>
              <a:t>CheckingAccount</a:t>
            </a:r>
            <a:r>
              <a:rPr lang="en-US" dirty="0"/>
              <a:t> class contains a withdraw() method that throws an </a:t>
            </a:r>
            <a:r>
              <a:rPr lang="en-US" dirty="0" err="1"/>
              <a:t>InsufficientFundsException</a:t>
            </a:r>
            <a:r>
              <a:rPr lang="en-US" dirty="0"/>
              <a:t>.</a:t>
            </a:r>
            <a:endParaRPr lang="en-US" dirty="0"/>
          </a:p>
        </p:txBody>
      </p:sp>
    </p:spTree>
    <p:extLst>
      <p:ext uri="{BB962C8B-B14F-4D97-AF65-F5344CB8AC3E}">
        <p14:creationId xmlns:p14="http://schemas.microsoft.com/office/powerpoint/2010/main" val="1396455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914400" y="990600"/>
            <a:ext cx="7772400" cy="5562600"/>
          </a:xfrm>
        </p:spPr>
        <p:txBody>
          <a:bodyPr>
            <a:normAutofit fontScale="92500" lnSpcReduction="20000"/>
          </a:bodyPr>
          <a:lstStyle/>
          <a:p>
            <a:pPr marL="0" indent="0">
              <a:buNone/>
            </a:pPr>
            <a:r>
              <a:rPr lang="en-US" dirty="0"/>
              <a:t>// File Name CheckingAccount.java</a:t>
            </a:r>
          </a:p>
          <a:p>
            <a:pPr marL="0" indent="0">
              <a:buNone/>
            </a:pPr>
            <a:r>
              <a:rPr lang="en-US" dirty="0"/>
              <a:t>import java.io.*;</a:t>
            </a:r>
          </a:p>
          <a:p>
            <a:pPr marL="0" indent="0">
              <a:buNone/>
            </a:pPr>
            <a:endParaRPr lang="en-US" dirty="0"/>
          </a:p>
          <a:p>
            <a:pPr marL="0" indent="0">
              <a:buNone/>
            </a:pPr>
            <a:r>
              <a:rPr lang="en-US" dirty="0"/>
              <a:t>public class </a:t>
            </a:r>
            <a:r>
              <a:rPr lang="en-US" dirty="0" err="1"/>
              <a:t>CheckingAccount</a:t>
            </a:r>
            <a:r>
              <a:rPr lang="en-US" dirty="0"/>
              <a:t> {</a:t>
            </a:r>
          </a:p>
          <a:p>
            <a:pPr marL="0" indent="0">
              <a:buNone/>
            </a:pPr>
            <a:r>
              <a:rPr lang="en-US" dirty="0"/>
              <a:t>    private double balance;</a:t>
            </a:r>
          </a:p>
          <a:p>
            <a:pPr marL="0" indent="0">
              <a:buNone/>
            </a:pPr>
            <a:r>
              <a:rPr lang="en-US" dirty="0"/>
              <a:t>    private </a:t>
            </a:r>
            <a:r>
              <a:rPr lang="en-US" dirty="0" err="1"/>
              <a:t>int</a:t>
            </a:r>
            <a:r>
              <a:rPr lang="en-US" dirty="0"/>
              <a:t> number;</a:t>
            </a:r>
          </a:p>
          <a:p>
            <a:pPr marL="0" indent="0">
              <a:buNone/>
            </a:pPr>
            <a:endParaRPr lang="en-US" dirty="0"/>
          </a:p>
          <a:p>
            <a:pPr marL="0" indent="0">
              <a:buNone/>
            </a:pPr>
            <a:r>
              <a:rPr lang="en-US" dirty="0"/>
              <a:t>    public </a:t>
            </a:r>
            <a:r>
              <a:rPr lang="en-US" dirty="0" err="1"/>
              <a:t>CheckingAccount</a:t>
            </a:r>
            <a:r>
              <a:rPr lang="en-US" dirty="0"/>
              <a:t>(</a:t>
            </a:r>
            <a:r>
              <a:rPr lang="en-US" dirty="0" err="1"/>
              <a:t>int</a:t>
            </a:r>
            <a:r>
              <a:rPr lang="en-US" dirty="0"/>
              <a:t> number) {</a:t>
            </a:r>
          </a:p>
          <a:p>
            <a:pPr marL="0" indent="0">
              <a:buNone/>
            </a:pPr>
            <a:r>
              <a:rPr lang="en-US" dirty="0"/>
              <a:t>        </a:t>
            </a:r>
            <a:r>
              <a:rPr lang="en-US" dirty="0" err="1"/>
              <a:t>this.number</a:t>
            </a:r>
            <a:r>
              <a:rPr lang="en-US" dirty="0"/>
              <a:t> = number;</a:t>
            </a:r>
          </a:p>
          <a:p>
            <a:pPr marL="0" indent="0">
              <a:buNone/>
            </a:pPr>
            <a:r>
              <a:rPr lang="en-US" dirty="0"/>
              <a:t>    }</a:t>
            </a:r>
          </a:p>
          <a:p>
            <a:pPr marL="0" indent="0">
              <a:buNone/>
            </a:pPr>
            <a:endParaRPr lang="en-US" dirty="0"/>
          </a:p>
          <a:p>
            <a:pPr marL="0" indent="0">
              <a:buNone/>
            </a:pPr>
            <a:r>
              <a:rPr lang="en-US" dirty="0"/>
              <a:t>    public void deposit(double amount) {</a:t>
            </a:r>
          </a:p>
          <a:p>
            <a:pPr marL="0" indent="0">
              <a:buNone/>
            </a:pPr>
            <a:r>
              <a:rPr lang="en-US" dirty="0"/>
              <a:t>        balance += amount;</a:t>
            </a:r>
          </a:p>
          <a:p>
            <a:pPr marL="0" indent="0">
              <a:buNone/>
            </a:pPr>
            <a:r>
              <a:rPr lang="en-US" dirty="0"/>
              <a:t>    }</a:t>
            </a:r>
          </a:p>
          <a:p>
            <a:endParaRPr lang="en-US" dirty="0"/>
          </a:p>
        </p:txBody>
      </p:sp>
    </p:spTree>
    <p:extLst>
      <p:ext uri="{BB962C8B-B14F-4D97-AF65-F5344CB8AC3E}">
        <p14:creationId xmlns:p14="http://schemas.microsoft.com/office/powerpoint/2010/main" val="4074627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890516" y="1676400"/>
            <a:ext cx="7772400" cy="4495800"/>
          </a:xfrm>
        </p:spPr>
        <p:txBody>
          <a:bodyPr>
            <a:normAutofit/>
          </a:bodyPr>
          <a:lstStyle/>
          <a:p>
            <a:pPr marL="0" indent="0">
              <a:buNone/>
            </a:pPr>
            <a:r>
              <a:rPr lang="en-US" dirty="0"/>
              <a:t> public void withdraw(double amount) throws </a:t>
            </a:r>
            <a:r>
              <a:rPr lang="en-US" dirty="0" err="1"/>
              <a:t>InsufficientFundsException</a:t>
            </a:r>
            <a:r>
              <a:rPr lang="en-US" dirty="0"/>
              <a:t> {</a:t>
            </a:r>
          </a:p>
          <a:p>
            <a:pPr marL="0" indent="0">
              <a:buNone/>
            </a:pPr>
            <a:r>
              <a:rPr lang="en-US" dirty="0"/>
              <a:t>        if (amount &lt;= balance) {</a:t>
            </a:r>
          </a:p>
          <a:p>
            <a:pPr marL="0" indent="0">
              <a:buNone/>
            </a:pPr>
            <a:r>
              <a:rPr lang="en-US" dirty="0"/>
              <a:t>            balance -= amount;</a:t>
            </a:r>
          </a:p>
          <a:p>
            <a:pPr marL="0" indent="0">
              <a:buNone/>
            </a:pPr>
            <a:r>
              <a:rPr lang="en-US" dirty="0"/>
              <a:t>        } else {</a:t>
            </a:r>
          </a:p>
          <a:p>
            <a:pPr marL="0" indent="0">
              <a:buNone/>
            </a:pPr>
            <a:r>
              <a:rPr lang="en-US" dirty="0"/>
              <a:t>            double needs = amount - balance;</a:t>
            </a:r>
          </a:p>
          <a:p>
            <a:pPr marL="0" indent="0">
              <a:buNone/>
            </a:pPr>
            <a:r>
              <a:rPr lang="en-US" dirty="0"/>
              <a:t>            throw new </a:t>
            </a:r>
            <a:r>
              <a:rPr lang="en-US" dirty="0" err="1"/>
              <a:t>InsufficientFundsException</a:t>
            </a:r>
            <a:r>
              <a:rPr lang="en-US" dirty="0"/>
              <a:t>(needs);</a:t>
            </a:r>
          </a:p>
          <a:p>
            <a:pPr marL="0" indent="0">
              <a:buNone/>
            </a:pPr>
            <a:r>
              <a:rPr lang="en-US" dirty="0"/>
              <a: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862020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p:txBody>
          <a:bodyPr/>
          <a:lstStyle/>
          <a:p>
            <a:pPr marL="0" indent="0">
              <a:buNone/>
            </a:pPr>
            <a:r>
              <a:rPr lang="en-US" dirty="0"/>
              <a:t>public double </a:t>
            </a:r>
            <a:r>
              <a:rPr lang="en-US" dirty="0" err="1"/>
              <a:t>getBalance</a:t>
            </a:r>
            <a:r>
              <a:rPr lang="en-US" dirty="0"/>
              <a:t>() {</a:t>
            </a:r>
          </a:p>
          <a:p>
            <a:pPr marL="0" indent="0">
              <a:buNone/>
            </a:pPr>
            <a:r>
              <a:rPr lang="en-US" dirty="0"/>
              <a:t>        return balance;</a:t>
            </a:r>
          </a:p>
          <a:p>
            <a:pPr marL="0" indent="0">
              <a:buNone/>
            </a:pPr>
            <a:r>
              <a:rPr lang="en-US" dirty="0"/>
              <a:t>    }</a:t>
            </a:r>
          </a:p>
          <a:p>
            <a:pPr marL="0" indent="0">
              <a:buNone/>
            </a:pPr>
            <a:endParaRPr lang="en-US" dirty="0"/>
          </a:p>
          <a:p>
            <a:pPr marL="0" indent="0">
              <a:buNone/>
            </a:pPr>
            <a:r>
              <a:rPr lang="en-US" dirty="0"/>
              <a:t>    public </a:t>
            </a:r>
            <a:r>
              <a:rPr lang="en-US" dirty="0" err="1"/>
              <a:t>int</a:t>
            </a:r>
            <a:r>
              <a:rPr lang="en-US" dirty="0"/>
              <a:t> </a:t>
            </a:r>
            <a:r>
              <a:rPr lang="en-US" dirty="0" err="1"/>
              <a:t>getNumber</a:t>
            </a:r>
            <a:r>
              <a:rPr lang="en-US" dirty="0"/>
              <a:t>() {</a:t>
            </a:r>
          </a:p>
          <a:p>
            <a:pPr marL="0" indent="0">
              <a:buNone/>
            </a:pPr>
            <a:r>
              <a:rPr lang="en-US" dirty="0"/>
              <a:t>        return number;</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1951355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p:txBody>
          <a:bodyPr>
            <a:normAutofit fontScale="92500" lnSpcReduction="10000"/>
          </a:bodyPr>
          <a:lstStyle/>
          <a:p>
            <a:r>
              <a:rPr lang="en-US" dirty="0"/>
              <a:t>The following </a:t>
            </a:r>
            <a:r>
              <a:rPr lang="en-US" dirty="0" err="1"/>
              <a:t>BankDemo</a:t>
            </a:r>
            <a:r>
              <a:rPr lang="en-US" dirty="0"/>
              <a:t> program demonstrates invoking the deposit() and withdraw() methods of </a:t>
            </a:r>
            <a:r>
              <a:rPr lang="en-US" dirty="0" err="1"/>
              <a:t>CheckingAccount</a:t>
            </a:r>
            <a:r>
              <a:rPr lang="en-US" dirty="0" smtClean="0"/>
              <a:t>.</a:t>
            </a:r>
          </a:p>
          <a:p>
            <a:endParaRPr lang="en-US" dirty="0"/>
          </a:p>
          <a:p>
            <a:pPr marL="0" indent="0">
              <a:buNone/>
            </a:pPr>
            <a:r>
              <a:rPr lang="en-US" dirty="0"/>
              <a:t>// File Name BankDemo.java</a:t>
            </a:r>
          </a:p>
          <a:p>
            <a:pPr marL="0" indent="0">
              <a:buNone/>
            </a:pPr>
            <a:r>
              <a:rPr lang="en-US" dirty="0"/>
              <a:t>public class </a:t>
            </a:r>
            <a:r>
              <a:rPr lang="en-US" dirty="0" err="1"/>
              <a:t>BankDemo</a:t>
            </a:r>
            <a:r>
              <a:rPr lang="en-US" dirty="0"/>
              <a:t>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a:t>
            </a:r>
            <a:r>
              <a:rPr lang="en-US" dirty="0" err="1"/>
              <a:t>CheckingAccount</a:t>
            </a:r>
            <a:r>
              <a:rPr lang="en-US" dirty="0"/>
              <a:t> c = new </a:t>
            </a:r>
            <a:r>
              <a:rPr lang="en-US" dirty="0" err="1"/>
              <a:t>CheckingAccount</a:t>
            </a:r>
            <a:r>
              <a:rPr lang="en-US" dirty="0"/>
              <a:t>(101);</a:t>
            </a:r>
          </a:p>
          <a:p>
            <a:pPr marL="0" indent="0">
              <a:buNone/>
            </a:pPr>
            <a:r>
              <a:rPr lang="en-US" dirty="0"/>
              <a:t>        </a:t>
            </a:r>
            <a:r>
              <a:rPr lang="en-US" dirty="0" err="1"/>
              <a:t>System.out.println</a:t>
            </a:r>
            <a:r>
              <a:rPr lang="en-US" dirty="0"/>
              <a:t>("Depositing $500...");</a:t>
            </a:r>
          </a:p>
          <a:p>
            <a:pPr marL="0" indent="0">
              <a:buNone/>
            </a:pPr>
            <a:r>
              <a:rPr lang="en-US" dirty="0"/>
              <a:t>        </a:t>
            </a:r>
            <a:r>
              <a:rPr lang="en-US" dirty="0" err="1"/>
              <a:t>c.deposit</a:t>
            </a:r>
            <a:r>
              <a:rPr lang="en-US" dirty="0"/>
              <a:t>(500.00);</a:t>
            </a:r>
          </a:p>
          <a:p>
            <a:endParaRPr lang="en-US" dirty="0" smtClean="0"/>
          </a:p>
          <a:p>
            <a:endParaRPr lang="en-US" dirty="0"/>
          </a:p>
          <a:p>
            <a:endParaRPr lang="en-US" dirty="0"/>
          </a:p>
        </p:txBody>
      </p:sp>
    </p:spTree>
    <p:extLst>
      <p:ext uri="{BB962C8B-B14F-4D97-AF65-F5344CB8AC3E}">
        <p14:creationId xmlns:p14="http://schemas.microsoft.com/office/powerpoint/2010/main" val="1480461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914400" y="1143000"/>
            <a:ext cx="7772400" cy="5105400"/>
          </a:xfrm>
        </p:spPr>
        <p:txBody>
          <a:bodyPr>
            <a:normAutofit fontScale="92500" lnSpcReduction="20000"/>
          </a:bodyPr>
          <a:lstStyle/>
          <a:p>
            <a:pPr marL="0" indent="0">
              <a:buNone/>
            </a:pPr>
            <a:endParaRPr lang="en-US" dirty="0"/>
          </a:p>
          <a:p>
            <a:pPr marL="0" indent="0">
              <a:buNone/>
            </a:pPr>
            <a:r>
              <a:rPr lang="en-US" dirty="0"/>
              <a:t>        try {</a:t>
            </a:r>
          </a:p>
          <a:p>
            <a:pPr marL="0" indent="0">
              <a:buNone/>
            </a:pPr>
            <a:r>
              <a:rPr lang="en-US" dirty="0"/>
              <a:t>            </a:t>
            </a:r>
            <a:r>
              <a:rPr lang="en-US" dirty="0" err="1"/>
              <a:t>System.out.println</a:t>
            </a:r>
            <a:r>
              <a:rPr lang="en-US" dirty="0"/>
              <a:t>("\</a:t>
            </a:r>
            <a:r>
              <a:rPr lang="en-US" dirty="0" err="1"/>
              <a:t>nWithdrawing</a:t>
            </a:r>
            <a:r>
              <a:rPr lang="en-US" dirty="0"/>
              <a:t> $100...");</a:t>
            </a:r>
          </a:p>
          <a:p>
            <a:pPr marL="0" indent="0">
              <a:buNone/>
            </a:pPr>
            <a:r>
              <a:rPr lang="en-US" dirty="0"/>
              <a:t>            </a:t>
            </a:r>
            <a:r>
              <a:rPr lang="en-US" dirty="0" err="1"/>
              <a:t>c.withdraw</a:t>
            </a:r>
            <a:r>
              <a:rPr lang="en-US" dirty="0"/>
              <a:t>(100.00);</a:t>
            </a:r>
          </a:p>
          <a:p>
            <a:pPr marL="0" indent="0">
              <a:buNone/>
            </a:pPr>
            <a:r>
              <a:rPr lang="en-US" dirty="0"/>
              <a:t>            </a:t>
            </a:r>
            <a:r>
              <a:rPr lang="en-US" dirty="0" err="1"/>
              <a:t>System.out.println</a:t>
            </a:r>
            <a:r>
              <a:rPr lang="en-US" dirty="0"/>
              <a:t>("\</a:t>
            </a:r>
            <a:r>
              <a:rPr lang="en-US" dirty="0" err="1"/>
              <a:t>nWithdrawing</a:t>
            </a:r>
            <a:r>
              <a:rPr lang="en-US" dirty="0"/>
              <a:t> $600...");</a:t>
            </a:r>
          </a:p>
          <a:p>
            <a:pPr marL="0" indent="0">
              <a:buNone/>
            </a:pPr>
            <a:r>
              <a:rPr lang="en-US" dirty="0"/>
              <a:t>            </a:t>
            </a:r>
            <a:r>
              <a:rPr lang="en-US" dirty="0" err="1"/>
              <a:t>c.withdraw</a:t>
            </a:r>
            <a:r>
              <a:rPr lang="en-US" dirty="0"/>
              <a:t>(600.00);</a:t>
            </a:r>
          </a:p>
          <a:p>
            <a:pPr marL="0" indent="0">
              <a:buNone/>
            </a:pPr>
            <a:r>
              <a:rPr lang="en-US" dirty="0"/>
              <a:t>        } catch (</a:t>
            </a:r>
            <a:r>
              <a:rPr lang="en-US" dirty="0" err="1"/>
              <a:t>InsufficientFundsException</a:t>
            </a:r>
            <a:r>
              <a:rPr lang="en-US" dirty="0"/>
              <a:t> e) {</a:t>
            </a:r>
          </a:p>
          <a:p>
            <a:pPr marL="0" indent="0">
              <a:buNone/>
            </a:pPr>
            <a:r>
              <a:rPr lang="en-US" dirty="0"/>
              <a:t>            </a:t>
            </a:r>
            <a:r>
              <a:rPr lang="en-US" dirty="0" err="1"/>
              <a:t>System.out.println</a:t>
            </a:r>
            <a:r>
              <a:rPr lang="en-US" dirty="0"/>
              <a:t>("Sorry, but you are short $" + </a:t>
            </a:r>
            <a:r>
              <a:rPr lang="en-US" dirty="0" err="1"/>
              <a:t>e.getAmount</a:t>
            </a:r>
            <a:r>
              <a:rPr lang="en-US" dirty="0"/>
              <a:t>());</a:t>
            </a:r>
          </a:p>
          <a:p>
            <a:pPr marL="0" indent="0">
              <a:buNone/>
            </a:pPr>
            <a:r>
              <a:rPr lang="en-US" dirty="0"/>
              <a:t>            </a:t>
            </a:r>
            <a:r>
              <a:rPr lang="en-US" dirty="0" err="1"/>
              <a:t>e.printStackTrace</a:t>
            </a:r>
            <a:r>
              <a:rPr lang="en-US" dirty="0"/>
              <a:t>();</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750059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User-defined Exceptions</a:t>
            </a:r>
          </a:p>
        </p:txBody>
      </p:sp>
      <p:sp>
        <p:nvSpPr>
          <p:cNvPr id="3" name="Content Placeholder 2"/>
          <p:cNvSpPr>
            <a:spLocks noGrp="1"/>
          </p:cNvSpPr>
          <p:nvPr>
            <p:ph sz="quarter" idx="1"/>
          </p:nvPr>
        </p:nvSpPr>
        <p:spPr>
          <a:xfrm>
            <a:off x="914400" y="990600"/>
            <a:ext cx="7772400" cy="5562600"/>
          </a:xfrm>
        </p:spPr>
        <p:txBody>
          <a:bodyPr>
            <a:normAutofit fontScale="92500" lnSpcReduction="10000"/>
          </a:bodyPr>
          <a:lstStyle/>
          <a:p>
            <a:r>
              <a:rPr lang="en-US" dirty="0"/>
              <a:t>Compile all the above three files and run </a:t>
            </a:r>
            <a:r>
              <a:rPr lang="en-US" dirty="0" err="1"/>
              <a:t>BankDemo</a:t>
            </a:r>
            <a:r>
              <a:rPr lang="en-US" dirty="0"/>
              <a:t>. This will produce the following result </a:t>
            </a:r>
            <a:r>
              <a:rPr lang="en-US" dirty="0" smtClean="0"/>
              <a:t>−</a:t>
            </a:r>
          </a:p>
          <a:p>
            <a:endParaRPr lang="en-US" dirty="0"/>
          </a:p>
          <a:p>
            <a:r>
              <a:rPr lang="en-US" b="1" dirty="0" smtClean="0"/>
              <a:t>Output</a:t>
            </a:r>
          </a:p>
          <a:p>
            <a:pPr marL="0" indent="0">
              <a:buNone/>
            </a:pPr>
            <a:r>
              <a:rPr lang="en-US" dirty="0" smtClean="0"/>
              <a:t>Depositing </a:t>
            </a:r>
            <a:r>
              <a:rPr lang="en-US" dirty="0"/>
              <a:t>$500...</a:t>
            </a:r>
          </a:p>
          <a:p>
            <a:pPr marL="0" indent="0">
              <a:buNone/>
            </a:pPr>
            <a:endParaRPr lang="en-US" dirty="0"/>
          </a:p>
          <a:p>
            <a:pPr marL="0" indent="0">
              <a:buNone/>
            </a:pPr>
            <a:r>
              <a:rPr lang="en-US" dirty="0"/>
              <a:t>Withdrawing $100...</a:t>
            </a:r>
          </a:p>
          <a:p>
            <a:pPr marL="0" indent="0">
              <a:buNone/>
            </a:pPr>
            <a:endParaRPr lang="en-US" dirty="0"/>
          </a:p>
          <a:p>
            <a:pPr marL="0" indent="0">
              <a:buNone/>
            </a:pPr>
            <a:r>
              <a:rPr lang="en-US" dirty="0"/>
              <a:t>Withdrawing $600...</a:t>
            </a:r>
          </a:p>
          <a:p>
            <a:pPr marL="0" indent="0">
              <a:buNone/>
            </a:pPr>
            <a:r>
              <a:rPr lang="en-US" dirty="0"/>
              <a:t>Sorry, but you are short $200.0</a:t>
            </a:r>
          </a:p>
          <a:p>
            <a:pPr marL="0" indent="0">
              <a:buNone/>
            </a:pPr>
            <a:r>
              <a:rPr lang="en-US" dirty="0" err="1"/>
              <a:t>InsufficientFundsException</a:t>
            </a:r>
            <a:endParaRPr lang="en-US" dirty="0"/>
          </a:p>
          <a:p>
            <a:pPr marL="0" indent="0">
              <a:buNone/>
            </a:pPr>
            <a:r>
              <a:rPr lang="en-US" dirty="0"/>
              <a:t>         at </a:t>
            </a:r>
            <a:r>
              <a:rPr lang="en-US" dirty="0" err="1"/>
              <a:t>CheckingAccount.withdraw</a:t>
            </a:r>
            <a:r>
              <a:rPr lang="en-US" dirty="0"/>
              <a:t>(CheckingAccount.java:25)</a:t>
            </a:r>
          </a:p>
          <a:p>
            <a:pPr marL="0" indent="0">
              <a:buNone/>
            </a:pPr>
            <a:r>
              <a:rPr lang="en-US" dirty="0"/>
              <a:t>         at </a:t>
            </a:r>
            <a:r>
              <a:rPr lang="en-US" dirty="0" err="1"/>
              <a:t>BankDemo.main</a:t>
            </a:r>
            <a:r>
              <a:rPr lang="en-US" dirty="0"/>
              <a:t>(BankDemo.java:13)</a:t>
            </a:r>
            <a:endParaRPr lang="en-US" dirty="0" smtClean="0"/>
          </a:p>
          <a:p>
            <a:endParaRPr lang="en-US" dirty="0"/>
          </a:p>
          <a:p>
            <a:endParaRPr lang="en-US" b="1" dirty="0"/>
          </a:p>
          <a:p>
            <a:endParaRPr lang="en-US" dirty="0"/>
          </a:p>
        </p:txBody>
      </p:sp>
    </p:spTree>
    <p:extLst>
      <p:ext uri="{BB962C8B-B14F-4D97-AF65-F5344CB8AC3E}">
        <p14:creationId xmlns:p14="http://schemas.microsoft.com/office/powerpoint/2010/main" val="39508884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1726</TotalTime>
  <Words>1472</Words>
  <Application>Microsoft Office PowerPoint</Application>
  <PresentationFormat>On-screen Show (4:3)</PresentationFormat>
  <Paragraphs>270</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Cambria</vt:lpstr>
      <vt:lpstr>Franklin Gothic Book</vt:lpstr>
      <vt:lpstr>Perpetua</vt:lpstr>
      <vt:lpstr>Wingdings 2</vt:lpstr>
      <vt:lpstr>Equity</vt:lpstr>
      <vt:lpstr>Java Programming</vt:lpstr>
      <vt:lpstr>Exception Handling in Java</vt:lpstr>
      <vt:lpstr>What is an Exception in Java?</vt:lpstr>
      <vt:lpstr>What is an Exception in Java?</vt:lpstr>
      <vt:lpstr>Errors and Exceptions</vt:lpstr>
      <vt:lpstr>Errors and Exceptions</vt:lpstr>
      <vt:lpstr>Errors and Exceptions</vt:lpstr>
      <vt:lpstr>Exception Hierarchy</vt:lpstr>
      <vt:lpstr>Exception Hierarchy</vt:lpstr>
      <vt:lpstr>Exception Hierarchy</vt:lpstr>
      <vt:lpstr>Types of Exceptions</vt:lpstr>
      <vt:lpstr>Types of Exceptions</vt:lpstr>
      <vt:lpstr>Built-in Exceptions</vt:lpstr>
      <vt:lpstr>Built-in Exceptions</vt:lpstr>
      <vt:lpstr>User-Defined Exceptions:</vt:lpstr>
      <vt:lpstr>Java Exception Keywords</vt:lpstr>
      <vt:lpstr>Java Exception Keywords</vt:lpstr>
      <vt:lpstr>Java Exception Keywords</vt:lpstr>
      <vt:lpstr>Example</vt:lpstr>
      <vt:lpstr>Example</vt:lpstr>
      <vt:lpstr>Example</vt:lpstr>
      <vt:lpstr>Example</vt:lpstr>
      <vt:lpstr>Example</vt:lpstr>
      <vt:lpstr>The throw keyword</vt:lpstr>
      <vt:lpstr>Example</vt:lpstr>
      <vt:lpstr>Example</vt:lpstr>
      <vt:lpstr>The throws keyword</vt:lpstr>
      <vt:lpstr>The throws keyword</vt:lpstr>
      <vt:lpstr>The throws keyword</vt:lpstr>
      <vt:lpstr>User-defined Exceptions</vt:lpstr>
      <vt:lpstr>User-defined Exceptions</vt:lpstr>
      <vt:lpstr>User-defined Exceptions</vt:lpstr>
      <vt:lpstr>User-defined Exceptions</vt:lpstr>
      <vt:lpstr>User-defined Exceptions</vt:lpstr>
      <vt:lpstr>User-defined Exceptions</vt:lpstr>
      <vt:lpstr>User-defined Exceptions</vt:lpstr>
      <vt:lpstr>User-defined Exceptions</vt:lpstr>
      <vt:lpstr>User-defined Exceptions</vt:lpstr>
      <vt:lpstr>User-defined Exceptions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Lab2-01</dc:creator>
  <cp:lastModifiedBy>TUSHAR KATHANE</cp:lastModifiedBy>
  <cp:revision>700</cp:revision>
  <dcterms:created xsi:type="dcterms:W3CDTF">2017-12-14T08:59:32Z</dcterms:created>
  <dcterms:modified xsi:type="dcterms:W3CDTF">2023-10-09T17:59:42Z</dcterms:modified>
</cp:coreProperties>
</file>