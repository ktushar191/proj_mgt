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0" r:id="rId5"/>
    <p:sldId id="271" r:id="rId6"/>
    <p:sldId id="257" r:id="rId7"/>
    <p:sldId id="258" r:id="rId8"/>
    <p:sldId id="260" r:id="rId9"/>
    <p:sldId id="259" r:id="rId10"/>
    <p:sldId id="261" r:id="rId11"/>
    <p:sldId id="262" r:id="rId12"/>
    <p:sldId id="263" r:id="rId13"/>
    <p:sldId id="264" r:id="rId14"/>
    <p:sldId id="265" r:id="rId15"/>
    <p:sldId id="266" r:id="rId16"/>
    <p:sldId id="267" r:id="rId17"/>
    <p:sldId id="275" r:id="rId18"/>
    <p:sldId id="276" r:id="rId19"/>
    <p:sldId id="277" r:id="rId20"/>
    <p:sldId id="312"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13" r:id="rId34"/>
    <p:sldId id="300" r:id="rId35"/>
    <p:sldId id="301" r:id="rId36"/>
    <p:sldId id="302" r:id="rId37"/>
    <p:sldId id="304" r:id="rId38"/>
    <p:sldId id="305" r:id="rId39"/>
    <p:sldId id="306" r:id="rId40"/>
    <p:sldId id="307" r:id="rId41"/>
    <p:sldId id="308" r:id="rId42"/>
    <p:sldId id="309" r:id="rId43"/>
    <p:sldId id="310" r:id="rId44"/>
    <p:sldId id="311" r:id="rId45"/>
    <p:sldId id="314" r:id="rId46"/>
    <p:sldId id="315" r:id="rId47"/>
    <p:sldId id="316" r:id="rId48"/>
    <p:sldId id="317" r:id="rId49"/>
    <p:sldId id="318" r:id="rId50"/>
    <p:sldId id="319" r:id="rId51"/>
    <p:sldId id="320" r:id="rId52"/>
    <p:sldId id="321" r:id="rId53"/>
    <p:sldId id="322" r:id="rId54"/>
    <p:sldId id="323" r:id="rId55"/>
    <p:sldId id="324" r:id="rId56"/>
    <p:sldId id="325" r:id="rId57"/>
    <p:sldId id="326" r:id="rId58"/>
    <p:sldId id="327" r:id="rId59"/>
    <p:sldId id="328" r:id="rId60"/>
    <p:sldId id="329" r:id="rId61"/>
    <p:sldId id="330" r:id="rId62"/>
    <p:sldId id="272" r:id="rId63"/>
    <p:sldId id="273" r:id="rId64"/>
    <p:sldId id="274" r:id="rId65"/>
    <p:sldId id="331" r:id="rId66"/>
    <p:sldId id="332" r:id="rId67"/>
    <p:sldId id="333" r:id="rId68"/>
    <p:sldId id="278" r:id="rId69"/>
    <p:sldId id="279" r:id="rId70"/>
    <p:sldId id="280" r:id="rId71"/>
    <p:sldId id="281" r:id="rId72"/>
    <p:sldId id="282" r:id="rId73"/>
    <p:sldId id="283" r:id="rId74"/>
    <p:sldId id="284" r:id="rId75"/>
    <p:sldId id="285" r:id="rId76"/>
    <p:sldId id="286" r:id="rId77"/>
    <p:sldId id="287" r:id="rId78"/>
    <p:sldId id="334" r:id="rId79"/>
    <p:sldId id="335" r:id="rId80"/>
    <p:sldId id="336" r:id="rId81"/>
    <p:sldId id="337" r:id="rId82"/>
    <p:sldId id="338"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9CE0A-52B5-4CD2-9F6C-A383BABDF7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11B6B9-3843-4672-8E24-B13CB7D6C7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3C2DAF-4B54-42E3-A902-741B4B146360}"/>
              </a:ext>
            </a:extLst>
          </p:cNvPr>
          <p:cNvSpPr>
            <a:spLocks noGrp="1"/>
          </p:cNvSpPr>
          <p:nvPr>
            <p:ph type="dt" sz="half" idx="10"/>
          </p:nvPr>
        </p:nvSpPr>
        <p:spPr/>
        <p:txBody>
          <a:bodyPr/>
          <a:lstStyle/>
          <a:p>
            <a:fld id="{253F56A4-FF2F-480A-83DB-CFC5D0FB5A73}" type="datetimeFigureOut">
              <a:rPr lang="en-IN" smtClean="0"/>
              <a:t>28-08-2023</a:t>
            </a:fld>
            <a:endParaRPr lang="en-IN"/>
          </a:p>
        </p:txBody>
      </p:sp>
      <p:sp>
        <p:nvSpPr>
          <p:cNvPr id="5" name="Footer Placeholder 4">
            <a:extLst>
              <a:ext uri="{FF2B5EF4-FFF2-40B4-BE49-F238E27FC236}">
                <a16:creationId xmlns:a16="http://schemas.microsoft.com/office/drawing/2014/main" id="{322AF98D-E7FD-4640-8BE6-32170E8A5B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D72F25-B971-4130-A17C-E78423BDDA79}"/>
              </a:ext>
            </a:extLst>
          </p:cNvPr>
          <p:cNvSpPr>
            <a:spLocks noGrp="1"/>
          </p:cNvSpPr>
          <p:nvPr>
            <p:ph type="sldNum" sz="quarter" idx="12"/>
          </p:nvPr>
        </p:nvSpPr>
        <p:spPr/>
        <p:txBody>
          <a:bodyPr/>
          <a:lstStyle/>
          <a:p>
            <a:fld id="{0D5C0A81-3A97-40B7-94F6-DF0CE9FB7364}" type="slidenum">
              <a:rPr lang="en-IN" smtClean="0"/>
              <a:t>‹#›</a:t>
            </a:fld>
            <a:endParaRPr lang="en-IN"/>
          </a:p>
        </p:txBody>
      </p:sp>
    </p:spTree>
    <p:extLst>
      <p:ext uri="{BB962C8B-B14F-4D97-AF65-F5344CB8AC3E}">
        <p14:creationId xmlns:p14="http://schemas.microsoft.com/office/powerpoint/2010/main" val="2472522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8729A-FDE5-4BEC-A9F6-0967890B5B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53735C-9543-4055-8E26-F880704F892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9998C5-960D-450E-BF7A-DE2DB1569BB9}"/>
              </a:ext>
            </a:extLst>
          </p:cNvPr>
          <p:cNvSpPr>
            <a:spLocks noGrp="1"/>
          </p:cNvSpPr>
          <p:nvPr>
            <p:ph type="dt" sz="half" idx="10"/>
          </p:nvPr>
        </p:nvSpPr>
        <p:spPr/>
        <p:txBody>
          <a:bodyPr/>
          <a:lstStyle/>
          <a:p>
            <a:fld id="{253F56A4-FF2F-480A-83DB-CFC5D0FB5A73}" type="datetimeFigureOut">
              <a:rPr lang="en-IN" smtClean="0"/>
              <a:t>28-08-2023</a:t>
            </a:fld>
            <a:endParaRPr lang="en-IN"/>
          </a:p>
        </p:txBody>
      </p:sp>
      <p:sp>
        <p:nvSpPr>
          <p:cNvPr id="5" name="Footer Placeholder 4">
            <a:extLst>
              <a:ext uri="{FF2B5EF4-FFF2-40B4-BE49-F238E27FC236}">
                <a16:creationId xmlns:a16="http://schemas.microsoft.com/office/drawing/2014/main" id="{255EEA1C-E76A-4B4A-B7DB-568A764BD0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0EF48F-450F-4F72-A0E8-83C22177D2BF}"/>
              </a:ext>
            </a:extLst>
          </p:cNvPr>
          <p:cNvSpPr>
            <a:spLocks noGrp="1"/>
          </p:cNvSpPr>
          <p:nvPr>
            <p:ph type="sldNum" sz="quarter" idx="12"/>
          </p:nvPr>
        </p:nvSpPr>
        <p:spPr/>
        <p:txBody>
          <a:bodyPr/>
          <a:lstStyle/>
          <a:p>
            <a:fld id="{0D5C0A81-3A97-40B7-94F6-DF0CE9FB7364}" type="slidenum">
              <a:rPr lang="en-IN" smtClean="0"/>
              <a:t>‹#›</a:t>
            </a:fld>
            <a:endParaRPr lang="en-IN"/>
          </a:p>
        </p:txBody>
      </p:sp>
    </p:spTree>
    <p:extLst>
      <p:ext uri="{BB962C8B-B14F-4D97-AF65-F5344CB8AC3E}">
        <p14:creationId xmlns:p14="http://schemas.microsoft.com/office/powerpoint/2010/main" val="3675952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5AC15-3514-46C2-8B14-C299F4A4A8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EDB846-5D1D-4CA2-BD84-233C671629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86542C4-08A9-4EC1-A1B8-85A94146F7B2}"/>
              </a:ext>
            </a:extLst>
          </p:cNvPr>
          <p:cNvSpPr>
            <a:spLocks noGrp="1"/>
          </p:cNvSpPr>
          <p:nvPr>
            <p:ph type="dt" sz="half" idx="10"/>
          </p:nvPr>
        </p:nvSpPr>
        <p:spPr/>
        <p:txBody>
          <a:bodyPr/>
          <a:lstStyle/>
          <a:p>
            <a:fld id="{253F56A4-FF2F-480A-83DB-CFC5D0FB5A73}" type="datetimeFigureOut">
              <a:rPr lang="en-IN" smtClean="0"/>
              <a:t>28-08-2023</a:t>
            </a:fld>
            <a:endParaRPr lang="en-IN"/>
          </a:p>
        </p:txBody>
      </p:sp>
      <p:sp>
        <p:nvSpPr>
          <p:cNvPr id="5" name="Footer Placeholder 4">
            <a:extLst>
              <a:ext uri="{FF2B5EF4-FFF2-40B4-BE49-F238E27FC236}">
                <a16:creationId xmlns:a16="http://schemas.microsoft.com/office/drawing/2014/main" id="{698EA76E-2C0E-49C3-9C02-069CC82804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A855E5-2BEF-4FFC-B1AF-31642D1E7899}"/>
              </a:ext>
            </a:extLst>
          </p:cNvPr>
          <p:cNvSpPr>
            <a:spLocks noGrp="1"/>
          </p:cNvSpPr>
          <p:nvPr>
            <p:ph type="sldNum" sz="quarter" idx="12"/>
          </p:nvPr>
        </p:nvSpPr>
        <p:spPr/>
        <p:txBody>
          <a:bodyPr/>
          <a:lstStyle/>
          <a:p>
            <a:fld id="{0D5C0A81-3A97-40B7-94F6-DF0CE9FB7364}" type="slidenum">
              <a:rPr lang="en-IN" smtClean="0"/>
              <a:t>‹#›</a:t>
            </a:fld>
            <a:endParaRPr lang="en-IN"/>
          </a:p>
        </p:txBody>
      </p:sp>
    </p:spTree>
    <p:extLst>
      <p:ext uri="{BB962C8B-B14F-4D97-AF65-F5344CB8AC3E}">
        <p14:creationId xmlns:p14="http://schemas.microsoft.com/office/powerpoint/2010/main" val="92306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8E643-E35C-451D-8F2A-E18E2672C7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C9A236-58F8-4192-BED8-43765D7CE5D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17D499-BC6C-4EE1-82EA-6A62E6F0DC8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D86EE62-4DFA-4567-81ED-29115F2839C8}"/>
              </a:ext>
            </a:extLst>
          </p:cNvPr>
          <p:cNvSpPr>
            <a:spLocks noGrp="1"/>
          </p:cNvSpPr>
          <p:nvPr>
            <p:ph type="dt" sz="half" idx="10"/>
          </p:nvPr>
        </p:nvSpPr>
        <p:spPr/>
        <p:txBody>
          <a:bodyPr/>
          <a:lstStyle/>
          <a:p>
            <a:fld id="{253F56A4-FF2F-480A-83DB-CFC5D0FB5A73}" type="datetimeFigureOut">
              <a:rPr lang="en-IN" smtClean="0"/>
              <a:t>28-08-2023</a:t>
            </a:fld>
            <a:endParaRPr lang="en-IN"/>
          </a:p>
        </p:txBody>
      </p:sp>
      <p:sp>
        <p:nvSpPr>
          <p:cNvPr id="6" name="Footer Placeholder 5">
            <a:extLst>
              <a:ext uri="{FF2B5EF4-FFF2-40B4-BE49-F238E27FC236}">
                <a16:creationId xmlns:a16="http://schemas.microsoft.com/office/drawing/2014/main" id="{10F3E241-B8AF-409D-A1A1-33E26BCC06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F5A06D-36BB-4854-93EC-F7D17182E1B4}"/>
              </a:ext>
            </a:extLst>
          </p:cNvPr>
          <p:cNvSpPr>
            <a:spLocks noGrp="1"/>
          </p:cNvSpPr>
          <p:nvPr>
            <p:ph type="sldNum" sz="quarter" idx="12"/>
          </p:nvPr>
        </p:nvSpPr>
        <p:spPr/>
        <p:txBody>
          <a:bodyPr/>
          <a:lstStyle/>
          <a:p>
            <a:fld id="{0D5C0A81-3A97-40B7-94F6-DF0CE9FB7364}" type="slidenum">
              <a:rPr lang="en-IN" smtClean="0"/>
              <a:t>‹#›</a:t>
            </a:fld>
            <a:endParaRPr lang="en-IN"/>
          </a:p>
        </p:txBody>
      </p:sp>
    </p:spTree>
    <p:extLst>
      <p:ext uri="{BB962C8B-B14F-4D97-AF65-F5344CB8AC3E}">
        <p14:creationId xmlns:p14="http://schemas.microsoft.com/office/powerpoint/2010/main" val="2789065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9234E-0188-4705-BBC8-56BC15A7A3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33952B-49C4-4F58-960E-8ACDD8EE67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3A96904-E25F-42AB-955F-7F52BB771B0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C964D90-F8E0-4403-BF21-0F7445D9D9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F8BCA2E-AA09-46AA-A9F9-5C0E2AB527A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715B25-BDDB-463F-9ECA-D2C589671571}"/>
              </a:ext>
            </a:extLst>
          </p:cNvPr>
          <p:cNvSpPr>
            <a:spLocks noGrp="1"/>
          </p:cNvSpPr>
          <p:nvPr>
            <p:ph type="dt" sz="half" idx="10"/>
          </p:nvPr>
        </p:nvSpPr>
        <p:spPr/>
        <p:txBody>
          <a:bodyPr/>
          <a:lstStyle/>
          <a:p>
            <a:fld id="{253F56A4-FF2F-480A-83DB-CFC5D0FB5A73}" type="datetimeFigureOut">
              <a:rPr lang="en-IN" smtClean="0"/>
              <a:t>28-08-2023</a:t>
            </a:fld>
            <a:endParaRPr lang="en-IN"/>
          </a:p>
        </p:txBody>
      </p:sp>
      <p:sp>
        <p:nvSpPr>
          <p:cNvPr id="8" name="Footer Placeholder 7">
            <a:extLst>
              <a:ext uri="{FF2B5EF4-FFF2-40B4-BE49-F238E27FC236}">
                <a16:creationId xmlns:a16="http://schemas.microsoft.com/office/drawing/2014/main" id="{2FC3A6B6-8C8A-40DC-A4F0-8F464DFF75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EF7CF01-2953-4F8D-9834-447718846BBE}"/>
              </a:ext>
            </a:extLst>
          </p:cNvPr>
          <p:cNvSpPr>
            <a:spLocks noGrp="1"/>
          </p:cNvSpPr>
          <p:nvPr>
            <p:ph type="sldNum" sz="quarter" idx="12"/>
          </p:nvPr>
        </p:nvSpPr>
        <p:spPr/>
        <p:txBody>
          <a:bodyPr/>
          <a:lstStyle/>
          <a:p>
            <a:fld id="{0D5C0A81-3A97-40B7-94F6-DF0CE9FB7364}" type="slidenum">
              <a:rPr lang="en-IN" smtClean="0"/>
              <a:t>‹#›</a:t>
            </a:fld>
            <a:endParaRPr lang="en-IN"/>
          </a:p>
        </p:txBody>
      </p:sp>
    </p:spTree>
    <p:extLst>
      <p:ext uri="{BB962C8B-B14F-4D97-AF65-F5344CB8AC3E}">
        <p14:creationId xmlns:p14="http://schemas.microsoft.com/office/powerpoint/2010/main" val="2237152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9B262-9DD6-4781-8890-38477B6174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C07AC67-0896-4DE2-8279-C25569AA7EC0}"/>
              </a:ext>
            </a:extLst>
          </p:cNvPr>
          <p:cNvSpPr>
            <a:spLocks noGrp="1"/>
          </p:cNvSpPr>
          <p:nvPr>
            <p:ph type="dt" sz="half" idx="10"/>
          </p:nvPr>
        </p:nvSpPr>
        <p:spPr/>
        <p:txBody>
          <a:bodyPr/>
          <a:lstStyle/>
          <a:p>
            <a:fld id="{253F56A4-FF2F-480A-83DB-CFC5D0FB5A73}" type="datetimeFigureOut">
              <a:rPr lang="en-IN" smtClean="0"/>
              <a:t>28-08-2023</a:t>
            </a:fld>
            <a:endParaRPr lang="en-IN"/>
          </a:p>
        </p:txBody>
      </p:sp>
      <p:sp>
        <p:nvSpPr>
          <p:cNvPr id="4" name="Footer Placeholder 3">
            <a:extLst>
              <a:ext uri="{FF2B5EF4-FFF2-40B4-BE49-F238E27FC236}">
                <a16:creationId xmlns:a16="http://schemas.microsoft.com/office/drawing/2014/main" id="{AD18CEA9-88A6-4EED-8399-8DD8FC3A6B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50FAE45-9D35-4037-A7D5-872543C43D62}"/>
              </a:ext>
            </a:extLst>
          </p:cNvPr>
          <p:cNvSpPr>
            <a:spLocks noGrp="1"/>
          </p:cNvSpPr>
          <p:nvPr>
            <p:ph type="sldNum" sz="quarter" idx="12"/>
          </p:nvPr>
        </p:nvSpPr>
        <p:spPr/>
        <p:txBody>
          <a:bodyPr/>
          <a:lstStyle/>
          <a:p>
            <a:fld id="{0D5C0A81-3A97-40B7-94F6-DF0CE9FB7364}" type="slidenum">
              <a:rPr lang="en-IN" smtClean="0"/>
              <a:t>‹#›</a:t>
            </a:fld>
            <a:endParaRPr lang="en-IN"/>
          </a:p>
        </p:txBody>
      </p:sp>
    </p:spTree>
    <p:extLst>
      <p:ext uri="{BB962C8B-B14F-4D97-AF65-F5344CB8AC3E}">
        <p14:creationId xmlns:p14="http://schemas.microsoft.com/office/powerpoint/2010/main" val="2962290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287832-2B63-4431-9E9D-A9507B67DA2A}"/>
              </a:ext>
            </a:extLst>
          </p:cNvPr>
          <p:cNvSpPr>
            <a:spLocks noGrp="1"/>
          </p:cNvSpPr>
          <p:nvPr>
            <p:ph type="dt" sz="half" idx="10"/>
          </p:nvPr>
        </p:nvSpPr>
        <p:spPr/>
        <p:txBody>
          <a:bodyPr/>
          <a:lstStyle/>
          <a:p>
            <a:fld id="{253F56A4-FF2F-480A-83DB-CFC5D0FB5A73}" type="datetimeFigureOut">
              <a:rPr lang="en-IN" smtClean="0"/>
              <a:t>28-08-2023</a:t>
            </a:fld>
            <a:endParaRPr lang="en-IN"/>
          </a:p>
        </p:txBody>
      </p:sp>
      <p:sp>
        <p:nvSpPr>
          <p:cNvPr id="3" name="Footer Placeholder 2">
            <a:extLst>
              <a:ext uri="{FF2B5EF4-FFF2-40B4-BE49-F238E27FC236}">
                <a16:creationId xmlns:a16="http://schemas.microsoft.com/office/drawing/2014/main" id="{8A641C2E-58F9-403D-920E-6AD7637008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29CE3E4-7F5D-4080-BB30-6939EFBF4BE7}"/>
              </a:ext>
            </a:extLst>
          </p:cNvPr>
          <p:cNvSpPr>
            <a:spLocks noGrp="1"/>
          </p:cNvSpPr>
          <p:nvPr>
            <p:ph type="sldNum" sz="quarter" idx="12"/>
          </p:nvPr>
        </p:nvSpPr>
        <p:spPr/>
        <p:txBody>
          <a:bodyPr/>
          <a:lstStyle/>
          <a:p>
            <a:fld id="{0D5C0A81-3A97-40B7-94F6-DF0CE9FB7364}" type="slidenum">
              <a:rPr lang="en-IN" smtClean="0"/>
              <a:t>‹#›</a:t>
            </a:fld>
            <a:endParaRPr lang="en-IN"/>
          </a:p>
        </p:txBody>
      </p:sp>
    </p:spTree>
    <p:extLst>
      <p:ext uri="{BB962C8B-B14F-4D97-AF65-F5344CB8AC3E}">
        <p14:creationId xmlns:p14="http://schemas.microsoft.com/office/powerpoint/2010/main" val="2972642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ADA17-1AE5-45B3-B52E-D0C651F58B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32A7870-CCB9-4F63-AFEF-61E56B3FB6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113921-48BE-4607-A0F1-6925C1FE8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56861B4-E4E5-4E57-83C8-6A18CA8EF82B}"/>
              </a:ext>
            </a:extLst>
          </p:cNvPr>
          <p:cNvSpPr>
            <a:spLocks noGrp="1"/>
          </p:cNvSpPr>
          <p:nvPr>
            <p:ph type="dt" sz="half" idx="10"/>
          </p:nvPr>
        </p:nvSpPr>
        <p:spPr/>
        <p:txBody>
          <a:bodyPr/>
          <a:lstStyle/>
          <a:p>
            <a:fld id="{253F56A4-FF2F-480A-83DB-CFC5D0FB5A73}" type="datetimeFigureOut">
              <a:rPr lang="en-IN" smtClean="0"/>
              <a:t>28-08-2023</a:t>
            </a:fld>
            <a:endParaRPr lang="en-IN"/>
          </a:p>
        </p:txBody>
      </p:sp>
      <p:sp>
        <p:nvSpPr>
          <p:cNvPr id="6" name="Footer Placeholder 5">
            <a:extLst>
              <a:ext uri="{FF2B5EF4-FFF2-40B4-BE49-F238E27FC236}">
                <a16:creationId xmlns:a16="http://schemas.microsoft.com/office/drawing/2014/main" id="{C8F89F8C-D7B2-448B-8CCF-4908138C78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F505A0-9CA3-4995-A73F-ED06006D99FB}"/>
              </a:ext>
            </a:extLst>
          </p:cNvPr>
          <p:cNvSpPr>
            <a:spLocks noGrp="1"/>
          </p:cNvSpPr>
          <p:nvPr>
            <p:ph type="sldNum" sz="quarter" idx="12"/>
          </p:nvPr>
        </p:nvSpPr>
        <p:spPr/>
        <p:txBody>
          <a:bodyPr/>
          <a:lstStyle/>
          <a:p>
            <a:fld id="{0D5C0A81-3A97-40B7-94F6-DF0CE9FB7364}" type="slidenum">
              <a:rPr lang="en-IN" smtClean="0"/>
              <a:t>‹#›</a:t>
            </a:fld>
            <a:endParaRPr lang="en-IN"/>
          </a:p>
        </p:txBody>
      </p:sp>
    </p:spTree>
    <p:extLst>
      <p:ext uri="{BB962C8B-B14F-4D97-AF65-F5344CB8AC3E}">
        <p14:creationId xmlns:p14="http://schemas.microsoft.com/office/powerpoint/2010/main" val="1819222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B405B-157D-47CE-A2B4-3C02D1DEB3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8F1CD2-BC1A-4724-AE4F-A771C5F317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53AAFA2-C7D0-4019-BB49-94C19E4B4A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D070E52-7A4F-4345-A54E-8C45948D06B3}"/>
              </a:ext>
            </a:extLst>
          </p:cNvPr>
          <p:cNvSpPr>
            <a:spLocks noGrp="1"/>
          </p:cNvSpPr>
          <p:nvPr>
            <p:ph type="dt" sz="half" idx="10"/>
          </p:nvPr>
        </p:nvSpPr>
        <p:spPr/>
        <p:txBody>
          <a:bodyPr/>
          <a:lstStyle/>
          <a:p>
            <a:fld id="{253F56A4-FF2F-480A-83DB-CFC5D0FB5A73}" type="datetimeFigureOut">
              <a:rPr lang="en-IN" smtClean="0"/>
              <a:t>28-08-2023</a:t>
            </a:fld>
            <a:endParaRPr lang="en-IN"/>
          </a:p>
        </p:txBody>
      </p:sp>
      <p:sp>
        <p:nvSpPr>
          <p:cNvPr id="6" name="Footer Placeholder 5">
            <a:extLst>
              <a:ext uri="{FF2B5EF4-FFF2-40B4-BE49-F238E27FC236}">
                <a16:creationId xmlns:a16="http://schemas.microsoft.com/office/drawing/2014/main" id="{D4983119-D8DA-4D7A-AE5C-07E8F5C7DB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A65D7E-733D-4D29-9101-2BCFC42E6BCE}"/>
              </a:ext>
            </a:extLst>
          </p:cNvPr>
          <p:cNvSpPr>
            <a:spLocks noGrp="1"/>
          </p:cNvSpPr>
          <p:nvPr>
            <p:ph type="sldNum" sz="quarter" idx="12"/>
          </p:nvPr>
        </p:nvSpPr>
        <p:spPr/>
        <p:txBody>
          <a:bodyPr/>
          <a:lstStyle/>
          <a:p>
            <a:fld id="{0D5C0A81-3A97-40B7-94F6-DF0CE9FB7364}" type="slidenum">
              <a:rPr lang="en-IN" smtClean="0"/>
              <a:t>‹#›</a:t>
            </a:fld>
            <a:endParaRPr lang="en-IN"/>
          </a:p>
        </p:txBody>
      </p:sp>
    </p:spTree>
    <p:extLst>
      <p:ext uri="{BB962C8B-B14F-4D97-AF65-F5344CB8AC3E}">
        <p14:creationId xmlns:p14="http://schemas.microsoft.com/office/powerpoint/2010/main" val="1946466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F5951-8651-40AB-B768-57CCD72CC0C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5FC30C-69A7-4AE4-AC7D-A52C885A27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5E1C6C-E84D-408C-8723-3C15ED14A4D1}"/>
              </a:ext>
            </a:extLst>
          </p:cNvPr>
          <p:cNvSpPr>
            <a:spLocks noGrp="1"/>
          </p:cNvSpPr>
          <p:nvPr>
            <p:ph type="dt" sz="half" idx="10"/>
          </p:nvPr>
        </p:nvSpPr>
        <p:spPr/>
        <p:txBody>
          <a:bodyPr/>
          <a:lstStyle/>
          <a:p>
            <a:fld id="{253F56A4-FF2F-480A-83DB-CFC5D0FB5A73}" type="datetimeFigureOut">
              <a:rPr lang="en-IN" smtClean="0"/>
              <a:t>28-08-2023</a:t>
            </a:fld>
            <a:endParaRPr lang="en-IN"/>
          </a:p>
        </p:txBody>
      </p:sp>
      <p:sp>
        <p:nvSpPr>
          <p:cNvPr id="5" name="Footer Placeholder 4">
            <a:extLst>
              <a:ext uri="{FF2B5EF4-FFF2-40B4-BE49-F238E27FC236}">
                <a16:creationId xmlns:a16="http://schemas.microsoft.com/office/drawing/2014/main" id="{10F86697-F114-44ED-9AD4-2EF1FF457A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D468ED-0734-4363-ADE0-31DCA548489C}"/>
              </a:ext>
            </a:extLst>
          </p:cNvPr>
          <p:cNvSpPr>
            <a:spLocks noGrp="1"/>
          </p:cNvSpPr>
          <p:nvPr>
            <p:ph type="sldNum" sz="quarter" idx="12"/>
          </p:nvPr>
        </p:nvSpPr>
        <p:spPr/>
        <p:txBody>
          <a:bodyPr/>
          <a:lstStyle/>
          <a:p>
            <a:fld id="{0D5C0A81-3A97-40B7-94F6-DF0CE9FB7364}" type="slidenum">
              <a:rPr lang="en-IN" smtClean="0"/>
              <a:t>‹#›</a:t>
            </a:fld>
            <a:endParaRPr lang="en-IN"/>
          </a:p>
        </p:txBody>
      </p:sp>
    </p:spTree>
    <p:extLst>
      <p:ext uri="{BB962C8B-B14F-4D97-AF65-F5344CB8AC3E}">
        <p14:creationId xmlns:p14="http://schemas.microsoft.com/office/powerpoint/2010/main" val="192887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780DCC-8B4D-4DFA-8E68-82514DA40A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F37242-587D-4ED8-8030-67D32F8FA89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9A7852-155C-4AF6-8E69-88A9E9C51C5D}"/>
              </a:ext>
            </a:extLst>
          </p:cNvPr>
          <p:cNvSpPr>
            <a:spLocks noGrp="1"/>
          </p:cNvSpPr>
          <p:nvPr>
            <p:ph type="dt" sz="half" idx="10"/>
          </p:nvPr>
        </p:nvSpPr>
        <p:spPr/>
        <p:txBody>
          <a:bodyPr/>
          <a:lstStyle/>
          <a:p>
            <a:fld id="{253F56A4-FF2F-480A-83DB-CFC5D0FB5A73}" type="datetimeFigureOut">
              <a:rPr lang="en-IN" smtClean="0"/>
              <a:t>28-08-2023</a:t>
            </a:fld>
            <a:endParaRPr lang="en-IN"/>
          </a:p>
        </p:txBody>
      </p:sp>
      <p:sp>
        <p:nvSpPr>
          <p:cNvPr id="5" name="Footer Placeholder 4">
            <a:extLst>
              <a:ext uri="{FF2B5EF4-FFF2-40B4-BE49-F238E27FC236}">
                <a16:creationId xmlns:a16="http://schemas.microsoft.com/office/drawing/2014/main" id="{549C787D-E5F2-45CD-893A-E0F6E469E8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598937-9935-4142-8E32-09B3052E0D42}"/>
              </a:ext>
            </a:extLst>
          </p:cNvPr>
          <p:cNvSpPr>
            <a:spLocks noGrp="1"/>
          </p:cNvSpPr>
          <p:nvPr>
            <p:ph type="sldNum" sz="quarter" idx="12"/>
          </p:nvPr>
        </p:nvSpPr>
        <p:spPr/>
        <p:txBody>
          <a:bodyPr/>
          <a:lstStyle/>
          <a:p>
            <a:fld id="{0D5C0A81-3A97-40B7-94F6-DF0CE9FB7364}" type="slidenum">
              <a:rPr lang="en-IN" smtClean="0"/>
              <a:t>‹#›</a:t>
            </a:fld>
            <a:endParaRPr lang="en-IN"/>
          </a:p>
        </p:txBody>
      </p:sp>
    </p:spTree>
    <p:extLst>
      <p:ext uri="{BB962C8B-B14F-4D97-AF65-F5344CB8AC3E}">
        <p14:creationId xmlns:p14="http://schemas.microsoft.com/office/powerpoint/2010/main" val="3076107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1640A6-9630-413C-9D25-8C3867ED53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4DF222-53DD-4FE1-AA4D-E90BCBACBA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CCCA0B-D50A-42E4-98DB-9150B912AD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3F56A4-FF2F-480A-83DB-CFC5D0FB5A73}" type="datetimeFigureOut">
              <a:rPr lang="en-IN" smtClean="0"/>
              <a:t>28-08-2023</a:t>
            </a:fld>
            <a:endParaRPr lang="en-IN"/>
          </a:p>
        </p:txBody>
      </p:sp>
      <p:sp>
        <p:nvSpPr>
          <p:cNvPr id="5" name="Footer Placeholder 4">
            <a:extLst>
              <a:ext uri="{FF2B5EF4-FFF2-40B4-BE49-F238E27FC236}">
                <a16:creationId xmlns:a16="http://schemas.microsoft.com/office/drawing/2014/main" id="{36EECD68-455A-4EBF-96C7-D7F6805418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7E34105-1E42-4C24-918F-758B0337DF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5C0A81-3A97-40B7-94F6-DF0CE9FB7364}" type="slidenum">
              <a:rPr lang="en-IN" smtClean="0"/>
              <a:t>‹#›</a:t>
            </a:fld>
            <a:endParaRPr lang="en-IN"/>
          </a:p>
        </p:txBody>
      </p:sp>
    </p:spTree>
    <p:extLst>
      <p:ext uri="{BB962C8B-B14F-4D97-AF65-F5344CB8AC3E}">
        <p14:creationId xmlns:p14="http://schemas.microsoft.com/office/powerpoint/2010/main" val="19141354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www.emergentsoftware.net/blog/the-7-stages-of-the-software-development-life-cycle-sdlc/#stage7" TargetMode="External"/><Relationship Id="rId3" Type="http://schemas.openxmlformats.org/officeDocument/2006/relationships/hyperlink" Target="https://www.emergentsoftware.net/blog/the-7-stages-of-the-software-development-life-cycle-sdlc/#stage2" TargetMode="External"/><Relationship Id="rId7" Type="http://schemas.openxmlformats.org/officeDocument/2006/relationships/hyperlink" Target="https://www.emergentsoftware.net/blog/the-7-stages-of-the-software-development-life-cycle-sdlc/#stage6" TargetMode="External"/><Relationship Id="rId2" Type="http://schemas.openxmlformats.org/officeDocument/2006/relationships/hyperlink" Target="https://www.emergentsoftware.net/blog/the-7-stages-of-the-software-development-life-cycle-sdlc/#stage1" TargetMode="External"/><Relationship Id="rId1" Type="http://schemas.openxmlformats.org/officeDocument/2006/relationships/slideLayout" Target="../slideLayouts/slideLayout2.xml"/><Relationship Id="rId6" Type="http://schemas.openxmlformats.org/officeDocument/2006/relationships/hyperlink" Target="https://www.emergentsoftware.net/blog/the-7-stages-of-the-software-development-life-cycle-sdlc/#stage5" TargetMode="External"/><Relationship Id="rId5" Type="http://schemas.openxmlformats.org/officeDocument/2006/relationships/hyperlink" Target="https://www.emergentsoftware.net/blog/the-7-stages-of-the-software-development-life-cycle-sdlc/#stage4" TargetMode="External"/><Relationship Id="rId4" Type="http://schemas.openxmlformats.org/officeDocument/2006/relationships/hyperlink" Target="https://www.emergentsoftware.net/blog/the-7-stages-of-the-software-development-life-cycle-sdlc/#stage3"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C3167-9BBA-4CAC-912A-F013D3999141}"/>
              </a:ext>
            </a:extLst>
          </p:cNvPr>
          <p:cNvSpPr>
            <a:spLocks noGrp="1"/>
          </p:cNvSpPr>
          <p:nvPr>
            <p:ph type="ctrTitle"/>
          </p:nvPr>
        </p:nvSpPr>
        <p:spPr>
          <a:xfrm>
            <a:off x="202131" y="150210"/>
            <a:ext cx="11540690" cy="2387601"/>
          </a:xfrm>
        </p:spPr>
        <p:txBody>
          <a:bodyPr>
            <a:normAutofit/>
          </a:bodyPr>
          <a:lstStyle/>
          <a:p>
            <a:r>
              <a:rPr lang="en-US" sz="6600" b="1" dirty="0"/>
              <a:t>OBJECT ORIENTED SOFTWARE ENGINEERING</a:t>
            </a:r>
            <a:endParaRPr lang="en-IN" sz="6600" b="1" dirty="0"/>
          </a:p>
        </p:txBody>
      </p:sp>
      <p:sp>
        <p:nvSpPr>
          <p:cNvPr id="3" name="Subtitle 2">
            <a:extLst>
              <a:ext uri="{FF2B5EF4-FFF2-40B4-BE49-F238E27FC236}">
                <a16:creationId xmlns:a16="http://schemas.microsoft.com/office/drawing/2014/main" id="{A4D12F74-55B7-4AF5-A1A3-EEAAE9B913B0}"/>
              </a:ext>
            </a:extLst>
          </p:cNvPr>
          <p:cNvSpPr>
            <a:spLocks noGrp="1"/>
          </p:cNvSpPr>
          <p:nvPr>
            <p:ph type="subTitle" idx="1"/>
          </p:nvPr>
        </p:nvSpPr>
        <p:spPr>
          <a:xfrm>
            <a:off x="1437373" y="2537810"/>
            <a:ext cx="9144000" cy="3680109"/>
          </a:xfrm>
        </p:spPr>
        <p:txBody>
          <a:bodyPr/>
          <a:lstStyle/>
          <a:p>
            <a:r>
              <a:rPr lang="en-US" sz="4000" b="1" dirty="0"/>
              <a:t>FYMCA</a:t>
            </a:r>
            <a:r>
              <a:rPr lang="en-US" sz="4000" dirty="0"/>
              <a:t> </a:t>
            </a:r>
            <a:r>
              <a:rPr lang="en-US" sz="4000" b="1" dirty="0"/>
              <a:t>SEM-I</a:t>
            </a:r>
          </a:p>
          <a:p>
            <a:endParaRPr lang="en-IN" dirty="0"/>
          </a:p>
          <a:p>
            <a:endParaRPr lang="en-IN" dirty="0"/>
          </a:p>
          <a:p>
            <a:endParaRPr lang="en-IN" dirty="0"/>
          </a:p>
          <a:p>
            <a:endParaRPr lang="en-IN" dirty="0"/>
          </a:p>
          <a:p>
            <a:endParaRPr lang="en-IN" dirty="0"/>
          </a:p>
          <a:p>
            <a:r>
              <a:rPr lang="en-IN" dirty="0"/>
              <a:t>By:- </a:t>
            </a:r>
            <a:r>
              <a:rPr lang="en-IN"/>
              <a:t>Prof YUGANDHARA PATIL</a:t>
            </a:r>
            <a:endParaRPr lang="en-IN" dirty="0"/>
          </a:p>
        </p:txBody>
      </p:sp>
    </p:spTree>
    <p:extLst>
      <p:ext uri="{BB962C8B-B14F-4D97-AF65-F5344CB8AC3E}">
        <p14:creationId xmlns:p14="http://schemas.microsoft.com/office/powerpoint/2010/main" val="3461983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85AE1-4FF0-4F0C-80EF-01DC4FB14C96}"/>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31E5F4D1-5695-42BB-B909-E86A2F374F24}"/>
              </a:ext>
            </a:extLst>
          </p:cNvPr>
          <p:cNvPicPr>
            <a:picLocks noGrp="1" noChangeAspect="1"/>
          </p:cNvPicPr>
          <p:nvPr>
            <p:ph idx="1"/>
          </p:nvPr>
        </p:nvPicPr>
        <p:blipFill>
          <a:blip r:embed="rId2"/>
          <a:stretch>
            <a:fillRect/>
          </a:stretch>
        </p:blipFill>
        <p:spPr>
          <a:xfrm>
            <a:off x="581026" y="133350"/>
            <a:ext cx="11363324" cy="6505575"/>
          </a:xfrm>
          <a:prstGeom prst="rect">
            <a:avLst/>
          </a:prstGeom>
        </p:spPr>
      </p:pic>
    </p:spTree>
    <p:extLst>
      <p:ext uri="{BB962C8B-B14F-4D97-AF65-F5344CB8AC3E}">
        <p14:creationId xmlns:p14="http://schemas.microsoft.com/office/powerpoint/2010/main" val="3210328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03102-E679-4A70-B20B-7828CC9A8EB9}"/>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1D74E23A-6F4B-40DA-A401-DFA08A17A30F}"/>
              </a:ext>
            </a:extLst>
          </p:cNvPr>
          <p:cNvPicPr>
            <a:picLocks noGrp="1" noChangeAspect="1"/>
          </p:cNvPicPr>
          <p:nvPr>
            <p:ph idx="1"/>
          </p:nvPr>
        </p:nvPicPr>
        <p:blipFill>
          <a:blip r:embed="rId2"/>
          <a:stretch>
            <a:fillRect/>
          </a:stretch>
        </p:blipFill>
        <p:spPr>
          <a:xfrm>
            <a:off x="714375" y="365126"/>
            <a:ext cx="10639425" cy="6127750"/>
          </a:xfrm>
          <a:prstGeom prst="rect">
            <a:avLst/>
          </a:prstGeom>
        </p:spPr>
      </p:pic>
    </p:spTree>
    <p:extLst>
      <p:ext uri="{BB962C8B-B14F-4D97-AF65-F5344CB8AC3E}">
        <p14:creationId xmlns:p14="http://schemas.microsoft.com/office/powerpoint/2010/main" val="3393074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AA11F-7BDB-4830-AF76-6F359FAED8E6}"/>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3AD3AC00-F4DA-469F-85D7-6426BFE85C03}"/>
              </a:ext>
            </a:extLst>
          </p:cNvPr>
          <p:cNvPicPr>
            <a:picLocks noGrp="1" noChangeAspect="1"/>
          </p:cNvPicPr>
          <p:nvPr>
            <p:ph idx="1"/>
          </p:nvPr>
        </p:nvPicPr>
        <p:blipFill>
          <a:blip r:embed="rId2"/>
          <a:stretch>
            <a:fillRect/>
          </a:stretch>
        </p:blipFill>
        <p:spPr>
          <a:xfrm>
            <a:off x="685800" y="295275"/>
            <a:ext cx="10991850" cy="5881688"/>
          </a:xfrm>
          <a:prstGeom prst="rect">
            <a:avLst/>
          </a:prstGeom>
        </p:spPr>
      </p:pic>
    </p:spTree>
    <p:extLst>
      <p:ext uri="{BB962C8B-B14F-4D97-AF65-F5344CB8AC3E}">
        <p14:creationId xmlns:p14="http://schemas.microsoft.com/office/powerpoint/2010/main" val="3798878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848EE-7921-4859-A8CA-9399435EE644}"/>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BBB85CA4-6781-4968-ACA7-E376FF86D559}"/>
              </a:ext>
            </a:extLst>
          </p:cNvPr>
          <p:cNvPicPr>
            <a:picLocks noGrp="1" noChangeAspect="1"/>
          </p:cNvPicPr>
          <p:nvPr>
            <p:ph idx="1"/>
          </p:nvPr>
        </p:nvPicPr>
        <p:blipFill>
          <a:blip r:embed="rId2"/>
          <a:stretch>
            <a:fillRect/>
          </a:stretch>
        </p:blipFill>
        <p:spPr>
          <a:xfrm>
            <a:off x="666750" y="285750"/>
            <a:ext cx="10896600" cy="5891213"/>
          </a:xfrm>
          <a:prstGeom prst="rect">
            <a:avLst/>
          </a:prstGeom>
        </p:spPr>
      </p:pic>
    </p:spTree>
    <p:extLst>
      <p:ext uri="{BB962C8B-B14F-4D97-AF65-F5344CB8AC3E}">
        <p14:creationId xmlns:p14="http://schemas.microsoft.com/office/powerpoint/2010/main" val="232220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4767-F422-40E4-B60B-AC0E11EB93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97A719-A1D6-4041-B0B8-91BBE6FF30D9}"/>
              </a:ext>
            </a:extLst>
          </p:cNvPr>
          <p:cNvSpPr>
            <a:spLocks noGrp="1"/>
          </p:cNvSpPr>
          <p:nvPr>
            <p:ph idx="1"/>
          </p:nvPr>
        </p:nvSpPr>
        <p:spPr/>
        <p:txBody>
          <a:bodyPr>
            <a:normAutofit/>
          </a:bodyPr>
          <a:lstStyle/>
          <a:p>
            <a:r>
              <a:rPr lang="en-US" sz="3600" dirty="0">
                <a:latin typeface="Times New Roman" panose="02020603050405020304" pitchFamily="18" charset="0"/>
                <a:cs typeface="Times New Roman" panose="02020603050405020304" pitchFamily="18" charset="0"/>
              </a:rPr>
              <a:t>Introduction to SSAD and OOAD </a:t>
            </a:r>
          </a:p>
          <a:p>
            <a:pPr marL="0" indent="0">
              <a:buNone/>
            </a:pPr>
            <a:r>
              <a:rPr lang="en-US" sz="3600" dirty="0">
                <a:latin typeface="Times New Roman" panose="02020603050405020304" pitchFamily="18" charset="0"/>
                <a:cs typeface="Times New Roman" panose="02020603050405020304" pitchFamily="18" charset="0"/>
              </a:rPr>
              <a:t>• In Software Engineering there are two popular methods to model analysis and design problems: – Structured Systems Analysis and Design. (SSAD). – Object-Oriented Analysis and Design. (OOAD)</a:t>
            </a:r>
          </a:p>
          <a:p>
            <a:pPr marL="0" indent="0">
              <a:buNone/>
            </a:pPr>
            <a:r>
              <a:rPr lang="en-US" sz="3600" dirty="0">
                <a:latin typeface="Times New Roman" panose="02020603050405020304" pitchFamily="18" charset="0"/>
                <a:cs typeface="Times New Roman" panose="02020603050405020304" pitchFamily="18" charset="0"/>
              </a:rPr>
              <a:t> • A method is a specific set of formal tools and techniques used to model a problem.</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217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305F1-07F0-4D62-8CCB-B8FDAD0EA33C}"/>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SSAD :</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86C8C8-58C8-44FB-8EAA-1B8E2B8147A1}"/>
              </a:ext>
            </a:extLst>
          </p:cNvPr>
          <p:cNvSpPr>
            <a:spLocks noGrp="1"/>
          </p:cNvSpPr>
          <p:nvPr>
            <p:ph idx="1"/>
          </p:nvPr>
        </p:nvSpPr>
        <p:spPr/>
        <p:txBody>
          <a:bodyPr>
            <a:noAutofit/>
          </a:bodyPr>
          <a:lstStyle/>
          <a:p>
            <a:r>
              <a:rPr lang="en-US" sz="3600" dirty="0">
                <a:latin typeface="Times New Roman" panose="02020603050405020304" pitchFamily="18" charset="0"/>
                <a:cs typeface="Times New Roman" panose="02020603050405020304" pitchFamily="18" charset="0"/>
              </a:rPr>
              <a:t>In SSAD, the system is viewed as being composed of two components, functionality and data, each of which is modeled more or less separately. Functionality are modeled using a technique called process modeling. Data is modeled using a technique called data modeling. Since SSAD models functionality and data separately, we say that it follows a function/data methodology It is more suitable for data intensive projects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6101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C3490-1D8A-465B-A53B-3FD6284611C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Analysis :</a:t>
            </a:r>
            <a:r>
              <a:rPr lang="en-US" dirty="0">
                <a:latin typeface="Times New Roman" panose="02020603050405020304" pitchFamily="18" charset="0"/>
                <a:cs typeface="Times New Roman" panose="02020603050405020304" pitchFamily="18" charset="0"/>
              </a:rPr>
              <a:t>SSAD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E27844-0835-432A-9703-9CF1D380A044}"/>
              </a:ext>
            </a:extLst>
          </p:cNvPr>
          <p:cNvSpPr>
            <a:spLocks noGrp="1"/>
          </p:cNvSpPr>
          <p:nvPr>
            <p:ph idx="1"/>
          </p:nvPr>
        </p:nvSpPr>
        <p:spPr/>
        <p:txBody>
          <a:bodyPr>
            <a:normAutofit lnSpcReduction="10000"/>
          </a:bodyPr>
          <a:lstStyle/>
          <a:p>
            <a:r>
              <a:rPr lang="en-US" sz="3600" dirty="0">
                <a:latin typeface="Times New Roman" panose="02020603050405020304" pitchFamily="18" charset="0"/>
                <a:cs typeface="Times New Roman" panose="02020603050405020304" pitchFamily="18" charset="0"/>
              </a:rPr>
              <a:t>The analysis stage produces a structured requirements specification consisting of the following deliverables: – A process model consisting of a set of data flow diagrams. </a:t>
            </a:r>
          </a:p>
          <a:p>
            <a:r>
              <a:rPr lang="en-US" sz="3600" dirty="0">
                <a:latin typeface="Times New Roman" panose="02020603050405020304" pitchFamily="18" charset="0"/>
                <a:cs typeface="Times New Roman" panose="02020603050405020304" pitchFamily="18" charset="0"/>
              </a:rPr>
              <a:t>– A set of process specifications. </a:t>
            </a:r>
          </a:p>
          <a:p>
            <a:r>
              <a:rPr lang="en-US" sz="3600" dirty="0">
                <a:latin typeface="Times New Roman" panose="02020603050405020304" pitchFamily="18" charset="0"/>
                <a:cs typeface="Times New Roman" panose="02020603050405020304" pitchFamily="18" charset="0"/>
              </a:rPr>
              <a:t>– A data model consisting of an entity-relationship diagram. </a:t>
            </a:r>
          </a:p>
          <a:p>
            <a:r>
              <a:rPr lang="en-US" sz="3600" dirty="0">
                <a:latin typeface="Times New Roman" panose="02020603050405020304" pitchFamily="18" charset="0"/>
                <a:cs typeface="Times New Roman" panose="02020603050405020304" pitchFamily="18" charset="0"/>
              </a:rPr>
              <a:t>– A data-dictionary.</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3693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AB5F-871B-4A4A-B144-F1A4D2D4146C}"/>
              </a:ext>
            </a:extLst>
          </p:cNvPr>
          <p:cNvSpPr>
            <a:spLocks noGrp="1"/>
          </p:cNvSpPr>
          <p:nvPr>
            <p:ph type="title"/>
          </p:nvPr>
        </p:nvSpPr>
        <p:spPr>
          <a:xfrm>
            <a:off x="838200" y="500062"/>
            <a:ext cx="10515600" cy="1325563"/>
          </a:xfrm>
        </p:spPr>
        <p:txBody>
          <a:bodyPr>
            <a:normAutofit/>
          </a:bodyPr>
          <a:lstStyle/>
          <a:p>
            <a:r>
              <a:rPr lang="en-US" sz="3600" dirty="0">
                <a:latin typeface="Times New Roman" panose="02020603050405020304" pitchFamily="18" charset="0"/>
                <a:cs typeface="Times New Roman" panose="02020603050405020304" pitchFamily="18" charset="0"/>
              </a:rPr>
              <a:t>OOAD :</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B6B3AFE-FB5C-456B-8902-803371169F5C}"/>
              </a:ext>
            </a:extLst>
          </p:cNvPr>
          <p:cNvSpPr>
            <a:spLocks noGrp="1"/>
          </p:cNvSpPr>
          <p:nvPr>
            <p:ph idx="1"/>
          </p:nvPr>
        </p:nvSpPr>
        <p:spPr/>
        <p:txBody>
          <a:bodyPr>
            <a:normAutofit/>
          </a:bodyPr>
          <a:lstStyle/>
          <a:p>
            <a:r>
              <a:rPr lang="en-US" sz="3600" dirty="0">
                <a:latin typeface="Times New Roman" panose="02020603050405020304" pitchFamily="18" charset="0"/>
                <a:cs typeface="Times New Roman" panose="02020603050405020304" pitchFamily="18" charset="0"/>
              </a:rPr>
              <a:t>In the last few years, a new methodology has emerged which is in a sense an amalgamation of process-oriented and data-oriented methods. </a:t>
            </a:r>
          </a:p>
          <a:p>
            <a:r>
              <a:rPr lang="en-US" sz="3600" dirty="0">
                <a:latin typeface="Times New Roman" panose="02020603050405020304" pitchFamily="18" charset="0"/>
                <a:cs typeface="Times New Roman" panose="02020603050405020304" pitchFamily="18" charset="0"/>
              </a:rPr>
              <a:t>This is called an object-oriented methodology. </a:t>
            </a:r>
          </a:p>
          <a:p>
            <a:r>
              <a:rPr lang="en-US" sz="3600" dirty="0">
                <a:latin typeface="Times New Roman" panose="02020603050405020304" pitchFamily="18" charset="0"/>
                <a:cs typeface="Times New Roman" panose="02020603050405020304" pitchFamily="18" charset="0"/>
              </a:rPr>
              <a:t>This methodology is more suitable for projects with complex business logic</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7976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2ECFA-84C5-4C46-8748-CB1B5CF08318}"/>
              </a:ext>
            </a:extLst>
          </p:cNvPr>
          <p:cNvSpPr>
            <a:spLocks noGrp="1"/>
          </p:cNvSpPr>
          <p:nvPr>
            <p:ph type="title"/>
          </p:nvPr>
        </p:nvSpPr>
        <p:spPr/>
        <p:txBody>
          <a:bodyPr/>
          <a:lstStyle/>
          <a:p>
            <a:r>
              <a:rPr lang="en-US" sz="3600" b="1" dirty="0"/>
              <a:t>OOAD vs. SSAD</a:t>
            </a:r>
            <a:br>
              <a:rPr lang="en-US" dirty="0"/>
            </a:br>
            <a:endParaRPr lang="en-IN" dirty="0"/>
          </a:p>
        </p:txBody>
      </p:sp>
      <p:sp>
        <p:nvSpPr>
          <p:cNvPr id="3" name="Content Placeholder 2">
            <a:extLst>
              <a:ext uri="{FF2B5EF4-FFF2-40B4-BE49-F238E27FC236}">
                <a16:creationId xmlns:a16="http://schemas.microsoft.com/office/drawing/2014/main" id="{570E78CB-1D7D-4B24-80E9-6B2A3A7304FC}"/>
              </a:ext>
            </a:extLst>
          </p:cNvPr>
          <p:cNvSpPr>
            <a:spLocks noGrp="1"/>
          </p:cNvSpPr>
          <p:nvPr>
            <p:ph idx="1"/>
          </p:nvPr>
        </p:nvSpPr>
        <p:spPr/>
        <p:txBody>
          <a:bodyPr/>
          <a:lstStyle/>
          <a:p>
            <a:pPr marL="0" indent="0">
              <a:buNone/>
            </a:pPr>
            <a:r>
              <a:rPr lang="en-US" dirty="0"/>
              <a:t>• </a:t>
            </a:r>
            <a:r>
              <a:rPr lang="en-US" sz="3600" dirty="0">
                <a:latin typeface="Times New Roman" panose="02020603050405020304" pitchFamily="18" charset="0"/>
                <a:cs typeface="Times New Roman" panose="02020603050405020304" pitchFamily="18" charset="0"/>
              </a:rPr>
              <a:t>Advantages of OOAD are </a:t>
            </a:r>
          </a:p>
          <a:p>
            <a:pPr marL="0" indent="0">
              <a:buNone/>
            </a:pPr>
            <a:r>
              <a:rPr lang="en-US" sz="3600" dirty="0">
                <a:latin typeface="Times New Roman" panose="02020603050405020304" pitchFamily="18" charset="0"/>
                <a:cs typeface="Times New Roman" panose="02020603050405020304" pitchFamily="18" charset="0"/>
              </a:rPr>
              <a:t>– Bringing Order to chaos </a:t>
            </a:r>
          </a:p>
          <a:p>
            <a:pPr marL="0" indent="0">
              <a:buNone/>
            </a:pPr>
            <a:r>
              <a:rPr lang="en-US" sz="3600" dirty="0">
                <a:latin typeface="Times New Roman" panose="02020603050405020304" pitchFamily="18" charset="0"/>
                <a:cs typeface="Times New Roman" panose="02020603050405020304" pitchFamily="18" charset="0"/>
              </a:rPr>
              <a:t>– Easy to Handle very Complex projects</a:t>
            </a:r>
          </a:p>
          <a:p>
            <a:pPr marL="0" indent="0">
              <a:buNone/>
            </a:pPr>
            <a:r>
              <a:rPr lang="en-US" sz="3600" dirty="0">
                <a:latin typeface="Times New Roman" panose="02020603050405020304" pitchFamily="18" charset="0"/>
                <a:cs typeface="Times New Roman" panose="02020603050405020304" pitchFamily="18" charset="0"/>
              </a:rPr>
              <a:t> – Driving principles: – maintainability, extensibility – reusability – interoperability – quality</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498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1E564-7918-49E4-A230-0D1C2674A37B}"/>
              </a:ext>
            </a:extLst>
          </p:cNvPr>
          <p:cNvSpPr>
            <a:spLocks noGrp="1"/>
          </p:cNvSpPr>
          <p:nvPr>
            <p:ph type="title"/>
          </p:nvPr>
        </p:nvSpPr>
        <p:spPr/>
        <p:txBody>
          <a:bodyPr/>
          <a:lstStyle/>
          <a:p>
            <a:r>
              <a:rPr lang="en-US" b="1" dirty="0"/>
              <a:t>OOAD vs. SSAD</a:t>
            </a:r>
            <a:endParaRPr lang="en-IN" dirty="0"/>
          </a:p>
        </p:txBody>
      </p:sp>
      <p:sp>
        <p:nvSpPr>
          <p:cNvPr id="3" name="Content Placeholder 2">
            <a:extLst>
              <a:ext uri="{FF2B5EF4-FFF2-40B4-BE49-F238E27FC236}">
                <a16:creationId xmlns:a16="http://schemas.microsoft.com/office/drawing/2014/main" id="{ABFC2905-7ECA-4E28-91DC-034F729865B6}"/>
              </a:ext>
            </a:extLst>
          </p:cNvPr>
          <p:cNvSpPr>
            <a:spLocks noGrp="1"/>
          </p:cNvSpPr>
          <p:nvPr>
            <p:ph idx="1"/>
          </p:nvPr>
        </p:nvSpPr>
        <p:spPr>
          <a:xfrm>
            <a:off x="771525" y="1473200"/>
            <a:ext cx="10515600" cy="4351338"/>
          </a:xfrm>
        </p:spPr>
        <p:txBody>
          <a:bodyPr>
            <a:noAutofit/>
          </a:bodyPr>
          <a:lstStyle/>
          <a:p>
            <a:r>
              <a:rPr lang="en-US" sz="3600" dirty="0">
                <a:latin typeface="Times New Roman" panose="02020603050405020304" pitchFamily="18" charset="0"/>
                <a:cs typeface="Times New Roman" panose="02020603050405020304" pitchFamily="18" charset="0"/>
              </a:rPr>
              <a:t>OOAD has several obvious advantages over SSAD as OOAD is more close to the real world because it is based upon the object. Where SSAD fails after a certain level of complexity, </a:t>
            </a:r>
          </a:p>
          <a:p>
            <a:r>
              <a:rPr lang="en-US" sz="3600" dirty="0">
                <a:latin typeface="Times New Roman" panose="02020603050405020304" pitchFamily="18" charset="0"/>
                <a:cs typeface="Times New Roman" panose="02020603050405020304" pitchFamily="18" charset="0"/>
              </a:rPr>
              <a:t>OOAD comes out with flying colors and handle the complexity in a robust and dependable manner.</a:t>
            </a:r>
          </a:p>
          <a:p>
            <a:r>
              <a:rPr lang="en-US" sz="3600" dirty="0">
                <a:latin typeface="Times New Roman" panose="02020603050405020304" pitchFamily="18" charset="0"/>
                <a:cs typeface="Times New Roman" panose="02020603050405020304" pitchFamily="18" charset="0"/>
              </a:rPr>
              <a:t> OOAD is supported by various principles like maintainability, extensibility, reusability, interoperability and quality. </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817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A2F3B-4E72-4270-A646-0889599D1F6B}"/>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OOA</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5BE9B6-9195-42DE-9975-6C3477C3197F}"/>
              </a:ext>
            </a:extLst>
          </p:cNvPr>
          <p:cNvSpPr>
            <a:spLocks noGrp="1"/>
          </p:cNvSpPr>
          <p:nvPr>
            <p:ph idx="1"/>
          </p:nvPr>
        </p:nvSpPr>
        <p:spPr>
          <a:xfrm>
            <a:off x="495300" y="1371600"/>
            <a:ext cx="10858500" cy="5276850"/>
          </a:xfrm>
        </p:spPr>
        <p:txBody>
          <a:bodyPr>
            <a:normAutofit fontScale="92500"/>
          </a:bodyPr>
          <a:lstStyle/>
          <a:p>
            <a:r>
              <a:rPr lang="en-US" sz="3600" dirty="0">
                <a:latin typeface="Times New Roman" panose="02020603050405020304" pitchFamily="18" charset="0"/>
                <a:cs typeface="Times New Roman" panose="02020603050405020304" pitchFamily="18" charset="0"/>
              </a:rPr>
              <a:t>Object–Oriented Analysis (OOA) is the procedure of identifying software engineering requirements and developing software specifications in terms of a software system’s object model, which comprises of interacting objects.</a:t>
            </a:r>
          </a:p>
          <a:p>
            <a:r>
              <a:rPr lang="en-US" sz="3600" dirty="0">
                <a:latin typeface="Times New Roman" panose="02020603050405020304" pitchFamily="18" charset="0"/>
                <a:cs typeface="Times New Roman" panose="02020603050405020304" pitchFamily="18" charset="0"/>
              </a:rPr>
              <a:t>The main difference between object-oriented analysis and other forms of analysis is that in object-oriented approach, requirements are organized around objects, which integrate both data and functions. They are modelled after real-world objects that the system interacts with. In traditional analysis methodologies, the two aspects - functions and data - are considered separately.</a:t>
            </a:r>
          </a:p>
          <a:p>
            <a:endParaRPr lang="en-IN" dirty="0"/>
          </a:p>
        </p:txBody>
      </p:sp>
    </p:spTree>
    <p:extLst>
      <p:ext uri="{BB962C8B-B14F-4D97-AF65-F5344CB8AC3E}">
        <p14:creationId xmlns:p14="http://schemas.microsoft.com/office/powerpoint/2010/main" val="1566416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98B40-9A2B-442A-AF7B-D6E7AC703FCB}"/>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The primary tasks in object-oriented analysis (OOA) are −</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89A7CE0-E564-4CAF-BDB7-5C1A49ABD2E9}"/>
              </a:ext>
            </a:extLst>
          </p:cNvPr>
          <p:cNvSpPr>
            <a:spLocks noGrp="1"/>
          </p:cNvSpPr>
          <p:nvPr>
            <p:ph idx="1"/>
          </p:nvPr>
        </p:nvSpPr>
        <p:spPr/>
        <p:txBody>
          <a:bodyPr>
            <a:noAutofit/>
          </a:bodyPr>
          <a:lstStyle/>
          <a:p>
            <a:r>
              <a:rPr lang="en-US" sz="3600" dirty="0">
                <a:latin typeface="Times New Roman" panose="02020603050405020304" pitchFamily="18" charset="0"/>
                <a:cs typeface="Times New Roman" panose="02020603050405020304" pitchFamily="18" charset="0"/>
              </a:rPr>
              <a:t>Identifying objects</a:t>
            </a:r>
          </a:p>
          <a:p>
            <a:r>
              <a:rPr lang="en-US" sz="3600" dirty="0">
                <a:latin typeface="Times New Roman" panose="02020603050405020304" pitchFamily="18" charset="0"/>
                <a:cs typeface="Times New Roman" panose="02020603050405020304" pitchFamily="18" charset="0"/>
              </a:rPr>
              <a:t>Organizing the objects by creating object model diagram</a:t>
            </a:r>
          </a:p>
          <a:p>
            <a:r>
              <a:rPr lang="en-US" sz="3600" dirty="0">
                <a:latin typeface="Times New Roman" panose="02020603050405020304" pitchFamily="18" charset="0"/>
                <a:cs typeface="Times New Roman" panose="02020603050405020304" pitchFamily="18" charset="0"/>
              </a:rPr>
              <a:t>Defining the internals of the objects, or object attributes</a:t>
            </a:r>
          </a:p>
          <a:p>
            <a:r>
              <a:rPr lang="en-US" sz="3600" dirty="0">
                <a:latin typeface="Times New Roman" panose="02020603050405020304" pitchFamily="18" charset="0"/>
                <a:cs typeface="Times New Roman" panose="02020603050405020304" pitchFamily="18" charset="0"/>
              </a:rPr>
              <a:t>Defining the behavior of the objects, i.e., object actions</a:t>
            </a:r>
          </a:p>
          <a:p>
            <a:r>
              <a:rPr lang="en-US" sz="3600" dirty="0">
                <a:latin typeface="Times New Roman" panose="02020603050405020304" pitchFamily="18" charset="0"/>
                <a:cs typeface="Times New Roman" panose="02020603050405020304" pitchFamily="18" charset="0"/>
              </a:rPr>
              <a:t>Describing how the objects interact</a:t>
            </a:r>
          </a:p>
          <a:p>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3217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3FAA0-D4D9-48AE-B2BD-4FA8E62E8EA8}"/>
              </a:ext>
            </a:extLst>
          </p:cNvPr>
          <p:cNvSpPr>
            <a:spLocks noGrp="1"/>
          </p:cNvSpPr>
          <p:nvPr>
            <p:ph type="title"/>
          </p:nvPr>
        </p:nvSpPr>
        <p:spPr/>
        <p:txBody>
          <a:bodyPr/>
          <a:lstStyle/>
          <a:p>
            <a:r>
              <a:rPr lang="en-IN" b="1" dirty="0"/>
              <a:t>Object-Oriented Design</a:t>
            </a:r>
            <a:br>
              <a:rPr lang="en-IN" dirty="0"/>
            </a:br>
            <a:endParaRPr lang="en-IN" dirty="0"/>
          </a:p>
        </p:txBody>
      </p:sp>
      <p:sp>
        <p:nvSpPr>
          <p:cNvPr id="3" name="Content Placeholder 2">
            <a:extLst>
              <a:ext uri="{FF2B5EF4-FFF2-40B4-BE49-F238E27FC236}">
                <a16:creationId xmlns:a16="http://schemas.microsoft.com/office/drawing/2014/main" id="{334563D0-8C61-4130-BBC1-ABF96B44B121}"/>
              </a:ext>
            </a:extLst>
          </p:cNvPr>
          <p:cNvSpPr>
            <a:spLocks noGrp="1"/>
          </p:cNvSpPr>
          <p:nvPr>
            <p:ph idx="1"/>
          </p:nvPr>
        </p:nvSpPr>
        <p:spPr>
          <a:xfrm>
            <a:off x="733425" y="1377950"/>
            <a:ext cx="10515600" cy="4351338"/>
          </a:xfrm>
        </p:spPr>
        <p:txBody>
          <a:bodyPr>
            <a:noAutofit/>
          </a:bodyPr>
          <a:lstStyle/>
          <a:p>
            <a:r>
              <a:rPr lang="en-US" sz="3600" dirty="0"/>
              <a:t>Object–Oriented Design (OOD) involves implementation of the conceptual model produced during object-oriented analysis. </a:t>
            </a:r>
          </a:p>
          <a:p>
            <a:r>
              <a:rPr lang="en-US" sz="3600" dirty="0"/>
              <a:t>In OOD, concepts in the analysis model, which are technology−independent, are mapped onto implementing classes, constraints are identified and interfaces are designed, resulting in a model for the solution domain, i.e., a detailed description of how the system is to be built on concrete technologies.</a:t>
            </a:r>
            <a:endParaRPr lang="en-IN" sz="3600" dirty="0"/>
          </a:p>
        </p:txBody>
      </p:sp>
    </p:spTree>
    <p:extLst>
      <p:ext uri="{BB962C8B-B14F-4D97-AF65-F5344CB8AC3E}">
        <p14:creationId xmlns:p14="http://schemas.microsoft.com/office/powerpoint/2010/main" val="1739969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D323-3289-4BA8-8EDA-D32D864A0D7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4D1D606-59B1-433E-9192-834C12960D33}"/>
              </a:ext>
            </a:extLst>
          </p:cNvPr>
          <p:cNvSpPr>
            <a:spLocks noGrp="1"/>
          </p:cNvSpPr>
          <p:nvPr>
            <p:ph idx="1"/>
          </p:nvPr>
        </p:nvSpPr>
        <p:spPr/>
        <p:txBody>
          <a:bodyPr/>
          <a:lstStyle/>
          <a:p>
            <a:r>
              <a:rPr lang="en-US" dirty="0"/>
              <a:t>The implementation details generally include −</a:t>
            </a:r>
          </a:p>
          <a:p>
            <a:r>
              <a:rPr lang="en-US" dirty="0"/>
              <a:t>Restructuring the class data (if necessary),</a:t>
            </a:r>
          </a:p>
          <a:p>
            <a:r>
              <a:rPr lang="en-US" dirty="0"/>
              <a:t>Implementation of methods, i.e., internal data structures and algorithms,</a:t>
            </a:r>
          </a:p>
          <a:p>
            <a:r>
              <a:rPr lang="en-US" dirty="0"/>
              <a:t>Implementation of control, and</a:t>
            </a:r>
          </a:p>
          <a:p>
            <a:r>
              <a:rPr lang="en-US" dirty="0"/>
              <a:t>Implementation of associations.</a:t>
            </a:r>
          </a:p>
          <a:p>
            <a:endParaRPr lang="en-IN" dirty="0"/>
          </a:p>
        </p:txBody>
      </p:sp>
    </p:spTree>
    <p:extLst>
      <p:ext uri="{BB962C8B-B14F-4D97-AF65-F5344CB8AC3E}">
        <p14:creationId xmlns:p14="http://schemas.microsoft.com/office/powerpoint/2010/main" val="229347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5DABC-A079-458E-B909-C643F17155DE}"/>
              </a:ext>
            </a:extLst>
          </p:cNvPr>
          <p:cNvSpPr>
            <a:spLocks noGrp="1"/>
          </p:cNvSpPr>
          <p:nvPr>
            <p:ph type="title"/>
          </p:nvPr>
        </p:nvSpPr>
        <p:spPr/>
        <p:txBody>
          <a:bodyPr/>
          <a:lstStyle/>
          <a:p>
            <a:r>
              <a:rPr lang="en-US" b="1" dirty="0"/>
              <a:t>Objects and Classes</a:t>
            </a:r>
            <a:br>
              <a:rPr lang="en-US" b="1" dirty="0"/>
            </a:br>
            <a:endParaRPr lang="en-IN" b="1" dirty="0"/>
          </a:p>
        </p:txBody>
      </p:sp>
      <p:sp>
        <p:nvSpPr>
          <p:cNvPr id="3" name="Content Placeholder 2">
            <a:extLst>
              <a:ext uri="{FF2B5EF4-FFF2-40B4-BE49-F238E27FC236}">
                <a16:creationId xmlns:a16="http://schemas.microsoft.com/office/drawing/2014/main" id="{40031C2F-B83E-4821-A409-F700655F4D59}"/>
              </a:ext>
            </a:extLst>
          </p:cNvPr>
          <p:cNvSpPr>
            <a:spLocks noGrp="1"/>
          </p:cNvSpPr>
          <p:nvPr>
            <p:ph idx="1"/>
          </p:nvPr>
        </p:nvSpPr>
        <p:spPr/>
        <p:txBody>
          <a:bodyPr>
            <a:normAutofit/>
          </a:bodyPr>
          <a:lstStyle/>
          <a:p>
            <a:r>
              <a:rPr lang="en-US" sz="4000" dirty="0"/>
              <a:t>The concepts of objects and classes are intrinsically linked with each other and form the foundation of object–oriented paradigm.</a:t>
            </a:r>
          </a:p>
          <a:p>
            <a:endParaRPr lang="en-IN" sz="4000" dirty="0"/>
          </a:p>
        </p:txBody>
      </p:sp>
    </p:spTree>
    <p:extLst>
      <p:ext uri="{BB962C8B-B14F-4D97-AF65-F5344CB8AC3E}">
        <p14:creationId xmlns:p14="http://schemas.microsoft.com/office/powerpoint/2010/main" val="3952346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84FC-6101-4CF2-B315-6BAF1EE0AF56}"/>
              </a:ext>
            </a:extLst>
          </p:cNvPr>
          <p:cNvSpPr>
            <a:spLocks noGrp="1"/>
          </p:cNvSpPr>
          <p:nvPr>
            <p:ph type="title"/>
          </p:nvPr>
        </p:nvSpPr>
        <p:spPr/>
        <p:txBody>
          <a:bodyPr/>
          <a:lstStyle/>
          <a:p>
            <a:r>
              <a:rPr lang="en-US" b="1" dirty="0"/>
              <a:t>Class</a:t>
            </a:r>
            <a:r>
              <a:rPr lang="en-US" dirty="0"/>
              <a:t> </a:t>
            </a:r>
            <a:endParaRPr lang="en-IN" dirty="0"/>
          </a:p>
        </p:txBody>
      </p:sp>
      <p:sp>
        <p:nvSpPr>
          <p:cNvPr id="3" name="Content Placeholder 2">
            <a:extLst>
              <a:ext uri="{FF2B5EF4-FFF2-40B4-BE49-F238E27FC236}">
                <a16:creationId xmlns:a16="http://schemas.microsoft.com/office/drawing/2014/main" id="{A0DCA683-7680-4F83-8D78-A4E879D2067D}"/>
              </a:ext>
            </a:extLst>
          </p:cNvPr>
          <p:cNvSpPr>
            <a:spLocks noGrp="1"/>
          </p:cNvSpPr>
          <p:nvPr>
            <p:ph idx="1"/>
          </p:nvPr>
        </p:nvSpPr>
        <p:spPr/>
        <p:txBody>
          <a:bodyPr>
            <a:normAutofit lnSpcReduction="10000"/>
          </a:bodyPr>
          <a:lstStyle/>
          <a:p>
            <a:r>
              <a:rPr lang="en-US" b="1" dirty="0"/>
              <a:t>Class</a:t>
            </a:r>
            <a:r>
              <a:rPr lang="en-US" dirty="0"/>
              <a:t> is a detailed description, the definition, and the template of what an object will be. But it is not the object itself.</a:t>
            </a:r>
          </a:p>
          <a:p>
            <a:r>
              <a:rPr lang="en-US" dirty="0"/>
              <a:t> Also, what we call, a class is the building block that leads to Object-Oriented Programming. </a:t>
            </a:r>
          </a:p>
          <a:p>
            <a:r>
              <a:rPr lang="en-US" dirty="0"/>
              <a:t>It is a user-defined data type, that holds its own data members and member functions, which can be accessed and used by creating an instance of that class. </a:t>
            </a:r>
          </a:p>
          <a:p>
            <a:r>
              <a:rPr lang="en-US" dirty="0"/>
              <a:t>It is the blueprint of any object. </a:t>
            </a:r>
          </a:p>
          <a:p>
            <a:r>
              <a:rPr lang="en-US" dirty="0"/>
              <a:t>Once we have written a class and defined it, we can use it to create as many objects based on that class as we want.</a:t>
            </a:r>
            <a:endParaRPr lang="en-IN" dirty="0"/>
          </a:p>
        </p:txBody>
      </p:sp>
    </p:spTree>
    <p:extLst>
      <p:ext uri="{BB962C8B-B14F-4D97-AF65-F5344CB8AC3E}">
        <p14:creationId xmlns:p14="http://schemas.microsoft.com/office/powerpoint/2010/main" val="3272713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319CA-1471-434B-828E-29A805DC90C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7EB9EB-677F-4E5F-9421-7ECDBD2E16F0}"/>
              </a:ext>
            </a:extLst>
          </p:cNvPr>
          <p:cNvSpPr>
            <a:spLocks noGrp="1"/>
          </p:cNvSpPr>
          <p:nvPr>
            <p:ph idx="1"/>
          </p:nvPr>
        </p:nvSpPr>
        <p:spPr/>
        <p:txBody>
          <a:bodyPr/>
          <a:lstStyle/>
          <a:p>
            <a:r>
              <a:rPr lang="en-US" dirty="0"/>
              <a:t>For example, consider the</a:t>
            </a:r>
            <a:r>
              <a:rPr lang="en-US" b="1" dirty="0"/>
              <a:t> Class</a:t>
            </a:r>
            <a:r>
              <a:rPr lang="en-US" dirty="0"/>
              <a:t> of</a:t>
            </a:r>
            <a:r>
              <a:rPr lang="en-US" b="1" dirty="0"/>
              <a:t> Accounts</a:t>
            </a:r>
            <a:r>
              <a:rPr lang="en-US" dirty="0"/>
              <a:t>.</a:t>
            </a:r>
          </a:p>
          <a:p>
            <a:r>
              <a:rPr lang="en-US" dirty="0"/>
              <a:t> There may be</a:t>
            </a:r>
            <a:r>
              <a:rPr lang="en-US" i="1" dirty="0"/>
              <a:t> many accounts with different names and types</a:t>
            </a:r>
            <a:r>
              <a:rPr lang="en-US" dirty="0"/>
              <a:t>,  but all of </a:t>
            </a:r>
            <a:r>
              <a:rPr lang="en-US" i="1" dirty="0"/>
              <a:t>them will share some common properties,</a:t>
            </a:r>
            <a:r>
              <a:rPr lang="en-US" dirty="0"/>
              <a:t> as all of them will have some </a:t>
            </a:r>
            <a:r>
              <a:rPr lang="en-US" i="1" dirty="0"/>
              <a:t>common attributes</a:t>
            </a:r>
            <a:r>
              <a:rPr lang="en-US" dirty="0"/>
              <a:t> like</a:t>
            </a:r>
            <a:r>
              <a:rPr lang="en-US" b="1" dirty="0"/>
              <a:t> </a:t>
            </a:r>
            <a:r>
              <a:rPr lang="en-US" b="1" i="1" dirty="0"/>
              <a:t>balance</a:t>
            </a:r>
            <a:r>
              <a:rPr lang="en-US" i="1" dirty="0"/>
              <a:t>,</a:t>
            </a:r>
            <a:r>
              <a:rPr lang="en-US" b="1" i="1" dirty="0"/>
              <a:t> account holder name</a:t>
            </a:r>
            <a:r>
              <a:rPr lang="en-US" dirty="0"/>
              <a:t>, etc.</a:t>
            </a:r>
          </a:p>
          <a:p>
            <a:r>
              <a:rPr lang="en-US" dirty="0"/>
              <a:t> So here, the</a:t>
            </a:r>
            <a:r>
              <a:rPr lang="en-US" b="1" dirty="0"/>
              <a:t> Account </a:t>
            </a:r>
            <a:r>
              <a:rPr lang="en-US" dirty="0"/>
              <a:t>is the </a:t>
            </a:r>
            <a:r>
              <a:rPr lang="en-US" b="1" dirty="0"/>
              <a:t>class</a:t>
            </a:r>
            <a:r>
              <a:rPr lang="en-US" i="1" dirty="0"/>
              <a:t>.</a:t>
            </a:r>
            <a:endParaRPr lang="en-IN" dirty="0"/>
          </a:p>
        </p:txBody>
      </p:sp>
    </p:spTree>
    <p:extLst>
      <p:ext uri="{BB962C8B-B14F-4D97-AF65-F5344CB8AC3E}">
        <p14:creationId xmlns:p14="http://schemas.microsoft.com/office/powerpoint/2010/main" val="2512595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C96A0-590F-4ABD-807A-1B1A329733EE}"/>
              </a:ext>
            </a:extLst>
          </p:cNvPr>
          <p:cNvSpPr>
            <a:spLocks noGrp="1"/>
          </p:cNvSpPr>
          <p:nvPr>
            <p:ph type="title"/>
          </p:nvPr>
        </p:nvSpPr>
        <p:spPr/>
        <p:txBody>
          <a:bodyPr/>
          <a:lstStyle/>
          <a:p>
            <a:r>
              <a:rPr lang="en-US" b="1" dirty="0"/>
              <a:t>Object</a:t>
            </a:r>
            <a:endParaRPr lang="en-IN" dirty="0"/>
          </a:p>
        </p:txBody>
      </p:sp>
      <p:sp>
        <p:nvSpPr>
          <p:cNvPr id="3" name="Content Placeholder 2">
            <a:extLst>
              <a:ext uri="{FF2B5EF4-FFF2-40B4-BE49-F238E27FC236}">
                <a16:creationId xmlns:a16="http://schemas.microsoft.com/office/drawing/2014/main" id="{058B7C5C-D79A-4D22-8F87-BDAB2B7D2E7E}"/>
              </a:ext>
            </a:extLst>
          </p:cNvPr>
          <p:cNvSpPr>
            <a:spLocks noGrp="1"/>
          </p:cNvSpPr>
          <p:nvPr>
            <p:ph idx="1"/>
          </p:nvPr>
        </p:nvSpPr>
        <p:spPr/>
        <p:txBody>
          <a:bodyPr/>
          <a:lstStyle/>
          <a:p>
            <a:r>
              <a:rPr lang="en-US" b="1" dirty="0"/>
              <a:t>Object</a:t>
            </a:r>
            <a:r>
              <a:rPr lang="en-US" dirty="0"/>
              <a:t> is an instance of a class. </a:t>
            </a:r>
          </a:p>
          <a:p>
            <a:r>
              <a:rPr lang="en-US" dirty="0"/>
              <a:t>All data members and member functions of the class can be accessed with the help of objects.</a:t>
            </a:r>
          </a:p>
          <a:p>
            <a:r>
              <a:rPr lang="en-US" dirty="0"/>
              <a:t> When a class is defined, no memory is allocated, but memory is allocated when it is instantiated (i.e. an object is created). </a:t>
            </a:r>
          </a:p>
          <a:p>
            <a:r>
              <a:rPr lang="en-US" dirty="0"/>
              <a:t>For Example, considering the</a:t>
            </a:r>
            <a:r>
              <a:rPr lang="en-US" b="1" dirty="0"/>
              <a:t> objects</a:t>
            </a:r>
            <a:r>
              <a:rPr lang="en-US" dirty="0"/>
              <a:t> for the class</a:t>
            </a:r>
            <a:r>
              <a:rPr lang="en-US" b="1" dirty="0"/>
              <a:t> Account</a:t>
            </a:r>
            <a:r>
              <a:rPr lang="en-US" dirty="0"/>
              <a:t> are </a:t>
            </a:r>
            <a:r>
              <a:rPr lang="en-US" b="1" dirty="0"/>
              <a:t>SBI Account</a:t>
            </a:r>
            <a:r>
              <a:rPr lang="en-US" dirty="0"/>
              <a:t>,</a:t>
            </a:r>
            <a:r>
              <a:rPr lang="en-US" b="1" dirty="0"/>
              <a:t> ICICI account</a:t>
            </a:r>
            <a:r>
              <a:rPr lang="en-US" dirty="0"/>
              <a:t>, etc.</a:t>
            </a:r>
            <a:endParaRPr lang="en-IN" dirty="0"/>
          </a:p>
        </p:txBody>
      </p:sp>
    </p:spTree>
    <p:extLst>
      <p:ext uri="{BB962C8B-B14F-4D97-AF65-F5344CB8AC3E}">
        <p14:creationId xmlns:p14="http://schemas.microsoft.com/office/powerpoint/2010/main" val="3609810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C75B-F65B-9BD3-0C23-31957137939E}"/>
              </a:ext>
            </a:extLst>
          </p:cNvPr>
          <p:cNvSpPr>
            <a:spLocks noGrp="1"/>
          </p:cNvSpPr>
          <p:nvPr>
            <p:ph type="title"/>
          </p:nvPr>
        </p:nvSpPr>
        <p:spPr>
          <a:xfrm>
            <a:off x="568693" y="2492308"/>
            <a:ext cx="10515600" cy="1325563"/>
          </a:xfrm>
        </p:spPr>
        <p:txBody>
          <a:bodyPr>
            <a:normAutofit fontScale="90000"/>
          </a:bodyPr>
          <a:lstStyle/>
          <a:p>
            <a:pPr algn="ctr"/>
            <a:r>
              <a:rPr lang="en-US" sz="9600" b="1" dirty="0">
                <a:latin typeface="Arial Black" panose="020B0A04020102020204" pitchFamily="34" charset="0"/>
              </a:rPr>
              <a:t>SDLC</a:t>
            </a:r>
            <a:endParaRPr lang="en-IN" sz="9600" b="1" dirty="0">
              <a:latin typeface="Arial Black" panose="020B0A04020102020204" pitchFamily="34" charset="0"/>
            </a:endParaRPr>
          </a:p>
        </p:txBody>
      </p:sp>
    </p:spTree>
    <p:extLst>
      <p:ext uri="{BB962C8B-B14F-4D97-AF65-F5344CB8AC3E}">
        <p14:creationId xmlns:p14="http://schemas.microsoft.com/office/powerpoint/2010/main" val="3603458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23F67D-B46B-4A63-A1C5-ED38A471905E}"/>
              </a:ext>
            </a:extLst>
          </p:cNvPr>
          <p:cNvSpPr>
            <a:spLocks noGrp="1"/>
          </p:cNvSpPr>
          <p:nvPr>
            <p:ph idx="1"/>
          </p:nvPr>
        </p:nvSpPr>
        <p:spPr>
          <a:xfrm>
            <a:off x="838200" y="352424"/>
            <a:ext cx="10515600" cy="6581775"/>
          </a:xfrm>
        </p:spPr>
        <p:txBody>
          <a:bodyPr>
            <a:normAutofit/>
          </a:bodyPr>
          <a:lstStyle/>
          <a:p>
            <a:r>
              <a:rPr lang="en-US" sz="3200" dirty="0"/>
              <a:t>Software Development Life Cycle (SDLC) is a process used by the software industry to design, develop and test high quality software's. The SDLC aims to produce a high-quality software that meets or exceeds customer expectations, reaches completion within times and cost estimates.</a:t>
            </a:r>
          </a:p>
          <a:p>
            <a:r>
              <a:rPr lang="en-US" sz="3200" dirty="0"/>
              <a:t>SDLC is the acronym of Software Development Life Cycle.</a:t>
            </a:r>
          </a:p>
          <a:p>
            <a:r>
              <a:rPr lang="en-US" sz="3200" dirty="0"/>
              <a:t>It is also called as Software Development Process.</a:t>
            </a:r>
          </a:p>
          <a:p>
            <a:r>
              <a:rPr lang="en-US" sz="3200" dirty="0"/>
              <a:t>SDLC is a framework defining tasks performed at each step in the software development process.</a:t>
            </a:r>
          </a:p>
          <a:p>
            <a:r>
              <a:rPr lang="en-US" sz="3200" dirty="0"/>
              <a:t>ISO/IEC 12207 is an international standard for software life-cycle processes. It aims to be the standard that defines all the tasks required for developing and maintaining software.</a:t>
            </a:r>
          </a:p>
          <a:p>
            <a:endParaRPr lang="en-IN" dirty="0"/>
          </a:p>
        </p:txBody>
      </p:sp>
    </p:spTree>
    <p:extLst>
      <p:ext uri="{BB962C8B-B14F-4D97-AF65-F5344CB8AC3E}">
        <p14:creationId xmlns:p14="http://schemas.microsoft.com/office/powerpoint/2010/main" val="326381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D4787-5DB1-4CD0-BFAE-8965B267C7C7}"/>
              </a:ext>
            </a:extLst>
          </p:cNvPr>
          <p:cNvSpPr>
            <a:spLocks noGrp="1"/>
          </p:cNvSpPr>
          <p:nvPr>
            <p:ph type="title"/>
          </p:nvPr>
        </p:nvSpPr>
        <p:spPr/>
        <p:txBody>
          <a:bodyPr/>
          <a:lstStyle/>
          <a:p>
            <a:r>
              <a:rPr lang="en-US" b="1" dirty="0"/>
              <a:t>What is SDLC?</a:t>
            </a:r>
            <a:br>
              <a:rPr lang="en-US" dirty="0"/>
            </a:br>
            <a:endParaRPr lang="en-IN" dirty="0"/>
          </a:p>
        </p:txBody>
      </p:sp>
      <p:sp>
        <p:nvSpPr>
          <p:cNvPr id="3" name="Content Placeholder 2">
            <a:extLst>
              <a:ext uri="{FF2B5EF4-FFF2-40B4-BE49-F238E27FC236}">
                <a16:creationId xmlns:a16="http://schemas.microsoft.com/office/drawing/2014/main" id="{728E0314-4337-4AC0-9F78-E90B684C2C40}"/>
              </a:ext>
            </a:extLst>
          </p:cNvPr>
          <p:cNvSpPr>
            <a:spLocks noGrp="1"/>
          </p:cNvSpPr>
          <p:nvPr>
            <p:ph idx="1"/>
          </p:nvPr>
        </p:nvSpPr>
        <p:spPr>
          <a:xfrm>
            <a:off x="838200" y="1295400"/>
            <a:ext cx="10515600" cy="4881563"/>
          </a:xfrm>
        </p:spPr>
        <p:txBody>
          <a:bodyPr>
            <a:normAutofit/>
          </a:bodyPr>
          <a:lstStyle/>
          <a:p>
            <a:r>
              <a:rPr lang="en-US" sz="3600" dirty="0"/>
              <a:t>SDLC is a process followed for a software project, within a software organization.</a:t>
            </a:r>
          </a:p>
          <a:p>
            <a:r>
              <a:rPr lang="en-US" sz="3600" dirty="0"/>
              <a:t> It consists of a detailed plan describing how to develop, maintain, replace and alter or enhance specific software.</a:t>
            </a:r>
          </a:p>
          <a:p>
            <a:r>
              <a:rPr lang="en-US" sz="3600" dirty="0"/>
              <a:t> The life cycle defines a methodology for improving the quality of software and the overall development process.</a:t>
            </a:r>
          </a:p>
          <a:p>
            <a:endParaRPr lang="en-IN" sz="3600" dirty="0"/>
          </a:p>
        </p:txBody>
      </p:sp>
    </p:spTree>
    <p:extLst>
      <p:ext uri="{BB962C8B-B14F-4D97-AF65-F5344CB8AC3E}">
        <p14:creationId xmlns:p14="http://schemas.microsoft.com/office/powerpoint/2010/main" val="4144959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83A72-1A48-4FC8-BD0E-3ED986E0549E}"/>
              </a:ext>
            </a:extLst>
          </p:cNvPr>
          <p:cNvSpPr>
            <a:spLocks noGrp="1"/>
          </p:cNvSpPr>
          <p:nvPr>
            <p:ph type="title"/>
          </p:nvPr>
        </p:nvSpPr>
        <p:spPr/>
        <p:txBody>
          <a:bodyPr/>
          <a:lstStyle/>
          <a:p>
            <a:r>
              <a:rPr lang="en-IN" b="1" dirty="0"/>
              <a:t>SDLC</a:t>
            </a:r>
            <a:br>
              <a:rPr lang="en-IN" b="1" dirty="0"/>
            </a:br>
            <a:endParaRPr lang="en-IN" dirty="0"/>
          </a:p>
        </p:txBody>
      </p:sp>
      <p:pic>
        <p:nvPicPr>
          <p:cNvPr id="1026" name="Picture 2" descr="Stages of SDLC">
            <a:extLst>
              <a:ext uri="{FF2B5EF4-FFF2-40B4-BE49-F238E27FC236}">
                <a16:creationId xmlns:a16="http://schemas.microsoft.com/office/drawing/2014/main" id="{7E5834DC-98BB-4F38-ACF4-30C54274C6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3075" y="1152526"/>
            <a:ext cx="9305925" cy="534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701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C5C1E-F685-49A7-8AFA-FB7684515D80}"/>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1D35F9E0-1D94-4849-ACAE-2615161D4273}"/>
              </a:ext>
            </a:extLst>
          </p:cNvPr>
          <p:cNvSpPr>
            <a:spLocks noGrp="1"/>
          </p:cNvSpPr>
          <p:nvPr>
            <p:ph idx="1"/>
          </p:nvPr>
        </p:nvSpPr>
        <p:spPr>
          <a:xfrm>
            <a:off x="838200" y="1825625"/>
            <a:ext cx="10515600" cy="4851400"/>
          </a:xfrm>
        </p:spPr>
        <p:txBody>
          <a:bodyPr>
            <a:normAutofit/>
          </a:bodyPr>
          <a:lstStyle/>
          <a:p>
            <a:r>
              <a:rPr lang="en-IN" sz="3600" dirty="0">
                <a:hlinkClick r:id="rId2"/>
              </a:rPr>
              <a:t>Requirements &amp; Analysis</a:t>
            </a:r>
            <a:endParaRPr lang="en-IN" sz="3600" dirty="0"/>
          </a:p>
          <a:p>
            <a:r>
              <a:rPr lang="en-IN" sz="3600" dirty="0">
                <a:hlinkClick r:id="rId3"/>
              </a:rPr>
              <a:t>Project Planning</a:t>
            </a:r>
            <a:endParaRPr lang="en-IN" sz="3600" dirty="0"/>
          </a:p>
          <a:p>
            <a:r>
              <a:rPr lang="en-IN" sz="3600" dirty="0">
                <a:hlinkClick r:id="rId4"/>
              </a:rPr>
              <a:t>Design</a:t>
            </a:r>
            <a:endParaRPr lang="en-IN" sz="3600" dirty="0"/>
          </a:p>
          <a:p>
            <a:r>
              <a:rPr lang="en-IN" sz="3600" dirty="0">
                <a:hlinkClick r:id="rId5"/>
              </a:rPr>
              <a:t>Coding &amp; Implementation</a:t>
            </a:r>
            <a:endParaRPr lang="en-IN" sz="3600" dirty="0"/>
          </a:p>
          <a:p>
            <a:r>
              <a:rPr lang="en-IN" sz="3600" dirty="0">
                <a:hlinkClick r:id="rId6"/>
              </a:rPr>
              <a:t>Testing</a:t>
            </a:r>
            <a:endParaRPr lang="en-IN" sz="3600" dirty="0"/>
          </a:p>
          <a:p>
            <a:r>
              <a:rPr lang="en-IN" sz="3600" dirty="0">
                <a:hlinkClick r:id="rId7"/>
              </a:rPr>
              <a:t>Deployment</a:t>
            </a:r>
            <a:endParaRPr lang="en-IN" sz="3600" dirty="0"/>
          </a:p>
          <a:p>
            <a:r>
              <a:rPr lang="en-IN" sz="3600" dirty="0">
                <a:hlinkClick r:id="rId8"/>
              </a:rPr>
              <a:t>Maintenance</a:t>
            </a:r>
            <a:endParaRPr lang="en-IN" sz="3600" dirty="0"/>
          </a:p>
          <a:p>
            <a:endParaRPr lang="en-IN" sz="3600" dirty="0"/>
          </a:p>
        </p:txBody>
      </p:sp>
    </p:spTree>
    <p:extLst>
      <p:ext uri="{BB962C8B-B14F-4D97-AF65-F5344CB8AC3E}">
        <p14:creationId xmlns:p14="http://schemas.microsoft.com/office/powerpoint/2010/main" val="537323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92C7D-CF8E-4962-8E1C-DACBBF6CEADC}"/>
              </a:ext>
            </a:extLst>
          </p:cNvPr>
          <p:cNvSpPr>
            <a:spLocks noGrp="1"/>
          </p:cNvSpPr>
          <p:nvPr>
            <p:ph type="title"/>
          </p:nvPr>
        </p:nvSpPr>
        <p:spPr/>
        <p:txBody>
          <a:bodyPr/>
          <a:lstStyle/>
          <a:p>
            <a:r>
              <a:rPr lang="en-US" dirty="0"/>
              <a:t>Stage 1: Planning and Requirement Analysis</a:t>
            </a:r>
            <a:br>
              <a:rPr lang="en-US" dirty="0"/>
            </a:br>
            <a:endParaRPr lang="en-IN" dirty="0"/>
          </a:p>
        </p:txBody>
      </p:sp>
      <p:sp>
        <p:nvSpPr>
          <p:cNvPr id="3" name="Content Placeholder 2">
            <a:extLst>
              <a:ext uri="{FF2B5EF4-FFF2-40B4-BE49-F238E27FC236}">
                <a16:creationId xmlns:a16="http://schemas.microsoft.com/office/drawing/2014/main" id="{21F89CE0-E6CD-4BA0-92CF-2D6B0D1614E2}"/>
              </a:ext>
            </a:extLst>
          </p:cNvPr>
          <p:cNvSpPr>
            <a:spLocks noGrp="1"/>
          </p:cNvSpPr>
          <p:nvPr>
            <p:ph idx="1"/>
          </p:nvPr>
        </p:nvSpPr>
        <p:spPr/>
        <p:txBody>
          <a:bodyPr>
            <a:normAutofit lnSpcReduction="10000"/>
          </a:bodyPr>
          <a:lstStyle/>
          <a:p>
            <a:r>
              <a:rPr lang="en-US" dirty="0"/>
              <a:t>Requirement analysis is the most important and fundamental stage in SDLC. It is performed by the senior members of the team with inputs from the customer, the sales department, market surveys and domain experts in the industry. This information is then used to plan the basic project approach and to conduct product feasibility study in the economical, operational and technical areas.</a:t>
            </a:r>
          </a:p>
          <a:p>
            <a:r>
              <a:rPr lang="en-US" dirty="0"/>
              <a:t>Planning for the quality assurance requirements and identification of the risks associated with the project is also done in the planning stage. The outcome of the technical feasibility study is to define the various technical approaches that can be followed to implement the project successfully with minimum risks.</a:t>
            </a:r>
          </a:p>
          <a:p>
            <a:endParaRPr lang="en-IN" dirty="0"/>
          </a:p>
        </p:txBody>
      </p:sp>
    </p:spTree>
    <p:extLst>
      <p:ext uri="{BB962C8B-B14F-4D97-AF65-F5344CB8AC3E}">
        <p14:creationId xmlns:p14="http://schemas.microsoft.com/office/powerpoint/2010/main" val="1113356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92516-6B17-4385-BC2B-61C38CC723EE}"/>
              </a:ext>
            </a:extLst>
          </p:cNvPr>
          <p:cNvSpPr>
            <a:spLocks noGrp="1"/>
          </p:cNvSpPr>
          <p:nvPr>
            <p:ph type="title"/>
          </p:nvPr>
        </p:nvSpPr>
        <p:spPr/>
        <p:txBody>
          <a:bodyPr/>
          <a:lstStyle/>
          <a:p>
            <a:r>
              <a:rPr lang="en-US" dirty="0"/>
              <a:t>Stage 2: Defining Requirements</a:t>
            </a:r>
            <a:br>
              <a:rPr lang="en-US" dirty="0"/>
            </a:br>
            <a:endParaRPr lang="en-IN" dirty="0"/>
          </a:p>
        </p:txBody>
      </p:sp>
      <p:sp>
        <p:nvSpPr>
          <p:cNvPr id="3" name="Content Placeholder 2">
            <a:extLst>
              <a:ext uri="{FF2B5EF4-FFF2-40B4-BE49-F238E27FC236}">
                <a16:creationId xmlns:a16="http://schemas.microsoft.com/office/drawing/2014/main" id="{79E85B67-3B47-4BB6-BB1D-115CFABEC01F}"/>
              </a:ext>
            </a:extLst>
          </p:cNvPr>
          <p:cNvSpPr>
            <a:spLocks noGrp="1"/>
          </p:cNvSpPr>
          <p:nvPr>
            <p:ph idx="1"/>
          </p:nvPr>
        </p:nvSpPr>
        <p:spPr/>
        <p:txBody>
          <a:bodyPr/>
          <a:lstStyle/>
          <a:p>
            <a:r>
              <a:rPr lang="en-US" dirty="0"/>
              <a:t>Once the requirement analysis is done the next step is to clearly define and document the product requirements and get them approved from the customer or the market analysts. This is done through an </a:t>
            </a:r>
            <a:r>
              <a:rPr lang="en-US" b="1" dirty="0"/>
              <a:t>SRS (Software Requirement Specification)</a:t>
            </a:r>
            <a:r>
              <a:rPr lang="en-US" dirty="0"/>
              <a:t> document which consists of all the product requirements to be designed and developed during the project life cycle.</a:t>
            </a:r>
          </a:p>
          <a:p>
            <a:endParaRPr lang="en-IN" dirty="0"/>
          </a:p>
        </p:txBody>
      </p:sp>
    </p:spTree>
    <p:extLst>
      <p:ext uri="{BB962C8B-B14F-4D97-AF65-F5344CB8AC3E}">
        <p14:creationId xmlns:p14="http://schemas.microsoft.com/office/powerpoint/2010/main" val="3156470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F7EBA-0654-4FED-B671-0D08CA015409}"/>
              </a:ext>
            </a:extLst>
          </p:cNvPr>
          <p:cNvSpPr>
            <a:spLocks noGrp="1"/>
          </p:cNvSpPr>
          <p:nvPr>
            <p:ph type="title"/>
          </p:nvPr>
        </p:nvSpPr>
        <p:spPr/>
        <p:txBody>
          <a:bodyPr/>
          <a:lstStyle/>
          <a:p>
            <a:r>
              <a:rPr lang="en-US" dirty="0"/>
              <a:t>Stage 3: Designing the Product Architecture</a:t>
            </a:r>
            <a:br>
              <a:rPr lang="en-US" dirty="0"/>
            </a:br>
            <a:endParaRPr lang="en-IN" dirty="0"/>
          </a:p>
        </p:txBody>
      </p:sp>
      <p:sp>
        <p:nvSpPr>
          <p:cNvPr id="3" name="Content Placeholder 2">
            <a:extLst>
              <a:ext uri="{FF2B5EF4-FFF2-40B4-BE49-F238E27FC236}">
                <a16:creationId xmlns:a16="http://schemas.microsoft.com/office/drawing/2014/main" id="{DD137DA3-A745-4695-909F-EC0FFD3E5056}"/>
              </a:ext>
            </a:extLst>
          </p:cNvPr>
          <p:cNvSpPr>
            <a:spLocks noGrp="1"/>
          </p:cNvSpPr>
          <p:nvPr>
            <p:ph idx="1"/>
          </p:nvPr>
        </p:nvSpPr>
        <p:spPr/>
        <p:txBody>
          <a:bodyPr>
            <a:normAutofit fontScale="92500" lnSpcReduction="20000"/>
          </a:bodyPr>
          <a:lstStyle/>
          <a:p>
            <a:r>
              <a:rPr lang="en-US" dirty="0"/>
              <a:t>SRS is the reference for product architects to come out with the best architecture for the product to be developed. Based on the requirements specified in SRS, usually more than one design approach for the product architecture is proposed and documented in a DDS - Design Document Specification.</a:t>
            </a:r>
          </a:p>
          <a:p>
            <a:r>
              <a:rPr lang="en-US" dirty="0"/>
              <a:t>This DDS is reviewed by all the important stakeholders and based on various parameters as risk assessment, product robustness, design modularity, budget and time constraints, the best design approach is selected for the product.</a:t>
            </a:r>
          </a:p>
          <a:p>
            <a:r>
              <a:rPr lang="en-US" dirty="0"/>
              <a:t>A design approach clearly defines all the architectural modules of the product along with its communication and data flow representation with the external and third party modules (if any). The internal design of all the modules of the proposed architecture should be clearly defined with the minutest of the details in DDS.</a:t>
            </a:r>
          </a:p>
          <a:p>
            <a:endParaRPr lang="en-IN" dirty="0"/>
          </a:p>
        </p:txBody>
      </p:sp>
    </p:spTree>
    <p:extLst>
      <p:ext uri="{BB962C8B-B14F-4D97-AF65-F5344CB8AC3E}">
        <p14:creationId xmlns:p14="http://schemas.microsoft.com/office/powerpoint/2010/main" val="1845766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99702-C118-4483-92E8-E0C6E6925434}"/>
              </a:ext>
            </a:extLst>
          </p:cNvPr>
          <p:cNvSpPr>
            <a:spLocks noGrp="1"/>
          </p:cNvSpPr>
          <p:nvPr>
            <p:ph type="title"/>
          </p:nvPr>
        </p:nvSpPr>
        <p:spPr/>
        <p:txBody>
          <a:bodyPr/>
          <a:lstStyle/>
          <a:p>
            <a:r>
              <a:rPr lang="en-US" dirty="0"/>
              <a:t>Stage 4: Building or Developing the Product</a:t>
            </a:r>
            <a:br>
              <a:rPr lang="en-US" dirty="0"/>
            </a:br>
            <a:endParaRPr lang="en-IN" dirty="0"/>
          </a:p>
        </p:txBody>
      </p:sp>
      <p:sp>
        <p:nvSpPr>
          <p:cNvPr id="3" name="Content Placeholder 2">
            <a:extLst>
              <a:ext uri="{FF2B5EF4-FFF2-40B4-BE49-F238E27FC236}">
                <a16:creationId xmlns:a16="http://schemas.microsoft.com/office/drawing/2014/main" id="{59AC7477-5BA2-40B0-A334-FAB2D724C100}"/>
              </a:ext>
            </a:extLst>
          </p:cNvPr>
          <p:cNvSpPr>
            <a:spLocks noGrp="1"/>
          </p:cNvSpPr>
          <p:nvPr>
            <p:ph idx="1"/>
          </p:nvPr>
        </p:nvSpPr>
        <p:spPr/>
        <p:txBody>
          <a:bodyPr/>
          <a:lstStyle/>
          <a:p>
            <a:r>
              <a:rPr lang="en-US" dirty="0"/>
              <a:t>In this stage of SDLC the actual development starts and the product is built. The programming code is generated as per DDS during this stage. If the design is performed in a detailed and organized manner, code generation can be accomplished without much hassle.</a:t>
            </a:r>
          </a:p>
          <a:p>
            <a:r>
              <a:rPr lang="en-US" dirty="0"/>
              <a:t>Developers must follow the coding guidelines defined by their organization and programming tools like compilers, interpreters, debuggers, etc. are used to generate the code. Different high level programming languages such as C, C++, Pascal, Java and PHP are used for coding. The programming language is chosen with respect to the type of software being developed.</a:t>
            </a:r>
          </a:p>
          <a:p>
            <a:endParaRPr lang="en-IN" dirty="0"/>
          </a:p>
        </p:txBody>
      </p:sp>
    </p:spTree>
    <p:extLst>
      <p:ext uri="{BB962C8B-B14F-4D97-AF65-F5344CB8AC3E}">
        <p14:creationId xmlns:p14="http://schemas.microsoft.com/office/powerpoint/2010/main" val="1279979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A6816-58CE-4A42-8C86-DBB1EF2B1D7C}"/>
              </a:ext>
            </a:extLst>
          </p:cNvPr>
          <p:cNvSpPr>
            <a:spLocks noGrp="1"/>
          </p:cNvSpPr>
          <p:nvPr>
            <p:ph type="title"/>
          </p:nvPr>
        </p:nvSpPr>
        <p:spPr/>
        <p:txBody>
          <a:bodyPr/>
          <a:lstStyle/>
          <a:p>
            <a:r>
              <a:rPr lang="en-US" dirty="0"/>
              <a:t>Stage 5: Testing the Product</a:t>
            </a:r>
            <a:br>
              <a:rPr lang="en-US" dirty="0"/>
            </a:br>
            <a:endParaRPr lang="en-IN" dirty="0"/>
          </a:p>
        </p:txBody>
      </p:sp>
      <p:sp>
        <p:nvSpPr>
          <p:cNvPr id="3" name="Content Placeholder 2">
            <a:extLst>
              <a:ext uri="{FF2B5EF4-FFF2-40B4-BE49-F238E27FC236}">
                <a16:creationId xmlns:a16="http://schemas.microsoft.com/office/drawing/2014/main" id="{DFBF3B7B-3D83-4C5E-B404-BF2164C8E796}"/>
              </a:ext>
            </a:extLst>
          </p:cNvPr>
          <p:cNvSpPr>
            <a:spLocks noGrp="1"/>
          </p:cNvSpPr>
          <p:nvPr>
            <p:ph idx="1"/>
          </p:nvPr>
        </p:nvSpPr>
        <p:spPr/>
        <p:txBody>
          <a:bodyPr/>
          <a:lstStyle/>
          <a:p>
            <a:r>
              <a:rPr lang="en-US" dirty="0"/>
              <a:t>This stage is usually a subset of all the stages as in the modern SDLC models, the testing activities are mostly involved in all the stages of SDLC. However, this stage refers to the testing only stage of the product where product defects are reported, tracked, fixed and retested, until the product reaches the quality standards defined in the SRS.</a:t>
            </a:r>
            <a:endParaRPr lang="en-IN" dirty="0"/>
          </a:p>
        </p:txBody>
      </p:sp>
    </p:spTree>
    <p:extLst>
      <p:ext uri="{BB962C8B-B14F-4D97-AF65-F5344CB8AC3E}">
        <p14:creationId xmlns:p14="http://schemas.microsoft.com/office/powerpoint/2010/main" val="939799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A8760-E4C3-4C0B-B65B-B1483B5FD736}"/>
              </a:ext>
            </a:extLst>
          </p:cNvPr>
          <p:cNvSpPr>
            <a:spLocks noGrp="1"/>
          </p:cNvSpPr>
          <p:nvPr>
            <p:ph type="title"/>
          </p:nvPr>
        </p:nvSpPr>
        <p:spPr/>
        <p:txBody>
          <a:bodyPr>
            <a:normAutofit fontScale="90000"/>
          </a:bodyPr>
          <a:lstStyle/>
          <a:p>
            <a:r>
              <a:rPr lang="en-US" dirty="0"/>
              <a:t>Stage 6: Deployment in the Market and Maintenance</a:t>
            </a:r>
            <a:br>
              <a:rPr lang="en-US" dirty="0"/>
            </a:br>
            <a:endParaRPr lang="en-IN" dirty="0"/>
          </a:p>
        </p:txBody>
      </p:sp>
      <p:sp>
        <p:nvSpPr>
          <p:cNvPr id="3" name="Content Placeholder 2">
            <a:extLst>
              <a:ext uri="{FF2B5EF4-FFF2-40B4-BE49-F238E27FC236}">
                <a16:creationId xmlns:a16="http://schemas.microsoft.com/office/drawing/2014/main" id="{F686BF3E-FD17-43CA-8332-0E65AB9A2781}"/>
              </a:ext>
            </a:extLst>
          </p:cNvPr>
          <p:cNvSpPr>
            <a:spLocks noGrp="1"/>
          </p:cNvSpPr>
          <p:nvPr>
            <p:ph idx="1"/>
          </p:nvPr>
        </p:nvSpPr>
        <p:spPr/>
        <p:txBody>
          <a:bodyPr/>
          <a:lstStyle/>
          <a:p>
            <a:r>
              <a:rPr lang="en-US" dirty="0"/>
              <a:t>Once the product is tested and ready to be deployed it is released formally in the appropriate market. Sometimes product deployment happens in stages as per the business strategy of that organization. The product may first be released in a limited segment and tested in the real business environment (UAT- User acceptance testing).</a:t>
            </a:r>
          </a:p>
          <a:p>
            <a:r>
              <a:rPr lang="en-US" dirty="0"/>
              <a:t>Then based on the feedback, the product may be released as it is or with suggested enhancements in the targeting market segment. After the product is released in the market, its maintenance is done for the existing customer base.</a:t>
            </a:r>
          </a:p>
          <a:p>
            <a:endParaRPr lang="en-IN" dirty="0"/>
          </a:p>
        </p:txBody>
      </p:sp>
    </p:spTree>
    <p:extLst>
      <p:ext uri="{BB962C8B-B14F-4D97-AF65-F5344CB8AC3E}">
        <p14:creationId xmlns:p14="http://schemas.microsoft.com/office/powerpoint/2010/main" val="2271067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756E1-E933-404D-9EF6-D85411F26AE6}"/>
              </a:ext>
            </a:extLst>
          </p:cNvPr>
          <p:cNvSpPr>
            <a:spLocks noGrp="1"/>
          </p:cNvSpPr>
          <p:nvPr>
            <p:ph type="title"/>
          </p:nvPr>
        </p:nvSpPr>
        <p:spPr/>
        <p:txBody>
          <a:bodyPr/>
          <a:lstStyle/>
          <a:p>
            <a:r>
              <a:rPr lang="en-US" dirty="0"/>
              <a:t>SDLC Models</a:t>
            </a:r>
            <a:br>
              <a:rPr lang="en-US" dirty="0"/>
            </a:br>
            <a:endParaRPr lang="en-IN" dirty="0"/>
          </a:p>
        </p:txBody>
      </p:sp>
      <p:sp>
        <p:nvSpPr>
          <p:cNvPr id="3" name="Content Placeholder 2">
            <a:extLst>
              <a:ext uri="{FF2B5EF4-FFF2-40B4-BE49-F238E27FC236}">
                <a16:creationId xmlns:a16="http://schemas.microsoft.com/office/drawing/2014/main" id="{20E8DD32-FBF0-42DF-BD61-803BEB4C7374}"/>
              </a:ext>
            </a:extLst>
          </p:cNvPr>
          <p:cNvSpPr>
            <a:spLocks noGrp="1"/>
          </p:cNvSpPr>
          <p:nvPr>
            <p:ph idx="1"/>
          </p:nvPr>
        </p:nvSpPr>
        <p:spPr/>
        <p:txBody>
          <a:bodyPr/>
          <a:lstStyle/>
          <a:p>
            <a:r>
              <a:rPr lang="en-US" dirty="0"/>
              <a:t>There are various software development life cycle models defined and designed which are followed during the software development process. These models are also referred as Software Development Process Models". Each process model follows a Series of steps unique to its type to ensure success in the process of software development.</a:t>
            </a:r>
          </a:p>
          <a:p>
            <a:endParaRPr lang="en-IN" dirty="0"/>
          </a:p>
        </p:txBody>
      </p:sp>
    </p:spTree>
    <p:extLst>
      <p:ext uri="{BB962C8B-B14F-4D97-AF65-F5344CB8AC3E}">
        <p14:creationId xmlns:p14="http://schemas.microsoft.com/office/powerpoint/2010/main" val="34075527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48853-790C-4E8E-A266-F7B42713B082}"/>
              </a:ext>
            </a:extLst>
          </p:cNvPr>
          <p:cNvSpPr>
            <a:spLocks noGrp="1"/>
          </p:cNvSpPr>
          <p:nvPr>
            <p:ph type="title"/>
          </p:nvPr>
        </p:nvSpPr>
        <p:spPr/>
        <p:txBody>
          <a:bodyPr>
            <a:normAutofit fontScale="90000"/>
          </a:bodyPr>
          <a:lstStyle/>
          <a:p>
            <a:r>
              <a:rPr lang="en-US" dirty="0"/>
              <a:t>Following are the most important and popular SDLC models followed in the industry −</a:t>
            </a:r>
            <a:endParaRPr lang="en-IN" dirty="0"/>
          </a:p>
        </p:txBody>
      </p:sp>
      <p:sp>
        <p:nvSpPr>
          <p:cNvPr id="3" name="Content Placeholder 2">
            <a:extLst>
              <a:ext uri="{FF2B5EF4-FFF2-40B4-BE49-F238E27FC236}">
                <a16:creationId xmlns:a16="http://schemas.microsoft.com/office/drawing/2014/main" id="{AC2E2A91-F2D6-4465-B710-8254CED81FA0}"/>
              </a:ext>
            </a:extLst>
          </p:cNvPr>
          <p:cNvSpPr>
            <a:spLocks noGrp="1"/>
          </p:cNvSpPr>
          <p:nvPr>
            <p:ph idx="1"/>
          </p:nvPr>
        </p:nvSpPr>
        <p:spPr/>
        <p:txBody>
          <a:bodyPr/>
          <a:lstStyle/>
          <a:p>
            <a:endParaRPr lang="en-US" dirty="0"/>
          </a:p>
          <a:p>
            <a:r>
              <a:rPr lang="en-US" dirty="0"/>
              <a:t>Waterfall Model</a:t>
            </a:r>
          </a:p>
          <a:p>
            <a:r>
              <a:rPr lang="en-US" dirty="0"/>
              <a:t>Iterative Model</a:t>
            </a:r>
          </a:p>
          <a:p>
            <a:r>
              <a:rPr lang="en-US" dirty="0"/>
              <a:t>Spiral Model</a:t>
            </a:r>
          </a:p>
          <a:p>
            <a:r>
              <a:rPr lang="en-US" dirty="0"/>
              <a:t>V-Model</a:t>
            </a:r>
          </a:p>
          <a:p>
            <a:r>
              <a:rPr lang="en-US" dirty="0"/>
              <a:t>Big Bang Model</a:t>
            </a:r>
          </a:p>
          <a:p>
            <a:endParaRPr lang="en-IN" dirty="0"/>
          </a:p>
        </p:txBody>
      </p:sp>
    </p:spTree>
    <p:extLst>
      <p:ext uri="{BB962C8B-B14F-4D97-AF65-F5344CB8AC3E}">
        <p14:creationId xmlns:p14="http://schemas.microsoft.com/office/powerpoint/2010/main" val="949124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6A73F-F289-4E09-75D4-A4F82DED3996}"/>
              </a:ext>
            </a:extLst>
          </p:cNvPr>
          <p:cNvSpPr>
            <a:spLocks noGrp="1"/>
          </p:cNvSpPr>
          <p:nvPr>
            <p:ph type="title"/>
          </p:nvPr>
        </p:nvSpPr>
        <p:spPr>
          <a:xfrm>
            <a:off x="732322" y="2896569"/>
            <a:ext cx="10515600" cy="1325563"/>
          </a:xfrm>
        </p:spPr>
        <p:txBody>
          <a:bodyPr/>
          <a:lstStyle/>
          <a:p>
            <a:pPr algn="ctr"/>
            <a:r>
              <a:rPr lang="en-US" sz="6600" dirty="0">
                <a:latin typeface="Arial Black" panose="020B0A04020102020204" pitchFamily="34" charset="0"/>
              </a:rPr>
              <a:t>WATERFALL</a:t>
            </a:r>
            <a:r>
              <a:rPr lang="en-US" dirty="0">
                <a:latin typeface="Arial Black" panose="020B0A04020102020204" pitchFamily="34" charset="0"/>
              </a:rPr>
              <a:t> </a:t>
            </a:r>
            <a:r>
              <a:rPr lang="en-US" sz="6600" dirty="0">
                <a:latin typeface="Arial Black" panose="020B0A04020102020204" pitchFamily="34" charset="0"/>
              </a:rPr>
              <a:t>MODEL</a:t>
            </a:r>
            <a:endParaRPr lang="en-IN" dirty="0">
              <a:latin typeface="Arial Black" panose="020B0A04020102020204" pitchFamily="34" charset="0"/>
            </a:endParaRPr>
          </a:p>
        </p:txBody>
      </p:sp>
    </p:spTree>
    <p:extLst>
      <p:ext uri="{BB962C8B-B14F-4D97-AF65-F5344CB8AC3E}">
        <p14:creationId xmlns:p14="http://schemas.microsoft.com/office/powerpoint/2010/main" val="41135398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FF683-1459-42A4-9AF1-597BC9685C82}"/>
              </a:ext>
            </a:extLst>
          </p:cNvPr>
          <p:cNvSpPr>
            <a:spLocks noGrp="1"/>
          </p:cNvSpPr>
          <p:nvPr>
            <p:ph type="title"/>
          </p:nvPr>
        </p:nvSpPr>
        <p:spPr/>
        <p:txBody>
          <a:bodyPr/>
          <a:lstStyle/>
          <a:p>
            <a:r>
              <a:rPr lang="en-IN" dirty="0"/>
              <a:t>Waterfall Model</a:t>
            </a:r>
            <a:br>
              <a:rPr lang="en-IN" dirty="0"/>
            </a:br>
            <a:endParaRPr lang="en-IN" dirty="0"/>
          </a:p>
        </p:txBody>
      </p:sp>
      <p:sp>
        <p:nvSpPr>
          <p:cNvPr id="3" name="Content Placeholder 2">
            <a:extLst>
              <a:ext uri="{FF2B5EF4-FFF2-40B4-BE49-F238E27FC236}">
                <a16:creationId xmlns:a16="http://schemas.microsoft.com/office/drawing/2014/main" id="{130F6617-3078-49F9-90CB-C77DA254D8F6}"/>
              </a:ext>
            </a:extLst>
          </p:cNvPr>
          <p:cNvSpPr>
            <a:spLocks noGrp="1"/>
          </p:cNvSpPr>
          <p:nvPr>
            <p:ph idx="1"/>
          </p:nvPr>
        </p:nvSpPr>
        <p:spPr/>
        <p:txBody>
          <a:bodyPr>
            <a:normAutofit lnSpcReduction="10000"/>
          </a:bodyPr>
          <a:lstStyle/>
          <a:p>
            <a:r>
              <a:rPr lang="en-US" dirty="0"/>
              <a:t>The Waterfall Model was the first Process Model to be introduced. It is also referred to as a </a:t>
            </a:r>
            <a:r>
              <a:rPr lang="en-US" b="1" dirty="0"/>
              <a:t>linear-sequential life cycle model</a:t>
            </a:r>
            <a:r>
              <a:rPr lang="en-US" dirty="0"/>
              <a:t>. It is very simple to understand and use. In a waterfall model, each phase must be completed before the next phase can begin and there is no overlapping in the phases.</a:t>
            </a:r>
          </a:p>
          <a:p>
            <a:r>
              <a:rPr lang="en-US" dirty="0"/>
              <a:t>The Waterfall model is the earliest SDLC approach that was used for software development.</a:t>
            </a:r>
          </a:p>
          <a:p>
            <a:r>
              <a:rPr lang="en-US" dirty="0"/>
              <a:t>The waterfall Model illustrates the software development process in a linear sequential flow. This means that any phase in the development process begins only if the previous phase is complete. In this waterfall model, the phases do not overlap.</a:t>
            </a:r>
          </a:p>
          <a:p>
            <a:endParaRPr lang="en-IN" dirty="0"/>
          </a:p>
        </p:txBody>
      </p:sp>
    </p:spTree>
    <p:extLst>
      <p:ext uri="{BB962C8B-B14F-4D97-AF65-F5344CB8AC3E}">
        <p14:creationId xmlns:p14="http://schemas.microsoft.com/office/powerpoint/2010/main" val="248365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9F240-A35F-4A24-A85F-E5FC7A737278}"/>
              </a:ext>
            </a:extLst>
          </p:cNvPr>
          <p:cNvSpPr>
            <a:spLocks noGrp="1"/>
          </p:cNvSpPr>
          <p:nvPr>
            <p:ph type="title"/>
          </p:nvPr>
        </p:nvSpPr>
        <p:spPr/>
        <p:txBody>
          <a:bodyPr/>
          <a:lstStyle/>
          <a:p>
            <a:r>
              <a:rPr lang="en-US" dirty="0"/>
              <a:t>Waterfall Model - Design</a:t>
            </a:r>
            <a:br>
              <a:rPr lang="en-US" dirty="0"/>
            </a:br>
            <a:endParaRPr lang="en-IN" dirty="0"/>
          </a:p>
        </p:txBody>
      </p:sp>
      <p:sp>
        <p:nvSpPr>
          <p:cNvPr id="3" name="Content Placeholder 2">
            <a:extLst>
              <a:ext uri="{FF2B5EF4-FFF2-40B4-BE49-F238E27FC236}">
                <a16:creationId xmlns:a16="http://schemas.microsoft.com/office/drawing/2014/main" id="{6FEBF6CB-6FC7-4A87-A24B-711ED41808FB}"/>
              </a:ext>
            </a:extLst>
          </p:cNvPr>
          <p:cNvSpPr>
            <a:spLocks noGrp="1"/>
          </p:cNvSpPr>
          <p:nvPr>
            <p:ph idx="1"/>
          </p:nvPr>
        </p:nvSpPr>
        <p:spPr/>
        <p:txBody>
          <a:bodyPr/>
          <a:lstStyle/>
          <a:p>
            <a:r>
              <a:rPr lang="en-US" dirty="0"/>
              <a:t>Waterfall approach was first SDLC Model to be used widely in Software Engineering to ensure success of the project. In "The Waterfall" approach, the whole process of software development is divided into separate phases. In this Waterfall model, typically, the outcome of one phase acts as the input for the next phase sequentially.</a:t>
            </a:r>
          </a:p>
          <a:p>
            <a:r>
              <a:rPr lang="en-US" dirty="0"/>
              <a:t>The following illustration is a representation of the different phases of the Waterfall Model.</a:t>
            </a:r>
          </a:p>
          <a:p>
            <a:endParaRPr lang="en-IN" dirty="0"/>
          </a:p>
        </p:txBody>
      </p:sp>
    </p:spTree>
    <p:extLst>
      <p:ext uri="{BB962C8B-B14F-4D97-AF65-F5344CB8AC3E}">
        <p14:creationId xmlns:p14="http://schemas.microsoft.com/office/powerpoint/2010/main" val="2227452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DLC Waterfall Model">
            <a:extLst>
              <a:ext uri="{FF2B5EF4-FFF2-40B4-BE49-F238E27FC236}">
                <a16:creationId xmlns:a16="http://schemas.microsoft.com/office/drawing/2014/main" id="{9D4A6320-4BEE-4934-86D3-4E6FDD3800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3902" y="638175"/>
            <a:ext cx="9756498" cy="6520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2359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EC507-0E8A-49EF-B7B2-2349D313126E}"/>
              </a:ext>
            </a:extLst>
          </p:cNvPr>
          <p:cNvSpPr>
            <a:spLocks noGrp="1"/>
          </p:cNvSpPr>
          <p:nvPr>
            <p:ph type="title"/>
          </p:nvPr>
        </p:nvSpPr>
        <p:spPr/>
        <p:txBody>
          <a:bodyPr/>
          <a:lstStyle/>
          <a:p>
            <a:r>
              <a:rPr lang="en-US" b="1" dirty="0"/>
              <a:t>The sequential phases in Waterfall model are −</a:t>
            </a:r>
            <a:endParaRPr lang="en-IN" b="1" dirty="0"/>
          </a:p>
        </p:txBody>
      </p:sp>
      <p:sp>
        <p:nvSpPr>
          <p:cNvPr id="3" name="Content Placeholder 2">
            <a:extLst>
              <a:ext uri="{FF2B5EF4-FFF2-40B4-BE49-F238E27FC236}">
                <a16:creationId xmlns:a16="http://schemas.microsoft.com/office/drawing/2014/main" id="{30D9ED72-6FC7-45C9-8DD5-45AFDCCA78E9}"/>
              </a:ext>
            </a:extLst>
          </p:cNvPr>
          <p:cNvSpPr>
            <a:spLocks noGrp="1"/>
          </p:cNvSpPr>
          <p:nvPr>
            <p:ph idx="1"/>
          </p:nvPr>
        </p:nvSpPr>
        <p:spPr>
          <a:xfrm>
            <a:off x="762000" y="1466850"/>
            <a:ext cx="10591800" cy="5314950"/>
          </a:xfrm>
        </p:spPr>
        <p:txBody>
          <a:bodyPr>
            <a:normAutofit fontScale="92500"/>
          </a:bodyPr>
          <a:lstStyle/>
          <a:p>
            <a:r>
              <a:rPr lang="en-US" sz="3200" b="1" dirty="0"/>
              <a:t>Requirement Gathering and analysis</a:t>
            </a:r>
            <a:r>
              <a:rPr lang="en-US" sz="3200" dirty="0"/>
              <a:t> − All possible requirements of the system to be developed are captured in this phase and documented in a requirement specification document.</a:t>
            </a:r>
          </a:p>
          <a:p>
            <a:r>
              <a:rPr lang="en-US" sz="3200" b="1" dirty="0"/>
              <a:t>System Design</a:t>
            </a:r>
            <a:r>
              <a:rPr lang="en-US" sz="3200" dirty="0"/>
              <a:t> − The requirement specifications from first phase are studied in this phase and the system design is prepared. This system design helps in specifying hardware and system requirements and helps in defining the overall system architecture.</a:t>
            </a:r>
          </a:p>
          <a:p>
            <a:r>
              <a:rPr lang="en-US" sz="3200" b="1" dirty="0"/>
              <a:t>Implementation</a:t>
            </a:r>
            <a:r>
              <a:rPr lang="en-US" sz="3200" dirty="0"/>
              <a:t> − With inputs from the system design, the system is first developed in small programs called units, which are integrated in the next phase. Each unit is developed and tested for its functionality, which is referred to as Unit Testing.</a:t>
            </a:r>
          </a:p>
          <a:p>
            <a:endParaRPr lang="en-IN" sz="3200" dirty="0"/>
          </a:p>
        </p:txBody>
      </p:sp>
    </p:spTree>
    <p:extLst>
      <p:ext uri="{BB962C8B-B14F-4D97-AF65-F5344CB8AC3E}">
        <p14:creationId xmlns:p14="http://schemas.microsoft.com/office/powerpoint/2010/main" val="8487253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5BD04E-B07A-470C-A353-47173D70DB71}"/>
              </a:ext>
            </a:extLst>
          </p:cNvPr>
          <p:cNvSpPr>
            <a:spLocks noGrp="1"/>
          </p:cNvSpPr>
          <p:nvPr>
            <p:ph idx="1"/>
          </p:nvPr>
        </p:nvSpPr>
        <p:spPr>
          <a:xfrm>
            <a:off x="704850" y="314325"/>
            <a:ext cx="10648950" cy="6324600"/>
          </a:xfrm>
        </p:spPr>
        <p:txBody>
          <a:bodyPr>
            <a:normAutofit/>
          </a:bodyPr>
          <a:lstStyle/>
          <a:p>
            <a:r>
              <a:rPr lang="en-US" sz="3600" b="1" dirty="0"/>
              <a:t>Integration and Testing</a:t>
            </a:r>
            <a:r>
              <a:rPr lang="en-US" sz="3600" dirty="0"/>
              <a:t> − All the units developed in the implementation phase are integrated into a system after testing of each unit. Post integration the entire system is tested for any faults and failures.</a:t>
            </a:r>
          </a:p>
          <a:p>
            <a:r>
              <a:rPr lang="en-US" sz="3600" b="1" dirty="0"/>
              <a:t>Deployment of system</a:t>
            </a:r>
            <a:r>
              <a:rPr lang="en-US" sz="3600" dirty="0"/>
              <a:t> − Once the functional and non-functional testing is done; the product is deployed in the customer environment or released into the market.</a:t>
            </a:r>
          </a:p>
          <a:p>
            <a:r>
              <a:rPr lang="en-US" sz="3600" b="1" dirty="0"/>
              <a:t>Maintenance</a:t>
            </a:r>
            <a:r>
              <a:rPr lang="en-US" sz="3600" dirty="0"/>
              <a:t> − There are some issues which come up in the client environment. To fix those issues, patches are released. Also to enhance the product some better versions are released. Maintenance is done to deliver these changes in the customer environment.</a:t>
            </a:r>
          </a:p>
          <a:p>
            <a:endParaRPr lang="en-IN" sz="3600" dirty="0"/>
          </a:p>
        </p:txBody>
      </p:sp>
    </p:spTree>
    <p:extLst>
      <p:ext uri="{BB962C8B-B14F-4D97-AF65-F5344CB8AC3E}">
        <p14:creationId xmlns:p14="http://schemas.microsoft.com/office/powerpoint/2010/main" val="3286200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608586-AAC4-43E0-A41D-975B1563CC36}"/>
              </a:ext>
            </a:extLst>
          </p:cNvPr>
          <p:cNvSpPr>
            <a:spLocks noGrp="1"/>
          </p:cNvSpPr>
          <p:nvPr>
            <p:ph idx="1"/>
          </p:nvPr>
        </p:nvSpPr>
        <p:spPr>
          <a:xfrm>
            <a:off x="838200" y="657225"/>
            <a:ext cx="10515600" cy="5519738"/>
          </a:xfrm>
        </p:spPr>
        <p:txBody>
          <a:bodyPr>
            <a:normAutofit/>
          </a:bodyPr>
          <a:lstStyle/>
          <a:p>
            <a:r>
              <a:rPr lang="en-US" sz="3600" dirty="0"/>
              <a:t>All these phases are cascaded to each other in which progress is seen as flowing steadily downwards (like a waterfall) through the phases. The next phase is started only after the defined set of goals are achieved for previous phase and it is signed off, so the name "Waterfall Model". </a:t>
            </a:r>
          </a:p>
          <a:p>
            <a:r>
              <a:rPr lang="en-US" sz="3600" dirty="0"/>
              <a:t>In this model, phases do not overlap.</a:t>
            </a:r>
            <a:endParaRPr lang="en-IN" sz="3600" dirty="0"/>
          </a:p>
        </p:txBody>
      </p:sp>
    </p:spTree>
    <p:extLst>
      <p:ext uri="{BB962C8B-B14F-4D97-AF65-F5344CB8AC3E}">
        <p14:creationId xmlns:p14="http://schemas.microsoft.com/office/powerpoint/2010/main" val="16471120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770F8-F6CE-44D0-9535-5802280B3F71}"/>
              </a:ext>
            </a:extLst>
          </p:cNvPr>
          <p:cNvSpPr>
            <a:spLocks noGrp="1"/>
          </p:cNvSpPr>
          <p:nvPr>
            <p:ph type="title"/>
          </p:nvPr>
        </p:nvSpPr>
        <p:spPr/>
        <p:txBody>
          <a:bodyPr/>
          <a:lstStyle/>
          <a:p>
            <a:r>
              <a:rPr lang="en-IN" b="1" dirty="0"/>
              <a:t>Waterfall Model - Application</a:t>
            </a:r>
            <a:br>
              <a:rPr lang="en-IN" b="1" dirty="0"/>
            </a:br>
            <a:endParaRPr lang="en-IN" b="1" dirty="0"/>
          </a:p>
        </p:txBody>
      </p:sp>
      <p:sp>
        <p:nvSpPr>
          <p:cNvPr id="3" name="Content Placeholder 2">
            <a:extLst>
              <a:ext uri="{FF2B5EF4-FFF2-40B4-BE49-F238E27FC236}">
                <a16:creationId xmlns:a16="http://schemas.microsoft.com/office/drawing/2014/main" id="{01407649-6BB8-4A10-9CB4-82E1FE30BB8A}"/>
              </a:ext>
            </a:extLst>
          </p:cNvPr>
          <p:cNvSpPr>
            <a:spLocks noGrp="1"/>
          </p:cNvSpPr>
          <p:nvPr>
            <p:ph idx="1"/>
          </p:nvPr>
        </p:nvSpPr>
        <p:spPr>
          <a:xfrm>
            <a:off x="838200" y="1009650"/>
            <a:ext cx="10515600" cy="5562600"/>
          </a:xfrm>
        </p:spPr>
        <p:txBody>
          <a:bodyPr>
            <a:normAutofit/>
          </a:bodyPr>
          <a:lstStyle/>
          <a:p>
            <a:r>
              <a:rPr lang="en-US" dirty="0"/>
              <a:t>Every software developed is different and requires a suitable SDLC approach to be followed based on the internal and external factors. Some situations where the use of Waterfall model is most appropriate are −</a:t>
            </a:r>
          </a:p>
          <a:p>
            <a:r>
              <a:rPr lang="en-US" dirty="0"/>
              <a:t>Requirements are very well documented, clear and fixed.</a:t>
            </a:r>
          </a:p>
          <a:p>
            <a:r>
              <a:rPr lang="en-US" dirty="0"/>
              <a:t>Product definition is stable.</a:t>
            </a:r>
          </a:p>
          <a:p>
            <a:r>
              <a:rPr lang="en-US" dirty="0"/>
              <a:t>Technology is understood and is not dynamic.</a:t>
            </a:r>
          </a:p>
          <a:p>
            <a:r>
              <a:rPr lang="en-US" dirty="0"/>
              <a:t>There are no ambiguous requirements.</a:t>
            </a:r>
          </a:p>
          <a:p>
            <a:r>
              <a:rPr lang="en-US" dirty="0"/>
              <a:t>Ample resources with required expertise are available to support the product.</a:t>
            </a:r>
          </a:p>
          <a:p>
            <a:r>
              <a:rPr lang="en-US" dirty="0"/>
              <a:t>The project is short.</a:t>
            </a:r>
          </a:p>
          <a:p>
            <a:endParaRPr lang="en-IN" dirty="0"/>
          </a:p>
        </p:txBody>
      </p:sp>
    </p:spTree>
    <p:extLst>
      <p:ext uri="{BB962C8B-B14F-4D97-AF65-F5344CB8AC3E}">
        <p14:creationId xmlns:p14="http://schemas.microsoft.com/office/powerpoint/2010/main" val="2438484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61581-63C8-42FD-B092-CC8FC8C3B365}"/>
              </a:ext>
            </a:extLst>
          </p:cNvPr>
          <p:cNvSpPr>
            <a:spLocks noGrp="1"/>
          </p:cNvSpPr>
          <p:nvPr>
            <p:ph type="title"/>
          </p:nvPr>
        </p:nvSpPr>
        <p:spPr/>
        <p:txBody>
          <a:bodyPr/>
          <a:lstStyle/>
          <a:p>
            <a:r>
              <a:rPr lang="en-IN" dirty="0"/>
              <a:t>Waterfall Model - Advantages</a:t>
            </a:r>
            <a:br>
              <a:rPr lang="en-IN" dirty="0"/>
            </a:br>
            <a:endParaRPr lang="en-IN" dirty="0"/>
          </a:p>
        </p:txBody>
      </p:sp>
      <p:sp>
        <p:nvSpPr>
          <p:cNvPr id="3" name="Content Placeholder 2">
            <a:extLst>
              <a:ext uri="{FF2B5EF4-FFF2-40B4-BE49-F238E27FC236}">
                <a16:creationId xmlns:a16="http://schemas.microsoft.com/office/drawing/2014/main" id="{AEF7B03C-CC3E-49F3-873C-28AE4D181666}"/>
              </a:ext>
            </a:extLst>
          </p:cNvPr>
          <p:cNvSpPr>
            <a:spLocks noGrp="1"/>
          </p:cNvSpPr>
          <p:nvPr>
            <p:ph idx="1"/>
          </p:nvPr>
        </p:nvSpPr>
        <p:spPr>
          <a:xfrm>
            <a:off x="838200" y="1171575"/>
            <a:ext cx="10515600" cy="5005388"/>
          </a:xfrm>
        </p:spPr>
        <p:txBody>
          <a:bodyPr>
            <a:normAutofit/>
          </a:bodyPr>
          <a:lstStyle/>
          <a:p>
            <a:r>
              <a:rPr lang="en-US" sz="3600" dirty="0"/>
              <a:t>The advantages of waterfall development are that it allows for departmentalization and control. A schedule can be set with deadlines for each stage of development and a product can proceed through the development process model phases one by one.</a:t>
            </a:r>
          </a:p>
          <a:p>
            <a:r>
              <a:rPr lang="en-US" sz="3600" dirty="0"/>
              <a:t>Development moves from concept, through design, implementation, testing, installation, troubleshooting, and ends up at operation and maintenance. Each phase of development proceeds in strict order.</a:t>
            </a:r>
          </a:p>
          <a:p>
            <a:endParaRPr lang="en-IN" sz="3600" dirty="0"/>
          </a:p>
        </p:txBody>
      </p:sp>
    </p:spTree>
    <p:extLst>
      <p:ext uri="{BB962C8B-B14F-4D97-AF65-F5344CB8AC3E}">
        <p14:creationId xmlns:p14="http://schemas.microsoft.com/office/powerpoint/2010/main" val="31480690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C6AD1-FAA0-41DD-95C0-72FAB621EF08}"/>
              </a:ext>
            </a:extLst>
          </p:cNvPr>
          <p:cNvSpPr>
            <a:spLocks noGrp="1"/>
          </p:cNvSpPr>
          <p:nvPr>
            <p:ph type="title"/>
          </p:nvPr>
        </p:nvSpPr>
        <p:spPr>
          <a:xfrm>
            <a:off x="838200" y="88900"/>
            <a:ext cx="10515600" cy="1325563"/>
          </a:xfrm>
        </p:spPr>
        <p:txBody>
          <a:bodyPr/>
          <a:lstStyle/>
          <a:p>
            <a:r>
              <a:rPr lang="en-US" dirty="0"/>
              <a:t>Some of the major advantages of the Waterfall Model are as follows −</a:t>
            </a:r>
            <a:endParaRPr lang="en-IN" dirty="0"/>
          </a:p>
        </p:txBody>
      </p:sp>
      <p:sp>
        <p:nvSpPr>
          <p:cNvPr id="3" name="Content Placeholder 2">
            <a:extLst>
              <a:ext uri="{FF2B5EF4-FFF2-40B4-BE49-F238E27FC236}">
                <a16:creationId xmlns:a16="http://schemas.microsoft.com/office/drawing/2014/main" id="{B4701720-7C73-4AC6-8AD6-CACB2AE495BB}"/>
              </a:ext>
            </a:extLst>
          </p:cNvPr>
          <p:cNvSpPr>
            <a:spLocks noGrp="1"/>
          </p:cNvSpPr>
          <p:nvPr>
            <p:ph idx="1"/>
          </p:nvPr>
        </p:nvSpPr>
        <p:spPr>
          <a:xfrm>
            <a:off x="838200" y="1266824"/>
            <a:ext cx="10515600" cy="5591175"/>
          </a:xfrm>
        </p:spPr>
        <p:txBody>
          <a:bodyPr>
            <a:normAutofit/>
          </a:bodyPr>
          <a:lstStyle/>
          <a:p>
            <a:r>
              <a:rPr lang="en-US" sz="3200" dirty="0"/>
              <a:t>Simple and easy to understand and use</a:t>
            </a:r>
          </a:p>
          <a:p>
            <a:r>
              <a:rPr lang="en-US" sz="3200" dirty="0"/>
              <a:t>Easy to manage due to the rigidity of the model. Each phase has specific deliverables and a review process.</a:t>
            </a:r>
          </a:p>
          <a:p>
            <a:r>
              <a:rPr lang="en-US" sz="3200" dirty="0"/>
              <a:t>Phases are processed and completed one at a time.</a:t>
            </a:r>
          </a:p>
          <a:p>
            <a:r>
              <a:rPr lang="en-US" sz="3200" dirty="0"/>
              <a:t>Works well for smaller projects where requirements are very well understood.</a:t>
            </a:r>
          </a:p>
          <a:p>
            <a:r>
              <a:rPr lang="en-US" sz="3200" dirty="0"/>
              <a:t>Clearly defined stages.</a:t>
            </a:r>
          </a:p>
          <a:p>
            <a:r>
              <a:rPr lang="en-US" sz="3200" dirty="0"/>
              <a:t>Well understood milestones.</a:t>
            </a:r>
          </a:p>
          <a:p>
            <a:r>
              <a:rPr lang="en-US" sz="3200" dirty="0"/>
              <a:t>Easy to arrange tasks.</a:t>
            </a:r>
          </a:p>
          <a:p>
            <a:r>
              <a:rPr lang="en-US" sz="3200" dirty="0"/>
              <a:t>Process and results are well documented.</a:t>
            </a:r>
          </a:p>
          <a:p>
            <a:endParaRPr lang="en-IN" sz="3200" dirty="0"/>
          </a:p>
        </p:txBody>
      </p:sp>
    </p:spTree>
    <p:extLst>
      <p:ext uri="{BB962C8B-B14F-4D97-AF65-F5344CB8AC3E}">
        <p14:creationId xmlns:p14="http://schemas.microsoft.com/office/powerpoint/2010/main" val="40652650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D4A91-F426-42BC-83D3-E857BD6D25EC}"/>
              </a:ext>
            </a:extLst>
          </p:cNvPr>
          <p:cNvSpPr>
            <a:spLocks noGrp="1"/>
          </p:cNvSpPr>
          <p:nvPr>
            <p:ph type="title"/>
          </p:nvPr>
        </p:nvSpPr>
        <p:spPr/>
        <p:txBody>
          <a:bodyPr/>
          <a:lstStyle/>
          <a:p>
            <a:r>
              <a:rPr lang="en-IN" dirty="0"/>
              <a:t>Waterfall Model - Disadvantages</a:t>
            </a:r>
            <a:br>
              <a:rPr lang="en-IN" dirty="0"/>
            </a:br>
            <a:endParaRPr lang="en-IN" dirty="0"/>
          </a:p>
        </p:txBody>
      </p:sp>
      <p:sp>
        <p:nvSpPr>
          <p:cNvPr id="3" name="Content Placeholder 2">
            <a:extLst>
              <a:ext uri="{FF2B5EF4-FFF2-40B4-BE49-F238E27FC236}">
                <a16:creationId xmlns:a16="http://schemas.microsoft.com/office/drawing/2014/main" id="{E4253A30-7A3F-43BC-A57A-C0265FADB73D}"/>
              </a:ext>
            </a:extLst>
          </p:cNvPr>
          <p:cNvSpPr>
            <a:spLocks noGrp="1"/>
          </p:cNvSpPr>
          <p:nvPr>
            <p:ph idx="1"/>
          </p:nvPr>
        </p:nvSpPr>
        <p:spPr/>
        <p:txBody>
          <a:bodyPr>
            <a:normAutofit/>
          </a:bodyPr>
          <a:lstStyle/>
          <a:p>
            <a:r>
              <a:rPr lang="en-US" sz="4000" dirty="0"/>
              <a:t>The disadvantage of waterfall development is that it does not allow much reflection or revision. Once an application is in the testing stage, it is very difficult to go back and change something that was not well-documented or thought upon in the concept stage.</a:t>
            </a:r>
            <a:endParaRPr lang="en-IN" sz="4000" dirty="0"/>
          </a:p>
        </p:txBody>
      </p:sp>
    </p:spTree>
    <p:extLst>
      <p:ext uri="{BB962C8B-B14F-4D97-AF65-F5344CB8AC3E}">
        <p14:creationId xmlns:p14="http://schemas.microsoft.com/office/powerpoint/2010/main" val="26574206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2C79D-1DC8-496D-BA95-B634003F474A}"/>
              </a:ext>
            </a:extLst>
          </p:cNvPr>
          <p:cNvSpPr>
            <a:spLocks noGrp="1"/>
          </p:cNvSpPr>
          <p:nvPr>
            <p:ph type="title"/>
          </p:nvPr>
        </p:nvSpPr>
        <p:spPr/>
        <p:txBody>
          <a:bodyPr/>
          <a:lstStyle/>
          <a:p>
            <a:r>
              <a:rPr lang="en-US"/>
              <a:t>The major disadvantages of the Waterfall Model are as follows −</a:t>
            </a:r>
            <a:endParaRPr lang="en-IN"/>
          </a:p>
        </p:txBody>
      </p:sp>
      <p:sp>
        <p:nvSpPr>
          <p:cNvPr id="3" name="Content Placeholder 2">
            <a:extLst>
              <a:ext uri="{FF2B5EF4-FFF2-40B4-BE49-F238E27FC236}">
                <a16:creationId xmlns:a16="http://schemas.microsoft.com/office/drawing/2014/main" id="{EDAA5AB2-3EA9-41AA-B876-C44C9E3A3823}"/>
              </a:ext>
            </a:extLst>
          </p:cNvPr>
          <p:cNvSpPr>
            <a:spLocks noGrp="1"/>
          </p:cNvSpPr>
          <p:nvPr>
            <p:ph idx="1"/>
          </p:nvPr>
        </p:nvSpPr>
        <p:spPr>
          <a:xfrm>
            <a:off x="838200" y="1606549"/>
            <a:ext cx="10515600" cy="5365751"/>
          </a:xfrm>
        </p:spPr>
        <p:txBody>
          <a:bodyPr>
            <a:normAutofit lnSpcReduction="10000"/>
          </a:bodyPr>
          <a:lstStyle/>
          <a:p>
            <a:r>
              <a:rPr lang="en-US" sz="3200" dirty="0"/>
              <a:t>No working software is produced until late during the life cycle.</a:t>
            </a:r>
          </a:p>
          <a:p>
            <a:r>
              <a:rPr lang="en-US" sz="3200" dirty="0"/>
              <a:t>High amounts of risk and uncertainty.</a:t>
            </a:r>
          </a:p>
          <a:p>
            <a:r>
              <a:rPr lang="en-US" sz="3200" dirty="0"/>
              <a:t>Not a good model for complex and object-oriented projects.</a:t>
            </a:r>
          </a:p>
          <a:p>
            <a:r>
              <a:rPr lang="en-US" sz="3200" dirty="0"/>
              <a:t>Poor model for long and ongoing projects.</a:t>
            </a:r>
          </a:p>
          <a:p>
            <a:r>
              <a:rPr lang="en-US" sz="3200" dirty="0"/>
              <a:t>Not suitable for the projects where requirements are at a moderate to high risk of changing. So, risk and uncertainty is high with this process model.</a:t>
            </a:r>
          </a:p>
          <a:p>
            <a:r>
              <a:rPr lang="en-US" sz="3200" dirty="0"/>
              <a:t>It is difficult to measure progress within stages.</a:t>
            </a:r>
          </a:p>
          <a:p>
            <a:r>
              <a:rPr lang="en-US" sz="3200" dirty="0"/>
              <a:t>Cannot accommodate changing requirements.</a:t>
            </a:r>
          </a:p>
          <a:p>
            <a:r>
              <a:rPr lang="en-US" sz="3200" dirty="0"/>
              <a:t>Adjusting scope during the life cycle can end a project.</a:t>
            </a:r>
          </a:p>
          <a:p>
            <a:endParaRPr lang="en-IN" sz="3200" dirty="0"/>
          </a:p>
        </p:txBody>
      </p:sp>
    </p:spTree>
    <p:extLst>
      <p:ext uri="{BB962C8B-B14F-4D97-AF65-F5344CB8AC3E}">
        <p14:creationId xmlns:p14="http://schemas.microsoft.com/office/powerpoint/2010/main" val="9567285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8958A-5145-23E3-F5A7-0649A19D54A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FC1F734-929C-9A29-8040-30D59D2EE75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6706663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A04AB-BACB-4E1A-A890-7975491E39EC}"/>
              </a:ext>
            </a:extLst>
          </p:cNvPr>
          <p:cNvSpPr>
            <a:spLocks noGrp="1"/>
          </p:cNvSpPr>
          <p:nvPr>
            <p:ph type="ctrTitle"/>
          </p:nvPr>
        </p:nvSpPr>
        <p:spPr/>
        <p:txBody>
          <a:bodyPr/>
          <a:lstStyle/>
          <a:p>
            <a:r>
              <a:rPr lang="en-IN" b="1" dirty="0"/>
              <a:t>Spiral Model</a:t>
            </a:r>
            <a:br>
              <a:rPr lang="en-IN" b="1" dirty="0"/>
            </a:br>
            <a:endParaRPr lang="en-IN" dirty="0"/>
          </a:p>
        </p:txBody>
      </p:sp>
      <p:sp>
        <p:nvSpPr>
          <p:cNvPr id="3" name="Subtitle 2">
            <a:extLst>
              <a:ext uri="{FF2B5EF4-FFF2-40B4-BE49-F238E27FC236}">
                <a16:creationId xmlns:a16="http://schemas.microsoft.com/office/drawing/2014/main" id="{05A27EDD-A78B-42C5-9178-1CDF19BFE81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8442822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B98DD5-FB75-43D2-A8A9-4C791025E407}"/>
              </a:ext>
            </a:extLst>
          </p:cNvPr>
          <p:cNvSpPr>
            <a:spLocks noGrp="1"/>
          </p:cNvSpPr>
          <p:nvPr>
            <p:ph idx="1"/>
          </p:nvPr>
        </p:nvSpPr>
        <p:spPr>
          <a:xfrm>
            <a:off x="742950" y="0"/>
            <a:ext cx="10515600" cy="6591300"/>
          </a:xfrm>
        </p:spPr>
        <p:txBody>
          <a:bodyPr>
            <a:normAutofit/>
          </a:bodyPr>
          <a:lstStyle/>
          <a:p>
            <a:r>
              <a:rPr lang="en-US" sz="3200" b="1" dirty="0"/>
              <a:t>Spiral model</a:t>
            </a:r>
            <a:r>
              <a:rPr lang="en-US" sz="3200" dirty="0"/>
              <a:t> is one of the most important Software Development Life Cycle models, which provides support for </a:t>
            </a:r>
            <a:r>
              <a:rPr lang="en-US" sz="3200" b="1" dirty="0"/>
              <a:t>Risk Handling</a:t>
            </a:r>
            <a:r>
              <a:rPr lang="en-US" sz="3200" dirty="0"/>
              <a:t>. In its diagrammatic representation, it looks like a spiral with many loops.</a:t>
            </a:r>
          </a:p>
          <a:p>
            <a:r>
              <a:rPr lang="en-US" sz="3200" dirty="0"/>
              <a:t>The exact number of loops of the spiral is unknown and can vary from project to project. Each loop of the spiral is called a </a:t>
            </a:r>
            <a:r>
              <a:rPr lang="en-US" sz="3200" b="1" dirty="0"/>
              <a:t>Phase of the software development process.</a:t>
            </a:r>
          </a:p>
          <a:p>
            <a:r>
              <a:rPr lang="en-US" sz="3200" dirty="0"/>
              <a:t>The exact number of phases needed to develop the product can be varied by the project manager depending upon the project risks. </a:t>
            </a:r>
          </a:p>
          <a:p>
            <a:r>
              <a:rPr lang="en-US" sz="3200" dirty="0"/>
              <a:t>As the project manager dynamically determines the number of phases, so the project manager has an important role to develop a product using the spiral model. </a:t>
            </a:r>
            <a:endParaRPr lang="en-IN" sz="3200" dirty="0"/>
          </a:p>
        </p:txBody>
      </p:sp>
    </p:spTree>
    <p:extLst>
      <p:ext uri="{BB962C8B-B14F-4D97-AF65-F5344CB8AC3E}">
        <p14:creationId xmlns:p14="http://schemas.microsoft.com/office/powerpoint/2010/main" val="2790030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87BDCC-96F0-4A7E-B714-B8F423748B8B}"/>
              </a:ext>
            </a:extLst>
          </p:cNvPr>
          <p:cNvSpPr>
            <a:spLocks noGrp="1"/>
          </p:cNvSpPr>
          <p:nvPr>
            <p:ph idx="1"/>
          </p:nvPr>
        </p:nvSpPr>
        <p:spPr/>
        <p:txBody>
          <a:bodyPr>
            <a:normAutofit/>
          </a:bodyPr>
          <a:lstStyle/>
          <a:p>
            <a:r>
              <a:rPr lang="en-US" sz="4000" dirty="0"/>
              <a:t>The Radius of the spiral at any point represents the expenses(cost) of the project so far, and the angular dimension represents the progress made so far in the current phase. </a:t>
            </a:r>
            <a:endParaRPr lang="en-IN" sz="4000" dirty="0"/>
          </a:p>
        </p:txBody>
      </p:sp>
    </p:spTree>
    <p:extLst>
      <p:ext uri="{BB962C8B-B14F-4D97-AF65-F5344CB8AC3E}">
        <p14:creationId xmlns:p14="http://schemas.microsoft.com/office/powerpoint/2010/main" val="14186422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descr="Lightbox">
            <a:extLst>
              <a:ext uri="{FF2B5EF4-FFF2-40B4-BE49-F238E27FC236}">
                <a16:creationId xmlns:a16="http://schemas.microsoft.com/office/drawing/2014/main" id="{DE1A27DA-BA04-455B-A923-1DE168FB797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28825" y="247894"/>
            <a:ext cx="8039100" cy="6610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42405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E8854-7ABE-4CC9-939E-DE840B9ECFFA}"/>
              </a:ext>
            </a:extLst>
          </p:cNvPr>
          <p:cNvSpPr>
            <a:spLocks noGrp="1"/>
          </p:cNvSpPr>
          <p:nvPr>
            <p:ph type="title"/>
          </p:nvPr>
        </p:nvSpPr>
        <p:spPr/>
        <p:txBody>
          <a:bodyPr>
            <a:noAutofit/>
          </a:bodyPr>
          <a:lstStyle/>
          <a:p>
            <a:r>
              <a:rPr lang="en-US" sz="3600" dirty="0"/>
              <a:t>Each phase of the Spiral Model is divided into four quadrants as shown in the above figure. The functions of these four quadrants are discussed below- </a:t>
            </a:r>
            <a:endParaRPr lang="en-IN" sz="3600" dirty="0"/>
          </a:p>
        </p:txBody>
      </p:sp>
      <p:sp>
        <p:nvSpPr>
          <p:cNvPr id="3" name="Content Placeholder 2">
            <a:extLst>
              <a:ext uri="{FF2B5EF4-FFF2-40B4-BE49-F238E27FC236}">
                <a16:creationId xmlns:a16="http://schemas.microsoft.com/office/drawing/2014/main" id="{EF9FEED1-C926-4D13-ADAA-50FC01E7EBF7}"/>
              </a:ext>
            </a:extLst>
          </p:cNvPr>
          <p:cNvSpPr>
            <a:spLocks noGrp="1"/>
          </p:cNvSpPr>
          <p:nvPr>
            <p:ph idx="1"/>
          </p:nvPr>
        </p:nvSpPr>
        <p:spPr>
          <a:xfrm>
            <a:off x="590550" y="2506662"/>
            <a:ext cx="10515600" cy="4351338"/>
          </a:xfrm>
        </p:spPr>
        <p:txBody>
          <a:bodyPr>
            <a:normAutofit/>
          </a:bodyPr>
          <a:lstStyle/>
          <a:p>
            <a:pPr marL="0" indent="0">
              <a:buNone/>
            </a:pPr>
            <a:r>
              <a:rPr lang="en-US" sz="4000" b="1" dirty="0"/>
              <a:t>1.Objectives determination and identify alternative solutions:</a:t>
            </a:r>
            <a:r>
              <a:rPr lang="en-US" sz="4000" dirty="0"/>
              <a:t> Requirements are gathered from the customers and the objectives are identified, elaborated, and analyzed at the start of every phase. Then alternative solutions possible for the phase are proposed in this quadrant.</a:t>
            </a:r>
          </a:p>
          <a:p>
            <a:endParaRPr lang="en-IN" sz="4000" dirty="0"/>
          </a:p>
        </p:txBody>
      </p:sp>
    </p:spTree>
    <p:extLst>
      <p:ext uri="{BB962C8B-B14F-4D97-AF65-F5344CB8AC3E}">
        <p14:creationId xmlns:p14="http://schemas.microsoft.com/office/powerpoint/2010/main" val="7988777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E9B99A-B4C1-4F8D-9637-88A62FA30420}"/>
              </a:ext>
            </a:extLst>
          </p:cNvPr>
          <p:cNvSpPr>
            <a:spLocks noGrp="1"/>
          </p:cNvSpPr>
          <p:nvPr>
            <p:ph idx="1"/>
          </p:nvPr>
        </p:nvSpPr>
        <p:spPr/>
        <p:txBody>
          <a:bodyPr>
            <a:normAutofit/>
          </a:bodyPr>
          <a:lstStyle/>
          <a:p>
            <a:pPr marL="0" indent="0">
              <a:buNone/>
            </a:pPr>
            <a:r>
              <a:rPr lang="en-US" sz="3600" b="1" dirty="0"/>
              <a:t>2.Identify and resolve Risks:</a:t>
            </a:r>
            <a:r>
              <a:rPr lang="en-US" sz="3600" dirty="0"/>
              <a:t> During the second quadrant, all the possible solutions are evaluated to select the best possible solution. Then the risks associated with that solution are identified and the risks are resolved using the best possible strategy. At the end of this quadrant, the Prototype is built for the best possible solution.</a:t>
            </a:r>
          </a:p>
          <a:p>
            <a:endParaRPr lang="en-IN" sz="3600" dirty="0"/>
          </a:p>
        </p:txBody>
      </p:sp>
    </p:spTree>
    <p:extLst>
      <p:ext uri="{BB962C8B-B14F-4D97-AF65-F5344CB8AC3E}">
        <p14:creationId xmlns:p14="http://schemas.microsoft.com/office/powerpoint/2010/main" val="34666271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75CAD4-5128-4FA2-B374-620228F6E2D6}"/>
              </a:ext>
            </a:extLst>
          </p:cNvPr>
          <p:cNvSpPr>
            <a:spLocks noGrp="1"/>
          </p:cNvSpPr>
          <p:nvPr>
            <p:ph idx="1"/>
          </p:nvPr>
        </p:nvSpPr>
        <p:spPr/>
        <p:txBody>
          <a:bodyPr>
            <a:normAutofit/>
          </a:bodyPr>
          <a:lstStyle/>
          <a:p>
            <a:pPr marL="0" indent="0">
              <a:buNone/>
            </a:pPr>
            <a:r>
              <a:rPr lang="en-US" sz="4400" b="1" dirty="0"/>
              <a:t>3.Develop next version of the Product:</a:t>
            </a:r>
            <a:r>
              <a:rPr lang="en-US" sz="4400" dirty="0"/>
              <a:t> During the third quadrant, the identified features are developed and verified through testing. At the end of the third quadrant, the next version of the software is available.</a:t>
            </a:r>
          </a:p>
          <a:p>
            <a:endParaRPr lang="en-IN" sz="4400" dirty="0"/>
          </a:p>
        </p:txBody>
      </p:sp>
    </p:spTree>
    <p:extLst>
      <p:ext uri="{BB962C8B-B14F-4D97-AF65-F5344CB8AC3E}">
        <p14:creationId xmlns:p14="http://schemas.microsoft.com/office/powerpoint/2010/main" val="6172052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E9995E-F75B-4C6A-8F5A-5E80DF229836}"/>
              </a:ext>
            </a:extLst>
          </p:cNvPr>
          <p:cNvSpPr>
            <a:spLocks noGrp="1"/>
          </p:cNvSpPr>
          <p:nvPr>
            <p:ph idx="1"/>
          </p:nvPr>
        </p:nvSpPr>
        <p:spPr/>
        <p:txBody>
          <a:bodyPr>
            <a:normAutofit/>
          </a:bodyPr>
          <a:lstStyle/>
          <a:p>
            <a:pPr marL="0" indent="0">
              <a:buNone/>
            </a:pPr>
            <a:r>
              <a:rPr lang="en-US" sz="4400" dirty="0"/>
              <a:t>4.</a:t>
            </a:r>
            <a:r>
              <a:rPr lang="en-US" sz="4400" b="1" dirty="0"/>
              <a:t> Review and plan for the next Phase:</a:t>
            </a:r>
            <a:r>
              <a:rPr lang="en-US" sz="4400" dirty="0"/>
              <a:t> In the fourth quadrant, the Customers evaluate the so far developed version of the software. In the end, planning for the next phase is started.</a:t>
            </a:r>
          </a:p>
          <a:p>
            <a:pPr marL="0" indent="0">
              <a:buNone/>
            </a:pPr>
            <a:endParaRPr lang="en-IN" sz="4400" dirty="0"/>
          </a:p>
        </p:txBody>
      </p:sp>
    </p:spTree>
    <p:extLst>
      <p:ext uri="{BB962C8B-B14F-4D97-AF65-F5344CB8AC3E}">
        <p14:creationId xmlns:p14="http://schemas.microsoft.com/office/powerpoint/2010/main" val="7459741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480F0-E5E3-4B6A-8416-B125ACBC61CB}"/>
              </a:ext>
            </a:extLst>
          </p:cNvPr>
          <p:cNvSpPr>
            <a:spLocks noGrp="1"/>
          </p:cNvSpPr>
          <p:nvPr>
            <p:ph type="title"/>
          </p:nvPr>
        </p:nvSpPr>
        <p:spPr/>
        <p:txBody>
          <a:bodyPr/>
          <a:lstStyle/>
          <a:p>
            <a:r>
              <a:rPr lang="sv-SE" b="1" dirty="0"/>
              <a:t>Risk Handling in Spiral Model</a:t>
            </a:r>
            <a:endParaRPr lang="en-IN" dirty="0"/>
          </a:p>
        </p:txBody>
      </p:sp>
      <p:sp>
        <p:nvSpPr>
          <p:cNvPr id="3" name="Content Placeholder 2">
            <a:extLst>
              <a:ext uri="{FF2B5EF4-FFF2-40B4-BE49-F238E27FC236}">
                <a16:creationId xmlns:a16="http://schemas.microsoft.com/office/drawing/2014/main" id="{9428663E-3298-4661-B1DA-AE5A1A85D6AB}"/>
              </a:ext>
            </a:extLst>
          </p:cNvPr>
          <p:cNvSpPr>
            <a:spLocks noGrp="1"/>
          </p:cNvSpPr>
          <p:nvPr>
            <p:ph idx="1"/>
          </p:nvPr>
        </p:nvSpPr>
        <p:spPr>
          <a:xfrm>
            <a:off x="838200" y="1825624"/>
            <a:ext cx="10515600" cy="4918075"/>
          </a:xfrm>
        </p:spPr>
        <p:txBody>
          <a:bodyPr>
            <a:normAutofit lnSpcReduction="10000"/>
          </a:bodyPr>
          <a:lstStyle/>
          <a:p>
            <a:r>
              <a:rPr lang="en-US" sz="3600" dirty="0"/>
              <a:t>A risk is any adverse situation that might affect the successful completion of a software project. </a:t>
            </a:r>
          </a:p>
          <a:p>
            <a:r>
              <a:rPr lang="en-US" sz="3600" dirty="0"/>
              <a:t>The most important feature of the spiral model is handling these unknown risks after the project has started. </a:t>
            </a:r>
          </a:p>
          <a:p>
            <a:r>
              <a:rPr lang="en-US" sz="3600" dirty="0"/>
              <a:t>Such risk resolutions are easier done by developing a prototype. </a:t>
            </a:r>
          </a:p>
          <a:p>
            <a:r>
              <a:rPr lang="en-US" sz="3600" dirty="0"/>
              <a:t>The spiral model supports coping up with risks by providing the scope to build a prototype at every phase of the software development. </a:t>
            </a:r>
            <a:endParaRPr lang="en-IN" sz="3600" dirty="0"/>
          </a:p>
        </p:txBody>
      </p:sp>
    </p:spTree>
    <p:extLst>
      <p:ext uri="{BB962C8B-B14F-4D97-AF65-F5344CB8AC3E}">
        <p14:creationId xmlns:p14="http://schemas.microsoft.com/office/powerpoint/2010/main" val="7253055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7B81C-4636-4FCE-83E7-B41B30D17E94}"/>
              </a:ext>
            </a:extLst>
          </p:cNvPr>
          <p:cNvSpPr>
            <a:spLocks noGrp="1"/>
          </p:cNvSpPr>
          <p:nvPr>
            <p:ph type="title"/>
          </p:nvPr>
        </p:nvSpPr>
        <p:spPr/>
        <p:txBody>
          <a:bodyPr/>
          <a:lstStyle/>
          <a:p>
            <a:r>
              <a:rPr lang="en-IN" b="1" dirty="0"/>
              <a:t>Advantages of Spiral Model</a:t>
            </a:r>
            <a:r>
              <a:rPr lang="en-IN" dirty="0"/>
              <a:t>: </a:t>
            </a:r>
          </a:p>
        </p:txBody>
      </p:sp>
      <p:sp>
        <p:nvSpPr>
          <p:cNvPr id="3" name="Content Placeholder 2">
            <a:extLst>
              <a:ext uri="{FF2B5EF4-FFF2-40B4-BE49-F238E27FC236}">
                <a16:creationId xmlns:a16="http://schemas.microsoft.com/office/drawing/2014/main" id="{6E67D953-2A4D-40A1-B848-75A839C6D301}"/>
              </a:ext>
            </a:extLst>
          </p:cNvPr>
          <p:cNvSpPr>
            <a:spLocks noGrp="1"/>
          </p:cNvSpPr>
          <p:nvPr>
            <p:ph idx="1"/>
          </p:nvPr>
        </p:nvSpPr>
        <p:spPr>
          <a:xfrm>
            <a:off x="838200" y="1825625"/>
            <a:ext cx="10515600" cy="4927600"/>
          </a:xfrm>
        </p:spPr>
        <p:txBody>
          <a:bodyPr>
            <a:normAutofit lnSpcReduction="10000"/>
          </a:bodyPr>
          <a:lstStyle/>
          <a:p>
            <a:pPr fontAlgn="base"/>
            <a:r>
              <a:rPr lang="en-US" b="1" dirty="0"/>
              <a:t>Risk Handling:</a:t>
            </a:r>
            <a:r>
              <a:rPr lang="en-US" dirty="0"/>
              <a:t> The projects with many unknown risks that occur as the development proceeds, in that case, Spiral Model is the best development model to follow due to the risk analysis and risk handling at every phase.</a:t>
            </a:r>
          </a:p>
          <a:p>
            <a:pPr fontAlgn="base"/>
            <a:r>
              <a:rPr lang="en-US" b="1" dirty="0"/>
              <a:t>Good for large projects:</a:t>
            </a:r>
            <a:r>
              <a:rPr lang="en-US" dirty="0"/>
              <a:t> It is recommended to use the Spiral Model in large and complex projects.</a:t>
            </a:r>
          </a:p>
          <a:p>
            <a:pPr fontAlgn="base"/>
            <a:r>
              <a:rPr lang="en-US" b="1" dirty="0"/>
              <a:t>Flexibility in Requirements:</a:t>
            </a:r>
            <a:r>
              <a:rPr lang="en-US" dirty="0"/>
              <a:t> Change requests in the Requirements at later phase can be incorporated accurately by using this model.</a:t>
            </a:r>
          </a:p>
          <a:p>
            <a:pPr fontAlgn="base"/>
            <a:r>
              <a:rPr lang="en-US" b="1" dirty="0"/>
              <a:t>Customer Satisfaction:</a:t>
            </a:r>
            <a:r>
              <a:rPr lang="en-US" dirty="0"/>
              <a:t> Customer can see the development of the product at the early phase of the software development and thus, they habituated with the system by using it before completion of the total product.</a:t>
            </a:r>
          </a:p>
          <a:p>
            <a:endParaRPr lang="en-IN" dirty="0"/>
          </a:p>
        </p:txBody>
      </p:sp>
    </p:spTree>
    <p:extLst>
      <p:ext uri="{BB962C8B-B14F-4D97-AF65-F5344CB8AC3E}">
        <p14:creationId xmlns:p14="http://schemas.microsoft.com/office/powerpoint/2010/main" val="3355662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EBB89-33E2-4579-9823-09DDAE2A7D62}"/>
              </a:ext>
            </a:extLst>
          </p:cNvPr>
          <p:cNvSpPr>
            <a:spLocks noGrp="1"/>
          </p:cNvSpPr>
          <p:nvPr>
            <p:ph type="title"/>
          </p:nvPr>
        </p:nvSpPr>
        <p:spPr/>
        <p:txBody>
          <a:bodyPr/>
          <a:lstStyle/>
          <a:p>
            <a:r>
              <a:rPr lang="en-IN" b="1" dirty="0"/>
              <a:t>Disadvantages of Spiral Model</a:t>
            </a:r>
            <a:r>
              <a:rPr lang="en-IN" dirty="0"/>
              <a:t>: </a:t>
            </a:r>
          </a:p>
        </p:txBody>
      </p:sp>
      <p:sp>
        <p:nvSpPr>
          <p:cNvPr id="3" name="Content Placeholder 2">
            <a:extLst>
              <a:ext uri="{FF2B5EF4-FFF2-40B4-BE49-F238E27FC236}">
                <a16:creationId xmlns:a16="http://schemas.microsoft.com/office/drawing/2014/main" id="{1F862296-5B5A-423B-ACB8-A47082746C3B}"/>
              </a:ext>
            </a:extLst>
          </p:cNvPr>
          <p:cNvSpPr>
            <a:spLocks noGrp="1"/>
          </p:cNvSpPr>
          <p:nvPr>
            <p:ph idx="1"/>
          </p:nvPr>
        </p:nvSpPr>
        <p:spPr>
          <a:xfrm>
            <a:off x="838200" y="1552576"/>
            <a:ext cx="10515600" cy="5153024"/>
          </a:xfrm>
        </p:spPr>
        <p:txBody>
          <a:bodyPr>
            <a:normAutofit lnSpcReduction="10000"/>
          </a:bodyPr>
          <a:lstStyle/>
          <a:p>
            <a:pPr fontAlgn="base"/>
            <a:r>
              <a:rPr lang="en-US" sz="3200" b="1" dirty="0"/>
              <a:t>Complex:</a:t>
            </a:r>
            <a:r>
              <a:rPr lang="en-US" sz="3200" dirty="0"/>
              <a:t> The Spiral Model is much more complex than other SDLC models.</a:t>
            </a:r>
          </a:p>
          <a:p>
            <a:pPr fontAlgn="base"/>
            <a:r>
              <a:rPr lang="en-US" sz="3200" b="1" dirty="0"/>
              <a:t>Expensive:</a:t>
            </a:r>
            <a:r>
              <a:rPr lang="en-US" sz="3200" dirty="0"/>
              <a:t> Spiral Model is not suitable for small projects as it is expensive.</a:t>
            </a:r>
          </a:p>
          <a:p>
            <a:pPr fontAlgn="base"/>
            <a:r>
              <a:rPr lang="en-US" sz="3200" b="1" dirty="0"/>
              <a:t>Too much dependability on Risk Analysis:</a:t>
            </a:r>
            <a:r>
              <a:rPr lang="en-US" sz="3200" dirty="0"/>
              <a:t> The successful completion of the project is very much dependent on Risk Analysis. Without very highly experienced experts, it is going to be a failure to develop a project using this model.</a:t>
            </a:r>
          </a:p>
          <a:p>
            <a:pPr fontAlgn="base"/>
            <a:r>
              <a:rPr lang="en-US" sz="3200" b="1" dirty="0"/>
              <a:t>Difficulty in time management:</a:t>
            </a:r>
            <a:r>
              <a:rPr lang="en-US" sz="3200" dirty="0"/>
              <a:t> As the number of phases is unknown at the start of the project, so time estimation is very difficult.</a:t>
            </a:r>
          </a:p>
          <a:p>
            <a:endParaRPr lang="en-IN" sz="3200" dirty="0"/>
          </a:p>
        </p:txBody>
      </p:sp>
    </p:spTree>
    <p:extLst>
      <p:ext uri="{BB962C8B-B14F-4D97-AF65-F5344CB8AC3E}">
        <p14:creationId xmlns:p14="http://schemas.microsoft.com/office/powerpoint/2010/main" val="15655596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892D7-18C6-4AAB-8ECF-BEE81A031376}"/>
              </a:ext>
            </a:extLst>
          </p:cNvPr>
          <p:cNvSpPr>
            <a:spLocks noGrp="1"/>
          </p:cNvSpPr>
          <p:nvPr>
            <p:ph type="title"/>
          </p:nvPr>
        </p:nvSpPr>
        <p:spPr/>
        <p:txBody>
          <a:bodyPr/>
          <a:lstStyle/>
          <a:p>
            <a:r>
              <a:rPr lang="en-IN" b="1" dirty="0"/>
              <a:t>Prototyping Model</a:t>
            </a:r>
            <a:br>
              <a:rPr lang="en-IN" b="1" dirty="0"/>
            </a:br>
            <a:endParaRPr lang="en-IN" dirty="0"/>
          </a:p>
        </p:txBody>
      </p:sp>
      <p:sp>
        <p:nvSpPr>
          <p:cNvPr id="3" name="Content Placeholder 2">
            <a:extLst>
              <a:ext uri="{FF2B5EF4-FFF2-40B4-BE49-F238E27FC236}">
                <a16:creationId xmlns:a16="http://schemas.microsoft.com/office/drawing/2014/main" id="{098073E6-F4DF-4774-8E6E-FD7E51F1FA3D}"/>
              </a:ext>
            </a:extLst>
          </p:cNvPr>
          <p:cNvSpPr>
            <a:spLocks noGrp="1"/>
          </p:cNvSpPr>
          <p:nvPr>
            <p:ph idx="1"/>
          </p:nvPr>
        </p:nvSpPr>
        <p:spPr/>
        <p:txBody>
          <a:bodyPr>
            <a:normAutofit/>
          </a:bodyPr>
          <a:lstStyle/>
          <a:p>
            <a:r>
              <a:rPr lang="en-US" sz="4000" dirty="0"/>
              <a:t>Prototyping is defined as the process of developing a working replication of a product or system that has to be engineered. It offers a small scale facsimile of the end product and is used for obtaining customer feedback as described below: </a:t>
            </a:r>
            <a:endParaRPr lang="en-IN" sz="4000" dirty="0"/>
          </a:p>
        </p:txBody>
      </p:sp>
    </p:spTree>
    <p:extLst>
      <p:ext uri="{BB962C8B-B14F-4D97-AF65-F5344CB8AC3E}">
        <p14:creationId xmlns:p14="http://schemas.microsoft.com/office/powerpoint/2010/main" val="35506122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media.geeksforgeeks.org/wp-content/uploads/PrototypingConcept.jpg">
            <a:extLst>
              <a:ext uri="{FF2B5EF4-FFF2-40B4-BE49-F238E27FC236}">
                <a16:creationId xmlns:a16="http://schemas.microsoft.com/office/drawing/2014/main" id="{73A2F79F-9B97-4585-AD5C-B9013B3EC4D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2701" y="1825625"/>
            <a:ext cx="930659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68670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BFB2EF-2029-48D9-AF20-48FA5C573F57}"/>
              </a:ext>
            </a:extLst>
          </p:cNvPr>
          <p:cNvSpPr>
            <a:spLocks noGrp="1"/>
          </p:cNvSpPr>
          <p:nvPr>
            <p:ph idx="1"/>
          </p:nvPr>
        </p:nvSpPr>
        <p:spPr>
          <a:xfrm>
            <a:off x="914400" y="819150"/>
            <a:ext cx="10439400" cy="5357813"/>
          </a:xfrm>
        </p:spPr>
        <p:txBody>
          <a:bodyPr>
            <a:normAutofit/>
          </a:bodyPr>
          <a:lstStyle/>
          <a:p>
            <a:r>
              <a:rPr lang="en-US" sz="3600" dirty="0"/>
              <a:t>The Prototyping Model is one of the most popularly used Software Development Life Cycle Models (SDLC models). </a:t>
            </a:r>
          </a:p>
          <a:p>
            <a:r>
              <a:rPr lang="en-US" sz="3600" dirty="0"/>
              <a:t>This model is used when the customers do not know the exact project requirements beforehand. </a:t>
            </a:r>
          </a:p>
          <a:p>
            <a:r>
              <a:rPr lang="en-US" sz="3600" dirty="0"/>
              <a:t>In this model, a prototype of the end product is first developed, tested and refined as per customer feedback repeatedly till a final acceptable prototype is achieved which forms the basis for developing the final product. </a:t>
            </a:r>
            <a:endParaRPr lang="en-IN" sz="3600" dirty="0"/>
          </a:p>
        </p:txBody>
      </p:sp>
    </p:spTree>
    <p:extLst>
      <p:ext uri="{BB962C8B-B14F-4D97-AF65-F5344CB8AC3E}">
        <p14:creationId xmlns:p14="http://schemas.microsoft.com/office/powerpoint/2010/main" val="6463920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BF62F1-9878-4FAE-B867-0EDCF4035D1E}"/>
              </a:ext>
            </a:extLst>
          </p:cNvPr>
          <p:cNvSpPr>
            <a:spLocks noGrp="1"/>
          </p:cNvSpPr>
          <p:nvPr>
            <p:ph idx="1"/>
          </p:nvPr>
        </p:nvSpPr>
        <p:spPr>
          <a:xfrm>
            <a:off x="762000" y="266700"/>
            <a:ext cx="10591799" cy="6053138"/>
          </a:xfrm>
        </p:spPr>
        <p:txBody>
          <a:bodyPr>
            <a:normAutofit lnSpcReduction="10000"/>
          </a:bodyPr>
          <a:lstStyle/>
          <a:p>
            <a:r>
              <a:rPr lang="en-US" sz="3200" dirty="0"/>
              <a:t>In this process model, the system is partially implemented before or during the analysis phase thereby giving the customers an opportunity to see the product early in the life cycle. </a:t>
            </a:r>
          </a:p>
          <a:p>
            <a:r>
              <a:rPr lang="en-US" sz="3200" dirty="0"/>
              <a:t>The process starts by interviewing the customers and developing the incomplete high-level paper model. </a:t>
            </a:r>
          </a:p>
          <a:p>
            <a:r>
              <a:rPr lang="en-US" sz="3200" dirty="0"/>
              <a:t>This document is used to build the initial prototype supporting only the basic functionality as desired by the customer. </a:t>
            </a:r>
          </a:p>
          <a:p>
            <a:r>
              <a:rPr lang="en-US" sz="3200" dirty="0"/>
              <a:t>Once the customer figures out the problems, the prototype is further refined to eliminate them.</a:t>
            </a:r>
          </a:p>
          <a:p>
            <a:r>
              <a:rPr lang="en-US" sz="3200" dirty="0"/>
              <a:t> The process continues until the user approves the prototype and finds the working model to be satisfactory. </a:t>
            </a:r>
            <a:endParaRPr lang="en-IN" sz="3200" dirty="0"/>
          </a:p>
        </p:txBody>
      </p:sp>
    </p:spTree>
    <p:extLst>
      <p:ext uri="{BB962C8B-B14F-4D97-AF65-F5344CB8AC3E}">
        <p14:creationId xmlns:p14="http://schemas.microsoft.com/office/powerpoint/2010/main" val="16893237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80467-4D8F-4DEB-B23F-5918727BC846}"/>
              </a:ext>
            </a:extLst>
          </p:cNvPr>
          <p:cNvSpPr>
            <a:spLocks noGrp="1"/>
          </p:cNvSpPr>
          <p:nvPr>
            <p:ph type="title"/>
          </p:nvPr>
        </p:nvSpPr>
        <p:spPr/>
        <p:txBody>
          <a:bodyPr/>
          <a:lstStyle/>
          <a:p>
            <a:r>
              <a:rPr lang="en-US" dirty="0"/>
              <a:t>There are four types of models available: </a:t>
            </a:r>
            <a:endParaRPr lang="en-IN" dirty="0"/>
          </a:p>
        </p:txBody>
      </p:sp>
      <p:sp>
        <p:nvSpPr>
          <p:cNvPr id="3" name="Content Placeholder 2">
            <a:extLst>
              <a:ext uri="{FF2B5EF4-FFF2-40B4-BE49-F238E27FC236}">
                <a16:creationId xmlns:a16="http://schemas.microsoft.com/office/drawing/2014/main" id="{EA14E1A8-C4DC-431C-8735-8A7B5D20CE91}"/>
              </a:ext>
            </a:extLst>
          </p:cNvPr>
          <p:cNvSpPr>
            <a:spLocks noGrp="1"/>
          </p:cNvSpPr>
          <p:nvPr>
            <p:ph idx="1"/>
          </p:nvPr>
        </p:nvSpPr>
        <p:spPr/>
        <p:txBody>
          <a:bodyPr>
            <a:normAutofit/>
          </a:bodyPr>
          <a:lstStyle/>
          <a:p>
            <a:r>
              <a:rPr lang="en-US" sz="3600" b="1" dirty="0"/>
              <a:t>A) Rapid Throwaway Prototyping –</a:t>
            </a:r>
            <a:r>
              <a:rPr lang="en-US" sz="3600" dirty="0"/>
              <a:t> </a:t>
            </a:r>
            <a:br>
              <a:rPr lang="en-US" sz="3600" dirty="0"/>
            </a:br>
            <a:r>
              <a:rPr lang="en-US" sz="3600" dirty="0"/>
              <a:t>This technique offers a useful method of exploring ideas and getting customer feedback for each of them. In this method, a developed prototype need not necessarily be a part of the ultimately accepted prototype. Customer feedback helps in preventing unnecessary design faults and hence, the final prototype developed is of better quality. </a:t>
            </a:r>
            <a:endParaRPr lang="en-IN" sz="3600" dirty="0"/>
          </a:p>
        </p:txBody>
      </p:sp>
    </p:spTree>
    <p:extLst>
      <p:ext uri="{BB962C8B-B14F-4D97-AF65-F5344CB8AC3E}">
        <p14:creationId xmlns:p14="http://schemas.microsoft.com/office/powerpoint/2010/main" val="3402347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B593A3-5219-40F0-9B95-34F82337836B}"/>
              </a:ext>
            </a:extLst>
          </p:cNvPr>
          <p:cNvSpPr>
            <a:spLocks noGrp="1"/>
          </p:cNvSpPr>
          <p:nvPr>
            <p:ph idx="1"/>
          </p:nvPr>
        </p:nvSpPr>
        <p:spPr/>
        <p:txBody>
          <a:bodyPr>
            <a:normAutofit lnSpcReduction="10000"/>
          </a:bodyPr>
          <a:lstStyle/>
          <a:p>
            <a:r>
              <a:rPr lang="en-US" sz="3600" b="1" dirty="0"/>
              <a:t>B) Evolutionary Prototyping –</a:t>
            </a:r>
            <a:r>
              <a:rPr lang="en-US" sz="3600" dirty="0"/>
              <a:t> </a:t>
            </a:r>
            <a:br>
              <a:rPr lang="en-US" sz="3600" dirty="0"/>
            </a:br>
            <a:r>
              <a:rPr lang="en-US" sz="3600" dirty="0"/>
              <a:t>In this method, the prototype developed initially is incrementally refined on the basis of customer feedback till it finally gets accepted. In comparison to Rapid Throwaway Prototyping, it offers a better approach which saves time as well as effort. This is because developing a prototype from scratch for every iteration of the process can sometimes be very frustrating for the developers. </a:t>
            </a:r>
            <a:endParaRPr lang="en-IN" sz="3600" dirty="0"/>
          </a:p>
        </p:txBody>
      </p:sp>
    </p:spTree>
    <p:extLst>
      <p:ext uri="{BB962C8B-B14F-4D97-AF65-F5344CB8AC3E}">
        <p14:creationId xmlns:p14="http://schemas.microsoft.com/office/powerpoint/2010/main" val="6239789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538B94-8161-4B8C-8B7C-8F1389803943}"/>
              </a:ext>
            </a:extLst>
          </p:cNvPr>
          <p:cNvSpPr>
            <a:spLocks noGrp="1"/>
          </p:cNvSpPr>
          <p:nvPr>
            <p:ph idx="1"/>
          </p:nvPr>
        </p:nvSpPr>
        <p:spPr>
          <a:xfrm>
            <a:off x="838200" y="0"/>
            <a:ext cx="10515600" cy="6176963"/>
          </a:xfrm>
        </p:spPr>
        <p:txBody>
          <a:bodyPr>
            <a:normAutofit lnSpcReduction="10000"/>
          </a:bodyPr>
          <a:lstStyle/>
          <a:p>
            <a:r>
              <a:rPr lang="en-US" b="1" dirty="0"/>
              <a:t>C) Incremental Prototyping –</a:t>
            </a:r>
            <a:r>
              <a:rPr lang="en-US" dirty="0"/>
              <a:t> In this type of incremental Prototyping, the final expected product is broken into different small pieces of prototypes and being developed individually.</a:t>
            </a:r>
          </a:p>
          <a:p>
            <a:r>
              <a:rPr lang="en-US" dirty="0"/>
              <a:t> In the end, when all individual pieces are properly developed, then the different prototypes are collectively merged into a single final product in their predefined order. </a:t>
            </a:r>
          </a:p>
          <a:p>
            <a:r>
              <a:rPr lang="en-US" dirty="0"/>
              <a:t>It’s a very efficient approach that reduces the complexity of the development process, where the goal is divided into sub-parts and each sub-part is developed individually. </a:t>
            </a:r>
          </a:p>
          <a:p>
            <a:r>
              <a:rPr lang="en-US" dirty="0"/>
              <a:t>The time interval between the project’s beginning and final delivery is substantially reduced because all parts of the system are prototyped and tested simultaneously.</a:t>
            </a:r>
          </a:p>
          <a:p>
            <a:r>
              <a:rPr lang="en-US" dirty="0"/>
              <a:t> Of course, there might be the possibility that the pieces just do not fit together due to some lack of ness in the development phase – this can only be fixed by careful and complete plotting of the entire system before prototyping starts.</a:t>
            </a:r>
            <a:endParaRPr lang="en-IN" dirty="0"/>
          </a:p>
        </p:txBody>
      </p:sp>
    </p:spTree>
    <p:extLst>
      <p:ext uri="{BB962C8B-B14F-4D97-AF65-F5344CB8AC3E}">
        <p14:creationId xmlns:p14="http://schemas.microsoft.com/office/powerpoint/2010/main" val="29103719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3B11BB-5826-430A-953D-C0175BE86D41}"/>
              </a:ext>
            </a:extLst>
          </p:cNvPr>
          <p:cNvSpPr>
            <a:spLocks noGrp="1"/>
          </p:cNvSpPr>
          <p:nvPr>
            <p:ph idx="1"/>
          </p:nvPr>
        </p:nvSpPr>
        <p:spPr>
          <a:xfrm>
            <a:off x="1028700" y="352425"/>
            <a:ext cx="10325100" cy="5824538"/>
          </a:xfrm>
        </p:spPr>
        <p:txBody>
          <a:bodyPr>
            <a:normAutofit/>
          </a:bodyPr>
          <a:lstStyle/>
          <a:p>
            <a:pPr fontAlgn="base"/>
            <a:r>
              <a:rPr lang="en-US" sz="3200" b="1" dirty="0"/>
              <a:t>D) Extreme Prototyping – </a:t>
            </a:r>
            <a:r>
              <a:rPr lang="en-US" sz="3200" dirty="0"/>
              <a:t>This method is mainly used for web development. It is consists of three sequential independent phases:</a:t>
            </a:r>
          </a:p>
          <a:p>
            <a:pPr fontAlgn="base"/>
            <a:r>
              <a:rPr lang="en-US" sz="3200" b="1" dirty="0"/>
              <a:t>D.1) </a:t>
            </a:r>
            <a:r>
              <a:rPr lang="en-US" sz="3200" dirty="0"/>
              <a:t>In this phase a basic prototype with all the existing static pages are presented in the HTML format.</a:t>
            </a:r>
          </a:p>
          <a:p>
            <a:pPr fontAlgn="base"/>
            <a:r>
              <a:rPr lang="en-US" sz="3200" b="1" dirty="0"/>
              <a:t>D.2)</a:t>
            </a:r>
            <a:r>
              <a:rPr lang="en-US" sz="3200" dirty="0"/>
              <a:t>  In the 2nd phase, Functional screens are made with a simulated data process using a prototype services layer.</a:t>
            </a:r>
          </a:p>
          <a:p>
            <a:pPr fontAlgn="base"/>
            <a:r>
              <a:rPr lang="en-US" sz="3200" b="1" dirty="0"/>
              <a:t>D.3)</a:t>
            </a:r>
            <a:r>
              <a:rPr lang="en-US" sz="3200" dirty="0"/>
              <a:t> This is the final step where all the services are implemented and associated with the final prototype.</a:t>
            </a:r>
          </a:p>
          <a:p>
            <a:endParaRPr lang="en-IN" sz="3200" dirty="0"/>
          </a:p>
        </p:txBody>
      </p:sp>
    </p:spTree>
    <p:extLst>
      <p:ext uri="{BB962C8B-B14F-4D97-AF65-F5344CB8AC3E}">
        <p14:creationId xmlns:p14="http://schemas.microsoft.com/office/powerpoint/2010/main" val="13466123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0DD2-9C10-43B5-A161-01E46AAB08FA}"/>
              </a:ext>
            </a:extLst>
          </p:cNvPr>
          <p:cNvSpPr>
            <a:spLocks noGrp="1"/>
          </p:cNvSpPr>
          <p:nvPr>
            <p:ph type="title"/>
          </p:nvPr>
        </p:nvSpPr>
        <p:spPr/>
        <p:txBody>
          <a:bodyPr/>
          <a:lstStyle/>
          <a:p>
            <a:r>
              <a:rPr lang="en-IN" b="1" dirty="0"/>
              <a:t>Advantages –</a:t>
            </a:r>
            <a:r>
              <a:rPr lang="en-IN" dirty="0"/>
              <a:t> </a:t>
            </a:r>
          </a:p>
        </p:txBody>
      </p:sp>
      <p:sp>
        <p:nvSpPr>
          <p:cNvPr id="3" name="Content Placeholder 2">
            <a:extLst>
              <a:ext uri="{FF2B5EF4-FFF2-40B4-BE49-F238E27FC236}">
                <a16:creationId xmlns:a16="http://schemas.microsoft.com/office/drawing/2014/main" id="{7109C720-306B-4FDA-B089-EF117A241E35}"/>
              </a:ext>
            </a:extLst>
          </p:cNvPr>
          <p:cNvSpPr>
            <a:spLocks noGrp="1"/>
          </p:cNvSpPr>
          <p:nvPr>
            <p:ph idx="1"/>
          </p:nvPr>
        </p:nvSpPr>
        <p:spPr/>
        <p:txBody>
          <a:bodyPr>
            <a:normAutofit fontScale="92500" lnSpcReduction="10000"/>
          </a:bodyPr>
          <a:lstStyle/>
          <a:p>
            <a:pPr fontAlgn="base"/>
            <a:r>
              <a:rPr lang="en-US" dirty="0"/>
              <a:t>The customers get to see the partial product early in the life cycle. This ensures a greater level of customer satisfaction and comfort.</a:t>
            </a:r>
          </a:p>
          <a:p>
            <a:pPr fontAlgn="base"/>
            <a:r>
              <a:rPr lang="en-US" dirty="0"/>
              <a:t>New requirements can be easily accommodated as there is scope for refinement.</a:t>
            </a:r>
          </a:p>
          <a:p>
            <a:pPr fontAlgn="base"/>
            <a:r>
              <a:rPr lang="en-US" dirty="0"/>
              <a:t>Missing functionalities can be easily figured out.</a:t>
            </a:r>
          </a:p>
          <a:p>
            <a:pPr fontAlgn="base"/>
            <a:r>
              <a:rPr lang="en-US" dirty="0"/>
              <a:t>Errors can be detected much earlier thereby saving a lot of effort and cost, besides enhancing the quality of the software.</a:t>
            </a:r>
          </a:p>
          <a:p>
            <a:pPr fontAlgn="base"/>
            <a:r>
              <a:rPr lang="en-US" dirty="0"/>
              <a:t>The developed prototype can be reused by the developer for more complicated projects in the future. </a:t>
            </a:r>
            <a:br>
              <a:rPr lang="en-US" dirty="0"/>
            </a:br>
            <a:r>
              <a:rPr lang="en-US" dirty="0"/>
              <a:t> </a:t>
            </a:r>
          </a:p>
          <a:p>
            <a:pPr fontAlgn="base"/>
            <a:r>
              <a:rPr lang="en-US" dirty="0"/>
              <a:t>Flexibility in design.</a:t>
            </a:r>
          </a:p>
          <a:p>
            <a:endParaRPr lang="en-IN" dirty="0"/>
          </a:p>
        </p:txBody>
      </p:sp>
    </p:spTree>
    <p:extLst>
      <p:ext uri="{BB962C8B-B14F-4D97-AF65-F5344CB8AC3E}">
        <p14:creationId xmlns:p14="http://schemas.microsoft.com/office/powerpoint/2010/main" val="16629776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47A3D-E13C-4246-8572-BF1CF16B533C}"/>
              </a:ext>
            </a:extLst>
          </p:cNvPr>
          <p:cNvSpPr>
            <a:spLocks noGrp="1"/>
          </p:cNvSpPr>
          <p:nvPr>
            <p:ph type="title"/>
          </p:nvPr>
        </p:nvSpPr>
        <p:spPr/>
        <p:txBody>
          <a:bodyPr/>
          <a:lstStyle/>
          <a:p>
            <a:r>
              <a:rPr lang="en-IN" b="1" dirty="0"/>
              <a:t>Disadvantages –</a:t>
            </a:r>
            <a:endParaRPr lang="en-IN" dirty="0"/>
          </a:p>
        </p:txBody>
      </p:sp>
      <p:sp>
        <p:nvSpPr>
          <p:cNvPr id="3" name="Content Placeholder 2">
            <a:extLst>
              <a:ext uri="{FF2B5EF4-FFF2-40B4-BE49-F238E27FC236}">
                <a16:creationId xmlns:a16="http://schemas.microsoft.com/office/drawing/2014/main" id="{1EF2873C-9625-4442-B173-5F5454DDCC7B}"/>
              </a:ext>
            </a:extLst>
          </p:cNvPr>
          <p:cNvSpPr>
            <a:spLocks noGrp="1"/>
          </p:cNvSpPr>
          <p:nvPr>
            <p:ph idx="1"/>
          </p:nvPr>
        </p:nvSpPr>
        <p:spPr>
          <a:xfrm>
            <a:off x="838200" y="1362076"/>
            <a:ext cx="10515600" cy="5419724"/>
          </a:xfrm>
        </p:spPr>
        <p:txBody>
          <a:bodyPr>
            <a:normAutofit fontScale="92500" lnSpcReduction="20000"/>
          </a:bodyPr>
          <a:lstStyle/>
          <a:p>
            <a:pPr fontAlgn="base"/>
            <a:r>
              <a:rPr lang="en-US" dirty="0"/>
              <a:t>Costly w.r.t time as well as money.</a:t>
            </a:r>
          </a:p>
          <a:p>
            <a:pPr fontAlgn="base"/>
            <a:r>
              <a:rPr lang="en-US" dirty="0"/>
              <a:t>There may be too much variation in requirements each time the prototype is evaluated by the customer.</a:t>
            </a:r>
          </a:p>
          <a:p>
            <a:pPr fontAlgn="base"/>
            <a:r>
              <a:rPr lang="en-US" dirty="0"/>
              <a:t>Poor Documentation due to continuously changing customer requirements.</a:t>
            </a:r>
          </a:p>
          <a:p>
            <a:pPr fontAlgn="base"/>
            <a:r>
              <a:rPr lang="en-US" dirty="0"/>
              <a:t>It is very difficult for developers to accommodate all the changes demanded by the customer.</a:t>
            </a:r>
          </a:p>
          <a:p>
            <a:pPr fontAlgn="base"/>
            <a:r>
              <a:rPr lang="en-US" dirty="0"/>
              <a:t>There is uncertainty in determining the number of iterations that would be required before the prototype is finally accepted by the customer.</a:t>
            </a:r>
          </a:p>
          <a:p>
            <a:pPr fontAlgn="base"/>
            <a:r>
              <a:rPr lang="en-US" dirty="0"/>
              <a:t>After seeing an early prototype, the customers sometimes demand the actual product to be delivered soon.</a:t>
            </a:r>
          </a:p>
          <a:p>
            <a:pPr fontAlgn="base"/>
            <a:r>
              <a:rPr lang="en-US" dirty="0"/>
              <a:t>Developers in a hurry to build prototypes may end up with sub-optimal solutions.</a:t>
            </a:r>
          </a:p>
          <a:p>
            <a:pPr fontAlgn="base"/>
            <a:r>
              <a:rPr lang="en-US" dirty="0"/>
              <a:t>The customer might lose interest in the product if he/she is not satisfied with the initial prototype.</a:t>
            </a:r>
          </a:p>
          <a:p>
            <a:endParaRPr lang="en-IN" dirty="0"/>
          </a:p>
        </p:txBody>
      </p:sp>
    </p:spTree>
    <p:extLst>
      <p:ext uri="{BB962C8B-B14F-4D97-AF65-F5344CB8AC3E}">
        <p14:creationId xmlns:p14="http://schemas.microsoft.com/office/powerpoint/2010/main" val="14796694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65C755-2CCD-4CEF-892E-2AF52489B3B3}"/>
              </a:ext>
            </a:extLst>
          </p:cNvPr>
          <p:cNvSpPr>
            <a:spLocks noGrp="1"/>
          </p:cNvSpPr>
          <p:nvPr>
            <p:ph idx="1"/>
          </p:nvPr>
        </p:nvSpPr>
        <p:spPr>
          <a:xfrm>
            <a:off x="838200" y="266700"/>
            <a:ext cx="10515600" cy="5910263"/>
          </a:xfrm>
        </p:spPr>
        <p:txBody>
          <a:bodyPr>
            <a:normAutofit lnSpcReduction="10000"/>
          </a:bodyPr>
          <a:lstStyle/>
          <a:p>
            <a:r>
              <a:rPr lang="en-US" sz="4000" b="1" dirty="0"/>
              <a:t>Use –</a:t>
            </a:r>
            <a:r>
              <a:rPr lang="en-US" sz="4000" dirty="0"/>
              <a:t> </a:t>
            </a:r>
            <a:br>
              <a:rPr lang="en-US" sz="4000" dirty="0"/>
            </a:br>
            <a:r>
              <a:rPr lang="en-US" sz="4000" dirty="0"/>
              <a:t>The Prototyping Model should be used when the requirements of the product are not clearly understood or are unstable. It can also be used if requirements are changing quickly. This model can be successfully used for developing user interfaces, high technology software-intensive systems, and systems with complex algorithms and interfaces. It is also a very good choice to demonstrate the technical feasibility of the product.</a:t>
            </a:r>
            <a:endParaRPr lang="en-IN" sz="4000" dirty="0"/>
          </a:p>
        </p:txBody>
      </p:sp>
    </p:spTree>
    <p:extLst>
      <p:ext uri="{BB962C8B-B14F-4D97-AF65-F5344CB8AC3E}">
        <p14:creationId xmlns:p14="http://schemas.microsoft.com/office/powerpoint/2010/main" val="35334504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3B98-E680-49F6-A004-0526C9F89671}"/>
              </a:ext>
            </a:extLst>
          </p:cNvPr>
          <p:cNvSpPr>
            <a:spLocks noGrp="1"/>
          </p:cNvSpPr>
          <p:nvPr>
            <p:ph type="title"/>
          </p:nvPr>
        </p:nvSpPr>
        <p:spPr/>
        <p:txBody>
          <a:bodyPr/>
          <a:lstStyle/>
          <a:p>
            <a:pPr algn="ctr"/>
            <a:r>
              <a:rPr lang="en-US" b="1" dirty="0"/>
              <a:t>RAD Model</a:t>
            </a:r>
            <a:endParaRPr lang="en-IN" b="1" dirty="0"/>
          </a:p>
        </p:txBody>
      </p:sp>
      <p:sp>
        <p:nvSpPr>
          <p:cNvPr id="3" name="Content Placeholder 2">
            <a:extLst>
              <a:ext uri="{FF2B5EF4-FFF2-40B4-BE49-F238E27FC236}">
                <a16:creationId xmlns:a16="http://schemas.microsoft.com/office/drawing/2014/main" id="{862F47EC-21A9-4E1B-88B9-6FC2607983C5}"/>
              </a:ext>
            </a:extLst>
          </p:cNvPr>
          <p:cNvSpPr>
            <a:spLocks noGrp="1"/>
          </p:cNvSpPr>
          <p:nvPr>
            <p:ph idx="1"/>
          </p:nvPr>
        </p:nvSpPr>
        <p:spPr/>
        <p:txBody>
          <a:bodyPr/>
          <a:lstStyle/>
          <a:p>
            <a:r>
              <a:rPr lang="en-US" dirty="0"/>
              <a:t>The </a:t>
            </a:r>
            <a:r>
              <a:rPr lang="en-US" b="1" dirty="0"/>
              <a:t>RAD (Rapid Application Development)</a:t>
            </a:r>
            <a:r>
              <a:rPr lang="en-US" dirty="0"/>
              <a:t> model is based on prototyping and iterative development with no specific planning involved. The process of writing the software itself involves the planning required for developing the product.</a:t>
            </a:r>
          </a:p>
          <a:p>
            <a:r>
              <a:rPr lang="en-US" dirty="0"/>
              <a:t>Rapid Application Development focuses on gathering customer requirements through workshops or focus groups, early testing of the prototypes by the customer using iterative concept, reuse of the existing prototypes (components), continuous integration and rapid delivery.</a:t>
            </a:r>
          </a:p>
          <a:p>
            <a:endParaRPr lang="en-IN" dirty="0"/>
          </a:p>
        </p:txBody>
      </p:sp>
    </p:spTree>
    <p:extLst>
      <p:ext uri="{BB962C8B-B14F-4D97-AF65-F5344CB8AC3E}">
        <p14:creationId xmlns:p14="http://schemas.microsoft.com/office/powerpoint/2010/main" val="5866987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1CC18-EE6A-4B2C-9BA1-A2F6F6B96F77}"/>
              </a:ext>
            </a:extLst>
          </p:cNvPr>
          <p:cNvSpPr>
            <a:spLocks noGrp="1"/>
          </p:cNvSpPr>
          <p:nvPr>
            <p:ph type="title"/>
          </p:nvPr>
        </p:nvSpPr>
        <p:spPr/>
        <p:txBody>
          <a:bodyPr/>
          <a:lstStyle/>
          <a:p>
            <a:r>
              <a:rPr lang="en-IN" dirty="0"/>
              <a:t>What is RAD?</a:t>
            </a:r>
            <a:br>
              <a:rPr lang="en-IN" dirty="0"/>
            </a:br>
            <a:endParaRPr lang="en-IN" dirty="0"/>
          </a:p>
        </p:txBody>
      </p:sp>
      <p:sp>
        <p:nvSpPr>
          <p:cNvPr id="3" name="Content Placeholder 2">
            <a:extLst>
              <a:ext uri="{FF2B5EF4-FFF2-40B4-BE49-F238E27FC236}">
                <a16:creationId xmlns:a16="http://schemas.microsoft.com/office/drawing/2014/main" id="{B820326D-6B9E-4B10-BE55-29972956F7D0}"/>
              </a:ext>
            </a:extLst>
          </p:cNvPr>
          <p:cNvSpPr>
            <a:spLocks noGrp="1"/>
          </p:cNvSpPr>
          <p:nvPr>
            <p:ph idx="1"/>
          </p:nvPr>
        </p:nvSpPr>
        <p:spPr>
          <a:xfrm>
            <a:off x="838200" y="1219200"/>
            <a:ext cx="10515600" cy="4957763"/>
          </a:xfrm>
        </p:spPr>
        <p:txBody>
          <a:bodyPr>
            <a:normAutofit fontScale="92500"/>
          </a:bodyPr>
          <a:lstStyle/>
          <a:p>
            <a:r>
              <a:rPr lang="en-US" sz="3600" dirty="0"/>
              <a:t>Rapid application development is a software development methodology that uses minimal planning in favor of rapid prototyping. A prototype is a working model that is functionally equivalent to a component of the product.</a:t>
            </a:r>
          </a:p>
          <a:p>
            <a:r>
              <a:rPr lang="en-US" sz="3600" dirty="0"/>
              <a:t>In the RAD model, the functional modules are developed in parallel as prototypes and are integrated to make the complete product for faster product delivery. Since there is no detailed preplanning, it makes it easier to incorporate the changes within the development process.</a:t>
            </a:r>
          </a:p>
          <a:p>
            <a:endParaRPr lang="en-IN" sz="3600" dirty="0"/>
          </a:p>
        </p:txBody>
      </p:sp>
    </p:spTree>
    <p:extLst>
      <p:ext uri="{BB962C8B-B14F-4D97-AF65-F5344CB8AC3E}">
        <p14:creationId xmlns:p14="http://schemas.microsoft.com/office/powerpoint/2010/main" val="16619727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AFFED-B57A-4AB5-996F-A4EF3C6300C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96E95F8-D9C7-489C-9D42-A10BFB091D16}"/>
              </a:ext>
            </a:extLst>
          </p:cNvPr>
          <p:cNvSpPr>
            <a:spLocks noGrp="1"/>
          </p:cNvSpPr>
          <p:nvPr>
            <p:ph idx="1"/>
          </p:nvPr>
        </p:nvSpPr>
        <p:spPr/>
        <p:txBody>
          <a:bodyPr>
            <a:normAutofit/>
          </a:bodyPr>
          <a:lstStyle/>
          <a:p>
            <a:r>
              <a:rPr lang="en-US" sz="3600" dirty="0"/>
              <a:t>RAD projects follow iterative and incremental model and have small teams comprising of developers, domain experts, customer representatives and other IT resources working progressively on their component or prototype.</a:t>
            </a:r>
          </a:p>
          <a:p>
            <a:r>
              <a:rPr lang="en-US" sz="3600" dirty="0"/>
              <a:t>The most important aspect for this model to be successful is to make sure that the prototypes developed are reusable.</a:t>
            </a:r>
          </a:p>
          <a:p>
            <a:endParaRPr lang="en-IN" sz="3600" dirty="0"/>
          </a:p>
        </p:txBody>
      </p:sp>
    </p:spTree>
    <p:extLst>
      <p:ext uri="{BB962C8B-B14F-4D97-AF65-F5344CB8AC3E}">
        <p14:creationId xmlns:p14="http://schemas.microsoft.com/office/powerpoint/2010/main" val="40634189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A19FF-EDCF-4D4F-82EA-2243A16DA177}"/>
              </a:ext>
            </a:extLst>
          </p:cNvPr>
          <p:cNvSpPr>
            <a:spLocks noGrp="1"/>
          </p:cNvSpPr>
          <p:nvPr>
            <p:ph type="title"/>
          </p:nvPr>
        </p:nvSpPr>
        <p:spPr/>
        <p:txBody>
          <a:bodyPr/>
          <a:lstStyle/>
          <a:p>
            <a:r>
              <a:rPr lang="en-US" dirty="0"/>
              <a:t>RAD Model Design</a:t>
            </a:r>
            <a:br>
              <a:rPr lang="en-US" dirty="0"/>
            </a:br>
            <a:endParaRPr lang="en-IN" dirty="0"/>
          </a:p>
        </p:txBody>
      </p:sp>
      <p:sp>
        <p:nvSpPr>
          <p:cNvPr id="3" name="Content Placeholder 2">
            <a:extLst>
              <a:ext uri="{FF2B5EF4-FFF2-40B4-BE49-F238E27FC236}">
                <a16:creationId xmlns:a16="http://schemas.microsoft.com/office/drawing/2014/main" id="{1082719B-DDA2-43A5-81F0-B0D237D3BC0B}"/>
              </a:ext>
            </a:extLst>
          </p:cNvPr>
          <p:cNvSpPr>
            <a:spLocks noGrp="1"/>
          </p:cNvSpPr>
          <p:nvPr>
            <p:ph idx="1"/>
          </p:nvPr>
        </p:nvSpPr>
        <p:spPr/>
        <p:txBody>
          <a:bodyPr/>
          <a:lstStyle/>
          <a:p>
            <a:r>
              <a:rPr lang="en-US" sz="3600" dirty="0"/>
              <a:t>RAD model distributes the analysis, design, build and test phases into a series of short, iterative development cycles.</a:t>
            </a:r>
          </a:p>
          <a:p>
            <a:r>
              <a:rPr lang="en-US" sz="3600" dirty="0"/>
              <a:t>Following are the various phases of the RAD Model −</a:t>
            </a:r>
          </a:p>
          <a:p>
            <a:endParaRPr lang="en-IN" dirty="0"/>
          </a:p>
        </p:txBody>
      </p:sp>
    </p:spTree>
    <p:extLst>
      <p:ext uri="{BB962C8B-B14F-4D97-AF65-F5344CB8AC3E}">
        <p14:creationId xmlns:p14="http://schemas.microsoft.com/office/powerpoint/2010/main" val="21452178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0EBCD-C0F4-4F70-8828-18BC8B549526}"/>
              </a:ext>
            </a:extLst>
          </p:cNvPr>
          <p:cNvSpPr>
            <a:spLocks noGrp="1"/>
          </p:cNvSpPr>
          <p:nvPr>
            <p:ph type="title"/>
          </p:nvPr>
        </p:nvSpPr>
        <p:spPr/>
        <p:txBody>
          <a:bodyPr/>
          <a:lstStyle/>
          <a:p>
            <a:r>
              <a:rPr lang="en-IN" dirty="0"/>
              <a:t>Business Modelling</a:t>
            </a:r>
            <a:br>
              <a:rPr lang="en-IN" dirty="0"/>
            </a:br>
            <a:endParaRPr lang="en-IN" dirty="0"/>
          </a:p>
        </p:txBody>
      </p:sp>
      <p:sp>
        <p:nvSpPr>
          <p:cNvPr id="3" name="Content Placeholder 2">
            <a:extLst>
              <a:ext uri="{FF2B5EF4-FFF2-40B4-BE49-F238E27FC236}">
                <a16:creationId xmlns:a16="http://schemas.microsoft.com/office/drawing/2014/main" id="{85EA699D-36C2-4FB3-8125-1504316B1910}"/>
              </a:ext>
            </a:extLst>
          </p:cNvPr>
          <p:cNvSpPr>
            <a:spLocks noGrp="1"/>
          </p:cNvSpPr>
          <p:nvPr>
            <p:ph idx="1"/>
          </p:nvPr>
        </p:nvSpPr>
        <p:spPr/>
        <p:txBody>
          <a:bodyPr/>
          <a:lstStyle/>
          <a:p>
            <a:r>
              <a:rPr lang="en-US" dirty="0"/>
              <a:t>The business model for the product under development is designed in terms of flow of information and the distribution of information between various business channels.</a:t>
            </a:r>
          </a:p>
          <a:p>
            <a:r>
              <a:rPr lang="en-US" dirty="0"/>
              <a:t> A complete business analysis is performed to find the vital information for business, how it can be obtained, how and when is the information processed and what are the factors driving successful flow of information.</a:t>
            </a:r>
            <a:endParaRPr lang="en-IN" dirty="0"/>
          </a:p>
        </p:txBody>
      </p:sp>
    </p:spTree>
    <p:extLst>
      <p:ext uri="{BB962C8B-B14F-4D97-AF65-F5344CB8AC3E}">
        <p14:creationId xmlns:p14="http://schemas.microsoft.com/office/powerpoint/2010/main" val="16718420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FB255-1C06-4BC0-B036-63EE2F344F0A}"/>
              </a:ext>
            </a:extLst>
          </p:cNvPr>
          <p:cNvSpPr>
            <a:spLocks noGrp="1"/>
          </p:cNvSpPr>
          <p:nvPr>
            <p:ph type="title"/>
          </p:nvPr>
        </p:nvSpPr>
        <p:spPr/>
        <p:txBody>
          <a:bodyPr/>
          <a:lstStyle/>
          <a:p>
            <a:r>
              <a:rPr lang="en-IN" dirty="0"/>
              <a:t>Data Modelling</a:t>
            </a:r>
            <a:br>
              <a:rPr lang="en-IN" dirty="0"/>
            </a:br>
            <a:endParaRPr lang="en-IN" dirty="0"/>
          </a:p>
        </p:txBody>
      </p:sp>
      <p:sp>
        <p:nvSpPr>
          <p:cNvPr id="3" name="Content Placeholder 2">
            <a:extLst>
              <a:ext uri="{FF2B5EF4-FFF2-40B4-BE49-F238E27FC236}">
                <a16:creationId xmlns:a16="http://schemas.microsoft.com/office/drawing/2014/main" id="{2173BFE3-8554-4D9E-AE1F-E49E89ED6C4A}"/>
              </a:ext>
            </a:extLst>
          </p:cNvPr>
          <p:cNvSpPr>
            <a:spLocks noGrp="1"/>
          </p:cNvSpPr>
          <p:nvPr>
            <p:ph idx="1"/>
          </p:nvPr>
        </p:nvSpPr>
        <p:spPr/>
        <p:txBody>
          <a:bodyPr/>
          <a:lstStyle/>
          <a:p>
            <a:r>
              <a:rPr lang="en-US" dirty="0"/>
              <a:t>The information gathered in the Business Modelling phase is reviewed and analyzed to form sets of data objects vital for the business. </a:t>
            </a:r>
          </a:p>
          <a:p>
            <a:r>
              <a:rPr lang="en-US" dirty="0"/>
              <a:t>The attributes of all data sets is identified and defined. </a:t>
            </a:r>
          </a:p>
          <a:p>
            <a:r>
              <a:rPr lang="en-US" dirty="0"/>
              <a:t>The relation between these data objects are established and defined in detail in relevance to the business model.</a:t>
            </a:r>
            <a:endParaRPr lang="en-IN" dirty="0"/>
          </a:p>
        </p:txBody>
      </p:sp>
    </p:spTree>
    <p:extLst>
      <p:ext uri="{BB962C8B-B14F-4D97-AF65-F5344CB8AC3E}">
        <p14:creationId xmlns:p14="http://schemas.microsoft.com/office/powerpoint/2010/main" val="20098090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7B4AF-87A3-4E19-860D-B5D7B770B58B}"/>
              </a:ext>
            </a:extLst>
          </p:cNvPr>
          <p:cNvSpPr>
            <a:spLocks noGrp="1"/>
          </p:cNvSpPr>
          <p:nvPr>
            <p:ph type="title"/>
          </p:nvPr>
        </p:nvSpPr>
        <p:spPr/>
        <p:txBody>
          <a:bodyPr/>
          <a:lstStyle/>
          <a:p>
            <a:r>
              <a:rPr lang="en-IN" dirty="0"/>
              <a:t>Process Modelling</a:t>
            </a:r>
            <a:br>
              <a:rPr lang="en-IN" dirty="0"/>
            </a:br>
            <a:endParaRPr lang="en-IN" dirty="0"/>
          </a:p>
        </p:txBody>
      </p:sp>
      <p:sp>
        <p:nvSpPr>
          <p:cNvPr id="3" name="Content Placeholder 2">
            <a:extLst>
              <a:ext uri="{FF2B5EF4-FFF2-40B4-BE49-F238E27FC236}">
                <a16:creationId xmlns:a16="http://schemas.microsoft.com/office/drawing/2014/main" id="{F268F94C-F8BA-4A7F-B2D3-EE5F7D03E9E1}"/>
              </a:ext>
            </a:extLst>
          </p:cNvPr>
          <p:cNvSpPr>
            <a:spLocks noGrp="1"/>
          </p:cNvSpPr>
          <p:nvPr>
            <p:ph idx="1"/>
          </p:nvPr>
        </p:nvSpPr>
        <p:spPr/>
        <p:txBody>
          <a:bodyPr/>
          <a:lstStyle/>
          <a:p>
            <a:r>
              <a:rPr lang="en-US" dirty="0"/>
              <a:t>The data object sets defined in the Data Modelling phase are converted to establish the business information flow needed to achieve specific business objectives as per the business model.</a:t>
            </a:r>
          </a:p>
          <a:p>
            <a:r>
              <a:rPr lang="en-US" dirty="0"/>
              <a:t> The process model for any changes or enhancements to the data object sets is defined in this phase.</a:t>
            </a:r>
          </a:p>
          <a:p>
            <a:r>
              <a:rPr lang="en-US" dirty="0"/>
              <a:t> Process descriptions for adding, deleting, retrieving or modifying a data object are given.</a:t>
            </a:r>
            <a:endParaRPr lang="en-IN" dirty="0"/>
          </a:p>
        </p:txBody>
      </p:sp>
    </p:spTree>
    <p:extLst>
      <p:ext uri="{BB962C8B-B14F-4D97-AF65-F5344CB8AC3E}">
        <p14:creationId xmlns:p14="http://schemas.microsoft.com/office/powerpoint/2010/main" val="41144987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FA554-0818-4DCB-B114-E1201E2C9415}"/>
              </a:ext>
            </a:extLst>
          </p:cNvPr>
          <p:cNvSpPr>
            <a:spLocks noGrp="1"/>
          </p:cNvSpPr>
          <p:nvPr>
            <p:ph type="title"/>
          </p:nvPr>
        </p:nvSpPr>
        <p:spPr/>
        <p:txBody>
          <a:bodyPr/>
          <a:lstStyle/>
          <a:p>
            <a:r>
              <a:rPr lang="en-IN" dirty="0"/>
              <a:t>Application Generation</a:t>
            </a:r>
            <a:br>
              <a:rPr lang="en-IN" dirty="0"/>
            </a:br>
            <a:endParaRPr lang="en-IN" dirty="0"/>
          </a:p>
        </p:txBody>
      </p:sp>
      <p:sp>
        <p:nvSpPr>
          <p:cNvPr id="3" name="Content Placeholder 2">
            <a:extLst>
              <a:ext uri="{FF2B5EF4-FFF2-40B4-BE49-F238E27FC236}">
                <a16:creationId xmlns:a16="http://schemas.microsoft.com/office/drawing/2014/main" id="{7A9ABC7F-6F18-46C1-A908-D167A7901006}"/>
              </a:ext>
            </a:extLst>
          </p:cNvPr>
          <p:cNvSpPr>
            <a:spLocks noGrp="1"/>
          </p:cNvSpPr>
          <p:nvPr>
            <p:ph idx="1"/>
          </p:nvPr>
        </p:nvSpPr>
        <p:spPr/>
        <p:txBody>
          <a:bodyPr/>
          <a:lstStyle/>
          <a:p>
            <a:r>
              <a:rPr lang="en-US" dirty="0"/>
              <a:t>The actual system is built and coding is done by using automation tools to convert process and data models into actual prototypes.</a:t>
            </a:r>
            <a:endParaRPr lang="en-IN" dirty="0"/>
          </a:p>
        </p:txBody>
      </p:sp>
    </p:spTree>
    <p:extLst>
      <p:ext uri="{BB962C8B-B14F-4D97-AF65-F5344CB8AC3E}">
        <p14:creationId xmlns:p14="http://schemas.microsoft.com/office/powerpoint/2010/main" val="4334962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E93A2-F675-46CA-8A80-C43F4474519C}"/>
              </a:ext>
            </a:extLst>
          </p:cNvPr>
          <p:cNvSpPr>
            <a:spLocks noGrp="1"/>
          </p:cNvSpPr>
          <p:nvPr>
            <p:ph type="title"/>
          </p:nvPr>
        </p:nvSpPr>
        <p:spPr/>
        <p:txBody>
          <a:bodyPr/>
          <a:lstStyle/>
          <a:p>
            <a:r>
              <a:rPr lang="en-IN" dirty="0"/>
              <a:t>Testing and Turnover</a:t>
            </a:r>
            <a:br>
              <a:rPr lang="en-IN" dirty="0"/>
            </a:br>
            <a:endParaRPr lang="en-IN" dirty="0"/>
          </a:p>
        </p:txBody>
      </p:sp>
      <p:sp>
        <p:nvSpPr>
          <p:cNvPr id="3" name="Content Placeholder 2">
            <a:extLst>
              <a:ext uri="{FF2B5EF4-FFF2-40B4-BE49-F238E27FC236}">
                <a16:creationId xmlns:a16="http://schemas.microsoft.com/office/drawing/2014/main" id="{1CE17A27-1E0D-4299-BD74-C6ED86554470}"/>
              </a:ext>
            </a:extLst>
          </p:cNvPr>
          <p:cNvSpPr>
            <a:spLocks noGrp="1"/>
          </p:cNvSpPr>
          <p:nvPr>
            <p:ph idx="1"/>
          </p:nvPr>
        </p:nvSpPr>
        <p:spPr/>
        <p:txBody>
          <a:bodyPr/>
          <a:lstStyle/>
          <a:p>
            <a:r>
              <a:rPr lang="en-US" dirty="0"/>
              <a:t>The overall testing time is reduced in the RAD model as the prototypes are independently tested during every iteration. </a:t>
            </a:r>
          </a:p>
          <a:p>
            <a:r>
              <a:rPr lang="en-US" dirty="0"/>
              <a:t>However, the data flow and the interfaces between all the components need to be thoroughly tested with complete test coverage. </a:t>
            </a:r>
          </a:p>
          <a:p>
            <a:r>
              <a:rPr lang="en-US" dirty="0"/>
              <a:t>Since most of the programming components have already been tested, it reduces the risk of any major issues.</a:t>
            </a:r>
            <a:endParaRPr lang="en-IN" dirty="0"/>
          </a:p>
        </p:txBody>
      </p:sp>
    </p:spTree>
    <p:extLst>
      <p:ext uri="{BB962C8B-B14F-4D97-AF65-F5344CB8AC3E}">
        <p14:creationId xmlns:p14="http://schemas.microsoft.com/office/powerpoint/2010/main" val="33506754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DLC RAD Model">
            <a:extLst>
              <a:ext uri="{FF2B5EF4-FFF2-40B4-BE49-F238E27FC236}">
                <a16:creationId xmlns:a16="http://schemas.microsoft.com/office/drawing/2014/main" id="{B6C242D8-F232-4BF1-B4A2-2E83DE22E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75" y="838201"/>
            <a:ext cx="8162925" cy="4914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8691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F5FCB-B523-44E5-946C-2CE0BB74CFAB}"/>
              </a:ext>
            </a:extLst>
          </p:cNvPr>
          <p:cNvSpPr>
            <a:spLocks noGrp="1"/>
          </p:cNvSpPr>
          <p:nvPr>
            <p:ph type="title"/>
          </p:nvPr>
        </p:nvSpPr>
        <p:spPr/>
        <p:txBody>
          <a:bodyPr/>
          <a:lstStyle/>
          <a:p>
            <a:r>
              <a:rPr lang="en-IN" dirty="0"/>
              <a:t>RAD Model - Application</a:t>
            </a:r>
            <a:br>
              <a:rPr lang="en-IN" dirty="0"/>
            </a:br>
            <a:endParaRPr lang="en-IN" dirty="0"/>
          </a:p>
        </p:txBody>
      </p:sp>
      <p:sp>
        <p:nvSpPr>
          <p:cNvPr id="3" name="Content Placeholder 2">
            <a:extLst>
              <a:ext uri="{FF2B5EF4-FFF2-40B4-BE49-F238E27FC236}">
                <a16:creationId xmlns:a16="http://schemas.microsoft.com/office/drawing/2014/main" id="{E19CE309-3F71-474B-B337-12E8654005F4}"/>
              </a:ext>
            </a:extLst>
          </p:cNvPr>
          <p:cNvSpPr>
            <a:spLocks noGrp="1"/>
          </p:cNvSpPr>
          <p:nvPr>
            <p:ph idx="1"/>
          </p:nvPr>
        </p:nvSpPr>
        <p:spPr>
          <a:xfrm>
            <a:off x="838200" y="1304925"/>
            <a:ext cx="10515600" cy="4872038"/>
          </a:xfrm>
        </p:spPr>
        <p:txBody>
          <a:bodyPr>
            <a:normAutofit/>
          </a:bodyPr>
          <a:lstStyle/>
          <a:p>
            <a:r>
              <a:rPr lang="en-US" dirty="0"/>
              <a:t>RAD should be used only when a system can be modularized to be delivered in an incremental manner.</a:t>
            </a:r>
          </a:p>
          <a:p>
            <a:r>
              <a:rPr lang="en-US" dirty="0"/>
              <a:t>It should be used if there is a high availability of designers for Modelling.</a:t>
            </a:r>
          </a:p>
          <a:p>
            <a:r>
              <a:rPr lang="en-US" dirty="0"/>
              <a:t>It should be used only if the budget permits use of automated code generating tools.</a:t>
            </a:r>
          </a:p>
          <a:p>
            <a:r>
              <a:rPr lang="en-US" dirty="0"/>
              <a:t>RAD SDLC model should be chosen only if domain experts are available with relevant business knowledge.</a:t>
            </a:r>
          </a:p>
          <a:p>
            <a:r>
              <a:rPr lang="en-US" dirty="0"/>
              <a:t>Should be used where the requirements change during the project and working prototypes are to be presented to customer in small iterations of 2-3 months.</a:t>
            </a:r>
          </a:p>
          <a:p>
            <a:endParaRPr lang="en-IN" dirty="0"/>
          </a:p>
        </p:txBody>
      </p:sp>
    </p:spTree>
    <p:extLst>
      <p:ext uri="{BB962C8B-B14F-4D97-AF65-F5344CB8AC3E}">
        <p14:creationId xmlns:p14="http://schemas.microsoft.com/office/powerpoint/2010/main" val="253646486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CF179-5674-45D9-A8A2-4FA2B0F54BCF}"/>
              </a:ext>
            </a:extLst>
          </p:cNvPr>
          <p:cNvSpPr>
            <a:spLocks noGrp="1"/>
          </p:cNvSpPr>
          <p:nvPr>
            <p:ph type="title"/>
          </p:nvPr>
        </p:nvSpPr>
        <p:spPr/>
        <p:txBody>
          <a:bodyPr/>
          <a:lstStyle/>
          <a:p>
            <a:r>
              <a:rPr lang="en-US" dirty="0"/>
              <a:t>The advantages of the RAD Model are as follows −</a:t>
            </a:r>
            <a:endParaRPr lang="en-IN" dirty="0"/>
          </a:p>
        </p:txBody>
      </p:sp>
      <p:sp>
        <p:nvSpPr>
          <p:cNvPr id="3" name="Content Placeholder 2">
            <a:extLst>
              <a:ext uri="{FF2B5EF4-FFF2-40B4-BE49-F238E27FC236}">
                <a16:creationId xmlns:a16="http://schemas.microsoft.com/office/drawing/2014/main" id="{DD09F5A0-AB06-4F60-ACD3-BB02FC44A4D6}"/>
              </a:ext>
            </a:extLst>
          </p:cNvPr>
          <p:cNvSpPr>
            <a:spLocks noGrp="1"/>
          </p:cNvSpPr>
          <p:nvPr>
            <p:ph idx="1"/>
          </p:nvPr>
        </p:nvSpPr>
        <p:spPr/>
        <p:txBody>
          <a:bodyPr>
            <a:normAutofit lnSpcReduction="10000"/>
          </a:bodyPr>
          <a:lstStyle/>
          <a:p>
            <a:r>
              <a:rPr lang="en-US" dirty="0"/>
              <a:t>Changing requirements can be accommodated.</a:t>
            </a:r>
          </a:p>
          <a:p>
            <a:r>
              <a:rPr lang="en-US" dirty="0"/>
              <a:t>Progress can be measured.</a:t>
            </a:r>
          </a:p>
          <a:p>
            <a:r>
              <a:rPr lang="en-US" dirty="0"/>
              <a:t>Iteration time can be short with use of powerful RAD tools.</a:t>
            </a:r>
          </a:p>
          <a:p>
            <a:r>
              <a:rPr lang="en-US" dirty="0"/>
              <a:t>Productivity with fewer people in a short time.</a:t>
            </a:r>
          </a:p>
          <a:p>
            <a:r>
              <a:rPr lang="en-US" dirty="0"/>
              <a:t>Reduced development time.</a:t>
            </a:r>
          </a:p>
          <a:p>
            <a:r>
              <a:rPr lang="en-US" dirty="0"/>
              <a:t>Increases reusability of components.</a:t>
            </a:r>
          </a:p>
          <a:p>
            <a:r>
              <a:rPr lang="en-US" dirty="0"/>
              <a:t>Quick initial reviews occur.</a:t>
            </a:r>
          </a:p>
          <a:p>
            <a:r>
              <a:rPr lang="en-US" dirty="0"/>
              <a:t>Encourages customer feedback.</a:t>
            </a:r>
          </a:p>
          <a:p>
            <a:r>
              <a:rPr lang="en-US" dirty="0"/>
              <a:t>Integration from very beginning solves a lot of integration issues.</a:t>
            </a:r>
          </a:p>
          <a:p>
            <a:endParaRPr lang="en-IN" dirty="0"/>
          </a:p>
        </p:txBody>
      </p:sp>
    </p:spTree>
    <p:extLst>
      <p:ext uri="{BB962C8B-B14F-4D97-AF65-F5344CB8AC3E}">
        <p14:creationId xmlns:p14="http://schemas.microsoft.com/office/powerpoint/2010/main" val="6150647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807FA-E8BB-45D4-9C75-E42325752D06}"/>
              </a:ext>
            </a:extLst>
          </p:cNvPr>
          <p:cNvSpPr>
            <a:spLocks noGrp="1"/>
          </p:cNvSpPr>
          <p:nvPr>
            <p:ph type="title"/>
          </p:nvPr>
        </p:nvSpPr>
        <p:spPr/>
        <p:txBody>
          <a:bodyPr/>
          <a:lstStyle/>
          <a:p>
            <a:r>
              <a:rPr lang="en-US" dirty="0"/>
              <a:t>The disadvantages of the RAD Model are as follows −</a:t>
            </a:r>
            <a:endParaRPr lang="en-IN" dirty="0"/>
          </a:p>
        </p:txBody>
      </p:sp>
      <p:sp>
        <p:nvSpPr>
          <p:cNvPr id="3" name="Content Placeholder 2">
            <a:extLst>
              <a:ext uri="{FF2B5EF4-FFF2-40B4-BE49-F238E27FC236}">
                <a16:creationId xmlns:a16="http://schemas.microsoft.com/office/drawing/2014/main" id="{B4716CD6-853E-44D3-B772-344B3707F699}"/>
              </a:ext>
            </a:extLst>
          </p:cNvPr>
          <p:cNvSpPr>
            <a:spLocks noGrp="1"/>
          </p:cNvSpPr>
          <p:nvPr>
            <p:ph idx="1"/>
          </p:nvPr>
        </p:nvSpPr>
        <p:spPr>
          <a:xfrm>
            <a:off x="838200" y="1825625"/>
            <a:ext cx="10515600" cy="4832350"/>
          </a:xfrm>
        </p:spPr>
        <p:txBody>
          <a:bodyPr>
            <a:normAutofit fontScale="92500" lnSpcReduction="10000"/>
          </a:bodyPr>
          <a:lstStyle/>
          <a:p>
            <a:r>
              <a:rPr lang="en-US" dirty="0"/>
              <a:t>Dependency on technically strong team members for identifying business requirements.</a:t>
            </a:r>
          </a:p>
          <a:p>
            <a:r>
              <a:rPr lang="en-US" dirty="0"/>
              <a:t>Only system that can be modularized can be built using RAD.</a:t>
            </a:r>
          </a:p>
          <a:p>
            <a:r>
              <a:rPr lang="en-US" dirty="0"/>
              <a:t>Requires highly skilled developers/designers.</a:t>
            </a:r>
          </a:p>
          <a:p>
            <a:r>
              <a:rPr lang="en-US" dirty="0"/>
              <a:t>High dependency on Modelling skills.</a:t>
            </a:r>
          </a:p>
          <a:p>
            <a:r>
              <a:rPr lang="en-US" dirty="0"/>
              <a:t>Inapplicable to cheaper projects as cost of Modelling and automated code generation is very high.</a:t>
            </a:r>
          </a:p>
          <a:p>
            <a:r>
              <a:rPr lang="en-US" dirty="0"/>
              <a:t>Management complexity is more.</a:t>
            </a:r>
          </a:p>
          <a:p>
            <a:r>
              <a:rPr lang="en-US" dirty="0"/>
              <a:t>Suitable for systems that are component based and scalable.</a:t>
            </a:r>
          </a:p>
          <a:p>
            <a:r>
              <a:rPr lang="en-US" dirty="0"/>
              <a:t>Requires user involvement throughout the life cycle.</a:t>
            </a:r>
          </a:p>
          <a:p>
            <a:r>
              <a:rPr lang="en-US" dirty="0"/>
              <a:t>Suitable for project requiring shorter development times.</a:t>
            </a:r>
          </a:p>
          <a:p>
            <a:endParaRPr lang="en-IN" dirty="0"/>
          </a:p>
        </p:txBody>
      </p:sp>
    </p:spTree>
    <p:extLst>
      <p:ext uri="{BB962C8B-B14F-4D97-AF65-F5344CB8AC3E}">
        <p14:creationId xmlns:p14="http://schemas.microsoft.com/office/powerpoint/2010/main" val="192832764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37438-0114-4EDF-838F-A861C7FD4D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03A4AD4-D8EA-47E6-826A-0BCCB4B50566}"/>
              </a:ext>
            </a:extLst>
          </p:cNvPr>
          <p:cNvSpPr>
            <a:spLocks noGrp="1"/>
          </p:cNvSpPr>
          <p:nvPr>
            <p:ph idx="1"/>
          </p:nvPr>
        </p:nvSpPr>
        <p:spPr/>
        <p:txBody>
          <a:bodyPr>
            <a:normAutofit fontScale="92500" lnSpcReduction="10000"/>
          </a:bodyPr>
          <a:lstStyle/>
          <a:p>
            <a:r>
              <a:rPr lang="en-US" b="1" dirty="0"/>
              <a:t>Rational Unified Process (RUP)</a:t>
            </a:r>
            <a:r>
              <a:rPr lang="en-US" dirty="0"/>
              <a:t> is a software development process for object-oriented models. It is also known as the Unified Process Model. It is created by Rational corporation and is designed and documented using UML (Unified Modeling Language). This process is included in IBM Rational Method Composer (RMC) product. IBM (International Business Machine Corporation) allows us to customize, design, and personalize the unified process. RUP is proposed by Ivar Jacobson, Grady </a:t>
            </a:r>
            <a:r>
              <a:rPr lang="en-US" dirty="0" err="1"/>
              <a:t>Bootch</a:t>
            </a:r>
            <a:r>
              <a:rPr lang="en-US" dirty="0"/>
              <a:t>, and James </a:t>
            </a:r>
            <a:r>
              <a:rPr lang="en-US" dirty="0" err="1"/>
              <a:t>Rambaugh</a:t>
            </a:r>
            <a:r>
              <a:rPr lang="en-US" dirty="0"/>
              <a:t>. Some characteristics of RUP include use-case driven, Iterative (repetition of the process), and Incremental (increase in value) by nature, delivered online using web technology, can be customized or tailored in modular and electronic form, etc. RUP reduces unexpected development costs and prevents wastage of resources. </a:t>
            </a:r>
            <a:endParaRPr lang="en-IN" dirty="0"/>
          </a:p>
        </p:txBody>
      </p:sp>
    </p:spTree>
    <p:extLst>
      <p:ext uri="{BB962C8B-B14F-4D97-AF65-F5344CB8AC3E}">
        <p14:creationId xmlns:p14="http://schemas.microsoft.com/office/powerpoint/2010/main" val="7593070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2F725-E3DC-426E-8785-97555F1BDC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EFE131D-7480-46E6-9320-DDB37C9EF17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391573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1346</TotalTime>
  <Words>5241</Words>
  <Application>Microsoft Office PowerPoint</Application>
  <PresentationFormat>Widescreen</PresentationFormat>
  <Paragraphs>276</Paragraphs>
  <Slides>82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82</vt:i4>
      </vt:variant>
    </vt:vector>
  </HeadingPairs>
  <TitlesOfParts>
    <vt:vector size="88" baseType="lpstr">
      <vt:lpstr>Arial</vt:lpstr>
      <vt:lpstr>Arial Black</vt:lpstr>
      <vt:lpstr>Calibri</vt:lpstr>
      <vt:lpstr>Calibri Light</vt:lpstr>
      <vt:lpstr>Times New Roman</vt:lpstr>
      <vt:lpstr>Office Theme</vt:lpstr>
      <vt:lpstr>OBJECT ORIENTED SOFTWARE ENGINEERING</vt:lpstr>
      <vt:lpstr>PowerPoint Presentation</vt:lpstr>
      <vt:lpstr>PowerPoint Presentation</vt:lpstr>
      <vt:lpstr>PowerPoint Presentation</vt:lpstr>
      <vt:lpstr>PowerPoint Presentation</vt:lpstr>
      <vt:lpstr>PowerPoint Presentation</vt:lpstr>
      <vt:lpstr>SSAD :</vt:lpstr>
      <vt:lpstr>System Analysis :SSAD</vt:lpstr>
      <vt:lpstr>OOAD :</vt:lpstr>
      <vt:lpstr>OOAD vs. SSAD </vt:lpstr>
      <vt:lpstr>OOAD vs. SSAD</vt:lpstr>
      <vt:lpstr>OOA</vt:lpstr>
      <vt:lpstr>The primary tasks in object-oriented analysis (OOA) are −</vt:lpstr>
      <vt:lpstr>Object-Oriented Design </vt:lpstr>
      <vt:lpstr>PowerPoint Presentation</vt:lpstr>
      <vt:lpstr>Objects and Classes </vt:lpstr>
      <vt:lpstr>Class </vt:lpstr>
      <vt:lpstr>PowerPoint Presentation</vt:lpstr>
      <vt:lpstr>Object</vt:lpstr>
      <vt:lpstr>SDLC</vt:lpstr>
      <vt:lpstr>PowerPoint Presentation</vt:lpstr>
      <vt:lpstr>What is SDLC? </vt:lpstr>
      <vt:lpstr>SDLC </vt:lpstr>
      <vt:lpstr>PowerPoint Presentation</vt:lpstr>
      <vt:lpstr>Stage 1: Planning and Requirement Analysis </vt:lpstr>
      <vt:lpstr>Stage 2: Defining Requirements </vt:lpstr>
      <vt:lpstr>Stage 3: Designing the Product Architecture </vt:lpstr>
      <vt:lpstr>Stage 4: Building or Developing the Product </vt:lpstr>
      <vt:lpstr>Stage 5: Testing the Product </vt:lpstr>
      <vt:lpstr>Stage 6: Deployment in the Market and Maintenance </vt:lpstr>
      <vt:lpstr>SDLC Models </vt:lpstr>
      <vt:lpstr>Following are the most important and popular SDLC models followed in the industry −</vt:lpstr>
      <vt:lpstr>WATERFALL MODEL</vt:lpstr>
      <vt:lpstr>Waterfall Model </vt:lpstr>
      <vt:lpstr>Waterfall Model - Design </vt:lpstr>
      <vt:lpstr>PowerPoint Presentation</vt:lpstr>
      <vt:lpstr>The sequential phases in Waterfall model are −</vt:lpstr>
      <vt:lpstr>PowerPoint Presentation</vt:lpstr>
      <vt:lpstr>PowerPoint Presentation</vt:lpstr>
      <vt:lpstr>Waterfall Model - Application </vt:lpstr>
      <vt:lpstr>Waterfall Model - Advantages </vt:lpstr>
      <vt:lpstr>Some of the major advantages of the Waterfall Model are as follows −</vt:lpstr>
      <vt:lpstr>Waterfall Model - Disadvantages </vt:lpstr>
      <vt:lpstr>The major disadvantages of the Waterfall Model are as follows −</vt:lpstr>
      <vt:lpstr>PowerPoint Presentation</vt:lpstr>
      <vt:lpstr>Spiral Model </vt:lpstr>
      <vt:lpstr>PowerPoint Presentation</vt:lpstr>
      <vt:lpstr>PowerPoint Presentation</vt:lpstr>
      <vt:lpstr>PowerPoint Presentation</vt:lpstr>
      <vt:lpstr>Each phase of the Spiral Model is divided into four quadrants as shown in the above figure. The functions of these four quadrants are discussed below- </vt:lpstr>
      <vt:lpstr>PowerPoint Presentation</vt:lpstr>
      <vt:lpstr>PowerPoint Presentation</vt:lpstr>
      <vt:lpstr>PowerPoint Presentation</vt:lpstr>
      <vt:lpstr>Risk Handling in Spiral Model</vt:lpstr>
      <vt:lpstr>Advantages of Spiral Model: </vt:lpstr>
      <vt:lpstr>Disadvantages of Spiral Model: </vt:lpstr>
      <vt:lpstr>Prototyping Model </vt:lpstr>
      <vt:lpstr>PowerPoint Presentation</vt:lpstr>
      <vt:lpstr>PowerPoint Presentation</vt:lpstr>
      <vt:lpstr>PowerPoint Presentation</vt:lpstr>
      <vt:lpstr>There are four types of models available: </vt:lpstr>
      <vt:lpstr>PowerPoint Presentation</vt:lpstr>
      <vt:lpstr>PowerPoint Presentation</vt:lpstr>
      <vt:lpstr>PowerPoint Presentation</vt:lpstr>
      <vt:lpstr>Advantages – </vt:lpstr>
      <vt:lpstr>Disadvantages –</vt:lpstr>
      <vt:lpstr>PowerPoint Presentation</vt:lpstr>
      <vt:lpstr>RAD Model</vt:lpstr>
      <vt:lpstr>What is RAD? </vt:lpstr>
      <vt:lpstr>PowerPoint Presentation</vt:lpstr>
      <vt:lpstr>RAD Model Design </vt:lpstr>
      <vt:lpstr>Business Modelling </vt:lpstr>
      <vt:lpstr>Data Modelling </vt:lpstr>
      <vt:lpstr>Process Modelling </vt:lpstr>
      <vt:lpstr>Application Generation </vt:lpstr>
      <vt:lpstr>Testing and Turnover </vt:lpstr>
      <vt:lpstr>PowerPoint Presentation</vt:lpstr>
      <vt:lpstr>RAD Model - Application </vt:lpstr>
      <vt:lpstr>The advantages of the RAD Model are as follows −</vt:lpstr>
      <vt:lpstr>The disadvantages of the RAD Model are as follows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Soft</dc:creator>
  <cp:lastModifiedBy>Soft</cp:lastModifiedBy>
  <cp:revision>12</cp:revision>
  <dcterms:created xsi:type="dcterms:W3CDTF">2022-12-08T04:52:48Z</dcterms:created>
  <dcterms:modified xsi:type="dcterms:W3CDTF">2023-08-28T04:43:21Z</dcterms:modified>
</cp:coreProperties>
</file>