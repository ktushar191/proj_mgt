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2" r:id="rId9"/>
    <p:sldId id="264" r:id="rId10"/>
    <p:sldId id="270" r:id="rId11"/>
    <p:sldId id="271" r:id="rId12"/>
    <p:sldId id="265" r:id="rId13"/>
    <p:sldId id="266" r:id="rId14"/>
    <p:sldId id="267" r:id="rId15"/>
    <p:sldId id="268" r:id="rId16"/>
    <p:sldId id="269" r:id="rId17"/>
    <p:sldId id="272" r:id="rId18"/>
    <p:sldId id="273" r:id="rId19"/>
    <p:sldId id="274" r:id="rId20"/>
    <p:sldId id="275" r:id="rId21"/>
    <p:sldId id="276" r:id="rId22"/>
    <p:sldId id="277" r:id="rId23"/>
    <p:sldId id="278" r:id="rId24"/>
    <p:sldId id="279" r:id="rId25"/>
    <p:sldId id="280" r:id="rId26"/>
    <p:sldId id="281" r:id="rId27"/>
    <p:sldId id="282" r:id="rId28"/>
    <p:sldId id="284" r:id="rId29"/>
    <p:sldId id="283" r:id="rId30"/>
    <p:sldId id="285" r:id="rId31"/>
    <p:sldId id="286" r:id="rId32"/>
    <p:sldId id="288" r:id="rId33"/>
    <p:sldId id="287" r:id="rId34"/>
    <p:sldId id="28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15" d="100"/>
          <a:sy n="115" d="100"/>
        </p:scale>
        <p:origin x="43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C14619B-B0A4-3B35-EF9A-9283AE52967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 xmlns:a16="http://schemas.microsoft.com/office/drawing/2014/main" id="{86A328DA-7A3D-76F8-63B3-216501DD77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 xmlns:a16="http://schemas.microsoft.com/office/drawing/2014/main" id="{E59B3440-0F05-36EA-9278-4E9DAEF3E19E}"/>
              </a:ext>
            </a:extLst>
          </p:cNvPr>
          <p:cNvSpPr>
            <a:spLocks noGrp="1"/>
          </p:cNvSpPr>
          <p:nvPr>
            <p:ph type="dt" sz="half" idx="10"/>
          </p:nvPr>
        </p:nvSpPr>
        <p:spPr/>
        <p:txBody>
          <a:bodyPr/>
          <a:lstStyle/>
          <a:p>
            <a:fld id="{A38C5E88-E1D7-4C50-92FF-CDBDAECCF78E}" type="datetimeFigureOut">
              <a:rPr lang="en-IN" smtClean="0"/>
              <a:t>04-11-2023</a:t>
            </a:fld>
            <a:endParaRPr lang="en-IN"/>
          </a:p>
        </p:txBody>
      </p:sp>
      <p:sp>
        <p:nvSpPr>
          <p:cNvPr id="5" name="Footer Placeholder 4">
            <a:extLst>
              <a:ext uri="{FF2B5EF4-FFF2-40B4-BE49-F238E27FC236}">
                <a16:creationId xmlns="" xmlns:a16="http://schemas.microsoft.com/office/drawing/2014/main" id="{E638AE66-377F-31C5-1D2C-B4E42BAC7E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D002A318-16EE-6E52-550E-265AA4DF347C}"/>
              </a:ext>
            </a:extLst>
          </p:cNvPr>
          <p:cNvSpPr>
            <a:spLocks noGrp="1"/>
          </p:cNvSpPr>
          <p:nvPr>
            <p:ph type="sldNum" sz="quarter" idx="12"/>
          </p:nvPr>
        </p:nvSpPr>
        <p:spPr/>
        <p:txBody>
          <a:bodyPr/>
          <a:lstStyle/>
          <a:p>
            <a:fld id="{892A9DE5-FADB-4112-82CB-7BDF52089C62}" type="slidenum">
              <a:rPr lang="en-IN" smtClean="0"/>
              <a:t>‹#›</a:t>
            </a:fld>
            <a:endParaRPr lang="en-IN"/>
          </a:p>
        </p:txBody>
      </p:sp>
    </p:spTree>
    <p:extLst>
      <p:ext uri="{BB962C8B-B14F-4D97-AF65-F5344CB8AC3E}">
        <p14:creationId xmlns:p14="http://schemas.microsoft.com/office/powerpoint/2010/main" val="19587631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B0A2CFEB-9B26-8DE0-D485-BDB1C897D70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6680D526-0417-048E-1F4C-F9E6225E6F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E143E94A-5B8D-A1C4-2424-1706E6623394}"/>
              </a:ext>
            </a:extLst>
          </p:cNvPr>
          <p:cNvSpPr>
            <a:spLocks noGrp="1"/>
          </p:cNvSpPr>
          <p:nvPr>
            <p:ph type="dt" sz="half" idx="10"/>
          </p:nvPr>
        </p:nvSpPr>
        <p:spPr/>
        <p:txBody>
          <a:bodyPr/>
          <a:lstStyle/>
          <a:p>
            <a:fld id="{A38C5E88-E1D7-4C50-92FF-CDBDAECCF78E}" type="datetimeFigureOut">
              <a:rPr lang="en-IN" smtClean="0"/>
              <a:t>04-11-2023</a:t>
            </a:fld>
            <a:endParaRPr lang="en-IN"/>
          </a:p>
        </p:txBody>
      </p:sp>
      <p:sp>
        <p:nvSpPr>
          <p:cNvPr id="5" name="Footer Placeholder 4">
            <a:extLst>
              <a:ext uri="{FF2B5EF4-FFF2-40B4-BE49-F238E27FC236}">
                <a16:creationId xmlns="" xmlns:a16="http://schemas.microsoft.com/office/drawing/2014/main" id="{AABD2D43-C27F-28CC-FDC8-C33F020E473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40AA428D-FFE8-F7B4-C1C5-673C2B19A6A5}"/>
              </a:ext>
            </a:extLst>
          </p:cNvPr>
          <p:cNvSpPr>
            <a:spLocks noGrp="1"/>
          </p:cNvSpPr>
          <p:nvPr>
            <p:ph type="sldNum" sz="quarter" idx="12"/>
          </p:nvPr>
        </p:nvSpPr>
        <p:spPr/>
        <p:txBody>
          <a:bodyPr/>
          <a:lstStyle/>
          <a:p>
            <a:fld id="{892A9DE5-FADB-4112-82CB-7BDF52089C62}" type="slidenum">
              <a:rPr lang="en-IN" smtClean="0"/>
              <a:t>‹#›</a:t>
            </a:fld>
            <a:endParaRPr lang="en-IN"/>
          </a:p>
        </p:txBody>
      </p:sp>
    </p:spTree>
    <p:extLst>
      <p:ext uri="{BB962C8B-B14F-4D97-AF65-F5344CB8AC3E}">
        <p14:creationId xmlns:p14="http://schemas.microsoft.com/office/powerpoint/2010/main" val="6736587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39A81C7-4EA7-E59A-F467-9AD89A0CDAB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 xmlns:a16="http://schemas.microsoft.com/office/drawing/2014/main" id="{E1F500ED-6478-7570-04D7-5141533A45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 xmlns:a16="http://schemas.microsoft.com/office/drawing/2014/main" id="{07996492-9A93-3BB8-6E60-2EFB8E907310}"/>
              </a:ext>
            </a:extLst>
          </p:cNvPr>
          <p:cNvSpPr>
            <a:spLocks noGrp="1"/>
          </p:cNvSpPr>
          <p:nvPr>
            <p:ph type="dt" sz="half" idx="10"/>
          </p:nvPr>
        </p:nvSpPr>
        <p:spPr/>
        <p:txBody>
          <a:bodyPr/>
          <a:lstStyle/>
          <a:p>
            <a:fld id="{A38C5E88-E1D7-4C50-92FF-CDBDAECCF78E}" type="datetimeFigureOut">
              <a:rPr lang="en-IN" smtClean="0"/>
              <a:t>04-11-2023</a:t>
            </a:fld>
            <a:endParaRPr lang="en-IN"/>
          </a:p>
        </p:txBody>
      </p:sp>
      <p:sp>
        <p:nvSpPr>
          <p:cNvPr id="5" name="Footer Placeholder 4">
            <a:extLst>
              <a:ext uri="{FF2B5EF4-FFF2-40B4-BE49-F238E27FC236}">
                <a16:creationId xmlns="" xmlns:a16="http://schemas.microsoft.com/office/drawing/2014/main" id="{28AE0938-1986-FDFB-750B-6E094CB9E9C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CE3124D1-D70A-CB85-B71A-485F888E0258}"/>
              </a:ext>
            </a:extLst>
          </p:cNvPr>
          <p:cNvSpPr>
            <a:spLocks noGrp="1"/>
          </p:cNvSpPr>
          <p:nvPr>
            <p:ph type="sldNum" sz="quarter" idx="12"/>
          </p:nvPr>
        </p:nvSpPr>
        <p:spPr/>
        <p:txBody>
          <a:bodyPr/>
          <a:lstStyle/>
          <a:p>
            <a:fld id="{892A9DE5-FADB-4112-82CB-7BDF52089C62}" type="slidenum">
              <a:rPr lang="en-IN" smtClean="0"/>
              <a:t>‹#›</a:t>
            </a:fld>
            <a:endParaRPr lang="en-IN"/>
          </a:p>
        </p:txBody>
      </p:sp>
    </p:spTree>
    <p:extLst>
      <p:ext uri="{BB962C8B-B14F-4D97-AF65-F5344CB8AC3E}">
        <p14:creationId xmlns:p14="http://schemas.microsoft.com/office/powerpoint/2010/main" val="74093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1B95A9C1-5AAA-5DD0-EFD6-FCF28EE4F0D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19D8F671-F547-4079-1E6D-98D45B78993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 xmlns:a16="http://schemas.microsoft.com/office/drawing/2014/main" id="{8A86213E-FE60-340F-4528-D36AE29740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 xmlns:a16="http://schemas.microsoft.com/office/drawing/2014/main" id="{C7D9CFEE-FB81-DCE9-44FE-7CE4971840B1}"/>
              </a:ext>
            </a:extLst>
          </p:cNvPr>
          <p:cNvSpPr>
            <a:spLocks noGrp="1"/>
          </p:cNvSpPr>
          <p:nvPr>
            <p:ph type="dt" sz="half" idx="10"/>
          </p:nvPr>
        </p:nvSpPr>
        <p:spPr/>
        <p:txBody>
          <a:bodyPr/>
          <a:lstStyle/>
          <a:p>
            <a:fld id="{A38C5E88-E1D7-4C50-92FF-CDBDAECCF78E}" type="datetimeFigureOut">
              <a:rPr lang="en-IN" smtClean="0"/>
              <a:t>04-11-2023</a:t>
            </a:fld>
            <a:endParaRPr lang="en-IN"/>
          </a:p>
        </p:txBody>
      </p:sp>
      <p:sp>
        <p:nvSpPr>
          <p:cNvPr id="6" name="Footer Placeholder 5">
            <a:extLst>
              <a:ext uri="{FF2B5EF4-FFF2-40B4-BE49-F238E27FC236}">
                <a16:creationId xmlns="" xmlns:a16="http://schemas.microsoft.com/office/drawing/2014/main" id="{5E2070D1-EB05-6F79-6527-4B3056859AB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8A6D96A2-CEF9-533B-8B6E-6FD84C8D5C30}"/>
              </a:ext>
            </a:extLst>
          </p:cNvPr>
          <p:cNvSpPr>
            <a:spLocks noGrp="1"/>
          </p:cNvSpPr>
          <p:nvPr>
            <p:ph type="sldNum" sz="quarter" idx="12"/>
          </p:nvPr>
        </p:nvSpPr>
        <p:spPr/>
        <p:txBody>
          <a:bodyPr/>
          <a:lstStyle/>
          <a:p>
            <a:fld id="{892A9DE5-FADB-4112-82CB-7BDF52089C62}" type="slidenum">
              <a:rPr lang="en-IN" smtClean="0"/>
              <a:t>‹#›</a:t>
            </a:fld>
            <a:endParaRPr lang="en-IN"/>
          </a:p>
        </p:txBody>
      </p:sp>
    </p:spTree>
    <p:extLst>
      <p:ext uri="{BB962C8B-B14F-4D97-AF65-F5344CB8AC3E}">
        <p14:creationId xmlns:p14="http://schemas.microsoft.com/office/powerpoint/2010/main" val="8911983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1AF8712-FF5E-1890-261A-401F65C41D7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36598958-4E99-2CB2-E91B-9E06CC4093E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 xmlns:a16="http://schemas.microsoft.com/office/drawing/2014/main" id="{38C4724F-BBDD-455C-996F-351C3C7AE7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 xmlns:a16="http://schemas.microsoft.com/office/drawing/2014/main" id="{3F1F30D1-C07F-9306-C08E-6A9B513A9B5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 xmlns:a16="http://schemas.microsoft.com/office/drawing/2014/main" id="{A7188511-CC15-72A0-0111-31D5F30A0A4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 xmlns:a16="http://schemas.microsoft.com/office/drawing/2014/main" id="{541D7FE4-24D0-65A0-608D-F01DA5B70535}"/>
              </a:ext>
            </a:extLst>
          </p:cNvPr>
          <p:cNvSpPr>
            <a:spLocks noGrp="1"/>
          </p:cNvSpPr>
          <p:nvPr>
            <p:ph type="dt" sz="half" idx="10"/>
          </p:nvPr>
        </p:nvSpPr>
        <p:spPr/>
        <p:txBody>
          <a:bodyPr/>
          <a:lstStyle/>
          <a:p>
            <a:fld id="{A38C5E88-E1D7-4C50-92FF-CDBDAECCF78E}" type="datetimeFigureOut">
              <a:rPr lang="en-IN" smtClean="0"/>
              <a:t>04-11-2023</a:t>
            </a:fld>
            <a:endParaRPr lang="en-IN"/>
          </a:p>
        </p:txBody>
      </p:sp>
      <p:sp>
        <p:nvSpPr>
          <p:cNvPr id="8" name="Footer Placeholder 7">
            <a:extLst>
              <a:ext uri="{FF2B5EF4-FFF2-40B4-BE49-F238E27FC236}">
                <a16:creationId xmlns="" xmlns:a16="http://schemas.microsoft.com/office/drawing/2014/main" id="{B3ACE110-8B0C-25C6-02BA-09B80633F4F3}"/>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 xmlns:a16="http://schemas.microsoft.com/office/drawing/2014/main" id="{F5B549AE-E7FD-083C-E194-E6D4CA6C7D29}"/>
              </a:ext>
            </a:extLst>
          </p:cNvPr>
          <p:cNvSpPr>
            <a:spLocks noGrp="1"/>
          </p:cNvSpPr>
          <p:nvPr>
            <p:ph type="sldNum" sz="quarter" idx="12"/>
          </p:nvPr>
        </p:nvSpPr>
        <p:spPr/>
        <p:txBody>
          <a:bodyPr/>
          <a:lstStyle/>
          <a:p>
            <a:fld id="{892A9DE5-FADB-4112-82CB-7BDF52089C62}" type="slidenum">
              <a:rPr lang="en-IN" smtClean="0"/>
              <a:t>‹#›</a:t>
            </a:fld>
            <a:endParaRPr lang="en-IN"/>
          </a:p>
        </p:txBody>
      </p:sp>
    </p:spTree>
    <p:extLst>
      <p:ext uri="{BB962C8B-B14F-4D97-AF65-F5344CB8AC3E}">
        <p14:creationId xmlns:p14="http://schemas.microsoft.com/office/powerpoint/2010/main" val="2268284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72E08A6-C7FB-33C5-3DF0-8F92F8900D5B}"/>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 xmlns:a16="http://schemas.microsoft.com/office/drawing/2014/main" id="{A62352D0-6276-5F62-0942-88DCC53591BF}"/>
              </a:ext>
            </a:extLst>
          </p:cNvPr>
          <p:cNvSpPr>
            <a:spLocks noGrp="1"/>
          </p:cNvSpPr>
          <p:nvPr>
            <p:ph type="dt" sz="half" idx="10"/>
          </p:nvPr>
        </p:nvSpPr>
        <p:spPr/>
        <p:txBody>
          <a:bodyPr/>
          <a:lstStyle/>
          <a:p>
            <a:fld id="{A38C5E88-E1D7-4C50-92FF-CDBDAECCF78E}" type="datetimeFigureOut">
              <a:rPr lang="en-IN" smtClean="0"/>
              <a:t>04-11-2023</a:t>
            </a:fld>
            <a:endParaRPr lang="en-IN"/>
          </a:p>
        </p:txBody>
      </p:sp>
      <p:sp>
        <p:nvSpPr>
          <p:cNvPr id="4" name="Footer Placeholder 3">
            <a:extLst>
              <a:ext uri="{FF2B5EF4-FFF2-40B4-BE49-F238E27FC236}">
                <a16:creationId xmlns="" xmlns:a16="http://schemas.microsoft.com/office/drawing/2014/main" id="{2867C368-C17B-5ED1-9669-2DF1DC07BB3D}"/>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 xmlns:a16="http://schemas.microsoft.com/office/drawing/2014/main" id="{356A74A4-E20D-4608-1E3C-237166BD384A}"/>
              </a:ext>
            </a:extLst>
          </p:cNvPr>
          <p:cNvSpPr>
            <a:spLocks noGrp="1"/>
          </p:cNvSpPr>
          <p:nvPr>
            <p:ph type="sldNum" sz="quarter" idx="12"/>
          </p:nvPr>
        </p:nvSpPr>
        <p:spPr/>
        <p:txBody>
          <a:bodyPr/>
          <a:lstStyle/>
          <a:p>
            <a:fld id="{892A9DE5-FADB-4112-82CB-7BDF52089C62}" type="slidenum">
              <a:rPr lang="en-IN" smtClean="0"/>
              <a:t>‹#›</a:t>
            </a:fld>
            <a:endParaRPr lang="en-IN"/>
          </a:p>
        </p:txBody>
      </p:sp>
    </p:spTree>
    <p:extLst>
      <p:ext uri="{BB962C8B-B14F-4D97-AF65-F5344CB8AC3E}">
        <p14:creationId xmlns:p14="http://schemas.microsoft.com/office/powerpoint/2010/main" val="21519730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 xmlns:a16="http://schemas.microsoft.com/office/drawing/2014/main" id="{8B54E7AB-526C-A731-95EC-4022C81389F9}"/>
              </a:ext>
            </a:extLst>
          </p:cNvPr>
          <p:cNvSpPr>
            <a:spLocks noGrp="1"/>
          </p:cNvSpPr>
          <p:nvPr>
            <p:ph type="dt" sz="half" idx="10"/>
          </p:nvPr>
        </p:nvSpPr>
        <p:spPr/>
        <p:txBody>
          <a:bodyPr/>
          <a:lstStyle/>
          <a:p>
            <a:fld id="{A38C5E88-E1D7-4C50-92FF-CDBDAECCF78E}" type="datetimeFigureOut">
              <a:rPr lang="en-IN" smtClean="0"/>
              <a:t>04-11-2023</a:t>
            </a:fld>
            <a:endParaRPr lang="en-IN"/>
          </a:p>
        </p:txBody>
      </p:sp>
      <p:sp>
        <p:nvSpPr>
          <p:cNvPr id="3" name="Footer Placeholder 2">
            <a:extLst>
              <a:ext uri="{FF2B5EF4-FFF2-40B4-BE49-F238E27FC236}">
                <a16:creationId xmlns="" xmlns:a16="http://schemas.microsoft.com/office/drawing/2014/main" id="{258B7B58-A264-31D7-48C7-3B2A42079C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 xmlns:a16="http://schemas.microsoft.com/office/drawing/2014/main" id="{9168A10B-8368-0E28-FE70-5DBEC7311344}"/>
              </a:ext>
            </a:extLst>
          </p:cNvPr>
          <p:cNvSpPr>
            <a:spLocks noGrp="1"/>
          </p:cNvSpPr>
          <p:nvPr>
            <p:ph type="sldNum" sz="quarter" idx="12"/>
          </p:nvPr>
        </p:nvSpPr>
        <p:spPr/>
        <p:txBody>
          <a:bodyPr/>
          <a:lstStyle/>
          <a:p>
            <a:fld id="{892A9DE5-FADB-4112-82CB-7BDF52089C62}" type="slidenum">
              <a:rPr lang="en-IN" smtClean="0"/>
              <a:t>‹#›</a:t>
            </a:fld>
            <a:endParaRPr lang="en-IN"/>
          </a:p>
        </p:txBody>
      </p:sp>
    </p:spTree>
    <p:extLst>
      <p:ext uri="{BB962C8B-B14F-4D97-AF65-F5344CB8AC3E}">
        <p14:creationId xmlns:p14="http://schemas.microsoft.com/office/powerpoint/2010/main" val="424743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82440104-623D-C879-8AB7-CE51675658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 xmlns:a16="http://schemas.microsoft.com/office/drawing/2014/main" id="{0FE355E5-B72C-7CD3-D2EB-5B01B47717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 xmlns:a16="http://schemas.microsoft.com/office/drawing/2014/main" id="{384D913A-FC03-2522-628C-5D01D35DF9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CB122412-A911-77F1-2931-847BA86C07E8}"/>
              </a:ext>
            </a:extLst>
          </p:cNvPr>
          <p:cNvSpPr>
            <a:spLocks noGrp="1"/>
          </p:cNvSpPr>
          <p:nvPr>
            <p:ph type="dt" sz="half" idx="10"/>
          </p:nvPr>
        </p:nvSpPr>
        <p:spPr/>
        <p:txBody>
          <a:bodyPr/>
          <a:lstStyle/>
          <a:p>
            <a:fld id="{A38C5E88-E1D7-4C50-92FF-CDBDAECCF78E}" type="datetimeFigureOut">
              <a:rPr lang="en-IN" smtClean="0"/>
              <a:t>04-11-2023</a:t>
            </a:fld>
            <a:endParaRPr lang="en-IN"/>
          </a:p>
        </p:txBody>
      </p:sp>
      <p:sp>
        <p:nvSpPr>
          <p:cNvPr id="6" name="Footer Placeholder 5">
            <a:extLst>
              <a:ext uri="{FF2B5EF4-FFF2-40B4-BE49-F238E27FC236}">
                <a16:creationId xmlns="" xmlns:a16="http://schemas.microsoft.com/office/drawing/2014/main" id="{9C05E409-95D1-8313-D225-A9C70916DFB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F05A8277-9C73-4C32-F9DC-5813736353D1}"/>
              </a:ext>
            </a:extLst>
          </p:cNvPr>
          <p:cNvSpPr>
            <a:spLocks noGrp="1"/>
          </p:cNvSpPr>
          <p:nvPr>
            <p:ph type="sldNum" sz="quarter" idx="12"/>
          </p:nvPr>
        </p:nvSpPr>
        <p:spPr/>
        <p:txBody>
          <a:bodyPr/>
          <a:lstStyle/>
          <a:p>
            <a:fld id="{892A9DE5-FADB-4112-82CB-7BDF52089C62}" type="slidenum">
              <a:rPr lang="en-IN" smtClean="0"/>
              <a:t>‹#›</a:t>
            </a:fld>
            <a:endParaRPr lang="en-IN"/>
          </a:p>
        </p:txBody>
      </p:sp>
    </p:spTree>
    <p:extLst>
      <p:ext uri="{BB962C8B-B14F-4D97-AF65-F5344CB8AC3E}">
        <p14:creationId xmlns:p14="http://schemas.microsoft.com/office/powerpoint/2010/main" val="27020274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7FADC15-D8C2-9665-D26B-F822ACE544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 xmlns:a16="http://schemas.microsoft.com/office/drawing/2014/main" id="{38ACE4CF-B028-FF0D-072F-9AFA195F4A1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 xmlns:a16="http://schemas.microsoft.com/office/drawing/2014/main" id="{86EA7053-12B7-B25A-8459-EF78A89601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 xmlns:a16="http://schemas.microsoft.com/office/drawing/2014/main" id="{3A5D8A85-454B-1EED-9B89-97A7C1A940AE}"/>
              </a:ext>
            </a:extLst>
          </p:cNvPr>
          <p:cNvSpPr>
            <a:spLocks noGrp="1"/>
          </p:cNvSpPr>
          <p:nvPr>
            <p:ph type="dt" sz="half" idx="10"/>
          </p:nvPr>
        </p:nvSpPr>
        <p:spPr/>
        <p:txBody>
          <a:bodyPr/>
          <a:lstStyle/>
          <a:p>
            <a:fld id="{A38C5E88-E1D7-4C50-92FF-CDBDAECCF78E}" type="datetimeFigureOut">
              <a:rPr lang="en-IN" smtClean="0"/>
              <a:t>04-11-2023</a:t>
            </a:fld>
            <a:endParaRPr lang="en-IN"/>
          </a:p>
        </p:txBody>
      </p:sp>
      <p:sp>
        <p:nvSpPr>
          <p:cNvPr id="6" name="Footer Placeholder 5">
            <a:extLst>
              <a:ext uri="{FF2B5EF4-FFF2-40B4-BE49-F238E27FC236}">
                <a16:creationId xmlns="" xmlns:a16="http://schemas.microsoft.com/office/drawing/2014/main" id="{3487410B-3CD7-2CAF-00C1-43E081E3234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 xmlns:a16="http://schemas.microsoft.com/office/drawing/2014/main" id="{4674498A-9AA3-83B8-F268-9448E8010C80}"/>
              </a:ext>
            </a:extLst>
          </p:cNvPr>
          <p:cNvSpPr>
            <a:spLocks noGrp="1"/>
          </p:cNvSpPr>
          <p:nvPr>
            <p:ph type="sldNum" sz="quarter" idx="12"/>
          </p:nvPr>
        </p:nvSpPr>
        <p:spPr/>
        <p:txBody>
          <a:bodyPr/>
          <a:lstStyle/>
          <a:p>
            <a:fld id="{892A9DE5-FADB-4112-82CB-7BDF52089C62}" type="slidenum">
              <a:rPr lang="en-IN" smtClean="0"/>
              <a:t>‹#›</a:t>
            </a:fld>
            <a:endParaRPr lang="en-IN"/>
          </a:p>
        </p:txBody>
      </p:sp>
    </p:spTree>
    <p:extLst>
      <p:ext uri="{BB962C8B-B14F-4D97-AF65-F5344CB8AC3E}">
        <p14:creationId xmlns:p14="http://schemas.microsoft.com/office/powerpoint/2010/main" val="14865146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FAEE5D1-A95A-F017-2A30-13ED696E569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EEBED6C7-DAF8-8EE3-2E89-25DF1E8976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8CC4620-A928-00A3-896E-114F545E54D0}"/>
              </a:ext>
            </a:extLst>
          </p:cNvPr>
          <p:cNvSpPr>
            <a:spLocks noGrp="1"/>
          </p:cNvSpPr>
          <p:nvPr>
            <p:ph type="dt" sz="half" idx="10"/>
          </p:nvPr>
        </p:nvSpPr>
        <p:spPr/>
        <p:txBody>
          <a:bodyPr/>
          <a:lstStyle/>
          <a:p>
            <a:fld id="{A38C5E88-E1D7-4C50-92FF-CDBDAECCF78E}" type="datetimeFigureOut">
              <a:rPr lang="en-IN" smtClean="0"/>
              <a:t>04-11-2023</a:t>
            </a:fld>
            <a:endParaRPr lang="en-IN"/>
          </a:p>
        </p:txBody>
      </p:sp>
      <p:sp>
        <p:nvSpPr>
          <p:cNvPr id="5" name="Footer Placeholder 4">
            <a:extLst>
              <a:ext uri="{FF2B5EF4-FFF2-40B4-BE49-F238E27FC236}">
                <a16:creationId xmlns="" xmlns:a16="http://schemas.microsoft.com/office/drawing/2014/main" id="{212B57E2-6B16-7B8E-5F62-2B5880DB25C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20C00EFC-FE7D-304A-426C-758116E0B928}"/>
              </a:ext>
            </a:extLst>
          </p:cNvPr>
          <p:cNvSpPr>
            <a:spLocks noGrp="1"/>
          </p:cNvSpPr>
          <p:nvPr>
            <p:ph type="sldNum" sz="quarter" idx="12"/>
          </p:nvPr>
        </p:nvSpPr>
        <p:spPr/>
        <p:txBody>
          <a:bodyPr/>
          <a:lstStyle/>
          <a:p>
            <a:fld id="{892A9DE5-FADB-4112-82CB-7BDF52089C62}" type="slidenum">
              <a:rPr lang="en-IN" smtClean="0"/>
              <a:t>‹#›</a:t>
            </a:fld>
            <a:endParaRPr lang="en-IN"/>
          </a:p>
        </p:txBody>
      </p:sp>
    </p:spTree>
    <p:extLst>
      <p:ext uri="{BB962C8B-B14F-4D97-AF65-F5344CB8AC3E}">
        <p14:creationId xmlns:p14="http://schemas.microsoft.com/office/powerpoint/2010/main" val="1383175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 xmlns:a16="http://schemas.microsoft.com/office/drawing/2014/main" id="{E13AD23F-B77F-D4E7-B026-CEC121211CF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 xmlns:a16="http://schemas.microsoft.com/office/drawing/2014/main" id="{EE2DF252-5591-94C5-7378-764F09EA81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1503EC3C-A009-0E28-27B0-41A4DD8082D0}"/>
              </a:ext>
            </a:extLst>
          </p:cNvPr>
          <p:cNvSpPr>
            <a:spLocks noGrp="1"/>
          </p:cNvSpPr>
          <p:nvPr>
            <p:ph type="dt" sz="half" idx="10"/>
          </p:nvPr>
        </p:nvSpPr>
        <p:spPr/>
        <p:txBody>
          <a:bodyPr/>
          <a:lstStyle/>
          <a:p>
            <a:fld id="{A38C5E88-E1D7-4C50-92FF-CDBDAECCF78E}" type="datetimeFigureOut">
              <a:rPr lang="en-IN" smtClean="0"/>
              <a:t>04-11-2023</a:t>
            </a:fld>
            <a:endParaRPr lang="en-IN"/>
          </a:p>
        </p:txBody>
      </p:sp>
      <p:sp>
        <p:nvSpPr>
          <p:cNvPr id="5" name="Footer Placeholder 4">
            <a:extLst>
              <a:ext uri="{FF2B5EF4-FFF2-40B4-BE49-F238E27FC236}">
                <a16:creationId xmlns="" xmlns:a16="http://schemas.microsoft.com/office/drawing/2014/main" id="{5D1B2DF7-9451-11B4-C684-3B28F777703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 xmlns:a16="http://schemas.microsoft.com/office/drawing/2014/main" id="{E71BAAB6-0A5E-6B6D-6A8A-39BDF908C4D3}"/>
              </a:ext>
            </a:extLst>
          </p:cNvPr>
          <p:cNvSpPr>
            <a:spLocks noGrp="1"/>
          </p:cNvSpPr>
          <p:nvPr>
            <p:ph type="sldNum" sz="quarter" idx="12"/>
          </p:nvPr>
        </p:nvSpPr>
        <p:spPr/>
        <p:txBody>
          <a:bodyPr/>
          <a:lstStyle/>
          <a:p>
            <a:fld id="{892A9DE5-FADB-4112-82CB-7BDF52089C62}" type="slidenum">
              <a:rPr lang="en-IN" smtClean="0"/>
              <a:t>‹#›</a:t>
            </a:fld>
            <a:endParaRPr lang="en-IN"/>
          </a:p>
        </p:txBody>
      </p:sp>
    </p:spTree>
    <p:extLst>
      <p:ext uri="{BB962C8B-B14F-4D97-AF65-F5344CB8AC3E}">
        <p14:creationId xmlns:p14="http://schemas.microsoft.com/office/powerpoint/2010/main" val="10914542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 xmlns:a16="http://schemas.microsoft.com/office/drawing/2014/main" id="{F359C855-7554-51FE-6C21-756E702830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 xmlns:a16="http://schemas.microsoft.com/office/drawing/2014/main" id="{2EC01619-DE5B-0C88-086E-F97A6AACB8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 xmlns:a16="http://schemas.microsoft.com/office/drawing/2014/main" id="{27C9C782-573D-2CDB-CB59-3D3FBF2931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8C5E88-E1D7-4C50-92FF-CDBDAECCF78E}" type="datetimeFigureOut">
              <a:rPr lang="en-IN" smtClean="0"/>
              <a:t>04-11-2023</a:t>
            </a:fld>
            <a:endParaRPr lang="en-IN"/>
          </a:p>
        </p:txBody>
      </p:sp>
      <p:sp>
        <p:nvSpPr>
          <p:cNvPr id="5" name="Footer Placeholder 4">
            <a:extLst>
              <a:ext uri="{FF2B5EF4-FFF2-40B4-BE49-F238E27FC236}">
                <a16:creationId xmlns="" xmlns:a16="http://schemas.microsoft.com/office/drawing/2014/main" id="{F05D1C14-0FF1-3CA7-4CA6-3DB5E5FC485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 xmlns:a16="http://schemas.microsoft.com/office/drawing/2014/main" id="{DF4DF20B-BD66-5EFA-E320-B818D3452F2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92A9DE5-FADB-4112-82CB-7BDF52089C62}" type="slidenum">
              <a:rPr lang="en-IN" smtClean="0"/>
              <a:t>‹#›</a:t>
            </a:fld>
            <a:endParaRPr lang="en-IN"/>
          </a:p>
        </p:txBody>
      </p:sp>
    </p:spTree>
    <p:extLst>
      <p:ext uri="{BB962C8B-B14F-4D97-AF65-F5344CB8AC3E}">
        <p14:creationId xmlns:p14="http://schemas.microsoft.com/office/powerpoint/2010/main" val="26801271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hyperlink" Target="https://www.geeksforgeeks.org/software-engineering-agile-development-models/" TargetMode="Externa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hyperlink" Target="https://www.nimblework.com/blog/project-planning/" TargetMode="Externa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sz="4800" b="1" dirty="0"/>
              <a:t>5.1 Web Engineering</a:t>
            </a:r>
            <a:endParaRPr lang="en-IN" sz="48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4"/>
            <a:ext cx="12192000" cy="6193766"/>
          </a:xfrm>
          <a:solidFill>
            <a:srgbClr val="000000"/>
          </a:solidFill>
        </p:spPr>
        <p:txBody>
          <a:bodyPr/>
          <a:lstStyle/>
          <a:p>
            <a:pPr marL="285750" indent="-285750" algn="l">
              <a:buFont typeface="Arial" panose="020B0604020202020204" pitchFamily="34" charset="0"/>
              <a:buChar char="•"/>
            </a:pPr>
            <a:endParaRPr lang="en-IN" sz="1800" dirty="0">
              <a:solidFill>
                <a:schemeClr val="bg1"/>
              </a:solidFill>
              <a:effectLst/>
              <a:latin typeface="Arial" panose="020B0604020202020204" pitchFamily="34" charset="0"/>
              <a:ea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endParaRPr lang="en-IN" sz="1800" dirty="0">
              <a:solidFill>
                <a:schemeClr val="bg1"/>
              </a:solidFill>
              <a:latin typeface="Arial" panose="020B0604020202020204" pitchFamily="34" charset="0"/>
              <a:ea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IN" sz="2000" dirty="0">
                <a:solidFill>
                  <a:schemeClr val="bg1"/>
                </a:solidFill>
                <a:effectLst/>
                <a:latin typeface="Arial" panose="020B0604020202020204" pitchFamily="34" charset="0"/>
                <a:ea typeface="Times New Roman" panose="02020603050405020304" pitchFamily="18" charset="0"/>
                <a:cs typeface="Times New Roman" panose="02020603050405020304" pitchFamily="18" charset="0"/>
              </a:rPr>
              <a:t>Web engineering focuses on the methodologies, techniques, and tools that are the foundation of Web application development and which support their design, development, evolution, and evaluation. </a:t>
            </a:r>
          </a:p>
          <a:p>
            <a:pPr marL="285750" indent="-285750" algn="l">
              <a:buFont typeface="Arial" panose="020B0604020202020204" pitchFamily="34" charset="0"/>
              <a:buChar char="•"/>
            </a:pPr>
            <a:r>
              <a:rPr lang="en-IN" sz="2000" dirty="0">
                <a:solidFill>
                  <a:schemeClr val="bg1"/>
                </a:solidFill>
                <a:effectLst/>
                <a:latin typeface="Arial" panose="020B0604020202020204" pitchFamily="34" charset="0"/>
                <a:ea typeface="Times New Roman" panose="02020603050405020304" pitchFamily="18" charset="0"/>
                <a:cs typeface="Times New Roman" panose="02020603050405020304" pitchFamily="18" charset="0"/>
              </a:rPr>
              <a:t>Web application development has certain characteristics that make it different from traditional software, information system, or computer application development.</a:t>
            </a:r>
            <a:endParaRPr lang="en-IN" sz="2000" dirty="0">
              <a:solidFill>
                <a:schemeClr val="bg1"/>
              </a:solidFill>
              <a:effectLst/>
              <a:latin typeface="Times New Roman" panose="02020603050405020304" pitchFamily="18" charset="0"/>
              <a:ea typeface="Times New Roman" panose="02020603050405020304" pitchFamily="18" charset="0"/>
            </a:endParaRPr>
          </a:p>
          <a:p>
            <a:pPr marL="285750" indent="-285750" algn="l">
              <a:buFont typeface="Arial" panose="020B0604020202020204" pitchFamily="34" charset="0"/>
              <a:buChar char="•"/>
            </a:pPr>
            <a:r>
              <a:rPr lang="en-IN" sz="20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Web engineering is multidisciplinary and encompasses contributions from diverse areas: systems analysis and design, software engineering, hypermedia/hypertext engineering, requirements engineering, human-computer interaction, user interface, data engineering, information science, information indexing and retrieval, testing, modelling and simulation, project management, and graphic design and presentation. </a:t>
            </a:r>
          </a:p>
          <a:p>
            <a:pPr marL="285750" indent="-285750" algn="l">
              <a:buFont typeface="Arial" panose="020B0604020202020204" pitchFamily="34" charset="0"/>
              <a:buChar char="•"/>
            </a:pPr>
            <a:r>
              <a:rPr lang="en-IN" sz="2000" dirty="0">
                <a:solidFill>
                  <a:schemeClr val="bg1"/>
                </a:solidFill>
                <a:effectLst/>
                <a:latin typeface="Arial" panose="020B0604020202020204" pitchFamily="34" charset="0"/>
                <a:ea typeface="Calibri" panose="020F0502020204030204" pitchFamily="34" charset="0"/>
                <a:cs typeface="Times New Roman" panose="02020603050405020304" pitchFamily="18" charset="0"/>
              </a:rPr>
              <a:t>Web engineering is neither a clone nor a subset of software engineering, although both involve programming and software development. While Web Engineering uses software engineering principles, it encompasses new approaches, methodologies, tools, techniques, and guidelines to meet the unique requirements of Web-based applications</a:t>
            </a:r>
            <a:endParaRPr lang="en-IN" sz="2800" dirty="0">
              <a:solidFill>
                <a:schemeClr val="bg1"/>
              </a:solidFill>
            </a:endParaRPr>
          </a:p>
        </p:txBody>
      </p:sp>
    </p:spTree>
    <p:extLst>
      <p:ext uri="{BB962C8B-B14F-4D97-AF65-F5344CB8AC3E}">
        <p14:creationId xmlns:p14="http://schemas.microsoft.com/office/powerpoint/2010/main" val="26658140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sz="4800" b="1" dirty="0"/>
              <a:t>5.1 Web Engineering</a:t>
            </a:r>
            <a:endParaRPr lang="en-IN" sz="48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4"/>
            <a:ext cx="12192000" cy="6193766"/>
          </a:xfrm>
          <a:solidFill>
            <a:srgbClr val="000000"/>
          </a:solidFill>
        </p:spPr>
        <p:txBody>
          <a:bodyPr/>
          <a:lstStyle/>
          <a:p>
            <a:pPr algn="l"/>
            <a:r>
              <a:rPr lang="en-US" dirty="0">
                <a:solidFill>
                  <a:schemeClr val="bg1"/>
                </a:solidFill>
              </a:rPr>
              <a:t>Web Engineering</a:t>
            </a:r>
            <a:endParaRPr lang="en-IN" dirty="0">
              <a:solidFill>
                <a:schemeClr val="bg1"/>
              </a:solidFill>
            </a:endParaRPr>
          </a:p>
        </p:txBody>
      </p:sp>
      <p:pic>
        <p:nvPicPr>
          <p:cNvPr id="5" name="Picture 4">
            <a:extLst>
              <a:ext uri="{FF2B5EF4-FFF2-40B4-BE49-F238E27FC236}">
                <a16:creationId xmlns="" xmlns:a16="http://schemas.microsoft.com/office/drawing/2014/main" id="{97BA29F8-BC5E-7E95-F332-D9B282B7EF09}"/>
              </a:ext>
            </a:extLst>
          </p:cNvPr>
          <p:cNvPicPr>
            <a:picLocks noChangeAspect="1"/>
          </p:cNvPicPr>
          <p:nvPr/>
        </p:nvPicPr>
        <p:blipFill>
          <a:blip r:embed="rId2"/>
          <a:stretch>
            <a:fillRect/>
          </a:stretch>
        </p:blipFill>
        <p:spPr>
          <a:xfrm>
            <a:off x="1233054" y="1328468"/>
            <a:ext cx="9725891" cy="5070929"/>
          </a:xfrm>
          <a:prstGeom prst="rect">
            <a:avLst/>
          </a:prstGeom>
        </p:spPr>
      </p:pic>
    </p:spTree>
    <p:extLst>
      <p:ext uri="{BB962C8B-B14F-4D97-AF65-F5344CB8AC3E}">
        <p14:creationId xmlns:p14="http://schemas.microsoft.com/office/powerpoint/2010/main" val="30783997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sz="4800" b="1" dirty="0"/>
              <a:t>5.1 Web Engineering</a:t>
            </a:r>
            <a:endParaRPr lang="en-IN" sz="48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4"/>
            <a:ext cx="12192000" cy="6193766"/>
          </a:xfrm>
          <a:solidFill>
            <a:srgbClr val="000000"/>
          </a:solidFill>
        </p:spPr>
        <p:txBody>
          <a:bodyPr/>
          <a:lstStyle/>
          <a:p>
            <a:pPr algn="l"/>
            <a:r>
              <a:rPr lang="en-US" dirty="0">
                <a:solidFill>
                  <a:schemeClr val="bg1"/>
                </a:solidFill>
              </a:rPr>
              <a:t>Web Engineering</a:t>
            </a:r>
            <a:endParaRPr lang="en-IN" dirty="0">
              <a:solidFill>
                <a:schemeClr val="bg1"/>
              </a:solidFill>
            </a:endParaRPr>
          </a:p>
        </p:txBody>
      </p:sp>
      <p:pic>
        <p:nvPicPr>
          <p:cNvPr id="4" name="Picture 3">
            <a:extLst>
              <a:ext uri="{FF2B5EF4-FFF2-40B4-BE49-F238E27FC236}">
                <a16:creationId xmlns="" xmlns:a16="http://schemas.microsoft.com/office/drawing/2014/main" id="{9CEA0341-AFD8-7FAD-BFBC-240325EED257}"/>
              </a:ext>
            </a:extLst>
          </p:cNvPr>
          <p:cNvPicPr>
            <a:picLocks noChangeAspect="1"/>
          </p:cNvPicPr>
          <p:nvPr/>
        </p:nvPicPr>
        <p:blipFill>
          <a:blip r:embed="rId2"/>
          <a:stretch>
            <a:fillRect/>
          </a:stretch>
        </p:blipFill>
        <p:spPr>
          <a:xfrm>
            <a:off x="1801091" y="1943100"/>
            <a:ext cx="8395854" cy="3949700"/>
          </a:xfrm>
          <a:prstGeom prst="rect">
            <a:avLst/>
          </a:prstGeom>
        </p:spPr>
      </p:pic>
    </p:spTree>
    <p:extLst>
      <p:ext uri="{BB962C8B-B14F-4D97-AF65-F5344CB8AC3E}">
        <p14:creationId xmlns:p14="http://schemas.microsoft.com/office/powerpoint/2010/main" val="4670009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sz="4800" b="1" dirty="0"/>
              <a:t>5.1 Web Engineering</a:t>
            </a:r>
            <a:endParaRPr lang="en-IN" sz="48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4"/>
            <a:ext cx="12192000" cy="6193765"/>
          </a:xfrm>
          <a:solidFill>
            <a:srgbClr val="000000"/>
          </a:solidFill>
        </p:spPr>
        <p:txBody>
          <a:bodyPr/>
          <a:lstStyle/>
          <a:p>
            <a:pPr algn="l"/>
            <a:endParaRPr lang="en-IN" dirty="0">
              <a:solidFill>
                <a:schemeClr val="bg1"/>
              </a:solidFill>
            </a:endParaRPr>
          </a:p>
        </p:txBody>
      </p:sp>
      <p:pic>
        <p:nvPicPr>
          <p:cNvPr id="1026" name="Picture 2" descr="Challenges for the adoption of model-driven web engineering approaches">
            <a:extLst>
              <a:ext uri="{FF2B5EF4-FFF2-40B4-BE49-F238E27FC236}">
                <a16:creationId xmlns="" xmlns:a16="http://schemas.microsoft.com/office/drawing/2014/main" id="{89DBCE79-BA3E-DC40-AF4D-30939A000C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03185" y="929039"/>
            <a:ext cx="9861774" cy="5434815"/>
          </a:xfrm>
          <a:prstGeom prst="rect">
            <a:avLst/>
          </a:prstGeom>
          <a:solidFill>
            <a:schemeClr val="tx1"/>
          </a:solidFill>
        </p:spPr>
      </p:pic>
    </p:spTree>
    <p:extLst>
      <p:ext uri="{BB962C8B-B14F-4D97-AF65-F5344CB8AC3E}">
        <p14:creationId xmlns:p14="http://schemas.microsoft.com/office/powerpoint/2010/main" val="147284858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sz="4800" b="1" dirty="0"/>
              <a:t>5.1 Web Engineering</a:t>
            </a:r>
            <a:endParaRPr lang="en-IN" sz="4800" b="1" dirty="0"/>
          </a:p>
        </p:txBody>
      </p:sp>
      <p:pic>
        <p:nvPicPr>
          <p:cNvPr id="4" name="Picture 3">
            <a:extLst>
              <a:ext uri="{FF2B5EF4-FFF2-40B4-BE49-F238E27FC236}">
                <a16:creationId xmlns="" xmlns:a16="http://schemas.microsoft.com/office/drawing/2014/main" id="{4CBFE68A-E253-4D36-A6C9-BD016F85D753}"/>
              </a:ext>
            </a:extLst>
          </p:cNvPr>
          <p:cNvPicPr>
            <a:picLocks noChangeAspect="1"/>
          </p:cNvPicPr>
          <p:nvPr/>
        </p:nvPicPr>
        <p:blipFill>
          <a:blip r:embed="rId2"/>
          <a:stretch>
            <a:fillRect/>
          </a:stretch>
        </p:blipFill>
        <p:spPr>
          <a:xfrm>
            <a:off x="3714750" y="2240539"/>
            <a:ext cx="4762500" cy="2543175"/>
          </a:xfrm>
          <a:prstGeom prst="rect">
            <a:avLst/>
          </a:prstGeom>
        </p:spPr>
      </p:pic>
    </p:spTree>
    <p:extLst>
      <p:ext uri="{BB962C8B-B14F-4D97-AF65-F5344CB8AC3E}">
        <p14:creationId xmlns:p14="http://schemas.microsoft.com/office/powerpoint/2010/main" val="11015202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sz="4800" b="1" dirty="0"/>
              <a:t>5.2 Agile Model</a:t>
            </a:r>
            <a:endParaRPr lang="en-IN" sz="48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4"/>
            <a:ext cx="12192000" cy="6193765"/>
          </a:xfrm>
          <a:solidFill>
            <a:srgbClr val="000000"/>
          </a:solidFill>
        </p:spPr>
        <p:txBody>
          <a:bodyPr/>
          <a:lstStyle/>
          <a:p>
            <a:pPr algn="just"/>
            <a:r>
              <a:rPr lang="en-US" b="0" i="0" dirty="0">
                <a:solidFill>
                  <a:schemeClr val="bg1"/>
                </a:solidFill>
                <a:effectLst/>
                <a:latin typeface="inter-regular"/>
              </a:rPr>
              <a:t>The meaning of Agile is swift or versatile. "Agile</a:t>
            </a:r>
            <a:r>
              <a:rPr lang="en-US" b="1" i="0" dirty="0">
                <a:solidFill>
                  <a:schemeClr val="bg1"/>
                </a:solidFill>
                <a:effectLst/>
                <a:latin typeface="inter-bold"/>
              </a:rPr>
              <a:t> process model</a:t>
            </a:r>
            <a:r>
              <a:rPr lang="en-US" b="0" i="0" dirty="0">
                <a:solidFill>
                  <a:schemeClr val="bg1"/>
                </a:solidFill>
                <a:effectLst/>
                <a:latin typeface="inter-regular"/>
              </a:rPr>
              <a:t>" refers to a software development approach based on iterative development. Agile methods break tasks into smaller iterations, or parts do not directly involve long term planning. </a:t>
            </a:r>
          </a:p>
          <a:p>
            <a:pPr algn="just"/>
            <a:r>
              <a:rPr lang="en-US" b="0" i="0" dirty="0">
                <a:solidFill>
                  <a:schemeClr val="bg1"/>
                </a:solidFill>
                <a:effectLst/>
                <a:latin typeface="inter-regular"/>
              </a:rPr>
              <a:t>The project scope and requirements are laid down at the beginning of the development process. Plans regarding the number of iterations, the duration and the scope of each iteration are clearly defined in advance.</a:t>
            </a:r>
          </a:p>
          <a:p>
            <a:pPr algn="just"/>
            <a:r>
              <a:rPr lang="en-US" b="0" i="0" dirty="0">
                <a:solidFill>
                  <a:schemeClr val="bg1"/>
                </a:solidFill>
                <a:effectLst/>
                <a:latin typeface="inter-regular"/>
              </a:rPr>
              <a:t>Each iteration is considered as a short time "frame" in the Agile process model, which typically lasts from one to four weeks. The division of the entire project into smaller parts helps to minimize the project risk and to reduce the overall project delivery time requirements. </a:t>
            </a:r>
          </a:p>
          <a:p>
            <a:pPr algn="just"/>
            <a:r>
              <a:rPr lang="en-US" b="0" i="0" dirty="0">
                <a:solidFill>
                  <a:schemeClr val="bg1"/>
                </a:solidFill>
                <a:effectLst/>
                <a:latin typeface="inter-regular"/>
              </a:rPr>
              <a:t>Each iteration involves a team working through a full software development life cycle including planning, requirements analysis, design, coding, and testing before a working product is demonstrated to the client.</a:t>
            </a:r>
          </a:p>
          <a:p>
            <a:pPr algn="l"/>
            <a:endParaRPr lang="en-IN" dirty="0">
              <a:solidFill>
                <a:schemeClr val="bg1"/>
              </a:solidFill>
            </a:endParaRPr>
          </a:p>
        </p:txBody>
      </p:sp>
    </p:spTree>
    <p:extLst>
      <p:ext uri="{BB962C8B-B14F-4D97-AF65-F5344CB8AC3E}">
        <p14:creationId xmlns:p14="http://schemas.microsoft.com/office/powerpoint/2010/main" val="59180889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sz="4800" b="1" dirty="0"/>
              <a:t>5.2 Agile Model</a:t>
            </a:r>
            <a:endParaRPr lang="en-IN" sz="48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4"/>
            <a:ext cx="12192000" cy="6193765"/>
          </a:xfrm>
          <a:solidFill>
            <a:srgbClr val="000000"/>
          </a:solidFill>
        </p:spPr>
        <p:txBody>
          <a:bodyPr/>
          <a:lstStyle/>
          <a:p>
            <a:pPr algn="just"/>
            <a:r>
              <a:rPr lang="en-US" b="0" i="0" dirty="0">
                <a:solidFill>
                  <a:srgbClr val="FF0066"/>
                </a:solidFill>
                <a:effectLst/>
                <a:latin typeface="erdana"/>
              </a:rPr>
              <a:t>Phases of Agile Model:</a:t>
            </a:r>
          </a:p>
          <a:p>
            <a:pPr algn="just"/>
            <a:endParaRPr lang="en-US" b="0" i="0" dirty="0">
              <a:solidFill>
                <a:schemeClr val="bg1"/>
              </a:solidFill>
              <a:effectLst/>
              <a:latin typeface="erdana"/>
            </a:endParaRPr>
          </a:p>
          <a:p>
            <a:pPr algn="just">
              <a:buFont typeface="+mj-lt"/>
              <a:buAutoNum type="arabicPeriod"/>
            </a:pPr>
            <a:r>
              <a:rPr lang="en-US" b="0" i="0" dirty="0">
                <a:solidFill>
                  <a:schemeClr val="bg1"/>
                </a:solidFill>
                <a:effectLst/>
                <a:latin typeface="inter-regular"/>
              </a:rPr>
              <a:t>Requirements gathering</a:t>
            </a:r>
          </a:p>
          <a:p>
            <a:pPr algn="just">
              <a:buFont typeface="+mj-lt"/>
              <a:buAutoNum type="arabicPeriod"/>
            </a:pPr>
            <a:r>
              <a:rPr lang="en-US" b="0" i="0" dirty="0">
                <a:solidFill>
                  <a:schemeClr val="bg1"/>
                </a:solidFill>
                <a:effectLst/>
                <a:latin typeface="inter-regular"/>
              </a:rPr>
              <a:t>Design the requirements</a:t>
            </a:r>
          </a:p>
          <a:p>
            <a:pPr algn="just">
              <a:buFont typeface="+mj-lt"/>
              <a:buAutoNum type="arabicPeriod"/>
            </a:pPr>
            <a:r>
              <a:rPr lang="en-US" b="0" i="0" dirty="0">
                <a:solidFill>
                  <a:schemeClr val="bg1"/>
                </a:solidFill>
                <a:effectLst/>
                <a:latin typeface="inter-regular"/>
              </a:rPr>
              <a:t>Construction/ iteration</a:t>
            </a:r>
          </a:p>
          <a:p>
            <a:pPr algn="just">
              <a:buFont typeface="+mj-lt"/>
              <a:buAutoNum type="arabicPeriod"/>
            </a:pPr>
            <a:r>
              <a:rPr lang="en-US" b="0" i="0" dirty="0">
                <a:solidFill>
                  <a:schemeClr val="bg1"/>
                </a:solidFill>
                <a:effectLst/>
                <a:latin typeface="inter-regular"/>
              </a:rPr>
              <a:t>Testing/ Quality assurance</a:t>
            </a:r>
          </a:p>
          <a:p>
            <a:pPr algn="just">
              <a:buFont typeface="+mj-lt"/>
              <a:buAutoNum type="arabicPeriod"/>
            </a:pPr>
            <a:r>
              <a:rPr lang="en-US" b="0" i="0" dirty="0">
                <a:solidFill>
                  <a:schemeClr val="bg1"/>
                </a:solidFill>
                <a:effectLst/>
                <a:latin typeface="inter-regular"/>
              </a:rPr>
              <a:t>Deployment</a:t>
            </a:r>
          </a:p>
          <a:p>
            <a:pPr algn="just">
              <a:buFont typeface="+mj-lt"/>
              <a:buAutoNum type="arabicPeriod"/>
            </a:pPr>
            <a:r>
              <a:rPr lang="en-US" b="0" i="0" dirty="0">
                <a:solidFill>
                  <a:schemeClr val="bg1"/>
                </a:solidFill>
                <a:effectLst/>
                <a:latin typeface="inter-regular"/>
              </a:rPr>
              <a:t>Feedback</a:t>
            </a:r>
          </a:p>
        </p:txBody>
      </p:sp>
    </p:spTree>
    <p:extLst>
      <p:ext uri="{BB962C8B-B14F-4D97-AF65-F5344CB8AC3E}">
        <p14:creationId xmlns:p14="http://schemas.microsoft.com/office/powerpoint/2010/main" val="409147125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sz="4800" b="1" dirty="0"/>
              <a:t>5.2 Agile Model</a:t>
            </a:r>
            <a:endParaRPr lang="en-IN" sz="48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4"/>
            <a:ext cx="12192000" cy="6193765"/>
          </a:xfrm>
          <a:solidFill>
            <a:srgbClr val="000000"/>
          </a:solidFill>
        </p:spPr>
        <p:txBody>
          <a:bodyPr/>
          <a:lstStyle/>
          <a:p>
            <a:pPr algn="just"/>
            <a:endParaRPr lang="en-US" b="0" i="0" dirty="0">
              <a:solidFill>
                <a:schemeClr val="bg1"/>
              </a:solidFill>
              <a:effectLst/>
              <a:latin typeface="inter-regular"/>
            </a:endParaRPr>
          </a:p>
          <a:p>
            <a:pPr algn="l"/>
            <a:endParaRPr lang="en-IN" dirty="0">
              <a:solidFill>
                <a:schemeClr val="bg1"/>
              </a:solidFill>
            </a:endParaRPr>
          </a:p>
        </p:txBody>
      </p:sp>
      <p:pic>
        <p:nvPicPr>
          <p:cNvPr id="4" name="Picture 3">
            <a:extLst>
              <a:ext uri="{FF2B5EF4-FFF2-40B4-BE49-F238E27FC236}">
                <a16:creationId xmlns="" xmlns:a16="http://schemas.microsoft.com/office/drawing/2014/main" id="{C3D766ED-9F3E-53B6-7171-ABAAB12E583C}"/>
              </a:ext>
            </a:extLst>
          </p:cNvPr>
          <p:cNvPicPr>
            <a:picLocks noChangeAspect="1"/>
          </p:cNvPicPr>
          <p:nvPr/>
        </p:nvPicPr>
        <p:blipFill>
          <a:blip r:embed="rId2"/>
          <a:stretch>
            <a:fillRect/>
          </a:stretch>
        </p:blipFill>
        <p:spPr>
          <a:xfrm>
            <a:off x="2401455" y="1404937"/>
            <a:ext cx="7656945" cy="4048125"/>
          </a:xfrm>
          <a:prstGeom prst="rect">
            <a:avLst/>
          </a:prstGeom>
          <a:solidFill>
            <a:schemeClr val="tx1"/>
          </a:solidFill>
        </p:spPr>
      </p:pic>
    </p:spTree>
    <p:extLst>
      <p:ext uri="{BB962C8B-B14F-4D97-AF65-F5344CB8AC3E}">
        <p14:creationId xmlns:p14="http://schemas.microsoft.com/office/powerpoint/2010/main" val="145273128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sz="4800" b="1" dirty="0"/>
              <a:t>5.2 Agile Model</a:t>
            </a:r>
            <a:endParaRPr lang="en-IN" sz="48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4"/>
            <a:ext cx="12192000" cy="6193765"/>
          </a:xfrm>
          <a:solidFill>
            <a:srgbClr val="000000"/>
          </a:solidFill>
        </p:spPr>
        <p:txBody>
          <a:bodyPr>
            <a:normAutofit lnSpcReduction="10000"/>
          </a:bodyPr>
          <a:lstStyle/>
          <a:p>
            <a:pPr algn="just"/>
            <a:r>
              <a:rPr lang="en-US" b="1" i="0" dirty="0">
                <a:solidFill>
                  <a:schemeClr val="bg1"/>
                </a:solidFill>
                <a:effectLst/>
                <a:latin typeface="inter-bold"/>
              </a:rPr>
              <a:t>1. Requirements gathering:</a:t>
            </a:r>
            <a:r>
              <a:rPr lang="en-US" b="0" i="0" dirty="0">
                <a:solidFill>
                  <a:schemeClr val="bg1"/>
                </a:solidFill>
                <a:effectLst/>
                <a:latin typeface="inter-regular"/>
              </a:rPr>
              <a:t> In this phase, you must define the requirements. You should explain business opportunities and plan the time and effort needed to build the project. Based on this information, you can evaluate technical and economic feasibility.</a:t>
            </a:r>
          </a:p>
          <a:p>
            <a:pPr algn="just"/>
            <a:r>
              <a:rPr lang="en-US" b="1" i="0" dirty="0">
                <a:solidFill>
                  <a:schemeClr val="bg1"/>
                </a:solidFill>
                <a:effectLst/>
                <a:latin typeface="inter-bold"/>
              </a:rPr>
              <a:t>2. Design the requirements:</a:t>
            </a:r>
            <a:r>
              <a:rPr lang="en-US" b="0" i="0" dirty="0">
                <a:solidFill>
                  <a:schemeClr val="bg1"/>
                </a:solidFill>
                <a:effectLst/>
                <a:latin typeface="inter-regular"/>
              </a:rPr>
              <a:t> When you have identified the project, work with stakeholders to define requirements. You can use the user flow diagram or the high-level UML diagram to show the work of new features and show how it will apply to your existing system.</a:t>
            </a:r>
          </a:p>
          <a:p>
            <a:pPr algn="just"/>
            <a:r>
              <a:rPr lang="en-US" b="1" i="0" dirty="0">
                <a:solidFill>
                  <a:schemeClr val="bg1"/>
                </a:solidFill>
                <a:effectLst/>
                <a:latin typeface="inter-bold"/>
              </a:rPr>
              <a:t>3. Construction/ iteration:</a:t>
            </a:r>
            <a:r>
              <a:rPr lang="en-US" b="0" i="0" dirty="0">
                <a:solidFill>
                  <a:schemeClr val="bg1"/>
                </a:solidFill>
                <a:effectLst/>
                <a:latin typeface="inter-regular"/>
              </a:rPr>
              <a:t> When the team defines the requirements, the work begins. Designers and developers start working on their project, which aims to deploy a working product. The product will undergo various stages of improvement, so it includes simple, minimal functionality.</a:t>
            </a:r>
          </a:p>
          <a:p>
            <a:pPr algn="just"/>
            <a:r>
              <a:rPr lang="en-US" b="1" i="0" dirty="0">
                <a:solidFill>
                  <a:schemeClr val="bg1"/>
                </a:solidFill>
                <a:effectLst/>
                <a:latin typeface="inter-bold"/>
              </a:rPr>
              <a:t>4. Testing:</a:t>
            </a:r>
            <a:r>
              <a:rPr lang="en-US" b="0" i="0" dirty="0">
                <a:solidFill>
                  <a:schemeClr val="bg1"/>
                </a:solidFill>
                <a:effectLst/>
                <a:latin typeface="inter-regular"/>
              </a:rPr>
              <a:t> In this phase, the Quality Assurance team examines the product's performance and looks for the bug.</a:t>
            </a:r>
          </a:p>
          <a:p>
            <a:pPr algn="just"/>
            <a:r>
              <a:rPr lang="en-US" b="1" i="0" dirty="0">
                <a:solidFill>
                  <a:schemeClr val="bg1"/>
                </a:solidFill>
                <a:effectLst/>
                <a:latin typeface="inter-bold"/>
              </a:rPr>
              <a:t>5. Deployment:</a:t>
            </a:r>
            <a:r>
              <a:rPr lang="en-US" b="0" i="0" dirty="0">
                <a:solidFill>
                  <a:schemeClr val="bg1"/>
                </a:solidFill>
                <a:effectLst/>
                <a:latin typeface="inter-regular"/>
              </a:rPr>
              <a:t> In this phase, the team issues a product for the user's work environment.</a:t>
            </a:r>
          </a:p>
          <a:p>
            <a:pPr algn="just"/>
            <a:r>
              <a:rPr lang="en-US" b="1" i="0" dirty="0">
                <a:solidFill>
                  <a:schemeClr val="bg1"/>
                </a:solidFill>
                <a:effectLst/>
                <a:latin typeface="inter-bold"/>
              </a:rPr>
              <a:t>6. Feedback:</a:t>
            </a:r>
            <a:r>
              <a:rPr lang="en-US" b="0" i="0" dirty="0">
                <a:solidFill>
                  <a:schemeClr val="bg1"/>
                </a:solidFill>
                <a:effectLst/>
                <a:latin typeface="inter-regular"/>
              </a:rPr>
              <a:t> After releasing the product, the last step is feedback. In this, the team receives feedback about the product and works through the feedback.</a:t>
            </a:r>
          </a:p>
          <a:p>
            <a:pPr algn="just"/>
            <a:endParaRPr lang="en-US" b="0" i="0" dirty="0">
              <a:solidFill>
                <a:schemeClr val="bg1"/>
              </a:solidFill>
              <a:effectLst/>
              <a:latin typeface="inter-regular"/>
            </a:endParaRPr>
          </a:p>
        </p:txBody>
      </p:sp>
    </p:spTree>
    <p:extLst>
      <p:ext uri="{BB962C8B-B14F-4D97-AF65-F5344CB8AC3E}">
        <p14:creationId xmlns:p14="http://schemas.microsoft.com/office/powerpoint/2010/main" val="205198599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sz="4800" b="1" dirty="0"/>
              <a:t>5.2 Agile Model</a:t>
            </a:r>
            <a:endParaRPr lang="en-IN" sz="48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4"/>
            <a:ext cx="12192000" cy="6193765"/>
          </a:xfrm>
          <a:solidFill>
            <a:srgbClr val="000000"/>
          </a:solidFill>
        </p:spPr>
        <p:txBody>
          <a:bodyPr/>
          <a:lstStyle/>
          <a:p>
            <a:pPr algn="just"/>
            <a:r>
              <a:rPr lang="en-US" b="1" i="0" dirty="0">
                <a:solidFill>
                  <a:schemeClr val="bg1"/>
                </a:solidFill>
                <a:effectLst/>
                <a:latin typeface="erdana"/>
              </a:rPr>
              <a:t>Advantage(Pros) of Agile Method:</a:t>
            </a:r>
          </a:p>
          <a:p>
            <a:pPr algn="just"/>
            <a:endParaRPr lang="en-US" b="0" i="0" dirty="0">
              <a:solidFill>
                <a:schemeClr val="bg1"/>
              </a:solidFill>
              <a:effectLst/>
              <a:latin typeface="erdana"/>
            </a:endParaRPr>
          </a:p>
          <a:p>
            <a:pPr algn="just">
              <a:buFont typeface="+mj-lt"/>
              <a:buAutoNum type="arabicPeriod"/>
            </a:pPr>
            <a:r>
              <a:rPr lang="en-US" b="0" i="0" dirty="0">
                <a:solidFill>
                  <a:schemeClr val="bg1"/>
                </a:solidFill>
                <a:effectLst/>
                <a:latin typeface="inter-regular"/>
              </a:rPr>
              <a:t>Frequent Delivery</a:t>
            </a:r>
          </a:p>
          <a:p>
            <a:pPr algn="just">
              <a:buFont typeface="+mj-lt"/>
              <a:buAutoNum type="arabicPeriod"/>
            </a:pPr>
            <a:r>
              <a:rPr lang="en-US" b="0" i="0" dirty="0">
                <a:solidFill>
                  <a:schemeClr val="bg1"/>
                </a:solidFill>
                <a:effectLst/>
                <a:latin typeface="inter-regular"/>
              </a:rPr>
              <a:t>Face-to-Face Communication with clients.</a:t>
            </a:r>
          </a:p>
          <a:p>
            <a:pPr algn="just">
              <a:buFont typeface="+mj-lt"/>
              <a:buAutoNum type="arabicPeriod"/>
            </a:pPr>
            <a:r>
              <a:rPr lang="en-US" b="0" i="0" dirty="0">
                <a:solidFill>
                  <a:schemeClr val="bg1"/>
                </a:solidFill>
                <a:effectLst/>
                <a:latin typeface="inter-regular"/>
              </a:rPr>
              <a:t>Efficient design and fulfils the business requirement.</a:t>
            </a:r>
          </a:p>
          <a:p>
            <a:pPr algn="just">
              <a:buFont typeface="+mj-lt"/>
              <a:buAutoNum type="arabicPeriod"/>
            </a:pPr>
            <a:r>
              <a:rPr lang="en-US" b="0" i="0" dirty="0">
                <a:solidFill>
                  <a:schemeClr val="bg1"/>
                </a:solidFill>
                <a:effectLst/>
                <a:latin typeface="inter-regular"/>
              </a:rPr>
              <a:t>Anytime changes are acceptable.</a:t>
            </a:r>
          </a:p>
          <a:p>
            <a:pPr algn="just">
              <a:buFont typeface="+mj-lt"/>
              <a:buAutoNum type="arabicPeriod"/>
            </a:pPr>
            <a:r>
              <a:rPr lang="en-US" b="0" i="0" dirty="0">
                <a:solidFill>
                  <a:schemeClr val="bg1"/>
                </a:solidFill>
                <a:effectLst/>
                <a:latin typeface="inter-regular"/>
              </a:rPr>
              <a:t>It reduces total development time.</a:t>
            </a:r>
          </a:p>
          <a:p>
            <a:pPr algn="just"/>
            <a:endParaRPr lang="en-US" b="0" i="0" dirty="0">
              <a:solidFill>
                <a:schemeClr val="bg1"/>
              </a:solidFill>
              <a:effectLst/>
              <a:latin typeface="inter-regular"/>
            </a:endParaRPr>
          </a:p>
        </p:txBody>
      </p:sp>
    </p:spTree>
    <p:extLst>
      <p:ext uri="{BB962C8B-B14F-4D97-AF65-F5344CB8AC3E}">
        <p14:creationId xmlns:p14="http://schemas.microsoft.com/office/powerpoint/2010/main" val="35775297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sz="4800" b="1" dirty="0"/>
              <a:t>5.2 Agile Model</a:t>
            </a:r>
            <a:endParaRPr lang="en-IN" sz="48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4"/>
            <a:ext cx="12192000" cy="6193765"/>
          </a:xfrm>
          <a:solidFill>
            <a:srgbClr val="000000"/>
          </a:solidFill>
        </p:spPr>
        <p:txBody>
          <a:bodyPr/>
          <a:lstStyle/>
          <a:p>
            <a:pPr algn="just"/>
            <a:r>
              <a:rPr lang="en-US" b="1" dirty="0">
                <a:solidFill>
                  <a:schemeClr val="bg1"/>
                </a:solidFill>
                <a:latin typeface="erdana"/>
              </a:rPr>
              <a:t>Disa</a:t>
            </a:r>
            <a:r>
              <a:rPr lang="en-US" b="1" i="0" dirty="0">
                <a:solidFill>
                  <a:schemeClr val="bg1"/>
                </a:solidFill>
                <a:effectLst/>
                <a:latin typeface="erdana"/>
              </a:rPr>
              <a:t>dvantage(</a:t>
            </a:r>
            <a:r>
              <a:rPr lang="en-US" b="1" dirty="0">
                <a:solidFill>
                  <a:schemeClr val="bg1"/>
                </a:solidFill>
                <a:latin typeface="erdana"/>
              </a:rPr>
              <a:t>Con</a:t>
            </a:r>
            <a:r>
              <a:rPr lang="en-US" b="1" i="0" dirty="0">
                <a:solidFill>
                  <a:schemeClr val="bg1"/>
                </a:solidFill>
                <a:effectLst/>
                <a:latin typeface="erdana"/>
              </a:rPr>
              <a:t>s) of Agile Method:</a:t>
            </a:r>
          </a:p>
          <a:p>
            <a:pPr algn="just"/>
            <a:endParaRPr lang="en-US" b="0" i="0" dirty="0">
              <a:solidFill>
                <a:schemeClr val="bg1"/>
              </a:solidFill>
              <a:effectLst/>
              <a:latin typeface="erdana"/>
            </a:endParaRPr>
          </a:p>
          <a:p>
            <a:pPr algn="just">
              <a:buFont typeface="+mj-lt"/>
              <a:buAutoNum type="arabicPeriod"/>
            </a:pPr>
            <a:r>
              <a:rPr lang="en-US" b="0" i="0" dirty="0">
                <a:solidFill>
                  <a:schemeClr val="bg1"/>
                </a:solidFill>
                <a:effectLst/>
                <a:latin typeface="inter-regular"/>
              </a:rPr>
              <a:t>Due to the shortage of formal documents, it creates confusion and crucial decisions taken throughout various phases can be misinterpreted at any time by different team members.</a:t>
            </a:r>
          </a:p>
          <a:p>
            <a:pPr algn="just">
              <a:buFont typeface="+mj-lt"/>
              <a:buAutoNum type="arabicPeriod"/>
            </a:pPr>
            <a:endParaRPr lang="en-US" b="0" i="0" dirty="0">
              <a:solidFill>
                <a:schemeClr val="bg1"/>
              </a:solidFill>
              <a:effectLst/>
              <a:latin typeface="inter-regular"/>
            </a:endParaRPr>
          </a:p>
          <a:p>
            <a:pPr algn="just">
              <a:buFont typeface="+mj-lt"/>
              <a:buAutoNum type="arabicPeriod"/>
            </a:pPr>
            <a:r>
              <a:rPr lang="en-US" b="0" i="0" dirty="0">
                <a:solidFill>
                  <a:schemeClr val="bg1"/>
                </a:solidFill>
                <a:effectLst/>
                <a:latin typeface="inter-regular"/>
              </a:rPr>
              <a:t>Due to the lack of proper documentation, once the project completes and the developers allotted to another project, maintenance of the finished project can become a difficulty.</a:t>
            </a:r>
          </a:p>
          <a:p>
            <a:pPr algn="just"/>
            <a:endParaRPr lang="en-US" b="0" i="0" dirty="0">
              <a:solidFill>
                <a:schemeClr val="bg1"/>
              </a:solidFill>
              <a:effectLst/>
              <a:latin typeface="inter-regular"/>
            </a:endParaRPr>
          </a:p>
        </p:txBody>
      </p:sp>
    </p:spTree>
    <p:extLst>
      <p:ext uri="{BB962C8B-B14F-4D97-AF65-F5344CB8AC3E}">
        <p14:creationId xmlns:p14="http://schemas.microsoft.com/office/powerpoint/2010/main" val="329324083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212436"/>
            <a:ext cx="12192000" cy="876670"/>
          </a:xfrm>
          <a:solidFill>
            <a:srgbClr val="FFC000"/>
          </a:solidFill>
        </p:spPr>
        <p:txBody>
          <a:bodyPr>
            <a:noAutofit/>
          </a:bodyPr>
          <a:lstStyle/>
          <a:p>
            <a:pPr algn="l"/>
            <a:r>
              <a:rPr lang="en-US" b="1" dirty="0"/>
              <a:t>5.2 </a:t>
            </a:r>
            <a:r>
              <a:rPr lang="en-IN" sz="4400" b="0" i="0" dirty="0">
                <a:effectLst/>
                <a:latin typeface="erdana"/>
              </a:rPr>
              <a:t>Agile Methods:</a:t>
            </a:r>
            <a:endParaRPr lang="en-IN" sz="44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4"/>
            <a:ext cx="12192000" cy="6193765"/>
          </a:xfrm>
          <a:solidFill>
            <a:srgbClr val="000000"/>
          </a:solidFill>
        </p:spPr>
        <p:txBody>
          <a:bodyPr/>
          <a:lstStyle/>
          <a:p>
            <a:pPr algn="just">
              <a:buFont typeface="Arial" panose="020B0604020202020204" pitchFamily="34" charset="0"/>
              <a:buChar char="•"/>
            </a:pPr>
            <a:endParaRPr lang="en-IN" b="0" i="0" dirty="0">
              <a:solidFill>
                <a:schemeClr val="bg1"/>
              </a:solidFill>
              <a:effectLst/>
              <a:latin typeface="inter-regular"/>
            </a:endParaRPr>
          </a:p>
          <a:p>
            <a:pPr algn="just">
              <a:buFont typeface="Arial" panose="020B0604020202020204" pitchFamily="34" charset="0"/>
              <a:buChar char="•"/>
            </a:pPr>
            <a:endParaRPr lang="en-IN" dirty="0">
              <a:solidFill>
                <a:schemeClr val="bg1"/>
              </a:solidFill>
              <a:latin typeface="inter-regular"/>
            </a:endParaRPr>
          </a:p>
          <a:p>
            <a:pPr algn="just">
              <a:buFont typeface="Arial" panose="020B0604020202020204" pitchFamily="34" charset="0"/>
              <a:buChar char="•"/>
            </a:pPr>
            <a:r>
              <a:rPr lang="en-IN" b="0" i="0" dirty="0">
                <a:solidFill>
                  <a:schemeClr val="bg1"/>
                </a:solidFill>
                <a:effectLst/>
                <a:latin typeface="inter-regular"/>
              </a:rPr>
              <a:t>Scrum</a:t>
            </a:r>
          </a:p>
          <a:p>
            <a:pPr algn="just">
              <a:buFont typeface="Arial" panose="020B0604020202020204" pitchFamily="34" charset="0"/>
              <a:buChar char="•"/>
            </a:pPr>
            <a:endParaRPr lang="en-IN" b="0" i="0" dirty="0">
              <a:solidFill>
                <a:schemeClr val="bg1"/>
              </a:solidFill>
              <a:effectLst/>
              <a:latin typeface="inter-regular"/>
            </a:endParaRPr>
          </a:p>
          <a:p>
            <a:pPr algn="just">
              <a:buFont typeface="Arial" panose="020B0604020202020204" pitchFamily="34" charset="0"/>
              <a:buChar char="•"/>
            </a:pPr>
            <a:r>
              <a:rPr lang="en-IN" b="0" i="0" dirty="0">
                <a:solidFill>
                  <a:schemeClr val="bg1"/>
                </a:solidFill>
                <a:effectLst/>
                <a:latin typeface="inter-regular"/>
              </a:rPr>
              <a:t>Crystal</a:t>
            </a:r>
          </a:p>
          <a:p>
            <a:pPr algn="just">
              <a:buFont typeface="Arial" panose="020B0604020202020204" pitchFamily="34" charset="0"/>
              <a:buChar char="•"/>
            </a:pPr>
            <a:endParaRPr lang="en-IN" b="0" i="0" dirty="0">
              <a:solidFill>
                <a:schemeClr val="bg1"/>
              </a:solidFill>
              <a:effectLst/>
              <a:latin typeface="inter-regular"/>
            </a:endParaRPr>
          </a:p>
          <a:p>
            <a:pPr algn="just">
              <a:buFont typeface="Arial" panose="020B0604020202020204" pitchFamily="34" charset="0"/>
              <a:buChar char="•"/>
            </a:pPr>
            <a:r>
              <a:rPr lang="en-IN" b="0" i="0" dirty="0">
                <a:solidFill>
                  <a:schemeClr val="bg1"/>
                </a:solidFill>
                <a:effectLst/>
                <a:latin typeface="inter-regular"/>
              </a:rPr>
              <a:t>Dynamic Software Development Method(DSDM)</a:t>
            </a:r>
          </a:p>
          <a:p>
            <a:pPr algn="just">
              <a:buFont typeface="Arial" panose="020B0604020202020204" pitchFamily="34" charset="0"/>
              <a:buChar char="•"/>
            </a:pPr>
            <a:endParaRPr lang="en-IN" b="0" i="0" dirty="0">
              <a:solidFill>
                <a:schemeClr val="bg1"/>
              </a:solidFill>
              <a:effectLst/>
              <a:latin typeface="inter-regular"/>
            </a:endParaRPr>
          </a:p>
          <a:p>
            <a:pPr algn="just">
              <a:buFont typeface="Arial" panose="020B0604020202020204" pitchFamily="34" charset="0"/>
              <a:buChar char="•"/>
            </a:pPr>
            <a:r>
              <a:rPr lang="en-IN" b="0" i="0" dirty="0">
                <a:solidFill>
                  <a:schemeClr val="bg1"/>
                </a:solidFill>
                <a:effectLst/>
                <a:latin typeface="inter-regular"/>
              </a:rPr>
              <a:t>Feature Driven Development(FDD)</a:t>
            </a:r>
          </a:p>
          <a:p>
            <a:pPr algn="just">
              <a:buFont typeface="Arial" panose="020B0604020202020204" pitchFamily="34" charset="0"/>
              <a:buChar char="•"/>
            </a:pPr>
            <a:endParaRPr lang="en-IN" b="0" i="0" dirty="0">
              <a:solidFill>
                <a:schemeClr val="bg1"/>
              </a:solidFill>
              <a:effectLst/>
              <a:latin typeface="inter-regular"/>
            </a:endParaRPr>
          </a:p>
          <a:p>
            <a:pPr algn="just">
              <a:buFont typeface="Arial" panose="020B0604020202020204" pitchFamily="34" charset="0"/>
              <a:buChar char="•"/>
            </a:pPr>
            <a:r>
              <a:rPr lang="en-IN" b="0" i="0" dirty="0" err="1">
                <a:solidFill>
                  <a:schemeClr val="bg1"/>
                </a:solidFill>
                <a:effectLst/>
                <a:latin typeface="inter-regular"/>
              </a:rPr>
              <a:t>eXtreme</a:t>
            </a:r>
            <a:r>
              <a:rPr lang="en-IN" b="0" i="0" dirty="0">
                <a:solidFill>
                  <a:schemeClr val="bg1"/>
                </a:solidFill>
                <a:effectLst/>
                <a:latin typeface="inter-regular"/>
              </a:rPr>
              <a:t> Programming(XP)</a:t>
            </a:r>
          </a:p>
          <a:p>
            <a:pPr algn="just"/>
            <a:endParaRPr lang="en-US" b="0" i="0" dirty="0">
              <a:solidFill>
                <a:schemeClr val="bg1"/>
              </a:solidFill>
              <a:effectLst/>
              <a:latin typeface="inter-regular"/>
            </a:endParaRPr>
          </a:p>
        </p:txBody>
      </p:sp>
    </p:spTree>
    <p:extLst>
      <p:ext uri="{BB962C8B-B14F-4D97-AF65-F5344CB8AC3E}">
        <p14:creationId xmlns:p14="http://schemas.microsoft.com/office/powerpoint/2010/main" val="373725238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212436"/>
            <a:ext cx="12192000" cy="876670"/>
          </a:xfrm>
          <a:solidFill>
            <a:srgbClr val="FFC000"/>
          </a:solidFill>
        </p:spPr>
        <p:txBody>
          <a:bodyPr>
            <a:noAutofit/>
          </a:bodyPr>
          <a:lstStyle/>
          <a:p>
            <a:pPr algn="l"/>
            <a:r>
              <a:rPr lang="en-US" b="1" dirty="0"/>
              <a:t>5.2.1</a:t>
            </a:r>
            <a:r>
              <a:rPr lang="en-IN" sz="4400" b="0" i="0" dirty="0">
                <a:effectLst/>
                <a:latin typeface="erdana"/>
              </a:rPr>
              <a:t>: Extreme Programming(XP)</a:t>
            </a:r>
            <a:endParaRPr lang="en-IN" sz="44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4"/>
            <a:ext cx="12192000" cy="6193765"/>
          </a:xfrm>
          <a:solidFill>
            <a:srgbClr val="000000"/>
          </a:solidFill>
        </p:spPr>
        <p:txBody>
          <a:bodyPr/>
          <a:lstStyle/>
          <a:p>
            <a:pPr algn="l" fontAlgn="base"/>
            <a:r>
              <a:rPr lang="en-US" b="0" i="0" dirty="0">
                <a:solidFill>
                  <a:schemeClr val="bg1"/>
                </a:solidFill>
                <a:effectLst/>
                <a:latin typeface="mulish"/>
              </a:rPr>
              <a:t>What Is Extreme Programming (XP)?</a:t>
            </a:r>
          </a:p>
          <a:p>
            <a:pPr algn="l" fontAlgn="base"/>
            <a:endParaRPr lang="en-US" dirty="0">
              <a:solidFill>
                <a:schemeClr val="bg1"/>
              </a:solidFill>
              <a:latin typeface="mulish"/>
            </a:endParaRPr>
          </a:p>
          <a:p>
            <a:pPr algn="l" fontAlgn="base"/>
            <a:endParaRPr lang="en-US" b="0" i="0" dirty="0">
              <a:solidFill>
                <a:schemeClr val="bg1"/>
              </a:solidFill>
              <a:effectLst/>
              <a:latin typeface="mulish"/>
            </a:endParaRPr>
          </a:p>
          <a:p>
            <a:pPr algn="l" fontAlgn="base"/>
            <a:r>
              <a:rPr lang="en-US" b="0" i="0" dirty="0">
                <a:solidFill>
                  <a:schemeClr val="bg1"/>
                </a:solidFill>
                <a:effectLst/>
                <a:latin typeface="mulish"/>
              </a:rPr>
              <a:t>Extreme programming is a software development methodology that’s part of what’s collectively known as agile methodologies. XP is built upon values, principles, and practices, and its goal is to allow small to mid-sized teams to produce high-quality software and adapt to evolving and changing requirements</a:t>
            </a:r>
            <a:r>
              <a:rPr lang="en-US" b="0" i="0" dirty="0">
                <a:solidFill>
                  <a:srgbClr val="000000"/>
                </a:solidFill>
                <a:effectLst/>
                <a:latin typeface="mulish"/>
              </a:rPr>
              <a:t>.</a:t>
            </a:r>
          </a:p>
          <a:p>
            <a:pPr algn="l" fontAlgn="base"/>
            <a:r>
              <a:rPr lang="en-US" b="0" i="0" dirty="0">
                <a:solidFill>
                  <a:schemeClr val="bg1"/>
                </a:solidFill>
                <a:effectLst/>
                <a:latin typeface="Nunito" panose="020F0502020204030204" pitchFamily="2" charset="0"/>
              </a:rPr>
              <a:t>Extreme programming (XP) is one of the most important software development frameworks of Agile models. It is used to improve software quality and responsiveness to customer requirements. The extreme programming model recommends taking the best practices that have worked well in the past in program development projects to extreme levels. </a:t>
            </a:r>
            <a:endParaRPr lang="en-US" b="0" i="0" dirty="0">
              <a:solidFill>
                <a:schemeClr val="bg1"/>
              </a:solidFill>
              <a:effectLst/>
              <a:latin typeface="mulish"/>
            </a:endParaRPr>
          </a:p>
        </p:txBody>
      </p:sp>
    </p:spTree>
    <p:extLst>
      <p:ext uri="{BB962C8B-B14F-4D97-AF65-F5344CB8AC3E}">
        <p14:creationId xmlns:p14="http://schemas.microsoft.com/office/powerpoint/2010/main" val="385713937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212436"/>
            <a:ext cx="12192000" cy="876670"/>
          </a:xfrm>
          <a:solidFill>
            <a:srgbClr val="FFC000"/>
          </a:solidFill>
        </p:spPr>
        <p:txBody>
          <a:bodyPr>
            <a:noAutofit/>
          </a:bodyPr>
          <a:lstStyle/>
          <a:p>
            <a:pPr algn="l"/>
            <a:r>
              <a:rPr lang="en-US" b="1" dirty="0"/>
              <a:t>5.2.1</a:t>
            </a:r>
            <a:r>
              <a:rPr lang="en-IN" sz="4400" b="0" i="0" dirty="0">
                <a:effectLst/>
                <a:latin typeface="erdana"/>
              </a:rPr>
              <a:t>: Extreme Programming(XP)</a:t>
            </a:r>
            <a:endParaRPr lang="en-IN" sz="44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4"/>
            <a:ext cx="12192000" cy="6193765"/>
          </a:xfrm>
          <a:solidFill>
            <a:srgbClr val="000000"/>
          </a:solidFill>
        </p:spPr>
        <p:txBody>
          <a:bodyPr/>
          <a:lstStyle/>
          <a:p>
            <a:pPr algn="l" fontAlgn="base"/>
            <a:endParaRPr lang="en-US" dirty="0">
              <a:solidFill>
                <a:schemeClr val="bg1"/>
              </a:solidFill>
              <a:latin typeface="mulish"/>
            </a:endParaRPr>
          </a:p>
          <a:p>
            <a:pPr algn="l" fontAlgn="base"/>
            <a:endParaRPr lang="en-US" b="0" i="0" dirty="0">
              <a:solidFill>
                <a:schemeClr val="bg1"/>
              </a:solidFill>
              <a:effectLst/>
              <a:latin typeface="mulish"/>
            </a:endParaRPr>
          </a:p>
        </p:txBody>
      </p:sp>
      <p:pic>
        <p:nvPicPr>
          <p:cNvPr id="5" name="Picture 4">
            <a:extLst>
              <a:ext uri="{FF2B5EF4-FFF2-40B4-BE49-F238E27FC236}">
                <a16:creationId xmlns="" xmlns:a16="http://schemas.microsoft.com/office/drawing/2014/main" id="{1C96C537-0F47-E292-3D13-46A950C439DF}"/>
              </a:ext>
            </a:extLst>
          </p:cNvPr>
          <p:cNvPicPr>
            <a:picLocks noChangeAspect="1"/>
          </p:cNvPicPr>
          <p:nvPr/>
        </p:nvPicPr>
        <p:blipFill>
          <a:blip r:embed="rId2"/>
          <a:stretch>
            <a:fillRect/>
          </a:stretch>
        </p:blipFill>
        <p:spPr>
          <a:xfrm>
            <a:off x="628073" y="1151265"/>
            <a:ext cx="11268363" cy="5332661"/>
          </a:xfrm>
          <a:prstGeom prst="rect">
            <a:avLst/>
          </a:prstGeom>
        </p:spPr>
      </p:pic>
    </p:spTree>
    <p:extLst>
      <p:ext uri="{BB962C8B-B14F-4D97-AF65-F5344CB8AC3E}">
        <p14:creationId xmlns:p14="http://schemas.microsoft.com/office/powerpoint/2010/main" val="235233299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212436"/>
            <a:ext cx="12192000" cy="876670"/>
          </a:xfrm>
          <a:solidFill>
            <a:srgbClr val="FFC000"/>
          </a:solidFill>
        </p:spPr>
        <p:txBody>
          <a:bodyPr>
            <a:noAutofit/>
          </a:bodyPr>
          <a:lstStyle/>
          <a:p>
            <a:pPr algn="l"/>
            <a:r>
              <a:rPr lang="en-US" b="1" dirty="0"/>
              <a:t>5.2.1</a:t>
            </a:r>
            <a:r>
              <a:rPr lang="en-IN" sz="4400" b="0" i="0" dirty="0">
                <a:effectLst/>
                <a:latin typeface="erdana"/>
              </a:rPr>
              <a:t>: Extreme Programming(XP)</a:t>
            </a:r>
            <a:endParaRPr lang="en-IN" sz="44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lstStyle/>
          <a:p>
            <a:pPr algn="l" fontAlgn="base"/>
            <a:r>
              <a:rPr lang="en-IN" b="0" i="0" dirty="0">
                <a:solidFill>
                  <a:schemeClr val="bg1"/>
                </a:solidFill>
                <a:effectLst/>
                <a:latin typeface="mulish"/>
              </a:rPr>
              <a:t>XP Values:</a:t>
            </a:r>
          </a:p>
          <a:p>
            <a:pPr algn="l" fontAlgn="base"/>
            <a:endParaRPr lang="en-IN" b="0" i="0" dirty="0">
              <a:solidFill>
                <a:schemeClr val="bg1"/>
              </a:solidFill>
              <a:effectLst/>
              <a:latin typeface="mulish"/>
            </a:endParaRPr>
          </a:p>
        </p:txBody>
      </p:sp>
      <p:pic>
        <p:nvPicPr>
          <p:cNvPr id="4" name="Picture 3">
            <a:extLst>
              <a:ext uri="{FF2B5EF4-FFF2-40B4-BE49-F238E27FC236}">
                <a16:creationId xmlns="" xmlns:a16="http://schemas.microsoft.com/office/drawing/2014/main" id="{78168B2D-DA05-D4DA-0883-A28AFB249CB7}"/>
              </a:ext>
            </a:extLst>
          </p:cNvPr>
          <p:cNvPicPr>
            <a:picLocks noChangeAspect="1"/>
          </p:cNvPicPr>
          <p:nvPr/>
        </p:nvPicPr>
        <p:blipFill>
          <a:blip r:embed="rId2"/>
          <a:stretch>
            <a:fillRect/>
          </a:stretch>
        </p:blipFill>
        <p:spPr>
          <a:xfrm>
            <a:off x="1" y="1016000"/>
            <a:ext cx="12192000" cy="5842000"/>
          </a:xfrm>
          <a:prstGeom prst="rect">
            <a:avLst/>
          </a:prstGeom>
        </p:spPr>
      </p:pic>
    </p:spTree>
    <p:extLst>
      <p:ext uri="{BB962C8B-B14F-4D97-AF65-F5344CB8AC3E}">
        <p14:creationId xmlns:p14="http://schemas.microsoft.com/office/powerpoint/2010/main" val="13637805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212436"/>
            <a:ext cx="12192000" cy="876670"/>
          </a:xfrm>
          <a:solidFill>
            <a:srgbClr val="FFC000"/>
          </a:solidFill>
        </p:spPr>
        <p:txBody>
          <a:bodyPr>
            <a:noAutofit/>
          </a:bodyPr>
          <a:lstStyle/>
          <a:p>
            <a:pPr algn="l"/>
            <a:r>
              <a:rPr lang="en-US" b="1" dirty="0"/>
              <a:t>5.2.1</a:t>
            </a:r>
            <a:r>
              <a:rPr lang="en-IN" sz="4400" b="0" i="0" dirty="0">
                <a:effectLst/>
                <a:latin typeface="erdana"/>
              </a:rPr>
              <a:t>: </a:t>
            </a:r>
            <a:r>
              <a:rPr lang="en-IN" sz="4800" b="1" i="0" dirty="0">
                <a:effectLst/>
                <a:latin typeface="erdana"/>
              </a:rPr>
              <a:t>Extreme Programming(XP)</a:t>
            </a:r>
            <a:endParaRPr lang="en-IN" sz="44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normAutofit fontScale="92500" lnSpcReduction="10000"/>
          </a:bodyPr>
          <a:lstStyle/>
          <a:p>
            <a:pPr algn="l" fontAlgn="base"/>
            <a:r>
              <a:rPr lang="en-IN" b="1" i="0" dirty="0">
                <a:solidFill>
                  <a:schemeClr val="bg1"/>
                </a:solidFill>
                <a:effectLst/>
                <a:latin typeface="mulish"/>
              </a:rPr>
              <a:t>XP Values:</a:t>
            </a:r>
          </a:p>
          <a:p>
            <a:pPr marL="342900" indent="-342900" algn="l" fontAlgn="base">
              <a:buFont typeface="Arial" panose="020B0604020202020204" pitchFamily="34" charset="0"/>
              <a:buChar char="•"/>
            </a:pPr>
            <a:r>
              <a:rPr lang="en-US" b="1" i="0" dirty="0">
                <a:solidFill>
                  <a:schemeClr val="bg1"/>
                </a:solidFill>
                <a:effectLst/>
                <a:latin typeface="inherit"/>
              </a:rPr>
              <a:t>Communication:</a:t>
            </a:r>
            <a:r>
              <a:rPr lang="en-US" b="0" i="0" dirty="0">
                <a:solidFill>
                  <a:schemeClr val="bg1"/>
                </a:solidFill>
                <a:effectLst/>
                <a:latin typeface="mulish"/>
              </a:rPr>
              <a:t> Lack of communication prevents knowledge from flowing inside a team. Often, when there’s a problem, someone already knows how to solve it. But lack of communication prevents them from learning about the problem or contributing to its solution. So, the problem ends up being solved twice, generating waste.</a:t>
            </a:r>
          </a:p>
          <a:p>
            <a:pPr marL="342900" indent="-342900" algn="l" fontAlgn="base">
              <a:buFont typeface="Arial" panose="020B0604020202020204" pitchFamily="34" charset="0"/>
              <a:buChar char="•"/>
            </a:pPr>
            <a:r>
              <a:rPr lang="en-US" b="1" i="0" dirty="0">
                <a:solidFill>
                  <a:schemeClr val="bg1"/>
                </a:solidFill>
                <a:effectLst/>
                <a:latin typeface="inherit"/>
              </a:rPr>
              <a:t>Simplicity:</a:t>
            </a:r>
            <a:r>
              <a:rPr lang="en-US" b="0" i="0" dirty="0">
                <a:solidFill>
                  <a:schemeClr val="bg1"/>
                </a:solidFill>
                <a:effectLst/>
                <a:latin typeface="mulish"/>
              </a:rPr>
              <a:t> Simplicity says you always strive to do the simplest thing that works. It’s often misunderstood and taken as the simplest thing, period, ignoring the “that works” </a:t>
            </a:r>
            <a:r>
              <a:rPr lang="en-US" b="0" i="0" dirty="0" err="1">
                <a:solidFill>
                  <a:schemeClr val="bg1"/>
                </a:solidFill>
                <a:effectLst/>
                <a:latin typeface="mulish"/>
              </a:rPr>
              <a:t>part.It’s</a:t>
            </a:r>
            <a:r>
              <a:rPr lang="en-US" b="0" i="0" dirty="0">
                <a:solidFill>
                  <a:schemeClr val="bg1"/>
                </a:solidFill>
                <a:effectLst/>
                <a:latin typeface="mulish"/>
              </a:rPr>
              <a:t> also crucial to remember that simplicity is highly contextual. What’s simple for one team, is complex for another depending entirely on each team’s skills, experience, and knowledge.</a:t>
            </a:r>
          </a:p>
          <a:p>
            <a:pPr marL="342900" indent="-342900" algn="l" fontAlgn="base">
              <a:buFont typeface="Arial" panose="020B0604020202020204" pitchFamily="34" charset="0"/>
              <a:buChar char="•"/>
            </a:pPr>
            <a:r>
              <a:rPr lang="en-US" b="1" i="0" dirty="0">
                <a:solidFill>
                  <a:schemeClr val="bg1"/>
                </a:solidFill>
                <a:effectLst/>
                <a:latin typeface="inherit"/>
              </a:rPr>
              <a:t>Feedback:</a:t>
            </a:r>
            <a:r>
              <a:rPr lang="en-US" b="0" i="0" dirty="0">
                <a:solidFill>
                  <a:schemeClr val="bg1"/>
                </a:solidFill>
                <a:effectLst/>
                <a:latin typeface="mulish"/>
              </a:rPr>
              <a:t> Feedback in more traditional, waterfall-like software development methodologies often is </a:t>
            </a:r>
          </a:p>
          <a:p>
            <a:pPr marL="342900" indent="-342900" algn="l" fontAlgn="base">
              <a:buFont typeface="Arial" panose="020B0604020202020204" pitchFamily="34" charset="0"/>
              <a:buChar char="•"/>
            </a:pPr>
            <a:r>
              <a:rPr lang="en-US" b="1" i="0" dirty="0">
                <a:solidFill>
                  <a:schemeClr val="bg1"/>
                </a:solidFill>
                <a:effectLst/>
                <a:latin typeface="inherit"/>
              </a:rPr>
              <a:t>Courage:</a:t>
            </a:r>
            <a:r>
              <a:rPr lang="en-US" b="0" i="0" dirty="0">
                <a:solidFill>
                  <a:schemeClr val="bg1"/>
                </a:solidFill>
                <a:effectLst/>
                <a:latin typeface="mulish"/>
              </a:rPr>
              <a:t> Kent Beck defines courage as “effective action in the face of fear.” As a software engineer, you have plenty to be afraid of and therefore plenty of opportunities to show </a:t>
            </a:r>
            <a:r>
              <a:rPr lang="en-US" b="0" i="0" dirty="0" err="1">
                <a:solidFill>
                  <a:schemeClr val="bg1"/>
                </a:solidFill>
                <a:effectLst/>
                <a:latin typeface="mulish"/>
              </a:rPr>
              <a:t>courage.It</a:t>
            </a:r>
            <a:r>
              <a:rPr lang="en-US" b="0" i="0" dirty="0">
                <a:solidFill>
                  <a:schemeClr val="bg1"/>
                </a:solidFill>
                <a:effectLst/>
                <a:latin typeface="mulish"/>
              </a:rPr>
              <a:t> takes courage to speak the truth, especially unpleasant ones — for instance, honest estimates. Giving and receiving feedback also takes courage. And it takes courage to avoid falling into the sunk cost fallacy and discard a failing solution that received substantial investments.</a:t>
            </a:r>
          </a:p>
          <a:p>
            <a:pPr marL="342900" indent="-342900" algn="l" fontAlgn="base">
              <a:buFont typeface="Arial" panose="020B0604020202020204" pitchFamily="34" charset="0"/>
              <a:buChar char="•"/>
            </a:pPr>
            <a:r>
              <a:rPr lang="en-US" b="1" i="0" dirty="0">
                <a:solidFill>
                  <a:schemeClr val="bg1"/>
                </a:solidFill>
                <a:effectLst/>
                <a:latin typeface="inherit"/>
              </a:rPr>
              <a:t>Respect:</a:t>
            </a:r>
            <a:r>
              <a:rPr lang="en-US" b="0" i="0" dirty="0">
                <a:solidFill>
                  <a:schemeClr val="bg1"/>
                </a:solidFill>
                <a:effectLst/>
                <a:latin typeface="mulish"/>
              </a:rPr>
              <a:t> A fundamental premise of XP is that everyone cares about their work. No amount of technical excellence can save a project if there’s no care and respect.</a:t>
            </a:r>
          </a:p>
          <a:p>
            <a:pPr algn="l" fontAlgn="base"/>
            <a:endParaRPr lang="en-IN" b="0" i="0" dirty="0">
              <a:solidFill>
                <a:schemeClr val="bg1"/>
              </a:solidFill>
              <a:effectLst/>
              <a:latin typeface="mulish"/>
            </a:endParaRPr>
          </a:p>
          <a:p>
            <a:pPr algn="l" fontAlgn="base"/>
            <a:endParaRPr lang="en-IN" b="0" i="0" dirty="0">
              <a:solidFill>
                <a:schemeClr val="bg1"/>
              </a:solidFill>
              <a:effectLst/>
              <a:latin typeface="mulish"/>
            </a:endParaRPr>
          </a:p>
        </p:txBody>
      </p:sp>
    </p:spTree>
    <p:extLst>
      <p:ext uri="{BB962C8B-B14F-4D97-AF65-F5344CB8AC3E}">
        <p14:creationId xmlns:p14="http://schemas.microsoft.com/office/powerpoint/2010/main" val="19429505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212436"/>
            <a:ext cx="12192000" cy="876670"/>
          </a:xfrm>
          <a:solidFill>
            <a:srgbClr val="FFC000"/>
          </a:solidFill>
        </p:spPr>
        <p:txBody>
          <a:bodyPr>
            <a:noAutofit/>
          </a:bodyPr>
          <a:lstStyle/>
          <a:p>
            <a:pPr algn="l"/>
            <a:r>
              <a:rPr lang="en-US" b="1" dirty="0"/>
              <a:t>5.2.1</a:t>
            </a:r>
            <a:r>
              <a:rPr lang="en-IN" sz="4400" b="0" i="0" dirty="0">
                <a:effectLst/>
                <a:latin typeface="erdana"/>
              </a:rPr>
              <a:t>: </a:t>
            </a:r>
            <a:r>
              <a:rPr lang="en-IN" sz="4800" b="1" i="0" dirty="0">
                <a:effectLst/>
                <a:latin typeface="erdana"/>
              </a:rPr>
              <a:t>Extreme Programming(XP)</a:t>
            </a:r>
            <a:endParaRPr lang="en-IN" sz="44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normAutofit fontScale="92500" lnSpcReduction="10000"/>
          </a:bodyPr>
          <a:lstStyle/>
          <a:p>
            <a:pPr algn="l" fontAlgn="base"/>
            <a:r>
              <a:rPr lang="en-US" b="1" i="0" dirty="0">
                <a:solidFill>
                  <a:schemeClr val="bg1"/>
                </a:solidFill>
                <a:effectLst/>
                <a:latin typeface="Nunito" pitchFamily="2" charset="0"/>
              </a:rPr>
              <a:t>Applications of Extreme Programming (XP):</a:t>
            </a:r>
            <a:r>
              <a:rPr lang="en-US" b="0" i="0" dirty="0">
                <a:solidFill>
                  <a:schemeClr val="bg1"/>
                </a:solidFill>
                <a:effectLst/>
                <a:latin typeface="Nunito" pitchFamily="2" charset="0"/>
              </a:rPr>
              <a:t> Some of the projects that are suitable to develop using the XP model are given below:</a:t>
            </a:r>
          </a:p>
          <a:p>
            <a:pPr algn="just" fontAlgn="base">
              <a:buFont typeface="Arial" panose="020B0604020202020204" pitchFamily="34" charset="0"/>
              <a:buChar char="•"/>
            </a:pPr>
            <a:r>
              <a:rPr lang="en-US" b="1" i="0" u="sng" dirty="0">
                <a:solidFill>
                  <a:schemeClr val="bg1"/>
                </a:solidFill>
                <a:effectLst/>
                <a:latin typeface="Nunito" pitchFamily="2" charset="0"/>
              </a:rPr>
              <a:t>Small projects</a:t>
            </a:r>
            <a:r>
              <a:rPr lang="en-US" b="1" i="0" dirty="0">
                <a:solidFill>
                  <a:schemeClr val="bg1"/>
                </a:solidFill>
                <a:effectLst/>
                <a:latin typeface="Nunito" pitchFamily="2" charset="0"/>
              </a:rPr>
              <a:t>:</a:t>
            </a:r>
            <a:r>
              <a:rPr lang="en-US" b="0" i="0" dirty="0">
                <a:solidFill>
                  <a:schemeClr val="bg1"/>
                </a:solidFill>
                <a:effectLst/>
                <a:latin typeface="Nunito" pitchFamily="2" charset="0"/>
              </a:rPr>
              <a:t> XP model is very useful in small projects consisting of small teams as face-to-face meeting is easier to achieve.</a:t>
            </a:r>
          </a:p>
          <a:p>
            <a:pPr algn="just" fontAlgn="base">
              <a:buFont typeface="Arial" panose="020B0604020202020204" pitchFamily="34" charset="0"/>
              <a:buChar char="•"/>
            </a:pPr>
            <a:r>
              <a:rPr lang="en-US" b="1" i="0" u="sng" dirty="0">
                <a:solidFill>
                  <a:schemeClr val="bg1"/>
                </a:solidFill>
                <a:effectLst/>
                <a:latin typeface="Nunito" pitchFamily="2" charset="0"/>
              </a:rPr>
              <a:t>Projects involving new technology or Research projects</a:t>
            </a:r>
            <a:r>
              <a:rPr lang="en-US" b="1" i="0" dirty="0">
                <a:solidFill>
                  <a:schemeClr val="bg1"/>
                </a:solidFill>
                <a:effectLst/>
                <a:latin typeface="Nunito" pitchFamily="2" charset="0"/>
              </a:rPr>
              <a:t>:</a:t>
            </a:r>
            <a:r>
              <a:rPr lang="en-US" b="0" i="0" dirty="0">
                <a:solidFill>
                  <a:schemeClr val="bg1"/>
                </a:solidFill>
                <a:effectLst/>
                <a:latin typeface="Nunito" pitchFamily="2" charset="0"/>
              </a:rPr>
              <a:t> This type of project face changing requirements rapidly and technical problems. So XP model is used to complete this type of project.</a:t>
            </a:r>
          </a:p>
          <a:p>
            <a:pPr algn="just" fontAlgn="base">
              <a:buFont typeface="Arial" panose="020B0604020202020204" pitchFamily="34" charset="0"/>
              <a:buChar char="•"/>
            </a:pPr>
            <a:r>
              <a:rPr lang="en-US" b="1" i="0" u="sng" dirty="0">
                <a:solidFill>
                  <a:schemeClr val="bg1"/>
                </a:solidFill>
                <a:effectLst/>
                <a:latin typeface="Nunito" pitchFamily="2" charset="0"/>
              </a:rPr>
              <a:t>Web development projects:</a:t>
            </a:r>
            <a:r>
              <a:rPr lang="en-US" b="0" i="0" u="sng" dirty="0">
                <a:solidFill>
                  <a:schemeClr val="bg1"/>
                </a:solidFill>
                <a:effectLst/>
                <a:latin typeface="Nunito" pitchFamily="2" charset="0"/>
              </a:rPr>
              <a:t> </a:t>
            </a:r>
            <a:r>
              <a:rPr lang="en-US" b="0" i="0" dirty="0">
                <a:solidFill>
                  <a:schemeClr val="bg1"/>
                </a:solidFill>
                <a:effectLst/>
                <a:latin typeface="Nunito" pitchFamily="2" charset="0"/>
              </a:rPr>
              <a:t>XP model is well-suited for web development projects as the development process is iterative and requires frequent testing to ensure the system meets the requirements.</a:t>
            </a:r>
          </a:p>
          <a:p>
            <a:pPr algn="just" fontAlgn="base">
              <a:buFont typeface="Arial" panose="020B0604020202020204" pitchFamily="34" charset="0"/>
              <a:buChar char="•"/>
            </a:pPr>
            <a:r>
              <a:rPr lang="en-US" b="1" i="0" u="sng" dirty="0">
                <a:solidFill>
                  <a:schemeClr val="bg1"/>
                </a:solidFill>
                <a:effectLst/>
                <a:latin typeface="Nunito" pitchFamily="2" charset="0"/>
              </a:rPr>
              <a:t>Collaborative projects</a:t>
            </a:r>
            <a:r>
              <a:rPr lang="en-US" b="1" i="0" dirty="0">
                <a:solidFill>
                  <a:schemeClr val="bg1"/>
                </a:solidFill>
                <a:effectLst/>
                <a:latin typeface="Nunito" pitchFamily="2" charset="0"/>
              </a:rPr>
              <a:t>:</a:t>
            </a:r>
            <a:r>
              <a:rPr lang="en-US" b="0" i="0" dirty="0">
                <a:solidFill>
                  <a:schemeClr val="bg1"/>
                </a:solidFill>
                <a:effectLst/>
                <a:latin typeface="Nunito" pitchFamily="2" charset="0"/>
              </a:rPr>
              <a:t> XP model is useful for collaborative projects that require close collaboration between the development team and the customer.</a:t>
            </a:r>
          </a:p>
          <a:p>
            <a:pPr algn="just" fontAlgn="base">
              <a:buFont typeface="Arial" panose="020B0604020202020204" pitchFamily="34" charset="0"/>
              <a:buChar char="•"/>
            </a:pPr>
            <a:r>
              <a:rPr lang="en-US" b="1" i="0" u="sng" dirty="0">
                <a:solidFill>
                  <a:schemeClr val="bg1"/>
                </a:solidFill>
                <a:effectLst/>
                <a:latin typeface="Nunito" pitchFamily="2" charset="0"/>
              </a:rPr>
              <a:t>Projects with tight deadlines</a:t>
            </a:r>
            <a:r>
              <a:rPr lang="en-US" b="1" i="0" dirty="0">
                <a:solidFill>
                  <a:schemeClr val="bg1"/>
                </a:solidFill>
                <a:effectLst/>
                <a:latin typeface="Nunito" pitchFamily="2" charset="0"/>
              </a:rPr>
              <a:t>: </a:t>
            </a:r>
            <a:r>
              <a:rPr lang="en-US" b="0" i="0" dirty="0">
                <a:solidFill>
                  <a:schemeClr val="bg1"/>
                </a:solidFill>
                <a:effectLst/>
                <a:latin typeface="Nunito" pitchFamily="2" charset="0"/>
              </a:rPr>
              <a:t>XP model can be used in projects that have a tight deadline, as it emphasizes simplicity and iterative development.</a:t>
            </a:r>
          </a:p>
          <a:p>
            <a:pPr algn="just" fontAlgn="base">
              <a:buFont typeface="Arial" panose="020B0604020202020204" pitchFamily="34" charset="0"/>
              <a:buChar char="•"/>
            </a:pPr>
            <a:r>
              <a:rPr lang="en-US" b="1" i="0" u="sng" dirty="0">
                <a:solidFill>
                  <a:schemeClr val="bg1"/>
                </a:solidFill>
                <a:effectLst/>
                <a:latin typeface="Nunito" pitchFamily="2" charset="0"/>
              </a:rPr>
              <a:t>Projects with rapidly changing requirements</a:t>
            </a:r>
            <a:r>
              <a:rPr lang="en-US" b="1" i="0" dirty="0">
                <a:solidFill>
                  <a:schemeClr val="bg1"/>
                </a:solidFill>
                <a:effectLst/>
                <a:latin typeface="Nunito" pitchFamily="2" charset="0"/>
              </a:rPr>
              <a:t>: </a:t>
            </a:r>
            <a:r>
              <a:rPr lang="en-US" b="0" i="0" dirty="0">
                <a:solidFill>
                  <a:schemeClr val="bg1"/>
                </a:solidFill>
                <a:effectLst/>
                <a:latin typeface="Nunito" pitchFamily="2" charset="0"/>
              </a:rPr>
              <a:t>XP model is designed to handle rapidly changing requirements, making it suitable for projects where requirements may change frequently.</a:t>
            </a:r>
          </a:p>
          <a:p>
            <a:pPr algn="just" fontAlgn="base">
              <a:buFont typeface="Arial" panose="020B0604020202020204" pitchFamily="34" charset="0"/>
              <a:buChar char="•"/>
            </a:pPr>
            <a:r>
              <a:rPr lang="en-US" b="1" i="0" u="sng" dirty="0">
                <a:solidFill>
                  <a:schemeClr val="bg1"/>
                </a:solidFill>
                <a:effectLst/>
                <a:latin typeface="Nunito" pitchFamily="2" charset="0"/>
              </a:rPr>
              <a:t>Projects where quality is a high priority</a:t>
            </a:r>
            <a:r>
              <a:rPr lang="en-US" b="1" i="0" dirty="0">
                <a:solidFill>
                  <a:schemeClr val="bg1"/>
                </a:solidFill>
                <a:effectLst/>
                <a:latin typeface="Nunito" pitchFamily="2" charset="0"/>
              </a:rPr>
              <a:t>: </a:t>
            </a:r>
            <a:r>
              <a:rPr lang="en-US" b="0" i="0" dirty="0">
                <a:solidFill>
                  <a:schemeClr val="bg1"/>
                </a:solidFill>
                <a:effectLst/>
                <a:latin typeface="Nunito" pitchFamily="2" charset="0"/>
              </a:rPr>
              <a:t>XP model places a strong emphasis on testing and quality assurance, making it a suitable approach for projects where quality is a high priority.</a:t>
            </a:r>
          </a:p>
          <a:p>
            <a:pPr algn="l" fontAlgn="base"/>
            <a:endParaRPr lang="en-IN" b="0" i="0" dirty="0">
              <a:solidFill>
                <a:schemeClr val="bg1"/>
              </a:solidFill>
              <a:effectLst/>
              <a:latin typeface="mulish"/>
            </a:endParaRPr>
          </a:p>
        </p:txBody>
      </p:sp>
    </p:spTree>
    <p:extLst>
      <p:ext uri="{BB962C8B-B14F-4D97-AF65-F5344CB8AC3E}">
        <p14:creationId xmlns:p14="http://schemas.microsoft.com/office/powerpoint/2010/main" val="35180599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212436"/>
            <a:ext cx="12192000" cy="876670"/>
          </a:xfrm>
          <a:solidFill>
            <a:srgbClr val="FFC000"/>
          </a:solidFill>
        </p:spPr>
        <p:txBody>
          <a:bodyPr>
            <a:noAutofit/>
          </a:bodyPr>
          <a:lstStyle/>
          <a:p>
            <a:pPr algn="l"/>
            <a:r>
              <a:rPr lang="en-US" b="1" dirty="0"/>
              <a:t>5.2.1</a:t>
            </a:r>
            <a:r>
              <a:rPr lang="en-IN" sz="4400" b="0" i="0" dirty="0">
                <a:effectLst/>
                <a:latin typeface="erdana"/>
              </a:rPr>
              <a:t>: </a:t>
            </a:r>
            <a:r>
              <a:rPr lang="en-IN" sz="5400" b="1" i="0" dirty="0">
                <a:effectLst/>
                <a:latin typeface="erdana"/>
              </a:rPr>
              <a:t>Extreme Programming(XP)</a:t>
            </a:r>
            <a:endParaRPr lang="en-IN" sz="44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normAutofit lnSpcReduction="10000"/>
          </a:bodyPr>
          <a:lstStyle/>
          <a:p>
            <a:pPr algn="l" fontAlgn="base"/>
            <a:r>
              <a:rPr lang="en-US" b="1" i="0" u="sng" dirty="0">
                <a:solidFill>
                  <a:schemeClr val="bg1"/>
                </a:solidFill>
                <a:effectLst/>
                <a:latin typeface="Nunito" pitchFamily="2" charset="0"/>
              </a:rPr>
              <a:t>Advantages of Extreme Programming (XP):</a:t>
            </a:r>
            <a:endParaRPr lang="en-US" b="0" i="0" u="sng" dirty="0">
              <a:solidFill>
                <a:schemeClr val="bg1"/>
              </a:solidFill>
              <a:effectLst/>
              <a:latin typeface="Nunito" pitchFamily="2" charset="0"/>
            </a:endParaRPr>
          </a:p>
          <a:p>
            <a:pPr algn="l" fontAlgn="base">
              <a:buFont typeface="Arial" panose="020B0604020202020204" pitchFamily="34" charset="0"/>
              <a:buChar char="•"/>
            </a:pPr>
            <a:r>
              <a:rPr lang="en-US" b="1" i="0" dirty="0">
                <a:solidFill>
                  <a:schemeClr val="bg1"/>
                </a:solidFill>
                <a:effectLst/>
                <a:latin typeface="Nunito" pitchFamily="2" charset="0"/>
              </a:rPr>
              <a:t>Slipped schedules − </a:t>
            </a:r>
            <a:r>
              <a:rPr lang="en-US" b="0" i="0" dirty="0">
                <a:solidFill>
                  <a:schemeClr val="bg1"/>
                </a:solidFill>
                <a:effectLst/>
                <a:latin typeface="Nunito" pitchFamily="2" charset="0"/>
              </a:rPr>
              <a:t>Timely delivery is ensured through slipping timetables and doable development cycles.</a:t>
            </a:r>
          </a:p>
          <a:p>
            <a:pPr algn="l" fontAlgn="base">
              <a:buFont typeface="Arial" panose="020B0604020202020204" pitchFamily="34" charset="0"/>
              <a:buChar char="•"/>
            </a:pPr>
            <a:r>
              <a:rPr lang="en-US" b="1" i="0" dirty="0">
                <a:solidFill>
                  <a:schemeClr val="bg1"/>
                </a:solidFill>
                <a:effectLst/>
                <a:latin typeface="Nunito" pitchFamily="2" charset="0"/>
              </a:rPr>
              <a:t>Misunderstanding the business and/or domain −</a:t>
            </a:r>
            <a:r>
              <a:rPr lang="en-US" b="0" i="0" dirty="0">
                <a:solidFill>
                  <a:schemeClr val="bg1"/>
                </a:solidFill>
                <a:effectLst/>
                <a:latin typeface="Nunito" pitchFamily="2" charset="0"/>
              </a:rPr>
              <a:t> Constant contact and explanations are ensured by including the client on the team.</a:t>
            </a:r>
          </a:p>
          <a:p>
            <a:pPr algn="l" fontAlgn="base">
              <a:buFont typeface="Arial" panose="020B0604020202020204" pitchFamily="34" charset="0"/>
              <a:buChar char="•"/>
            </a:pPr>
            <a:r>
              <a:rPr lang="en-US" b="1" i="0" dirty="0">
                <a:solidFill>
                  <a:schemeClr val="bg1"/>
                </a:solidFill>
                <a:effectLst/>
                <a:latin typeface="Nunito" pitchFamily="2" charset="0"/>
              </a:rPr>
              <a:t>Canceled projects −</a:t>
            </a:r>
            <a:r>
              <a:rPr lang="en-US" b="0" i="0" dirty="0">
                <a:solidFill>
                  <a:schemeClr val="bg1"/>
                </a:solidFill>
                <a:effectLst/>
                <a:latin typeface="Nunito" pitchFamily="2" charset="0"/>
              </a:rPr>
              <a:t> Focusing on ongoing customer engagement guarantees open communication with the consumer and prompt problem-solving.</a:t>
            </a:r>
          </a:p>
          <a:p>
            <a:pPr algn="l" fontAlgn="base">
              <a:buFont typeface="Arial" panose="020B0604020202020204" pitchFamily="34" charset="0"/>
              <a:buChar char="•"/>
            </a:pPr>
            <a:r>
              <a:rPr lang="en-US" b="1" i="0" dirty="0">
                <a:solidFill>
                  <a:schemeClr val="bg1"/>
                </a:solidFill>
                <a:effectLst/>
                <a:latin typeface="Nunito" pitchFamily="2" charset="0"/>
              </a:rPr>
              <a:t>Staff turnover − </a:t>
            </a:r>
            <a:r>
              <a:rPr lang="en-US" b="0" i="0" dirty="0">
                <a:solidFill>
                  <a:schemeClr val="bg1"/>
                </a:solidFill>
                <a:effectLst/>
                <a:latin typeface="Nunito" pitchFamily="2" charset="0"/>
              </a:rPr>
              <a:t>Teamwork that is focused on cooperation provides excitement and goodwill. Team spirit is fostered by multidisciplinary cohesion.</a:t>
            </a:r>
          </a:p>
          <a:p>
            <a:pPr algn="l" fontAlgn="base">
              <a:buFont typeface="Arial" panose="020B0604020202020204" pitchFamily="34" charset="0"/>
              <a:buChar char="•"/>
            </a:pPr>
            <a:r>
              <a:rPr lang="en-US" b="1" i="0" dirty="0">
                <a:solidFill>
                  <a:schemeClr val="bg1"/>
                </a:solidFill>
                <a:effectLst/>
                <a:latin typeface="Nunito" pitchFamily="2" charset="0"/>
              </a:rPr>
              <a:t>Costs incurred in changes −</a:t>
            </a:r>
            <a:r>
              <a:rPr lang="en-US" b="0" i="0" dirty="0">
                <a:solidFill>
                  <a:schemeClr val="bg1"/>
                </a:solidFill>
                <a:effectLst/>
                <a:latin typeface="Nunito" pitchFamily="2" charset="0"/>
              </a:rPr>
              <a:t> Extensive and continuing testing ensures that the modifications do not impair the functioning of the system. A functioning system always guarantees that there is enough time to accommodate changes without impairing ongoing operations.</a:t>
            </a:r>
          </a:p>
          <a:p>
            <a:pPr algn="l" fontAlgn="base">
              <a:buFont typeface="Arial" panose="020B0604020202020204" pitchFamily="34" charset="0"/>
              <a:buChar char="•"/>
            </a:pPr>
            <a:r>
              <a:rPr lang="en-US" b="1" i="0" dirty="0">
                <a:solidFill>
                  <a:schemeClr val="bg1"/>
                </a:solidFill>
                <a:effectLst/>
                <a:latin typeface="Nunito" pitchFamily="2" charset="0"/>
              </a:rPr>
              <a:t>Business changes −</a:t>
            </a:r>
            <a:r>
              <a:rPr lang="en-US" b="0" i="0" dirty="0">
                <a:solidFill>
                  <a:schemeClr val="bg1"/>
                </a:solidFill>
                <a:effectLst/>
                <a:latin typeface="Nunito" pitchFamily="2" charset="0"/>
              </a:rPr>
              <a:t> Changes are accepted at any moment since they are seen to be inevitable.</a:t>
            </a:r>
          </a:p>
          <a:p>
            <a:pPr algn="l" fontAlgn="base">
              <a:buFont typeface="Arial" panose="020B0604020202020204" pitchFamily="34" charset="0"/>
              <a:buChar char="•"/>
            </a:pPr>
            <a:r>
              <a:rPr lang="en-US" b="1" i="0" dirty="0">
                <a:solidFill>
                  <a:schemeClr val="bg1"/>
                </a:solidFill>
                <a:effectLst/>
                <a:latin typeface="Nunito" pitchFamily="2" charset="0"/>
              </a:rPr>
              <a:t>Production and post-delivery defects: Emphasis is on −</a:t>
            </a:r>
            <a:r>
              <a:rPr lang="en-US" b="0" i="0" dirty="0">
                <a:solidFill>
                  <a:schemeClr val="bg1"/>
                </a:solidFill>
                <a:effectLst/>
                <a:latin typeface="Nunito" pitchFamily="2" charset="0"/>
              </a:rPr>
              <a:t> the unit tests to find and repair bugs as soon as possible</a:t>
            </a:r>
            <a:r>
              <a:rPr lang="en-US" dirty="0">
                <a:solidFill>
                  <a:srgbClr val="273239"/>
                </a:solidFill>
                <a:latin typeface="Nunito" pitchFamily="2" charset="0"/>
              </a:rPr>
              <a:t>.</a:t>
            </a:r>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8789820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sz="4400" b="1" dirty="0"/>
              <a:t>5.2.2 Dynamic Systems Development Method(DSDM)</a:t>
            </a:r>
            <a:endParaRPr lang="en-IN" sz="4400" b="1" dirty="0"/>
          </a:p>
        </p:txBody>
      </p:sp>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normAutofit/>
          </a:bodyPr>
          <a:lstStyle/>
          <a:p>
            <a:pPr marL="342900" indent="-342900" algn="l" fontAlgn="base">
              <a:buFont typeface="Arial" panose="020B0604020202020204" pitchFamily="34" charset="0"/>
              <a:buChar char="•"/>
            </a:pPr>
            <a:r>
              <a:rPr lang="en-US" b="0" i="0" dirty="0">
                <a:solidFill>
                  <a:schemeClr val="bg1"/>
                </a:solidFill>
                <a:effectLst/>
                <a:latin typeface="Nunito" pitchFamily="2" charset="0"/>
              </a:rPr>
              <a:t>The </a:t>
            </a:r>
            <a:r>
              <a:rPr lang="en-US" b="1" i="0" dirty="0">
                <a:solidFill>
                  <a:schemeClr val="bg1"/>
                </a:solidFill>
                <a:effectLst/>
                <a:latin typeface="Nunito" pitchFamily="2" charset="0"/>
              </a:rPr>
              <a:t>Dynamic Systems Development technique (DSDM)</a:t>
            </a:r>
            <a:r>
              <a:rPr lang="en-US" b="0" i="0" dirty="0">
                <a:solidFill>
                  <a:schemeClr val="bg1"/>
                </a:solidFill>
                <a:effectLst/>
                <a:latin typeface="Nunito" pitchFamily="2" charset="0"/>
              </a:rPr>
              <a:t> is an associate degree agile code development approach that provides a framework for building and maintaining systems. The DSDM philosophy is borrowed from a modified version of the sociologist principle—80 % of An application is often delivered in twenty percent of the time it’d desire deliver the entire (100 percent) application.</a:t>
            </a:r>
          </a:p>
          <a:p>
            <a:pPr marL="342900" indent="-342900" algn="l" fontAlgn="base">
              <a:buFont typeface="Arial" panose="020B0604020202020204" pitchFamily="34" charset="0"/>
              <a:buChar char="•"/>
            </a:pPr>
            <a:endParaRPr lang="en-US" b="0" i="0" dirty="0">
              <a:solidFill>
                <a:schemeClr val="bg1"/>
              </a:solidFill>
              <a:effectLst/>
              <a:latin typeface="Nunito" pitchFamily="2" charset="0"/>
            </a:endParaRPr>
          </a:p>
          <a:p>
            <a:pPr marL="342900" indent="-342900" algn="l" fontAlgn="base">
              <a:buFont typeface="Arial" panose="020B0604020202020204" pitchFamily="34" charset="0"/>
              <a:buChar char="•"/>
            </a:pPr>
            <a:r>
              <a:rPr lang="en-US" b="0" i="0" dirty="0">
                <a:solidFill>
                  <a:schemeClr val="bg1"/>
                </a:solidFill>
                <a:effectLst/>
                <a:latin typeface="Nunito" pitchFamily="2" charset="0"/>
              </a:rPr>
              <a:t>DSDM is An iterative code method within which every iteration follows the 80% rule that simply enough work is needed for every increment to facilitate movement to the following increment. The remaining detail is often completed later once a lot of business necessities are noted or changes are requested and accommodated.</a:t>
            </a:r>
          </a:p>
          <a:p>
            <a:pPr marL="342900" indent="-342900" algn="l" fontAlgn="base">
              <a:buFont typeface="Arial" panose="020B0604020202020204" pitchFamily="34" charset="0"/>
              <a:buChar char="•"/>
            </a:pPr>
            <a:endParaRPr lang="en-US" b="0" i="0" dirty="0">
              <a:solidFill>
                <a:schemeClr val="bg1"/>
              </a:solidFill>
              <a:effectLst/>
              <a:latin typeface="Nunito" pitchFamily="2" charset="0"/>
            </a:endParaRPr>
          </a:p>
          <a:p>
            <a:pPr marL="342900" indent="-342900" algn="l" fontAlgn="base">
              <a:buFont typeface="Arial" panose="020B0604020202020204" pitchFamily="34" charset="0"/>
              <a:buChar char="•"/>
            </a:pPr>
            <a:r>
              <a:rPr lang="en-US" b="0" i="0" dirty="0">
                <a:solidFill>
                  <a:schemeClr val="bg1"/>
                </a:solidFill>
                <a:effectLst/>
                <a:latin typeface="Nunito" pitchFamily="2" charset="0"/>
              </a:rPr>
              <a:t>The DSDM tool (www.dsdm.org) could be a worldwide cluster of member companies that put together tackle the role of “keeper” of the strategy. The pool has outlined AN </a:t>
            </a:r>
            <a:r>
              <a:rPr lang="en-US" b="0" i="0" u="sng" dirty="0">
                <a:solidFill>
                  <a:schemeClr val="bg1"/>
                </a:solidFill>
                <a:effectLst/>
                <a:latin typeface="Nunito" pitchFamily="2" charset="0"/>
                <a:hlinkClick r:id="rId2">
                  <a:extLst>
                    <a:ext uri="{A12FA001-AC4F-418D-AE19-62706E023703}">
                      <ahyp:hlinkClr xmlns="" xmlns:ahyp="http://schemas.microsoft.com/office/drawing/2018/hyperlinkcolor" val="tx"/>
                    </a:ext>
                  </a:extLst>
                </a:hlinkClick>
              </a:rPr>
              <a:t>Agile Development Model</a:t>
            </a:r>
            <a:r>
              <a:rPr lang="en-US" b="0" i="0" dirty="0">
                <a:solidFill>
                  <a:schemeClr val="bg1"/>
                </a:solidFill>
                <a:effectLst/>
                <a:latin typeface="Nunito" pitchFamily="2" charset="0"/>
              </a:rPr>
              <a:t>, known as the DSDM life cycle that defines 3 different unvarying cycles, preceded by 2 further life cycle activities:</a:t>
            </a:r>
          </a:p>
          <a:p>
            <a:pPr algn="l" fontAlgn="base"/>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429223692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sz="4400" b="1" dirty="0"/>
              <a:t>5.2.2 Dynamic Systems Development Method(DSDM)</a:t>
            </a:r>
            <a:endParaRPr lang="en-IN" sz="4400" b="1" dirty="0"/>
          </a:p>
        </p:txBody>
      </p:sp>
      <p:pic>
        <p:nvPicPr>
          <p:cNvPr id="4" name="Picture 3">
            <a:extLst>
              <a:ext uri="{FF2B5EF4-FFF2-40B4-BE49-F238E27FC236}">
                <a16:creationId xmlns="" xmlns:a16="http://schemas.microsoft.com/office/drawing/2014/main" id="{FEF121E8-AF05-9D0C-6A16-0B298BACA22A}"/>
              </a:ext>
            </a:extLst>
          </p:cNvPr>
          <p:cNvPicPr>
            <a:picLocks noChangeAspect="1"/>
          </p:cNvPicPr>
          <p:nvPr/>
        </p:nvPicPr>
        <p:blipFill>
          <a:blip r:embed="rId2"/>
          <a:stretch>
            <a:fillRect/>
          </a:stretch>
        </p:blipFill>
        <p:spPr>
          <a:xfrm>
            <a:off x="1559816" y="1496290"/>
            <a:ext cx="9072368" cy="5361709"/>
          </a:xfrm>
          <a:prstGeom prst="rect">
            <a:avLst/>
          </a:prstGeom>
          <a:solidFill>
            <a:schemeClr val="bg1"/>
          </a:solidFill>
        </p:spPr>
      </p:pic>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normAutofit/>
          </a:bodyPr>
          <a:lstStyle/>
          <a:p>
            <a:pPr algn="l" fontAlgn="base"/>
            <a:endParaRPr lang="en-US" b="0" i="0" dirty="0">
              <a:solidFill>
                <a:srgbClr val="273239"/>
              </a:solidFill>
              <a:effectLst/>
              <a:latin typeface="Nunito" pitchFamily="2" charset="0"/>
            </a:endParaRPr>
          </a:p>
        </p:txBody>
      </p:sp>
      <p:pic>
        <p:nvPicPr>
          <p:cNvPr id="7" name="Picture 6">
            <a:extLst>
              <a:ext uri="{FF2B5EF4-FFF2-40B4-BE49-F238E27FC236}">
                <a16:creationId xmlns="" xmlns:a16="http://schemas.microsoft.com/office/drawing/2014/main" id="{7B46EA50-AEC3-4CF8-D12F-1D18F0BE3D7D}"/>
              </a:ext>
            </a:extLst>
          </p:cNvPr>
          <p:cNvPicPr>
            <a:picLocks noChangeAspect="1"/>
          </p:cNvPicPr>
          <p:nvPr/>
        </p:nvPicPr>
        <p:blipFill>
          <a:blip r:embed="rId3"/>
          <a:stretch>
            <a:fillRect/>
          </a:stretch>
        </p:blipFill>
        <p:spPr>
          <a:xfrm>
            <a:off x="443345" y="849746"/>
            <a:ext cx="11323782" cy="5745018"/>
          </a:xfrm>
          <a:prstGeom prst="rect">
            <a:avLst/>
          </a:prstGeom>
        </p:spPr>
      </p:pic>
    </p:spTree>
    <p:extLst>
      <p:ext uri="{BB962C8B-B14F-4D97-AF65-F5344CB8AC3E}">
        <p14:creationId xmlns:p14="http://schemas.microsoft.com/office/powerpoint/2010/main" val="1546650542"/>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sz="4400" b="1" dirty="0"/>
              <a:t>5.2.2 Dynamic Systems Development Method(DSDM)</a:t>
            </a:r>
            <a:endParaRPr lang="en-IN" sz="4400" b="1" dirty="0"/>
          </a:p>
        </p:txBody>
      </p:sp>
      <p:pic>
        <p:nvPicPr>
          <p:cNvPr id="4" name="Picture 3">
            <a:extLst>
              <a:ext uri="{FF2B5EF4-FFF2-40B4-BE49-F238E27FC236}">
                <a16:creationId xmlns="" xmlns:a16="http://schemas.microsoft.com/office/drawing/2014/main" id="{FEF121E8-AF05-9D0C-6A16-0B298BACA22A}"/>
              </a:ext>
            </a:extLst>
          </p:cNvPr>
          <p:cNvPicPr>
            <a:picLocks noChangeAspect="1"/>
          </p:cNvPicPr>
          <p:nvPr/>
        </p:nvPicPr>
        <p:blipFill>
          <a:blip r:embed="rId2"/>
          <a:stretch>
            <a:fillRect/>
          </a:stretch>
        </p:blipFill>
        <p:spPr>
          <a:xfrm>
            <a:off x="1559816" y="1496290"/>
            <a:ext cx="9072368" cy="5361709"/>
          </a:xfrm>
          <a:prstGeom prst="rect">
            <a:avLst/>
          </a:prstGeom>
          <a:solidFill>
            <a:schemeClr val="bg1"/>
          </a:solidFill>
        </p:spPr>
      </p:pic>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normAutofit fontScale="92500" lnSpcReduction="20000"/>
          </a:bodyPr>
          <a:lstStyle/>
          <a:p>
            <a:pPr algn="l" fontAlgn="base">
              <a:buFont typeface="+mj-lt"/>
              <a:buAutoNum type="arabicPeriod"/>
            </a:pPr>
            <a:r>
              <a:rPr lang="en-US" b="1" i="0" dirty="0">
                <a:solidFill>
                  <a:schemeClr val="bg1"/>
                </a:solidFill>
                <a:effectLst/>
                <a:latin typeface="Nunito" pitchFamily="2" charset="0"/>
              </a:rPr>
              <a:t>Feasibility Study:</a:t>
            </a:r>
            <a:r>
              <a:rPr lang="en-US" b="0" i="0" dirty="0">
                <a:solidFill>
                  <a:schemeClr val="bg1"/>
                </a:solidFill>
                <a:effectLst/>
                <a:latin typeface="Nunito" pitchFamily="2" charset="0"/>
              </a:rPr>
              <a:t/>
            </a:r>
            <a:br>
              <a:rPr lang="en-US" b="0" i="0" dirty="0">
                <a:solidFill>
                  <a:schemeClr val="bg1"/>
                </a:solidFill>
                <a:effectLst/>
                <a:latin typeface="Nunito" pitchFamily="2" charset="0"/>
              </a:rPr>
            </a:br>
            <a:r>
              <a:rPr lang="en-US" b="0" i="0" dirty="0">
                <a:solidFill>
                  <a:schemeClr val="bg1"/>
                </a:solidFill>
                <a:effectLst/>
                <a:latin typeface="Nunito" pitchFamily="2" charset="0"/>
              </a:rPr>
              <a:t>It establishes the essential business necessities and constraints related to the applying to be designed then assesses whether or not the application could be a viable candidate for the DSDM method.</a:t>
            </a:r>
          </a:p>
          <a:p>
            <a:pPr algn="l" fontAlgn="base">
              <a:buFont typeface="+mj-lt"/>
              <a:buAutoNum type="arabicPeriod"/>
            </a:pPr>
            <a:r>
              <a:rPr lang="en-US" b="1" i="0" dirty="0">
                <a:solidFill>
                  <a:schemeClr val="bg1"/>
                </a:solidFill>
                <a:effectLst/>
                <a:latin typeface="Nunito" pitchFamily="2" charset="0"/>
              </a:rPr>
              <a:t>Business Study:</a:t>
            </a:r>
            <a:r>
              <a:rPr lang="en-US" b="0" i="0" dirty="0">
                <a:solidFill>
                  <a:schemeClr val="bg1"/>
                </a:solidFill>
                <a:effectLst/>
                <a:latin typeface="Nunito" pitchFamily="2" charset="0"/>
              </a:rPr>
              <a:t/>
            </a:r>
            <a:br>
              <a:rPr lang="en-US" b="0" i="0" dirty="0">
                <a:solidFill>
                  <a:schemeClr val="bg1"/>
                </a:solidFill>
                <a:effectLst/>
                <a:latin typeface="Nunito" pitchFamily="2" charset="0"/>
              </a:rPr>
            </a:br>
            <a:r>
              <a:rPr lang="en-US" b="0" i="0" dirty="0">
                <a:solidFill>
                  <a:schemeClr val="bg1"/>
                </a:solidFill>
                <a:effectLst/>
                <a:latin typeface="Nunito" pitchFamily="2" charset="0"/>
              </a:rPr>
              <a:t>It establishes the use and knowledge necessities that may permit the applying to supply business value; additionally, it is the essential application design and identifies the maintainability necessities for the applying.</a:t>
            </a:r>
          </a:p>
          <a:p>
            <a:pPr algn="l" fontAlgn="base">
              <a:buFont typeface="+mj-lt"/>
              <a:buAutoNum type="arabicPeriod"/>
            </a:pPr>
            <a:r>
              <a:rPr lang="en-US" b="1" i="0" dirty="0">
                <a:solidFill>
                  <a:schemeClr val="bg1"/>
                </a:solidFill>
                <a:effectLst/>
                <a:latin typeface="Nunito" pitchFamily="2" charset="0"/>
              </a:rPr>
              <a:t>Functional Model Iteration:</a:t>
            </a:r>
            <a:r>
              <a:rPr lang="en-US" b="0" i="0" dirty="0">
                <a:solidFill>
                  <a:schemeClr val="bg1"/>
                </a:solidFill>
                <a:effectLst/>
                <a:latin typeface="Nunito" pitchFamily="2" charset="0"/>
              </a:rPr>
              <a:t/>
            </a:r>
            <a:br>
              <a:rPr lang="en-US" b="0" i="0" dirty="0">
                <a:solidFill>
                  <a:schemeClr val="bg1"/>
                </a:solidFill>
                <a:effectLst/>
                <a:latin typeface="Nunito" pitchFamily="2" charset="0"/>
              </a:rPr>
            </a:br>
            <a:r>
              <a:rPr lang="en-US" b="0" i="0" dirty="0">
                <a:solidFill>
                  <a:schemeClr val="bg1"/>
                </a:solidFill>
                <a:effectLst/>
                <a:latin typeface="Nunito" pitchFamily="2" charset="0"/>
              </a:rPr>
              <a:t>It produces a collection of progressive prototypes that demonstrate practicality for the client.</a:t>
            </a:r>
            <a:br>
              <a:rPr lang="en-US" b="0" i="0" dirty="0">
                <a:solidFill>
                  <a:schemeClr val="bg1"/>
                </a:solidFill>
                <a:effectLst/>
                <a:latin typeface="Nunito" pitchFamily="2" charset="0"/>
              </a:rPr>
            </a:br>
            <a:r>
              <a:rPr lang="en-US" b="0" i="0" dirty="0">
                <a:solidFill>
                  <a:schemeClr val="bg1"/>
                </a:solidFill>
                <a:effectLst/>
                <a:latin typeface="Nunito" pitchFamily="2" charset="0"/>
              </a:rPr>
              <a:t>(Note: All DSDM prototypes are supposed to evolve into the deliverable application.) The intent throughout this unvarying cycle is to collect further necessities by eliciting feedback from users as they exercise the paradigm.</a:t>
            </a:r>
          </a:p>
          <a:p>
            <a:pPr algn="l" fontAlgn="base">
              <a:buFont typeface="+mj-lt"/>
              <a:buAutoNum type="arabicPeriod"/>
            </a:pPr>
            <a:r>
              <a:rPr lang="en-US" b="1" i="0" dirty="0">
                <a:solidFill>
                  <a:schemeClr val="bg1"/>
                </a:solidFill>
                <a:effectLst/>
                <a:latin typeface="Nunito" pitchFamily="2" charset="0"/>
              </a:rPr>
              <a:t>Design and Build Iteration:</a:t>
            </a:r>
            <a:r>
              <a:rPr lang="en-US" b="0" i="0" dirty="0">
                <a:solidFill>
                  <a:schemeClr val="bg1"/>
                </a:solidFill>
                <a:effectLst/>
                <a:latin typeface="Nunito" pitchFamily="2" charset="0"/>
              </a:rPr>
              <a:t/>
            </a:r>
            <a:br>
              <a:rPr lang="en-US" b="0" i="0" dirty="0">
                <a:solidFill>
                  <a:schemeClr val="bg1"/>
                </a:solidFill>
                <a:effectLst/>
                <a:latin typeface="Nunito" pitchFamily="2" charset="0"/>
              </a:rPr>
            </a:br>
            <a:r>
              <a:rPr lang="en-US" b="0" i="0" dirty="0">
                <a:solidFill>
                  <a:schemeClr val="bg1"/>
                </a:solidFill>
                <a:effectLst/>
                <a:latin typeface="Nunito" pitchFamily="2" charset="0"/>
              </a:rPr>
              <a:t>It revisits prototypes designed throughout useful model iteration to make sure that everyone has been designed during a manner that may alter it to supply operational business price for finish users. In some cases, useful model iteration and style and build iteration occur at the same time.</a:t>
            </a:r>
          </a:p>
          <a:p>
            <a:pPr algn="l" fontAlgn="base">
              <a:buFont typeface="+mj-lt"/>
              <a:buAutoNum type="arabicPeriod"/>
            </a:pPr>
            <a:r>
              <a:rPr lang="en-US" b="1" i="0" dirty="0">
                <a:solidFill>
                  <a:schemeClr val="bg1"/>
                </a:solidFill>
                <a:effectLst/>
                <a:latin typeface="Nunito" pitchFamily="2" charset="0"/>
              </a:rPr>
              <a:t>Implementation:</a:t>
            </a:r>
            <a:r>
              <a:rPr lang="en-US" b="0" i="0" dirty="0">
                <a:solidFill>
                  <a:schemeClr val="bg1"/>
                </a:solidFill>
                <a:effectLst/>
                <a:latin typeface="Nunito" pitchFamily="2" charset="0"/>
              </a:rPr>
              <a:t/>
            </a:r>
            <a:br>
              <a:rPr lang="en-US" b="0" i="0" dirty="0">
                <a:solidFill>
                  <a:schemeClr val="bg1"/>
                </a:solidFill>
                <a:effectLst/>
                <a:latin typeface="Nunito" pitchFamily="2" charset="0"/>
              </a:rPr>
            </a:br>
            <a:r>
              <a:rPr lang="en-US" b="0" i="0" dirty="0">
                <a:solidFill>
                  <a:schemeClr val="bg1"/>
                </a:solidFill>
                <a:effectLst/>
                <a:latin typeface="Nunito" pitchFamily="2" charset="0"/>
              </a:rPr>
              <a:t>It places the newest code increment (an “operationalized” prototype) into the operational surroundings. It ought to be noted that:</a:t>
            </a:r>
          </a:p>
          <a:p>
            <a:pPr marL="742950" lvl="1" indent="-285750" algn="l" fontAlgn="base">
              <a:buFont typeface="+mj-lt"/>
              <a:buAutoNum type="arabicPeriod"/>
            </a:pPr>
            <a:r>
              <a:rPr lang="en-US" b="1" i="0" dirty="0">
                <a:solidFill>
                  <a:schemeClr val="bg1"/>
                </a:solidFill>
                <a:effectLst/>
                <a:latin typeface="Nunito" pitchFamily="2" charset="0"/>
              </a:rPr>
              <a:t>(a)</a:t>
            </a:r>
            <a:r>
              <a:rPr lang="en-US" b="0" i="0" dirty="0">
                <a:solidFill>
                  <a:schemeClr val="bg1"/>
                </a:solidFill>
                <a:effectLst/>
                <a:latin typeface="Nunito" pitchFamily="2" charset="0"/>
              </a:rPr>
              <a:t> the increment might not 100% complete or,</a:t>
            </a:r>
          </a:p>
          <a:p>
            <a:pPr marL="742950" lvl="1" indent="-285750" algn="l" fontAlgn="base">
              <a:buFont typeface="+mj-lt"/>
              <a:buAutoNum type="arabicPeriod"/>
            </a:pPr>
            <a:r>
              <a:rPr lang="en-US" b="1" i="0" dirty="0">
                <a:solidFill>
                  <a:schemeClr val="bg1"/>
                </a:solidFill>
                <a:effectLst/>
                <a:latin typeface="Nunito" pitchFamily="2" charset="0"/>
              </a:rPr>
              <a:t>(b)</a:t>
            </a:r>
            <a:r>
              <a:rPr lang="en-US" b="0" i="0" dirty="0">
                <a:solidFill>
                  <a:schemeClr val="bg1"/>
                </a:solidFill>
                <a:effectLst/>
                <a:latin typeface="Nunito" pitchFamily="2" charset="0"/>
              </a:rPr>
              <a:t> changes are also requested because the increment is placed into place. In either case, DSDM development work continues by returning to the useful model iteration activity</a:t>
            </a:r>
            <a:r>
              <a:rPr lang="en-US" b="0" i="0" dirty="0">
                <a:solidFill>
                  <a:srgbClr val="273239"/>
                </a:solidFill>
                <a:effectLst/>
                <a:latin typeface="Nunito" pitchFamily="2" charset="0"/>
              </a:rPr>
              <a:t>.</a:t>
            </a:r>
          </a:p>
          <a:p>
            <a:pPr algn="l" fontAlgn="base"/>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339976604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a:t/>
            </a:r>
            <a:br>
              <a:rPr lang="en-US" b="1"/>
            </a:br>
            <a:r>
              <a:rPr lang="en-US" sz="4400" b="1"/>
              <a:t>5.2.3 </a:t>
            </a:r>
            <a:r>
              <a:rPr lang="en-US" sz="4400" b="1" dirty="0"/>
              <a:t>Feature Driven Development</a:t>
            </a:r>
            <a:endParaRPr lang="en-IN" sz="4400" b="1" dirty="0"/>
          </a:p>
        </p:txBody>
      </p:sp>
      <p:pic>
        <p:nvPicPr>
          <p:cNvPr id="4" name="Picture 3">
            <a:extLst>
              <a:ext uri="{FF2B5EF4-FFF2-40B4-BE49-F238E27FC236}">
                <a16:creationId xmlns="" xmlns:a16="http://schemas.microsoft.com/office/drawing/2014/main" id="{FEF121E8-AF05-9D0C-6A16-0B298BACA22A}"/>
              </a:ext>
            </a:extLst>
          </p:cNvPr>
          <p:cNvPicPr>
            <a:picLocks noChangeAspect="1"/>
          </p:cNvPicPr>
          <p:nvPr/>
        </p:nvPicPr>
        <p:blipFill>
          <a:blip r:embed="rId2"/>
          <a:stretch>
            <a:fillRect/>
          </a:stretch>
        </p:blipFill>
        <p:spPr>
          <a:xfrm>
            <a:off x="1559816" y="1496290"/>
            <a:ext cx="9072368" cy="5361709"/>
          </a:xfrm>
          <a:prstGeom prst="rect">
            <a:avLst/>
          </a:prstGeom>
          <a:solidFill>
            <a:schemeClr val="bg1"/>
          </a:solidFill>
        </p:spPr>
      </p:pic>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normAutofit/>
          </a:bodyPr>
          <a:lstStyle/>
          <a:p>
            <a:pPr algn="l" fontAlgn="base"/>
            <a:endParaRPr lang="en-US" b="0" i="0" dirty="0">
              <a:solidFill>
                <a:srgbClr val="273239"/>
              </a:solidFill>
              <a:effectLst/>
              <a:latin typeface="Nunito" pitchFamily="2" charset="0"/>
            </a:endParaRPr>
          </a:p>
        </p:txBody>
      </p:sp>
      <p:pic>
        <p:nvPicPr>
          <p:cNvPr id="5" name="Picture 4"/>
          <p:cNvPicPr>
            <a:picLocks noChangeAspect="1"/>
          </p:cNvPicPr>
          <p:nvPr/>
        </p:nvPicPr>
        <p:blipFill>
          <a:blip r:embed="rId3"/>
          <a:stretch>
            <a:fillRect/>
          </a:stretch>
        </p:blipFill>
        <p:spPr>
          <a:xfrm>
            <a:off x="753762" y="1237090"/>
            <a:ext cx="10577384" cy="5225493"/>
          </a:xfrm>
          <a:prstGeom prst="rect">
            <a:avLst/>
          </a:prstGeom>
        </p:spPr>
      </p:pic>
    </p:spTree>
    <p:extLst>
      <p:ext uri="{BB962C8B-B14F-4D97-AF65-F5344CB8AC3E}">
        <p14:creationId xmlns:p14="http://schemas.microsoft.com/office/powerpoint/2010/main" val="54763040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a:t/>
            </a:r>
            <a:br>
              <a:rPr lang="en-US" b="1"/>
            </a:br>
            <a:r>
              <a:rPr lang="en-US" sz="4400" b="1"/>
              <a:t>5.2.3 </a:t>
            </a:r>
            <a:r>
              <a:rPr lang="en-US" sz="4400" b="1" dirty="0"/>
              <a:t>Feature Driven Development</a:t>
            </a:r>
            <a:endParaRPr lang="en-IN" sz="4400" b="1" dirty="0"/>
          </a:p>
        </p:txBody>
      </p:sp>
      <p:pic>
        <p:nvPicPr>
          <p:cNvPr id="4" name="Picture 3">
            <a:extLst>
              <a:ext uri="{FF2B5EF4-FFF2-40B4-BE49-F238E27FC236}">
                <a16:creationId xmlns="" xmlns:a16="http://schemas.microsoft.com/office/drawing/2014/main" id="{FEF121E8-AF05-9D0C-6A16-0B298BACA22A}"/>
              </a:ext>
            </a:extLst>
          </p:cNvPr>
          <p:cNvPicPr>
            <a:picLocks noChangeAspect="1"/>
          </p:cNvPicPr>
          <p:nvPr/>
        </p:nvPicPr>
        <p:blipFill>
          <a:blip r:embed="rId2"/>
          <a:stretch>
            <a:fillRect/>
          </a:stretch>
        </p:blipFill>
        <p:spPr>
          <a:xfrm>
            <a:off x="1559816" y="1496290"/>
            <a:ext cx="9072368" cy="5361709"/>
          </a:xfrm>
          <a:prstGeom prst="rect">
            <a:avLst/>
          </a:prstGeom>
          <a:solidFill>
            <a:schemeClr val="bg1"/>
          </a:solidFill>
        </p:spPr>
      </p:pic>
      <p:pic>
        <p:nvPicPr>
          <p:cNvPr id="5" name="Picture 4"/>
          <p:cNvPicPr>
            <a:picLocks noChangeAspect="1"/>
          </p:cNvPicPr>
          <p:nvPr/>
        </p:nvPicPr>
        <p:blipFill>
          <a:blip r:embed="rId3"/>
          <a:stretch>
            <a:fillRect/>
          </a:stretch>
        </p:blipFill>
        <p:spPr>
          <a:xfrm>
            <a:off x="1559816" y="2343581"/>
            <a:ext cx="8572500" cy="3667125"/>
          </a:xfrm>
          <a:prstGeom prst="rect">
            <a:avLst/>
          </a:prstGeom>
        </p:spPr>
      </p:pic>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normAutofit/>
          </a:bodyPr>
          <a:lstStyle/>
          <a:p>
            <a:pPr algn="l" fontAlgn="base"/>
            <a:r>
              <a:rPr lang="en-US" b="1" dirty="0">
                <a:solidFill>
                  <a:schemeClr val="bg1"/>
                </a:solidFill>
                <a:latin typeface="Nunito" pitchFamily="2" charset="0"/>
              </a:rPr>
              <a:t>Feature-Driven Development</a:t>
            </a:r>
            <a:r>
              <a:rPr lang="en-US" dirty="0">
                <a:solidFill>
                  <a:schemeClr val="bg1"/>
                </a:solidFill>
                <a:latin typeface="Nunito" pitchFamily="2" charset="0"/>
              </a:rPr>
              <a:t>. It is an agile iterative and incremental model that focuses on progressing the features of the developing software. The main motive of feature-driven development is to provide timely updated and working software to the client. In FDD, reporting and progress tracking is necessary at all levels</a:t>
            </a:r>
            <a:r>
              <a:rPr lang="en-US" dirty="0" smtClean="0">
                <a:solidFill>
                  <a:schemeClr val="bg1"/>
                </a:solidFill>
                <a:latin typeface="Nunito" pitchFamily="2" charset="0"/>
              </a:rPr>
              <a:t>.</a:t>
            </a:r>
          </a:p>
          <a:p>
            <a:pPr marL="342900" indent="-342900" algn="l" fontAlgn="base">
              <a:buFont typeface="Arial" panose="020B0604020202020204" pitchFamily="34" charset="0"/>
              <a:buChar char="•"/>
            </a:pPr>
            <a:r>
              <a:rPr lang="en-US" b="1" dirty="0">
                <a:solidFill>
                  <a:schemeClr val="bg1"/>
                </a:solidFill>
              </a:rPr>
              <a:t>History</a:t>
            </a:r>
          </a:p>
          <a:p>
            <a:pPr algn="l" fontAlgn="base"/>
            <a:r>
              <a:rPr lang="en-US" dirty="0">
                <a:solidFill>
                  <a:schemeClr val="bg1"/>
                </a:solidFill>
              </a:rPr>
              <a:t>FDD was first applied in the year 1997 on a real-world application by </a:t>
            </a:r>
            <a:r>
              <a:rPr lang="en-US" i="1" dirty="0">
                <a:solidFill>
                  <a:schemeClr val="bg1"/>
                </a:solidFill>
              </a:rPr>
              <a:t>Jeff De Luca</a:t>
            </a:r>
            <a:r>
              <a:rPr lang="en-US" dirty="0">
                <a:solidFill>
                  <a:schemeClr val="bg1"/>
                </a:solidFill>
              </a:rPr>
              <a:t> for large software development with specific needs of 15-month and 50 persons and published as a discussion in book </a:t>
            </a:r>
            <a:r>
              <a:rPr lang="en-US" i="1" dirty="0">
                <a:solidFill>
                  <a:schemeClr val="bg1"/>
                </a:solidFill>
              </a:rPr>
              <a:t>Java Modeling in Color with UML</a:t>
            </a:r>
            <a:r>
              <a:rPr lang="en-US" dirty="0">
                <a:solidFill>
                  <a:schemeClr val="bg1"/>
                </a:solidFill>
              </a:rPr>
              <a:t> in the year 1999.</a:t>
            </a:r>
          </a:p>
          <a:p>
            <a:pPr marL="342900" indent="-342900" algn="l" fontAlgn="base">
              <a:buFont typeface="Arial" panose="020B0604020202020204" pitchFamily="34" charset="0"/>
              <a:buChar char="•"/>
            </a:pPr>
            <a:r>
              <a:rPr lang="en-US" b="1" dirty="0">
                <a:solidFill>
                  <a:schemeClr val="bg1"/>
                </a:solidFill>
              </a:rPr>
              <a:t>FDD Lifecycle</a:t>
            </a:r>
          </a:p>
          <a:p>
            <a:pPr algn="l" fontAlgn="base"/>
            <a:r>
              <a:rPr lang="en-US" dirty="0">
                <a:solidFill>
                  <a:schemeClr val="bg1"/>
                </a:solidFill>
              </a:rPr>
              <a:t>Build overall model</a:t>
            </a:r>
          </a:p>
          <a:p>
            <a:pPr algn="l" fontAlgn="base"/>
            <a:r>
              <a:rPr lang="en-US" dirty="0">
                <a:solidFill>
                  <a:schemeClr val="bg1"/>
                </a:solidFill>
              </a:rPr>
              <a:t>Build feature list</a:t>
            </a:r>
          </a:p>
          <a:p>
            <a:pPr algn="l" fontAlgn="base"/>
            <a:r>
              <a:rPr lang="en-US" dirty="0">
                <a:solidFill>
                  <a:schemeClr val="bg1"/>
                </a:solidFill>
              </a:rPr>
              <a:t>Plan by feature</a:t>
            </a:r>
          </a:p>
          <a:p>
            <a:pPr algn="l" fontAlgn="base"/>
            <a:r>
              <a:rPr lang="en-US" dirty="0">
                <a:solidFill>
                  <a:schemeClr val="bg1"/>
                </a:solidFill>
              </a:rPr>
              <a:t>Design by feature</a:t>
            </a:r>
          </a:p>
          <a:p>
            <a:pPr fontAlgn="base"/>
            <a:r>
              <a:rPr lang="en-US" dirty="0"/>
              <a:t>Build by feature</a:t>
            </a:r>
          </a:p>
          <a:p>
            <a:pPr algn="l" fontAlgn="base"/>
            <a:endParaRPr lang="en-US" dirty="0">
              <a:solidFill>
                <a:schemeClr val="bg1"/>
              </a:solidFill>
              <a:latin typeface="Nunito" pitchFamily="2" charset="0"/>
            </a:endParaRPr>
          </a:p>
          <a:p>
            <a:pPr algn="l" fontAlgn="base"/>
            <a:endParaRPr lang="en-US" b="0" i="0" dirty="0">
              <a:solidFill>
                <a:srgbClr val="273239"/>
              </a:solidFill>
              <a:effectLst/>
              <a:latin typeface="Nunito" pitchFamily="2" charset="0"/>
            </a:endParaRPr>
          </a:p>
        </p:txBody>
      </p:sp>
    </p:spTree>
    <p:extLst>
      <p:ext uri="{BB962C8B-B14F-4D97-AF65-F5344CB8AC3E}">
        <p14:creationId xmlns:p14="http://schemas.microsoft.com/office/powerpoint/2010/main" val="417825322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a:t/>
            </a:r>
            <a:br>
              <a:rPr lang="en-US" b="1"/>
            </a:br>
            <a:r>
              <a:rPr lang="en-US" sz="4400" b="1"/>
              <a:t>5.2.3 </a:t>
            </a:r>
            <a:r>
              <a:rPr lang="en-US" sz="4400" b="1" dirty="0"/>
              <a:t>Feature Driven Development</a:t>
            </a:r>
            <a:endParaRPr lang="en-IN" sz="4400" b="1" dirty="0"/>
          </a:p>
        </p:txBody>
      </p:sp>
      <p:pic>
        <p:nvPicPr>
          <p:cNvPr id="4" name="Picture 3">
            <a:extLst>
              <a:ext uri="{FF2B5EF4-FFF2-40B4-BE49-F238E27FC236}">
                <a16:creationId xmlns="" xmlns:a16="http://schemas.microsoft.com/office/drawing/2014/main" id="{FEF121E8-AF05-9D0C-6A16-0B298BACA22A}"/>
              </a:ext>
            </a:extLst>
          </p:cNvPr>
          <p:cNvPicPr>
            <a:picLocks noChangeAspect="1"/>
          </p:cNvPicPr>
          <p:nvPr/>
        </p:nvPicPr>
        <p:blipFill>
          <a:blip r:embed="rId2"/>
          <a:stretch>
            <a:fillRect/>
          </a:stretch>
        </p:blipFill>
        <p:spPr>
          <a:xfrm>
            <a:off x="1559816" y="1496290"/>
            <a:ext cx="9072368" cy="5361709"/>
          </a:xfrm>
          <a:prstGeom prst="rect">
            <a:avLst/>
          </a:prstGeom>
          <a:solidFill>
            <a:schemeClr val="bg1"/>
          </a:solidFill>
        </p:spPr>
      </p:pic>
      <p:pic>
        <p:nvPicPr>
          <p:cNvPr id="5" name="Picture 4"/>
          <p:cNvPicPr>
            <a:picLocks noChangeAspect="1"/>
          </p:cNvPicPr>
          <p:nvPr/>
        </p:nvPicPr>
        <p:blipFill>
          <a:blip r:embed="rId3"/>
          <a:stretch>
            <a:fillRect/>
          </a:stretch>
        </p:blipFill>
        <p:spPr>
          <a:xfrm>
            <a:off x="1559816" y="2343581"/>
            <a:ext cx="8572500" cy="3667125"/>
          </a:xfrm>
          <a:prstGeom prst="rect">
            <a:avLst/>
          </a:prstGeom>
        </p:spPr>
      </p:pic>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normAutofit/>
          </a:bodyPr>
          <a:lstStyle/>
          <a:p>
            <a:pPr fontAlgn="base"/>
            <a:r>
              <a:rPr lang="en-US" dirty="0" smtClean="0"/>
              <a:t>Build </a:t>
            </a:r>
            <a:r>
              <a:rPr lang="en-US" dirty="0"/>
              <a:t>by feature</a:t>
            </a:r>
          </a:p>
          <a:p>
            <a:pPr algn="l" fontAlgn="base"/>
            <a:endParaRPr lang="en-US" dirty="0">
              <a:solidFill>
                <a:schemeClr val="bg1"/>
              </a:solidFill>
              <a:latin typeface="Nunito" pitchFamily="2" charset="0"/>
            </a:endParaRPr>
          </a:p>
          <a:p>
            <a:pPr algn="l" fontAlgn="base"/>
            <a:endParaRPr lang="en-US" b="0" i="0" dirty="0">
              <a:solidFill>
                <a:srgbClr val="273239"/>
              </a:solidFill>
              <a:effectLst/>
              <a:latin typeface="Nunito" pitchFamily="2" charset="0"/>
            </a:endParaRPr>
          </a:p>
        </p:txBody>
      </p:sp>
      <p:pic>
        <p:nvPicPr>
          <p:cNvPr id="6" name="Picture 5"/>
          <p:cNvPicPr>
            <a:picLocks noChangeAspect="1"/>
          </p:cNvPicPr>
          <p:nvPr/>
        </p:nvPicPr>
        <p:blipFill>
          <a:blip r:embed="rId4"/>
          <a:stretch>
            <a:fillRect/>
          </a:stretch>
        </p:blipFill>
        <p:spPr>
          <a:xfrm>
            <a:off x="248937" y="2032329"/>
            <a:ext cx="11372850" cy="3457575"/>
          </a:xfrm>
          <a:prstGeom prst="rect">
            <a:avLst/>
          </a:prstGeom>
        </p:spPr>
      </p:pic>
    </p:spTree>
    <p:extLst>
      <p:ext uri="{BB962C8B-B14F-4D97-AF65-F5344CB8AC3E}">
        <p14:creationId xmlns:p14="http://schemas.microsoft.com/office/powerpoint/2010/main" val="1873495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a:t/>
            </a:r>
            <a:br>
              <a:rPr lang="en-US" b="1"/>
            </a:br>
            <a:r>
              <a:rPr lang="en-US" sz="4400" b="1"/>
              <a:t>5.2.3 </a:t>
            </a:r>
            <a:r>
              <a:rPr lang="en-US" sz="4400" b="1" dirty="0"/>
              <a:t>Feature Driven Development</a:t>
            </a:r>
            <a:endParaRPr lang="en-IN" sz="4400" b="1" dirty="0"/>
          </a:p>
        </p:txBody>
      </p:sp>
      <p:pic>
        <p:nvPicPr>
          <p:cNvPr id="4" name="Picture 3">
            <a:extLst>
              <a:ext uri="{FF2B5EF4-FFF2-40B4-BE49-F238E27FC236}">
                <a16:creationId xmlns="" xmlns:a16="http://schemas.microsoft.com/office/drawing/2014/main" id="{FEF121E8-AF05-9D0C-6A16-0B298BACA22A}"/>
              </a:ext>
            </a:extLst>
          </p:cNvPr>
          <p:cNvPicPr>
            <a:picLocks noChangeAspect="1"/>
          </p:cNvPicPr>
          <p:nvPr/>
        </p:nvPicPr>
        <p:blipFill>
          <a:blip r:embed="rId2"/>
          <a:stretch>
            <a:fillRect/>
          </a:stretch>
        </p:blipFill>
        <p:spPr>
          <a:xfrm>
            <a:off x="1559816" y="1496290"/>
            <a:ext cx="9072368" cy="5361709"/>
          </a:xfrm>
          <a:prstGeom prst="rect">
            <a:avLst/>
          </a:prstGeom>
          <a:solidFill>
            <a:schemeClr val="bg1"/>
          </a:solidFill>
        </p:spPr>
      </p:pic>
      <p:pic>
        <p:nvPicPr>
          <p:cNvPr id="5" name="Picture 4"/>
          <p:cNvPicPr>
            <a:picLocks noChangeAspect="1"/>
          </p:cNvPicPr>
          <p:nvPr/>
        </p:nvPicPr>
        <p:blipFill>
          <a:blip r:embed="rId3"/>
          <a:stretch>
            <a:fillRect/>
          </a:stretch>
        </p:blipFill>
        <p:spPr>
          <a:xfrm>
            <a:off x="1559816" y="2343581"/>
            <a:ext cx="8572500" cy="3667125"/>
          </a:xfrm>
          <a:prstGeom prst="rect">
            <a:avLst/>
          </a:prstGeom>
        </p:spPr>
      </p:pic>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normAutofit/>
          </a:bodyPr>
          <a:lstStyle/>
          <a:p>
            <a:pPr marL="342900" indent="-342900" algn="l" fontAlgn="base">
              <a:buFont typeface="Arial" panose="020B0604020202020204" pitchFamily="34" charset="0"/>
              <a:buChar char="•"/>
            </a:pPr>
            <a:r>
              <a:rPr lang="en-US" b="1" dirty="0">
                <a:solidFill>
                  <a:schemeClr val="bg1"/>
                </a:solidFill>
              </a:rPr>
              <a:t>Characteristics of </a:t>
            </a:r>
            <a:r>
              <a:rPr lang="en-US" b="1" dirty="0" smtClean="0">
                <a:solidFill>
                  <a:schemeClr val="bg1"/>
                </a:solidFill>
              </a:rPr>
              <a:t>FDD</a:t>
            </a:r>
          </a:p>
          <a:p>
            <a:pPr marL="342900" indent="-342900" algn="l" fontAlgn="base">
              <a:buFont typeface="Arial" panose="020B0604020202020204" pitchFamily="34" charset="0"/>
              <a:buChar char="•"/>
            </a:pPr>
            <a:endParaRPr lang="en-US" b="1" dirty="0">
              <a:solidFill>
                <a:schemeClr val="bg1"/>
              </a:solidFill>
            </a:endParaRPr>
          </a:p>
          <a:p>
            <a:pPr marL="342900" indent="-342900" algn="l" fontAlgn="base">
              <a:buFont typeface="Arial" panose="020B0604020202020204" pitchFamily="34" charset="0"/>
              <a:buChar char="•"/>
            </a:pPr>
            <a:endParaRPr lang="en-US" b="1" dirty="0">
              <a:solidFill>
                <a:schemeClr val="bg1"/>
              </a:solidFill>
            </a:endParaRPr>
          </a:p>
          <a:p>
            <a:pPr marL="457200" indent="-457200" algn="l" fontAlgn="base">
              <a:buFont typeface="+mj-lt"/>
              <a:buAutoNum type="arabicPeriod"/>
            </a:pPr>
            <a:r>
              <a:rPr lang="en-US" b="1" dirty="0">
                <a:solidFill>
                  <a:schemeClr val="bg1"/>
                </a:solidFill>
              </a:rPr>
              <a:t>Short iterative:</a:t>
            </a:r>
            <a:r>
              <a:rPr lang="en-US" dirty="0">
                <a:solidFill>
                  <a:schemeClr val="bg1"/>
                </a:solidFill>
              </a:rPr>
              <a:t> FDD lifecycle works in simple and short iterations to efficiently finish the work on time and gives good pace for large projects.</a:t>
            </a:r>
          </a:p>
          <a:p>
            <a:pPr marL="457200" indent="-457200" algn="l" fontAlgn="base">
              <a:buFont typeface="+mj-lt"/>
              <a:buAutoNum type="arabicPeriod"/>
            </a:pPr>
            <a:r>
              <a:rPr lang="en-US" b="1" dirty="0">
                <a:solidFill>
                  <a:schemeClr val="bg1"/>
                </a:solidFill>
              </a:rPr>
              <a:t>Customer focused:</a:t>
            </a:r>
            <a:r>
              <a:rPr lang="en-US" dirty="0">
                <a:solidFill>
                  <a:schemeClr val="bg1"/>
                </a:solidFill>
              </a:rPr>
              <a:t> This agile practice is totally based on inspection of each feature by client and then pushed to main build code.</a:t>
            </a:r>
          </a:p>
          <a:p>
            <a:pPr marL="457200" indent="-457200" algn="l" fontAlgn="base">
              <a:buFont typeface="+mj-lt"/>
              <a:buAutoNum type="arabicPeriod"/>
            </a:pPr>
            <a:r>
              <a:rPr lang="en-US" b="1" dirty="0">
                <a:solidFill>
                  <a:schemeClr val="bg1"/>
                </a:solidFill>
              </a:rPr>
              <a:t>Structured and feature focused:</a:t>
            </a:r>
            <a:r>
              <a:rPr lang="en-US" dirty="0">
                <a:solidFill>
                  <a:schemeClr val="bg1"/>
                </a:solidFill>
              </a:rPr>
              <a:t> Initial activities in lifecycle builds the domain model and features list in the beginning of timeline and more than 70% of efforts are given to last 2 activities.</a:t>
            </a:r>
          </a:p>
          <a:p>
            <a:pPr marL="457200" indent="-457200" algn="l" fontAlgn="base">
              <a:buFont typeface="+mj-lt"/>
              <a:buAutoNum type="arabicPeriod"/>
            </a:pPr>
            <a:r>
              <a:rPr lang="en-US" b="1" dirty="0">
                <a:solidFill>
                  <a:schemeClr val="bg1"/>
                </a:solidFill>
              </a:rPr>
              <a:t>Frequent releases:</a:t>
            </a:r>
            <a:r>
              <a:rPr lang="en-US" dirty="0">
                <a:solidFill>
                  <a:schemeClr val="bg1"/>
                </a:solidFill>
              </a:rPr>
              <a:t> Feature-driven development provides continuous releases of features in the software </a:t>
            </a:r>
            <a:r>
              <a:rPr lang="en-US" dirty="0"/>
              <a:t>and retaining continuous success of the project.</a:t>
            </a:r>
          </a:p>
        </p:txBody>
      </p:sp>
    </p:spTree>
    <p:extLst>
      <p:ext uri="{BB962C8B-B14F-4D97-AF65-F5344CB8AC3E}">
        <p14:creationId xmlns:p14="http://schemas.microsoft.com/office/powerpoint/2010/main" val="243574965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a:t/>
            </a:r>
            <a:br>
              <a:rPr lang="en-US" b="1"/>
            </a:br>
            <a:r>
              <a:rPr lang="en-US" sz="4400" b="1"/>
              <a:t>5.2.3 </a:t>
            </a:r>
            <a:r>
              <a:rPr lang="en-US" sz="4400" b="1" dirty="0"/>
              <a:t>Feature Driven Development</a:t>
            </a:r>
            <a:endParaRPr lang="en-IN" sz="4400" b="1" dirty="0"/>
          </a:p>
        </p:txBody>
      </p:sp>
      <p:pic>
        <p:nvPicPr>
          <p:cNvPr id="4" name="Picture 3">
            <a:extLst>
              <a:ext uri="{FF2B5EF4-FFF2-40B4-BE49-F238E27FC236}">
                <a16:creationId xmlns="" xmlns:a16="http://schemas.microsoft.com/office/drawing/2014/main" id="{FEF121E8-AF05-9D0C-6A16-0B298BACA22A}"/>
              </a:ext>
            </a:extLst>
          </p:cNvPr>
          <p:cNvPicPr>
            <a:picLocks noChangeAspect="1"/>
          </p:cNvPicPr>
          <p:nvPr/>
        </p:nvPicPr>
        <p:blipFill>
          <a:blip r:embed="rId2"/>
          <a:stretch>
            <a:fillRect/>
          </a:stretch>
        </p:blipFill>
        <p:spPr>
          <a:xfrm>
            <a:off x="1559816" y="1496290"/>
            <a:ext cx="9072368" cy="5361709"/>
          </a:xfrm>
          <a:prstGeom prst="rect">
            <a:avLst/>
          </a:prstGeom>
          <a:solidFill>
            <a:schemeClr val="bg1"/>
          </a:solidFill>
        </p:spPr>
      </p:pic>
      <p:pic>
        <p:nvPicPr>
          <p:cNvPr id="5" name="Picture 4"/>
          <p:cNvPicPr>
            <a:picLocks noChangeAspect="1"/>
          </p:cNvPicPr>
          <p:nvPr/>
        </p:nvPicPr>
        <p:blipFill>
          <a:blip r:embed="rId3"/>
          <a:stretch>
            <a:fillRect/>
          </a:stretch>
        </p:blipFill>
        <p:spPr>
          <a:xfrm>
            <a:off x="1559816" y="2343581"/>
            <a:ext cx="8572500" cy="3667125"/>
          </a:xfrm>
          <a:prstGeom prst="rect">
            <a:avLst/>
          </a:prstGeom>
        </p:spPr>
      </p:pic>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normAutofit/>
          </a:bodyPr>
          <a:lstStyle/>
          <a:p>
            <a:pPr algn="l" fontAlgn="base"/>
            <a:endParaRPr lang="en-US" b="1" dirty="0" smtClean="0">
              <a:solidFill>
                <a:schemeClr val="bg1"/>
              </a:solidFill>
            </a:endParaRPr>
          </a:p>
          <a:p>
            <a:pPr algn="l" fontAlgn="base"/>
            <a:r>
              <a:rPr lang="en-US" b="1" dirty="0" smtClean="0">
                <a:solidFill>
                  <a:schemeClr val="bg1"/>
                </a:solidFill>
              </a:rPr>
              <a:t>Advantages </a:t>
            </a:r>
            <a:r>
              <a:rPr lang="en-US" b="1" dirty="0">
                <a:solidFill>
                  <a:schemeClr val="bg1"/>
                </a:solidFill>
              </a:rPr>
              <a:t>of </a:t>
            </a:r>
            <a:r>
              <a:rPr lang="en-US" b="1" dirty="0" smtClean="0">
                <a:solidFill>
                  <a:schemeClr val="bg1"/>
                </a:solidFill>
              </a:rPr>
              <a:t>FDD</a:t>
            </a:r>
          </a:p>
          <a:p>
            <a:pPr algn="l" fontAlgn="base"/>
            <a:endParaRPr lang="en-US" b="1" dirty="0">
              <a:solidFill>
                <a:schemeClr val="bg1"/>
              </a:solidFill>
            </a:endParaRPr>
          </a:p>
          <a:p>
            <a:pPr marL="342900" indent="-342900" algn="l" fontAlgn="base">
              <a:buFont typeface="Arial" panose="020B0604020202020204" pitchFamily="34" charset="0"/>
              <a:buChar char="•"/>
            </a:pPr>
            <a:r>
              <a:rPr lang="en-US" dirty="0">
                <a:solidFill>
                  <a:schemeClr val="bg1"/>
                </a:solidFill>
              </a:rPr>
              <a:t>Reporting at all levels leads to easier progress tracking.</a:t>
            </a:r>
          </a:p>
          <a:p>
            <a:pPr marL="342900" indent="-342900" algn="l" fontAlgn="base">
              <a:buFont typeface="Arial" panose="020B0604020202020204" pitchFamily="34" charset="0"/>
              <a:buChar char="•"/>
            </a:pPr>
            <a:r>
              <a:rPr lang="en-US" dirty="0">
                <a:solidFill>
                  <a:schemeClr val="bg1"/>
                </a:solidFill>
              </a:rPr>
              <a:t>FDD provides continuous success for larger size of teams and projects.</a:t>
            </a:r>
          </a:p>
          <a:p>
            <a:pPr marL="342900" indent="-342900" algn="l" fontAlgn="base">
              <a:buFont typeface="Arial" panose="020B0604020202020204" pitchFamily="34" charset="0"/>
              <a:buChar char="•"/>
            </a:pPr>
            <a:r>
              <a:rPr lang="en-US" dirty="0">
                <a:solidFill>
                  <a:schemeClr val="bg1"/>
                </a:solidFill>
              </a:rPr>
              <a:t>Reduction in risks is observed as whole model and design is build in smaller segments.</a:t>
            </a:r>
          </a:p>
          <a:p>
            <a:pPr marL="342900" indent="-342900" algn="l" fontAlgn="base">
              <a:buFont typeface="Arial" panose="020B0604020202020204" pitchFamily="34" charset="0"/>
              <a:buChar char="•"/>
            </a:pPr>
            <a:r>
              <a:rPr lang="en-US" dirty="0">
                <a:solidFill>
                  <a:schemeClr val="bg1"/>
                </a:solidFill>
              </a:rPr>
              <a:t>FDD provides greater accuracy in cost estimation of the project due to feature </a:t>
            </a:r>
            <a:r>
              <a:rPr lang="en-US" dirty="0" smtClean="0">
                <a:solidFill>
                  <a:schemeClr val="bg1"/>
                </a:solidFill>
              </a:rPr>
              <a:t>segmentation retaining </a:t>
            </a:r>
            <a:r>
              <a:rPr lang="en-US" dirty="0">
                <a:solidFill>
                  <a:schemeClr val="bg1"/>
                </a:solidFill>
              </a:rPr>
              <a:t>continuous success </a:t>
            </a:r>
            <a:r>
              <a:rPr lang="en-US" dirty="0"/>
              <a:t>of the project.</a:t>
            </a:r>
          </a:p>
        </p:txBody>
      </p:sp>
    </p:spTree>
    <p:extLst>
      <p:ext uri="{BB962C8B-B14F-4D97-AF65-F5344CB8AC3E}">
        <p14:creationId xmlns:p14="http://schemas.microsoft.com/office/powerpoint/2010/main" val="386015011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a:t/>
            </a:r>
            <a:br>
              <a:rPr lang="en-US" b="1"/>
            </a:br>
            <a:r>
              <a:rPr lang="en-US" sz="4400" b="1"/>
              <a:t>5.2.3 </a:t>
            </a:r>
            <a:r>
              <a:rPr lang="en-US" sz="4400" b="1" dirty="0"/>
              <a:t>Feature Driven Development</a:t>
            </a:r>
            <a:endParaRPr lang="en-IN" sz="4400" b="1" dirty="0"/>
          </a:p>
        </p:txBody>
      </p:sp>
      <p:pic>
        <p:nvPicPr>
          <p:cNvPr id="4" name="Picture 3">
            <a:extLst>
              <a:ext uri="{FF2B5EF4-FFF2-40B4-BE49-F238E27FC236}">
                <a16:creationId xmlns="" xmlns:a16="http://schemas.microsoft.com/office/drawing/2014/main" id="{FEF121E8-AF05-9D0C-6A16-0B298BACA22A}"/>
              </a:ext>
            </a:extLst>
          </p:cNvPr>
          <p:cNvPicPr>
            <a:picLocks noChangeAspect="1"/>
          </p:cNvPicPr>
          <p:nvPr/>
        </p:nvPicPr>
        <p:blipFill>
          <a:blip r:embed="rId2"/>
          <a:stretch>
            <a:fillRect/>
          </a:stretch>
        </p:blipFill>
        <p:spPr>
          <a:xfrm>
            <a:off x="1559816" y="1496290"/>
            <a:ext cx="9072368" cy="5361709"/>
          </a:xfrm>
          <a:prstGeom prst="rect">
            <a:avLst/>
          </a:prstGeom>
          <a:solidFill>
            <a:schemeClr val="bg1"/>
          </a:solidFill>
        </p:spPr>
      </p:pic>
      <p:pic>
        <p:nvPicPr>
          <p:cNvPr id="5" name="Picture 4"/>
          <p:cNvPicPr>
            <a:picLocks noChangeAspect="1"/>
          </p:cNvPicPr>
          <p:nvPr/>
        </p:nvPicPr>
        <p:blipFill>
          <a:blip r:embed="rId3"/>
          <a:stretch>
            <a:fillRect/>
          </a:stretch>
        </p:blipFill>
        <p:spPr>
          <a:xfrm>
            <a:off x="1559816" y="2343581"/>
            <a:ext cx="8572500" cy="3667125"/>
          </a:xfrm>
          <a:prstGeom prst="rect">
            <a:avLst/>
          </a:prstGeom>
        </p:spPr>
      </p:pic>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normAutofit/>
          </a:bodyPr>
          <a:lstStyle/>
          <a:p>
            <a:pPr algn="l" fontAlgn="base"/>
            <a:endParaRPr lang="en-US" b="1" dirty="0" smtClean="0">
              <a:solidFill>
                <a:schemeClr val="bg1"/>
              </a:solidFill>
            </a:endParaRPr>
          </a:p>
          <a:p>
            <a:pPr marL="342900" indent="-342900" algn="l" fontAlgn="base">
              <a:buFont typeface="Arial" panose="020B0604020202020204" pitchFamily="34" charset="0"/>
              <a:buChar char="•"/>
            </a:pPr>
            <a:r>
              <a:rPr lang="en-US" b="1" dirty="0">
                <a:solidFill>
                  <a:schemeClr val="bg1"/>
                </a:solidFill>
              </a:rPr>
              <a:t>Disadvantages of </a:t>
            </a:r>
            <a:r>
              <a:rPr lang="en-US" b="1" dirty="0" smtClean="0">
                <a:solidFill>
                  <a:schemeClr val="bg1"/>
                </a:solidFill>
              </a:rPr>
              <a:t>FDD</a:t>
            </a:r>
          </a:p>
          <a:p>
            <a:pPr algn="l" fontAlgn="base"/>
            <a:endParaRPr lang="en-US" b="1" dirty="0">
              <a:solidFill>
                <a:schemeClr val="bg1"/>
              </a:solidFill>
            </a:endParaRPr>
          </a:p>
          <a:p>
            <a:pPr marL="457200" indent="-457200" algn="l" fontAlgn="base">
              <a:buFont typeface="+mj-lt"/>
              <a:buAutoNum type="arabicPeriod"/>
            </a:pPr>
            <a:r>
              <a:rPr lang="en-US" dirty="0">
                <a:solidFill>
                  <a:schemeClr val="bg1"/>
                </a:solidFill>
              </a:rPr>
              <a:t>This agile practice is not good for smaller projects.</a:t>
            </a:r>
          </a:p>
          <a:p>
            <a:pPr marL="457200" indent="-457200" algn="l" fontAlgn="base">
              <a:buFont typeface="+mj-lt"/>
              <a:buAutoNum type="arabicPeriod"/>
            </a:pPr>
            <a:r>
              <a:rPr lang="en-US" dirty="0">
                <a:solidFill>
                  <a:schemeClr val="bg1"/>
                </a:solidFill>
              </a:rPr>
              <a:t>There is high dependency on lead programmers, designers and mentors.</a:t>
            </a:r>
          </a:p>
          <a:p>
            <a:pPr marL="457200" indent="-457200" algn="l" fontAlgn="base">
              <a:buFont typeface="+mj-lt"/>
              <a:buAutoNum type="arabicPeriod"/>
            </a:pPr>
            <a:r>
              <a:rPr lang="en-US" dirty="0">
                <a:solidFill>
                  <a:schemeClr val="bg1"/>
                </a:solidFill>
              </a:rPr>
              <a:t>There is lack of documentation which can create an issue afterwards</a:t>
            </a:r>
            <a:r>
              <a:rPr lang="en-US" dirty="0" smtClean="0">
                <a:solidFill>
                  <a:schemeClr val="bg1"/>
                </a:solidFill>
              </a:rPr>
              <a:t>.</a:t>
            </a:r>
            <a:endParaRPr lang="en-US" dirty="0">
              <a:solidFill>
                <a:schemeClr val="bg1"/>
              </a:solidFill>
            </a:endParaRPr>
          </a:p>
        </p:txBody>
      </p:sp>
    </p:spTree>
    <p:extLst>
      <p:ext uri="{BB962C8B-B14F-4D97-AF65-F5344CB8AC3E}">
        <p14:creationId xmlns:p14="http://schemas.microsoft.com/office/powerpoint/2010/main" val="3214561143"/>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sz="4400" b="1" dirty="0" smtClean="0"/>
              <a:t>5.2.4 SCRUM</a:t>
            </a:r>
            <a:endParaRPr lang="en-IN" sz="4400" b="1" dirty="0"/>
          </a:p>
        </p:txBody>
      </p:sp>
      <p:pic>
        <p:nvPicPr>
          <p:cNvPr id="4" name="Picture 3">
            <a:extLst>
              <a:ext uri="{FF2B5EF4-FFF2-40B4-BE49-F238E27FC236}">
                <a16:creationId xmlns="" xmlns:a16="http://schemas.microsoft.com/office/drawing/2014/main" id="{FEF121E8-AF05-9D0C-6A16-0B298BACA22A}"/>
              </a:ext>
            </a:extLst>
          </p:cNvPr>
          <p:cNvPicPr>
            <a:picLocks noChangeAspect="1"/>
          </p:cNvPicPr>
          <p:nvPr/>
        </p:nvPicPr>
        <p:blipFill>
          <a:blip r:embed="rId2"/>
          <a:stretch>
            <a:fillRect/>
          </a:stretch>
        </p:blipFill>
        <p:spPr>
          <a:xfrm>
            <a:off x="1559816" y="1496290"/>
            <a:ext cx="9072368" cy="5361709"/>
          </a:xfrm>
          <a:prstGeom prst="rect">
            <a:avLst/>
          </a:prstGeom>
          <a:solidFill>
            <a:schemeClr val="bg1"/>
          </a:solidFill>
        </p:spPr>
      </p:pic>
      <p:pic>
        <p:nvPicPr>
          <p:cNvPr id="5" name="Picture 4"/>
          <p:cNvPicPr>
            <a:picLocks noChangeAspect="1"/>
          </p:cNvPicPr>
          <p:nvPr/>
        </p:nvPicPr>
        <p:blipFill>
          <a:blip r:embed="rId3"/>
          <a:stretch>
            <a:fillRect/>
          </a:stretch>
        </p:blipFill>
        <p:spPr>
          <a:xfrm>
            <a:off x="1559816" y="2343581"/>
            <a:ext cx="8572500" cy="3667125"/>
          </a:xfrm>
          <a:prstGeom prst="rect">
            <a:avLst/>
          </a:prstGeom>
        </p:spPr>
      </p:pic>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normAutofit/>
          </a:bodyPr>
          <a:lstStyle/>
          <a:p>
            <a:pPr algn="l" fontAlgn="base"/>
            <a:endParaRPr lang="en-US" b="1" dirty="0" smtClean="0">
              <a:solidFill>
                <a:schemeClr val="bg1"/>
              </a:solidFill>
            </a:endParaRPr>
          </a:p>
        </p:txBody>
      </p:sp>
      <p:pic>
        <p:nvPicPr>
          <p:cNvPr id="6" name="Picture 5"/>
          <p:cNvPicPr>
            <a:picLocks noChangeAspect="1"/>
          </p:cNvPicPr>
          <p:nvPr/>
        </p:nvPicPr>
        <p:blipFill>
          <a:blip r:embed="rId4"/>
          <a:stretch>
            <a:fillRect/>
          </a:stretch>
        </p:blipFill>
        <p:spPr>
          <a:xfrm>
            <a:off x="2412914" y="1248206"/>
            <a:ext cx="7143750" cy="4762500"/>
          </a:xfrm>
          <a:prstGeom prst="rect">
            <a:avLst/>
          </a:prstGeom>
        </p:spPr>
      </p:pic>
    </p:spTree>
    <p:extLst>
      <p:ext uri="{BB962C8B-B14F-4D97-AF65-F5344CB8AC3E}">
        <p14:creationId xmlns:p14="http://schemas.microsoft.com/office/powerpoint/2010/main" val="303621887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sz="4400" b="1" dirty="0" smtClean="0"/>
              <a:t>5.2.4 SCRUM</a:t>
            </a:r>
            <a:endParaRPr lang="en-IN" sz="4400" b="1" dirty="0"/>
          </a:p>
        </p:txBody>
      </p:sp>
      <p:pic>
        <p:nvPicPr>
          <p:cNvPr id="4" name="Picture 3">
            <a:extLst>
              <a:ext uri="{FF2B5EF4-FFF2-40B4-BE49-F238E27FC236}">
                <a16:creationId xmlns="" xmlns:a16="http://schemas.microsoft.com/office/drawing/2014/main" id="{FEF121E8-AF05-9D0C-6A16-0B298BACA22A}"/>
              </a:ext>
            </a:extLst>
          </p:cNvPr>
          <p:cNvPicPr>
            <a:picLocks noChangeAspect="1"/>
          </p:cNvPicPr>
          <p:nvPr/>
        </p:nvPicPr>
        <p:blipFill>
          <a:blip r:embed="rId2"/>
          <a:stretch>
            <a:fillRect/>
          </a:stretch>
        </p:blipFill>
        <p:spPr>
          <a:xfrm>
            <a:off x="2387719" y="1080262"/>
            <a:ext cx="9072368" cy="5361709"/>
          </a:xfrm>
          <a:prstGeom prst="rect">
            <a:avLst/>
          </a:prstGeom>
          <a:solidFill>
            <a:schemeClr val="bg1"/>
          </a:solidFill>
        </p:spPr>
      </p:pic>
      <p:pic>
        <p:nvPicPr>
          <p:cNvPr id="5" name="Picture 4"/>
          <p:cNvPicPr>
            <a:picLocks noChangeAspect="1"/>
          </p:cNvPicPr>
          <p:nvPr/>
        </p:nvPicPr>
        <p:blipFill>
          <a:blip r:embed="rId3"/>
          <a:stretch>
            <a:fillRect/>
          </a:stretch>
        </p:blipFill>
        <p:spPr>
          <a:xfrm>
            <a:off x="1559816" y="2343581"/>
            <a:ext cx="8572500" cy="3667125"/>
          </a:xfrm>
          <a:prstGeom prst="rect">
            <a:avLst/>
          </a:prstGeom>
        </p:spPr>
      </p:pic>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normAutofit fontScale="92500"/>
          </a:bodyPr>
          <a:lstStyle/>
          <a:p>
            <a:pPr marL="342900" indent="-342900" algn="l" fontAlgn="base">
              <a:buFont typeface="Arial" panose="020B0604020202020204" pitchFamily="34" charset="0"/>
              <a:buChar char="•"/>
            </a:pPr>
            <a:r>
              <a:rPr lang="en-US" dirty="0">
                <a:solidFill>
                  <a:schemeClr val="bg1"/>
                </a:solidFill>
              </a:rPr>
              <a:t>Scrum is precisely an evolution of Agile Management. Scrum methodology is based on a set of very defined practices and roles that must be involved during the software development process. It is a flexible methodology that rewards the application of the 12 agile principles in a context agreed by all the team members of the product.</a:t>
            </a:r>
          </a:p>
          <a:p>
            <a:pPr marL="342900" indent="-342900" algn="l" fontAlgn="base">
              <a:buFont typeface="Arial" panose="020B0604020202020204" pitchFamily="34" charset="0"/>
              <a:buChar char="•"/>
            </a:pPr>
            <a:r>
              <a:rPr lang="en-US" dirty="0">
                <a:solidFill>
                  <a:schemeClr val="bg1"/>
                </a:solidFill>
              </a:rPr>
              <a:t>Scrum is executed in temporary blocks that are short and periodic, called Sprints, which usually range from 2 to 4 weeks, which is the term for feedback and reflection. Each Sprint is an entity in itself, that is, it provides a complete result, a variation of the final product that must be able to be delivered to the client with the least possible effort when requested. </a:t>
            </a:r>
          </a:p>
          <a:p>
            <a:pPr marL="342900" indent="-342900" algn="l" fontAlgn="base">
              <a:buFont typeface="Arial" panose="020B0604020202020204" pitchFamily="34" charset="0"/>
              <a:buChar char="•"/>
            </a:pPr>
            <a:r>
              <a:rPr lang="en-US" dirty="0">
                <a:solidFill>
                  <a:schemeClr val="bg1"/>
                </a:solidFill>
              </a:rPr>
              <a:t>The process has as a starting point, a list of objectives/ requirements that make up the </a:t>
            </a:r>
            <a:r>
              <a:rPr lang="en-US" dirty="0">
                <a:solidFill>
                  <a:schemeClr val="bg1"/>
                </a:solidFill>
                <a:hlinkClick r:id="rId4"/>
              </a:rPr>
              <a:t>project plan</a:t>
            </a:r>
            <a:r>
              <a:rPr lang="en-US" dirty="0">
                <a:solidFill>
                  <a:schemeClr val="bg1"/>
                </a:solidFill>
              </a:rPr>
              <a:t>. It is the client of the project that prioritizes these objectives considering a balance of the value and the cost thereof, that is how the iterations and consequent deliveries are determined.</a:t>
            </a:r>
          </a:p>
          <a:p>
            <a:pPr marL="342900" indent="-342900" algn="l" fontAlgn="base">
              <a:buFont typeface="Arial" panose="020B0604020202020204" pitchFamily="34" charset="0"/>
              <a:buChar char="•"/>
            </a:pPr>
            <a:r>
              <a:rPr lang="en-US" dirty="0">
                <a:solidFill>
                  <a:schemeClr val="bg1"/>
                </a:solidFill>
              </a:rPr>
              <a:t>On the one hand the market demands quality, fast delivery at lower costs, for which a company must be very agile and flexible in the development of products, to achieve short development cycles that can meet the demand of customers without undermining the quality of the result. It is a very easy methodology to implement and very popular for the quick results it gets.</a:t>
            </a:r>
          </a:p>
          <a:p>
            <a:pPr marL="342900" indent="-342900" algn="l" fontAlgn="base">
              <a:buFont typeface="Arial" panose="020B0604020202020204" pitchFamily="34" charset="0"/>
              <a:buChar char="•"/>
            </a:pPr>
            <a:r>
              <a:rPr lang="en-US" dirty="0">
                <a:solidFill>
                  <a:schemeClr val="bg1"/>
                </a:solidFill>
              </a:rPr>
              <a:t>Scrum methodology is used mainly for software development, but other sectors are also taking advantage of its benefits by implementing this methodology in their organizational models such as sales, marketing, &amp; HR teams </a:t>
            </a:r>
            <a:r>
              <a:rPr lang="en-US" dirty="0" err="1">
                <a:solidFill>
                  <a:schemeClr val="bg1"/>
                </a:solidFill>
              </a:rPr>
              <a:t>etc</a:t>
            </a:r>
            <a:endParaRPr lang="en-US" dirty="0">
              <a:solidFill>
                <a:schemeClr val="bg1"/>
              </a:solidFill>
            </a:endParaRPr>
          </a:p>
          <a:p>
            <a:pPr algn="l" fontAlgn="base"/>
            <a:endParaRPr lang="en-US" b="1" dirty="0" smtClean="0">
              <a:solidFill>
                <a:schemeClr val="bg1"/>
              </a:solidFill>
            </a:endParaRPr>
          </a:p>
        </p:txBody>
      </p:sp>
    </p:spTree>
    <p:extLst>
      <p:ext uri="{BB962C8B-B14F-4D97-AF65-F5344CB8AC3E}">
        <p14:creationId xmlns:p14="http://schemas.microsoft.com/office/powerpoint/2010/main" val="3179777919"/>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endParaRPr lang="en-IN"/>
          </a:p>
        </p:txBody>
      </p:sp>
      <p:pic>
        <p:nvPicPr>
          <p:cNvPr id="8" name="Picture 7"/>
          <p:cNvPicPr>
            <a:picLocks noChangeAspect="1"/>
          </p:cNvPicPr>
          <p:nvPr/>
        </p:nvPicPr>
        <p:blipFill>
          <a:blip r:embed="rId2"/>
          <a:stretch>
            <a:fillRect/>
          </a:stretch>
        </p:blipFill>
        <p:spPr>
          <a:xfrm>
            <a:off x="0" y="1"/>
            <a:ext cx="12192000" cy="6858000"/>
          </a:xfrm>
          <a:prstGeom prst="rect">
            <a:avLst/>
          </a:prstGeom>
        </p:spPr>
      </p:pic>
    </p:spTree>
    <p:extLst>
      <p:ext uri="{BB962C8B-B14F-4D97-AF65-F5344CB8AC3E}">
        <p14:creationId xmlns:p14="http://schemas.microsoft.com/office/powerpoint/2010/main" val="114151677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sz="4400" b="1" dirty="0" smtClean="0"/>
              <a:t>5.2.4 SCRUM</a:t>
            </a:r>
            <a:endParaRPr lang="en-IN" sz="4400" b="1" dirty="0"/>
          </a:p>
        </p:txBody>
      </p:sp>
      <p:pic>
        <p:nvPicPr>
          <p:cNvPr id="4" name="Picture 3">
            <a:extLst>
              <a:ext uri="{FF2B5EF4-FFF2-40B4-BE49-F238E27FC236}">
                <a16:creationId xmlns="" xmlns:a16="http://schemas.microsoft.com/office/drawing/2014/main" id="{FEF121E8-AF05-9D0C-6A16-0B298BACA22A}"/>
              </a:ext>
            </a:extLst>
          </p:cNvPr>
          <p:cNvPicPr>
            <a:picLocks noChangeAspect="1"/>
          </p:cNvPicPr>
          <p:nvPr/>
        </p:nvPicPr>
        <p:blipFill>
          <a:blip r:embed="rId2"/>
          <a:stretch>
            <a:fillRect/>
          </a:stretch>
        </p:blipFill>
        <p:spPr>
          <a:xfrm>
            <a:off x="2387719" y="1080262"/>
            <a:ext cx="9072368" cy="5361709"/>
          </a:xfrm>
          <a:prstGeom prst="rect">
            <a:avLst/>
          </a:prstGeom>
          <a:solidFill>
            <a:schemeClr val="bg1"/>
          </a:solidFill>
        </p:spPr>
      </p:pic>
      <p:pic>
        <p:nvPicPr>
          <p:cNvPr id="5" name="Picture 4"/>
          <p:cNvPicPr>
            <a:picLocks noChangeAspect="1"/>
          </p:cNvPicPr>
          <p:nvPr/>
        </p:nvPicPr>
        <p:blipFill>
          <a:blip r:embed="rId3"/>
          <a:stretch>
            <a:fillRect/>
          </a:stretch>
        </p:blipFill>
        <p:spPr>
          <a:xfrm>
            <a:off x="1559816" y="2343581"/>
            <a:ext cx="8572500" cy="3667125"/>
          </a:xfrm>
          <a:prstGeom prst="rect">
            <a:avLst/>
          </a:prstGeom>
        </p:spPr>
      </p:pic>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normAutofit/>
          </a:bodyPr>
          <a:lstStyle/>
          <a:p>
            <a:pPr algn="l" fontAlgn="base"/>
            <a:r>
              <a:rPr lang="en-US" dirty="0">
                <a:solidFill>
                  <a:schemeClr val="bg1"/>
                </a:solidFill>
              </a:rPr>
              <a:t>Different Roles in Scrum</a:t>
            </a:r>
          </a:p>
          <a:p>
            <a:pPr algn="l" fontAlgn="base"/>
            <a:r>
              <a:rPr lang="en-US" dirty="0">
                <a:solidFill>
                  <a:schemeClr val="bg1"/>
                </a:solidFill>
              </a:rPr>
              <a:t>In Scrum, the team focuses on building quality software. The owner of a Scrum project focuses on defining what are the characteristics that the product must have to build (what to build, what not and in what order) and to overcome any obstacle that could hinder the task of the development team.</a:t>
            </a:r>
          </a:p>
          <a:p>
            <a:pPr algn="l" fontAlgn="base"/>
            <a:r>
              <a:rPr lang="en-US" dirty="0">
                <a:solidFill>
                  <a:schemeClr val="bg1"/>
                </a:solidFill>
              </a:rPr>
              <a:t>The Scrum team consists of the following roles:</a:t>
            </a:r>
          </a:p>
          <a:p>
            <a:pPr marL="457200" indent="-457200" algn="l" fontAlgn="base">
              <a:buFont typeface="+mj-lt"/>
              <a:buAutoNum type="arabicPeriod"/>
            </a:pPr>
            <a:r>
              <a:rPr lang="en-US" dirty="0">
                <a:solidFill>
                  <a:schemeClr val="bg1"/>
                </a:solidFill>
              </a:rPr>
              <a:t>Product owner (PO)</a:t>
            </a:r>
          </a:p>
          <a:p>
            <a:pPr algn="l" fontAlgn="base"/>
            <a:r>
              <a:rPr lang="en-US" dirty="0">
                <a:solidFill>
                  <a:schemeClr val="bg1"/>
                </a:solidFill>
              </a:rPr>
              <a:t>Is the representative of the stakeholders and customers who use the software. They focus on the business part and is responsible for the ROI of the project. They Translate the vision of the project to the team, validate the benefits in stories to be incorporated into the Product Backlog and prioritize them on a regular </a:t>
            </a:r>
            <a:r>
              <a:rPr lang="en-US" dirty="0" smtClean="0">
                <a:solidFill>
                  <a:schemeClr val="bg1"/>
                </a:solidFill>
              </a:rPr>
              <a:t>basis.</a:t>
            </a:r>
          </a:p>
          <a:p>
            <a:pPr algn="l" fontAlgn="base"/>
            <a:r>
              <a:rPr lang="en-US" dirty="0" smtClean="0">
                <a:solidFill>
                  <a:schemeClr val="bg1"/>
                </a:solidFill>
              </a:rPr>
              <a:t>2.Scrum </a:t>
            </a:r>
            <a:r>
              <a:rPr lang="en-US" dirty="0">
                <a:solidFill>
                  <a:schemeClr val="bg1"/>
                </a:solidFill>
              </a:rPr>
              <a:t>master</a:t>
            </a:r>
          </a:p>
          <a:p>
            <a:pPr algn="l" fontAlgn="base"/>
            <a:r>
              <a:rPr lang="en-US" dirty="0">
                <a:solidFill>
                  <a:schemeClr val="bg1"/>
                </a:solidFill>
              </a:rPr>
              <a:t>The person who leads the team guiding them to comply with the rules and processes of the methodology. Scrum master manages the reduction of impediments of the project and works with the Product Owner to maximize the ROI. The Scrum Master is in charge of keeping Scrum up to date, providing coaching, mentoring </a:t>
            </a:r>
            <a:r>
              <a:rPr lang="en-US" dirty="0"/>
              <a:t>and training to the teams in case it needs it.</a:t>
            </a:r>
          </a:p>
          <a:p>
            <a:pPr algn="l" fontAlgn="base"/>
            <a:endParaRPr lang="en-US" b="1" dirty="0" smtClean="0">
              <a:solidFill>
                <a:schemeClr val="bg1"/>
              </a:solidFill>
            </a:endParaRPr>
          </a:p>
        </p:txBody>
      </p:sp>
    </p:spTree>
    <p:extLst>
      <p:ext uri="{BB962C8B-B14F-4D97-AF65-F5344CB8AC3E}">
        <p14:creationId xmlns:p14="http://schemas.microsoft.com/office/powerpoint/2010/main" val="3997072096"/>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DC7008F5-C0CC-2207-68A1-9E901BCAF09D}"/>
              </a:ext>
            </a:extLst>
          </p:cNvPr>
          <p:cNvSpPr>
            <a:spLocks noGrp="1"/>
          </p:cNvSpPr>
          <p:nvPr>
            <p:ph type="ctrTitle"/>
          </p:nvPr>
        </p:nvSpPr>
        <p:spPr>
          <a:xfrm>
            <a:off x="0" y="0"/>
            <a:ext cx="12192000" cy="664234"/>
          </a:xfrm>
          <a:solidFill>
            <a:srgbClr val="FFC000"/>
          </a:solidFill>
        </p:spPr>
        <p:txBody>
          <a:bodyPr>
            <a:noAutofit/>
          </a:bodyPr>
          <a:lstStyle/>
          <a:p>
            <a:pPr algn="l"/>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b="1" dirty="0"/>
              <a:t/>
            </a:r>
            <a:br>
              <a:rPr lang="en-US" b="1" dirty="0"/>
            </a:br>
            <a:r>
              <a:rPr lang="en-US" sz="4400" b="1" dirty="0" smtClean="0"/>
              <a:t>5.2.4 SCRUM</a:t>
            </a:r>
            <a:endParaRPr lang="en-IN" sz="4400" b="1" dirty="0"/>
          </a:p>
        </p:txBody>
      </p:sp>
      <p:pic>
        <p:nvPicPr>
          <p:cNvPr id="4" name="Picture 3">
            <a:extLst>
              <a:ext uri="{FF2B5EF4-FFF2-40B4-BE49-F238E27FC236}">
                <a16:creationId xmlns="" xmlns:a16="http://schemas.microsoft.com/office/drawing/2014/main" id="{FEF121E8-AF05-9D0C-6A16-0B298BACA22A}"/>
              </a:ext>
            </a:extLst>
          </p:cNvPr>
          <p:cNvPicPr>
            <a:picLocks noChangeAspect="1"/>
          </p:cNvPicPr>
          <p:nvPr/>
        </p:nvPicPr>
        <p:blipFill>
          <a:blip r:embed="rId2"/>
          <a:stretch>
            <a:fillRect/>
          </a:stretch>
        </p:blipFill>
        <p:spPr>
          <a:xfrm>
            <a:off x="2387719" y="1080262"/>
            <a:ext cx="9072368" cy="5361709"/>
          </a:xfrm>
          <a:prstGeom prst="rect">
            <a:avLst/>
          </a:prstGeom>
          <a:solidFill>
            <a:schemeClr val="bg1"/>
          </a:solidFill>
        </p:spPr>
      </p:pic>
      <p:pic>
        <p:nvPicPr>
          <p:cNvPr id="5" name="Picture 4"/>
          <p:cNvPicPr>
            <a:picLocks noChangeAspect="1"/>
          </p:cNvPicPr>
          <p:nvPr/>
        </p:nvPicPr>
        <p:blipFill>
          <a:blip r:embed="rId3"/>
          <a:stretch>
            <a:fillRect/>
          </a:stretch>
        </p:blipFill>
        <p:spPr>
          <a:xfrm>
            <a:off x="1559816" y="2343581"/>
            <a:ext cx="8572500" cy="3667125"/>
          </a:xfrm>
          <a:prstGeom prst="rect">
            <a:avLst/>
          </a:prstGeom>
        </p:spPr>
      </p:pic>
      <p:sp>
        <p:nvSpPr>
          <p:cNvPr id="3" name="Subtitle 2">
            <a:extLst>
              <a:ext uri="{FF2B5EF4-FFF2-40B4-BE49-F238E27FC236}">
                <a16:creationId xmlns="" xmlns:a16="http://schemas.microsoft.com/office/drawing/2014/main" id="{0A82AC95-1536-8A89-0BA5-748B75282DFE}"/>
              </a:ext>
            </a:extLst>
          </p:cNvPr>
          <p:cNvSpPr>
            <a:spLocks noGrp="1"/>
          </p:cNvSpPr>
          <p:nvPr>
            <p:ph type="subTitle" idx="1"/>
          </p:nvPr>
        </p:nvSpPr>
        <p:spPr>
          <a:xfrm>
            <a:off x="0" y="664235"/>
            <a:ext cx="12192000" cy="6193765"/>
          </a:xfrm>
          <a:solidFill>
            <a:srgbClr val="000000"/>
          </a:solidFill>
        </p:spPr>
        <p:txBody>
          <a:bodyPr>
            <a:normAutofit/>
          </a:bodyPr>
          <a:lstStyle/>
          <a:p>
            <a:pPr algn="l" fontAlgn="base"/>
            <a:r>
              <a:rPr lang="en-US" dirty="0">
                <a:solidFill>
                  <a:schemeClr val="bg1"/>
                </a:solidFill>
              </a:rPr>
              <a:t>Different Roles in Scrum</a:t>
            </a:r>
          </a:p>
          <a:p>
            <a:pPr algn="l" fontAlgn="base"/>
            <a:r>
              <a:rPr lang="en-US" dirty="0" smtClean="0">
                <a:solidFill>
                  <a:schemeClr val="bg1"/>
                </a:solidFill>
              </a:rPr>
              <a:t>3.</a:t>
            </a:r>
            <a:r>
              <a:rPr lang="en-US" dirty="0">
                <a:solidFill>
                  <a:schemeClr val="bg1"/>
                </a:solidFill>
              </a:rPr>
              <a:t> Scrum Team </a:t>
            </a:r>
          </a:p>
          <a:p>
            <a:pPr algn="l" fontAlgn="base"/>
            <a:r>
              <a:rPr lang="en-US" dirty="0">
                <a:solidFill>
                  <a:schemeClr val="bg1"/>
                </a:solidFill>
              </a:rPr>
              <a:t>A group of professionals with the necessary technical knowledge who develop the project jointly carrying out the stories they commit to at the start of each sprint.</a:t>
            </a:r>
          </a:p>
          <a:p>
            <a:pPr algn="l" fontAlgn="base"/>
            <a:r>
              <a:rPr lang="en-US" dirty="0" smtClean="0">
                <a:solidFill>
                  <a:schemeClr val="bg1"/>
                </a:solidFill>
              </a:rPr>
              <a:t>training </a:t>
            </a:r>
            <a:r>
              <a:rPr lang="en-US" dirty="0">
                <a:solidFill>
                  <a:schemeClr val="bg1"/>
                </a:solidFill>
              </a:rPr>
              <a:t>to the teams in case it needs it.</a:t>
            </a:r>
          </a:p>
          <a:p>
            <a:pPr algn="l" fontAlgn="base"/>
            <a:endParaRPr lang="en-US" b="1" dirty="0" smtClean="0">
              <a:solidFill>
                <a:schemeClr val="bg1"/>
              </a:solidFill>
            </a:endParaRPr>
          </a:p>
        </p:txBody>
      </p:sp>
    </p:spTree>
    <p:extLst>
      <p:ext uri="{BB962C8B-B14F-4D97-AF65-F5344CB8AC3E}">
        <p14:creationId xmlns:p14="http://schemas.microsoft.com/office/powerpoint/2010/main" val="398652362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p:txBody>
          <a:bodyPr/>
          <a:lstStyle/>
          <a:p>
            <a:endParaRPr lang="en-IN"/>
          </a:p>
        </p:txBody>
      </p:sp>
      <p:pic>
        <p:nvPicPr>
          <p:cNvPr id="2" name="Picture 1"/>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2177251524"/>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endParaRPr lang="en-IN"/>
          </a:p>
        </p:txBody>
      </p:sp>
    </p:spTree>
    <p:extLst>
      <p:ext uri="{BB962C8B-B14F-4D97-AF65-F5344CB8AC3E}">
        <p14:creationId xmlns:p14="http://schemas.microsoft.com/office/powerpoint/2010/main" val="193896410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349</TotalTime>
  <Words>1051</Words>
  <Application>Microsoft Office PowerPoint</Application>
  <PresentationFormat>Widescreen</PresentationFormat>
  <Paragraphs>166</Paragraphs>
  <Slides>34</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34</vt:i4>
      </vt:variant>
    </vt:vector>
  </HeadingPairs>
  <TitlesOfParts>
    <vt:vector size="45" baseType="lpstr">
      <vt:lpstr>Arial</vt:lpstr>
      <vt:lpstr>Calibri</vt:lpstr>
      <vt:lpstr>Calibri Light</vt:lpstr>
      <vt:lpstr>erdana</vt:lpstr>
      <vt:lpstr>inherit</vt:lpstr>
      <vt:lpstr>inter-bold</vt:lpstr>
      <vt:lpstr>inter-regular</vt:lpstr>
      <vt:lpstr>mulish</vt:lpstr>
      <vt:lpstr>Nunito</vt:lpstr>
      <vt:lpstr>Times New Roman</vt:lpstr>
      <vt:lpstr>Office Theme</vt:lpstr>
      <vt:lpstr>5.1 Web Engineering</vt:lpstr>
      <vt:lpstr>5.1 Web Engineering</vt:lpstr>
      <vt:lpstr>5.1 Web Engineering</vt:lpstr>
      <vt:lpstr>5.1 Web Engineering</vt:lpstr>
      <vt:lpstr>5.1 Web Engineering</vt:lpstr>
      <vt:lpstr>5.2 Agile Model</vt:lpstr>
      <vt:lpstr>5.2 Agile Model</vt:lpstr>
      <vt:lpstr>5.2 Agile Model</vt:lpstr>
      <vt:lpstr>5.2 Agile Model</vt:lpstr>
      <vt:lpstr>5.2 Agile Model</vt:lpstr>
      <vt:lpstr>5.2 Agile Model</vt:lpstr>
      <vt:lpstr>5.2 Agile Methods:</vt:lpstr>
      <vt:lpstr>5.2.1: Extreme Programming(XP)</vt:lpstr>
      <vt:lpstr>5.2.1: Extreme Programming(XP)</vt:lpstr>
      <vt:lpstr>5.2.1: Extreme Programming(XP)</vt:lpstr>
      <vt:lpstr>5.2.1: Extreme Programming(XP)</vt:lpstr>
      <vt:lpstr>5.2.1: Extreme Programming(XP)</vt:lpstr>
      <vt:lpstr>5.2.1: Extreme Programming(XP)</vt:lpstr>
      <vt:lpstr>                                            5.2.2 Dynamic Systems Development Method(DSDM)</vt:lpstr>
      <vt:lpstr>                                            5.2.2 Dynamic Systems Development Method(DSDM)</vt:lpstr>
      <vt:lpstr>                                            5.2.2 Dynamic Systems Development Method(DSDM)</vt:lpstr>
      <vt:lpstr>                                            5.2.3 Feature Driven Development</vt:lpstr>
      <vt:lpstr>                                            5.2.3 Feature Driven Development</vt:lpstr>
      <vt:lpstr>                                            5.2.3 Feature Driven Development</vt:lpstr>
      <vt:lpstr>                                            5.2.3 Feature Driven Development</vt:lpstr>
      <vt:lpstr>                                            5.2.3 Feature Driven Development</vt:lpstr>
      <vt:lpstr>                                            5.2.3 Feature Driven Development</vt:lpstr>
      <vt:lpstr>                                            5.2.4 SCRUM</vt:lpstr>
      <vt:lpstr>                                            5.2.4 SCRUM</vt:lpstr>
      <vt:lpstr>PowerPoint Presentation</vt:lpstr>
      <vt:lpstr>                                            5.2.4 SCRUM</vt:lpstr>
      <vt:lpstr>                                            5.2.4 SCRUM</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5.1 Web Engineering</dc:title>
  <dc:creator>IIMS STUDENT</dc:creator>
  <cp:lastModifiedBy>Administrator</cp:lastModifiedBy>
  <cp:revision>8</cp:revision>
  <dcterms:created xsi:type="dcterms:W3CDTF">2023-11-02T09:05:07Z</dcterms:created>
  <dcterms:modified xsi:type="dcterms:W3CDTF">2023-11-04T07:08:23Z</dcterms:modified>
</cp:coreProperties>
</file>