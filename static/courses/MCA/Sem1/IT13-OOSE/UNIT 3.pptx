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7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image" Target="../media/image3.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F1236-20A7-4CD6-A65E-B45481BBFC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F0F917-A18D-40C7-8058-E17CAB0A78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9AC16E-C4C0-4D19-BFD5-29EE6464EAC2}"/>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5" name="Footer Placeholder 4">
            <a:extLst>
              <a:ext uri="{FF2B5EF4-FFF2-40B4-BE49-F238E27FC236}">
                <a16:creationId xmlns:a16="http://schemas.microsoft.com/office/drawing/2014/main" id="{6436ED2E-E297-4CE9-AB7C-6CD68815F2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19E18B-7D31-4DAB-BB60-D4826BF6B3A3}"/>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4144169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A5EC5-655E-4191-A9D9-A8CA401B9F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EDCF8D-8B5F-4CCE-A05E-C5AB1D2DAC3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4E721C-9B5E-4F24-BFD5-5B9FAEB3A692}"/>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5" name="Footer Placeholder 4">
            <a:extLst>
              <a:ext uri="{FF2B5EF4-FFF2-40B4-BE49-F238E27FC236}">
                <a16:creationId xmlns:a16="http://schemas.microsoft.com/office/drawing/2014/main" id="{4A44AB97-9A23-4B39-8A5F-E2951D657D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44E2BF-3E01-4013-9BC8-64337ACF60C5}"/>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3207578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249D7-BF2D-4FB9-9C38-832ACE91A1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52E3206-9516-4E86-8892-A8B710979D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5006F64-4E21-457C-8541-B69983A86040}"/>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5" name="Footer Placeholder 4">
            <a:extLst>
              <a:ext uri="{FF2B5EF4-FFF2-40B4-BE49-F238E27FC236}">
                <a16:creationId xmlns:a16="http://schemas.microsoft.com/office/drawing/2014/main" id="{E3B07F2C-B63C-4232-A344-1FC2072607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2A39F0-E90F-4AA7-9095-1D4D4715ECE1}"/>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190084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C32E-44B1-4AD5-96B7-B026757D38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DEBF22-5DB6-4C5A-9022-9B7D9678F14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552583-0BD9-4900-BEB7-1654FD2E390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FD5EF60-8D46-4A8C-83D6-6216F5D9092A}"/>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6" name="Footer Placeholder 5">
            <a:extLst>
              <a:ext uri="{FF2B5EF4-FFF2-40B4-BE49-F238E27FC236}">
                <a16:creationId xmlns:a16="http://schemas.microsoft.com/office/drawing/2014/main" id="{1E3BC457-44A0-4663-8DF4-32E1B8A330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BECB0C-8046-4DA5-A6F6-BE5F71479507}"/>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3778436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698C9-6276-4ACB-834C-159CAA0ECF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090543-6CC0-4360-BBB9-C7C2EDC8D7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6674D6E-C9DE-4024-99E8-64887A235CA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EDA043-2902-425B-B72C-6AD4174428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144E892-840C-4FEA-981D-A52EFF825B3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EE40EE-1270-43CD-9311-018D9B560883}"/>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8" name="Footer Placeholder 7">
            <a:extLst>
              <a:ext uri="{FF2B5EF4-FFF2-40B4-BE49-F238E27FC236}">
                <a16:creationId xmlns:a16="http://schemas.microsoft.com/office/drawing/2014/main" id="{B6DC6A10-E6C3-45FC-A52D-0B86F95813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BC62894-BEA5-4DA8-976E-37DBB04F46CB}"/>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162454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1D4DC-7B11-48CA-A47F-657D221D79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37451C-00AC-4CA1-89F5-A3548BDF5FCE}"/>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4" name="Footer Placeholder 3">
            <a:extLst>
              <a:ext uri="{FF2B5EF4-FFF2-40B4-BE49-F238E27FC236}">
                <a16:creationId xmlns:a16="http://schemas.microsoft.com/office/drawing/2014/main" id="{D54FCABB-4365-4029-8215-CF3AE02016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C26CB9C-F7FD-4BA5-A4C6-02D655D25F08}"/>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392337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50EC93-8634-4769-906E-45D7FE38D4AB}"/>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3" name="Footer Placeholder 2">
            <a:extLst>
              <a:ext uri="{FF2B5EF4-FFF2-40B4-BE49-F238E27FC236}">
                <a16:creationId xmlns:a16="http://schemas.microsoft.com/office/drawing/2014/main" id="{7F9838B6-95E1-4448-A0DC-829D0ADE38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C72260-BA42-402D-832E-A6001374EEA7}"/>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972187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F8AB5-4874-44F7-B897-C2B1C70C99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3DF9416-D03D-4BC6-B080-BB0EE52F99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4F7197D-B01E-4274-BB1C-28905757F0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F361EB3-F611-40E7-AA5B-517E57900510}"/>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6" name="Footer Placeholder 5">
            <a:extLst>
              <a:ext uri="{FF2B5EF4-FFF2-40B4-BE49-F238E27FC236}">
                <a16:creationId xmlns:a16="http://schemas.microsoft.com/office/drawing/2014/main" id="{CFA129C1-B62C-4C25-B659-32D88CD276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56A4E2-D9B3-40CC-92B6-3BEC0124EB96}"/>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2361029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DA3E8-D74C-41C6-85D7-BE89756FBB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A41AA5-98B7-413A-8C8C-FF7114B4A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173120-F3B8-4ED9-A3ED-6741FF0B42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CFCF6E-21D9-4F9F-8CCE-0901DF64E774}"/>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6" name="Footer Placeholder 5">
            <a:extLst>
              <a:ext uri="{FF2B5EF4-FFF2-40B4-BE49-F238E27FC236}">
                <a16:creationId xmlns:a16="http://schemas.microsoft.com/office/drawing/2014/main" id="{2C39183C-3FA2-411E-B3E9-CAD206CFC3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442846-94CA-405B-993E-CB509B76C0AD}"/>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1851222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68109-F7FD-43CF-A646-65DA16A0C9B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FD41F8-377C-4E42-BC6F-619FB2B860F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A797E1-9B6B-4BA9-8561-E854FD40244A}"/>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5" name="Footer Placeholder 4">
            <a:extLst>
              <a:ext uri="{FF2B5EF4-FFF2-40B4-BE49-F238E27FC236}">
                <a16:creationId xmlns:a16="http://schemas.microsoft.com/office/drawing/2014/main" id="{E8602E57-E8E5-41EF-8B13-3FAE4C2745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DFD978-B08D-4179-AC17-24EDA069D1E3}"/>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2095169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68E566-4514-4102-9729-FE1CDF0C18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E3D702-4C69-46E0-B6DE-28B807B47BB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F08846-2B81-4415-AD90-A84390B8597F}"/>
              </a:ext>
            </a:extLst>
          </p:cNvPr>
          <p:cNvSpPr>
            <a:spLocks noGrp="1"/>
          </p:cNvSpPr>
          <p:nvPr>
            <p:ph type="dt" sz="half" idx="10"/>
          </p:nvPr>
        </p:nvSpPr>
        <p:spPr/>
        <p:txBody>
          <a:bodyPr/>
          <a:lstStyle/>
          <a:p>
            <a:fld id="{687100DF-3389-4C0A-A56A-DC5DB30413FD}" type="datetimeFigureOut">
              <a:rPr lang="en-IN" smtClean="0"/>
              <a:t>04-01-2023</a:t>
            </a:fld>
            <a:endParaRPr lang="en-IN"/>
          </a:p>
        </p:txBody>
      </p:sp>
      <p:sp>
        <p:nvSpPr>
          <p:cNvPr id="5" name="Footer Placeholder 4">
            <a:extLst>
              <a:ext uri="{FF2B5EF4-FFF2-40B4-BE49-F238E27FC236}">
                <a16:creationId xmlns:a16="http://schemas.microsoft.com/office/drawing/2014/main" id="{0322CD70-5562-4935-9ACE-24585A9651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1DF42E-0C43-41C7-86A7-ED800D6173B6}"/>
              </a:ext>
            </a:extLst>
          </p:cNvPr>
          <p:cNvSpPr>
            <a:spLocks noGrp="1"/>
          </p:cNvSpPr>
          <p:nvPr>
            <p:ph type="sldNum" sz="quarter" idx="12"/>
          </p:nvPr>
        </p:nvSpPr>
        <p:spPr/>
        <p:txBody>
          <a:bodyPr/>
          <a:lstStyle/>
          <a:p>
            <a:fld id="{7B4FCF0D-F71A-41D1-8C20-196179038BC5}" type="slidenum">
              <a:rPr lang="en-IN" smtClean="0"/>
              <a:t>‹#›</a:t>
            </a:fld>
            <a:endParaRPr lang="en-IN"/>
          </a:p>
        </p:txBody>
      </p:sp>
    </p:spTree>
    <p:extLst>
      <p:ext uri="{BB962C8B-B14F-4D97-AF65-F5344CB8AC3E}">
        <p14:creationId xmlns:p14="http://schemas.microsoft.com/office/powerpoint/2010/main" val="2894471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720F0E-CC8E-4FBC-85FC-EF62D7FA37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60C269-C6BD-495A-A4D6-FA73E5D89A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086738-F75B-475B-849A-E20E16EEB2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7100DF-3389-4C0A-A56A-DC5DB30413FD}" type="datetimeFigureOut">
              <a:rPr lang="en-IN" smtClean="0"/>
              <a:t>04-01-2023</a:t>
            </a:fld>
            <a:endParaRPr lang="en-IN"/>
          </a:p>
        </p:txBody>
      </p:sp>
      <p:sp>
        <p:nvSpPr>
          <p:cNvPr id="5" name="Footer Placeholder 4">
            <a:extLst>
              <a:ext uri="{FF2B5EF4-FFF2-40B4-BE49-F238E27FC236}">
                <a16:creationId xmlns:a16="http://schemas.microsoft.com/office/drawing/2014/main" id="{3381E598-83B7-4323-947F-81E0A6814F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BD40CA6-7181-45FB-96AC-EE214546D1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4FCF0D-F71A-41D1-8C20-196179038BC5}" type="slidenum">
              <a:rPr lang="en-IN" smtClean="0"/>
              <a:t>‹#›</a:t>
            </a:fld>
            <a:endParaRPr lang="en-IN"/>
          </a:p>
        </p:txBody>
      </p:sp>
    </p:spTree>
    <p:extLst>
      <p:ext uri="{BB962C8B-B14F-4D97-AF65-F5344CB8AC3E}">
        <p14:creationId xmlns:p14="http://schemas.microsoft.com/office/powerpoint/2010/main" val="2124034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visual-paradigm.com/guide/uml-unified-modeling-language/what-is-class-diagram/" TargetMode="External"/><Relationship Id="rId2" Type="http://schemas.openxmlformats.org/officeDocument/2006/relationships/hyperlink" Target="https://en.wikipedia.org/wiki/Unified_Modeling_Language" TargetMode="External"/><Relationship Id="rId1" Type="http://schemas.openxmlformats.org/officeDocument/2006/relationships/slideLayout" Target="../slideLayouts/slideLayout2.xml"/><Relationship Id="rId4" Type="http://schemas.openxmlformats.org/officeDocument/2006/relationships/hyperlink" Target="https://www.visual-paradigm.com/guide/uml-unified-modeling-language/what-is-communication-diagram/"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DCEAB-0A38-4DF2-912B-3306F289A862}"/>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5C54B5FD-9576-4780-9F77-DA6771AB87D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573422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3B8CC-9570-48C4-91E8-11DC6B227BA4}"/>
              </a:ext>
            </a:extLst>
          </p:cNvPr>
          <p:cNvSpPr>
            <a:spLocks noGrp="1"/>
          </p:cNvSpPr>
          <p:nvPr>
            <p:ph idx="1"/>
          </p:nvPr>
        </p:nvSpPr>
        <p:spPr>
          <a:xfrm>
            <a:off x="838200" y="514350"/>
            <a:ext cx="10515600" cy="5662613"/>
          </a:xfrm>
        </p:spPr>
        <p:txBody>
          <a:bodyPr>
            <a:normAutofit lnSpcReduction="10000"/>
          </a:bodyPr>
          <a:lstStyle/>
          <a:p>
            <a:r>
              <a:rPr lang="en-US" b="1" dirty="0"/>
              <a:t>OOP</a:t>
            </a:r>
            <a:r>
              <a:rPr lang="en-US" dirty="0"/>
              <a:t> – Object-Oriented Programming Principle is the strategy or style of developing applications based on objects.</a:t>
            </a:r>
            <a:br>
              <a:rPr lang="en-US" dirty="0"/>
            </a:br>
            <a:r>
              <a:rPr lang="en-US" dirty="0"/>
              <a:t>Anything in the world can be defined as an object. And in the OOPs, it can be defined in terms of its properties and behavior.</a:t>
            </a:r>
          </a:p>
          <a:p>
            <a:r>
              <a:rPr lang="en-US" b="1" dirty="0"/>
              <a:t>For Example – </a:t>
            </a:r>
            <a:r>
              <a:rPr lang="en-US" dirty="0"/>
              <a:t>Consider a Television, It is an object. And the properties related to it are. It’s  With and Height, color, type (</a:t>
            </a:r>
            <a:r>
              <a:rPr lang="en-US" dirty="0" err="1"/>
              <a:t>SmartTV</a:t>
            </a:r>
            <a:r>
              <a:rPr lang="en-US" dirty="0"/>
              <a:t> or CRT TV), etc. And the behavior can be – we can change the channel, Adjust volumes and settings, switch off, switch on, </a:t>
            </a:r>
            <a:r>
              <a:rPr lang="en-US" dirty="0" err="1"/>
              <a:t>etc</a:t>
            </a:r>
            <a:r>
              <a:rPr lang="en-US" dirty="0"/>
              <a:t> are lots of behavior are there. The operation on the behavior will affect the properties.  Changing the channel will affect its property. </a:t>
            </a:r>
          </a:p>
          <a:p>
            <a:r>
              <a:rPr lang="en-US" dirty="0"/>
              <a:t>So, similar things happen in Object-Oriented programming also, that each object has some properties and behavior associated with it, that are defined in the </a:t>
            </a:r>
            <a:r>
              <a:rPr lang="en-US" b="1" dirty="0"/>
              <a:t>class</a:t>
            </a:r>
            <a:r>
              <a:rPr lang="en-US" dirty="0"/>
              <a:t>. </a:t>
            </a:r>
          </a:p>
          <a:p>
            <a:pPr marL="0" indent="0">
              <a:buNone/>
            </a:pPr>
            <a:r>
              <a:rPr lang="en-US" dirty="0"/>
              <a:t> </a:t>
            </a:r>
            <a:endParaRPr lang="en-IN" dirty="0"/>
          </a:p>
        </p:txBody>
      </p:sp>
    </p:spTree>
    <p:extLst>
      <p:ext uri="{BB962C8B-B14F-4D97-AF65-F5344CB8AC3E}">
        <p14:creationId xmlns:p14="http://schemas.microsoft.com/office/powerpoint/2010/main" val="1155007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94FC8-3C7A-45C4-8E90-B0BC26F48029}"/>
              </a:ext>
            </a:extLst>
          </p:cNvPr>
          <p:cNvSpPr>
            <a:spLocks noGrp="1"/>
          </p:cNvSpPr>
          <p:nvPr>
            <p:ph type="title"/>
          </p:nvPr>
        </p:nvSpPr>
        <p:spPr/>
        <p:txBody>
          <a:bodyPr>
            <a:normAutofit fontScale="90000"/>
          </a:bodyPr>
          <a:lstStyle/>
          <a:p>
            <a:r>
              <a:rPr lang="en-US" b="1" dirty="0"/>
              <a:t>How Software is Developed in Object-Oriented Programming?</a:t>
            </a:r>
            <a:br>
              <a:rPr lang="en-US" b="1" dirty="0"/>
            </a:br>
            <a:endParaRPr lang="en-IN" dirty="0"/>
          </a:p>
        </p:txBody>
      </p:sp>
      <p:sp>
        <p:nvSpPr>
          <p:cNvPr id="3" name="Content Placeholder 2">
            <a:extLst>
              <a:ext uri="{FF2B5EF4-FFF2-40B4-BE49-F238E27FC236}">
                <a16:creationId xmlns:a16="http://schemas.microsoft.com/office/drawing/2014/main" id="{F3FDA20C-6F95-4124-AB0C-77C242E23530}"/>
              </a:ext>
            </a:extLst>
          </p:cNvPr>
          <p:cNvSpPr>
            <a:spLocks noGrp="1"/>
          </p:cNvSpPr>
          <p:nvPr>
            <p:ph idx="1"/>
          </p:nvPr>
        </p:nvSpPr>
        <p:spPr>
          <a:xfrm>
            <a:off x="838200" y="1304925"/>
            <a:ext cx="10515600" cy="5676900"/>
          </a:xfrm>
        </p:spPr>
        <p:txBody>
          <a:bodyPr>
            <a:normAutofit/>
          </a:bodyPr>
          <a:lstStyle/>
          <a:p>
            <a:r>
              <a:rPr lang="en-US" dirty="0"/>
              <a:t>We say that in OOPs, there is an engineered approach is followed for the development of software. Like first designing a blueprint that contains the functionality of the object, operations of an object, etc. And then based on the blueprint, the object is created that implements the blueprint into existence. It is just like the other engineering things which are followed. </a:t>
            </a:r>
            <a:r>
              <a:rPr lang="en-US" b="1" dirty="0"/>
              <a:t>For example – </a:t>
            </a:r>
            <a:r>
              <a:rPr lang="en-US" dirty="0"/>
              <a:t>The construction of any building includes steps like – Planning, Designing a blueprint,  Finalizing a blueprint, after a blueprint is finalized then start construction of it. </a:t>
            </a:r>
          </a:p>
          <a:p>
            <a:r>
              <a:rPr lang="en-US" dirty="0"/>
              <a:t>The same is followed in Object-oriented Programming using the concept of </a:t>
            </a:r>
            <a:r>
              <a:rPr lang="en-US" b="1" dirty="0"/>
              <a:t>classes </a:t>
            </a:r>
            <a:r>
              <a:rPr lang="en-US" dirty="0"/>
              <a:t>and </a:t>
            </a:r>
            <a:r>
              <a:rPr lang="en-US" b="1" dirty="0"/>
              <a:t>objects</a:t>
            </a:r>
            <a:r>
              <a:rPr lang="en-US" dirty="0"/>
              <a:t>, which are the pillars of it.</a:t>
            </a:r>
          </a:p>
          <a:p>
            <a:r>
              <a:rPr lang="en-US" dirty="0"/>
              <a:t>In OOPs, the work can be distributed between developers easily, and also the work can be reused between programmers.</a:t>
            </a:r>
          </a:p>
          <a:p>
            <a:endParaRPr lang="en-IN" dirty="0"/>
          </a:p>
        </p:txBody>
      </p:sp>
    </p:spTree>
    <p:extLst>
      <p:ext uri="{BB962C8B-B14F-4D97-AF65-F5344CB8AC3E}">
        <p14:creationId xmlns:p14="http://schemas.microsoft.com/office/powerpoint/2010/main" val="341201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B03DC3-408D-4528-BB17-9147C014F049}"/>
              </a:ext>
            </a:extLst>
          </p:cNvPr>
          <p:cNvSpPr>
            <a:spLocks noGrp="1"/>
          </p:cNvSpPr>
          <p:nvPr>
            <p:ph idx="1"/>
          </p:nvPr>
        </p:nvSpPr>
        <p:spPr>
          <a:xfrm>
            <a:off x="838200" y="314324"/>
            <a:ext cx="10515600" cy="6410325"/>
          </a:xfrm>
        </p:spPr>
        <p:txBody>
          <a:bodyPr>
            <a:normAutofit fontScale="92500"/>
          </a:bodyPr>
          <a:lstStyle/>
          <a:p>
            <a:r>
              <a:rPr lang="en-US" b="1" dirty="0"/>
              <a:t>Objects – </a:t>
            </a:r>
            <a:r>
              <a:rPr lang="en-US" dirty="0"/>
              <a:t>Object is the entity that makes the classes to be implemented into the program. It makes the features, properties, and behaviors of the class to be implemented. </a:t>
            </a:r>
            <a:r>
              <a:rPr lang="en-US" b="1" dirty="0"/>
              <a:t>Example – </a:t>
            </a:r>
            <a:r>
              <a:rPr lang="en-US" dirty="0"/>
              <a:t>A car is an object that has property color, model, brand name, fuel type, </a:t>
            </a:r>
            <a:r>
              <a:rPr lang="en-US" dirty="0" err="1"/>
              <a:t>etc</a:t>
            </a:r>
            <a:r>
              <a:rPr lang="en-US" dirty="0"/>
              <a:t>, and behaviors like, it runs. So these properties and behavior make an object (CAR).</a:t>
            </a:r>
          </a:p>
          <a:p>
            <a:r>
              <a:rPr lang="en-US" b="1" dirty="0"/>
              <a:t>Classes – </a:t>
            </a:r>
            <a:r>
              <a:rPr lang="en-US" dirty="0"/>
              <a:t>A class can be stated as the blueprint of the object. This states what an object can do. It contains all the features, attributes, and behavior of what the model can do. We can say that class contains the definition of the object. </a:t>
            </a:r>
            <a:r>
              <a:rPr lang="en-US" b="1" dirty="0"/>
              <a:t>Example –</a:t>
            </a:r>
            <a:r>
              <a:rPr lang="en-US" dirty="0"/>
              <a:t> Car color, engine type, etc. And with the definition, we can create any number of  objects.</a:t>
            </a:r>
          </a:p>
          <a:p>
            <a:r>
              <a:rPr lang="en-US" b="1" dirty="0"/>
              <a:t>Methods – </a:t>
            </a:r>
            <a:r>
              <a:rPr lang="en-US" dirty="0"/>
              <a:t>Methods are the attributes of the class which are defined for the specified behavior of the object. It can also modify the state of the class. </a:t>
            </a:r>
            <a:r>
              <a:rPr lang="en-US" b="1" dirty="0"/>
              <a:t>Example – </a:t>
            </a:r>
            <a:r>
              <a:rPr lang="en-US" dirty="0"/>
              <a:t>Method to drive a car, It changes the state of the car from parking state to running state.</a:t>
            </a:r>
          </a:p>
          <a:p>
            <a:r>
              <a:rPr lang="en-US" b="1" dirty="0"/>
              <a:t>Instances – </a:t>
            </a:r>
            <a:r>
              <a:rPr lang="en-US" dirty="0"/>
              <a:t>It is the members of the class who holds some values related to the objects of the class.</a:t>
            </a:r>
          </a:p>
          <a:p>
            <a:endParaRPr lang="en-IN" dirty="0"/>
          </a:p>
        </p:txBody>
      </p:sp>
    </p:spTree>
    <p:extLst>
      <p:ext uri="{BB962C8B-B14F-4D97-AF65-F5344CB8AC3E}">
        <p14:creationId xmlns:p14="http://schemas.microsoft.com/office/powerpoint/2010/main" val="428602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2CBF4-C825-4AE1-984A-88144238E92D}"/>
              </a:ext>
            </a:extLst>
          </p:cNvPr>
          <p:cNvSpPr>
            <a:spLocks noGrp="1"/>
          </p:cNvSpPr>
          <p:nvPr>
            <p:ph type="title"/>
          </p:nvPr>
        </p:nvSpPr>
        <p:spPr/>
        <p:txBody>
          <a:bodyPr>
            <a:noAutofit/>
          </a:bodyPr>
          <a:lstStyle/>
          <a:p>
            <a:r>
              <a:rPr lang="en-US" sz="2400" dirty="0"/>
              <a:t>To understand better about these components better, let’s consider an example – Consider the same example of television.</a:t>
            </a:r>
            <a:br>
              <a:rPr lang="en-US" sz="2400" dirty="0"/>
            </a:br>
            <a:r>
              <a:rPr lang="en-US" sz="2400" dirty="0"/>
              <a:t>So according to the Object-Oriented Programming approach, you will perform certain steps-</a:t>
            </a:r>
            <a:br>
              <a:rPr lang="en-US" sz="2400" dirty="0"/>
            </a:br>
            <a:endParaRPr lang="en-IN" sz="2400" dirty="0"/>
          </a:p>
        </p:txBody>
      </p:sp>
      <p:sp>
        <p:nvSpPr>
          <p:cNvPr id="3" name="Content Placeholder 2">
            <a:extLst>
              <a:ext uri="{FF2B5EF4-FFF2-40B4-BE49-F238E27FC236}">
                <a16:creationId xmlns:a16="http://schemas.microsoft.com/office/drawing/2014/main" id="{0D9C40FD-323B-4D5F-BFAA-9899304FA50B}"/>
              </a:ext>
            </a:extLst>
          </p:cNvPr>
          <p:cNvSpPr>
            <a:spLocks noGrp="1"/>
          </p:cNvSpPr>
          <p:nvPr>
            <p:ph idx="1"/>
          </p:nvPr>
        </p:nvSpPr>
        <p:spPr/>
        <p:txBody>
          <a:bodyPr>
            <a:normAutofit fontScale="92500" lnSpcReduction="10000"/>
          </a:bodyPr>
          <a:lstStyle/>
          <a:p>
            <a:r>
              <a:rPr lang="en-US" dirty="0"/>
              <a:t>Define object name as a Television.</a:t>
            </a:r>
          </a:p>
          <a:p>
            <a:r>
              <a:rPr lang="en-US" dirty="0"/>
              <a:t>Define the properties of television like channel, volume, on and off, etc.</a:t>
            </a:r>
          </a:p>
          <a:p>
            <a:r>
              <a:rPr lang="en-US" dirty="0"/>
              <a:t>Create a function that will handle the functionality of tree-like changing the channel adjusting volume, or other things.</a:t>
            </a:r>
          </a:p>
          <a:p>
            <a:r>
              <a:rPr lang="en-US" dirty="0"/>
              <a:t>Now implement all features into a program.</a:t>
            </a:r>
          </a:p>
          <a:p>
            <a:r>
              <a:rPr lang="en-US" dirty="0"/>
              <a:t>Now when you define an object as Television then it is the </a:t>
            </a:r>
            <a:r>
              <a:rPr lang="en-US" b="1" dirty="0"/>
              <a:t>class</a:t>
            </a:r>
            <a:r>
              <a:rPr lang="en-US" dirty="0"/>
              <a:t>. And then you declare the properties of that Television -like channel, volume, </a:t>
            </a:r>
            <a:r>
              <a:rPr lang="en-US" dirty="0" err="1"/>
              <a:t>etc</a:t>
            </a:r>
            <a:r>
              <a:rPr lang="en-US" dirty="0"/>
              <a:t> is the </a:t>
            </a:r>
            <a:r>
              <a:rPr lang="en-US" b="1" dirty="0"/>
              <a:t>instances </a:t>
            </a:r>
            <a:r>
              <a:rPr lang="en-US" dirty="0"/>
              <a:t>of the class Television. You create functions to change the properties, which are the </a:t>
            </a:r>
            <a:r>
              <a:rPr lang="en-US" b="1" dirty="0"/>
              <a:t>methods</a:t>
            </a:r>
            <a:r>
              <a:rPr lang="en-US" dirty="0"/>
              <a:t> of Television. And finally when you implement this in your program then you will create an </a:t>
            </a:r>
            <a:r>
              <a:rPr lang="en-US" b="1" dirty="0"/>
              <a:t>object</a:t>
            </a:r>
            <a:r>
              <a:rPr lang="en-US" dirty="0"/>
              <a:t> of class </a:t>
            </a:r>
            <a:r>
              <a:rPr lang="en-US" dirty="0" err="1"/>
              <a:t>Televisionto</a:t>
            </a:r>
            <a:r>
              <a:rPr lang="en-US" dirty="0"/>
              <a:t> implement into the program.</a:t>
            </a:r>
          </a:p>
          <a:p>
            <a:endParaRPr lang="en-IN" dirty="0"/>
          </a:p>
        </p:txBody>
      </p:sp>
    </p:spTree>
    <p:extLst>
      <p:ext uri="{BB962C8B-B14F-4D97-AF65-F5344CB8AC3E}">
        <p14:creationId xmlns:p14="http://schemas.microsoft.com/office/powerpoint/2010/main" val="1448731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6B3B6EF-67F4-43E2-9AFC-65FD89D131A8}"/>
              </a:ext>
            </a:extLst>
          </p:cNvPr>
          <p:cNvPicPr>
            <a:picLocks noGrp="1" noChangeAspect="1"/>
          </p:cNvPicPr>
          <p:nvPr>
            <p:ph idx="1"/>
          </p:nvPr>
        </p:nvPicPr>
        <p:blipFill>
          <a:blip r:embed="rId2"/>
          <a:stretch>
            <a:fillRect/>
          </a:stretch>
        </p:blipFill>
        <p:spPr>
          <a:xfrm>
            <a:off x="159026" y="208723"/>
            <a:ext cx="10783957" cy="6649278"/>
          </a:xfrm>
          <a:prstGeom prst="rect">
            <a:avLst/>
          </a:prstGeom>
        </p:spPr>
      </p:pic>
    </p:spTree>
    <p:extLst>
      <p:ext uri="{BB962C8B-B14F-4D97-AF65-F5344CB8AC3E}">
        <p14:creationId xmlns:p14="http://schemas.microsoft.com/office/powerpoint/2010/main" val="3396884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C67A9-8A12-4654-A822-D7FE56A3F2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F2EFF9-3E85-454D-8B22-7B65A1C463EE}"/>
              </a:ext>
            </a:extLst>
          </p:cNvPr>
          <p:cNvSpPr>
            <a:spLocks noGrp="1"/>
          </p:cNvSpPr>
          <p:nvPr>
            <p:ph idx="1"/>
          </p:nvPr>
        </p:nvSpPr>
        <p:spPr/>
        <p:txBody>
          <a:bodyPr/>
          <a:lstStyle/>
          <a:p>
            <a:r>
              <a:rPr lang="en-US" b="1" dirty="0"/>
              <a:t>Explanation – </a:t>
            </a:r>
            <a:r>
              <a:rPr lang="en-US" dirty="0"/>
              <a:t>In the above code. Defined Television is a class that contains the instances that are the property of the class. And methods that help to change the behavior of the television class.</a:t>
            </a:r>
            <a:br>
              <a:rPr lang="en-US" dirty="0"/>
            </a:br>
            <a:r>
              <a:rPr lang="en-US" dirty="0"/>
              <a:t>And we are creating one  object of television called tv, which will have all the properties and behavior of the class.</a:t>
            </a:r>
            <a:endParaRPr lang="en-IN" dirty="0"/>
          </a:p>
        </p:txBody>
      </p:sp>
    </p:spTree>
    <p:extLst>
      <p:ext uri="{BB962C8B-B14F-4D97-AF65-F5344CB8AC3E}">
        <p14:creationId xmlns:p14="http://schemas.microsoft.com/office/powerpoint/2010/main" val="1687183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39F5A-612C-41D3-9518-EE59683E7EFF}"/>
              </a:ext>
            </a:extLst>
          </p:cNvPr>
          <p:cNvSpPr>
            <a:spLocks noGrp="1"/>
          </p:cNvSpPr>
          <p:nvPr>
            <p:ph type="title"/>
          </p:nvPr>
        </p:nvSpPr>
        <p:spPr/>
        <p:txBody>
          <a:bodyPr/>
          <a:lstStyle/>
          <a:p>
            <a:r>
              <a:rPr lang="en-IN" b="1" dirty="0"/>
              <a:t>Principles of Object-Oriented Programming</a:t>
            </a:r>
            <a:br>
              <a:rPr lang="en-IN" b="1" dirty="0"/>
            </a:br>
            <a:endParaRPr lang="en-IN" dirty="0"/>
          </a:p>
        </p:txBody>
      </p:sp>
      <p:sp>
        <p:nvSpPr>
          <p:cNvPr id="3" name="Content Placeholder 2">
            <a:extLst>
              <a:ext uri="{FF2B5EF4-FFF2-40B4-BE49-F238E27FC236}">
                <a16:creationId xmlns:a16="http://schemas.microsoft.com/office/drawing/2014/main" id="{02EBD37D-89A4-41D3-A446-861DD0D698E6}"/>
              </a:ext>
            </a:extLst>
          </p:cNvPr>
          <p:cNvSpPr>
            <a:spLocks noGrp="1"/>
          </p:cNvSpPr>
          <p:nvPr>
            <p:ph idx="1"/>
          </p:nvPr>
        </p:nvSpPr>
        <p:spPr/>
        <p:txBody>
          <a:bodyPr/>
          <a:lstStyle/>
          <a:p>
            <a:r>
              <a:rPr lang="en-US" dirty="0"/>
              <a:t>Object-Oriented Principles mainly include the 4 pillars that together make the OOP a very powerful concept. That is – </a:t>
            </a:r>
          </a:p>
          <a:p>
            <a:r>
              <a:rPr lang="en-US" b="1" dirty="0"/>
              <a:t>Abstraction</a:t>
            </a:r>
            <a:endParaRPr lang="en-US" dirty="0"/>
          </a:p>
          <a:p>
            <a:r>
              <a:rPr lang="en-US" b="1" dirty="0"/>
              <a:t>Encapsulation</a:t>
            </a:r>
            <a:endParaRPr lang="en-US" dirty="0"/>
          </a:p>
          <a:p>
            <a:r>
              <a:rPr lang="en-US" b="1" dirty="0"/>
              <a:t>Inheritance</a:t>
            </a:r>
            <a:endParaRPr lang="en-US" dirty="0"/>
          </a:p>
          <a:p>
            <a:r>
              <a:rPr lang="en-US" b="1" dirty="0"/>
              <a:t>Polymorphism</a:t>
            </a:r>
            <a:endParaRPr lang="en-US" dirty="0"/>
          </a:p>
          <a:p>
            <a:endParaRPr lang="en-IN" dirty="0"/>
          </a:p>
        </p:txBody>
      </p:sp>
    </p:spTree>
    <p:extLst>
      <p:ext uri="{BB962C8B-B14F-4D97-AF65-F5344CB8AC3E}">
        <p14:creationId xmlns:p14="http://schemas.microsoft.com/office/powerpoint/2010/main" val="1821206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9EFF-DAA3-476C-A679-57F13DDFD5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BA69A5-22AE-40A9-B16B-25EFBEBF8478}"/>
              </a:ext>
            </a:extLst>
          </p:cNvPr>
          <p:cNvSpPr>
            <a:spLocks noGrp="1"/>
          </p:cNvSpPr>
          <p:nvPr>
            <p:ph idx="1"/>
          </p:nvPr>
        </p:nvSpPr>
        <p:spPr/>
        <p:txBody>
          <a:bodyPr/>
          <a:lstStyle/>
          <a:p>
            <a:r>
              <a:rPr lang="en-US" dirty="0"/>
              <a:t>OOP is based on real-life engineered things. Like the approaches followed in the other engineering – Electronic Engineers are making some device, Automobile engineers are making some vehicle, etc. So the design approaches followed their, the same replicated to the software engineering with the concept of these 4 Object-Oriented Programming principles.</a:t>
            </a:r>
          </a:p>
          <a:p>
            <a:r>
              <a:rPr lang="en-US" dirty="0"/>
              <a:t>If we analyze the programming concept then we will find that there are two elements of programming – </a:t>
            </a:r>
          </a:p>
          <a:p>
            <a:r>
              <a:rPr lang="en-US" b="1" dirty="0"/>
              <a:t>Data</a:t>
            </a:r>
            <a:endParaRPr lang="en-US" dirty="0"/>
          </a:p>
          <a:p>
            <a:r>
              <a:rPr lang="en-US" b="1" dirty="0"/>
              <a:t>Operations on Data [functions]</a:t>
            </a:r>
            <a:endParaRPr lang="en-US" dirty="0"/>
          </a:p>
          <a:p>
            <a:endParaRPr lang="en-IN" dirty="0"/>
          </a:p>
        </p:txBody>
      </p:sp>
    </p:spTree>
    <p:extLst>
      <p:ext uri="{BB962C8B-B14F-4D97-AF65-F5344CB8AC3E}">
        <p14:creationId xmlns:p14="http://schemas.microsoft.com/office/powerpoint/2010/main" val="1546116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2587D-DBA1-4BF4-9925-7A789158C3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F94848-E8B5-42F4-BACE-22F2031477A0}"/>
              </a:ext>
            </a:extLst>
          </p:cNvPr>
          <p:cNvSpPr>
            <a:spLocks noGrp="1"/>
          </p:cNvSpPr>
          <p:nvPr>
            <p:ph idx="1"/>
          </p:nvPr>
        </p:nvSpPr>
        <p:spPr/>
        <p:txBody>
          <a:bodyPr/>
          <a:lstStyle/>
          <a:p>
            <a:r>
              <a:rPr lang="en-US" dirty="0"/>
              <a:t>So If we develop software then that software is meant for performing tasks on data only. </a:t>
            </a:r>
          </a:p>
          <a:p>
            <a:r>
              <a:rPr lang="en-US" dirty="0"/>
              <a:t>And if any function is performed on data, then there might be chances that in the future also the same operation can be performed either in the same way or in some modified way. </a:t>
            </a:r>
          </a:p>
          <a:p>
            <a:r>
              <a:rPr lang="en-US" dirty="0"/>
              <a:t>So that is very smoothly done using the concept of OOP principles. Let’s see the principles:</a:t>
            </a:r>
            <a:endParaRPr lang="en-IN" dirty="0"/>
          </a:p>
        </p:txBody>
      </p:sp>
    </p:spTree>
    <p:extLst>
      <p:ext uri="{BB962C8B-B14F-4D97-AF65-F5344CB8AC3E}">
        <p14:creationId xmlns:p14="http://schemas.microsoft.com/office/powerpoint/2010/main" val="1217517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54683-4A56-4258-BD6E-09771B2779F3}"/>
              </a:ext>
            </a:extLst>
          </p:cNvPr>
          <p:cNvSpPr>
            <a:spLocks noGrp="1"/>
          </p:cNvSpPr>
          <p:nvPr>
            <p:ph type="title"/>
          </p:nvPr>
        </p:nvSpPr>
        <p:spPr/>
        <p:txBody>
          <a:bodyPr/>
          <a:lstStyle/>
          <a:p>
            <a:r>
              <a:rPr lang="en-IN" b="1" dirty="0"/>
              <a:t>Abstraction</a:t>
            </a:r>
            <a:br>
              <a:rPr lang="en-IN" b="1" dirty="0"/>
            </a:br>
            <a:endParaRPr lang="en-IN" dirty="0"/>
          </a:p>
        </p:txBody>
      </p:sp>
      <p:sp>
        <p:nvSpPr>
          <p:cNvPr id="3" name="Content Placeholder 2">
            <a:extLst>
              <a:ext uri="{FF2B5EF4-FFF2-40B4-BE49-F238E27FC236}">
                <a16:creationId xmlns:a16="http://schemas.microsoft.com/office/drawing/2014/main" id="{3421BE99-93FC-450C-B210-1A024B9240A7}"/>
              </a:ext>
            </a:extLst>
          </p:cNvPr>
          <p:cNvSpPr>
            <a:spLocks noGrp="1"/>
          </p:cNvSpPr>
          <p:nvPr>
            <p:ph idx="1"/>
          </p:nvPr>
        </p:nvSpPr>
        <p:spPr/>
        <p:txBody>
          <a:bodyPr/>
          <a:lstStyle/>
          <a:p>
            <a:r>
              <a:rPr lang="en-US" dirty="0"/>
              <a:t>Abstraction can be defined as hiding internal implementation and showing only the required features or set of services that are offered. </a:t>
            </a:r>
          </a:p>
          <a:p>
            <a:r>
              <a:rPr lang="en-US" dirty="0"/>
              <a:t>This is the most essential part of Object-Oriented programming.</a:t>
            </a:r>
            <a:endParaRPr lang="en-IN" dirty="0"/>
          </a:p>
        </p:txBody>
      </p:sp>
    </p:spTree>
    <p:extLst>
      <p:ext uri="{BB962C8B-B14F-4D97-AF65-F5344CB8AC3E}">
        <p14:creationId xmlns:p14="http://schemas.microsoft.com/office/powerpoint/2010/main" val="809531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243F0B-DA64-4A0C-BD76-807970309548}"/>
              </a:ext>
            </a:extLst>
          </p:cNvPr>
          <p:cNvSpPr>
            <a:spLocks noGrp="1"/>
          </p:cNvSpPr>
          <p:nvPr>
            <p:ph idx="1"/>
          </p:nvPr>
        </p:nvSpPr>
        <p:spPr>
          <a:xfrm>
            <a:off x="419100" y="180975"/>
            <a:ext cx="10934700" cy="5995988"/>
          </a:xfrm>
        </p:spPr>
        <p:txBody>
          <a:bodyPr>
            <a:normAutofit/>
          </a:bodyPr>
          <a:lstStyle/>
          <a:p>
            <a:r>
              <a:rPr lang="en-US" b="1" dirty="0"/>
              <a:t>Example 1 – </a:t>
            </a:r>
            <a:r>
              <a:rPr lang="en-US" dirty="0"/>
              <a:t>We all have been using ATMs. And if we want to withdraw the money from that then we simply interact with the Use Interface Screen where we have been asking for details. </a:t>
            </a:r>
            <a:br>
              <a:rPr lang="en-US" dirty="0"/>
            </a:br>
            <a:r>
              <a:rPr lang="en-US" dirty="0"/>
              <a:t/>
            </a:r>
            <a:br>
              <a:rPr lang="en-US" dirty="0"/>
            </a:br>
            <a:r>
              <a:rPr lang="en-US" dirty="0"/>
              <a:t>As a user, we only want that I can use that ATM for the services. We are not interested in knowing the internal implementation that what is the process happening inside the ATM Machine like getting card details, validation, </a:t>
            </a:r>
            <a:r>
              <a:rPr lang="en-US" dirty="0" err="1"/>
              <a:t>etc</a:t>
            </a:r>
            <a:r>
              <a:rPr lang="en-US" dirty="0"/>
              <a:t> kind of things. We only have been provided an interface to interact with that and simply ask for the work. And the internal implementation we don’t need to know. So that is the Abstraction.</a:t>
            </a:r>
          </a:p>
          <a:p>
            <a:r>
              <a:rPr lang="en-US" b="1" dirty="0"/>
              <a:t>Explanation-</a:t>
            </a:r>
            <a:endParaRPr lang="en-US" dirty="0"/>
          </a:p>
          <a:p>
            <a:r>
              <a:rPr lang="en-US" dirty="0"/>
              <a:t>The above image shows the GUI screen of the ATM. In this when we want to withdraw then we simply use that. For the implementation part, we don’t care.</a:t>
            </a:r>
          </a:p>
          <a:p>
            <a:endParaRPr lang="en-IN" dirty="0"/>
          </a:p>
        </p:txBody>
      </p:sp>
    </p:spTree>
    <p:extLst>
      <p:ext uri="{BB962C8B-B14F-4D97-AF65-F5344CB8AC3E}">
        <p14:creationId xmlns:p14="http://schemas.microsoft.com/office/powerpoint/2010/main" val="1721957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16952-7CFD-4161-98EA-6AD14DDE81E2}"/>
              </a:ext>
            </a:extLst>
          </p:cNvPr>
          <p:cNvSpPr>
            <a:spLocks noGrp="1"/>
          </p:cNvSpPr>
          <p:nvPr>
            <p:ph type="title"/>
          </p:nvPr>
        </p:nvSpPr>
        <p:spPr/>
        <p:txBody>
          <a:bodyPr/>
          <a:lstStyle/>
          <a:p>
            <a:r>
              <a:rPr lang="en-US" b="1" dirty="0"/>
              <a:t>Features of Abstraction – </a:t>
            </a:r>
            <a:r>
              <a:rPr lang="en-US" dirty="0"/>
              <a:t/>
            </a:r>
            <a:br>
              <a:rPr lang="en-US" dirty="0"/>
            </a:br>
            <a:endParaRPr lang="en-IN" dirty="0"/>
          </a:p>
        </p:txBody>
      </p:sp>
      <p:sp>
        <p:nvSpPr>
          <p:cNvPr id="3" name="Content Placeholder 2">
            <a:extLst>
              <a:ext uri="{FF2B5EF4-FFF2-40B4-BE49-F238E27FC236}">
                <a16:creationId xmlns:a16="http://schemas.microsoft.com/office/drawing/2014/main" id="{390C49DA-B976-4917-8DB7-865B70CAABA3}"/>
              </a:ext>
            </a:extLst>
          </p:cNvPr>
          <p:cNvSpPr>
            <a:spLocks noGrp="1"/>
          </p:cNvSpPr>
          <p:nvPr>
            <p:ph idx="1"/>
          </p:nvPr>
        </p:nvSpPr>
        <p:spPr/>
        <p:txBody>
          <a:bodyPr>
            <a:normAutofit fontScale="92500" lnSpcReduction="10000"/>
          </a:bodyPr>
          <a:lstStyle/>
          <a:p>
            <a:r>
              <a:rPr lang="en-US" b="1" dirty="0"/>
              <a:t>Security- </a:t>
            </a:r>
            <a:r>
              <a:rPr lang="en-US" dirty="0"/>
              <a:t>With Abstraction, the Outside persons don’t know the internal implementation so it makes the classes more secure, so the unauthorized user will not have access to the data.</a:t>
            </a:r>
          </a:p>
          <a:p>
            <a:r>
              <a:rPr lang="en-US" b="1" dirty="0"/>
              <a:t>Easy Enhancement- </a:t>
            </a:r>
            <a:r>
              <a:rPr lang="en-US" dirty="0"/>
              <a:t>Suppose in the future we want to change the logic of the implementation in class, So we don’t have to change the entire external logic which is there for the user. Just we need to make changes for the methods and it will not affect the functionality.</a:t>
            </a:r>
          </a:p>
          <a:p>
            <a:r>
              <a:rPr lang="en-US" b="1" dirty="0"/>
              <a:t>Improves Easiness-</a:t>
            </a:r>
            <a:r>
              <a:rPr lang="en-US" dirty="0"/>
              <a:t> It helps to use the features without knowing implementation so it improves easiness for the users to use that.</a:t>
            </a:r>
          </a:p>
          <a:p>
            <a:r>
              <a:rPr lang="en-US" b="1" dirty="0"/>
              <a:t>Maintainability will improve-  </a:t>
            </a:r>
            <a:r>
              <a:rPr lang="en-US" dirty="0"/>
              <a:t>Without affecting the user, it can able to perform any types of changes internally. SO maintainability will improve.</a:t>
            </a:r>
          </a:p>
          <a:p>
            <a:endParaRPr lang="en-IN" dirty="0"/>
          </a:p>
        </p:txBody>
      </p:sp>
    </p:spTree>
    <p:extLst>
      <p:ext uri="{BB962C8B-B14F-4D97-AF65-F5344CB8AC3E}">
        <p14:creationId xmlns:p14="http://schemas.microsoft.com/office/powerpoint/2010/main" val="3500833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78584-C2E8-4CFB-82BB-0D4413DD9847}"/>
              </a:ext>
            </a:extLst>
          </p:cNvPr>
          <p:cNvSpPr>
            <a:spLocks noGrp="1"/>
          </p:cNvSpPr>
          <p:nvPr>
            <p:ph type="title"/>
          </p:nvPr>
        </p:nvSpPr>
        <p:spPr/>
        <p:txBody>
          <a:bodyPr/>
          <a:lstStyle/>
          <a:p>
            <a:r>
              <a:rPr lang="en-IN" b="1" dirty="0"/>
              <a:t>Encapsulation</a:t>
            </a:r>
            <a:br>
              <a:rPr lang="en-IN" b="1" dirty="0"/>
            </a:br>
            <a:endParaRPr lang="en-IN" dirty="0"/>
          </a:p>
        </p:txBody>
      </p:sp>
      <p:sp>
        <p:nvSpPr>
          <p:cNvPr id="3" name="Content Placeholder 2">
            <a:extLst>
              <a:ext uri="{FF2B5EF4-FFF2-40B4-BE49-F238E27FC236}">
                <a16:creationId xmlns:a16="http://schemas.microsoft.com/office/drawing/2014/main" id="{524D2814-57D7-4BBD-A0E3-84E166000EBE}"/>
              </a:ext>
            </a:extLst>
          </p:cNvPr>
          <p:cNvSpPr>
            <a:spLocks noGrp="1"/>
          </p:cNvSpPr>
          <p:nvPr>
            <p:ph idx="1"/>
          </p:nvPr>
        </p:nvSpPr>
        <p:spPr>
          <a:xfrm>
            <a:off x="838200" y="1304924"/>
            <a:ext cx="10515600" cy="5476875"/>
          </a:xfrm>
        </p:spPr>
        <p:txBody>
          <a:bodyPr>
            <a:normAutofit/>
          </a:bodyPr>
          <a:lstStyle/>
          <a:p>
            <a:r>
              <a:rPr lang="en-US" sz="3200" dirty="0"/>
              <a:t>Encapsulation can be defined as the binding of data and attributes or methods and data members in a single unit. In classes, we have Data and attributes that perform operations on that data. </a:t>
            </a:r>
          </a:p>
          <a:p>
            <a:r>
              <a:rPr lang="en-US" sz="3200" dirty="0"/>
              <a:t>So  according to the OOPs principle of Encapsulation, that data can be merged into a single unit. Encapsulation enhances more security of the data as everything related to a single task must be grouped and access to the data is given as per need.</a:t>
            </a:r>
          </a:p>
          <a:p>
            <a:r>
              <a:rPr lang="en-US" sz="3200" dirty="0"/>
              <a:t>And this can be achieved using the concept of </a:t>
            </a:r>
            <a:r>
              <a:rPr lang="en-US" sz="3200" b="1" dirty="0"/>
              <a:t>Data Hiding</a:t>
            </a:r>
            <a:r>
              <a:rPr lang="en-US" sz="3200" dirty="0"/>
              <a:t>.</a:t>
            </a:r>
          </a:p>
          <a:p>
            <a:r>
              <a:rPr lang="en-US" sz="3200" b="1" dirty="0"/>
              <a:t>Encapsulation  =  Data Hiding + Abstraction.</a:t>
            </a:r>
            <a:endParaRPr lang="en-US" sz="3200" dirty="0"/>
          </a:p>
          <a:p>
            <a:pPr marL="0" indent="0">
              <a:buNone/>
            </a:pPr>
            <a:endParaRPr lang="en-IN" sz="3200" dirty="0"/>
          </a:p>
        </p:txBody>
      </p:sp>
    </p:spTree>
    <p:extLst>
      <p:ext uri="{BB962C8B-B14F-4D97-AF65-F5344CB8AC3E}">
        <p14:creationId xmlns:p14="http://schemas.microsoft.com/office/powerpoint/2010/main" val="391175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54400-1C34-435D-BF76-FB1600499A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7AE26A7-3069-479A-991F-87E8240C16AD}"/>
              </a:ext>
            </a:extLst>
          </p:cNvPr>
          <p:cNvSpPr>
            <a:spLocks noGrp="1"/>
          </p:cNvSpPr>
          <p:nvPr>
            <p:ph idx="1"/>
          </p:nvPr>
        </p:nvSpPr>
        <p:spPr/>
        <p:txBody>
          <a:bodyPr/>
          <a:lstStyle/>
          <a:p>
            <a:r>
              <a:rPr lang="en-US" b="1" dirty="0"/>
              <a:t>Data Hiding – </a:t>
            </a:r>
            <a:r>
              <a:rPr lang="en-US" dirty="0"/>
              <a:t>It means hiding the data of the class and restricting access to the outside world. </a:t>
            </a:r>
            <a:r>
              <a:rPr lang="en-US" b="1" dirty="0"/>
              <a:t>Example – </a:t>
            </a:r>
            <a:r>
              <a:rPr lang="en-US" dirty="0"/>
              <a:t>Using the access specifier keywords like </a:t>
            </a:r>
            <a:r>
              <a:rPr lang="en-US" b="1" dirty="0"/>
              <a:t>private </a:t>
            </a:r>
            <a:r>
              <a:rPr lang="en-US" dirty="0"/>
              <a:t>that restricts the data to only accessible and modifiable in the same class. Outside users can not access the data.</a:t>
            </a:r>
          </a:p>
          <a:p>
            <a:r>
              <a:rPr lang="en-US" dirty="0"/>
              <a:t>Let’s understand with the help of an example-</a:t>
            </a:r>
          </a:p>
          <a:p>
            <a:endParaRPr lang="en-IN" dirty="0"/>
          </a:p>
        </p:txBody>
      </p:sp>
    </p:spTree>
    <p:extLst>
      <p:ext uri="{BB962C8B-B14F-4D97-AF65-F5344CB8AC3E}">
        <p14:creationId xmlns:p14="http://schemas.microsoft.com/office/powerpoint/2010/main" val="2637416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47430D-44CB-4F27-8178-C70B451317E4}"/>
              </a:ext>
            </a:extLst>
          </p:cNvPr>
          <p:cNvSpPr>
            <a:spLocks noGrp="1"/>
          </p:cNvSpPr>
          <p:nvPr>
            <p:ph idx="1"/>
          </p:nvPr>
        </p:nvSpPr>
        <p:spPr>
          <a:xfrm>
            <a:off x="838200" y="638175"/>
            <a:ext cx="10515600" cy="5538788"/>
          </a:xfrm>
        </p:spPr>
        <p:txBody>
          <a:bodyPr>
            <a:normAutofit/>
          </a:bodyPr>
          <a:lstStyle/>
          <a:p>
            <a:r>
              <a:rPr lang="en-US" sz="3600" b="1" dirty="0"/>
              <a:t>Example 1- </a:t>
            </a:r>
            <a:r>
              <a:rPr lang="en-US" sz="3600" dirty="0"/>
              <a:t>In the market, Capsules are available to cure different medical problems. Consider capsule for fever. Now in that capsules, there are different compositions are grouped to make a complete medicine that cures fever. </a:t>
            </a:r>
          </a:p>
          <a:p>
            <a:r>
              <a:rPr lang="en-US" sz="3600" dirty="0"/>
              <a:t>So the grouping of that compositions into a single unit in the capsule is a form of encapsulation. Here, consider fever as data, and the capsule as the operations on the data.</a:t>
            </a:r>
          </a:p>
          <a:p>
            <a:r>
              <a:rPr lang="en-US" sz="3600" dirty="0"/>
              <a:t> So everything is grouped here. </a:t>
            </a:r>
            <a:endParaRPr lang="en-IN" sz="3600" dirty="0"/>
          </a:p>
        </p:txBody>
      </p:sp>
    </p:spTree>
    <p:extLst>
      <p:ext uri="{BB962C8B-B14F-4D97-AF65-F5344CB8AC3E}">
        <p14:creationId xmlns:p14="http://schemas.microsoft.com/office/powerpoint/2010/main" val="2340124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A4FC34-B141-47D4-8511-BAE73312BCC1}"/>
              </a:ext>
            </a:extLst>
          </p:cNvPr>
          <p:cNvSpPr>
            <a:spLocks noGrp="1"/>
          </p:cNvSpPr>
          <p:nvPr>
            <p:ph idx="1"/>
          </p:nvPr>
        </p:nvSpPr>
        <p:spPr>
          <a:xfrm>
            <a:off x="838200" y="428625"/>
            <a:ext cx="10515600" cy="5748338"/>
          </a:xfrm>
        </p:spPr>
        <p:txBody>
          <a:bodyPr>
            <a:normAutofit/>
          </a:bodyPr>
          <a:lstStyle/>
          <a:p>
            <a:r>
              <a:rPr lang="en-US" sz="3200" b="1" dirty="0"/>
              <a:t>Example 2- </a:t>
            </a:r>
            <a:r>
              <a:rPr lang="en-US" sz="3200" dirty="0"/>
              <a:t>In a car, we have all the required things to make a car complete. Like engines, gear shift, Wheels, </a:t>
            </a:r>
            <a:r>
              <a:rPr lang="en-US" sz="3200" dirty="0" err="1"/>
              <a:t>etc</a:t>
            </a:r>
            <a:r>
              <a:rPr lang="en-US" sz="3200" dirty="0"/>
              <a:t>, and these are grouped into a single body that makes a car.</a:t>
            </a:r>
          </a:p>
          <a:p>
            <a:r>
              <a:rPr lang="en-US" sz="3200" dirty="0"/>
              <a:t> It is not like the wheels are not attached to the car, Engines are misplaced and dragged outside, etc. </a:t>
            </a:r>
          </a:p>
          <a:p>
            <a:r>
              <a:rPr lang="en-US" sz="3200" dirty="0"/>
              <a:t>Everything is grouped into a single body.</a:t>
            </a:r>
          </a:p>
          <a:p>
            <a:r>
              <a:rPr lang="en-US" sz="3200" dirty="0"/>
              <a:t> So in the OOP Principle also the same principle applies that whatever operations are there for a particular group, must be capsuled to a single unit.</a:t>
            </a:r>
            <a:endParaRPr lang="en-IN" sz="3200" dirty="0"/>
          </a:p>
        </p:txBody>
      </p:sp>
    </p:spTree>
    <p:extLst>
      <p:ext uri="{BB962C8B-B14F-4D97-AF65-F5344CB8AC3E}">
        <p14:creationId xmlns:p14="http://schemas.microsoft.com/office/powerpoint/2010/main" val="1437981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85B2E-D4A0-4250-A5C1-85DBB5B9BAFD}"/>
              </a:ext>
            </a:extLst>
          </p:cNvPr>
          <p:cNvSpPr>
            <a:spLocks noGrp="1"/>
          </p:cNvSpPr>
          <p:nvPr>
            <p:ph type="title"/>
          </p:nvPr>
        </p:nvSpPr>
        <p:spPr/>
        <p:txBody>
          <a:bodyPr/>
          <a:lstStyle/>
          <a:p>
            <a:r>
              <a:rPr lang="en-US" b="1" dirty="0"/>
              <a:t>Features of Encapsulation – </a:t>
            </a:r>
            <a:r>
              <a:rPr lang="en-US" dirty="0"/>
              <a:t/>
            </a:r>
            <a:br>
              <a:rPr lang="en-US" dirty="0"/>
            </a:br>
            <a:endParaRPr lang="en-IN" dirty="0"/>
          </a:p>
        </p:txBody>
      </p:sp>
      <p:sp>
        <p:nvSpPr>
          <p:cNvPr id="3" name="Content Placeholder 2">
            <a:extLst>
              <a:ext uri="{FF2B5EF4-FFF2-40B4-BE49-F238E27FC236}">
                <a16:creationId xmlns:a16="http://schemas.microsoft.com/office/drawing/2014/main" id="{E7B18DC8-5843-421A-A884-ED8D2CE9B1D3}"/>
              </a:ext>
            </a:extLst>
          </p:cNvPr>
          <p:cNvSpPr>
            <a:spLocks noGrp="1"/>
          </p:cNvSpPr>
          <p:nvPr>
            <p:ph idx="1"/>
          </p:nvPr>
        </p:nvSpPr>
        <p:spPr/>
        <p:txBody>
          <a:bodyPr>
            <a:normAutofit/>
          </a:bodyPr>
          <a:lstStyle/>
          <a:p>
            <a:r>
              <a:rPr lang="en-US" sz="3600" dirty="0"/>
              <a:t>It provides extra security by the concept of Data Hiding. </a:t>
            </a:r>
          </a:p>
          <a:p>
            <a:r>
              <a:rPr lang="en-US" sz="3600" dirty="0"/>
              <a:t>It groups the data and operation in that data into a single unit.</a:t>
            </a:r>
          </a:p>
          <a:p>
            <a:r>
              <a:rPr lang="en-US" sz="3600" dirty="0"/>
              <a:t>It attaches an extra security layer to the data and allows to access data only to authorized ones.</a:t>
            </a:r>
          </a:p>
          <a:p>
            <a:endParaRPr lang="en-IN" sz="3600" dirty="0"/>
          </a:p>
        </p:txBody>
      </p:sp>
    </p:spTree>
    <p:extLst>
      <p:ext uri="{BB962C8B-B14F-4D97-AF65-F5344CB8AC3E}">
        <p14:creationId xmlns:p14="http://schemas.microsoft.com/office/powerpoint/2010/main" val="1030547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5948E-01F0-4862-BCCE-DA1A71958FF5}"/>
              </a:ext>
            </a:extLst>
          </p:cNvPr>
          <p:cNvSpPr>
            <a:spLocks noGrp="1"/>
          </p:cNvSpPr>
          <p:nvPr>
            <p:ph type="title"/>
          </p:nvPr>
        </p:nvSpPr>
        <p:spPr/>
        <p:txBody>
          <a:bodyPr/>
          <a:lstStyle/>
          <a:p>
            <a:r>
              <a:rPr lang="en-IN" b="1" dirty="0"/>
              <a:t>Inheritance</a:t>
            </a:r>
            <a:br>
              <a:rPr lang="en-IN" b="1" dirty="0"/>
            </a:br>
            <a:endParaRPr lang="en-IN" dirty="0"/>
          </a:p>
        </p:txBody>
      </p:sp>
      <p:sp>
        <p:nvSpPr>
          <p:cNvPr id="3" name="Content Placeholder 2">
            <a:extLst>
              <a:ext uri="{FF2B5EF4-FFF2-40B4-BE49-F238E27FC236}">
                <a16:creationId xmlns:a16="http://schemas.microsoft.com/office/drawing/2014/main" id="{935AF2C4-D2E3-47A8-B4E1-2B089FE1FC13}"/>
              </a:ext>
            </a:extLst>
          </p:cNvPr>
          <p:cNvSpPr>
            <a:spLocks noGrp="1"/>
          </p:cNvSpPr>
          <p:nvPr>
            <p:ph idx="1"/>
          </p:nvPr>
        </p:nvSpPr>
        <p:spPr/>
        <p:txBody>
          <a:bodyPr/>
          <a:lstStyle/>
          <a:p>
            <a:r>
              <a:rPr lang="en-US" dirty="0"/>
              <a:t>Inheritance is the method of acquiring features of the existing class into the new class. </a:t>
            </a:r>
          </a:p>
          <a:p>
            <a:r>
              <a:rPr lang="en-US" dirty="0"/>
              <a:t>Suppose there is a class, considered as the parent class, that has some methods associated with it. And we declare a new class, considered as the child class, that has its own methods. </a:t>
            </a:r>
          </a:p>
          <a:p>
            <a:r>
              <a:rPr lang="en-US" dirty="0"/>
              <a:t>So, when a child class is inherited from the parent class then it will have all the methods associated with parent class are available in the child class along with the child class own methods also. </a:t>
            </a:r>
          </a:p>
          <a:p>
            <a:r>
              <a:rPr lang="en-US" dirty="0"/>
              <a:t>So that is Inheritance.</a:t>
            </a:r>
            <a:endParaRPr lang="en-IN" dirty="0"/>
          </a:p>
        </p:txBody>
      </p:sp>
    </p:spTree>
    <p:extLst>
      <p:ext uri="{BB962C8B-B14F-4D97-AF65-F5344CB8AC3E}">
        <p14:creationId xmlns:p14="http://schemas.microsoft.com/office/powerpoint/2010/main" val="174671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3D59-4927-438C-9432-0D1C092EE100}"/>
              </a:ext>
            </a:extLst>
          </p:cNvPr>
          <p:cNvSpPr>
            <a:spLocks noGrp="1"/>
          </p:cNvSpPr>
          <p:nvPr>
            <p:ph type="title"/>
          </p:nvPr>
        </p:nvSpPr>
        <p:spPr/>
        <p:txBody>
          <a:bodyPr/>
          <a:lstStyle/>
          <a:p>
            <a:r>
              <a:rPr lang="en-US" b="1" dirty="0"/>
              <a:t>Example 1</a:t>
            </a:r>
            <a:endParaRPr lang="en-IN" dirty="0"/>
          </a:p>
        </p:txBody>
      </p:sp>
      <p:sp>
        <p:nvSpPr>
          <p:cNvPr id="3" name="Content Placeholder 2">
            <a:extLst>
              <a:ext uri="{FF2B5EF4-FFF2-40B4-BE49-F238E27FC236}">
                <a16:creationId xmlns:a16="http://schemas.microsoft.com/office/drawing/2014/main" id="{35391168-ABDF-4261-ACDD-B5AED9932192}"/>
              </a:ext>
            </a:extLst>
          </p:cNvPr>
          <p:cNvSpPr>
            <a:spLocks noGrp="1"/>
          </p:cNvSpPr>
          <p:nvPr>
            <p:ph idx="1"/>
          </p:nvPr>
        </p:nvSpPr>
        <p:spPr/>
        <p:txBody>
          <a:bodyPr/>
          <a:lstStyle/>
          <a:p>
            <a:pPr marL="0" indent="0">
              <a:buNone/>
            </a:pPr>
            <a:r>
              <a:rPr lang="en-US" b="1" dirty="0"/>
              <a:t> </a:t>
            </a:r>
            <a:r>
              <a:rPr lang="en-US" dirty="0"/>
              <a:t>We all have seen the updates which receive on gadgets both in terms of hardware and software.</a:t>
            </a:r>
          </a:p>
          <a:p>
            <a:pPr marL="0" indent="0">
              <a:buNone/>
            </a:pPr>
            <a:r>
              <a:rPr lang="en-US" dirty="0"/>
              <a:t> Like firstly mobile phones are their only to talk and then used for media access, Internet, Camera, etc. </a:t>
            </a:r>
          </a:p>
          <a:p>
            <a:pPr marL="0" indent="0">
              <a:buNone/>
            </a:pPr>
            <a:r>
              <a:rPr lang="en-US" dirty="0"/>
              <a:t>So these are evolution that arrives by adding some extra feature and making a new product without rebuilding the complete functionality so it is an example of inheritance.</a:t>
            </a:r>
          </a:p>
          <a:p>
            <a:pPr marL="0" indent="0">
              <a:buNone/>
            </a:pPr>
            <a:r>
              <a:rPr lang="en-US" dirty="0"/>
              <a:t> Similarly, in software, regular updates are with some new features are also the inheritance.</a:t>
            </a:r>
            <a:endParaRPr lang="en-IN" dirty="0"/>
          </a:p>
        </p:txBody>
      </p:sp>
    </p:spTree>
    <p:extLst>
      <p:ext uri="{BB962C8B-B14F-4D97-AF65-F5344CB8AC3E}">
        <p14:creationId xmlns:p14="http://schemas.microsoft.com/office/powerpoint/2010/main" val="575946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Object is an instance of a class in a particular moment in runtime that can have its own state and data values. Likewise a static </a:t>
            </a:r>
            <a:r>
              <a:rPr lang="en-US" b="1" dirty="0" smtClean="0">
                <a:hlinkClick r:id="rId2"/>
              </a:rPr>
              <a:t>UML</a:t>
            </a:r>
            <a:r>
              <a:rPr lang="en-US" b="1" dirty="0" smtClean="0"/>
              <a:t>(Unified </a:t>
            </a:r>
            <a:r>
              <a:rPr lang="en-US" b="1" dirty="0"/>
              <a:t>Modeling </a:t>
            </a:r>
            <a:r>
              <a:rPr lang="en-US" b="1" dirty="0" smtClean="0"/>
              <a:t>Language</a:t>
            </a:r>
            <a:r>
              <a:rPr lang="en-US" dirty="0"/>
              <a:t>)</a:t>
            </a:r>
            <a:r>
              <a:rPr lang="en-US" dirty="0" smtClean="0"/>
              <a:t>object </a:t>
            </a:r>
            <a:r>
              <a:rPr lang="en-US" dirty="0"/>
              <a:t>diagram is an instance of a </a:t>
            </a:r>
            <a:r>
              <a:rPr lang="en-US" b="1" dirty="0">
                <a:hlinkClick r:id="rId3"/>
              </a:rPr>
              <a:t>class diagram</a:t>
            </a:r>
            <a:r>
              <a:rPr lang="en-US" dirty="0"/>
              <a:t>; it shows a snapshot of the detailed state of a system at a point in time, thus an object diagram encompasses objects and their relationships which may be considered a special case of a class diagram or a </a:t>
            </a:r>
            <a:r>
              <a:rPr lang="en-US" b="1" dirty="0">
                <a:hlinkClick r:id="rId4"/>
              </a:rPr>
              <a:t>communication diagram</a:t>
            </a:r>
            <a:r>
              <a:rPr lang="en-US" dirty="0"/>
              <a:t>.</a:t>
            </a:r>
            <a:endParaRPr lang="en-US" dirty="0"/>
          </a:p>
        </p:txBody>
      </p:sp>
    </p:spTree>
    <p:extLst>
      <p:ext uri="{BB962C8B-B14F-4D97-AF65-F5344CB8AC3E}">
        <p14:creationId xmlns:p14="http://schemas.microsoft.com/office/powerpoint/2010/main" val="884187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bject Diagram in UML Diagram Hierarch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01581" y="548153"/>
            <a:ext cx="10111561" cy="561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7540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Object Diagram</a:t>
            </a:r>
            <a:br>
              <a:rPr lang="en-US" dirty="0"/>
            </a:br>
            <a:endParaRPr lang="en-US" dirty="0"/>
          </a:p>
        </p:txBody>
      </p:sp>
      <p:sp>
        <p:nvSpPr>
          <p:cNvPr id="3" name="Content Placeholder 2"/>
          <p:cNvSpPr>
            <a:spLocks noGrp="1"/>
          </p:cNvSpPr>
          <p:nvPr>
            <p:ph idx="1"/>
          </p:nvPr>
        </p:nvSpPr>
        <p:spPr/>
        <p:txBody>
          <a:bodyPr/>
          <a:lstStyle/>
          <a:p>
            <a:r>
              <a:rPr lang="en-US" dirty="0"/>
              <a:t>The use of object diagrams is fairly limited, mainly to show examples of data structures.</a:t>
            </a:r>
          </a:p>
          <a:p>
            <a:r>
              <a:rPr lang="en-US" dirty="0"/>
              <a:t>During the analysis phase of a project, you might create a class diagram to describe the structure of a system and then create a set of object diagrams as test cases to verify the accuracy and completeness of the class diagram.</a:t>
            </a:r>
          </a:p>
          <a:p>
            <a:r>
              <a:rPr lang="en-US" dirty="0"/>
              <a:t>Before you create a class diagram, you might create an object diagram to discover facts about specific model elements and their links, or to illustrate specific examples of the classifiers that are required.</a:t>
            </a:r>
          </a:p>
          <a:p>
            <a:endParaRPr lang="en-US" dirty="0"/>
          </a:p>
        </p:txBody>
      </p:sp>
    </p:spTree>
    <p:extLst>
      <p:ext uri="{BB962C8B-B14F-4D97-AF65-F5344CB8AC3E}">
        <p14:creationId xmlns:p14="http://schemas.microsoft.com/office/powerpoint/2010/main" val="3146917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Object Diagram Symbols and Notations</a:t>
            </a:r>
            <a:br>
              <a:rPr lang="en-US" dirty="0"/>
            </a:br>
            <a:endParaRPr lang="en-US" dirty="0"/>
          </a:p>
        </p:txBody>
      </p:sp>
      <p:sp>
        <p:nvSpPr>
          <p:cNvPr id="3" name="Content Placeholder 2"/>
          <p:cNvSpPr>
            <a:spLocks noGrp="1"/>
          </p:cNvSpPr>
          <p:nvPr>
            <p:ph idx="1"/>
          </p:nvPr>
        </p:nvSpPr>
        <p:spPr/>
        <p:txBody>
          <a:bodyPr/>
          <a:lstStyle/>
          <a:p>
            <a:r>
              <a:rPr lang="en-US" b="1" dirty="0"/>
              <a:t>Object </a:t>
            </a:r>
            <a:r>
              <a:rPr lang="en-US" b="1" dirty="0" err="1" smtClean="0"/>
              <a:t>Names</a:t>
            </a:r>
            <a:r>
              <a:rPr lang="en-US" dirty="0" err="1" smtClean="0"/>
              <a:t>:</a:t>
            </a:r>
            <a:r>
              <a:rPr lang="en-US" dirty="0" err="1"/>
              <a:t>Every</a:t>
            </a:r>
            <a:r>
              <a:rPr lang="en-US" dirty="0"/>
              <a:t> object is actually symbolized like a rectangle, that offers the name from the object and its class underlined as well as divided with a colon.</a:t>
            </a:r>
          </a:p>
          <a:p>
            <a:r>
              <a:rPr lang="en-US" b="1" dirty="0"/>
              <a:t>Object </a:t>
            </a:r>
            <a:r>
              <a:rPr lang="en-US" b="1" dirty="0" err="1" smtClean="0"/>
              <a:t>Attributes</a:t>
            </a:r>
            <a:r>
              <a:rPr lang="en-US" dirty="0" err="1" smtClean="0"/>
              <a:t>:</a:t>
            </a:r>
            <a:r>
              <a:rPr lang="en-US" dirty="0" err="1"/>
              <a:t>Similar</a:t>
            </a:r>
            <a:r>
              <a:rPr lang="en-US" dirty="0"/>
              <a:t> to classes, you are able to list object attributes inside a separate compartment. However, unlike classes, object attributes should have values assigned for them.</a:t>
            </a:r>
          </a:p>
          <a:p>
            <a:r>
              <a:rPr lang="en-US" b="1" dirty="0" err="1" smtClean="0"/>
              <a:t>Links:</a:t>
            </a:r>
            <a:r>
              <a:rPr lang="en-US" dirty="0" err="1"/>
              <a:t>Links</a:t>
            </a:r>
            <a:r>
              <a:rPr lang="en-US" dirty="0"/>
              <a:t> tend to be instances associated with associations. You can draw a link while using the lines utilized in class diagrams.</a:t>
            </a:r>
          </a:p>
          <a:p>
            <a:endParaRPr lang="en-US" dirty="0"/>
          </a:p>
        </p:txBody>
      </p:sp>
    </p:spTree>
    <p:extLst>
      <p:ext uri="{BB962C8B-B14F-4D97-AF65-F5344CB8AC3E}">
        <p14:creationId xmlns:p14="http://schemas.microsoft.com/office/powerpoint/2010/main" val="1836510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01CFA-C274-4B23-8DBD-8A7C5CAB6E2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526C7FB-19D1-4720-A3E1-7CD9193D5E41}"/>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EB8E3F71-8F15-49A0-9936-60CB154F7F9C}"/>
              </a:ext>
            </a:extLst>
          </p:cNvPr>
          <p:cNvSpPr/>
          <p:nvPr/>
        </p:nvSpPr>
        <p:spPr>
          <a:xfrm>
            <a:off x="3386957" y="3244334"/>
            <a:ext cx="5418086" cy="369332"/>
          </a:xfrm>
          <a:prstGeom prst="rect">
            <a:avLst/>
          </a:prstGeom>
        </p:spPr>
        <p:txBody>
          <a:bodyPr wrap="none">
            <a:spAutoFit/>
          </a:bodyPr>
          <a:lstStyle/>
          <a:p>
            <a:r>
              <a:rPr lang="en-IN" dirty="0"/>
              <a:t>https://www.interviewbit.com/blog/principles-of-oops/</a:t>
            </a:r>
          </a:p>
        </p:txBody>
      </p:sp>
    </p:spTree>
    <p:extLst>
      <p:ext uri="{BB962C8B-B14F-4D97-AF65-F5344CB8AC3E}">
        <p14:creationId xmlns:p14="http://schemas.microsoft.com/office/powerpoint/2010/main" val="851547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756</Words>
  <Application>Microsoft Office PowerPoint</Application>
  <PresentationFormat>Widescreen</PresentationFormat>
  <Paragraphs>81</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PowerPoint Presentation</vt:lpstr>
      <vt:lpstr>PowerPoint Presentation</vt:lpstr>
      <vt:lpstr>How Software is Developed in Object-Oriented Programming? </vt:lpstr>
      <vt:lpstr>PowerPoint Presentation</vt:lpstr>
      <vt:lpstr>To understand better about these components better, let’s consider an example – Consider the same example of television. So according to the Object-Oriented Programming approach, you will perform certain steps- </vt:lpstr>
      <vt:lpstr>PowerPoint Presentation</vt:lpstr>
      <vt:lpstr>PowerPoint Presentation</vt:lpstr>
      <vt:lpstr>Principles of Object-Oriented Programming </vt:lpstr>
      <vt:lpstr>PowerPoint Presentation</vt:lpstr>
      <vt:lpstr>PowerPoint Presentation</vt:lpstr>
      <vt:lpstr>Abstraction </vt:lpstr>
      <vt:lpstr>PowerPoint Presentation</vt:lpstr>
      <vt:lpstr>Features of Abstraction –  </vt:lpstr>
      <vt:lpstr>Encapsulation </vt:lpstr>
      <vt:lpstr>PowerPoint Presentation</vt:lpstr>
      <vt:lpstr>PowerPoint Presentation</vt:lpstr>
      <vt:lpstr>PowerPoint Presentation</vt:lpstr>
      <vt:lpstr>Features of Encapsulation –  </vt:lpstr>
      <vt:lpstr>Inheritance </vt:lpstr>
      <vt:lpstr>Example 1</vt:lpstr>
      <vt:lpstr>PowerPoint Presentation</vt:lpstr>
      <vt:lpstr>PowerPoint Presentation</vt:lpstr>
      <vt:lpstr>Purpose of Object Diagram </vt:lpstr>
      <vt:lpstr>Basic Object Diagram Symbols and Notations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Soft</dc:creator>
  <cp:lastModifiedBy>Administrator</cp:lastModifiedBy>
  <cp:revision>7</cp:revision>
  <dcterms:created xsi:type="dcterms:W3CDTF">2022-12-30T02:53:19Z</dcterms:created>
  <dcterms:modified xsi:type="dcterms:W3CDTF">2023-01-04T06:33:25Z</dcterms:modified>
</cp:coreProperties>
</file>