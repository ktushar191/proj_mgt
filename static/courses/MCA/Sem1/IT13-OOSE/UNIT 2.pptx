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5" r:id="rId4"/>
    <p:sldId id="276" r:id="rId5"/>
    <p:sldId id="277" r:id="rId6"/>
    <p:sldId id="278" r:id="rId7"/>
    <p:sldId id="265" r:id="rId8"/>
    <p:sldId id="266" r:id="rId9"/>
    <p:sldId id="267" r:id="rId10"/>
    <p:sldId id="268" r:id="rId11"/>
    <p:sldId id="271" r:id="rId12"/>
    <p:sldId id="272" r:id="rId13"/>
    <p:sldId id="273" r:id="rId14"/>
    <p:sldId id="269" r:id="rId15"/>
    <p:sldId id="270" r:id="rId16"/>
    <p:sldId id="257" r:id="rId17"/>
    <p:sldId id="258" r:id="rId18"/>
    <p:sldId id="259" r:id="rId19"/>
    <p:sldId id="260" r:id="rId20"/>
    <p:sldId id="261" r:id="rId21"/>
    <p:sldId id="262" r:id="rId22"/>
    <p:sldId id="263" r:id="rId23"/>
    <p:sldId id="26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5" d="100"/>
          <a:sy n="65" d="100"/>
        </p:scale>
        <p:origin x="66"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EEB4B-3692-4898-A3FC-B353104B82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70AC8C-7EB4-4CE0-BF86-F3AD240C1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FE50F0-DCF8-4E2C-8A5B-F1E9BF8ECE8F}"/>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5" name="Footer Placeholder 4">
            <a:extLst>
              <a:ext uri="{FF2B5EF4-FFF2-40B4-BE49-F238E27FC236}">
                <a16:creationId xmlns:a16="http://schemas.microsoft.com/office/drawing/2014/main" id="{754DDA68-4CF3-4ABE-8671-6B4B5D67C2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D763D3-FCA6-440E-BD04-0B9A38F32EF4}"/>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4251861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1CC4D-1F44-4154-882B-0B9296166B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0D9493-6167-4C76-A4BD-BC63E11CF0F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0062DD-74DF-4EE8-8320-2883BAD553A7}"/>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5" name="Footer Placeholder 4">
            <a:extLst>
              <a:ext uri="{FF2B5EF4-FFF2-40B4-BE49-F238E27FC236}">
                <a16:creationId xmlns:a16="http://schemas.microsoft.com/office/drawing/2014/main" id="{0C4E3D13-3A3F-4C67-B0E0-7A229C86AC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3AEA27-2E7A-4D75-9D05-AB4120AACEC7}"/>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24656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7D6B0-EC7D-4DCE-B3B3-FBA87E7594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E6D2C0-B86D-4C19-A068-CFFFA8D319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06C7EB5-9737-462A-9696-48BE4107B575}"/>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5" name="Footer Placeholder 4">
            <a:extLst>
              <a:ext uri="{FF2B5EF4-FFF2-40B4-BE49-F238E27FC236}">
                <a16:creationId xmlns:a16="http://schemas.microsoft.com/office/drawing/2014/main" id="{2FE56675-C31C-4AC2-A37A-FBA64761B9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7D0430-4DFF-4057-86A6-818717190431}"/>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998895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BDB14-E093-4367-9A48-600537F6CA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1F0263-DB3C-480A-9CC1-E493228D271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5E32451-BE0F-4C65-8A0A-100BD2508D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2D5C00-ACF4-4E97-9344-827302A606CD}"/>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6" name="Footer Placeholder 5">
            <a:extLst>
              <a:ext uri="{FF2B5EF4-FFF2-40B4-BE49-F238E27FC236}">
                <a16:creationId xmlns:a16="http://schemas.microsoft.com/office/drawing/2014/main" id="{1006E5A6-FE1D-4CD6-882F-7AFE5B35D6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06B059-9434-45E9-9F21-C03ED873CE22}"/>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926617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CC2D7-E8B1-4380-8DA6-A8A81D21EF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6BD18B-78A5-4156-96D8-B28CE1917A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A9C30F-FF68-4843-9756-7BCB1CCD04C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A9243F-803B-441E-939C-CF7052DC8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9BDDE8F-3DBE-4DBD-BA46-3EC10E0BB1F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F242A54-0FC7-470A-9EE0-045CB78A4BA7}"/>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8" name="Footer Placeholder 7">
            <a:extLst>
              <a:ext uri="{FF2B5EF4-FFF2-40B4-BE49-F238E27FC236}">
                <a16:creationId xmlns:a16="http://schemas.microsoft.com/office/drawing/2014/main" id="{0F0C1A83-D6B4-4DCA-81D7-B2E3F04BD9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3C37CF-CA56-4D79-98E6-7AE4D493F4DD}"/>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2079214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30552-BC66-4BAE-AA64-E7A8D300688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0966D8D-EB8D-4CAF-8925-6B5E25A1A554}"/>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4" name="Footer Placeholder 3">
            <a:extLst>
              <a:ext uri="{FF2B5EF4-FFF2-40B4-BE49-F238E27FC236}">
                <a16:creationId xmlns:a16="http://schemas.microsoft.com/office/drawing/2014/main" id="{99B4F118-BCE1-493E-8DE2-3DA7097E51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03A1B49-CE57-4687-9AFA-A3462226AD9C}"/>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29274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F4B0E6-CFCE-4170-8D12-D1888E8CC80F}"/>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3" name="Footer Placeholder 2">
            <a:extLst>
              <a:ext uri="{FF2B5EF4-FFF2-40B4-BE49-F238E27FC236}">
                <a16:creationId xmlns:a16="http://schemas.microsoft.com/office/drawing/2014/main" id="{FB7A8F57-A186-40FF-A583-D892267D03E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6C0C21-3E0A-46CA-8082-FF6148EAB57B}"/>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927867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E63D6-E304-41B2-AB21-89BE4AA86C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DA71AC-C372-4B68-B58C-7D8E8B92C5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D2E1CB-8218-4E4F-B1A4-9D6FA9816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0F7A7B4-06C6-4569-844F-F3EC3A030B35}"/>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6" name="Footer Placeholder 5">
            <a:extLst>
              <a:ext uri="{FF2B5EF4-FFF2-40B4-BE49-F238E27FC236}">
                <a16:creationId xmlns:a16="http://schemas.microsoft.com/office/drawing/2014/main" id="{00788353-7D95-4AC8-944B-AFDB89E6B5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EA155-9485-4044-808B-96A653306FCA}"/>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1856844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A7005-DB23-4EA2-B924-B687B0EEAB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FBDBF50-D63B-4B5B-B4E4-7EA7EE92D6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048C15-9E43-4B83-9A50-97E5DC7128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CAFAC75-D33B-498B-BA18-E2DF99B5AEE1}"/>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6" name="Footer Placeholder 5">
            <a:extLst>
              <a:ext uri="{FF2B5EF4-FFF2-40B4-BE49-F238E27FC236}">
                <a16:creationId xmlns:a16="http://schemas.microsoft.com/office/drawing/2014/main" id="{58DFEBD5-1EE3-41CC-9FC6-691F5CB163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9452F8-472B-459E-B73D-D6E0E128B9C6}"/>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2790469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045F1-B2E3-4815-9085-B5FC9D7CC7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C5C6B7-48D4-4F8B-8E92-AED8735185F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AC1A35-998E-4DF2-9FEC-FF026E158E6D}"/>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5" name="Footer Placeholder 4">
            <a:extLst>
              <a:ext uri="{FF2B5EF4-FFF2-40B4-BE49-F238E27FC236}">
                <a16:creationId xmlns:a16="http://schemas.microsoft.com/office/drawing/2014/main" id="{1DD71FBC-6AD1-43B7-BA97-0F6F1DE306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88FC43-8474-4812-AEFF-3760D4FD7F54}"/>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3837888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AD5A7B-4B5C-4739-9386-1A9E40C642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999E38-2087-45DE-8FE6-087F342F174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F885A2-CDC7-443F-A63B-55EB6CF6DA38}"/>
              </a:ext>
            </a:extLst>
          </p:cNvPr>
          <p:cNvSpPr>
            <a:spLocks noGrp="1"/>
          </p:cNvSpPr>
          <p:nvPr>
            <p:ph type="dt" sz="half" idx="10"/>
          </p:nvPr>
        </p:nvSpPr>
        <p:spPr/>
        <p:txBody>
          <a:bodyPr/>
          <a:lstStyle/>
          <a:p>
            <a:fld id="{41148628-1C52-417F-B2F1-A9BB7D66019C}" type="datetimeFigureOut">
              <a:rPr lang="en-IN" smtClean="0"/>
              <a:t>20-12-2022</a:t>
            </a:fld>
            <a:endParaRPr lang="en-IN"/>
          </a:p>
        </p:txBody>
      </p:sp>
      <p:sp>
        <p:nvSpPr>
          <p:cNvPr id="5" name="Footer Placeholder 4">
            <a:extLst>
              <a:ext uri="{FF2B5EF4-FFF2-40B4-BE49-F238E27FC236}">
                <a16:creationId xmlns:a16="http://schemas.microsoft.com/office/drawing/2014/main" id="{19F02EDA-0157-4549-97B1-A63CAD79E0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F2BA78-2D8F-4237-97F6-B78B85FDE874}"/>
              </a:ext>
            </a:extLst>
          </p:cNvPr>
          <p:cNvSpPr>
            <a:spLocks noGrp="1"/>
          </p:cNvSpPr>
          <p:nvPr>
            <p:ph type="sldNum" sz="quarter" idx="12"/>
          </p:nvPr>
        </p:nvSpPr>
        <p:spPr/>
        <p:txBody>
          <a:bodyPr/>
          <a:lstStyle/>
          <a:p>
            <a:fld id="{8AFCC127-0850-4FF1-AA58-3FEF02C097E1}" type="slidenum">
              <a:rPr lang="en-IN" smtClean="0"/>
              <a:t>‹#›</a:t>
            </a:fld>
            <a:endParaRPr lang="en-IN"/>
          </a:p>
        </p:txBody>
      </p:sp>
    </p:spTree>
    <p:extLst>
      <p:ext uri="{BB962C8B-B14F-4D97-AF65-F5344CB8AC3E}">
        <p14:creationId xmlns:p14="http://schemas.microsoft.com/office/powerpoint/2010/main" val="3375713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269700-0A1C-4D00-BA52-C4D5C416A8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7E2561-BBFD-47C3-9C25-3A530DD90C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CC115A-EA6D-4A94-80B5-032A07565A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148628-1C52-417F-B2F1-A9BB7D66019C}" type="datetimeFigureOut">
              <a:rPr lang="en-IN" smtClean="0"/>
              <a:t>20-12-2022</a:t>
            </a:fld>
            <a:endParaRPr lang="en-IN"/>
          </a:p>
        </p:txBody>
      </p:sp>
      <p:sp>
        <p:nvSpPr>
          <p:cNvPr id="5" name="Footer Placeholder 4">
            <a:extLst>
              <a:ext uri="{FF2B5EF4-FFF2-40B4-BE49-F238E27FC236}">
                <a16:creationId xmlns:a16="http://schemas.microsoft.com/office/drawing/2014/main" id="{0549346A-02F1-4F96-9659-C4D712DB20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C94A7FD-CCD0-4B29-9306-13D7B6CFC9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FCC127-0850-4FF1-AA58-3FEF02C097E1}" type="slidenum">
              <a:rPr lang="en-IN" smtClean="0"/>
              <a:t>‹#›</a:t>
            </a:fld>
            <a:endParaRPr lang="en-IN"/>
          </a:p>
        </p:txBody>
      </p:sp>
    </p:spTree>
    <p:extLst>
      <p:ext uri="{BB962C8B-B14F-4D97-AF65-F5344CB8AC3E}">
        <p14:creationId xmlns:p14="http://schemas.microsoft.com/office/powerpoint/2010/main" val="102050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software-engineering-requirements-elicitation/"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9DC70-B203-4681-ABB4-C1B964EA36DD}"/>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A7A5579-51A9-4C04-9C79-C0C372F7F42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104004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6F747-3F9C-4152-A2B1-385973F278B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A045DE-AFF0-4F5E-AD71-A086D30997CC}"/>
              </a:ext>
            </a:extLst>
          </p:cNvPr>
          <p:cNvSpPr>
            <a:spLocks noGrp="1"/>
          </p:cNvSpPr>
          <p:nvPr>
            <p:ph idx="1"/>
          </p:nvPr>
        </p:nvSpPr>
        <p:spPr/>
        <p:txBody>
          <a:bodyPr>
            <a:normAutofit fontScale="92500"/>
          </a:bodyPr>
          <a:lstStyle/>
          <a:p>
            <a:r>
              <a:rPr lang="en-US" sz="3600" b="1" dirty="0"/>
              <a:t>Requirement</a:t>
            </a:r>
            <a:r>
              <a:rPr lang="en-US" sz="3600" dirty="0"/>
              <a:t> simply means a thing that is needed or wanted. Requirement engineering is process of defining requirement, establishing, documenting it in a proper manner, and to keep quality of requirements of a customer from a system, and the limitations under which it operates and is developed. It is first activity of software engineering. Requirements are something that is needed to satisfy whether by designing, product, or process of a software system. Requirements can be classified as :</a:t>
            </a:r>
            <a:endParaRPr lang="en-IN" dirty="0"/>
          </a:p>
        </p:txBody>
      </p:sp>
    </p:spTree>
    <p:extLst>
      <p:ext uri="{BB962C8B-B14F-4D97-AF65-F5344CB8AC3E}">
        <p14:creationId xmlns:p14="http://schemas.microsoft.com/office/powerpoint/2010/main" val="1381012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media.geeksforgeeks.org/wp-content/uploads/20200607001600/Untitled226-1.png">
            <a:extLst>
              <a:ext uri="{FF2B5EF4-FFF2-40B4-BE49-F238E27FC236}">
                <a16:creationId xmlns:a16="http://schemas.microsoft.com/office/drawing/2014/main" id="{A79D43ED-268F-4FE3-BC7F-B364B1FDE9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7250" y="289117"/>
            <a:ext cx="9620250" cy="5911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00942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53ADD-BC9D-4BCF-AF29-D0988F2EFF85}"/>
              </a:ext>
            </a:extLst>
          </p:cNvPr>
          <p:cNvSpPr>
            <a:spLocks noGrp="1"/>
          </p:cNvSpPr>
          <p:nvPr>
            <p:ph type="title"/>
          </p:nvPr>
        </p:nvSpPr>
        <p:spPr/>
        <p:txBody>
          <a:bodyPr/>
          <a:lstStyle/>
          <a:p>
            <a:r>
              <a:rPr lang="en-US" b="1" dirty="0"/>
              <a:t>User requirements :</a:t>
            </a:r>
            <a:endParaRPr lang="en-IN" dirty="0"/>
          </a:p>
        </p:txBody>
      </p:sp>
      <p:sp>
        <p:nvSpPr>
          <p:cNvPr id="3" name="Content Placeholder 2">
            <a:extLst>
              <a:ext uri="{FF2B5EF4-FFF2-40B4-BE49-F238E27FC236}">
                <a16:creationId xmlns:a16="http://schemas.microsoft.com/office/drawing/2014/main" id="{56C5DA9C-90C3-4BB2-9D73-F30C2F5E5E72}"/>
              </a:ext>
            </a:extLst>
          </p:cNvPr>
          <p:cNvSpPr>
            <a:spLocks noGrp="1"/>
          </p:cNvSpPr>
          <p:nvPr>
            <p:ph idx="1"/>
          </p:nvPr>
        </p:nvSpPr>
        <p:spPr/>
        <p:txBody>
          <a:bodyPr/>
          <a:lstStyle/>
          <a:p>
            <a:r>
              <a:rPr lang="en-US" dirty="0"/>
              <a:t>User requirement simply means needs of users that should be fulfilled by software system. It is documented in a User Requirement Document (URD). </a:t>
            </a:r>
          </a:p>
          <a:p>
            <a:r>
              <a:rPr lang="en-US" dirty="0"/>
              <a:t>Overall statements are generally written in natural language plus a description of the services system provides and its operational constraints. </a:t>
            </a:r>
          </a:p>
          <a:p>
            <a:r>
              <a:rPr lang="en-US" dirty="0"/>
              <a:t>User requirement is good if it is clear and short, results in increasing overall quality, increases productivity, is traceable, etc.</a:t>
            </a:r>
          </a:p>
          <a:p>
            <a:endParaRPr lang="en-IN" dirty="0"/>
          </a:p>
        </p:txBody>
      </p:sp>
    </p:spTree>
    <p:extLst>
      <p:ext uri="{BB962C8B-B14F-4D97-AF65-F5344CB8AC3E}">
        <p14:creationId xmlns:p14="http://schemas.microsoft.com/office/powerpoint/2010/main" val="27599554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EF7E-72D5-4AF1-8081-519D6867B565}"/>
              </a:ext>
            </a:extLst>
          </p:cNvPr>
          <p:cNvSpPr>
            <a:spLocks noGrp="1"/>
          </p:cNvSpPr>
          <p:nvPr>
            <p:ph type="title"/>
          </p:nvPr>
        </p:nvSpPr>
        <p:spPr/>
        <p:txBody>
          <a:bodyPr/>
          <a:lstStyle/>
          <a:p>
            <a:r>
              <a:rPr lang="en-US" b="1" dirty="0"/>
              <a:t>System Requirements</a:t>
            </a:r>
            <a:endParaRPr lang="en-IN" dirty="0"/>
          </a:p>
        </p:txBody>
      </p:sp>
      <p:sp>
        <p:nvSpPr>
          <p:cNvPr id="3" name="Content Placeholder 2">
            <a:extLst>
              <a:ext uri="{FF2B5EF4-FFF2-40B4-BE49-F238E27FC236}">
                <a16:creationId xmlns:a16="http://schemas.microsoft.com/office/drawing/2014/main" id="{AC926E48-DA66-4220-9248-502FAC8E6350}"/>
              </a:ext>
            </a:extLst>
          </p:cNvPr>
          <p:cNvSpPr>
            <a:spLocks noGrp="1"/>
          </p:cNvSpPr>
          <p:nvPr>
            <p:ph idx="1"/>
          </p:nvPr>
        </p:nvSpPr>
        <p:spPr/>
        <p:txBody>
          <a:bodyPr>
            <a:normAutofit fontScale="92500"/>
          </a:bodyPr>
          <a:lstStyle/>
          <a:p>
            <a:r>
              <a:rPr lang="en-US" dirty="0"/>
              <a:t/>
            </a:r>
            <a:br>
              <a:rPr lang="en-US" dirty="0"/>
            </a:br>
            <a:r>
              <a:rPr lang="en-US" dirty="0"/>
              <a:t>System requirement simply means needs of system to run smoothly and efficiently.</a:t>
            </a:r>
          </a:p>
          <a:p>
            <a:r>
              <a:rPr lang="en-US" dirty="0"/>
              <a:t> It is a structured document that gives a detailed description of system functions, services, and operational constraints. It requires many hardware and software resources.</a:t>
            </a:r>
          </a:p>
          <a:p>
            <a:r>
              <a:rPr lang="en-US" dirty="0"/>
              <a:t> If these hardware and software resources are not or less available, then it may result in system failure or causes problems during performance. </a:t>
            </a:r>
          </a:p>
          <a:p>
            <a:r>
              <a:rPr lang="en-US" dirty="0"/>
              <a:t>Between client and contractor, it is written as a contract to define all requirements that are needed to be implemented to increases productivity.</a:t>
            </a:r>
            <a:endParaRPr lang="en-IN" dirty="0"/>
          </a:p>
        </p:txBody>
      </p:sp>
    </p:spTree>
    <p:extLst>
      <p:ext uri="{BB962C8B-B14F-4D97-AF65-F5344CB8AC3E}">
        <p14:creationId xmlns:p14="http://schemas.microsoft.com/office/powerpoint/2010/main" val="24283487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E9D06-9D56-4345-81A7-C87AC365FD97}"/>
              </a:ext>
            </a:extLst>
          </p:cNvPr>
          <p:cNvSpPr>
            <a:spLocks noGrp="1"/>
          </p:cNvSpPr>
          <p:nvPr>
            <p:ph type="title"/>
          </p:nvPr>
        </p:nvSpPr>
        <p:spPr/>
        <p:txBody>
          <a:bodyPr/>
          <a:lstStyle/>
          <a:p>
            <a:r>
              <a:rPr lang="en-US" b="1" dirty="0"/>
              <a:t>Software specification :</a:t>
            </a:r>
            <a:endParaRPr lang="en-IN" dirty="0"/>
          </a:p>
        </p:txBody>
      </p:sp>
      <p:sp>
        <p:nvSpPr>
          <p:cNvPr id="3" name="Content Placeholder 2">
            <a:extLst>
              <a:ext uri="{FF2B5EF4-FFF2-40B4-BE49-F238E27FC236}">
                <a16:creationId xmlns:a16="http://schemas.microsoft.com/office/drawing/2014/main" id="{175EF753-D5D7-4252-92E1-05843C1D80E0}"/>
              </a:ext>
            </a:extLst>
          </p:cNvPr>
          <p:cNvSpPr>
            <a:spLocks noGrp="1"/>
          </p:cNvSpPr>
          <p:nvPr>
            <p:ph idx="1"/>
          </p:nvPr>
        </p:nvSpPr>
        <p:spPr/>
        <p:txBody>
          <a:bodyPr/>
          <a:lstStyle/>
          <a:p>
            <a:r>
              <a:rPr lang="en-US" dirty="0"/>
              <a:t>It is a detailed description of software system requirements with the help of which designing and implementation can be done to develop software.</a:t>
            </a:r>
          </a:p>
          <a:p>
            <a:r>
              <a:rPr lang="en-US" dirty="0"/>
              <a:t> For software developers, software specification is usually written that makes it easier for the developer to understand overall requirement of software.</a:t>
            </a:r>
          </a:p>
          <a:p>
            <a:endParaRPr lang="en-IN" dirty="0"/>
          </a:p>
        </p:txBody>
      </p:sp>
    </p:spTree>
    <p:extLst>
      <p:ext uri="{BB962C8B-B14F-4D97-AF65-F5344CB8AC3E}">
        <p14:creationId xmlns:p14="http://schemas.microsoft.com/office/powerpoint/2010/main" val="19082512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95EE2-2BCC-45A0-A551-9D2030765255}"/>
              </a:ext>
            </a:extLst>
          </p:cNvPr>
          <p:cNvSpPr>
            <a:spLocks noGrp="1"/>
          </p:cNvSpPr>
          <p:nvPr>
            <p:ph type="title"/>
          </p:nvPr>
        </p:nvSpPr>
        <p:spPr/>
        <p:txBody>
          <a:bodyPr/>
          <a:lstStyle/>
          <a:p>
            <a:r>
              <a:rPr lang="en-IN" b="1" dirty="0"/>
              <a:t>Functional vs Non Functional Requirements</a:t>
            </a:r>
            <a:br>
              <a:rPr lang="en-IN" b="1" dirty="0"/>
            </a:br>
            <a:endParaRPr lang="en-IN" dirty="0"/>
          </a:p>
        </p:txBody>
      </p:sp>
      <p:sp>
        <p:nvSpPr>
          <p:cNvPr id="3" name="Content Placeholder 2">
            <a:extLst>
              <a:ext uri="{FF2B5EF4-FFF2-40B4-BE49-F238E27FC236}">
                <a16:creationId xmlns:a16="http://schemas.microsoft.com/office/drawing/2014/main" id="{3E01247D-D64E-4A1E-9A85-CD8D739FB389}"/>
              </a:ext>
            </a:extLst>
          </p:cNvPr>
          <p:cNvSpPr>
            <a:spLocks noGrp="1"/>
          </p:cNvSpPr>
          <p:nvPr>
            <p:ph idx="1"/>
          </p:nvPr>
        </p:nvSpPr>
        <p:spPr/>
        <p:txBody>
          <a:bodyPr/>
          <a:lstStyle/>
          <a:p>
            <a:r>
              <a:rPr lang="en-US" dirty="0"/>
              <a:t>Requirements analysis is very critical process that enables the success of a system or software project to be assessed. </a:t>
            </a:r>
          </a:p>
          <a:p>
            <a:r>
              <a:rPr lang="en-US" dirty="0"/>
              <a:t>Requirements are generally split into two types: </a:t>
            </a:r>
            <a:r>
              <a:rPr lang="en-US" i="1" dirty="0"/>
              <a:t>Functional</a:t>
            </a:r>
            <a:r>
              <a:rPr lang="en-US" dirty="0"/>
              <a:t> and </a:t>
            </a:r>
            <a:r>
              <a:rPr lang="en-US" i="1" dirty="0"/>
              <a:t>Non-functional requirements</a:t>
            </a:r>
            <a:r>
              <a:rPr lang="en-US" dirty="0"/>
              <a:t>.</a:t>
            </a:r>
            <a:endParaRPr lang="en-IN" dirty="0"/>
          </a:p>
        </p:txBody>
      </p:sp>
    </p:spTree>
    <p:extLst>
      <p:ext uri="{BB962C8B-B14F-4D97-AF65-F5344CB8AC3E}">
        <p14:creationId xmlns:p14="http://schemas.microsoft.com/office/powerpoint/2010/main" val="33672812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74FA5-10B9-4496-A267-EB42A1F2FE68}"/>
              </a:ext>
            </a:extLst>
          </p:cNvPr>
          <p:cNvSpPr>
            <a:spLocks noGrp="1"/>
          </p:cNvSpPr>
          <p:nvPr>
            <p:ph type="title"/>
          </p:nvPr>
        </p:nvSpPr>
        <p:spPr/>
        <p:txBody>
          <a:bodyPr/>
          <a:lstStyle/>
          <a:p>
            <a:r>
              <a:rPr lang="en-US" b="1" dirty="0"/>
              <a:t>Functional Requirements:</a:t>
            </a:r>
            <a:endParaRPr lang="en-IN" dirty="0"/>
          </a:p>
        </p:txBody>
      </p:sp>
      <p:sp>
        <p:nvSpPr>
          <p:cNvPr id="3" name="Content Placeholder 2">
            <a:extLst>
              <a:ext uri="{FF2B5EF4-FFF2-40B4-BE49-F238E27FC236}">
                <a16:creationId xmlns:a16="http://schemas.microsoft.com/office/drawing/2014/main" id="{7BB6E801-9685-4225-86B9-B3549A97245E}"/>
              </a:ext>
            </a:extLst>
          </p:cNvPr>
          <p:cNvSpPr>
            <a:spLocks noGrp="1"/>
          </p:cNvSpPr>
          <p:nvPr>
            <p:ph idx="1"/>
          </p:nvPr>
        </p:nvSpPr>
        <p:spPr/>
        <p:txBody>
          <a:bodyPr/>
          <a:lstStyle/>
          <a:p>
            <a:r>
              <a:rPr lang="en-US" dirty="0"/>
              <a:t> These are the requirements that the end user specifically demands as basic facilities that the system should offer. </a:t>
            </a:r>
          </a:p>
          <a:p>
            <a:r>
              <a:rPr lang="en-US" dirty="0"/>
              <a:t>All these functionalities need to be necessarily incorporated into the system as a part of the contract. </a:t>
            </a:r>
          </a:p>
          <a:p>
            <a:r>
              <a:rPr lang="en-US" dirty="0"/>
              <a:t>These are represented or stated in the form of input to be given to the system, the operation performed and the output expected. </a:t>
            </a:r>
          </a:p>
          <a:p>
            <a:r>
              <a:rPr lang="en-US" dirty="0"/>
              <a:t>They are basically the requirements stated by the user which one can see directly in the final product, unlike the non-functional requirements.</a:t>
            </a:r>
            <a:endParaRPr lang="en-IN" dirty="0"/>
          </a:p>
        </p:txBody>
      </p:sp>
    </p:spTree>
    <p:extLst>
      <p:ext uri="{BB962C8B-B14F-4D97-AF65-F5344CB8AC3E}">
        <p14:creationId xmlns:p14="http://schemas.microsoft.com/office/powerpoint/2010/main" val="42703791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533CE-8D5B-4BCE-BB13-81FFF40380E9}"/>
              </a:ext>
            </a:extLst>
          </p:cNvPr>
          <p:cNvSpPr>
            <a:spLocks noGrp="1"/>
          </p:cNvSpPr>
          <p:nvPr>
            <p:ph type="title"/>
          </p:nvPr>
        </p:nvSpPr>
        <p:spPr/>
        <p:txBody>
          <a:bodyPr/>
          <a:lstStyle/>
          <a:p>
            <a:r>
              <a:rPr lang="en-US" b="1" dirty="0"/>
              <a:t>Non-functional requirements:</a:t>
            </a:r>
            <a:endParaRPr lang="en-IN" dirty="0"/>
          </a:p>
        </p:txBody>
      </p:sp>
      <p:sp>
        <p:nvSpPr>
          <p:cNvPr id="3" name="Content Placeholder 2">
            <a:extLst>
              <a:ext uri="{FF2B5EF4-FFF2-40B4-BE49-F238E27FC236}">
                <a16:creationId xmlns:a16="http://schemas.microsoft.com/office/drawing/2014/main" id="{3CDCC287-34ED-4966-8DEB-6DEC15F97018}"/>
              </a:ext>
            </a:extLst>
          </p:cNvPr>
          <p:cNvSpPr>
            <a:spLocks noGrp="1"/>
          </p:cNvSpPr>
          <p:nvPr>
            <p:ph idx="1"/>
          </p:nvPr>
        </p:nvSpPr>
        <p:spPr/>
        <p:txBody>
          <a:bodyPr/>
          <a:lstStyle/>
          <a:p>
            <a:r>
              <a:rPr lang="en-US" dirty="0"/>
              <a:t> These are basically the quality constraints that the system must satisfy according to the project contract. </a:t>
            </a:r>
          </a:p>
          <a:p>
            <a:r>
              <a:rPr lang="en-US" dirty="0"/>
              <a:t>The priority or extent to which these factors are implemented varies from one project to other. </a:t>
            </a:r>
          </a:p>
          <a:p>
            <a:r>
              <a:rPr lang="en-US" dirty="0"/>
              <a:t>They are also called non-behavioral requirements.</a:t>
            </a:r>
            <a:endParaRPr lang="en-IN" dirty="0"/>
          </a:p>
        </p:txBody>
      </p:sp>
    </p:spTree>
    <p:extLst>
      <p:ext uri="{BB962C8B-B14F-4D97-AF65-F5344CB8AC3E}">
        <p14:creationId xmlns:p14="http://schemas.microsoft.com/office/powerpoint/2010/main" val="35217661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03E45-CD3D-4AED-90ED-30EC9716DDD0}"/>
              </a:ext>
            </a:extLst>
          </p:cNvPr>
          <p:cNvSpPr>
            <a:spLocks noGrp="1"/>
          </p:cNvSpPr>
          <p:nvPr>
            <p:ph type="title"/>
          </p:nvPr>
        </p:nvSpPr>
        <p:spPr/>
        <p:txBody>
          <a:bodyPr/>
          <a:lstStyle/>
          <a:p>
            <a:r>
              <a:rPr lang="en-US" dirty="0"/>
              <a:t>They basically deal with issues like:</a:t>
            </a:r>
            <a:br>
              <a:rPr lang="en-US" dirty="0"/>
            </a:br>
            <a:endParaRPr lang="en-IN" dirty="0"/>
          </a:p>
        </p:txBody>
      </p:sp>
      <p:sp>
        <p:nvSpPr>
          <p:cNvPr id="3" name="Content Placeholder 2">
            <a:extLst>
              <a:ext uri="{FF2B5EF4-FFF2-40B4-BE49-F238E27FC236}">
                <a16:creationId xmlns:a16="http://schemas.microsoft.com/office/drawing/2014/main" id="{3855536E-2433-4AA5-B77D-18EB63DF24D6}"/>
              </a:ext>
            </a:extLst>
          </p:cNvPr>
          <p:cNvSpPr>
            <a:spLocks noGrp="1"/>
          </p:cNvSpPr>
          <p:nvPr>
            <p:ph idx="1"/>
          </p:nvPr>
        </p:nvSpPr>
        <p:spPr/>
        <p:txBody>
          <a:bodyPr>
            <a:normAutofit/>
          </a:bodyPr>
          <a:lstStyle/>
          <a:p>
            <a:pPr fontAlgn="base"/>
            <a:r>
              <a:rPr lang="en-US" dirty="0"/>
              <a:t>Portability</a:t>
            </a:r>
          </a:p>
          <a:p>
            <a:pPr fontAlgn="base"/>
            <a:r>
              <a:rPr lang="en-US" dirty="0"/>
              <a:t>Security</a:t>
            </a:r>
          </a:p>
          <a:p>
            <a:pPr fontAlgn="base"/>
            <a:r>
              <a:rPr lang="en-US" dirty="0"/>
              <a:t>Maintainability</a:t>
            </a:r>
          </a:p>
          <a:p>
            <a:pPr fontAlgn="base"/>
            <a:r>
              <a:rPr lang="en-US" dirty="0"/>
              <a:t>Reliability</a:t>
            </a:r>
          </a:p>
          <a:p>
            <a:pPr fontAlgn="base"/>
            <a:r>
              <a:rPr lang="en-US" dirty="0"/>
              <a:t>Scalability</a:t>
            </a:r>
          </a:p>
          <a:p>
            <a:pPr fontAlgn="base"/>
            <a:r>
              <a:rPr lang="en-US" dirty="0"/>
              <a:t>Performance</a:t>
            </a:r>
          </a:p>
          <a:p>
            <a:pPr fontAlgn="base"/>
            <a:r>
              <a:rPr lang="en-US" dirty="0"/>
              <a:t>Reusability</a:t>
            </a:r>
          </a:p>
          <a:p>
            <a:pPr fontAlgn="base"/>
            <a:r>
              <a:rPr lang="en-US" dirty="0"/>
              <a:t>Flexibility</a:t>
            </a:r>
          </a:p>
          <a:p>
            <a:endParaRPr lang="en-IN" dirty="0"/>
          </a:p>
        </p:txBody>
      </p:sp>
    </p:spTree>
    <p:extLst>
      <p:ext uri="{BB962C8B-B14F-4D97-AF65-F5344CB8AC3E}">
        <p14:creationId xmlns:p14="http://schemas.microsoft.com/office/powerpoint/2010/main" val="32240546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ED4FBE-CCF7-4871-AB5D-1B8A02F5B629}"/>
              </a:ext>
            </a:extLst>
          </p:cNvPr>
          <p:cNvSpPr>
            <a:spLocks noGrp="1"/>
          </p:cNvSpPr>
          <p:nvPr>
            <p:ph idx="1"/>
          </p:nvPr>
        </p:nvSpPr>
        <p:spPr>
          <a:xfrm>
            <a:off x="838200" y="447674"/>
            <a:ext cx="10515600" cy="6029325"/>
          </a:xfrm>
        </p:spPr>
        <p:txBody>
          <a:bodyPr>
            <a:normAutofit fontScale="92500" lnSpcReduction="10000"/>
          </a:bodyPr>
          <a:lstStyle/>
          <a:p>
            <a:pPr fontAlgn="base"/>
            <a:r>
              <a:rPr lang="en-US" sz="3200" dirty="0"/>
              <a:t>These can be classified as :</a:t>
            </a:r>
          </a:p>
          <a:p>
            <a:pPr fontAlgn="base"/>
            <a:r>
              <a:rPr lang="en-US" sz="3200" b="1" dirty="0"/>
              <a:t>Performance constraints –</a:t>
            </a:r>
            <a:r>
              <a:rPr lang="en-US" sz="3200" dirty="0"/>
              <a:t> Reliability, security, response time, etc.</a:t>
            </a:r>
          </a:p>
          <a:p>
            <a:pPr fontAlgn="base"/>
            <a:r>
              <a:rPr lang="en-US" sz="3200" b="1" dirty="0"/>
              <a:t>Operating constraints –</a:t>
            </a:r>
            <a:r>
              <a:rPr lang="en-US" sz="3200" dirty="0"/>
              <a:t> These include physical constraints (size, weight), personnel availability, skill level considerations, system accessibility for maintenance, etc.</a:t>
            </a:r>
          </a:p>
          <a:p>
            <a:pPr fontAlgn="base"/>
            <a:r>
              <a:rPr lang="en-US" sz="3200" b="1" dirty="0"/>
              <a:t>Interface constraints –</a:t>
            </a:r>
            <a:r>
              <a:rPr lang="en-US" sz="3200" dirty="0"/>
              <a:t> These describe how the system is to interface with its environment, users, and other systems. For example, user interfaces and their qualities (e.g., user-friendliness).</a:t>
            </a:r>
          </a:p>
          <a:p>
            <a:pPr fontAlgn="base"/>
            <a:r>
              <a:rPr lang="en-US" sz="3200" b="1" dirty="0"/>
              <a:t>Economic constraints –</a:t>
            </a:r>
            <a:r>
              <a:rPr lang="en-US" sz="3200" dirty="0"/>
              <a:t> Immediate and/or long-term costs.</a:t>
            </a:r>
          </a:p>
          <a:p>
            <a:pPr fontAlgn="base"/>
            <a:r>
              <a:rPr lang="en-US" sz="3200" b="1" dirty="0"/>
              <a:t>Lifecycle requirements –</a:t>
            </a:r>
            <a:r>
              <a:rPr lang="en-US" sz="3200" dirty="0"/>
              <a:t> Quality of the design: These measured in terms such as maintainability, enhance ability, portability.</a:t>
            </a:r>
          </a:p>
          <a:p>
            <a:endParaRPr lang="en-IN" sz="3200" dirty="0"/>
          </a:p>
        </p:txBody>
      </p:sp>
    </p:spTree>
    <p:extLst>
      <p:ext uri="{BB962C8B-B14F-4D97-AF65-F5344CB8AC3E}">
        <p14:creationId xmlns:p14="http://schemas.microsoft.com/office/powerpoint/2010/main" val="37452976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A4B7-5A8B-493C-A870-0B4120E6FBEE}"/>
              </a:ext>
            </a:extLst>
          </p:cNvPr>
          <p:cNvSpPr>
            <a:spLocks noGrp="1"/>
          </p:cNvSpPr>
          <p:nvPr>
            <p:ph type="title"/>
          </p:nvPr>
        </p:nvSpPr>
        <p:spPr/>
        <p:txBody>
          <a:bodyPr/>
          <a:lstStyle/>
          <a:p>
            <a:r>
              <a:rPr lang="en-IN" b="1" dirty="0"/>
              <a:t>Advantages of Non-Functional Requirement :</a:t>
            </a:r>
            <a:endParaRPr lang="en-IN" dirty="0"/>
          </a:p>
        </p:txBody>
      </p:sp>
      <p:sp>
        <p:nvSpPr>
          <p:cNvPr id="3" name="Content Placeholder 2">
            <a:extLst>
              <a:ext uri="{FF2B5EF4-FFF2-40B4-BE49-F238E27FC236}">
                <a16:creationId xmlns:a16="http://schemas.microsoft.com/office/drawing/2014/main" id="{7284840F-2B48-4C7E-B498-E4E1911D3359}"/>
              </a:ext>
            </a:extLst>
          </p:cNvPr>
          <p:cNvSpPr>
            <a:spLocks noGrp="1"/>
          </p:cNvSpPr>
          <p:nvPr>
            <p:ph idx="1"/>
          </p:nvPr>
        </p:nvSpPr>
        <p:spPr/>
        <p:txBody>
          <a:bodyPr>
            <a:normAutofit lnSpcReduction="10000"/>
          </a:bodyPr>
          <a:lstStyle/>
          <a:p>
            <a:pPr fontAlgn="base"/>
            <a:r>
              <a:rPr lang="en-US" sz="3200" dirty="0"/>
              <a:t>They ensure the software system follows legal and adherence rules.</a:t>
            </a:r>
          </a:p>
          <a:p>
            <a:pPr fontAlgn="base"/>
            <a:r>
              <a:rPr lang="en-US" sz="3200" dirty="0"/>
              <a:t>They specify the quality attribute of the software.</a:t>
            </a:r>
          </a:p>
          <a:p>
            <a:pPr fontAlgn="base"/>
            <a:r>
              <a:rPr lang="en-US" sz="3200" dirty="0"/>
              <a:t>They ensure the reliability, availability, performance, and scalability of the software system</a:t>
            </a:r>
          </a:p>
          <a:p>
            <a:pPr fontAlgn="base"/>
            <a:r>
              <a:rPr lang="en-US" sz="3200" dirty="0"/>
              <a:t>They help in constructing the security policy of the software system.</a:t>
            </a:r>
          </a:p>
          <a:p>
            <a:pPr fontAlgn="base"/>
            <a:r>
              <a:rPr lang="en-US" sz="3200" dirty="0"/>
              <a:t>They ensure good user experience, ease of operating the software, and minimize the cost factor.</a:t>
            </a:r>
          </a:p>
          <a:p>
            <a:pPr marL="0" indent="0">
              <a:buNone/>
            </a:pPr>
            <a:endParaRPr lang="en-IN" sz="3200" dirty="0"/>
          </a:p>
        </p:txBody>
      </p:sp>
    </p:spTree>
    <p:extLst>
      <p:ext uri="{BB962C8B-B14F-4D97-AF65-F5344CB8AC3E}">
        <p14:creationId xmlns:p14="http://schemas.microsoft.com/office/powerpoint/2010/main" val="41983655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9F55B-A76B-44CA-BEED-DC48B7BC2083}"/>
              </a:ext>
            </a:extLst>
          </p:cNvPr>
          <p:cNvSpPr>
            <a:spLocks noGrp="1"/>
          </p:cNvSpPr>
          <p:nvPr>
            <p:ph type="title"/>
          </p:nvPr>
        </p:nvSpPr>
        <p:spPr/>
        <p:txBody>
          <a:bodyPr/>
          <a:lstStyle/>
          <a:p>
            <a:r>
              <a:rPr lang="en-IN" b="1" dirty="0"/>
              <a:t>Disadvantages of Non-functional requirement :</a:t>
            </a:r>
            <a:endParaRPr lang="en-IN" dirty="0"/>
          </a:p>
        </p:txBody>
      </p:sp>
      <p:sp>
        <p:nvSpPr>
          <p:cNvPr id="3" name="Content Placeholder 2">
            <a:extLst>
              <a:ext uri="{FF2B5EF4-FFF2-40B4-BE49-F238E27FC236}">
                <a16:creationId xmlns:a16="http://schemas.microsoft.com/office/drawing/2014/main" id="{ADC7D6F9-E95C-4E53-ABDF-A792D812477F}"/>
              </a:ext>
            </a:extLst>
          </p:cNvPr>
          <p:cNvSpPr>
            <a:spLocks noGrp="1"/>
          </p:cNvSpPr>
          <p:nvPr>
            <p:ph idx="1"/>
          </p:nvPr>
        </p:nvSpPr>
        <p:spPr/>
        <p:txBody>
          <a:bodyPr/>
          <a:lstStyle/>
          <a:p>
            <a:pPr fontAlgn="base"/>
            <a:r>
              <a:rPr lang="en-US" dirty="0"/>
              <a:t>The nonfunctional requirement may affect the various high-level software subsystem.</a:t>
            </a:r>
          </a:p>
          <a:p>
            <a:pPr fontAlgn="base"/>
            <a:r>
              <a:rPr lang="en-US" dirty="0"/>
              <a:t>They generally increase the cost as they require special consideration during the software architecture/high-level design phase.</a:t>
            </a:r>
          </a:p>
          <a:p>
            <a:pPr fontAlgn="base"/>
            <a:r>
              <a:rPr lang="en-US" dirty="0"/>
              <a:t>It is difficult to change or alter non-functional requirements once you pass them to the architecture phase.</a:t>
            </a:r>
          </a:p>
          <a:p>
            <a:r>
              <a:rPr lang="en-US" dirty="0"/>
              <a:t/>
            </a:r>
            <a:br>
              <a:rPr lang="en-US" dirty="0"/>
            </a:br>
            <a:endParaRPr lang="en-IN" dirty="0"/>
          </a:p>
        </p:txBody>
      </p:sp>
    </p:spTree>
    <p:extLst>
      <p:ext uri="{BB962C8B-B14F-4D97-AF65-F5344CB8AC3E}">
        <p14:creationId xmlns:p14="http://schemas.microsoft.com/office/powerpoint/2010/main" val="34181541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A4E3-FF43-47A6-9B63-DC8C5286AE9C}"/>
              </a:ext>
            </a:extLst>
          </p:cNvPr>
          <p:cNvSpPr>
            <a:spLocks noGrp="1"/>
          </p:cNvSpPr>
          <p:nvPr>
            <p:ph type="title"/>
          </p:nvPr>
        </p:nvSpPr>
        <p:spPr>
          <a:xfrm>
            <a:off x="752475" y="146051"/>
            <a:ext cx="10515600" cy="901700"/>
          </a:xfrm>
        </p:spPr>
        <p:txBody>
          <a:bodyPr>
            <a:normAutofit fontScale="90000"/>
          </a:bodyPr>
          <a:lstStyle/>
          <a:p>
            <a:r>
              <a:rPr lang="en-US" sz="3200" dirty="0"/>
              <a:t>Following are the differences between Functional and Non Functional Requirements</a:t>
            </a:r>
            <a:endParaRPr lang="en-IN" sz="3200" dirty="0"/>
          </a:p>
        </p:txBody>
      </p:sp>
      <p:graphicFrame>
        <p:nvGraphicFramePr>
          <p:cNvPr id="4" name="Content Placeholder 3">
            <a:extLst>
              <a:ext uri="{FF2B5EF4-FFF2-40B4-BE49-F238E27FC236}">
                <a16:creationId xmlns:a16="http://schemas.microsoft.com/office/drawing/2014/main" id="{ABB12B58-FD80-4FF1-9A3D-B3D2EF0DA912}"/>
              </a:ext>
            </a:extLst>
          </p:cNvPr>
          <p:cNvGraphicFramePr>
            <a:graphicFrameLocks noGrp="1"/>
          </p:cNvGraphicFramePr>
          <p:nvPr>
            <p:ph idx="1"/>
            <p:extLst>
              <p:ext uri="{D42A27DB-BD31-4B8C-83A1-F6EECF244321}">
                <p14:modId xmlns:p14="http://schemas.microsoft.com/office/powerpoint/2010/main" val="3199913494"/>
              </p:ext>
            </p:extLst>
          </p:nvPr>
        </p:nvGraphicFramePr>
        <p:xfrm>
          <a:off x="0" y="923926"/>
          <a:ext cx="12144376" cy="6174921"/>
        </p:xfrm>
        <a:graphic>
          <a:graphicData uri="http://schemas.openxmlformats.org/drawingml/2006/table">
            <a:tbl>
              <a:tblPr/>
              <a:tblGrid>
                <a:gridCol w="6148388">
                  <a:extLst>
                    <a:ext uri="{9D8B030D-6E8A-4147-A177-3AD203B41FA5}">
                      <a16:colId xmlns:a16="http://schemas.microsoft.com/office/drawing/2014/main" val="1712915740"/>
                    </a:ext>
                  </a:extLst>
                </a:gridCol>
                <a:gridCol w="5995988">
                  <a:extLst>
                    <a:ext uri="{9D8B030D-6E8A-4147-A177-3AD203B41FA5}">
                      <a16:colId xmlns:a16="http://schemas.microsoft.com/office/drawing/2014/main" val="972430950"/>
                    </a:ext>
                  </a:extLst>
                </a:gridCol>
              </a:tblGrid>
              <a:tr h="311027">
                <a:tc>
                  <a:txBody>
                    <a:bodyPr/>
                    <a:lstStyle/>
                    <a:p>
                      <a:pPr algn="ctr" fontAlgn="base"/>
                      <a:r>
                        <a:rPr lang="en-IN" sz="1100" b="0">
                          <a:effectLst/>
                        </a:rPr>
                        <a:t>Functional Requirements</a:t>
                      </a:r>
                    </a:p>
                  </a:txBody>
                  <a:tcPr marL="40031" marR="40031" marT="40031" marB="40031" anchor="ctr">
                    <a:lnL>
                      <a:noFill/>
                    </a:lnL>
                    <a:lnR>
                      <a:noFill/>
                    </a:lnR>
                    <a:lnT>
                      <a:noFill/>
                    </a:lnT>
                    <a:lnB>
                      <a:noFill/>
                    </a:lnB>
                    <a:solidFill>
                      <a:srgbClr val="4CB96B"/>
                    </a:solidFill>
                  </a:tcPr>
                </a:tc>
                <a:tc>
                  <a:txBody>
                    <a:bodyPr/>
                    <a:lstStyle/>
                    <a:p>
                      <a:pPr algn="ctr" fontAlgn="base"/>
                      <a:r>
                        <a:rPr lang="en-IN" sz="1100" b="0">
                          <a:effectLst/>
                        </a:rPr>
                        <a:t>Non Functional Requirements</a:t>
                      </a:r>
                    </a:p>
                  </a:txBody>
                  <a:tcPr marL="40031" marR="40031" marT="40031" marB="40031" anchor="ctr">
                    <a:lnL>
                      <a:noFill/>
                    </a:lnL>
                    <a:lnR>
                      <a:noFill/>
                    </a:lnR>
                    <a:lnT>
                      <a:noFill/>
                    </a:lnT>
                    <a:lnB>
                      <a:noFill/>
                    </a:lnB>
                    <a:solidFill>
                      <a:srgbClr val="4CB96B"/>
                    </a:solidFill>
                  </a:tcPr>
                </a:tc>
                <a:extLst>
                  <a:ext uri="{0D108BD9-81ED-4DB2-BD59-A6C34878D82A}">
                    <a16:rowId xmlns:a16="http://schemas.microsoft.com/office/drawing/2014/main" val="4289950530"/>
                  </a:ext>
                </a:extLst>
              </a:tr>
              <a:tr h="557549">
                <a:tc>
                  <a:txBody>
                    <a:bodyPr/>
                    <a:lstStyle/>
                    <a:p>
                      <a:pPr algn="l" fontAlgn="base"/>
                      <a:r>
                        <a:rPr lang="en-US" sz="1600" b="0" dirty="0">
                          <a:effectLst/>
                        </a:rPr>
                        <a:t>A functional requirement defines a system or its component.</a:t>
                      </a:r>
                    </a:p>
                  </a:txBody>
                  <a:tcPr marL="50038" marR="50038" marT="70054" marB="70054" anchor="ctr">
                    <a:lnL>
                      <a:noFill/>
                    </a:lnL>
                    <a:lnR>
                      <a:noFill/>
                    </a:lnR>
                    <a:lnT>
                      <a:noFill/>
                    </a:lnT>
                    <a:lnB>
                      <a:noFill/>
                    </a:lnB>
                    <a:solidFill>
                      <a:srgbClr val="FFFFFF"/>
                    </a:solidFill>
                  </a:tcPr>
                </a:tc>
                <a:tc>
                  <a:txBody>
                    <a:bodyPr/>
                    <a:lstStyle/>
                    <a:p>
                      <a:pPr algn="l" fontAlgn="base"/>
                      <a:r>
                        <a:rPr lang="en-US" sz="1600" b="0">
                          <a:effectLst/>
                        </a:rPr>
                        <a:t>A non-functional requirement defines the quality attribute of a software system.</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4146196184"/>
                  </a:ext>
                </a:extLst>
              </a:tr>
              <a:tr h="633676">
                <a:tc>
                  <a:txBody>
                    <a:bodyPr/>
                    <a:lstStyle/>
                    <a:p>
                      <a:pPr algn="l" fontAlgn="base"/>
                      <a:r>
                        <a:rPr lang="en-US" sz="1600" b="0" dirty="0">
                          <a:effectLst/>
                        </a:rPr>
                        <a:t>It specifies “What should the software system do?”</a:t>
                      </a:r>
                    </a:p>
                  </a:txBody>
                  <a:tcPr marL="50038" marR="50038" marT="70054" marB="70054" anchor="ctr">
                    <a:lnL>
                      <a:noFill/>
                    </a:lnL>
                    <a:lnR>
                      <a:noFill/>
                    </a:lnR>
                    <a:lnT>
                      <a:noFill/>
                    </a:lnT>
                    <a:lnB>
                      <a:noFill/>
                    </a:lnB>
                    <a:solidFill>
                      <a:srgbClr val="FFFFFF"/>
                    </a:solidFill>
                  </a:tcPr>
                </a:tc>
                <a:tc>
                  <a:txBody>
                    <a:bodyPr/>
                    <a:lstStyle/>
                    <a:p>
                      <a:pPr algn="l" fontAlgn="base"/>
                      <a:r>
                        <a:rPr lang="en-US" sz="1600" b="0">
                          <a:effectLst/>
                        </a:rPr>
                        <a:t>It places constraints on “How should the software system fulfill the functional requirements?”</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2331839895"/>
                  </a:ext>
                </a:extLst>
              </a:tr>
              <a:tr h="633676">
                <a:tc>
                  <a:txBody>
                    <a:bodyPr/>
                    <a:lstStyle/>
                    <a:p>
                      <a:pPr algn="l" fontAlgn="base"/>
                      <a:r>
                        <a:rPr lang="en-US" sz="1600" b="0" dirty="0">
                          <a:effectLst/>
                        </a:rPr>
                        <a:t>Functional requirement is specified by User.</a:t>
                      </a:r>
                    </a:p>
                  </a:txBody>
                  <a:tcPr marL="50038" marR="50038" marT="70054" marB="70054" anchor="ctr">
                    <a:lnL>
                      <a:noFill/>
                    </a:lnL>
                    <a:lnR>
                      <a:noFill/>
                    </a:lnR>
                    <a:lnT>
                      <a:noFill/>
                    </a:lnT>
                    <a:lnB>
                      <a:noFill/>
                    </a:lnB>
                    <a:solidFill>
                      <a:srgbClr val="FFFFFF"/>
                    </a:solidFill>
                  </a:tcPr>
                </a:tc>
                <a:tc>
                  <a:txBody>
                    <a:bodyPr/>
                    <a:lstStyle/>
                    <a:p>
                      <a:pPr algn="l" fontAlgn="base"/>
                      <a:r>
                        <a:rPr lang="en-US" sz="1600" b="0">
                          <a:effectLst/>
                        </a:rPr>
                        <a:t>Non-functional requirement is specified by technical peoples e.g. Architect, Technical leaders and software developers.</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1833491437"/>
                  </a:ext>
                </a:extLst>
              </a:tr>
              <a:tr h="395154">
                <a:tc>
                  <a:txBody>
                    <a:bodyPr/>
                    <a:lstStyle/>
                    <a:p>
                      <a:pPr algn="l" fontAlgn="base"/>
                      <a:r>
                        <a:rPr lang="en-IN" sz="1600" b="0" dirty="0">
                          <a:effectLst/>
                        </a:rPr>
                        <a:t>It is mandatory.</a:t>
                      </a:r>
                    </a:p>
                  </a:txBody>
                  <a:tcPr marL="50038" marR="50038" marT="70054" marB="70054" anchor="ctr">
                    <a:lnL>
                      <a:noFill/>
                    </a:lnL>
                    <a:lnR>
                      <a:noFill/>
                    </a:lnR>
                    <a:lnT>
                      <a:noFill/>
                    </a:lnT>
                    <a:lnB>
                      <a:noFill/>
                    </a:lnB>
                    <a:solidFill>
                      <a:srgbClr val="FFFFFF"/>
                    </a:solidFill>
                  </a:tcPr>
                </a:tc>
                <a:tc>
                  <a:txBody>
                    <a:bodyPr/>
                    <a:lstStyle/>
                    <a:p>
                      <a:pPr algn="l" fontAlgn="base"/>
                      <a:r>
                        <a:rPr lang="en-IN" sz="1600" b="0">
                          <a:effectLst/>
                        </a:rPr>
                        <a:t>It is not mandatory.</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2544773599"/>
                  </a:ext>
                </a:extLst>
              </a:tr>
              <a:tr h="395154">
                <a:tc>
                  <a:txBody>
                    <a:bodyPr/>
                    <a:lstStyle/>
                    <a:p>
                      <a:pPr algn="l" fontAlgn="base"/>
                      <a:r>
                        <a:rPr lang="en-US" sz="1600" b="0" dirty="0">
                          <a:effectLst/>
                        </a:rPr>
                        <a:t>It is captured in use case.</a:t>
                      </a:r>
                    </a:p>
                  </a:txBody>
                  <a:tcPr marL="50038" marR="50038" marT="70054" marB="70054" anchor="ctr">
                    <a:lnL>
                      <a:noFill/>
                    </a:lnL>
                    <a:lnR>
                      <a:noFill/>
                    </a:lnR>
                    <a:lnT>
                      <a:noFill/>
                    </a:lnT>
                    <a:lnB>
                      <a:noFill/>
                    </a:lnB>
                    <a:solidFill>
                      <a:srgbClr val="FFFFFF"/>
                    </a:solidFill>
                  </a:tcPr>
                </a:tc>
                <a:tc>
                  <a:txBody>
                    <a:bodyPr/>
                    <a:lstStyle/>
                    <a:p>
                      <a:pPr algn="l" fontAlgn="base"/>
                      <a:r>
                        <a:rPr lang="en-US" sz="1600" b="0">
                          <a:effectLst/>
                        </a:rPr>
                        <a:t>It is captured as a quality attribute.</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3518527230"/>
                  </a:ext>
                </a:extLst>
              </a:tr>
              <a:tr h="395154">
                <a:tc>
                  <a:txBody>
                    <a:bodyPr/>
                    <a:lstStyle/>
                    <a:p>
                      <a:pPr algn="l" fontAlgn="base"/>
                      <a:r>
                        <a:rPr lang="en-US" sz="1600" b="0" dirty="0">
                          <a:effectLst/>
                        </a:rPr>
                        <a:t>Defined at a component level.</a:t>
                      </a:r>
                    </a:p>
                  </a:txBody>
                  <a:tcPr marL="50038" marR="50038" marT="70054" marB="70054" anchor="ctr">
                    <a:lnL>
                      <a:noFill/>
                    </a:lnL>
                    <a:lnR>
                      <a:noFill/>
                    </a:lnR>
                    <a:lnT>
                      <a:noFill/>
                    </a:lnT>
                    <a:lnB>
                      <a:noFill/>
                    </a:lnB>
                    <a:solidFill>
                      <a:srgbClr val="FFFFFF"/>
                    </a:solidFill>
                  </a:tcPr>
                </a:tc>
                <a:tc>
                  <a:txBody>
                    <a:bodyPr/>
                    <a:lstStyle/>
                    <a:p>
                      <a:pPr algn="l" fontAlgn="base"/>
                      <a:r>
                        <a:rPr lang="en-US" sz="1600" b="0" dirty="0">
                          <a:effectLst/>
                        </a:rPr>
                        <a:t>Applied to a system as a whole.</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2116247112"/>
                  </a:ext>
                </a:extLst>
              </a:tr>
              <a:tr h="395154">
                <a:tc>
                  <a:txBody>
                    <a:bodyPr/>
                    <a:lstStyle/>
                    <a:p>
                      <a:pPr algn="l" fontAlgn="base"/>
                      <a:r>
                        <a:rPr lang="en-US" sz="1600" b="0" dirty="0">
                          <a:effectLst/>
                        </a:rPr>
                        <a:t>Helps you verify the functionality of the software.</a:t>
                      </a:r>
                    </a:p>
                  </a:txBody>
                  <a:tcPr marL="50038" marR="50038" marT="70054" marB="70054" anchor="ctr">
                    <a:lnL>
                      <a:noFill/>
                    </a:lnL>
                    <a:lnR>
                      <a:noFill/>
                    </a:lnR>
                    <a:lnT>
                      <a:noFill/>
                    </a:lnT>
                    <a:lnB>
                      <a:noFill/>
                    </a:lnB>
                    <a:solidFill>
                      <a:srgbClr val="FFFFFF"/>
                    </a:solidFill>
                  </a:tcPr>
                </a:tc>
                <a:tc>
                  <a:txBody>
                    <a:bodyPr/>
                    <a:lstStyle/>
                    <a:p>
                      <a:pPr algn="l" fontAlgn="base"/>
                      <a:r>
                        <a:rPr lang="en-US" sz="1600" b="0">
                          <a:effectLst/>
                        </a:rPr>
                        <a:t>Helps you to verify the performance of the software.</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464642297"/>
                  </a:ext>
                </a:extLst>
              </a:tr>
              <a:tr h="633676">
                <a:tc>
                  <a:txBody>
                    <a:bodyPr/>
                    <a:lstStyle/>
                    <a:p>
                      <a:pPr algn="l" fontAlgn="base"/>
                      <a:r>
                        <a:rPr lang="en-US" sz="1600" b="0" dirty="0">
                          <a:effectLst/>
                        </a:rPr>
                        <a:t>Functional Testing like System, Integration, End to End, API testing, </a:t>
                      </a:r>
                      <a:r>
                        <a:rPr lang="en-US" sz="1600" b="0" dirty="0" err="1">
                          <a:effectLst/>
                        </a:rPr>
                        <a:t>etc</a:t>
                      </a:r>
                      <a:r>
                        <a:rPr lang="en-US" sz="1600" b="0" dirty="0">
                          <a:effectLst/>
                        </a:rPr>
                        <a:t> are done.</a:t>
                      </a:r>
                    </a:p>
                  </a:txBody>
                  <a:tcPr marL="50038" marR="50038" marT="70054" marB="70054" anchor="ctr">
                    <a:lnL>
                      <a:noFill/>
                    </a:lnL>
                    <a:lnR>
                      <a:noFill/>
                    </a:lnR>
                    <a:lnT>
                      <a:noFill/>
                    </a:lnT>
                    <a:lnB>
                      <a:noFill/>
                    </a:lnB>
                    <a:solidFill>
                      <a:srgbClr val="FFFFFF"/>
                    </a:solidFill>
                  </a:tcPr>
                </a:tc>
                <a:tc>
                  <a:txBody>
                    <a:bodyPr/>
                    <a:lstStyle/>
                    <a:p>
                      <a:pPr algn="l" fontAlgn="base"/>
                      <a:r>
                        <a:rPr lang="en-US" sz="1600" b="0">
                          <a:effectLst/>
                        </a:rPr>
                        <a:t>Non-Functional Testing like Performance, Stress, Usability, Security testing, etc are done.</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406970737"/>
                  </a:ext>
                </a:extLst>
              </a:tr>
              <a:tr h="395154">
                <a:tc>
                  <a:txBody>
                    <a:bodyPr/>
                    <a:lstStyle/>
                    <a:p>
                      <a:pPr algn="l" fontAlgn="base"/>
                      <a:r>
                        <a:rPr lang="en-IN" sz="1600" b="0" dirty="0">
                          <a:effectLst/>
                        </a:rPr>
                        <a:t>Usually easy to define.</a:t>
                      </a:r>
                    </a:p>
                  </a:txBody>
                  <a:tcPr marL="50038" marR="50038" marT="70054" marB="70054" anchor="ctr">
                    <a:lnL>
                      <a:noFill/>
                    </a:lnL>
                    <a:lnR>
                      <a:noFill/>
                    </a:lnR>
                    <a:lnT>
                      <a:noFill/>
                    </a:lnT>
                    <a:lnB>
                      <a:noFill/>
                    </a:lnB>
                    <a:solidFill>
                      <a:srgbClr val="FFFFFF"/>
                    </a:solidFill>
                  </a:tcPr>
                </a:tc>
                <a:tc>
                  <a:txBody>
                    <a:bodyPr/>
                    <a:lstStyle/>
                    <a:p>
                      <a:pPr algn="l" fontAlgn="base"/>
                      <a:r>
                        <a:rPr lang="en-US" sz="1600" b="0" dirty="0">
                          <a:effectLst/>
                        </a:rPr>
                        <a:t>Usually more difficult to define.</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4131907611"/>
                  </a:ext>
                </a:extLst>
              </a:tr>
              <a:tr h="1349243">
                <a:tc>
                  <a:txBody>
                    <a:bodyPr/>
                    <a:lstStyle/>
                    <a:p>
                      <a:pPr algn="l" fontAlgn="base"/>
                      <a:r>
                        <a:rPr lang="en-US" sz="1600" b="1" dirty="0">
                          <a:effectLst/>
                        </a:rPr>
                        <a:t>Example1)</a:t>
                      </a:r>
                      <a:r>
                        <a:rPr lang="en-US" sz="1600" b="0" dirty="0">
                          <a:effectLst/>
                        </a:rPr>
                        <a:t> Authentication of user whenever he/she logs into the system.</a:t>
                      </a:r>
                      <a:br>
                        <a:rPr lang="en-US" sz="1600" b="0" dirty="0">
                          <a:effectLst/>
                        </a:rPr>
                      </a:br>
                      <a:r>
                        <a:rPr lang="en-US" sz="1600" b="1" dirty="0">
                          <a:effectLst/>
                        </a:rPr>
                        <a:t>2)</a:t>
                      </a:r>
                      <a:r>
                        <a:rPr lang="en-US" sz="1600" b="0" dirty="0">
                          <a:effectLst/>
                        </a:rPr>
                        <a:t> System shutdown in case of a cyber attack.</a:t>
                      </a:r>
                      <a:br>
                        <a:rPr lang="en-US" sz="1600" b="0" dirty="0">
                          <a:effectLst/>
                        </a:rPr>
                      </a:br>
                      <a:r>
                        <a:rPr lang="en-US" sz="1600" b="1" dirty="0">
                          <a:effectLst/>
                        </a:rPr>
                        <a:t>3)</a:t>
                      </a:r>
                      <a:r>
                        <a:rPr lang="en-US" sz="1600" b="0" dirty="0">
                          <a:effectLst/>
                        </a:rPr>
                        <a:t> A Verification email is sent to user whenever he/she registers for the first time on some software system.</a:t>
                      </a:r>
                    </a:p>
                  </a:txBody>
                  <a:tcPr marL="50038" marR="50038" marT="70054" marB="70054" anchor="ctr">
                    <a:lnL>
                      <a:noFill/>
                    </a:lnL>
                    <a:lnR>
                      <a:noFill/>
                    </a:lnR>
                    <a:lnT>
                      <a:noFill/>
                    </a:lnT>
                    <a:lnB>
                      <a:noFill/>
                    </a:lnB>
                    <a:solidFill>
                      <a:srgbClr val="FFFFFF"/>
                    </a:solidFill>
                  </a:tcPr>
                </a:tc>
                <a:tc>
                  <a:txBody>
                    <a:bodyPr/>
                    <a:lstStyle/>
                    <a:p>
                      <a:pPr algn="l" fontAlgn="base"/>
                      <a:r>
                        <a:rPr lang="en-US" sz="1600" b="1" dirty="0">
                          <a:effectLst/>
                        </a:rPr>
                        <a:t>Example1)</a:t>
                      </a:r>
                      <a:r>
                        <a:rPr lang="en-US" sz="1600" b="0" dirty="0">
                          <a:effectLst/>
                        </a:rPr>
                        <a:t> Emails should be sent with a latency of no greater than 12 hours from such an activity.</a:t>
                      </a:r>
                      <a:br>
                        <a:rPr lang="en-US" sz="1600" b="0" dirty="0">
                          <a:effectLst/>
                        </a:rPr>
                      </a:br>
                      <a:r>
                        <a:rPr lang="en-US" sz="1600" b="1" dirty="0">
                          <a:effectLst/>
                        </a:rPr>
                        <a:t>2)</a:t>
                      </a:r>
                      <a:r>
                        <a:rPr lang="en-US" sz="1600" b="0" dirty="0">
                          <a:effectLst/>
                        </a:rPr>
                        <a:t> The processing of each request should be done within 10 seconds</a:t>
                      </a:r>
                      <a:br>
                        <a:rPr lang="en-US" sz="1600" b="0" dirty="0">
                          <a:effectLst/>
                        </a:rPr>
                      </a:br>
                      <a:r>
                        <a:rPr lang="en-US" sz="1600" b="1" dirty="0">
                          <a:effectLst/>
                        </a:rPr>
                        <a:t>3)</a:t>
                      </a:r>
                      <a:r>
                        <a:rPr lang="en-US" sz="1600" b="0" dirty="0">
                          <a:effectLst/>
                        </a:rPr>
                        <a:t> The site should load in 3 seconds when the number of simultaneous users are &gt; 10000</a:t>
                      </a:r>
                    </a:p>
                  </a:txBody>
                  <a:tcPr marL="50038" marR="50038" marT="70054" marB="70054" anchor="ctr">
                    <a:lnL>
                      <a:noFill/>
                    </a:lnL>
                    <a:lnR>
                      <a:noFill/>
                    </a:lnR>
                    <a:lnT>
                      <a:noFill/>
                    </a:lnT>
                    <a:lnB>
                      <a:noFill/>
                    </a:lnB>
                    <a:solidFill>
                      <a:srgbClr val="FFFFFF"/>
                    </a:solidFill>
                  </a:tcPr>
                </a:tc>
                <a:extLst>
                  <a:ext uri="{0D108BD9-81ED-4DB2-BD59-A6C34878D82A}">
                    <a16:rowId xmlns:a16="http://schemas.microsoft.com/office/drawing/2014/main" val="1127182993"/>
                  </a:ext>
                </a:extLst>
              </a:tr>
            </a:tbl>
          </a:graphicData>
        </a:graphic>
      </p:graphicFrame>
    </p:spTree>
    <p:extLst>
      <p:ext uri="{BB962C8B-B14F-4D97-AF65-F5344CB8AC3E}">
        <p14:creationId xmlns:p14="http://schemas.microsoft.com/office/powerpoint/2010/main" val="17001710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827D-45F4-4048-AEA0-8A0EFE1EDFE7}"/>
              </a:ext>
            </a:extLst>
          </p:cNvPr>
          <p:cNvSpPr>
            <a:spLocks noGrp="1"/>
          </p:cNvSpPr>
          <p:nvPr>
            <p:ph type="title"/>
          </p:nvPr>
        </p:nvSpPr>
        <p:spPr>
          <a:xfrm>
            <a:off x="838200" y="365125"/>
            <a:ext cx="10515600" cy="5054600"/>
          </a:xfrm>
        </p:spPr>
        <p:txBody>
          <a:bodyPr>
            <a:normAutofit/>
          </a:bodyPr>
          <a:lstStyle/>
          <a:p>
            <a:r>
              <a:rPr lang="en-US" sz="5400" b="1" dirty="0"/>
              <a:t>Four Phases of Requirement Engineering </a:t>
            </a:r>
            <a:endParaRPr lang="en-IN" sz="5400" b="1" dirty="0"/>
          </a:p>
        </p:txBody>
      </p:sp>
    </p:spTree>
    <p:extLst>
      <p:ext uri="{BB962C8B-B14F-4D97-AF65-F5344CB8AC3E}">
        <p14:creationId xmlns:p14="http://schemas.microsoft.com/office/powerpoint/2010/main" val="40758018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FE901-428B-4D56-97D3-DC9A041855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3741F2-C565-4315-A467-07974576D5E2}"/>
              </a:ext>
            </a:extLst>
          </p:cNvPr>
          <p:cNvSpPr>
            <a:spLocks noGrp="1"/>
          </p:cNvSpPr>
          <p:nvPr>
            <p:ph idx="1"/>
          </p:nvPr>
        </p:nvSpPr>
        <p:spPr/>
        <p:txBody>
          <a:bodyPr/>
          <a:lstStyle/>
          <a:p>
            <a:pPr fontAlgn="base"/>
            <a:r>
              <a:rPr lang="en-US" dirty="0"/>
              <a:t>Requirement Engineering is the process of defining, documenting and maintaining the requirements. It is a process of gathering and defining service provided by the system. Requirements Engineering Process consists of the following main activities:</a:t>
            </a:r>
          </a:p>
          <a:p>
            <a:pPr fontAlgn="base"/>
            <a:r>
              <a:rPr lang="en-US" dirty="0"/>
              <a:t>Requirements elicitation</a:t>
            </a:r>
          </a:p>
          <a:p>
            <a:pPr fontAlgn="base"/>
            <a:r>
              <a:rPr lang="en-US" dirty="0"/>
              <a:t>Requirements specification</a:t>
            </a:r>
          </a:p>
          <a:p>
            <a:pPr fontAlgn="base"/>
            <a:r>
              <a:rPr lang="en-US" dirty="0"/>
              <a:t>Requirements verification and validation</a:t>
            </a:r>
          </a:p>
          <a:p>
            <a:pPr fontAlgn="base"/>
            <a:r>
              <a:rPr lang="en-US" dirty="0"/>
              <a:t>Requirements management</a:t>
            </a:r>
          </a:p>
          <a:p>
            <a:endParaRPr lang="en-IN" dirty="0"/>
          </a:p>
        </p:txBody>
      </p:sp>
    </p:spTree>
    <p:extLst>
      <p:ext uri="{BB962C8B-B14F-4D97-AF65-F5344CB8AC3E}">
        <p14:creationId xmlns:p14="http://schemas.microsoft.com/office/powerpoint/2010/main" val="7631694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3498C-513B-47F6-AEB1-6FCE01E4B6DA}"/>
              </a:ext>
            </a:extLst>
          </p:cNvPr>
          <p:cNvSpPr>
            <a:spLocks noGrp="1"/>
          </p:cNvSpPr>
          <p:nvPr>
            <p:ph type="title"/>
          </p:nvPr>
        </p:nvSpPr>
        <p:spPr/>
        <p:txBody>
          <a:bodyPr/>
          <a:lstStyle/>
          <a:p>
            <a:r>
              <a:rPr lang="en-IN" b="1" dirty="0"/>
              <a:t>Requirements Elicitation:</a:t>
            </a:r>
            <a:endParaRPr lang="en-IN" dirty="0"/>
          </a:p>
        </p:txBody>
      </p:sp>
      <p:sp>
        <p:nvSpPr>
          <p:cNvPr id="3" name="Content Placeholder 2">
            <a:extLst>
              <a:ext uri="{FF2B5EF4-FFF2-40B4-BE49-F238E27FC236}">
                <a16:creationId xmlns:a16="http://schemas.microsoft.com/office/drawing/2014/main" id="{8A863E64-E661-4F22-9D05-839CA1033C5B}"/>
              </a:ext>
            </a:extLst>
          </p:cNvPr>
          <p:cNvSpPr>
            <a:spLocks noGrp="1"/>
          </p:cNvSpPr>
          <p:nvPr>
            <p:ph idx="1"/>
          </p:nvPr>
        </p:nvSpPr>
        <p:spPr/>
        <p:txBody>
          <a:bodyPr/>
          <a:lstStyle/>
          <a:p>
            <a:r>
              <a:rPr lang="en-US" dirty="0"/>
              <a:t>It is related to the various ways used to gain knowledge about the project domain and requirements. The various sources of domain knowledge include customers, business manuals, the existing software of same type, standards and other stakeholders of the project.</a:t>
            </a:r>
            <a:br>
              <a:rPr lang="en-US" dirty="0"/>
            </a:br>
            <a:r>
              <a:rPr lang="en-US" dirty="0"/>
              <a:t>The techniques used for requirements elicitation include interviews, brainstorming, task analysis, Delphi technique, prototyping, etc. Some of these are discussed </a:t>
            </a:r>
            <a:r>
              <a:rPr lang="en-US" u="sng" dirty="0">
                <a:hlinkClick r:id="rId2"/>
              </a:rPr>
              <a:t>here.</a:t>
            </a:r>
            <a:r>
              <a:rPr lang="en-US" dirty="0"/>
              <a:t> Elicitation does not produce formal models of the requirements understood. Instead, it widens the domain knowledge of the analyst and thus helps in providing input to the next stage.</a:t>
            </a:r>
            <a:endParaRPr lang="en-IN" dirty="0"/>
          </a:p>
        </p:txBody>
      </p:sp>
    </p:spTree>
    <p:extLst>
      <p:ext uri="{BB962C8B-B14F-4D97-AF65-F5344CB8AC3E}">
        <p14:creationId xmlns:p14="http://schemas.microsoft.com/office/powerpoint/2010/main" val="4884728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8DD27-6BBC-4A1C-9D58-2AD2A117DE88}"/>
              </a:ext>
            </a:extLst>
          </p:cNvPr>
          <p:cNvSpPr>
            <a:spLocks noGrp="1"/>
          </p:cNvSpPr>
          <p:nvPr>
            <p:ph type="title"/>
          </p:nvPr>
        </p:nvSpPr>
        <p:spPr/>
        <p:txBody>
          <a:bodyPr/>
          <a:lstStyle/>
          <a:p>
            <a:r>
              <a:rPr lang="en-US" b="1" dirty="0"/>
              <a:t>Requirements specification:</a:t>
            </a:r>
            <a:endParaRPr lang="en-IN" dirty="0"/>
          </a:p>
        </p:txBody>
      </p:sp>
      <p:sp>
        <p:nvSpPr>
          <p:cNvPr id="3" name="Content Placeholder 2">
            <a:extLst>
              <a:ext uri="{FF2B5EF4-FFF2-40B4-BE49-F238E27FC236}">
                <a16:creationId xmlns:a16="http://schemas.microsoft.com/office/drawing/2014/main" id="{72FB22C4-EB2D-4204-890F-CEC0354C4BB1}"/>
              </a:ext>
            </a:extLst>
          </p:cNvPr>
          <p:cNvSpPr>
            <a:spLocks noGrp="1"/>
          </p:cNvSpPr>
          <p:nvPr>
            <p:ph idx="1"/>
          </p:nvPr>
        </p:nvSpPr>
        <p:spPr/>
        <p:txBody>
          <a:bodyPr/>
          <a:lstStyle/>
          <a:p>
            <a:r>
              <a:rPr lang="en-US" dirty="0"/>
              <a:t/>
            </a:r>
            <a:br>
              <a:rPr lang="en-US" dirty="0"/>
            </a:br>
            <a:r>
              <a:rPr lang="en-US" dirty="0"/>
              <a:t>This activity is used to produce formal software requirement models. All the requirements including the functional as well as the non-functional requirements and the constraints are specified by these models in totality. During specification, more knowledge about the problem may be required which can again trigger the elicitation process.</a:t>
            </a:r>
            <a:br>
              <a:rPr lang="en-US" dirty="0"/>
            </a:br>
            <a:r>
              <a:rPr lang="en-US" dirty="0"/>
              <a:t>The models used at this stage include ER diagrams, data flow diagrams(DFDs), function decomposition diagrams(FDDs), data dictionaries, etc.</a:t>
            </a:r>
            <a:endParaRPr lang="en-IN" dirty="0"/>
          </a:p>
        </p:txBody>
      </p:sp>
    </p:spTree>
    <p:extLst>
      <p:ext uri="{BB962C8B-B14F-4D97-AF65-F5344CB8AC3E}">
        <p14:creationId xmlns:p14="http://schemas.microsoft.com/office/powerpoint/2010/main" val="16411705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0E235-D7CF-4BC5-8E57-0159D0FEA1D8}"/>
              </a:ext>
            </a:extLst>
          </p:cNvPr>
          <p:cNvSpPr>
            <a:spLocks noGrp="1"/>
          </p:cNvSpPr>
          <p:nvPr>
            <p:ph type="title"/>
          </p:nvPr>
        </p:nvSpPr>
        <p:spPr/>
        <p:txBody>
          <a:bodyPr/>
          <a:lstStyle/>
          <a:p>
            <a:r>
              <a:rPr lang="en-US" b="1" dirty="0"/>
              <a:t>Requirements verification and validation:</a:t>
            </a:r>
            <a:endParaRPr lang="en-IN" dirty="0"/>
          </a:p>
        </p:txBody>
      </p:sp>
      <p:sp>
        <p:nvSpPr>
          <p:cNvPr id="3" name="Content Placeholder 2">
            <a:extLst>
              <a:ext uri="{FF2B5EF4-FFF2-40B4-BE49-F238E27FC236}">
                <a16:creationId xmlns:a16="http://schemas.microsoft.com/office/drawing/2014/main" id="{306DB1EA-DC63-4CA9-B684-608BB2811A64}"/>
              </a:ext>
            </a:extLst>
          </p:cNvPr>
          <p:cNvSpPr>
            <a:spLocks noGrp="1"/>
          </p:cNvSpPr>
          <p:nvPr>
            <p:ph idx="1"/>
          </p:nvPr>
        </p:nvSpPr>
        <p:spPr/>
        <p:txBody>
          <a:bodyPr/>
          <a:lstStyle/>
          <a:p>
            <a:r>
              <a:rPr lang="en-US" dirty="0"/>
              <a:t/>
            </a:r>
            <a:br>
              <a:rPr lang="en-US" dirty="0"/>
            </a:br>
            <a:r>
              <a:rPr lang="en-US" b="1" dirty="0"/>
              <a:t>Verification:</a:t>
            </a:r>
            <a:r>
              <a:rPr lang="en-US" dirty="0"/>
              <a:t> It refers to the set of tasks that ensures that the software correctly implements a specific function.</a:t>
            </a:r>
            <a:br>
              <a:rPr lang="en-US" dirty="0"/>
            </a:br>
            <a:r>
              <a:rPr lang="en-US" b="1" dirty="0"/>
              <a:t>Validation:</a:t>
            </a:r>
            <a:r>
              <a:rPr lang="en-US" dirty="0"/>
              <a:t> It refers to a different set of tasks that ensures that the software that has been built is traceable to customer requirements.</a:t>
            </a:r>
            <a:br>
              <a:rPr lang="en-US" dirty="0"/>
            </a:br>
            <a:r>
              <a:rPr lang="en-US" dirty="0"/>
              <a:t>If requirements are not validated, errors in the requirement definitions would propagate to the successive stages resulting in a lot of modification and rework.</a:t>
            </a:r>
            <a:endParaRPr lang="en-IN" dirty="0"/>
          </a:p>
        </p:txBody>
      </p:sp>
    </p:spTree>
    <p:extLst>
      <p:ext uri="{BB962C8B-B14F-4D97-AF65-F5344CB8AC3E}">
        <p14:creationId xmlns:p14="http://schemas.microsoft.com/office/powerpoint/2010/main" val="36853748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2327E-379D-4F55-908F-0BF977D0E9A4}"/>
              </a:ext>
            </a:extLst>
          </p:cNvPr>
          <p:cNvSpPr>
            <a:spLocks noGrp="1"/>
          </p:cNvSpPr>
          <p:nvPr>
            <p:ph type="title"/>
          </p:nvPr>
        </p:nvSpPr>
        <p:spPr/>
        <p:txBody>
          <a:bodyPr/>
          <a:lstStyle/>
          <a:p>
            <a:r>
              <a:rPr lang="en-US" dirty="0"/>
              <a:t>The main steps for this process include:</a:t>
            </a:r>
            <a:endParaRPr lang="en-IN" dirty="0"/>
          </a:p>
        </p:txBody>
      </p:sp>
      <p:sp>
        <p:nvSpPr>
          <p:cNvPr id="3" name="Content Placeholder 2">
            <a:extLst>
              <a:ext uri="{FF2B5EF4-FFF2-40B4-BE49-F238E27FC236}">
                <a16:creationId xmlns:a16="http://schemas.microsoft.com/office/drawing/2014/main" id="{73D5D33A-D399-42FB-9E50-DC6382D2E74F}"/>
              </a:ext>
            </a:extLst>
          </p:cNvPr>
          <p:cNvSpPr>
            <a:spLocks noGrp="1"/>
          </p:cNvSpPr>
          <p:nvPr>
            <p:ph idx="1"/>
          </p:nvPr>
        </p:nvSpPr>
        <p:spPr/>
        <p:txBody>
          <a:bodyPr/>
          <a:lstStyle/>
          <a:p>
            <a:pPr fontAlgn="base"/>
            <a:r>
              <a:rPr lang="en-US" dirty="0"/>
              <a:t>The requirements should be consistent with all the other requirements </a:t>
            </a:r>
            <a:r>
              <a:rPr lang="en-US" dirty="0" err="1"/>
              <a:t>i.e</a:t>
            </a:r>
            <a:r>
              <a:rPr lang="en-US" dirty="0"/>
              <a:t> no two requirements should conflict with each other.</a:t>
            </a:r>
          </a:p>
          <a:p>
            <a:pPr fontAlgn="base"/>
            <a:r>
              <a:rPr lang="en-US" dirty="0"/>
              <a:t>The requirements should be complete in every sense.</a:t>
            </a:r>
          </a:p>
          <a:p>
            <a:pPr fontAlgn="base"/>
            <a:r>
              <a:rPr lang="en-US" dirty="0"/>
              <a:t>The requirements should be practically achievable.</a:t>
            </a:r>
          </a:p>
          <a:p>
            <a:pPr fontAlgn="base"/>
            <a:r>
              <a:rPr lang="en-US" dirty="0"/>
              <a:t>Reviews, buddy checks, making test cases, etc. are some of the methods used for this.</a:t>
            </a:r>
          </a:p>
          <a:p>
            <a:endParaRPr lang="en-IN" dirty="0"/>
          </a:p>
        </p:txBody>
      </p:sp>
    </p:spTree>
    <p:extLst>
      <p:ext uri="{BB962C8B-B14F-4D97-AF65-F5344CB8AC3E}">
        <p14:creationId xmlns:p14="http://schemas.microsoft.com/office/powerpoint/2010/main" val="22234323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92014-60A5-4B11-9376-1E4CD36897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C4576D-67BF-413B-B5C4-63C4D5B981D1}"/>
              </a:ext>
            </a:extLst>
          </p:cNvPr>
          <p:cNvSpPr>
            <a:spLocks noGrp="1"/>
          </p:cNvSpPr>
          <p:nvPr>
            <p:ph idx="1"/>
          </p:nvPr>
        </p:nvSpPr>
        <p:spPr/>
        <p:txBody>
          <a:bodyPr/>
          <a:lstStyle/>
          <a:p>
            <a:pPr fontAlgn="base"/>
            <a:r>
              <a:rPr lang="en-US" dirty="0"/>
              <a:t>The requirements should be consistent with all the other requirements </a:t>
            </a:r>
            <a:r>
              <a:rPr lang="en-US" dirty="0" err="1"/>
              <a:t>i.e</a:t>
            </a:r>
            <a:r>
              <a:rPr lang="en-US" dirty="0"/>
              <a:t> no two requirements should conflict with each other.</a:t>
            </a:r>
          </a:p>
          <a:p>
            <a:pPr fontAlgn="base"/>
            <a:r>
              <a:rPr lang="en-US" dirty="0"/>
              <a:t>The requirements should be complete in every sense.</a:t>
            </a:r>
          </a:p>
          <a:p>
            <a:pPr fontAlgn="base"/>
            <a:r>
              <a:rPr lang="en-US" dirty="0"/>
              <a:t>The requirements should be practically achievable.</a:t>
            </a:r>
          </a:p>
          <a:p>
            <a:pPr fontAlgn="base"/>
            <a:r>
              <a:rPr lang="en-US" dirty="0"/>
              <a:t>Reviews, buddy checks, making test cases, etc. are some of the methods used for this.</a:t>
            </a:r>
          </a:p>
          <a:p>
            <a:endParaRPr lang="en-IN" dirty="0"/>
          </a:p>
        </p:txBody>
      </p:sp>
    </p:spTree>
    <p:extLst>
      <p:ext uri="{BB962C8B-B14F-4D97-AF65-F5344CB8AC3E}">
        <p14:creationId xmlns:p14="http://schemas.microsoft.com/office/powerpoint/2010/main" val="9011662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627CD-03B4-4C12-8C19-525DBECAC7EA}"/>
              </a:ext>
            </a:extLst>
          </p:cNvPr>
          <p:cNvSpPr>
            <a:spLocks noGrp="1"/>
          </p:cNvSpPr>
          <p:nvPr>
            <p:ph type="title"/>
          </p:nvPr>
        </p:nvSpPr>
        <p:spPr/>
        <p:txBody>
          <a:bodyPr/>
          <a:lstStyle/>
          <a:p>
            <a:r>
              <a:rPr lang="en-US" b="1" dirty="0"/>
              <a:t>Requirements management:</a:t>
            </a:r>
            <a:endParaRPr lang="en-IN" dirty="0"/>
          </a:p>
        </p:txBody>
      </p:sp>
      <p:sp>
        <p:nvSpPr>
          <p:cNvPr id="3" name="Content Placeholder 2">
            <a:extLst>
              <a:ext uri="{FF2B5EF4-FFF2-40B4-BE49-F238E27FC236}">
                <a16:creationId xmlns:a16="http://schemas.microsoft.com/office/drawing/2014/main" id="{D5DE7C68-5DC9-4A33-A58D-E5B9BC746165}"/>
              </a:ext>
            </a:extLst>
          </p:cNvPr>
          <p:cNvSpPr>
            <a:spLocks noGrp="1"/>
          </p:cNvSpPr>
          <p:nvPr>
            <p:ph idx="1"/>
          </p:nvPr>
        </p:nvSpPr>
        <p:spPr/>
        <p:txBody>
          <a:bodyPr/>
          <a:lstStyle/>
          <a:p>
            <a:r>
              <a:rPr lang="en-US" dirty="0"/>
              <a:t>Requirement management is the process of analyzing, documenting, tracking, prioritizing and agreeing on the requirement and controlling the communication to relevant stakeholders.</a:t>
            </a:r>
          </a:p>
          <a:p>
            <a:r>
              <a:rPr lang="en-US" dirty="0"/>
              <a:t> This stage takes care of the changing nature of requirements. It should be ensured that the SRS is as modifiable as possible so as to incorporate changes in requirements specified by the end users at later stages too. </a:t>
            </a:r>
          </a:p>
          <a:p>
            <a:r>
              <a:rPr lang="en-US" dirty="0"/>
              <a:t>Being able to modify the software as per requirements in a systematic and controlled manner is an extremely important part of the requirements engineering process.</a:t>
            </a:r>
            <a:endParaRPr lang="en-IN" dirty="0"/>
          </a:p>
        </p:txBody>
      </p:sp>
    </p:spTree>
    <p:extLst>
      <p:ext uri="{BB962C8B-B14F-4D97-AF65-F5344CB8AC3E}">
        <p14:creationId xmlns:p14="http://schemas.microsoft.com/office/powerpoint/2010/main" val="1679070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88B99-74CC-41D4-BBCA-9ACF3C57BE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206D62-932C-4E5E-BABF-85880A1AE8D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98825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830</Words>
  <Application>Microsoft Office PowerPoint</Application>
  <PresentationFormat>Widescreen</PresentationFormat>
  <Paragraphs>99</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PowerPoint Presentation</vt:lpstr>
      <vt:lpstr>PowerPoint Presentation</vt:lpstr>
      <vt:lpstr>PowerPoint Presentation</vt:lpstr>
      <vt:lpstr>User requirements :</vt:lpstr>
      <vt:lpstr>System Requirements</vt:lpstr>
      <vt:lpstr>Software specification :</vt:lpstr>
      <vt:lpstr>Functional vs Non Functional Requirements </vt:lpstr>
      <vt:lpstr>Functional Requirements:</vt:lpstr>
      <vt:lpstr>Non-functional requirements:</vt:lpstr>
      <vt:lpstr>They basically deal with issues like: </vt:lpstr>
      <vt:lpstr>PowerPoint Presentation</vt:lpstr>
      <vt:lpstr>Advantages of Non-Functional Requirement :</vt:lpstr>
      <vt:lpstr>Disadvantages of Non-functional requirement :</vt:lpstr>
      <vt:lpstr>Following are the differences between Functional and Non Functional Requirements</vt:lpstr>
      <vt:lpstr>Four Phases of Requirement Engineering </vt:lpstr>
      <vt:lpstr>PowerPoint Presentation</vt:lpstr>
      <vt:lpstr>Requirements Elicitation:</vt:lpstr>
      <vt:lpstr>Requirements specification:</vt:lpstr>
      <vt:lpstr>Requirements verification and validation:</vt:lpstr>
      <vt:lpstr>The main steps for this process include:</vt:lpstr>
      <vt:lpstr>PowerPoint Presentation</vt:lpstr>
      <vt:lpstr>Requirements management: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Soft</dc:creator>
  <cp:lastModifiedBy>Faculty</cp:lastModifiedBy>
  <cp:revision>4</cp:revision>
  <dcterms:created xsi:type="dcterms:W3CDTF">2022-12-20T07:01:28Z</dcterms:created>
  <dcterms:modified xsi:type="dcterms:W3CDTF">2022-12-20T10:19:46Z</dcterms:modified>
</cp:coreProperties>
</file>