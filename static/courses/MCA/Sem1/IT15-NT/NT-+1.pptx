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3"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7" r:id="rId30"/>
    <p:sldId id="288" r:id="rId31"/>
    <p:sldId id="289" r:id="rId32"/>
    <p:sldId id="29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5" d="100"/>
          <a:sy n="85" d="100"/>
        </p:scale>
        <p:origin x="-708" y="-12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C667588-0BC4-4171-8B4C-F06C58F0E034}" type="datetimeFigureOut">
              <a:rPr lang="en-US" smtClean="0"/>
              <a:t>9/2/2023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102959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667588-0BC4-4171-8B4C-F06C58F0E034}"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317679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667588-0BC4-4171-8B4C-F06C58F0E034}"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495542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C667588-0BC4-4171-8B4C-F06C58F0E034}" type="datetimeFigureOut">
              <a:rPr lang="en-US" smtClean="0"/>
              <a:t>9/2/2023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325837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667588-0BC4-4171-8B4C-F06C58F0E034}" type="datetimeFigureOut">
              <a:rPr lang="en-US" smtClean="0"/>
              <a:t>9/2/2023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1895379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C667588-0BC4-4171-8B4C-F06C58F0E034}" type="datetimeFigureOut">
              <a:rPr lang="en-US" smtClean="0"/>
              <a:t>9/2/2023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152138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67588-0BC4-4171-8B4C-F06C58F0E034}" type="datetimeFigureOut">
              <a:rPr lang="en-US" smtClean="0"/>
              <a:t>9/2/2023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873282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667588-0BC4-4171-8B4C-F06C58F0E034}" type="datetimeFigureOut">
              <a:rPr lang="en-US" smtClean="0"/>
              <a:t>9/2/2023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981057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667588-0BC4-4171-8B4C-F06C58F0E034}" type="datetimeFigureOut">
              <a:rPr lang="en-US" smtClean="0"/>
              <a:t>9/2/2023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654690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667588-0BC4-4171-8B4C-F06C58F0E034}" type="datetimeFigureOut">
              <a:rPr lang="en-US" smtClean="0"/>
              <a:t>9/2/2023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661870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667588-0BC4-4171-8B4C-F06C58F0E034}"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704917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667588-0BC4-4171-8B4C-F06C58F0E034}"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121568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667588-0BC4-4171-8B4C-F06C58F0E034}"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2134017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C667588-0BC4-4171-8B4C-F06C58F0E034}" type="datetimeFigureOut">
              <a:rPr lang="en-US" smtClean="0"/>
              <a:t>9/2/2023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4102156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C667588-0BC4-4171-8B4C-F06C58F0E034}" type="datetimeFigureOut">
              <a:rPr lang="en-US" smtClean="0"/>
              <a:t>9/2/2023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936424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C667588-0BC4-4171-8B4C-F06C58F0E034}"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14365824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C667588-0BC4-4171-8B4C-F06C58F0E034}" type="datetimeFigureOut">
              <a:rPr lang="en-US" smtClean="0"/>
              <a:t>9/2/2023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197FF55-5C5F-41AC-BE64-AC671D868D35}" type="slidenum">
              <a:rPr lang="en-US" smtClean="0"/>
              <a:t>‹#›</a:t>
            </a:fld>
            <a:endParaRPr lang="en-US"/>
          </a:p>
        </p:txBody>
      </p:sp>
    </p:spTree>
    <p:extLst>
      <p:ext uri="{BB962C8B-B14F-4D97-AF65-F5344CB8AC3E}">
        <p14:creationId xmlns:p14="http://schemas.microsoft.com/office/powerpoint/2010/main" val="3473545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C667588-0BC4-4171-8B4C-F06C58F0E034}" type="datetimeFigureOut">
              <a:rPr lang="en-US" smtClean="0"/>
              <a:t>9/2/2023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197FF55-5C5F-41AC-BE64-AC671D868D35}" type="slidenum">
              <a:rPr lang="en-US" smtClean="0"/>
              <a:t>‹#›</a:t>
            </a:fld>
            <a:endParaRPr lang="en-US"/>
          </a:p>
        </p:txBody>
      </p:sp>
    </p:spTree>
    <p:extLst>
      <p:ext uri="{BB962C8B-B14F-4D97-AF65-F5344CB8AC3E}">
        <p14:creationId xmlns:p14="http://schemas.microsoft.com/office/powerpoint/2010/main" val="41211415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7744" y="847493"/>
            <a:ext cx="9366636" cy="5330283"/>
          </a:xfrm>
        </p:spPr>
        <p:txBody>
          <a:bodyPr/>
          <a:lstStyle/>
          <a:p>
            <a:r>
              <a:rPr lang="en-IN" dirty="0" smtClean="0"/>
              <a:t/>
            </a:r>
            <a:br>
              <a:rPr lang="en-IN" dirty="0" smtClean="0"/>
            </a:br>
            <a:r>
              <a:rPr lang="en-IN" dirty="0" smtClean="0"/>
              <a:t> </a:t>
            </a:r>
            <a:br>
              <a:rPr lang="en-IN" dirty="0" smtClean="0"/>
            </a:br>
            <a:r>
              <a:rPr lang="en-IN" dirty="0" smtClean="0"/>
              <a:t/>
            </a:r>
            <a:br>
              <a:rPr lang="en-IN" dirty="0" smtClean="0"/>
            </a:br>
            <a:r>
              <a:rPr lang="en-IN" dirty="0" smtClean="0"/>
              <a:t> </a:t>
            </a:r>
            <a:r>
              <a:rPr lang="en-IN" dirty="0"/>
              <a:t/>
            </a:r>
            <a:br>
              <a:rPr lang="en-IN" dirty="0"/>
            </a:br>
            <a:r>
              <a:rPr lang="en-IN" dirty="0" smtClean="0"/>
              <a:t>     Course Code: </a:t>
            </a:r>
            <a:r>
              <a:rPr lang="en-IN" dirty="0"/>
              <a:t>IT-15</a:t>
            </a:r>
            <a:br>
              <a:rPr lang="en-IN" dirty="0"/>
            </a:br>
            <a:r>
              <a:rPr lang="en-IN" dirty="0" smtClean="0"/>
              <a:t>                              </a:t>
            </a:r>
            <a:r>
              <a:rPr lang="en-IN" dirty="0"/>
              <a:t/>
            </a:r>
            <a:br>
              <a:rPr lang="en-IN" dirty="0"/>
            </a:br>
            <a:r>
              <a:rPr lang="en-IN" dirty="0" smtClean="0"/>
              <a:t>   </a:t>
            </a:r>
            <a:r>
              <a:rPr lang="en-US" dirty="0" smtClean="0"/>
              <a:t>Network </a:t>
            </a:r>
            <a:r>
              <a:rPr lang="en-IN" dirty="0" smtClean="0"/>
              <a:t>Technologies</a:t>
            </a:r>
            <a:br>
              <a:rPr lang="en-IN" dirty="0" smtClean="0"/>
            </a:br>
            <a:r>
              <a:rPr lang="en-IN" dirty="0"/>
              <a:t/>
            </a:r>
            <a:br>
              <a:rPr lang="en-IN" dirty="0"/>
            </a:br>
            <a:endParaRPr lang="en-US" dirty="0"/>
          </a:p>
        </p:txBody>
      </p:sp>
    </p:spTree>
    <p:extLst>
      <p:ext uri="{BB962C8B-B14F-4D97-AF65-F5344CB8AC3E}">
        <p14:creationId xmlns:p14="http://schemas.microsoft.com/office/powerpoint/2010/main" val="1175682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Course Description</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2464" y="2328068"/>
            <a:ext cx="8911625" cy="1275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761999" y="4070184"/>
            <a:ext cx="10734907" cy="1938992"/>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Course Objectives: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1. To </a:t>
            </a:r>
            <a:r>
              <a:rPr lang="en-US" sz="2000" dirty="0">
                <a:latin typeface="Times New Roman" panose="02020603050405020304" pitchFamily="18" charset="0"/>
                <a:cs typeface="Times New Roman" panose="02020603050405020304" pitchFamily="18" charset="0"/>
              </a:rPr>
              <a:t>understand various computer networks and technologies behind networks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To study TCP/IP protocol suite, IP addressing schemes and link layer communication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To study routing concept along with Routing protocols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To study application layer protocols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5</a:t>
            </a:r>
            <a:r>
              <a:rPr lang="en-US" sz="2000" dirty="0">
                <a:latin typeface="Times New Roman" panose="02020603050405020304" pitchFamily="18" charset="0"/>
                <a:cs typeface="Times New Roman" panose="02020603050405020304" pitchFamily="18" charset="0"/>
              </a:rPr>
              <a:t>. To understand basics of cryptography and socket programming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888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Course Outcomes</a:t>
            </a:r>
            <a:endParaRPr lang="en-US" dirty="0"/>
          </a:p>
        </p:txBody>
      </p:sp>
      <p:sp>
        <p:nvSpPr>
          <p:cNvPr id="3" name="Content Placeholder 2"/>
          <p:cNvSpPr>
            <a:spLocks noGrp="1"/>
          </p:cNvSpPr>
          <p:nvPr>
            <p:ph idx="1"/>
          </p:nvPr>
        </p:nvSpPr>
        <p:spPr/>
        <p:txBody>
          <a:bodyPr/>
          <a:lstStyle/>
          <a:p>
            <a:pPr marL="0" indent="0">
              <a:buNone/>
            </a:pPr>
            <a:endParaRPr lang="en-US" b="1" dirty="0"/>
          </a:p>
          <a:p>
            <a:endParaRPr lang="en-US" dirty="0"/>
          </a:p>
        </p:txBody>
      </p:sp>
      <p:sp>
        <p:nvSpPr>
          <p:cNvPr id="4" name="Rectangle 3"/>
          <p:cNvSpPr/>
          <p:nvPr/>
        </p:nvSpPr>
        <p:spPr>
          <a:xfrm>
            <a:off x="167268" y="2649295"/>
            <a:ext cx="11920654" cy="3170099"/>
          </a:xfrm>
          <a:prstGeom prst="rect">
            <a:avLst/>
          </a:prstGeom>
        </p:spPr>
        <p:txBody>
          <a:bodyPr wrap="square">
            <a:spAutoFit/>
          </a:bodyPr>
          <a:lstStyle/>
          <a:p>
            <a:pPr>
              <a:lnSpc>
                <a:spcPct val="200000"/>
              </a:lnSpc>
            </a:pPr>
            <a:r>
              <a:rPr lang="en-US" sz="2000" dirty="0">
                <a:latin typeface="Times New Roman" panose="02020603050405020304" pitchFamily="18" charset="0"/>
                <a:cs typeface="Times New Roman" panose="02020603050405020304" pitchFamily="18" charset="0"/>
              </a:rPr>
              <a:t>CO1: Understand the basic concepts of Computer Network, and principle of layering (Understand) </a:t>
            </a:r>
            <a:endParaRPr lang="en-US" sz="2000" dirty="0" smtClean="0">
              <a:latin typeface="Times New Roman" panose="02020603050405020304" pitchFamily="18" charset="0"/>
              <a:cs typeface="Times New Roman" panose="02020603050405020304" pitchFamily="18" charset="0"/>
            </a:endParaRPr>
          </a:p>
          <a:p>
            <a:pPr>
              <a:lnSpc>
                <a:spcPct val="200000"/>
              </a:lnSpc>
            </a:pPr>
            <a:r>
              <a:rPr lang="en-US" sz="2000" dirty="0" smtClean="0">
                <a:latin typeface="Times New Roman" panose="02020603050405020304" pitchFamily="18" charset="0"/>
                <a:cs typeface="Times New Roman" panose="02020603050405020304" pitchFamily="18" charset="0"/>
              </a:rPr>
              <a:t>CO2</a:t>
            </a:r>
            <a:r>
              <a:rPr lang="en-US" sz="2000" dirty="0">
                <a:latin typeface="Times New Roman" panose="02020603050405020304" pitchFamily="18" charset="0"/>
                <a:cs typeface="Times New Roman" panose="02020603050405020304" pitchFamily="18" charset="0"/>
              </a:rPr>
              <a:t>: Apply the error detection and correction techniques used in data transmission (Apply) </a:t>
            </a:r>
            <a:endParaRPr lang="en-US" sz="2000" dirty="0" smtClean="0">
              <a:latin typeface="Times New Roman" panose="02020603050405020304" pitchFamily="18" charset="0"/>
              <a:cs typeface="Times New Roman" panose="02020603050405020304" pitchFamily="18" charset="0"/>
            </a:endParaRPr>
          </a:p>
          <a:p>
            <a:pPr>
              <a:lnSpc>
                <a:spcPct val="200000"/>
              </a:lnSpc>
            </a:pPr>
            <a:r>
              <a:rPr lang="en-US" sz="2000" dirty="0" smtClean="0">
                <a:latin typeface="Times New Roman" panose="02020603050405020304" pitchFamily="18" charset="0"/>
                <a:cs typeface="Times New Roman" panose="02020603050405020304" pitchFamily="18" charset="0"/>
              </a:rPr>
              <a:t>CO3</a:t>
            </a:r>
            <a:r>
              <a:rPr lang="en-US" sz="2000" dirty="0">
                <a:latin typeface="Times New Roman" panose="02020603050405020304" pitchFamily="18" charset="0"/>
                <a:cs typeface="Times New Roman" panose="02020603050405020304" pitchFamily="18" charset="0"/>
              </a:rPr>
              <a:t>: Apply IP addressing schemes and sub netting (Apply</a:t>
            </a:r>
            <a:r>
              <a:rPr lang="en-US" sz="2000" dirty="0" smtClean="0">
                <a:latin typeface="Times New Roman" panose="02020603050405020304" pitchFamily="18" charset="0"/>
                <a:cs typeface="Times New Roman" panose="02020603050405020304" pitchFamily="18" charset="0"/>
              </a:rPr>
              <a:t>)</a:t>
            </a:r>
          </a:p>
          <a:p>
            <a:pPr>
              <a:lnSpc>
                <a:spcPct val="20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CO4: Understand the concept of routing protocols, Application layer protocols and Network Security (Understand) CO5: Apply the socket programming basics to create a simple chat application (Apply)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0302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7785" y="1070517"/>
            <a:ext cx="9400477" cy="45273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36878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561" y="635620"/>
            <a:ext cx="10337179" cy="1045012"/>
          </a:xfrm>
        </p:spPr>
        <p:txBody>
          <a:bodyPr/>
          <a:lstStyle/>
          <a:p>
            <a:r>
              <a:rPr lang="en-US" dirty="0"/>
              <a:t>1. Introduction to Data Communication and Computer Networks</a:t>
            </a:r>
          </a:p>
        </p:txBody>
      </p:sp>
      <p:sp>
        <p:nvSpPr>
          <p:cNvPr id="3" name="Content Placeholder 2"/>
          <p:cNvSpPr>
            <a:spLocks noGrp="1"/>
          </p:cNvSpPr>
          <p:nvPr>
            <p:ph idx="1"/>
          </p:nvPr>
        </p:nvSpPr>
        <p:spPr>
          <a:xfrm>
            <a:off x="226906" y="2453375"/>
            <a:ext cx="11716049" cy="4138494"/>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1.2 DATA </a:t>
            </a:r>
            <a:r>
              <a:rPr lang="en-US" b="1" dirty="0" smtClean="0">
                <a:latin typeface="Times New Roman" panose="02020603050405020304" pitchFamily="18" charset="0"/>
                <a:cs typeface="Times New Roman" panose="02020603050405020304" pitchFamily="18" charset="0"/>
              </a:rPr>
              <a:t>and  INFORMATION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 refers to the raw facts that are collected while information refers </a:t>
            </a:r>
            <a:r>
              <a:rPr lang="en-US" dirty="0" smtClean="0">
                <a:latin typeface="Times New Roman" panose="02020603050405020304" pitchFamily="18" charset="0"/>
                <a:cs typeface="Times New Roman" panose="02020603050405020304" pitchFamily="18" charset="0"/>
              </a:rPr>
              <a:t>to   processed </a:t>
            </a:r>
            <a:r>
              <a:rPr lang="en-US" dirty="0">
                <a:latin typeface="Times New Roman" panose="02020603050405020304" pitchFamily="18" charset="0"/>
                <a:cs typeface="Times New Roman" panose="02020603050405020304" pitchFamily="18" charset="0"/>
              </a:rPr>
              <a:t>data that enables us to take decisions</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word data refers to any information which is presented in a form that </a:t>
            </a:r>
            <a:r>
              <a:rPr lang="en-US" dirty="0" smtClean="0">
                <a:latin typeface="Times New Roman" panose="02020603050405020304" pitchFamily="18" charset="0"/>
                <a:cs typeface="Times New Roman" panose="02020603050405020304" pitchFamily="18" charset="0"/>
              </a:rPr>
              <a:t>is agreed </a:t>
            </a:r>
            <a:r>
              <a:rPr lang="en-US" dirty="0">
                <a:latin typeface="Times New Roman" panose="02020603050405020304" pitchFamily="18" charset="0"/>
                <a:cs typeface="Times New Roman" panose="02020603050405020304" pitchFamily="18" charset="0"/>
              </a:rPr>
              <a:t>and accepted upon by is creators and users.</a:t>
            </a:r>
          </a:p>
        </p:txBody>
      </p:sp>
    </p:spTree>
    <p:extLst>
      <p:ext uri="{BB962C8B-B14F-4D97-AF65-F5344CB8AC3E}">
        <p14:creationId xmlns:p14="http://schemas.microsoft.com/office/powerpoint/2010/main" val="3397832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COMMUNICATION</a:t>
            </a:r>
          </a:p>
        </p:txBody>
      </p:sp>
      <p:sp>
        <p:nvSpPr>
          <p:cNvPr id="3" name="Content Placeholder 2"/>
          <p:cNvSpPr>
            <a:spLocks noGrp="1"/>
          </p:cNvSpPr>
          <p:nvPr>
            <p:ph idx="1"/>
          </p:nvPr>
        </p:nvSpPr>
        <p:spPr>
          <a:xfrm>
            <a:off x="404327" y="2562557"/>
            <a:ext cx="11527478" cy="3849394"/>
          </a:xfrm>
        </p:spPr>
        <p:txBody>
          <a:bodyPr>
            <a:noAutofit/>
          </a:bodyPr>
          <a:lstStyle/>
          <a:p>
            <a:pPr marL="0" indent="0">
              <a:lnSpc>
                <a:spcPct val="200000"/>
              </a:lnSpc>
              <a:buNone/>
            </a:pPr>
            <a:r>
              <a:rPr lang="en-US" dirty="0">
                <a:latin typeface="Times New Roman" panose="02020603050405020304" pitchFamily="18" charset="0"/>
                <a:cs typeface="Times New Roman" panose="02020603050405020304" pitchFamily="18" charset="0"/>
              </a:rPr>
              <a:t>Data Communication is a process of exchanging data or </a:t>
            </a:r>
            <a:r>
              <a:rPr lang="en-US" dirty="0" smtClean="0">
                <a:latin typeface="Times New Roman" panose="02020603050405020304" pitchFamily="18" charset="0"/>
                <a:cs typeface="Times New Roman" panose="02020603050405020304" pitchFamily="18" charset="0"/>
              </a:rPr>
              <a:t>information .</a:t>
            </a:r>
          </a:p>
          <a:p>
            <a:pPr marL="0" indent="0">
              <a:lnSpc>
                <a:spcPct val="200000"/>
              </a:lnSpc>
              <a:buNone/>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case of computer networks this exchange is done between two devices over </a:t>
            </a:r>
            <a:r>
              <a:rPr lang="en-US" dirty="0" smtClean="0">
                <a:latin typeface="Times New Roman" panose="02020603050405020304" pitchFamily="18" charset="0"/>
                <a:cs typeface="Times New Roman" panose="02020603050405020304" pitchFamily="18" charset="0"/>
              </a:rPr>
              <a:t>a transmission </a:t>
            </a:r>
            <a:r>
              <a:rPr lang="en-US" dirty="0">
                <a:latin typeface="Times New Roman" panose="02020603050405020304" pitchFamily="18" charset="0"/>
                <a:cs typeface="Times New Roman" panose="02020603050405020304" pitchFamily="18" charset="0"/>
              </a:rPr>
              <a:t>medium.</a:t>
            </a:r>
          </a:p>
          <a:p>
            <a:pPr marL="0" indent="0">
              <a:lnSpc>
                <a:spcPct val="200000"/>
              </a:lnSpc>
              <a:buNone/>
            </a:pPr>
            <a:r>
              <a:rPr lang="en-US" dirty="0">
                <a:latin typeface="Times New Roman" panose="02020603050405020304" pitchFamily="18" charset="0"/>
                <a:cs typeface="Times New Roman" panose="02020603050405020304" pitchFamily="18" charset="0"/>
              </a:rPr>
              <a:t>This process involves a communication system which is made up of </a:t>
            </a:r>
            <a:r>
              <a:rPr lang="en-US" dirty="0" smtClean="0">
                <a:latin typeface="Times New Roman" panose="02020603050405020304" pitchFamily="18" charset="0"/>
                <a:cs typeface="Times New Roman" panose="02020603050405020304" pitchFamily="18" charset="0"/>
              </a:rPr>
              <a:t>hardware and </a:t>
            </a:r>
            <a:r>
              <a:rPr lang="en-US" dirty="0">
                <a:latin typeface="Times New Roman" panose="02020603050405020304" pitchFamily="18" charset="0"/>
                <a:cs typeface="Times New Roman" panose="02020603050405020304" pitchFamily="18" charset="0"/>
              </a:rPr>
              <a:t>software. </a:t>
            </a:r>
            <a:endParaRPr lang="en-US" dirty="0" smtClean="0">
              <a:latin typeface="Times New Roman" panose="02020603050405020304" pitchFamily="18" charset="0"/>
              <a:cs typeface="Times New Roman" panose="02020603050405020304" pitchFamily="18" charset="0"/>
            </a:endParaRPr>
          </a:p>
          <a:p>
            <a:pPr marL="0" indent="0">
              <a:lnSpc>
                <a:spcPct val="200000"/>
              </a:lnSpc>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hardware part involves the sender and receiver devices </a:t>
            </a:r>
            <a:r>
              <a:rPr lang="en-US" dirty="0" smtClean="0">
                <a:latin typeface="Times New Roman" panose="02020603050405020304" pitchFamily="18" charset="0"/>
                <a:cs typeface="Times New Roman" panose="02020603050405020304" pitchFamily="18" charset="0"/>
              </a:rPr>
              <a:t>and the </a:t>
            </a:r>
            <a:r>
              <a:rPr lang="en-US" dirty="0">
                <a:latin typeface="Times New Roman" panose="02020603050405020304" pitchFamily="18" charset="0"/>
                <a:cs typeface="Times New Roman" panose="02020603050405020304" pitchFamily="18" charset="0"/>
              </a:rPr>
              <a:t>intermediate devices through which the data passes</a:t>
            </a:r>
            <a:r>
              <a:rPr lang="en-US" dirty="0" smtClean="0">
                <a:latin typeface="Times New Roman" panose="02020603050405020304" pitchFamily="18" charset="0"/>
                <a:cs typeface="Times New Roman" panose="02020603050405020304" pitchFamily="18" charset="0"/>
              </a:rPr>
              <a:t>.</a:t>
            </a:r>
          </a:p>
          <a:p>
            <a:pPr marL="0" indent="0">
              <a:lnSpc>
                <a:spcPct val="200000"/>
              </a:lnSpc>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software </a:t>
            </a:r>
            <a:r>
              <a:rPr lang="en-US" dirty="0" smtClean="0">
                <a:latin typeface="Times New Roman" panose="02020603050405020304" pitchFamily="18" charset="0"/>
                <a:cs typeface="Times New Roman" panose="02020603050405020304" pitchFamily="18" charset="0"/>
              </a:rPr>
              <a:t>part involves </a:t>
            </a:r>
            <a:r>
              <a:rPr lang="en-US" dirty="0">
                <a:latin typeface="Times New Roman" panose="02020603050405020304" pitchFamily="18" charset="0"/>
                <a:cs typeface="Times New Roman" panose="02020603050405020304" pitchFamily="18" charset="0"/>
              </a:rPr>
              <a:t>certain rules which specify what is to be communicated, how it is </a:t>
            </a:r>
            <a:r>
              <a:rPr lang="en-US" dirty="0" smtClean="0">
                <a:latin typeface="Times New Roman" panose="02020603050405020304" pitchFamily="18" charset="0"/>
                <a:cs typeface="Times New Roman" panose="02020603050405020304" pitchFamily="18" charset="0"/>
              </a:rPr>
              <a:t>to be </a:t>
            </a:r>
            <a:r>
              <a:rPr lang="en-US" dirty="0">
                <a:latin typeface="Times New Roman" panose="02020603050405020304" pitchFamily="18" charset="0"/>
                <a:cs typeface="Times New Roman" panose="02020603050405020304" pitchFamily="18" charset="0"/>
              </a:rPr>
              <a:t>communicated and when.</a:t>
            </a:r>
          </a:p>
        </p:txBody>
      </p:sp>
    </p:spTree>
    <p:extLst>
      <p:ext uri="{BB962C8B-B14F-4D97-AF65-F5344CB8AC3E}">
        <p14:creationId xmlns:p14="http://schemas.microsoft.com/office/powerpoint/2010/main" val="3715930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Components</a:t>
            </a:r>
            <a:endParaRPr lang="en-US"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820" y="2619375"/>
            <a:ext cx="8070230" cy="3112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9293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Flow</a:t>
            </a:r>
            <a:endParaRPr 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17649" y="2921620"/>
            <a:ext cx="8564136" cy="34568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304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248" y="568712"/>
            <a:ext cx="10270273" cy="1111920"/>
          </a:xfrm>
        </p:spPr>
        <p:txBody>
          <a:bodyPr/>
          <a:lstStyle/>
          <a:p>
            <a:r>
              <a:rPr lang="en-IN" dirty="0"/>
              <a:t>Computer </a:t>
            </a:r>
            <a:r>
              <a:rPr lang="en-IN" dirty="0" smtClean="0"/>
              <a:t>Network  and </a:t>
            </a:r>
            <a:r>
              <a:rPr lang="en-IN" dirty="0"/>
              <a:t>Network Criteria</a:t>
            </a:r>
            <a:r>
              <a:rPr lang="en-IN" b="1" dirty="0"/>
              <a:t/>
            </a:r>
            <a:br>
              <a:rPr lang="en-IN" b="1" dirty="0"/>
            </a:br>
            <a:endParaRPr lang="en-US" dirty="0"/>
          </a:p>
        </p:txBody>
      </p:sp>
      <p:sp>
        <p:nvSpPr>
          <p:cNvPr id="3" name="Content Placeholder 2"/>
          <p:cNvSpPr>
            <a:spLocks noGrp="1"/>
          </p:cNvSpPr>
          <p:nvPr>
            <p:ph idx="1"/>
          </p:nvPr>
        </p:nvSpPr>
        <p:spPr>
          <a:xfrm>
            <a:off x="259308" y="2319454"/>
            <a:ext cx="11518710" cy="3850471"/>
          </a:xfrm>
        </p:spPr>
        <p:txBody>
          <a:bodyPr>
            <a:noAutofit/>
          </a:bodyPr>
          <a:lstStyle/>
          <a:p>
            <a:pPr marL="0" indent="0" algn="just">
              <a:buNone/>
            </a:pPr>
            <a:r>
              <a:rPr lang="en-US" sz="2000" dirty="0">
                <a:latin typeface="Times New Roman" panose="02020603050405020304" pitchFamily="18" charset="0"/>
                <a:cs typeface="Times New Roman" panose="02020603050405020304" pitchFamily="18" charset="0"/>
              </a:rPr>
              <a:t>A group of computers which are connected to each other and follow similar usage protocols for the purpose of sharing information and having communications provided by the networking nodes is called a Computer Network</a:t>
            </a:r>
            <a:endParaRPr lang="en-US" sz="2000" dirty="0" smtClean="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network must be able to meet a certain number of </a:t>
            </a:r>
            <a:r>
              <a:rPr lang="en-US" sz="2000" dirty="0" smtClean="0">
                <a:latin typeface="Times New Roman" panose="02020603050405020304" pitchFamily="18" charset="0"/>
                <a:cs typeface="Times New Roman" panose="02020603050405020304" pitchFamily="18" charset="0"/>
              </a:rPr>
              <a:t>criteria</a:t>
            </a:r>
          </a:p>
          <a:p>
            <a:pPr algn="just"/>
            <a:r>
              <a:rPr lang="en-IN" sz="2000" dirty="0" smtClean="0">
                <a:latin typeface="Times New Roman" panose="02020603050405020304" pitchFamily="18" charset="0"/>
                <a:cs typeface="Times New Roman" panose="02020603050405020304" pitchFamily="18" charset="0"/>
              </a:rPr>
              <a:t>Performance</a:t>
            </a:r>
          </a:p>
          <a:p>
            <a:pPr algn="just"/>
            <a:r>
              <a:rPr lang="en-IN" sz="2000" dirty="0" smtClean="0">
                <a:latin typeface="Times New Roman" panose="02020603050405020304" pitchFamily="18" charset="0"/>
                <a:cs typeface="Times New Roman" panose="02020603050405020304" pitchFamily="18" charset="0"/>
              </a:rPr>
              <a:t>Reliability</a:t>
            </a:r>
          </a:p>
          <a:p>
            <a:pPr algn="just"/>
            <a:r>
              <a:rPr lang="en-IN" sz="2000" dirty="0" smtClean="0">
                <a:latin typeface="Times New Roman" panose="02020603050405020304" pitchFamily="18" charset="0"/>
                <a:cs typeface="Times New Roman" panose="02020603050405020304" pitchFamily="18" charset="0"/>
              </a:rPr>
              <a:t>Security</a:t>
            </a:r>
            <a:endParaRPr lang="en-US" sz="20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610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Physical Structures</a:t>
            </a:r>
            <a:endParaRPr lang="en-US" dirty="0"/>
          </a:p>
        </p:txBody>
      </p:sp>
      <p:sp>
        <p:nvSpPr>
          <p:cNvPr id="3" name="Content Placeholder 2"/>
          <p:cNvSpPr>
            <a:spLocks noGrp="1"/>
          </p:cNvSpPr>
          <p:nvPr>
            <p:ph idx="1"/>
          </p:nvPr>
        </p:nvSpPr>
        <p:spPr>
          <a:xfrm>
            <a:off x="417975" y="2289602"/>
            <a:ext cx="3607615" cy="3416300"/>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Type of </a:t>
            </a:r>
            <a:r>
              <a:rPr lang="en-IN" sz="2000" dirty="0" smtClean="0">
                <a:latin typeface="Times New Roman" panose="02020603050405020304" pitchFamily="18" charset="0"/>
                <a:cs typeface="Times New Roman" panose="02020603050405020304" pitchFamily="18" charset="0"/>
              </a:rPr>
              <a:t>Connection</a:t>
            </a:r>
          </a:p>
          <a:p>
            <a:pPr marL="0" indent="0">
              <a:buNone/>
            </a:pPr>
            <a:endParaRPr lang="en-US" sz="2000" dirty="0">
              <a:solidFill>
                <a:srgbClr val="002060"/>
              </a:solidFill>
              <a:latin typeface="Times New Roman" panose="02020603050405020304" pitchFamily="18" charset="0"/>
              <a:cs typeface="Times New Roman" panose="02020603050405020304" pitchFamily="18" charset="0"/>
            </a:endParaRPr>
          </a:p>
          <a:p>
            <a:pPr marL="0" indent="0">
              <a:buNone/>
            </a:pPr>
            <a:r>
              <a:rPr lang="en-IN" sz="2000" dirty="0" smtClean="0">
                <a:latin typeface="Times New Roman" panose="02020603050405020304" pitchFamily="18" charset="0"/>
                <a:cs typeface="Times New Roman" panose="02020603050405020304" pitchFamily="18" charset="0"/>
              </a:rPr>
              <a:t>Point-to-Point                 </a:t>
            </a:r>
          </a:p>
          <a:p>
            <a:pPr marL="0" indent="0">
              <a:buNone/>
            </a:pPr>
            <a:endParaRPr lang="en-US" sz="2000" dirty="0">
              <a:solidFill>
                <a:srgbClr val="002060"/>
              </a:solidFill>
              <a:latin typeface="Times New Roman" panose="02020603050405020304" pitchFamily="18" charset="0"/>
              <a:cs typeface="Times New Roman" panose="02020603050405020304" pitchFamily="18" charset="0"/>
            </a:endParaRPr>
          </a:p>
          <a:p>
            <a:pPr marL="0" indent="0">
              <a:buNone/>
            </a:pPr>
            <a:endParaRPr lang="en-IN" sz="2000" dirty="0" smtClean="0">
              <a:latin typeface="Times New Roman" panose="02020603050405020304" pitchFamily="18" charset="0"/>
              <a:cs typeface="Times New Roman" panose="02020603050405020304" pitchFamily="18" charset="0"/>
            </a:endParaRPr>
          </a:p>
          <a:p>
            <a:pPr marL="0" indent="0">
              <a:buNone/>
            </a:pPr>
            <a:r>
              <a:rPr lang="en-IN" sz="2000" dirty="0" smtClean="0">
                <a:latin typeface="Times New Roman" panose="02020603050405020304" pitchFamily="18" charset="0"/>
                <a:cs typeface="Times New Roman" panose="02020603050405020304" pitchFamily="18" charset="0"/>
              </a:rPr>
              <a:t>Multipoint                  </a:t>
            </a:r>
            <a:endParaRPr lang="en-US" sz="2000" dirty="0">
              <a:solidFill>
                <a:srgbClr val="002060"/>
              </a:solidFill>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615" y="2957513"/>
            <a:ext cx="6124575" cy="94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676" y="4489294"/>
            <a:ext cx="6019800" cy="186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4782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764275"/>
            <a:ext cx="9585834" cy="916357"/>
          </a:xfrm>
        </p:spPr>
        <p:txBody>
          <a:bodyPr/>
          <a:lstStyle/>
          <a:p>
            <a:r>
              <a:rPr lang="en-IN" dirty="0"/>
              <a:t>Physical Topology</a:t>
            </a:r>
            <a:endParaRPr lang="en-US"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83428" y="2998401"/>
            <a:ext cx="7806260" cy="26775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1798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MESH</a:t>
            </a: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873" y="2839379"/>
            <a:ext cx="5385110" cy="25132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177776" y="2676293"/>
            <a:ext cx="5754029" cy="317009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Advantages of a mesh topology </a:t>
            </a:r>
            <a:endParaRPr lang="en-US" sz="2000" b="1" dirty="0" smtClean="0">
              <a:latin typeface="Times New Roman" panose="02020603050405020304" pitchFamily="18" charset="0"/>
              <a:cs typeface="Times New Roman" panose="02020603050405020304" pitchFamily="18" charset="0"/>
            </a:endParaRPr>
          </a:p>
          <a:p>
            <a:pPr>
              <a:lnSpc>
                <a:spcPct val="150000"/>
              </a:lnSpc>
            </a:pPr>
            <a:r>
              <a:rPr lang="en-US" sz="2000" dirty="0" smtClean="0">
                <a:latin typeface="Times New Roman" panose="02020603050405020304" pitchFamily="18" charset="0"/>
                <a:cs typeface="Times New Roman" panose="02020603050405020304" pitchFamily="18" charset="0"/>
              </a:rPr>
              <a:t>1.Can </a:t>
            </a:r>
            <a:r>
              <a:rPr lang="en-US" sz="2000" dirty="0">
                <a:latin typeface="Times New Roman" panose="02020603050405020304" pitchFamily="18" charset="0"/>
                <a:cs typeface="Times New Roman" panose="02020603050405020304" pitchFamily="18" charset="0"/>
              </a:rPr>
              <a:t>handle high amounts of traffic, because multiple devices can transmit data simultaneously. </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dirty="0" smtClean="0">
                <a:latin typeface="Times New Roman" panose="02020603050405020304" pitchFamily="18" charset="0"/>
                <a:cs typeface="Times New Roman" panose="02020603050405020304" pitchFamily="18" charset="0"/>
              </a:rPr>
              <a:t>2.A </a:t>
            </a:r>
            <a:r>
              <a:rPr lang="en-US" sz="2000" dirty="0">
                <a:latin typeface="Times New Roman" panose="02020603050405020304" pitchFamily="18" charset="0"/>
                <a:cs typeface="Times New Roman" panose="02020603050405020304" pitchFamily="18" charset="0"/>
              </a:rPr>
              <a:t>failure of one device does not cause a break in the network or transmission of </a:t>
            </a:r>
            <a:r>
              <a:rPr lang="en-US" sz="2000" dirty="0" smtClean="0">
                <a:latin typeface="Times New Roman" panose="02020603050405020304" pitchFamily="18" charset="0"/>
                <a:cs typeface="Times New Roman" panose="02020603050405020304" pitchFamily="18" charset="0"/>
              </a:rPr>
              <a:t>data.</a:t>
            </a:r>
          </a:p>
          <a:p>
            <a:pPr>
              <a:lnSpc>
                <a:spcPct val="150000"/>
              </a:lnSpc>
            </a:pPr>
            <a:r>
              <a:rPr lang="en-US" sz="2000" dirty="0" smtClean="0">
                <a:latin typeface="Times New Roman" panose="02020603050405020304" pitchFamily="18" charset="0"/>
                <a:cs typeface="Times New Roman" panose="02020603050405020304" pitchFamily="18" charset="0"/>
              </a:rPr>
              <a:t>3. Adding </a:t>
            </a:r>
            <a:r>
              <a:rPr lang="en-US" sz="2000" dirty="0">
                <a:latin typeface="Times New Roman" panose="02020603050405020304" pitchFamily="18" charset="0"/>
                <a:cs typeface="Times New Roman" panose="02020603050405020304" pitchFamily="18" charset="0"/>
              </a:rPr>
              <a:t>additional devices does not disrupt data transmission between other devices</a:t>
            </a:r>
            <a:r>
              <a:rPr lang="en-US" dirty="0"/>
              <a:t>.</a:t>
            </a:r>
            <a:endParaRPr lang="en-IN" dirty="0"/>
          </a:p>
        </p:txBody>
      </p:sp>
    </p:spTree>
    <p:extLst>
      <p:ext uri="{BB962C8B-B14F-4D97-AF65-F5344CB8AC3E}">
        <p14:creationId xmlns:p14="http://schemas.microsoft.com/office/powerpoint/2010/main" val="3607213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2" y="850838"/>
            <a:ext cx="8761413" cy="706964"/>
          </a:xfrm>
        </p:spPr>
        <p:txBody>
          <a:bodyPr/>
          <a:lstStyle/>
          <a:p>
            <a:r>
              <a:rPr lang="en-US" dirty="0"/>
              <a:t>Identifying and describing relations and functions</a:t>
            </a:r>
          </a:p>
        </p:txBody>
      </p:sp>
      <p:sp>
        <p:nvSpPr>
          <p:cNvPr id="4" name="Content Placeholder 3"/>
          <p:cNvSpPr>
            <a:spLocks noGrp="1"/>
          </p:cNvSpPr>
          <p:nvPr>
            <p:ph idx="1"/>
          </p:nvPr>
        </p:nvSpPr>
        <p:spPr>
          <a:xfrm>
            <a:off x="4482790" y="2603500"/>
            <a:ext cx="7471317" cy="3416300"/>
          </a:xfrm>
        </p:spPr>
        <p:txBody>
          <a:bodyPr>
            <a:normAutofit/>
          </a:bodyPr>
          <a:lstStyle/>
          <a:p>
            <a:pPr marL="0" indent="0" defTabSz="914400">
              <a:buNone/>
            </a:pPr>
            <a:r>
              <a:rPr lang="en-US" sz="2000" b="1" dirty="0">
                <a:solidFill>
                  <a:schemeClr val="tx1"/>
                </a:solidFill>
                <a:latin typeface="Times New Roman" panose="02020603050405020304" pitchFamily="18" charset="0"/>
                <a:cs typeface="Times New Roman" panose="02020603050405020304" pitchFamily="18" charset="0"/>
              </a:rPr>
              <a:t>Advantages of star topology </a:t>
            </a:r>
          </a:p>
          <a:p>
            <a:pPr marL="0" defTabSz="914400"/>
            <a:r>
              <a:rPr lang="en-US" sz="2000" dirty="0">
                <a:solidFill>
                  <a:schemeClr val="tx1"/>
                </a:solidFill>
                <a:latin typeface="Times New Roman" panose="02020603050405020304" pitchFamily="18" charset="0"/>
                <a:cs typeface="Times New Roman" panose="02020603050405020304" pitchFamily="18" charset="0"/>
              </a:rPr>
              <a:t>Centralized management of the network, through the use of the central computer, hub, or switch. </a:t>
            </a:r>
          </a:p>
          <a:p>
            <a:pPr marL="0" defTabSz="914400"/>
            <a:r>
              <a:rPr lang="en-US" sz="2000" dirty="0">
                <a:solidFill>
                  <a:schemeClr val="tx1"/>
                </a:solidFill>
                <a:latin typeface="Times New Roman" panose="02020603050405020304" pitchFamily="18" charset="0"/>
                <a:cs typeface="Times New Roman" panose="02020603050405020304" pitchFamily="18" charset="0"/>
              </a:rPr>
              <a:t>Easy to add another computer to the network. </a:t>
            </a:r>
          </a:p>
          <a:p>
            <a:pPr marL="0" indent="0" defTabSz="914400">
              <a:buNone/>
            </a:pPr>
            <a:r>
              <a:rPr lang="en-US" sz="2000" dirty="0">
                <a:solidFill>
                  <a:schemeClr val="tx1"/>
                </a:solidFill>
                <a:latin typeface="Times New Roman" panose="02020603050405020304" pitchFamily="18" charset="0"/>
                <a:cs typeface="Times New Roman" panose="02020603050405020304" pitchFamily="18" charset="0"/>
              </a:rPr>
              <a:t>   If one computer on the network fails, the rest of the network </a:t>
            </a:r>
          </a:p>
          <a:p>
            <a:pPr marL="0" indent="0" defTabSz="914400">
              <a:buNone/>
            </a:pPr>
            <a:r>
              <a:rPr lang="en-US" sz="2000" dirty="0">
                <a:solidFill>
                  <a:schemeClr val="tx1"/>
                </a:solidFill>
                <a:latin typeface="Times New Roman" panose="02020603050405020304" pitchFamily="18" charset="0"/>
                <a:cs typeface="Times New Roman" panose="02020603050405020304" pitchFamily="18" charset="0"/>
              </a:rPr>
              <a:t>    continues to function normally. </a:t>
            </a:r>
          </a:p>
          <a:p>
            <a:pPr marL="0" defTabSz="914400"/>
            <a:r>
              <a:rPr lang="en-US" sz="2000" dirty="0">
                <a:solidFill>
                  <a:schemeClr val="tx1"/>
                </a:solidFill>
                <a:latin typeface="Times New Roman" panose="02020603050405020304" pitchFamily="18" charset="0"/>
                <a:cs typeface="Times New Roman" panose="02020603050405020304" pitchFamily="18" charset="0"/>
              </a:rPr>
              <a:t>The star topology is used in local-area networks (LANs), High-speed LANs often use a star topology with a central hub.</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479" y="2747962"/>
            <a:ext cx="3962400"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772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BUS</a:t>
            </a:r>
            <a:endParaRPr lang="en-US" dirty="0"/>
          </a:p>
        </p:txBody>
      </p:sp>
      <p:sp>
        <p:nvSpPr>
          <p:cNvPr id="3" name="Content Placeholder 2"/>
          <p:cNvSpPr>
            <a:spLocks noGrp="1"/>
          </p:cNvSpPr>
          <p:nvPr>
            <p:ph idx="1"/>
          </p:nvPr>
        </p:nvSpPr>
        <p:spPr>
          <a:xfrm>
            <a:off x="5742879" y="2644444"/>
            <a:ext cx="5707594" cy="3416300"/>
          </a:xfrm>
        </p:spPr>
        <p:txBody>
          <a:bodyPr>
            <a:normAutofit/>
          </a:bodyPr>
          <a:lstStyle/>
          <a:p>
            <a:pPr marL="0" indent="0" defTabSz="914400">
              <a:buNone/>
            </a:pPr>
            <a:r>
              <a:rPr lang="en-US" sz="2000" b="1" dirty="0">
                <a:solidFill>
                  <a:schemeClr val="tx1"/>
                </a:solidFill>
                <a:latin typeface="Times New Roman" panose="02020603050405020304" pitchFamily="18" charset="0"/>
                <a:cs typeface="Times New Roman" panose="02020603050405020304" pitchFamily="18" charset="0"/>
              </a:rPr>
              <a:t>Advantages of bus topology</a:t>
            </a:r>
          </a:p>
          <a:p>
            <a:pPr marL="0" indent="0" defTabSz="914400">
              <a:buFont typeface="Wingdings 3" charset="2"/>
              <a:buNone/>
            </a:pPr>
            <a:r>
              <a:rPr lang="en-US" sz="2400" dirty="0" smtClean="0"/>
              <a:t>1. </a:t>
            </a:r>
            <a:r>
              <a:rPr lang="en-US" sz="2000" dirty="0">
                <a:solidFill>
                  <a:schemeClr val="tx1"/>
                </a:solidFill>
                <a:latin typeface="Times New Roman" panose="02020603050405020304" pitchFamily="18" charset="0"/>
                <a:cs typeface="Times New Roman" panose="02020603050405020304" pitchFamily="18" charset="0"/>
              </a:rPr>
              <a:t>It works well when you have a small network.</a:t>
            </a:r>
          </a:p>
          <a:p>
            <a:pPr marL="0" indent="0" defTabSz="914400">
              <a:buFont typeface="Wingdings 3" charset="2"/>
              <a:buNone/>
            </a:pPr>
            <a:r>
              <a:rPr lang="en-US" sz="2000" dirty="0" smtClean="0">
                <a:solidFill>
                  <a:schemeClr val="tx1"/>
                </a:solidFill>
                <a:latin typeface="Times New Roman" panose="02020603050405020304" pitchFamily="18" charset="0"/>
                <a:cs typeface="Times New Roman" panose="02020603050405020304" pitchFamily="18" charset="0"/>
              </a:rPr>
              <a:t>2. </a:t>
            </a:r>
            <a:r>
              <a:rPr lang="en-US" sz="2000" dirty="0">
                <a:solidFill>
                  <a:schemeClr val="tx1"/>
                </a:solidFill>
                <a:latin typeface="Times New Roman" panose="02020603050405020304" pitchFamily="18" charset="0"/>
                <a:cs typeface="Times New Roman" panose="02020603050405020304" pitchFamily="18" charset="0"/>
              </a:rPr>
              <a:t>It's the easiest network topology for connecting computers or peripherals in a linear fashion.</a:t>
            </a:r>
          </a:p>
          <a:p>
            <a:pPr marL="0" indent="0" defTabSz="914400">
              <a:buFont typeface="Wingdings 3" charset="2"/>
              <a:buNone/>
            </a:pPr>
            <a:r>
              <a:rPr lang="en-US" sz="2000" dirty="0">
                <a:solidFill>
                  <a:schemeClr val="tx1"/>
                </a:solidFill>
                <a:latin typeface="Times New Roman" panose="02020603050405020304" pitchFamily="18" charset="0"/>
                <a:cs typeface="Times New Roman" panose="02020603050405020304" pitchFamily="18" charset="0"/>
              </a:rPr>
              <a:t> </a:t>
            </a:r>
            <a:r>
              <a:rPr lang="en-US" sz="2000" dirty="0" smtClean="0">
                <a:solidFill>
                  <a:schemeClr val="tx1"/>
                </a:solidFill>
                <a:latin typeface="Times New Roman" panose="02020603050405020304" pitchFamily="18" charset="0"/>
                <a:cs typeface="Times New Roman" panose="02020603050405020304" pitchFamily="18" charset="0"/>
              </a:rPr>
              <a:t>3.It </a:t>
            </a:r>
            <a:r>
              <a:rPr lang="en-US" sz="2000" dirty="0">
                <a:solidFill>
                  <a:schemeClr val="tx1"/>
                </a:solidFill>
                <a:latin typeface="Times New Roman" panose="02020603050405020304" pitchFamily="18" charset="0"/>
                <a:cs typeface="Times New Roman" panose="02020603050405020304" pitchFamily="18" charset="0"/>
              </a:rPr>
              <a:t>requires less cable length than a star topology</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028" y="2776654"/>
            <a:ext cx="5432850"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16464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RING:</a:t>
            </a:r>
            <a:endParaRPr lang="en-US" dirty="0"/>
          </a:p>
        </p:txBody>
      </p:sp>
      <p:sp>
        <p:nvSpPr>
          <p:cNvPr id="3" name="Content Placeholder 2"/>
          <p:cNvSpPr>
            <a:spLocks noGrp="1"/>
          </p:cNvSpPr>
          <p:nvPr>
            <p:ph idx="1"/>
          </p:nvPr>
        </p:nvSpPr>
        <p:spPr>
          <a:xfrm>
            <a:off x="4817328" y="2562557"/>
            <a:ext cx="6892450" cy="3905149"/>
          </a:xfrm>
        </p:spPr>
        <p:txBody>
          <a:bodyPr>
            <a:normAutofit fontScale="70000" lnSpcReduction="20000"/>
          </a:bodyPr>
          <a:lstStyle/>
          <a:p>
            <a:pPr marL="0" indent="0" algn="just">
              <a:lnSpc>
                <a:spcPct val="150000"/>
              </a:lnSpc>
              <a:buNone/>
            </a:pPr>
            <a:r>
              <a:rPr lang="en-US" sz="2600" b="1" dirty="0">
                <a:latin typeface="Times New Roman" panose="02020603050405020304" pitchFamily="18" charset="0"/>
                <a:cs typeface="Times New Roman" panose="02020603050405020304" pitchFamily="18" charset="0"/>
              </a:rPr>
              <a:t>Advantages of ring </a:t>
            </a:r>
            <a:r>
              <a:rPr lang="en-US" sz="2600" b="1" dirty="0" smtClean="0">
                <a:latin typeface="Times New Roman" panose="02020603050405020304" pitchFamily="18" charset="0"/>
                <a:cs typeface="Times New Roman" panose="02020603050405020304" pitchFamily="18" charset="0"/>
              </a:rPr>
              <a:t>topology</a:t>
            </a:r>
          </a:p>
          <a:p>
            <a:pPr algn="just">
              <a:lnSpc>
                <a:spcPct val="150000"/>
              </a:lnSpc>
            </a:pPr>
            <a:r>
              <a:rPr lang="en-US" sz="2400" dirty="0" smtClean="0"/>
              <a:t> </a:t>
            </a:r>
            <a:r>
              <a:rPr lang="en-US" sz="2900" dirty="0" smtClean="0">
                <a:latin typeface="Times New Roman" panose="02020603050405020304" pitchFamily="18" charset="0"/>
                <a:cs typeface="Times New Roman" panose="02020603050405020304" pitchFamily="18" charset="0"/>
              </a:rPr>
              <a:t>All </a:t>
            </a:r>
            <a:r>
              <a:rPr lang="en-US" sz="2900" dirty="0">
                <a:latin typeface="Times New Roman" panose="02020603050405020304" pitchFamily="18" charset="0"/>
                <a:cs typeface="Times New Roman" panose="02020603050405020304" pitchFamily="18" charset="0"/>
              </a:rPr>
              <a:t>data flows in one direction, reducing the chance of packet collisions. </a:t>
            </a:r>
            <a:endParaRPr lang="en-US" sz="2900" dirty="0" smtClean="0">
              <a:latin typeface="Times New Roman" panose="02020603050405020304" pitchFamily="18" charset="0"/>
              <a:cs typeface="Times New Roman" panose="02020603050405020304" pitchFamily="18" charset="0"/>
            </a:endParaRPr>
          </a:p>
          <a:p>
            <a:pPr algn="just">
              <a:lnSpc>
                <a:spcPct val="150000"/>
              </a:lnSpc>
            </a:pPr>
            <a:r>
              <a:rPr lang="en-US" sz="2900" dirty="0" smtClean="0">
                <a:latin typeface="Times New Roman" panose="02020603050405020304" pitchFamily="18" charset="0"/>
                <a:cs typeface="Times New Roman" panose="02020603050405020304" pitchFamily="18" charset="0"/>
              </a:rPr>
              <a:t>A </a:t>
            </a:r>
            <a:r>
              <a:rPr lang="en-US" sz="2900" dirty="0">
                <a:latin typeface="Times New Roman" panose="02020603050405020304" pitchFamily="18" charset="0"/>
                <a:cs typeface="Times New Roman" panose="02020603050405020304" pitchFamily="18" charset="0"/>
              </a:rPr>
              <a:t>network server is not needed to control network connectivity between each workstation. </a:t>
            </a:r>
            <a:endParaRPr lang="en-US" sz="2900" dirty="0" smtClean="0">
              <a:latin typeface="Times New Roman" panose="02020603050405020304" pitchFamily="18" charset="0"/>
              <a:cs typeface="Times New Roman" panose="02020603050405020304" pitchFamily="18" charset="0"/>
            </a:endParaRPr>
          </a:p>
          <a:p>
            <a:pPr algn="just">
              <a:lnSpc>
                <a:spcPct val="150000"/>
              </a:lnSpc>
            </a:pPr>
            <a:r>
              <a:rPr lang="en-US" sz="2900" dirty="0" smtClean="0">
                <a:latin typeface="Times New Roman" panose="02020603050405020304" pitchFamily="18" charset="0"/>
                <a:cs typeface="Times New Roman" panose="02020603050405020304" pitchFamily="18" charset="0"/>
              </a:rPr>
              <a:t>Data </a:t>
            </a:r>
            <a:r>
              <a:rPr lang="en-US" sz="2900" dirty="0">
                <a:latin typeface="Times New Roman" panose="02020603050405020304" pitchFamily="18" charset="0"/>
                <a:cs typeface="Times New Roman" panose="02020603050405020304" pitchFamily="18" charset="0"/>
              </a:rPr>
              <a:t>can transfer between workstations at high speeds</a:t>
            </a:r>
            <a:r>
              <a:rPr lang="en-US" sz="2900" dirty="0" smtClean="0">
                <a:latin typeface="Times New Roman" panose="02020603050405020304" pitchFamily="18" charset="0"/>
                <a:cs typeface="Times New Roman" panose="02020603050405020304" pitchFamily="18" charset="0"/>
              </a:rPr>
              <a:t>.</a:t>
            </a:r>
          </a:p>
          <a:p>
            <a:pPr algn="just">
              <a:lnSpc>
                <a:spcPct val="150000"/>
              </a:lnSpc>
            </a:pPr>
            <a:r>
              <a:rPr lang="en-US" sz="2900" dirty="0" smtClean="0">
                <a:latin typeface="Times New Roman" panose="02020603050405020304" pitchFamily="18" charset="0"/>
                <a:cs typeface="Times New Roman" panose="02020603050405020304" pitchFamily="18" charset="0"/>
              </a:rPr>
              <a:t> Additional </a:t>
            </a:r>
            <a:r>
              <a:rPr lang="en-US" sz="2900" dirty="0">
                <a:latin typeface="Times New Roman" panose="02020603050405020304" pitchFamily="18" charset="0"/>
                <a:cs typeface="Times New Roman" panose="02020603050405020304" pitchFamily="18" charset="0"/>
              </a:rPr>
              <a:t>workstations can be added without impacting performance of the network.</a:t>
            </a:r>
            <a:endParaRPr lang="en-US" sz="2900" dirty="0">
              <a:solidFill>
                <a:srgbClr val="002060"/>
              </a:solidFill>
              <a:latin typeface="Times New Roman" panose="02020603050405020304" pitchFamily="18" charset="0"/>
              <a:cs typeface="Times New Roman" panose="02020603050405020304"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123" y="2687328"/>
            <a:ext cx="4399389" cy="2219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6312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Hybrid Topology</a:t>
            </a:r>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 y="2682796"/>
            <a:ext cx="8400817" cy="34392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3829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Network based on size</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444980333"/>
              </p:ext>
            </p:extLst>
          </p:nvPr>
        </p:nvGraphicFramePr>
        <p:xfrm>
          <a:off x="735981" y="2194560"/>
          <a:ext cx="10972799" cy="4663440"/>
        </p:xfrm>
        <a:graphic>
          <a:graphicData uri="http://schemas.openxmlformats.org/drawingml/2006/table">
            <a:tbl>
              <a:tblPr firstRow="1" bandRow="1">
                <a:tableStyleId>{5C22544A-7EE6-4342-B048-85BDC9FD1C3A}</a:tableStyleId>
              </a:tblPr>
              <a:tblGrid>
                <a:gridCol w="568747"/>
                <a:gridCol w="3142643"/>
                <a:gridCol w="3428338"/>
                <a:gridCol w="3833071"/>
              </a:tblGrid>
              <a:tr h="370840">
                <a:tc>
                  <a:txBody>
                    <a:bodyPr/>
                    <a:lstStyle/>
                    <a:p>
                      <a:r>
                        <a:rPr lang="en-US" dirty="0" smtClean="0"/>
                        <a:t>Sr. No.</a:t>
                      </a:r>
                      <a:endParaRPr lang="en-IN" dirty="0"/>
                    </a:p>
                  </a:txBody>
                  <a:tcPr/>
                </a:tc>
                <a:tc>
                  <a:txBody>
                    <a:bodyPr/>
                    <a:lstStyle/>
                    <a:p>
                      <a:pPr algn="ctr"/>
                      <a:r>
                        <a:rPr lang="en-IN" dirty="0" smtClean="0"/>
                        <a:t>LAN </a:t>
                      </a:r>
                    </a:p>
                    <a:p>
                      <a:pPr algn="ctr"/>
                      <a:r>
                        <a:rPr lang="en-IN" dirty="0" smtClean="0"/>
                        <a:t>(Local Area Network)</a:t>
                      </a:r>
                      <a:endParaRPr lang="en-IN" dirty="0"/>
                    </a:p>
                  </a:txBody>
                  <a:tcPr/>
                </a:tc>
                <a:tc>
                  <a:txBody>
                    <a:bodyPr/>
                    <a:lstStyle/>
                    <a:p>
                      <a:pPr algn="ctr"/>
                      <a:r>
                        <a:rPr lang="en-IN" dirty="0" smtClean="0"/>
                        <a:t>MAN </a:t>
                      </a:r>
                    </a:p>
                    <a:p>
                      <a:pPr algn="ctr"/>
                      <a:r>
                        <a:rPr lang="en-IN" dirty="0" smtClean="0"/>
                        <a:t>(Metropolitan Area Network)</a:t>
                      </a:r>
                      <a:endParaRPr lang="en-IN" dirty="0"/>
                    </a:p>
                  </a:txBody>
                  <a:tcPr/>
                </a:tc>
                <a:tc>
                  <a:txBody>
                    <a:bodyPr/>
                    <a:lstStyle/>
                    <a:p>
                      <a:pPr algn="ctr"/>
                      <a:r>
                        <a:rPr lang="en-IN" dirty="0" smtClean="0"/>
                        <a:t>WAN</a:t>
                      </a:r>
                    </a:p>
                    <a:p>
                      <a:pPr algn="ctr"/>
                      <a:r>
                        <a:rPr lang="en-IN" dirty="0" smtClean="0"/>
                        <a:t> (Wide Area Network) </a:t>
                      </a:r>
                      <a:endParaRPr lang="en-IN" dirty="0"/>
                    </a:p>
                  </a:txBody>
                  <a:tcPr/>
                </a:tc>
              </a:tr>
              <a:tr h="370840">
                <a:tc>
                  <a:txBody>
                    <a:bodyPr/>
                    <a:lstStyle/>
                    <a:p>
                      <a:r>
                        <a:rPr lang="en-US" dirty="0" smtClean="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Group of interconnected computers within a small area.</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Design to extend over a large area</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Are country and worldwide network.</a:t>
                      </a:r>
                      <a:endParaRPr lang="en-IN" dirty="0">
                        <a:latin typeface="Times New Roman" panose="02020603050405020304" pitchFamily="18" charset="0"/>
                        <a:cs typeface="Times New Roman" panose="02020603050405020304" pitchFamily="18" charset="0"/>
                      </a:endParaRPr>
                    </a:p>
                  </a:txBody>
                  <a:tcPr/>
                </a:tc>
              </a:tr>
              <a:tr h="1178272">
                <a:tc>
                  <a:txBody>
                    <a:bodyPr/>
                    <a:lstStyle/>
                    <a:p>
                      <a:r>
                        <a:rPr lang="en-US" dirty="0" smtClean="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Two or more pc's can from a LAN to share files, folders, printers, applications and other devices.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Connecting number of LAN's to form larger network, so that resources can be shared</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Contains multiple LAN's and MAN's.</a:t>
                      </a:r>
                      <a:endParaRPr lang="en-IN"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Due to short distances, errors and noise are minimum.</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Networks can be up to 5 to 50 km.</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Distinguished in terms of geographical range</a:t>
                      </a:r>
                      <a:endParaRPr lang="en-IN"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Data transfer rate is 10 to 100 mbps.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Data transfer rate is low compare to LAN.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Distinguished in terms of geographical range</a:t>
                      </a:r>
                      <a:endParaRPr lang="en-IN"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endParaRPr lang="en-IN"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Uses satellites and microwave relays Data transfer rate depends upon the ISP provider and varies over the location</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933197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types</a:t>
            </a:r>
          </a:p>
        </p:txBody>
      </p:sp>
      <p:sp>
        <p:nvSpPr>
          <p:cNvPr id="3" name="Content Placeholder 2"/>
          <p:cNvSpPr>
            <a:spLocks noGrp="1"/>
          </p:cNvSpPr>
          <p:nvPr>
            <p:ph idx="1"/>
          </p:nvPr>
        </p:nvSpPr>
        <p:spPr>
          <a:xfrm>
            <a:off x="312234" y="2603500"/>
            <a:ext cx="10158761" cy="3416300"/>
          </a:xfrm>
        </p:spPr>
        <p:txBody>
          <a:bodyPr/>
          <a:lstStyle/>
          <a:p>
            <a:pPr marL="0" indent="0">
              <a:buNone/>
            </a:pPr>
            <a:r>
              <a:rPr lang="en-US" b="1" dirty="0">
                <a:latin typeface="Times New Roman" panose="02020603050405020304" pitchFamily="18" charset="0"/>
                <a:cs typeface="Times New Roman" panose="02020603050405020304" pitchFamily="18" charset="0"/>
              </a:rPr>
              <a:t>WLAN (Wireless LAN) </a:t>
            </a:r>
            <a:endParaRPr lang="en-US" b="1"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LAN that uses high frequency radio waves for communication. Provides short range connectivity with high speed data transmission.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PAN </a:t>
            </a:r>
            <a:r>
              <a:rPr lang="en-US" b="1" dirty="0">
                <a:latin typeface="Times New Roman" panose="02020603050405020304" pitchFamily="18" charset="0"/>
                <a:cs typeface="Times New Roman" panose="02020603050405020304" pitchFamily="18" charset="0"/>
              </a:rPr>
              <a:t>(Personal Area Network</a:t>
            </a:r>
            <a:r>
              <a:rPr lang="en-US" b="1" dirty="0" smtClean="0">
                <a:latin typeface="Times New Roman" panose="02020603050405020304" pitchFamily="18" charset="0"/>
                <a:cs typeface="Times New Roman" panose="02020603050405020304" pitchFamily="18" charset="0"/>
              </a:rPr>
              <a:t>)</a:t>
            </a:r>
          </a:p>
          <a:p>
            <a:pPr marL="0" indent="0">
              <a:buNone/>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Network organized by the individual user for its personal use.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SAN </a:t>
            </a:r>
            <a:r>
              <a:rPr lang="en-US" b="1" dirty="0">
                <a:latin typeface="Times New Roman" panose="02020603050405020304" pitchFamily="18" charset="0"/>
                <a:cs typeface="Times New Roman" panose="02020603050405020304" pitchFamily="18" charset="0"/>
              </a:rPr>
              <a:t>(Storage Area Network) </a:t>
            </a:r>
            <a:endParaRPr lang="en-US" b="1"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Connects </a:t>
            </a:r>
            <a:r>
              <a:rPr lang="en-US" dirty="0">
                <a:latin typeface="Times New Roman" panose="02020603050405020304" pitchFamily="18" charset="0"/>
                <a:cs typeface="Times New Roman" panose="02020603050405020304" pitchFamily="18" charset="0"/>
              </a:rPr>
              <a:t>servers to data storage devices via fiber-optic cables.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535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INTERNET</a:t>
            </a:r>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6811" y="2714586"/>
            <a:ext cx="4562475" cy="225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2413" y="2705332"/>
            <a:ext cx="5524500" cy="249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2554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Transmission medium and Classes</a:t>
            </a:r>
            <a:endParaRPr lang="en-IN" dirty="0"/>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9425" y="2633159"/>
            <a:ext cx="5248275" cy="123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9668" y="3389972"/>
            <a:ext cx="6153150" cy="27564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4538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56118" y="2603500"/>
            <a:ext cx="11574966" cy="3416300"/>
          </a:xfrm>
        </p:spPr>
        <p:txBody>
          <a:bodyPr>
            <a:normAutofit/>
          </a:bodyPr>
          <a:lstStyle/>
          <a:p>
            <a:r>
              <a:rPr lang="en-US" sz="2000" dirty="0">
                <a:latin typeface="Times New Roman" panose="02020603050405020304" pitchFamily="18" charset="0"/>
                <a:cs typeface="Times New Roman" panose="02020603050405020304" pitchFamily="18" charset="0"/>
              </a:rPr>
              <a:t>Guided Media: Guided media, which are those that provide a medium from one device to another, include twisted-pair cable, coaxial cable, and fiber-optic cable</a:t>
            </a:r>
            <a:r>
              <a:rPr lang="en-US" sz="2000" dirty="0" smtClean="0">
                <a:latin typeface="Times New Roman" panose="02020603050405020304" pitchFamily="18" charset="0"/>
                <a:cs typeface="Times New Roman" panose="02020603050405020304" pitchFamily="18" charset="0"/>
              </a:rPr>
              <a:t>.</a:t>
            </a:r>
          </a:p>
          <a:p>
            <a:pPr marL="0" indent="0">
              <a:buNone/>
            </a:pPr>
            <a:r>
              <a:rPr lang="en-IN" sz="2000" b="1" dirty="0" smtClean="0">
                <a:latin typeface="Times New Roman" panose="02020603050405020304" pitchFamily="18" charset="0"/>
                <a:cs typeface="Times New Roman" panose="02020603050405020304" pitchFamily="18" charset="0"/>
              </a:rPr>
              <a:t>Twisted-Pair </a:t>
            </a:r>
            <a:r>
              <a:rPr lang="en-IN" sz="2000" b="1" dirty="0">
                <a:latin typeface="Times New Roman" panose="02020603050405020304" pitchFamily="18" charset="0"/>
                <a:cs typeface="Times New Roman" panose="02020603050405020304" pitchFamily="18" charset="0"/>
              </a:rPr>
              <a:t>Cable</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8102" y="4199133"/>
            <a:ext cx="5829300" cy="180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0293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Unshielded Versus Shielded Twisted-Pair Cable</a:t>
            </a:r>
            <a:endParaRPr lang="en-IN" dirty="0"/>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4553" y="2729686"/>
            <a:ext cx="7245408" cy="14297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029628" y="4579578"/>
            <a:ext cx="10088137" cy="707886"/>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Applications Twisted-pair cables are used in telephone lines to provide voice and data channels. Local-area networks, such as l0Base-T and l00Base-T, also use twisted-pair cables.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5730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Coaxial Cable</a:t>
            </a:r>
          </a:p>
        </p:txBody>
      </p:sp>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361" y="2697394"/>
            <a:ext cx="5374887" cy="3156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066263" y="2765502"/>
            <a:ext cx="5542157" cy="3477875"/>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Applications</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lnSpc>
                <a:spcPct val="200000"/>
              </a:lnSpc>
            </a:pPr>
            <a:r>
              <a:rPr lang="en-US" sz="2000" dirty="0" smtClean="0">
                <a:latin typeface="Times New Roman" panose="02020603050405020304" pitchFamily="18" charset="0"/>
                <a:cs typeface="Times New Roman" panose="02020603050405020304" pitchFamily="18" charset="0"/>
              </a:rPr>
              <a:t>Coaxial </a:t>
            </a:r>
            <a:r>
              <a:rPr lang="en-US" sz="2000" dirty="0">
                <a:latin typeface="Times New Roman" panose="02020603050405020304" pitchFamily="18" charset="0"/>
                <a:cs typeface="Times New Roman" panose="02020603050405020304" pitchFamily="18" charset="0"/>
              </a:rPr>
              <a:t>cable was widely used in analog telephone networks</a:t>
            </a:r>
            <a:r>
              <a:rPr lang="en-US" sz="2000" dirty="0" smtClean="0">
                <a:latin typeface="Times New Roman" panose="02020603050405020304" pitchFamily="18" charset="0"/>
                <a:cs typeface="Times New Roman" panose="02020603050405020304" pitchFamily="18" charset="0"/>
              </a:rPr>
              <a:t>, digital </a:t>
            </a:r>
            <a:r>
              <a:rPr lang="en-US" sz="2000" dirty="0">
                <a:latin typeface="Times New Roman" panose="02020603050405020304" pitchFamily="18" charset="0"/>
                <a:cs typeface="Times New Roman" panose="02020603050405020304" pitchFamily="18" charset="0"/>
              </a:rPr>
              <a:t>telephone </a:t>
            </a:r>
            <a:r>
              <a:rPr lang="en-US" sz="2000" dirty="0" smtClean="0">
                <a:latin typeface="Times New Roman" panose="02020603050405020304" pitchFamily="18" charset="0"/>
                <a:cs typeface="Times New Roman" panose="02020603050405020304" pitchFamily="18" charset="0"/>
              </a:rPr>
              <a:t>networks</a:t>
            </a:r>
          </a:p>
          <a:p>
            <a:pPr>
              <a:lnSpc>
                <a:spcPct val="20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Cable TV networks also use coaxial cables. Another common application of coaxial cable is in traditional Ethernet LANs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8099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Fiber</a:t>
            </a:r>
            <a:r>
              <a:rPr lang="en-IN" dirty="0"/>
              <a:t>-Optic Cable</a:t>
            </a:r>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9574" y="2342646"/>
            <a:ext cx="4615811" cy="904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2883" y="3316908"/>
            <a:ext cx="8224024" cy="3128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433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UNGUIDED MEDIA: WIRELESS</a:t>
            </a:r>
          </a:p>
        </p:txBody>
      </p:sp>
      <p:pic>
        <p:nvPicPr>
          <p:cNvPr id="1843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6933" y="2288982"/>
            <a:ext cx="6115050" cy="1190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1777" y="3524832"/>
            <a:ext cx="8118086" cy="2328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971" y="5210757"/>
            <a:ext cx="5305425" cy="128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7294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Radio Waves Microwaves Infrared </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5991" y="2757256"/>
            <a:ext cx="4672360" cy="3208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196" y="2676294"/>
            <a:ext cx="5940813" cy="29885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02025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r>
            <a:br>
              <a:rPr lang="en-IN" dirty="0" smtClean="0"/>
            </a:br>
            <a:r>
              <a:rPr lang="en-IN" dirty="0" smtClean="0"/>
              <a:t>Network </a:t>
            </a:r>
            <a:r>
              <a:rPr lang="en-IN" dirty="0"/>
              <a:t>Devices</a:t>
            </a:r>
            <a:r>
              <a:rPr lang="en-IN" b="1" dirty="0"/>
              <a:t/>
            </a:r>
            <a:br>
              <a:rPr lang="en-IN" b="1" dirty="0"/>
            </a:br>
            <a:endParaRPr lang="en-IN" dirty="0"/>
          </a:p>
        </p:txBody>
      </p:sp>
      <p:sp>
        <p:nvSpPr>
          <p:cNvPr id="3" name="Content Placeholder 2"/>
          <p:cNvSpPr>
            <a:spLocks noGrp="1"/>
          </p:cNvSpPr>
          <p:nvPr>
            <p:ph idx="1"/>
          </p:nvPr>
        </p:nvSpPr>
        <p:spPr>
          <a:xfrm>
            <a:off x="858644" y="2603499"/>
            <a:ext cx="10727473" cy="3719241"/>
          </a:xfrm>
        </p:spPr>
        <p:txBody>
          <a:bodyPr>
            <a:normAutofit fontScale="62500" lnSpcReduction="20000"/>
          </a:bodyPr>
          <a:lstStyle/>
          <a:p>
            <a:r>
              <a:rPr lang="en-US" sz="3200" b="1" dirty="0">
                <a:latin typeface="Times New Roman" panose="02020603050405020304" pitchFamily="18" charset="0"/>
                <a:cs typeface="Times New Roman" panose="02020603050405020304" pitchFamily="18" charset="0"/>
              </a:rPr>
              <a:t>Network Repeater –</a:t>
            </a:r>
            <a:r>
              <a:rPr lang="en-US" sz="3200" dirty="0">
                <a:latin typeface="Times New Roman" panose="02020603050405020304" pitchFamily="18" charset="0"/>
                <a:cs typeface="Times New Roman" panose="02020603050405020304" pitchFamily="18" charset="0"/>
              </a:rPr>
              <a:t> Used to generate incoming electrical, wireless or optical signals</a:t>
            </a:r>
          </a:p>
          <a:p>
            <a:r>
              <a:rPr lang="en-US" sz="3200" b="1" dirty="0">
                <a:latin typeface="Times New Roman" panose="02020603050405020304" pitchFamily="18" charset="0"/>
                <a:cs typeface="Times New Roman" panose="02020603050405020304" pitchFamily="18" charset="0"/>
              </a:rPr>
              <a:t>Network Hub –</a:t>
            </a:r>
            <a:r>
              <a:rPr lang="en-US" sz="3200" dirty="0">
                <a:latin typeface="Times New Roman" panose="02020603050405020304" pitchFamily="18" charset="0"/>
                <a:cs typeface="Times New Roman" panose="02020603050405020304" pitchFamily="18" charset="0"/>
              </a:rPr>
              <a:t> It is a small network device. It joins multiple computers together to form a single network segment. On this segment, all computers can interact with each other</a:t>
            </a:r>
          </a:p>
          <a:p>
            <a:r>
              <a:rPr lang="en-US" sz="3200" b="1" dirty="0">
                <a:latin typeface="Times New Roman" panose="02020603050405020304" pitchFamily="18" charset="0"/>
                <a:cs typeface="Times New Roman" panose="02020603050405020304" pitchFamily="18" charset="0"/>
              </a:rPr>
              <a:t>Network Switch –</a:t>
            </a:r>
            <a:r>
              <a:rPr lang="en-US" sz="3200" dirty="0">
                <a:latin typeface="Times New Roman" panose="02020603050405020304" pitchFamily="18" charset="0"/>
                <a:cs typeface="Times New Roman" panose="02020603050405020304" pitchFamily="18" charset="0"/>
              </a:rPr>
              <a:t> It is a small hardware device which joins multiple computers together with a single LAN</a:t>
            </a:r>
          </a:p>
          <a:p>
            <a:r>
              <a:rPr lang="en-US" sz="3200" b="1" dirty="0">
                <a:latin typeface="Times New Roman" panose="02020603050405020304" pitchFamily="18" charset="0"/>
                <a:cs typeface="Times New Roman" panose="02020603050405020304" pitchFamily="18" charset="0"/>
              </a:rPr>
              <a:t>Network Router –</a:t>
            </a:r>
            <a:r>
              <a:rPr lang="en-US" sz="3200" dirty="0">
                <a:latin typeface="Times New Roman" panose="02020603050405020304" pitchFamily="18" charset="0"/>
                <a:cs typeface="Times New Roman" panose="02020603050405020304" pitchFamily="18" charset="0"/>
              </a:rPr>
              <a:t> This device interfaces in multiple networks whose task is to copy packages from one network to another. It provides connectivity inside enterprises, between Enterprises and the Internet and within an ISP</a:t>
            </a:r>
          </a:p>
          <a:p>
            <a:r>
              <a:rPr lang="en-US" sz="3200" b="1" dirty="0">
                <a:latin typeface="Times New Roman" panose="02020603050405020304" pitchFamily="18" charset="0"/>
                <a:cs typeface="Times New Roman" panose="02020603050405020304" pitchFamily="18" charset="0"/>
              </a:rPr>
              <a:t>Network Bridge –</a:t>
            </a:r>
            <a:r>
              <a:rPr lang="en-US" sz="3200" dirty="0">
                <a:latin typeface="Times New Roman" panose="02020603050405020304" pitchFamily="18" charset="0"/>
                <a:cs typeface="Times New Roman" panose="02020603050405020304" pitchFamily="18" charset="0"/>
              </a:rPr>
              <a:t> It reads the outermost section of the data packet to tell where the message is going. It reduces the traffic on other network segments. </a:t>
            </a:r>
          </a:p>
          <a:p>
            <a:r>
              <a:rPr lang="en-US" sz="3200" b="1" dirty="0">
                <a:latin typeface="Times New Roman" panose="02020603050405020304" pitchFamily="18" charset="0"/>
                <a:cs typeface="Times New Roman" panose="02020603050405020304" pitchFamily="18" charset="0"/>
              </a:rPr>
              <a:t>Modem –</a:t>
            </a:r>
            <a:r>
              <a:rPr lang="en-US" sz="3200" dirty="0">
                <a:latin typeface="Times New Roman" panose="02020603050405020304" pitchFamily="18" charset="0"/>
                <a:cs typeface="Times New Roman" panose="02020603050405020304" pitchFamily="18" charset="0"/>
              </a:rPr>
              <a:t> This device converts digital signals into analog signals. It is always placed between a telephone and a computer system</a:t>
            </a:r>
          </a:p>
          <a:p>
            <a:endParaRPr lang="en-IN" dirty="0"/>
          </a:p>
        </p:txBody>
      </p:sp>
    </p:spTree>
    <p:extLst>
      <p:ext uri="{BB962C8B-B14F-4D97-AF65-F5344CB8AC3E}">
        <p14:creationId xmlns:p14="http://schemas.microsoft.com/office/powerpoint/2010/main" val="2597859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712" y="973668"/>
            <a:ext cx="9347655" cy="706964"/>
          </a:xfrm>
        </p:spPr>
        <p:txBody>
          <a:bodyPr/>
          <a:lstStyle/>
          <a:p>
            <a:r>
              <a:rPr lang="en-US" dirty="0"/>
              <a:t>Difference between Connection-Oriented and Connectionless Service</a:t>
            </a:r>
            <a:br>
              <a:rPr lang="en-US" dirty="0"/>
            </a:br>
            <a:endParaRPr lang="en-IN" dirty="0"/>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2252" y="2536787"/>
            <a:ext cx="4881530" cy="341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0673" y="2685121"/>
            <a:ext cx="6010275" cy="35818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93362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166" y="697183"/>
            <a:ext cx="9567979" cy="55698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341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791738"/>
            <a:ext cx="9378291" cy="53971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8149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39" y="529683"/>
            <a:ext cx="5324475"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3171" y="2711837"/>
            <a:ext cx="5832087" cy="348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23541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761413" cy="487142"/>
          </a:xfrm>
        </p:spPr>
        <p:txBody>
          <a:bodyPr/>
          <a:lstStyle/>
          <a:p>
            <a:r>
              <a:rPr lang="en-US" dirty="0"/>
              <a:t>Different Types of Ethernet Networks</a:t>
            </a:r>
            <a:br>
              <a:rPr lang="en-US" dirty="0"/>
            </a:br>
            <a:endParaRPr lang="en-IN" dirty="0"/>
          </a:p>
        </p:txBody>
      </p:sp>
      <p:sp>
        <p:nvSpPr>
          <p:cNvPr id="3" name="Content Placeholder 2"/>
          <p:cNvSpPr>
            <a:spLocks noGrp="1"/>
          </p:cNvSpPr>
          <p:nvPr>
            <p:ph sz="half" idx="1"/>
          </p:nvPr>
        </p:nvSpPr>
        <p:spPr>
          <a:xfrm>
            <a:off x="530486" y="2648105"/>
            <a:ext cx="5100880" cy="3416301"/>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Fast Ethernet</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lgn="just">
              <a:lnSpc>
                <a:spcPct val="110000"/>
              </a:lnSpc>
              <a:buNone/>
            </a:pPr>
            <a:r>
              <a:rPr lang="en-US" sz="2300" dirty="0" smtClean="0">
                <a:latin typeface="Times New Roman" panose="02020603050405020304" pitchFamily="18" charset="0"/>
                <a:cs typeface="Times New Roman" panose="02020603050405020304" pitchFamily="18" charset="0"/>
              </a:rPr>
              <a:t>This </a:t>
            </a:r>
            <a:r>
              <a:rPr lang="en-US" sz="2300" dirty="0">
                <a:latin typeface="Times New Roman" panose="02020603050405020304" pitchFamily="18" charset="0"/>
                <a:cs typeface="Times New Roman" panose="02020603050405020304" pitchFamily="18" charset="0"/>
              </a:rPr>
              <a:t>type of Ethernet is usually supported by a twisted pair or CAT5 cable, which has the potential to transfer or receive data at around100 Mbps. </a:t>
            </a:r>
            <a:endParaRPr lang="en-US" sz="2300" dirty="0" smtClean="0">
              <a:latin typeface="Times New Roman" panose="02020603050405020304" pitchFamily="18" charset="0"/>
              <a:cs typeface="Times New Roman" panose="02020603050405020304" pitchFamily="18" charset="0"/>
            </a:endParaRPr>
          </a:p>
          <a:p>
            <a:pPr marL="0" indent="0" algn="just">
              <a:lnSpc>
                <a:spcPct val="110000"/>
              </a:lnSpc>
              <a:buNone/>
            </a:pPr>
            <a:r>
              <a:rPr lang="en-US" sz="2300" dirty="0" smtClean="0">
                <a:latin typeface="Times New Roman" panose="02020603050405020304" pitchFamily="18" charset="0"/>
                <a:cs typeface="Times New Roman" panose="02020603050405020304" pitchFamily="18" charset="0"/>
              </a:rPr>
              <a:t>They </a:t>
            </a:r>
            <a:r>
              <a:rPr lang="en-US" sz="2300" dirty="0">
                <a:latin typeface="Times New Roman" panose="02020603050405020304" pitchFamily="18" charset="0"/>
                <a:cs typeface="Times New Roman" panose="02020603050405020304" pitchFamily="18" charset="0"/>
              </a:rPr>
              <a:t>function at 100Base and 10/100Base Ethernet on the fiber side of the link if any device such as a camera, laptop, or other is connected to a network. </a:t>
            </a:r>
            <a:endParaRPr lang="en-US" sz="2300" dirty="0" smtClean="0">
              <a:latin typeface="Times New Roman" panose="02020603050405020304" pitchFamily="18" charset="0"/>
              <a:cs typeface="Times New Roman" panose="02020603050405020304" pitchFamily="18" charset="0"/>
            </a:endParaRPr>
          </a:p>
          <a:p>
            <a:pPr marL="0" indent="0" algn="just">
              <a:lnSpc>
                <a:spcPct val="110000"/>
              </a:lnSpc>
              <a:buNone/>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fiber optic cable and twisted pair cable are used by fast Ethernet to create communication. The 100BASE-TX, 100BASE-FX, and 100BASE-T4 are the three categories of Fast Ethernet</a:t>
            </a:r>
            <a:r>
              <a:rPr lang="en-US" sz="2300" dirty="0"/>
              <a:t>.</a:t>
            </a:r>
          </a:p>
          <a:p>
            <a:pPr>
              <a:lnSpc>
                <a:spcPct val="110000"/>
              </a:lnSpc>
            </a:pPr>
            <a:endParaRPr lang="en-IN" dirty="0"/>
          </a:p>
        </p:txBody>
      </p:sp>
      <p:sp>
        <p:nvSpPr>
          <p:cNvPr id="4" name="Content Placeholder 3"/>
          <p:cNvSpPr>
            <a:spLocks noGrp="1"/>
          </p:cNvSpPr>
          <p:nvPr>
            <p:ph sz="half" idx="2"/>
          </p:nvPr>
        </p:nvSpPr>
        <p:spPr>
          <a:xfrm>
            <a:off x="6208712" y="2603500"/>
            <a:ext cx="5756547" cy="3416300"/>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Gigabit Ethernet</a:t>
            </a:r>
            <a:r>
              <a:rPr lang="en-US" dirty="0"/>
              <a:t>: </a:t>
            </a:r>
            <a:endParaRPr lang="en-US" dirty="0" smtClean="0"/>
          </a:p>
          <a:p>
            <a:pPr marL="0" indent="0">
              <a:lnSpc>
                <a:spcPct val="110000"/>
              </a:lnSpc>
              <a:buNone/>
            </a:pPr>
            <a:r>
              <a:rPr lang="en-US" sz="2200" dirty="0" smtClean="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type of Ethernet network is an upgrade from Fast Ethernet, which uses fiber optic cable and twisted pair cable to create communication. </a:t>
            </a:r>
            <a:endParaRPr lang="en-US" sz="2200" dirty="0" smtClean="0">
              <a:latin typeface="Times New Roman" panose="02020603050405020304" pitchFamily="18" charset="0"/>
              <a:cs typeface="Times New Roman" panose="02020603050405020304" pitchFamily="18" charset="0"/>
            </a:endParaRPr>
          </a:p>
          <a:p>
            <a:pPr marL="0" indent="0">
              <a:lnSpc>
                <a:spcPct val="110000"/>
              </a:lnSpc>
              <a:buNone/>
            </a:pPr>
            <a:r>
              <a:rPr lang="en-US" sz="2200" dirty="0" smtClean="0">
                <a:latin typeface="Times New Roman" panose="02020603050405020304" pitchFamily="18" charset="0"/>
                <a:cs typeface="Times New Roman" panose="02020603050405020304" pitchFamily="18" charset="0"/>
              </a:rPr>
              <a:t>It </a:t>
            </a:r>
            <a:r>
              <a:rPr lang="en-US" sz="2200" dirty="0">
                <a:latin typeface="Times New Roman" panose="02020603050405020304" pitchFamily="18" charset="0"/>
                <a:cs typeface="Times New Roman" panose="02020603050405020304" pitchFamily="18" charset="0"/>
              </a:rPr>
              <a:t>can transfer data at a rate of 1000 Mbps or 1Gbps. In modern times, gigabit Ethernet is more common. </a:t>
            </a:r>
            <a:endParaRPr lang="en-US" sz="2200" dirty="0" smtClean="0">
              <a:latin typeface="Times New Roman" panose="02020603050405020304" pitchFamily="18" charset="0"/>
              <a:cs typeface="Times New Roman" panose="02020603050405020304" pitchFamily="18" charset="0"/>
            </a:endParaRPr>
          </a:p>
          <a:p>
            <a:pPr marL="0" indent="0">
              <a:lnSpc>
                <a:spcPct val="110000"/>
              </a:lnSpc>
              <a:buNone/>
            </a:pPr>
            <a:r>
              <a:rPr lang="en-US" sz="2200" dirty="0" smtClean="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network type also uses CAT5e or other advanced cables, which can transfer data at a rate of 10 </a:t>
            </a:r>
            <a:r>
              <a:rPr lang="en-US" sz="2200" dirty="0" err="1">
                <a:latin typeface="Times New Roman" panose="02020603050405020304" pitchFamily="18" charset="0"/>
                <a:cs typeface="Times New Roman" panose="02020603050405020304" pitchFamily="18" charset="0"/>
              </a:rPr>
              <a:t>Gbps</a:t>
            </a:r>
            <a:r>
              <a:rPr lang="en-US" sz="2200" dirty="0">
                <a:latin typeface="Times New Roman" panose="02020603050405020304" pitchFamily="18" charset="0"/>
                <a:cs typeface="Times New Roman" panose="02020603050405020304" pitchFamily="18" charset="0"/>
              </a:rPr>
              <a:t>.</a:t>
            </a:r>
          </a:p>
          <a:p>
            <a:pPr>
              <a:lnSpc>
                <a:spcPct val="160000"/>
              </a:lnSpc>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27311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
  <TotalTime>279</TotalTime>
  <Words>1120</Words>
  <Application>Microsoft Office PowerPoint</Application>
  <PresentationFormat>Custom</PresentationFormat>
  <Paragraphs>129</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Ion Boardroom</vt:lpstr>
      <vt:lpstr>           Course Code: IT-15                                   Network Technologies  </vt:lpstr>
      <vt:lpstr>Course Description</vt:lpstr>
      <vt:lpstr>Course Outcomes</vt:lpstr>
      <vt:lpstr>PowerPoint Presentation</vt:lpstr>
      <vt:lpstr>1. Introduction to Data Communication and Computer Networks</vt:lpstr>
      <vt:lpstr>DATA COMMUNICATION</vt:lpstr>
      <vt:lpstr>Components</vt:lpstr>
      <vt:lpstr>Data Flow</vt:lpstr>
      <vt:lpstr>Computer Network  and Network Criteria </vt:lpstr>
      <vt:lpstr>Physical Structures</vt:lpstr>
      <vt:lpstr>Physical Topology</vt:lpstr>
      <vt:lpstr>MESH</vt:lpstr>
      <vt:lpstr>Identifying and describing relations and functions</vt:lpstr>
      <vt:lpstr>BUS</vt:lpstr>
      <vt:lpstr>RING:</vt:lpstr>
      <vt:lpstr>Hybrid Topology</vt:lpstr>
      <vt:lpstr>Types of Network based on size</vt:lpstr>
      <vt:lpstr>Other types</vt:lpstr>
      <vt:lpstr>THE INTERNET</vt:lpstr>
      <vt:lpstr>Transmission medium and Classes</vt:lpstr>
      <vt:lpstr>PowerPoint Presentation</vt:lpstr>
      <vt:lpstr>Unshielded Versus Shielded Twisted-Pair Cable</vt:lpstr>
      <vt:lpstr>Coaxial Cable</vt:lpstr>
      <vt:lpstr>Fiber-Optic Cable</vt:lpstr>
      <vt:lpstr>UNGUIDED MEDIA: WIRELESS</vt:lpstr>
      <vt:lpstr>Radio Waves Microwaves Infrared </vt:lpstr>
      <vt:lpstr> Network Devices </vt:lpstr>
      <vt:lpstr>Difference between Connection-Oriented and Connectionless Service </vt:lpstr>
      <vt:lpstr>PowerPoint Presentation</vt:lpstr>
      <vt:lpstr>PowerPoint Presentation</vt:lpstr>
      <vt:lpstr>PowerPoint Presentation</vt:lpstr>
      <vt:lpstr>Different Types of Ethernet Networks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Mathematics</dc:title>
  <dc:creator>Nisarga</dc:creator>
  <cp:lastModifiedBy>admin</cp:lastModifiedBy>
  <cp:revision>38</cp:revision>
  <dcterms:created xsi:type="dcterms:W3CDTF">2021-12-24T04:17:06Z</dcterms:created>
  <dcterms:modified xsi:type="dcterms:W3CDTF">2023-09-02T07:36:32Z</dcterms:modified>
</cp:coreProperties>
</file>