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65" r:id="rId6"/>
    <p:sldId id="268" r:id="rId7"/>
    <p:sldId id="269" r:id="rId8"/>
    <p:sldId id="262" r:id="rId9"/>
    <p:sldId id="270" r:id="rId10"/>
    <p:sldId id="266" r:id="rId11"/>
    <p:sldId id="258" r:id="rId12"/>
    <p:sldId id="272" r:id="rId13"/>
    <p:sldId id="273" r:id="rId14"/>
    <p:sldId id="274" r:id="rId15"/>
    <p:sldId id="276" r:id="rId16"/>
    <p:sldId id="277" r:id="rId17"/>
    <p:sldId id="278" r:id="rId18"/>
    <p:sldId id="280" r:id="rId19"/>
    <p:sldId id="281" r:id="rId20"/>
    <p:sldId id="282" r:id="rId21"/>
    <p:sldId id="283" r:id="rId22"/>
    <p:sldId id="284" r:id="rId23"/>
    <p:sldId id="320" r:id="rId24"/>
    <p:sldId id="321" r:id="rId25"/>
    <p:sldId id="259" r:id="rId26"/>
    <p:sldId id="289" r:id="rId27"/>
    <p:sldId id="288" r:id="rId28"/>
    <p:sldId id="290" r:id="rId29"/>
    <p:sldId id="291" r:id="rId30"/>
    <p:sldId id="292" r:id="rId31"/>
    <p:sldId id="260" r:id="rId32"/>
    <p:sldId id="294" r:id="rId33"/>
    <p:sldId id="295" r:id="rId34"/>
    <p:sldId id="296" r:id="rId35"/>
    <p:sldId id="297" r:id="rId36"/>
    <p:sldId id="298" r:id="rId37"/>
    <p:sldId id="299" r:id="rId38"/>
    <p:sldId id="286" r:id="rId39"/>
    <p:sldId id="300" r:id="rId40"/>
    <p:sldId id="301" r:id="rId41"/>
    <p:sldId id="302" r:id="rId42"/>
    <p:sldId id="303" r:id="rId43"/>
    <p:sldId id="287" r:id="rId44"/>
    <p:sldId id="304" r:id="rId45"/>
    <p:sldId id="293" r:id="rId46"/>
    <p:sldId id="305" r:id="rId47"/>
    <p:sldId id="306" r:id="rId48"/>
    <p:sldId id="307" r:id="rId49"/>
    <p:sldId id="308" r:id="rId50"/>
    <p:sldId id="309" r:id="rId51"/>
    <p:sldId id="310" r:id="rId52"/>
    <p:sldId id="311" r:id="rId53"/>
    <p:sldId id="261" r:id="rId54"/>
    <p:sldId id="312" r:id="rId55"/>
    <p:sldId id="313" r:id="rId56"/>
    <p:sldId id="285" r:id="rId57"/>
    <p:sldId id="314" r:id="rId58"/>
    <p:sldId id="315" r:id="rId59"/>
    <p:sldId id="316" r:id="rId60"/>
    <p:sldId id="317" r:id="rId61"/>
    <p:sldId id="318" r:id="rId62"/>
    <p:sldId id="319"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Application Layer Protocols</a:t>
            </a:r>
          </a:p>
        </p:txBody>
      </p:sp>
      <p:sp>
        <p:nvSpPr>
          <p:cNvPr id="3" name="Subtitle 2"/>
          <p:cNvSpPr>
            <a:spLocks noGrp="1"/>
          </p:cNvSpPr>
          <p:nvPr>
            <p:ph type="subTitle" idx="1"/>
          </p:nvPr>
        </p:nvSpPr>
        <p:spPr/>
        <p:txBody>
          <a:bodyPr/>
          <a:lstStyle/>
          <a:p>
            <a:r>
              <a:rPr lang="en-IN" dirty="0" smtClean="0"/>
              <a:t>Unit 5</a:t>
            </a:r>
            <a:endParaRPr lang="en-IN" dirty="0"/>
          </a:p>
        </p:txBody>
      </p:sp>
    </p:spTree>
    <p:extLst>
      <p:ext uri="{BB962C8B-B14F-4D97-AF65-F5344CB8AC3E}">
        <p14:creationId xmlns:p14="http://schemas.microsoft.com/office/powerpoint/2010/main" val="3071017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Application Layer</a:t>
            </a:r>
          </a:p>
        </p:txBody>
      </p:sp>
      <p:sp>
        <p:nvSpPr>
          <p:cNvPr id="3" name="Content Placeholder 2"/>
          <p:cNvSpPr>
            <a:spLocks noGrp="1"/>
          </p:cNvSpPr>
          <p:nvPr>
            <p:ph idx="1"/>
          </p:nvPr>
        </p:nvSpPr>
        <p:spPr/>
        <p:txBody>
          <a:bodyPr>
            <a:noAutofit/>
          </a:bodyPr>
          <a:lstStyle/>
          <a:p>
            <a:r>
              <a:rPr lang="en-US" sz="1800" dirty="0"/>
              <a:t>The application layer is present at the top of the OSI model. </a:t>
            </a:r>
            <a:endParaRPr lang="en-US" sz="1800" dirty="0" smtClean="0"/>
          </a:p>
          <a:p>
            <a:endParaRPr lang="en-US" sz="1800" dirty="0"/>
          </a:p>
          <a:p>
            <a:r>
              <a:rPr lang="en-US" sz="1800" dirty="0" smtClean="0"/>
              <a:t>It </a:t>
            </a:r>
            <a:r>
              <a:rPr lang="en-US" sz="1800" dirty="0"/>
              <a:t>is the layer through which users interact. </a:t>
            </a:r>
            <a:r>
              <a:rPr lang="en-US" sz="1800" dirty="0" smtClean="0"/>
              <a:t>It </a:t>
            </a:r>
            <a:r>
              <a:rPr lang="en-US" sz="1800" dirty="0"/>
              <a:t>provides services to the user. </a:t>
            </a:r>
            <a:endParaRPr lang="en-US" sz="1800" dirty="0" smtClean="0"/>
          </a:p>
          <a:p>
            <a:endParaRPr lang="en-US" sz="1800" dirty="0"/>
          </a:p>
          <a:p>
            <a:r>
              <a:rPr lang="en-US" sz="1800" dirty="0" smtClean="0"/>
              <a:t>Focus </a:t>
            </a:r>
            <a:r>
              <a:rPr lang="en-US" sz="1800" dirty="0"/>
              <a:t>on </a:t>
            </a:r>
            <a:r>
              <a:rPr lang="en-US" sz="1800" b="1" dirty="0"/>
              <a:t>process-to-process</a:t>
            </a:r>
            <a:r>
              <a:rPr lang="en-US" sz="1800" dirty="0"/>
              <a:t> communication across an IP network and provides a firm communication interface and end-user services. </a:t>
            </a:r>
            <a:endParaRPr lang="en-US" sz="1800" dirty="0" smtClean="0"/>
          </a:p>
          <a:p>
            <a:endParaRPr lang="en-US" sz="1800" dirty="0"/>
          </a:p>
          <a:p>
            <a:r>
              <a:rPr lang="en-US" sz="1800" dirty="0" smtClean="0"/>
              <a:t>Provides </a:t>
            </a:r>
            <a:r>
              <a:rPr lang="en-US" sz="1800" dirty="0"/>
              <a:t>full end-user access to a variety of shared network services for efficient OSI model data flow.</a:t>
            </a:r>
            <a:endParaRPr lang="en-IN" sz="1800" dirty="0"/>
          </a:p>
        </p:txBody>
      </p:sp>
    </p:spTree>
    <p:extLst>
      <p:ext uri="{BB962C8B-B14F-4D97-AF65-F5344CB8AC3E}">
        <p14:creationId xmlns:p14="http://schemas.microsoft.com/office/powerpoint/2010/main" val="316833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Application Layer</a:t>
            </a:r>
          </a:p>
        </p:txBody>
      </p:sp>
      <p:sp>
        <p:nvSpPr>
          <p:cNvPr id="3" name="Content Placeholder 2"/>
          <p:cNvSpPr>
            <a:spLocks noGrp="1"/>
          </p:cNvSpPr>
          <p:nvPr>
            <p:ph idx="1"/>
          </p:nvPr>
        </p:nvSpPr>
        <p:spPr/>
        <p:txBody>
          <a:bodyPr>
            <a:normAutofit fontScale="62500" lnSpcReduction="20000"/>
          </a:bodyPr>
          <a:lstStyle/>
          <a:p>
            <a:pPr marL="0" indent="0">
              <a:buNone/>
            </a:pPr>
            <a:r>
              <a:rPr lang="en-US" b="1" dirty="0"/>
              <a:t>The application layer provides many services, including: </a:t>
            </a:r>
            <a:endParaRPr lang="en-US" b="1" dirty="0" smtClean="0"/>
          </a:p>
          <a:p>
            <a:endParaRPr lang="en-US" dirty="0"/>
          </a:p>
          <a:p>
            <a:r>
              <a:rPr lang="en-US" dirty="0" smtClean="0"/>
              <a:t>Simple </a:t>
            </a:r>
            <a:r>
              <a:rPr lang="en-US" dirty="0"/>
              <a:t>Mail Transfer Protocol </a:t>
            </a:r>
            <a:endParaRPr lang="en-US" dirty="0" smtClean="0"/>
          </a:p>
          <a:p>
            <a:r>
              <a:rPr lang="en-US" dirty="0" smtClean="0"/>
              <a:t>File </a:t>
            </a:r>
            <a:r>
              <a:rPr lang="en-US" dirty="0"/>
              <a:t>transfer </a:t>
            </a:r>
            <a:endParaRPr lang="en-US" dirty="0" smtClean="0"/>
          </a:p>
          <a:p>
            <a:r>
              <a:rPr lang="en-US" dirty="0" smtClean="0"/>
              <a:t>Web </a:t>
            </a:r>
            <a:r>
              <a:rPr lang="en-US" dirty="0"/>
              <a:t>surfing </a:t>
            </a:r>
            <a:endParaRPr lang="en-US" dirty="0" smtClean="0"/>
          </a:p>
          <a:p>
            <a:r>
              <a:rPr lang="en-US" dirty="0" smtClean="0"/>
              <a:t>Web </a:t>
            </a:r>
            <a:r>
              <a:rPr lang="en-US" dirty="0"/>
              <a:t>chat </a:t>
            </a:r>
            <a:endParaRPr lang="en-US" dirty="0" smtClean="0"/>
          </a:p>
          <a:p>
            <a:r>
              <a:rPr lang="en-US" dirty="0" smtClean="0"/>
              <a:t>Email </a:t>
            </a:r>
            <a:r>
              <a:rPr lang="en-US" dirty="0"/>
              <a:t>clients </a:t>
            </a:r>
            <a:endParaRPr lang="en-US" dirty="0" smtClean="0"/>
          </a:p>
          <a:p>
            <a:r>
              <a:rPr lang="en-US" dirty="0" smtClean="0"/>
              <a:t>Network </a:t>
            </a:r>
            <a:r>
              <a:rPr lang="en-US" dirty="0"/>
              <a:t>data sharing </a:t>
            </a:r>
            <a:endParaRPr lang="en-US" dirty="0" smtClean="0"/>
          </a:p>
          <a:p>
            <a:r>
              <a:rPr lang="en-US" dirty="0" smtClean="0"/>
              <a:t>Various </a:t>
            </a:r>
            <a:r>
              <a:rPr lang="en-US" dirty="0"/>
              <a:t>file and data operations </a:t>
            </a:r>
            <a:endParaRPr lang="en-US" dirty="0" smtClean="0"/>
          </a:p>
          <a:p>
            <a:endParaRPr lang="en-US" dirty="0"/>
          </a:p>
          <a:p>
            <a:r>
              <a:rPr lang="en-US" dirty="0" smtClean="0"/>
              <a:t>This </a:t>
            </a:r>
            <a:r>
              <a:rPr lang="en-US" dirty="0"/>
              <a:t>layer has </a:t>
            </a:r>
            <a:r>
              <a:rPr lang="en-US" dirty="0" smtClean="0"/>
              <a:t>different </a:t>
            </a:r>
            <a:r>
              <a:rPr lang="en-US" dirty="0"/>
              <a:t>responsibilities, including </a:t>
            </a:r>
            <a:r>
              <a:rPr lang="en-US" b="1" dirty="0"/>
              <a:t>error handling </a:t>
            </a:r>
            <a:r>
              <a:rPr lang="en-US" dirty="0"/>
              <a:t>and </a:t>
            </a:r>
            <a:r>
              <a:rPr lang="en-US" b="1" dirty="0"/>
              <a:t>recovery</a:t>
            </a:r>
            <a:r>
              <a:rPr lang="en-US" dirty="0"/>
              <a:t>, </a:t>
            </a:r>
            <a:r>
              <a:rPr lang="en-US" b="1" dirty="0"/>
              <a:t>data flow </a:t>
            </a:r>
            <a:r>
              <a:rPr lang="en-US" dirty="0"/>
              <a:t>over a network and full </a:t>
            </a:r>
            <a:r>
              <a:rPr lang="en-US" b="1" dirty="0"/>
              <a:t>network flow</a:t>
            </a:r>
            <a:r>
              <a:rPr lang="en-US" dirty="0"/>
              <a:t>. </a:t>
            </a:r>
            <a:endParaRPr lang="en-US" dirty="0" smtClean="0"/>
          </a:p>
          <a:p>
            <a:endParaRPr lang="en-US" dirty="0"/>
          </a:p>
          <a:p>
            <a:r>
              <a:rPr lang="en-US" dirty="0" smtClean="0"/>
              <a:t>It </a:t>
            </a:r>
            <a:r>
              <a:rPr lang="en-US" dirty="0"/>
              <a:t>is also used to develop network-based applications.</a:t>
            </a:r>
            <a:endParaRPr lang="en-IN" dirty="0"/>
          </a:p>
        </p:txBody>
      </p:sp>
    </p:spTree>
    <p:extLst>
      <p:ext uri="{BB962C8B-B14F-4D97-AF65-F5344CB8AC3E}">
        <p14:creationId xmlns:p14="http://schemas.microsoft.com/office/powerpoint/2010/main" val="1489141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Application Layer</a:t>
            </a:r>
          </a:p>
        </p:txBody>
      </p:sp>
      <p:sp>
        <p:nvSpPr>
          <p:cNvPr id="3" name="Content Placeholder 2"/>
          <p:cNvSpPr>
            <a:spLocks noGrp="1"/>
          </p:cNvSpPr>
          <p:nvPr>
            <p:ph idx="1"/>
          </p:nvPr>
        </p:nvSpPr>
        <p:spPr/>
        <p:txBody>
          <a:bodyPr>
            <a:normAutofit/>
          </a:bodyPr>
          <a:lstStyle/>
          <a:p>
            <a:r>
              <a:rPr lang="en-US" sz="2000" dirty="0"/>
              <a:t>It defines how an application's processes (clients and servers), running on different end systems, pass messages to each other. </a:t>
            </a:r>
            <a:endParaRPr lang="en-US" sz="2000" dirty="0" smtClean="0"/>
          </a:p>
          <a:p>
            <a:endParaRPr lang="en-US" sz="2000" dirty="0"/>
          </a:p>
          <a:p>
            <a:r>
              <a:rPr lang="en-US" sz="2000" b="1" dirty="0" smtClean="0"/>
              <a:t>An </a:t>
            </a:r>
            <a:r>
              <a:rPr lang="en-US" sz="2000" b="1" dirty="0"/>
              <a:t>application layer protocol defines: </a:t>
            </a:r>
            <a:endParaRPr lang="en-US" sz="2000" b="1" dirty="0" smtClean="0"/>
          </a:p>
          <a:p>
            <a:pPr marL="0" indent="0">
              <a:buNone/>
            </a:pPr>
            <a:endParaRPr lang="en-US" sz="2000" b="1" dirty="0" smtClean="0"/>
          </a:p>
          <a:p>
            <a:pPr lvl="1"/>
            <a:r>
              <a:rPr lang="en-US" sz="1800" dirty="0" smtClean="0"/>
              <a:t>The </a:t>
            </a:r>
            <a:r>
              <a:rPr lang="en-US" sz="1800" dirty="0"/>
              <a:t>types of messages exchanged, e.g</a:t>
            </a:r>
            <a:r>
              <a:rPr lang="en-US" sz="1800" dirty="0" smtClean="0"/>
              <a:t>. </a:t>
            </a:r>
            <a:r>
              <a:rPr lang="en-US" sz="1800" dirty="0"/>
              <a:t>request messages and response </a:t>
            </a:r>
            <a:r>
              <a:rPr lang="en-US" sz="1800" dirty="0" smtClean="0"/>
              <a:t>messages</a:t>
            </a:r>
            <a:r>
              <a:rPr lang="en-US" sz="1800" dirty="0"/>
              <a:t>.</a:t>
            </a:r>
            <a:endParaRPr lang="en-US" sz="1800" dirty="0" smtClean="0"/>
          </a:p>
          <a:p>
            <a:pPr lvl="1"/>
            <a:r>
              <a:rPr lang="en-US" sz="1800" dirty="0" smtClean="0"/>
              <a:t>The </a:t>
            </a:r>
            <a:r>
              <a:rPr lang="en-US" sz="1800" dirty="0"/>
              <a:t>syntax of the various message types, i.e</a:t>
            </a:r>
            <a:r>
              <a:rPr lang="en-US" sz="1800" dirty="0" smtClean="0"/>
              <a:t>. </a:t>
            </a:r>
            <a:r>
              <a:rPr lang="en-US" sz="1800" dirty="0"/>
              <a:t>the fields in the message and how the fields are </a:t>
            </a:r>
            <a:r>
              <a:rPr lang="en-US" sz="1800" dirty="0" smtClean="0"/>
              <a:t>defined</a:t>
            </a:r>
            <a:r>
              <a:rPr lang="en-US" sz="1800" dirty="0"/>
              <a:t>.</a:t>
            </a:r>
            <a:endParaRPr lang="en-US" sz="1800" dirty="0" smtClean="0"/>
          </a:p>
          <a:p>
            <a:pPr lvl="1"/>
            <a:r>
              <a:rPr lang="en-US" sz="1800" dirty="0" smtClean="0"/>
              <a:t>The </a:t>
            </a:r>
            <a:r>
              <a:rPr lang="en-US" sz="1800" dirty="0"/>
              <a:t>semantics of the fields, i.e</a:t>
            </a:r>
            <a:r>
              <a:rPr lang="en-US" sz="1800" dirty="0" smtClean="0"/>
              <a:t>. </a:t>
            </a:r>
            <a:r>
              <a:rPr lang="en-US" sz="1800" dirty="0"/>
              <a:t>the meaning of the information in the </a:t>
            </a:r>
            <a:r>
              <a:rPr lang="en-US" sz="1800" dirty="0" smtClean="0"/>
              <a:t>fields. </a:t>
            </a:r>
          </a:p>
          <a:p>
            <a:pPr lvl="1"/>
            <a:r>
              <a:rPr lang="en-US" sz="1800" dirty="0" smtClean="0"/>
              <a:t>Rules </a:t>
            </a:r>
            <a:r>
              <a:rPr lang="en-US" sz="1800" dirty="0"/>
              <a:t>for determining when and how a process sends messages and responds to </a:t>
            </a:r>
            <a:r>
              <a:rPr lang="en-US" sz="1800" dirty="0" smtClean="0"/>
              <a:t>messages.</a:t>
            </a:r>
            <a:endParaRPr lang="en-IN" sz="1800" dirty="0"/>
          </a:p>
        </p:txBody>
      </p:sp>
    </p:spTree>
    <p:extLst>
      <p:ext uri="{BB962C8B-B14F-4D97-AF65-F5344CB8AC3E}">
        <p14:creationId xmlns:p14="http://schemas.microsoft.com/office/powerpoint/2010/main" val="3282988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DHCP</a:t>
            </a:r>
            <a:endParaRPr lang="en-IN" sz="3200" dirty="0"/>
          </a:p>
        </p:txBody>
      </p:sp>
      <p:sp>
        <p:nvSpPr>
          <p:cNvPr id="3" name="Content Placeholder 2"/>
          <p:cNvSpPr>
            <a:spLocks noGrp="1"/>
          </p:cNvSpPr>
          <p:nvPr>
            <p:ph idx="1"/>
          </p:nvPr>
        </p:nvSpPr>
        <p:spPr/>
        <p:txBody>
          <a:bodyPr>
            <a:normAutofit/>
          </a:bodyPr>
          <a:lstStyle/>
          <a:p>
            <a:r>
              <a:rPr lang="en-US" sz="1800" b="1" dirty="0"/>
              <a:t>Dynamic Host Configuration Protocol </a:t>
            </a:r>
            <a:r>
              <a:rPr lang="en-US" sz="1800" dirty="0"/>
              <a:t>(DHCP) is a network management protocol used to dynamically assign an IP address to </a:t>
            </a:r>
            <a:r>
              <a:rPr lang="en-US" sz="1800" dirty="0" smtClean="0"/>
              <a:t>different </a:t>
            </a:r>
            <a:r>
              <a:rPr lang="en-US" sz="1800" dirty="0"/>
              <a:t>device, or node, on a network so they can communicate using IP (Internet Protocol). </a:t>
            </a:r>
            <a:endParaRPr lang="en-US" sz="1800" dirty="0" smtClean="0"/>
          </a:p>
          <a:p>
            <a:endParaRPr lang="en-US" sz="1800" dirty="0"/>
          </a:p>
          <a:p>
            <a:r>
              <a:rPr lang="en-US" sz="1800" dirty="0"/>
              <a:t>DHCP automates and centrally manages these configurations. </a:t>
            </a:r>
            <a:endParaRPr lang="en-US" sz="1800" dirty="0" smtClean="0"/>
          </a:p>
          <a:p>
            <a:endParaRPr lang="en-US" sz="1800" dirty="0"/>
          </a:p>
          <a:p>
            <a:r>
              <a:rPr lang="en-US" sz="1800" dirty="0" smtClean="0"/>
              <a:t>There </a:t>
            </a:r>
            <a:r>
              <a:rPr lang="en-US" sz="1800" dirty="0"/>
              <a:t>is no need to manually assign IP addresses to new devices. </a:t>
            </a:r>
            <a:endParaRPr lang="en-US" sz="1800" dirty="0" smtClean="0"/>
          </a:p>
          <a:p>
            <a:endParaRPr lang="en-US" sz="1800" dirty="0"/>
          </a:p>
          <a:p>
            <a:r>
              <a:rPr lang="en-US" sz="1800" dirty="0" smtClean="0"/>
              <a:t>Therefore, there </a:t>
            </a:r>
            <a:r>
              <a:rPr lang="en-US" sz="1800" dirty="0"/>
              <a:t>is no requirement for any user configuration to connect to a DHCP based network.</a:t>
            </a:r>
            <a:endParaRPr lang="en-IN" sz="1800" dirty="0"/>
          </a:p>
          <a:p>
            <a:endParaRPr lang="en-IN" dirty="0"/>
          </a:p>
        </p:txBody>
      </p:sp>
    </p:spTree>
    <p:extLst>
      <p:ext uri="{BB962C8B-B14F-4D97-AF65-F5344CB8AC3E}">
        <p14:creationId xmlns:p14="http://schemas.microsoft.com/office/powerpoint/2010/main" val="2111927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DHCP</a:t>
            </a:r>
          </a:p>
        </p:txBody>
      </p:sp>
      <p:sp>
        <p:nvSpPr>
          <p:cNvPr id="3" name="Content Placeholder 2"/>
          <p:cNvSpPr>
            <a:spLocks noGrp="1"/>
          </p:cNvSpPr>
          <p:nvPr>
            <p:ph idx="1"/>
          </p:nvPr>
        </p:nvSpPr>
        <p:spPr/>
        <p:txBody>
          <a:bodyPr>
            <a:normAutofit/>
          </a:bodyPr>
          <a:lstStyle/>
          <a:p>
            <a:pPr fontAlgn="base"/>
            <a:r>
              <a:rPr lang="en-IN" sz="1800" b="1" dirty="0"/>
              <a:t>Dynamic Host Configuration Protocol(DHCP)</a:t>
            </a:r>
            <a:r>
              <a:rPr lang="en-IN" sz="1800" dirty="0"/>
              <a:t> is an application layer protocol which is used to provide: </a:t>
            </a:r>
            <a:br>
              <a:rPr lang="en-IN" sz="1800" dirty="0"/>
            </a:br>
            <a:r>
              <a:rPr lang="en-IN" sz="1800" dirty="0"/>
              <a:t> </a:t>
            </a:r>
          </a:p>
          <a:p>
            <a:pPr fontAlgn="base"/>
            <a:r>
              <a:rPr lang="en-IN" sz="1800" dirty="0"/>
              <a:t>Subnet Mask </a:t>
            </a:r>
            <a:r>
              <a:rPr lang="en-IN" sz="1800" dirty="0" smtClean="0"/>
              <a:t>(255.255.255.0</a:t>
            </a:r>
            <a:r>
              <a:rPr lang="en-IN" sz="1800" dirty="0"/>
              <a:t>)</a:t>
            </a:r>
          </a:p>
          <a:p>
            <a:pPr fontAlgn="base"/>
            <a:r>
              <a:rPr lang="en-IN" sz="1800" dirty="0"/>
              <a:t>Router Address </a:t>
            </a:r>
            <a:r>
              <a:rPr lang="en-IN" sz="1800" dirty="0" smtClean="0"/>
              <a:t>(192.168.1.1</a:t>
            </a:r>
            <a:r>
              <a:rPr lang="en-IN" sz="1800" dirty="0"/>
              <a:t>)</a:t>
            </a:r>
          </a:p>
          <a:p>
            <a:pPr fontAlgn="base"/>
            <a:r>
              <a:rPr lang="en-IN" sz="1800" dirty="0"/>
              <a:t>DNS Address </a:t>
            </a:r>
            <a:r>
              <a:rPr lang="en-IN" sz="1800" dirty="0" smtClean="0"/>
              <a:t>(8.8.8.8</a:t>
            </a:r>
            <a:r>
              <a:rPr lang="en-IN" sz="1800" dirty="0"/>
              <a:t>)</a:t>
            </a:r>
          </a:p>
          <a:p>
            <a:pPr fontAlgn="base"/>
            <a:r>
              <a:rPr lang="en-IN" sz="1800" dirty="0"/>
              <a:t>Vendor Class </a:t>
            </a:r>
            <a:r>
              <a:rPr lang="en-IN" sz="1800" dirty="0" smtClean="0"/>
              <a:t>Identifier</a:t>
            </a:r>
            <a:endParaRPr lang="en-IN" sz="1800" dirty="0"/>
          </a:p>
          <a:p>
            <a:pPr fontAlgn="base"/>
            <a:r>
              <a:rPr lang="en-IN" sz="1800" dirty="0"/>
              <a:t>DHCP is based on a </a:t>
            </a:r>
            <a:r>
              <a:rPr lang="en-IN" sz="1800" b="1" dirty="0"/>
              <a:t>client-server</a:t>
            </a:r>
            <a:r>
              <a:rPr lang="en-IN" sz="1800" dirty="0"/>
              <a:t> model and based on discovery, offer, request, and ACK. </a:t>
            </a:r>
          </a:p>
          <a:p>
            <a:endParaRPr lang="en-IN" dirty="0"/>
          </a:p>
        </p:txBody>
      </p:sp>
    </p:spTree>
    <p:extLst>
      <p:ext uri="{BB962C8B-B14F-4D97-AF65-F5344CB8AC3E}">
        <p14:creationId xmlns:p14="http://schemas.microsoft.com/office/powerpoint/2010/main" val="350156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smtClean="0"/>
              <a:t>DHCP Working</a:t>
            </a:r>
            <a:endParaRPr lang="en-IN" dirty="0"/>
          </a:p>
        </p:txBody>
      </p:sp>
      <p:sp>
        <p:nvSpPr>
          <p:cNvPr id="3" name="Content Placeholder 2"/>
          <p:cNvSpPr>
            <a:spLocks noGrp="1"/>
          </p:cNvSpPr>
          <p:nvPr>
            <p:ph idx="1"/>
          </p:nvPr>
        </p:nvSpPr>
        <p:spPr/>
        <p:txBody>
          <a:bodyPr>
            <a:normAutofit/>
          </a:bodyPr>
          <a:lstStyle/>
          <a:p>
            <a:r>
              <a:rPr lang="en-IN" sz="1800" dirty="0"/>
              <a:t>DHCP runs at the application layer of the </a:t>
            </a:r>
            <a:r>
              <a:rPr lang="en-IN" sz="1800" dirty="0" smtClean="0"/>
              <a:t>TCP/IP </a:t>
            </a:r>
            <a:r>
              <a:rPr lang="en-IN" sz="1800" dirty="0"/>
              <a:t>stack to dynamically assign IP addresses to DHCP clients and to allocate TCP/IP configuration information to DHCP clients. </a:t>
            </a:r>
            <a:endParaRPr lang="en-IN" sz="1800" dirty="0" smtClean="0"/>
          </a:p>
          <a:p>
            <a:endParaRPr lang="en-IN" sz="1800" dirty="0"/>
          </a:p>
          <a:p>
            <a:r>
              <a:rPr lang="en-IN" sz="1800" dirty="0" smtClean="0"/>
              <a:t>This </a:t>
            </a:r>
            <a:r>
              <a:rPr lang="en-IN" sz="1800" dirty="0"/>
              <a:t>includes subnet mask </a:t>
            </a:r>
            <a:r>
              <a:rPr lang="en-IN" sz="1800" dirty="0" smtClean="0"/>
              <a:t>information, default gateway</a:t>
            </a:r>
            <a:r>
              <a:rPr lang="en-IN" sz="1800" dirty="0"/>
              <a:t> IP addresses and domain name system (DNS) </a:t>
            </a:r>
            <a:r>
              <a:rPr lang="en-IN" sz="1800" dirty="0" smtClean="0"/>
              <a:t>addresses.</a:t>
            </a:r>
          </a:p>
          <a:p>
            <a:pPr marL="0" indent="0">
              <a:buNone/>
            </a:pPr>
            <a:endParaRPr lang="en-IN" sz="1800" dirty="0"/>
          </a:p>
          <a:p>
            <a:r>
              <a:rPr lang="en-US" sz="1800" dirty="0"/>
              <a:t>DHCP is a </a:t>
            </a:r>
            <a:r>
              <a:rPr lang="en-US" sz="1800" b="1" dirty="0"/>
              <a:t>client-server</a:t>
            </a:r>
            <a:r>
              <a:rPr lang="en-US" sz="1800" dirty="0"/>
              <a:t> protocol in which servers manage a pool of unique IP addresses, as well as information about client configuration </a:t>
            </a:r>
            <a:r>
              <a:rPr lang="en-US" sz="1800" dirty="0" smtClean="0"/>
              <a:t>parameters.</a:t>
            </a:r>
            <a:endParaRPr lang="en-IN" sz="1800" dirty="0"/>
          </a:p>
        </p:txBody>
      </p:sp>
    </p:spTree>
    <p:extLst>
      <p:ext uri="{BB962C8B-B14F-4D97-AF65-F5344CB8AC3E}">
        <p14:creationId xmlns:p14="http://schemas.microsoft.com/office/powerpoint/2010/main" val="2554267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DHCP Components</a:t>
            </a:r>
            <a:endParaRPr lang="en-IN" sz="3200" dirty="0"/>
          </a:p>
        </p:txBody>
      </p:sp>
      <p:sp>
        <p:nvSpPr>
          <p:cNvPr id="3" name="Content Placeholder 2"/>
          <p:cNvSpPr>
            <a:spLocks noGrp="1"/>
          </p:cNvSpPr>
          <p:nvPr>
            <p:ph idx="1"/>
          </p:nvPr>
        </p:nvSpPr>
        <p:spPr/>
        <p:txBody>
          <a:bodyPr>
            <a:noAutofit/>
          </a:bodyPr>
          <a:lstStyle/>
          <a:p>
            <a:r>
              <a:rPr lang="en-US" sz="1800" b="1" dirty="0"/>
              <a:t>DHCP Server: </a:t>
            </a:r>
            <a:r>
              <a:rPr lang="en-US" sz="1800" dirty="0"/>
              <a:t>DHCP server is a networked device running the DCHP service that holds IP addresses and related configuration information. This is typically a server or a router but could be anything that acts as a host, such as an SD-WAN appliance.</a:t>
            </a:r>
          </a:p>
          <a:p>
            <a:endParaRPr lang="en-US" sz="1800" dirty="0"/>
          </a:p>
          <a:p>
            <a:r>
              <a:rPr lang="en-US" sz="1800" b="1" dirty="0"/>
              <a:t>DHCP client: </a:t>
            </a:r>
            <a:r>
              <a:rPr lang="en-US" sz="1800" dirty="0"/>
              <a:t>DHCP client is the endpoint that receives configuration information from a DHCP server. This can be any device like computer, laptop, </a:t>
            </a:r>
            <a:r>
              <a:rPr lang="en-US" sz="1800" dirty="0" err="1"/>
              <a:t>IoT</a:t>
            </a:r>
            <a:r>
              <a:rPr lang="en-US" sz="1800" dirty="0"/>
              <a:t> endpoint or anything else that requires connectivity to the network. Most of the devices are configured to receive DHCP information by default.</a:t>
            </a:r>
          </a:p>
          <a:p>
            <a:endParaRPr lang="en-US" sz="1400" dirty="0"/>
          </a:p>
          <a:p>
            <a:r>
              <a:rPr lang="en-US" sz="1800" b="1" dirty="0"/>
              <a:t>IP address pool:</a:t>
            </a:r>
            <a:r>
              <a:rPr lang="en-US" sz="1800" dirty="0"/>
              <a:t> IP address pool is the range of addresses that are available to DHCP clients. IP addresses are typically handed out sequentially from lowest to the highest</a:t>
            </a:r>
            <a:r>
              <a:rPr lang="en-US" sz="1800" dirty="0" smtClean="0"/>
              <a:t>.</a:t>
            </a:r>
          </a:p>
          <a:p>
            <a:endParaRPr lang="en-US" sz="2800" dirty="0"/>
          </a:p>
        </p:txBody>
      </p:sp>
    </p:spTree>
    <p:extLst>
      <p:ext uri="{BB962C8B-B14F-4D97-AF65-F5344CB8AC3E}">
        <p14:creationId xmlns:p14="http://schemas.microsoft.com/office/powerpoint/2010/main" val="3545335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DHCP Components</a:t>
            </a:r>
          </a:p>
        </p:txBody>
      </p:sp>
      <p:sp>
        <p:nvSpPr>
          <p:cNvPr id="3" name="Content Placeholder 2"/>
          <p:cNvSpPr>
            <a:spLocks noGrp="1"/>
          </p:cNvSpPr>
          <p:nvPr>
            <p:ph idx="1"/>
          </p:nvPr>
        </p:nvSpPr>
        <p:spPr/>
        <p:txBody>
          <a:bodyPr>
            <a:normAutofit/>
          </a:bodyPr>
          <a:lstStyle/>
          <a:p>
            <a:r>
              <a:rPr lang="en-US" sz="1800" b="1" dirty="0"/>
              <a:t>Subnet:</a:t>
            </a:r>
            <a:r>
              <a:rPr lang="en-US" sz="1800" dirty="0"/>
              <a:t> Subnet is the partitioned segments of the IP networks. Subnet is used to keep networks manageable.</a:t>
            </a:r>
          </a:p>
          <a:p>
            <a:endParaRPr lang="en-US" sz="1800" dirty="0"/>
          </a:p>
          <a:p>
            <a:r>
              <a:rPr lang="en-US" sz="1800" b="1" dirty="0"/>
              <a:t>Lease:</a:t>
            </a:r>
            <a:r>
              <a:rPr lang="en-US" sz="1800" dirty="0"/>
              <a:t> Lease is the length of time for which a DHCP client holds the IP address information. When a lease expires, the client has to renew it.</a:t>
            </a:r>
          </a:p>
          <a:p>
            <a:pPr marL="0" indent="0">
              <a:buNone/>
            </a:pPr>
            <a:endParaRPr lang="en-US" sz="1800" b="1" dirty="0" smtClean="0"/>
          </a:p>
          <a:p>
            <a:r>
              <a:rPr lang="en-US" sz="1800" b="1" dirty="0" smtClean="0"/>
              <a:t>DHCP </a:t>
            </a:r>
            <a:r>
              <a:rPr lang="en-US" sz="1800" b="1" dirty="0"/>
              <a:t>relay:</a:t>
            </a:r>
            <a:r>
              <a:rPr lang="en-US" sz="1800" dirty="0"/>
              <a:t> A host or router that listens for client messages being broadcast on that network and then forwards them to a configured server. The server then sends responses back to the relay agent that passes them along to the client. DHCP relay can be used to centralize DHCP servers instead of having a server on each subnet.</a:t>
            </a:r>
          </a:p>
          <a:p>
            <a:endParaRPr lang="en-IN" dirty="0"/>
          </a:p>
        </p:txBody>
      </p:sp>
    </p:spTree>
    <p:extLst>
      <p:ext uri="{BB962C8B-B14F-4D97-AF65-F5344CB8AC3E}">
        <p14:creationId xmlns:p14="http://schemas.microsoft.com/office/powerpoint/2010/main" val="3270454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Benefits of DHCP</a:t>
            </a:r>
          </a:p>
        </p:txBody>
      </p:sp>
      <p:sp>
        <p:nvSpPr>
          <p:cNvPr id="3" name="Content Placeholder 2"/>
          <p:cNvSpPr>
            <a:spLocks noGrp="1"/>
          </p:cNvSpPr>
          <p:nvPr>
            <p:ph idx="1"/>
          </p:nvPr>
        </p:nvSpPr>
        <p:spPr/>
        <p:txBody>
          <a:bodyPr>
            <a:normAutofit fontScale="92500" lnSpcReduction="10000"/>
          </a:bodyPr>
          <a:lstStyle/>
          <a:p>
            <a:r>
              <a:rPr lang="en-US" sz="1800" b="1" dirty="0"/>
              <a:t>Centralized administration of IP configuration:</a:t>
            </a:r>
            <a:r>
              <a:rPr lang="en-US" sz="1800" dirty="0"/>
              <a:t> DHCP IP configuration information can be stored in a single location and enables that administrator to centrally manage all IP address configuration information</a:t>
            </a:r>
            <a:r>
              <a:rPr lang="en-US" sz="1800" dirty="0" smtClean="0"/>
              <a:t>.</a:t>
            </a:r>
          </a:p>
          <a:p>
            <a:endParaRPr lang="en-US" sz="1800" dirty="0"/>
          </a:p>
          <a:p>
            <a:r>
              <a:rPr lang="en-US" sz="1800" b="1" dirty="0"/>
              <a:t>Dynamic host configuration:</a:t>
            </a:r>
            <a:r>
              <a:rPr lang="en-US" sz="1800" dirty="0"/>
              <a:t> DHCP automates the host configuration process and eliminates the need to manually configure individual host. When TCP/IP </a:t>
            </a:r>
            <a:r>
              <a:rPr lang="en-US" sz="1800" dirty="0" smtClean="0"/>
              <a:t>is </a:t>
            </a:r>
            <a:r>
              <a:rPr lang="en-US" sz="1800" dirty="0"/>
              <a:t>first deployed or when IP infrastructure changes are required.</a:t>
            </a:r>
          </a:p>
          <a:p>
            <a:endParaRPr lang="en-US" sz="1800" b="1" dirty="0" smtClean="0"/>
          </a:p>
          <a:p>
            <a:r>
              <a:rPr lang="en-US" sz="1800" b="1" dirty="0" smtClean="0"/>
              <a:t>Seamless </a:t>
            </a:r>
            <a:r>
              <a:rPr lang="en-US" sz="1800" b="1" dirty="0"/>
              <a:t>IP host configuration:</a:t>
            </a:r>
            <a:r>
              <a:rPr lang="en-US" sz="1800" dirty="0"/>
              <a:t> The use of DHCP ensures that DHCP clients get accurate and timely IP configuration IP configuration parameter such as IP address, subnet mask, default gateway, IP address of DND server and so on without user intervention</a:t>
            </a:r>
            <a:r>
              <a:rPr lang="en-US" sz="1800" dirty="0" smtClean="0"/>
              <a:t>.</a:t>
            </a:r>
          </a:p>
          <a:p>
            <a:endParaRPr lang="en-US" sz="1800" dirty="0"/>
          </a:p>
          <a:p>
            <a:r>
              <a:rPr lang="en-US" sz="1800" b="1" dirty="0"/>
              <a:t>Flexibility and scalability:</a:t>
            </a:r>
            <a:r>
              <a:rPr lang="en-US" sz="1800" dirty="0"/>
              <a:t> Using DHCP gives the administrator increased flexibility, allowing the administrator to move easily change IP configuration when the infrastructure changes.</a:t>
            </a:r>
            <a:endParaRPr lang="en-IN" sz="1800" dirty="0"/>
          </a:p>
          <a:p>
            <a:endParaRPr lang="en-IN" dirty="0"/>
          </a:p>
        </p:txBody>
      </p:sp>
    </p:spTree>
    <p:extLst>
      <p:ext uri="{BB962C8B-B14F-4D97-AF65-F5344CB8AC3E}">
        <p14:creationId xmlns:p14="http://schemas.microsoft.com/office/powerpoint/2010/main" val="674624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DNS</a:t>
            </a:r>
            <a:endParaRPr lang="en-IN" sz="3200" dirty="0"/>
          </a:p>
        </p:txBody>
      </p:sp>
      <p:sp>
        <p:nvSpPr>
          <p:cNvPr id="3" name="Content Placeholder 2"/>
          <p:cNvSpPr>
            <a:spLocks noGrp="1"/>
          </p:cNvSpPr>
          <p:nvPr>
            <p:ph idx="1"/>
          </p:nvPr>
        </p:nvSpPr>
        <p:spPr/>
        <p:txBody>
          <a:bodyPr>
            <a:normAutofit/>
          </a:bodyPr>
          <a:lstStyle/>
          <a:p>
            <a:r>
              <a:rPr lang="en-US" sz="2000" dirty="0"/>
              <a:t>DNS in Networking </a:t>
            </a:r>
            <a:endParaRPr lang="en-US" sz="2000" dirty="0" smtClean="0"/>
          </a:p>
          <a:p>
            <a:pPr lvl="1"/>
            <a:r>
              <a:rPr lang="en-US" sz="1800" dirty="0" smtClean="0"/>
              <a:t>DNS </a:t>
            </a:r>
            <a:r>
              <a:rPr lang="en-US" sz="1800" dirty="0"/>
              <a:t>is short for Domain Name Service or Domain Name System. </a:t>
            </a:r>
            <a:endParaRPr lang="en-US" sz="1800" dirty="0" smtClean="0"/>
          </a:p>
          <a:p>
            <a:pPr lvl="1"/>
            <a:r>
              <a:rPr lang="en-US" sz="1800" dirty="0" smtClean="0"/>
              <a:t>It </a:t>
            </a:r>
            <a:r>
              <a:rPr lang="en-US" sz="1800" dirty="0"/>
              <a:t>is an application layer protocol. </a:t>
            </a:r>
            <a:endParaRPr lang="en-US" sz="1800" dirty="0" smtClean="0"/>
          </a:p>
          <a:p>
            <a:pPr marL="457200" lvl="1" indent="0">
              <a:buNone/>
            </a:pPr>
            <a:endParaRPr lang="en-US" sz="1800" dirty="0" smtClean="0"/>
          </a:p>
          <a:p>
            <a:pPr marL="0" indent="0">
              <a:buNone/>
            </a:pPr>
            <a:r>
              <a:rPr lang="en-US" sz="2000" b="1" dirty="0" smtClean="0"/>
              <a:t>Purpose:</a:t>
            </a:r>
          </a:p>
          <a:p>
            <a:r>
              <a:rPr lang="en-US" sz="2000" dirty="0" smtClean="0"/>
              <a:t>DNS </a:t>
            </a:r>
            <a:r>
              <a:rPr lang="en-US" sz="2000" dirty="0"/>
              <a:t>is a host name to IP Address translation service. </a:t>
            </a:r>
            <a:endParaRPr lang="en-US" sz="2000" dirty="0" smtClean="0"/>
          </a:p>
          <a:p>
            <a:endParaRPr lang="en-US" sz="2000" dirty="0"/>
          </a:p>
          <a:p>
            <a:r>
              <a:rPr lang="en-US" sz="2000" dirty="0" smtClean="0"/>
              <a:t>It </a:t>
            </a:r>
            <a:r>
              <a:rPr lang="en-US" sz="2000" dirty="0"/>
              <a:t>converts the names we type in our web browser address bar to the IP Address of web servers hosting those sites</a:t>
            </a:r>
            <a:endParaRPr lang="en-IN" sz="2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5029200"/>
            <a:ext cx="6400800" cy="1295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2324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DNS</a:t>
            </a:r>
          </a:p>
        </p:txBody>
      </p:sp>
      <p:sp>
        <p:nvSpPr>
          <p:cNvPr id="3" name="Content Placeholder 2"/>
          <p:cNvSpPr>
            <a:spLocks noGrp="1"/>
          </p:cNvSpPr>
          <p:nvPr>
            <p:ph idx="1"/>
          </p:nvPr>
        </p:nvSpPr>
        <p:spPr/>
        <p:txBody>
          <a:bodyPr>
            <a:noAutofit/>
          </a:bodyPr>
          <a:lstStyle/>
          <a:p>
            <a:r>
              <a:rPr lang="en-US" sz="1800" dirty="0"/>
              <a:t>Domain Name Service (DNS) The need for Domain Name Service arises due to the following reasons- </a:t>
            </a:r>
            <a:endParaRPr lang="en-US" sz="1800" dirty="0" smtClean="0"/>
          </a:p>
          <a:p>
            <a:endParaRPr lang="en-US" sz="1800" dirty="0"/>
          </a:p>
          <a:p>
            <a:r>
              <a:rPr lang="en-US" sz="1800" dirty="0" smtClean="0"/>
              <a:t>IP </a:t>
            </a:r>
            <a:r>
              <a:rPr lang="en-US" sz="1800" dirty="0"/>
              <a:t>Addresses are not static and may change dynamically. </a:t>
            </a:r>
            <a:endParaRPr lang="en-US" sz="1800" dirty="0" smtClean="0"/>
          </a:p>
          <a:p>
            <a:endParaRPr lang="en-US" sz="1800" dirty="0"/>
          </a:p>
          <a:p>
            <a:r>
              <a:rPr lang="en-US" sz="1800" dirty="0" smtClean="0"/>
              <a:t>So</a:t>
            </a:r>
            <a:r>
              <a:rPr lang="en-US" sz="1800" dirty="0"/>
              <a:t>, a mapping is required which maps the domain names to the IP Addresses of their web servers. </a:t>
            </a:r>
            <a:endParaRPr lang="en-US" sz="1800" dirty="0" smtClean="0"/>
          </a:p>
          <a:p>
            <a:endParaRPr lang="en-US" sz="1800" dirty="0"/>
          </a:p>
          <a:p>
            <a:r>
              <a:rPr lang="en-US" sz="1800" dirty="0" smtClean="0"/>
              <a:t>IP </a:t>
            </a:r>
            <a:r>
              <a:rPr lang="en-US" sz="1800" dirty="0"/>
              <a:t>Addresses are a complex series of </a:t>
            </a:r>
            <a:r>
              <a:rPr lang="en-US" sz="1800" dirty="0" smtClean="0"/>
              <a:t>numbers. So</a:t>
            </a:r>
            <a:r>
              <a:rPr lang="en-US" sz="1800" dirty="0"/>
              <a:t>, it is difficult to remember IP Addresses directly while it is easy to remember </a:t>
            </a:r>
            <a:r>
              <a:rPr lang="en-US" sz="1800" dirty="0" smtClean="0"/>
              <a:t>names.</a:t>
            </a:r>
          </a:p>
          <a:p>
            <a:endParaRPr lang="en-US" sz="1800" dirty="0"/>
          </a:p>
          <a:p>
            <a:r>
              <a:rPr lang="en-US" sz="1800" dirty="0"/>
              <a:t>DNS uses UDP (port 53) at the transport layer. </a:t>
            </a:r>
          </a:p>
          <a:p>
            <a:pPr marL="0" indent="0">
              <a:buNone/>
            </a:pPr>
            <a:endParaRPr lang="en-IN" sz="1800" dirty="0"/>
          </a:p>
        </p:txBody>
      </p:sp>
    </p:spTree>
    <p:extLst>
      <p:ext uri="{BB962C8B-B14F-4D97-AF65-F5344CB8AC3E}">
        <p14:creationId xmlns:p14="http://schemas.microsoft.com/office/powerpoint/2010/main" val="3174215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Resolution </a:t>
            </a:r>
            <a:r>
              <a:rPr lang="en-IN" sz="3200" dirty="0" smtClean="0"/>
              <a:t>process</a:t>
            </a:r>
            <a:endParaRPr lang="en-IN" sz="3200" dirty="0"/>
          </a:p>
        </p:txBody>
      </p:sp>
      <p:sp>
        <p:nvSpPr>
          <p:cNvPr id="3" name="Content Placeholder 2"/>
          <p:cNvSpPr>
            <a:spLocks noGrp="1"/>
          </p:cNvSpPr>
          <p:nvPr>
            <p:ph idx="1"/>
          </p:nvPr>
        </p:nvSpPr>
        <p:spPr/>
        <p:txBody>
          <a:bodyPr>
            <a:normAutofit/>
          </a:bodyPr>
          <a:lstStyle/>
          <a:p>
            <a:r>
              <a:rPr lang="en-US" sz="1800" dirty="0"/>
              <a:t>DNS Resolution is a process of resolving a domain name onto an IP Address.</a:t>
            </a:r>
            <a:endParaRPr lang="en-IN" sz="1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86000"/>
            <a:ext cx="7181850" cy="429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047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Resolution process</a:t>
            </a:r>
          </a:p>
        </p:txBody>
      </p:sp>
      <p:sp>
        <p:nvSpPr>
          <p:cNvPr id="3" name="Content Placeholder 2"/>
          <p:cNvSpPr>
            <a:spLocks noGrp="1"/>
          </p:cNvSpPr>
          <p:nvPr>
            <p:ph idx="1"/>
          </p:nvPr>
        </p:nvSpPr>
        <p:spPr/>
        <p:txBody>
          <a:bodyPr>
            <a:normAutofit fontScale="40000" lnSpcReduction="20000"/>
          </a:bodyPr>
          <a:lstStyle/>
          <a:p>
            <a:pPr marL="0" indent="0">
              <a:buNone/>
            </a:pPr>
            <a:r>
              <a:rPr lang="en-US" b="1" dirty="0"/>
              <a:t>The steps involved in DNS Resolution are- </a:t>
            </a:r>
            <a:endParaRPr lang="en-US" b="1" dirty="0" smtClean="0"/>
          </a:p>
          <a:p>
            <a:pPr marL="0" indent="0">
              <a:buNone/>
            </a:pPr>
            <a:endParaRPr lang="en-US" b="1" dirty="0" smtClean="0"/>
          </a:p>
          <a:p>
            <a:pPr marL="0" indent="0">
              <a:buNone/>
            </a:pPr>
            <a:r>
              <a:rPr lang="en-US" b="1" dirty="0" smtClean="0"/>
              <a:t>Step-01</a:t>
            </a:r>
            <a:r>
              <a:rPr lang="en-US" b="1" dirty="0"/>
              <a:t>: </a:t>
            </a:r>
            <a:endParaRPr lang="en-US" b="1" dirty="0" smtClean="0"/>
          </a:p>
          <a:p>
            <a:pPr marL="0" indent="0">
              <a:buNone/>
            </a:pPr>
            <a:endParaRPr lang="en-US" b="1" dirty="0" smtClean="0"/>
          </a:p>
          <a:p>
            <a:r>
              <a:rPr lang="en-US" dirty="0" smtClean="0"/>
              <a:t>A </a:t>
            </a:r>
            <a:r>
              <a:rPr lang="en-US" dirty="0"/>
              <a:t>user program sends a name query to a library procedure called the resolver. </a:t>
            </a:r>
            <a:endParaRPr lang="en-US" dirty="0" smtClean="0"/>
          </a:p>
          <a:p>
            <a:endParaRPr lang="en-US" dirty="0" smtClean="0"/>
          </a:p>
          <a:p>
            <a:pPr marL="0" indent="0">
              <a:buNone/>
            </a:pPr>
            <a:r>
              <a:rPr lang="en-US" b="1" dirty="0" smtClean="0"/>
              <a:t>Step-02</a:t>
            </a:r>
            <a:r>
              <a:rPr lang="en-US" b="1" dirty="0"/>
              <a:t>: </a:t>
            </a:r>
            <a:endParaRPr lang="en-US" b="1" dirty="0" smtClean="0"/>
          </a:p>
          <a:p>
            <a:pPr marL="0" indent="0">
              <a:buNone/>
            </a:pPr>
            <a:endParaRPr lang="en-US" b="1" dirty="0" smtClean="0"/>
          </a:p>
          <a:p>
            <a:r>
              <a:rPr lang="en-US" dirty="0" smtClean="0"/>
              <a:t>Resolver </a:t>
            </a:r>
            <a:r>
              <a:rPr lang="en-US" dirty="0"/>
              <a:t>looks up the local domain name cache for a match. </a:t>
            </a:r>
            <a:r>
              <a:rPr lang="en-US" dirty="0" smtClean="0"/>
              <a:t>If </a:t>
            </a:r>
            <a:r>
              <a:rPr lang="en-US" dirty="0"/>
              <a:t>a match is found, it sends the corresponding IP Address back. </a:t>
            </a:r>
            <a:endParaRPr lang="en-US" dirty="0" smtClean="0"/>
          </a:p>
          <a:p>
            <a:r>
              <a:rPr lang="en-US" dirty="0" smtClean="0"/>
              <a:t>If </a:t>
            </a:r>
            <a:r>
              <a:rPr lang="en-US" dirty="0"/>
              <a:t>no match is found, it sends a query to the local DNS server. </a:t>
            </a:r>
            <a:endParaRPr lang="en-US" dirty="0" smtClean="0"/>
          </a:p>
          <a:p>
            <a:endParaRPr lang="en-US" dirty="0"/>
          </a:p>
          <a:p>
            <a:pPr marL="0" indent="0">
              <a:buNone/>
            </a:pPr>
            <a:r>
              <a:rPr lang="en-US" b="1" dirty="0" smtClean="0"/>
              <a:t>Step-03</a:t>
            </a:r>
            <a:r>
              <a:rPr lang="en-US" b="1" dirty="0"/>
              <a:t>: </a:t>
            </a:r>
            <a:endParaRPr lang="en-US" b="1" dirty="0" smtClean="0"/>
          </a:p>
          <a:p>
            <a:pPr marL="0" indent="0">
              <a:buNone/>
            </a:pPr>
            <a:endParaRPr lang="en-US" b="1" dirty="0" smtClean="0"/>
          </a:p>
          <a:p>
            <a:r>
              <a:rPr lang="en-US" dirty="0" smtClean="0"/>
              <a:t>DNS </a:t>
            </a:r>
            <a:r>
              <a:rPr lang="en-US" dirty="0"/>
              <a:t>server looks up the name. </a:t>
            </a:r>
            <a:endParaRPr lang="en-US" dirty="0" smtClean="0"/>
          </a:p>
          <a:p>
            <a:r>
              <a:rPr lang="en-US" dirty="0" smtClean="0"/>
              <a:t>If </a:t>
            </a:r>
            <a:r>
              <a:rPr lang="en-US" dirty="0"/>
              <a:t>a match is found, it returns the corresponding IP Address to the resolver. </a:t>
            </a:r>
            <a:endParaRPr lang="en-US" dirty="0" smtClean="0"/>
          </a:p>
          <a:p>
            <a:r>
              <a:rPr lang="en-US" dirty="0" smtClean="0"/>
              <a:t>If </a:t>
            </a:r>
            <a:r>
              <a:rPr lang="en-US" dirty="0"/>
              <a:t>no match is found, the local DNS server sends a query to a higher level DNS server. </a:t>
            </a:r>
            <a:endParaRPr lang="en-US" dirty="0" smtClean="0"/>
          </a:p>
          <a:p>
            <a:r>
              <a:rPr lang="en-US" dirty="0" smtClean="0"/>
              <a:t>This </a:t>
            </a:r>
            <a:r>
              <a:rPr lang="en-US" dirty="0"/>
              <a:t>process is continued until a result is returned. </a:t>
            </a:r>
            <a:endParaRPr lang="en-US" dirty="0" smtClean="0"/>
          </a:p>
          <a:p>
            <a:endParaRPr lang="en-US" dirty="0" smtClean="0"/>
          </a:p>
          <a:p>
            <a:pPr marL="0" indent="0">
              <a:buNone/>
            </a:pPr>
            <a:r>
              <a:rPr lang="en-US" b="1" dirty="0" smtClean="0"/>
              <a:t>Step-04</a:t>
            </a:r>
            <a:r>
              <a:rPr lang="en-US" b="1" dirty="0"/>
              <a:t>: </a:t>
            </a:r>
            <a:endParaRPr lang="en-US" b="1" dirty="0" smtClean="0"/>
          </a:p>
          <a:p>
            <a:pPr marL="0" indent="0">
              <a:buNone/>
            </a:pPr>
            <a:endParaRPr lang="en-US" b="1" dirty="0" smtClean="0"/>
          </a:p>
          <a:p>
            <a:r>
              <a:rPr lang="en-US" dirty="0" smtClean="0"/>
              <a:t>After </a:t>
            </a:r>
            <a:r>
              <a:rPr lang="en-US" dirty="0"/>
              <a:t>receiving a response, the DNS client returns the resolution result to the application</a:t>
            </a:r>
            <a:endParaRPr lang="en-IN" dirty="0"/>
          </a:p>
        </p:txBody>
      </p:sp>
    </p:spTree>
    <p:extLst>
      <p:ext uri="{BB962C8B-B14F-4D97-AF65-F5344CB8AC3E}">
        <p14:creationId xmlns:p14="http://schemas.microsoft.com/office/powerpoint/2010/main" val="2287773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Resolution process</a:t>
            </a:r>
          </a:p>
        </p:txBody>
      </p:sp>
      <p:sp>
        <p:nvSpPr>
          <p:cNvPr id="3" name="Content Placeholder 2"/>
          <p:cNvSpPr>
            <a:spLocks noGrp="1"/>
          </p:cNvSpPr>
          <p:nvPr>
            <p:ph idx="1"/>
          </p:nvPr>
        </p:nvSpPr>
        <p:spPr/>
        <p:txBody>
          <a:bodyPr>
            <a:normAutofit/>
          </a:bodyPr>
          <a:lstStyle/>
          <a:p>
            <a:r>
              <a:rPr lang="en-US" sz="1800" b="1" dirty="0"/>
              <a:t>DNS is a connection less protocol</a:t>
            </a:r>
            <a:r>
              <a:rPr lang="en-US" sz="1800" dirty="0"/>
              <a:t>. </a:t>
            </a:r>
            <a:endParaRPr lang="en-US" sz="1800" dirty="0" smtClean="0"/>
          </a:p>
          <a:p>
            <a:pPr lvl="1"/>
            <a:r>
              <a:rPr lang="en-US" sz="1600" dirty="0" smtClean="0"/>
              <a:t>DNS </a:t>
            </a:r>
            <a:r>
              <a:rPr lang="en-US" sz="1600" dirty="0"/>
              <a:t>uses UDP at the transport layer for replying to the DNS queries of clients. </a:t>
            </a:r>
            <a:endParaRPr lang="en-US" sz="1600" dirty="0" smtClean="0"/>
          </a:p>
          <a:p>
            <a:pPr lvl="1"/>
            <a:r>
              <a:rPr lang="en-US" sz="1600" dirty="0" smtClean="0"/>
              <a:t>Therefore</a:t>
            </a:r>
            <a:r>
              <a:rPr lang="en-US" sz="1600" dirty="0"/>
              <a:t>, it is a connection less protocol. </a:t>
            </a:r>
            <a:endParaRPr lang="en-US" sz="1600" dirty="0" smtClean="0"/>
          </a:p>
          <a:p>
            <a:endParaRPr lang="en-US" sz="1800" dirty="0" smtClean="0"/>
          </a:p>
          <a:p>
            <a:r>
              <a:rPr lang="en-US" sz="1800" b="1" dirty="0" smtClean="0"/>
              <a:t>DNS </a:t>
            </a:r>
            <a:r>
              <a:rPr lang="en-US" sz="1800" b="1" dirty="0"/>
              <a:t>is non-persistent. </a:t>
            </a:r>
            <a:endParaRPr lang="en-US" sz="1800" b="1" dirty="0" smtClean="0"/>
          </a:p>
          <a:p>
            <a:endParaRPr lang="en-US" sz="1800" b="1" dirty="0" smtClean="0"/>
          </a:p>
          <a:p>
            <a:r>
              <a:rPr lang="en-US" sz="1800" b="1" dirty="0" smtClean="0"/>
              <a:t>DNS </a:t>
            </a:r>
            <a:r>
              <a:rPr lang="en-US" sz="1800" b="1" dirty="0"/>
              <a:t>is a stateless protocol</a:t>
            </a:r>
            <a:r>
              <a:rPr lang="en-US" sz="1800" dirty="0"/>
              <a:t>. </a:t>
            </a:r>
          </a:p>
          <a:p>
            <a:pPr lvl="1"/>
            <a:r>
              <a:rPr lang="en-US" sz="1600" dirty="0" smtClean="0"/>
              <a:t>DNS </a:t>
            </a:r>
            <a:r>
              <a:rPr lang="en-US" sz="1600" dirty="0"/>
              <a:t>server accepts the requests, process them, resolves the query and forget about them. </a:t>
            </a:r>
            <a:endParaRPr lang="en-US" sz="1600" dirty="0" smtClean="0"/>
          </a:p>
          <a:p>
            <a:pPr lvl="1"/>
            <a:r>
              <a:rPr lang="en-US" sz="1600" dirty="0" smtClean="0"/>
              <a:t>It </a:t>
            </a:r>
            <a:r>
              <a:rPr lang="en-US" sz="1600" dirty="0"/>
              <a:t>does not make any assumption how long this will be. </a:t>
            </a:r>
            <a:endParaRPr lang="en-US" sz="1600" dirty="0" smtClean="0"/>
          </a:p>
          <a:p>
            <a:pPr marL="457200" lvl="1" indent="0">
              <a:buNone/>
            </a:pPr>
            <a:endParaRPr lang="en-US" sz="1600" dirty="0" smtClean="0"/>
          </a:p>
          <a:p>
            <a:r>
              <a:rPr lang="en-US" sz="1800" b="1" dirty="0" smtClean="0"/>
              <a:t>Mapping </a:t>
            </a:r>
            <a:r>
              <a:rPr lang="en-US" sz="1800" b="1" dirty="0"/>
              <a:t>an IP Address onto a domain name is referred to as Inverse domain. </a:t>
            </a:r>
            <a:endParaRPr lang="en-US" sz="1800" b="1" dirty="0" smtClean="0"/>
          </a:p>
          <a:p>
            <a:pPr lvl="1"/>
            <a:r>
              <a:rPr lang="en-US" sz="1600" dirty="0" smtClean="0"/>
              <a:t>DNS </a:t>
            </a:r>
            <a:r>
              <a:rPr lang="en-US" sz="1600" dirty="0"/>
              <a:t>can translate a domain name onto an IP Address. </a:t>
            </a:r>
            <a:endParaRPr lang="en-US" sz="1600" dirty="0" smtClean="0"/>
          </a:p>
          <a:p>
            <a:pPr lvl="1"/>
            <a:r>
              <a:rPr lang="en-US" sz="1600" dirty="0" smtClean="0"/>
              <a:t>Also</a:t>
            </a:r>
            <a:r>
              <a:rPr lang="en-US" sz="1600" dirty="0"/>
              <a:t>, it can translate an IP Address onto a domain </a:t>
            </a:r>
            <a:r>
              <a:rPr lang="en-US" sz="1600" dirty="0" smtClean="0"/>
              <a:t>name.</a:t>
            </a:r>
            <a:endParaRPr lang="en-IN" sz="1600" dirty="0"/>
          </a:p>
        </p:txBody>
      </p:sp>
    </p:spTree>
    <p:extLst>
      <p:ext uri="{BB962C8B-B14F-4D97-AF65-F5344CB8AC3E}">
        <p14:creationId xmlns:p14="http://schemas.microsoft.com/office/powerpoint/2010/main" val="3409146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Resolution process</a:t>
            </a:r>
          </a:p>
        </p:txBody>
      </p:sp>
      <p:sp>
        <p:nvSpPr>
          <p:cNvPr id="3" name="Content Placeholder 2"/>
          <p:cNvSpPr>
            <a:spLocks noGrp="1"/>
          </p:cNvSpPr>
          <p:nvPr>
            <p:ph idx="1"/>
          </p:nvPr>
        </p:nvSpPr>
        <p:spPr/>
        <p:txBody>
          <a:bodyPr>
            <a:normAutofit fontScale="55000" lnSpcReduction="20000"/>
          </a:bodyPr>
          <a:lstStyle/>
          <a:p>
            <a:r>
              <a:rPr lang="en-US" dirty="0"/>
              <a:t>For the first time, there is more delay in translating the domain name onto an IP </a:t>
            </a:r>
            <a:r>
              <a:rPr lang="en-US" dirty="0" smtClean="0"/>
              <a:t>Address.</a:t>
            </a:r>
          </a:p>
          <a:p>
            <a:endParaRPr lang="en-US" dirty="0" smtClean="0"/>
          </a:p>
          <a:p>
            <a:r>
              <a:rPr lang="en-US" dirty="0" smtClean="0"/>
              <a:t>Converting </a:t>
            </a:r>
            <a:r>
              <a:rPr lang="en-US" dirty="0"/>
              <a:t>a domain name onto an IP Address is an extra overhead. </a:t>
            </a:r>
            <a:endParaRPr lang="en-US" dirty="0" smtClean="0"/>
          </a:p>
          <a:p>
            <a:endParaRPr lang="en-US" dirty="0"/>
          </a:p>
          <a:p>
            <a:r>
              <a:rPr lang="en-US" dirty="0" smtClean="0"/>
              <a:t>This </a:t>
            </a:r>
            <a:r>
              <a:rPr lang="en-US" dirty="0"/>
              <a:t>overhead is called as DNS Overhead. </a:t>
            </a:r>
            <a:endParaRPr lang="en-US" dirty="0" smtClean="0"/>
          </a:p>
          <a:p>
            <a:endParaRPr lang="en-US" dirty="0"/>
          </a:p>
          <a:p>
            <a:r>
              <a:rPr lang="en-US" dirty="0" smtClean="0"/>
              <a:t>It </a:t>
            </a:r>
            <a:r>
              <a:rPr lang="en-US" dirty="0"/>
              <a:t>causes an unnecessary delay in serving the request. </a:t>
            </a:r>
            <a:endParaRPr lang="en-US" dirty="0" smtClean="0"/>
          </a:p>
          <a:p>
            <a:endParaRPr lang="en-US" dirty="0"/>
          </a:p>
          <a:p>
            <a:r>
              <a:rPr lang="en-US" dirty="0" smtClean="0"/>
              <a:t>So</a:t>
            </a:r>
            <a:r>
              <a:rPr lang="en-US" dirty="0"/>
              <a:t>, there is more delay for the first time. </a:t>
            </a:r>
            <a:endParaRPr lang="en-US" dirty="0" smtClean="0"/>
          </a:p>
          <a:p>
            <a:endParaRPr lang="en-US" dirty="0"/>
          </a:p>
          <a:p>
            <a:r>
              <a:rPr lang="en-US" dirty="0" smtClean="0"/>
              <a:t>To </a:t>
            </a:r>
            <a:r>
              <a:rPr lang="en-US" dirty="0"/>
              <a:t>reduce the delay next time, IP Addresses are stored in the computer using log. </a:t>
            </a:r>
            <a:endParaRPr lang="en-US" dirty="0" smtClean="0"/>
          </a:p>
          <a:p>
            <a:endParaRPr lang="en-US" dirty="0"/>
          </a:p>
          <a:p>
            <a:r>
              <a:rPr lang="en-US" dirty="0" smtClean="0"/>
              <a:t>This </a:t>
            </a:r>
            <a:r>
              <a:rPr lang="en-US" dirty="0"/>
              <a:t>avoids the DNS overhead next time and takes less time in serving the request. </a:t>
            </a:r>
            <a:endParaRPr lang="en-US" dirty="0" smtClean="0"/>
          </a:p>
          <a:p>
            <a:endParaRPr lang="en-US" dirty="0"/>
          </a:p>
          <a:p>
            <a:r>
              <a:rPr lang="en-US" dirty="0" smtClean="0"/>
              <a:t> </a:t>
            </a:r>
            <a:r>
              <a:rPr lang="en-US" dirty="0"/>
              <a:t>When it gets expired, the request is again served through </a:t>
            </a:r>
            <a:r>
              <a:rPr lang="en-US" dirty="0" smtClean="0"/>
              <a:t>DNS.</a:t>
            </a:r>
            <a:endParaRPr lang="en-IN" dirty="0"/>
          </a:p>
        </p:txBody>
      </p:sp>
    </p:spTree>
    <p:extLst>
      <p:ext uri="{BB962C8B-B14F-4D97-AF65-F5344CB8AC3E}">
        <p14:creationId xmlns:p14="http://schemas.microsoft.com/office/powerpoint/2010/main" val="1433978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DNS protocol structure</a:t>
            </a:r>
          </a:p>
        </p:txBody>
      </p:sp>
      <p:sp>
        <p:nvSpPr>
          <p:cNvPr id="3" name="Content Placeholder 2"/>
          <p:cNvSpPr>
            <a:spLocks noGrp="1"/>
          </p:cNvSpPr>
          <p:nvPr>
            <p:ph idx="1"/>
          </p:nvPr>
        </p:nvSpPr>
        <p:spPr/>
        <p:txBody>
          <a:bodyPr>
            <a:normAutofit/>
          </a:bodyPr>
          <a:lstStyle/>
          <a:p>
            <a:r>
              <a:rPr lang="en-US" sz="1800" dirty="0"/>
              <a:t>DNS is a service that translates the domain name into IP addresses. </a:t>
            </a:r>
            <a:endParaRPr lang="en-US" sz="1800" dirty="0" smtClean="0"/>
          </a:p>
          <a:p>
            <a:endParaRPr lang="en-US" sz="1800" dirty="0"/>
          </a:p>
          <a:p>
            <a:r>
              <a:rPr lang="en-US" sz="1800" dirty="0" smtClean="0"/>
              <a:t>This </a:t>
            </a:r>
            <a:r>
              <a:rPr lang="en-US" sz="1800" dirty="0"/>
              <a:t>allows the users of networks to utilize user-friendly names when looking for other hosts instead of remembering the IP addresses.</a:t>
            </a:r>
          </a:p>
          <a:p>
            <a:endParaRPr lang="en-US" sz="1800" dirty="0"/>
          </a:p>
          <a:p>
            <a:pPr marL="0" indent="0">
              <a:buNone/>
            </a:pPr>
            <a:r>
              <a:rPr lang="en-US" sz="1800" b="1" dirty="0"/>
              <a:t>       Ex:</a:t>
            </a:r>
            <a:r>
              <a:rPr lang="en-US" sz="1800" dirty="0"/>
              <a:t> Suppose the </a:t>
            </a:r>
            <a:r>
              <a:rPr lang="en-US" sz="1800" dirty="0" smtClean="0"/>
              <a:t>site of </a:t>
            </a:r>
            <a:r>
              <a:rPr lang="en-US" sz="1800" b="1" dirty="0" err="1" smtClean="0"/>
              <a:t>Yashaswi’s</a:t>
            </a:r>
            <a:r>
              <a:rPr lang="en-US" sz="1800" b="1" dirty="0" smtClean="0"/>
              <a:t>(IIMS)</a:t>
            </a:r>
            <a:r>
              <a:rPr lang="en-US" sz="1800" dirty="0" smtClean="0"/>
              <a:t> </a:t>
            </a:r>
            <a:r>
              <a:rPr lang="en-US" sz="1800" dirty="0"/>
              <a:t>had an IP address of 132.147.165.50, </a:t>
            </a:r>
            <a:r>
              <a:rPr lang="en-US" sz="1800" dirty="0" smtClean="0"/>
              <a:t>   </a:t>
            </a:r>
          </a:p>
          <a:p>
            <a:pPr marL="0" indent="0">
              <a:buNone/>
            </a:pPr>
            <a:r>
              <a:rPr lang="en-US" sz="1800" dirty="0"/>
              <a:t> </a:t>
            </a:r>
            <a:r>
              <a:rPr lang="en-US" sz="1800" dirty="0" smtClean="0"/>
              <a:t>     most people </a:t>
            </a:r>
            <a:r>
              <a:rPr lang="en-US" sz="1800" dirty="0"/>
              <a:t>would reach this site by specifying </a:t>
            </a:r>
            <a:r>
              <a:rPr lang="en-US" sz="1800" b="1" dirty="0"/>
              <a:t>http://yashaswi.edu.in/ </a:t>
            </a:r>
          </a:p>
          <a:p>
            <a:endParaRPr lang="en-US" sz="1800" dirty="0"/>
          </a:p>
          <a:p>
            <a:r>
              <a:rPr lang="en-US" sz="1800" dirty="0"/>
              <a:t>Therefore, the domain name is more reliable than IP address.</a:t>
            </a:r>
          </a:p>
          <a:p>
            <a:endParaRPr lang="en-IN" dirty="0"/>
          </a:p>
        </p:txBody>
      </p:sp>
    </p:spTree>
    <p:extLst>
      <p:ext uri="{BB962C8B-B14F-4D97-AF65-F5344CB8AC3E}">
        <p14:creationId xmlns:p14="http://schemas.microsoft.com/office/powerpoint/2010/main" val="2008783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DNS protocol structure</a:t>
            </a:r>
          </a:p>
        </p:txBody>
      </p:sp>
      <p:sp>
        <p:nvSpPr>
          <p:cNvPr id="3" name="Content Placeholder 2"/>
          <p:cNvSpPr>
            <a:spLocks noGrp="1"/>
          </p:cNvSpPr>
          <p:nvPr>
            <p:ph idx="1"/>
          </p:nvPr>
        </p:nvSpPr>
        <p:spPr/>
        <p:txBody>
          <a:bodyPr/>
          <a:lstStyle/>
          <a:p>
            <a:r>
              <a:rPr lang="en-US" sz="1800" dirty="0"/>
              <a:t>DNS is a TCP/IP protocol used on different platforms. The domain name space is divided into three different sections: </a:t>
            </a:r>
            <a:r>
              <a:rPr lang="en-US" sz="1800" b="1" dirty="0" smtClean="0"/>
              <a:t>Generic </a:t>
            </a:r>
            <a:r>
              <a:rPr lang="en-US" sz="1800" b="1" dirty="0"/>
              <a:t>domains</a:t>
            </a:r>
            <a:r>
              <a:rPr lang="en-US" sz="1800" dirty="0"/>
              <a:t>, </a:t>
            </a:r>
            <a:r>
              <a:rPr lang="en-US" sz="1800" b="1" dirty="0" smtClean="0"/>
              <a:t>Country </a:t>
            </a:r>
            <a:r>
              <a:rPr lang="en-US" sz="1800" b="1" dirty="0"/>
              <a:t>domains</a:t>
            </a:r>
            <a:r>
              <a:rPr lang="en-US" sz="1800" dirty="0"/>
              <a:t>, and </a:t>
            </a:r>
            <a:r>
              <a:rPr lang="en-US" sz="1800" b="1" dirty="0" smtClean="0"/>
              <a:t>Inverse </a:t>
            </a:r>
            <a:r>
              <a:rPr lang="en-US" sz="1800" b="1" dirty="0"/>
              <a:t>domain</a:t>
            </a:r>
            <a:r>
              <a:rPr lang="en-US" sz="1800" dirty="0"/>
              <a:t>.</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819400"/>
            <a:ext cx="6115050" cy="2389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5758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Generic Domains</a:t>
            </a:r>
          </a:p>
        </p:txBody>
      </p:sp>
      <p:sp>
        <p:nvSpPr>
          <p:cNvPr id="3" name="Content Placeholder 2"/>
          <p:cNvSpPr>
            <a:spLocks noGrp="1"/>
          </p:cNvSpPr>
          <p:nvPr>
            <p:ph idx="1"/>
          </p:nvPr>
        </p:nvSpPr>
        <p:spPr/>
        <p:txBody>
          <a:bodyPr/>
          <a:lstStyle/>
          <a:p>
            <a:r>
              <a:rPr lang="en-US" sz="1800" dirty="0"/>
              <a:t>It defines the registered hosts according to their generic behavior</a:t>
            </a:r>
            <a:r>
              <a:rPr lang="en-US" sz="1800" dirty="0" smtClean="0"/>
              <a:t>.</a:t>
            </a:r>
          </a:p>
          <a:p>
            <a:endParaRPr lang="en-US" sz="1800" dirty="0"/>
          </a:p>
          <a:p>
            <a:r>
              <a:rPr lang="en-US" sz="1800" dirty="0"/>
              <a:t>Each node in a tree defines the domain name, which is an index to the DNS database</a:t>
            </a:r>
            <a:r>
              <a:rPr lang="en-US" sz="1800" dirty="0" smtClean="0"/>
              <a:t>.</a:t>
            </a:r>
          </a:p>
          <a:p>
            <a:endParaRPr lang="en-US" sz="1800" dirty="0"/>
          </a:p>
          <a:p>
            <a:r>
              <a:rPr lang="en-US" sz="1800" dirty="0"/>
              <a:t>It uses three-character labels, and these labels describe the organization type.</a:t>
            </a:r>
          </a:p>
          <a:p>
            <a:endParaRPr lang="en-IN" dirty="0"/>
          </a:p>
        </p:txBody>
      </p:sp>
    </p:spTree>
    <p:extLst>
      <p:ext uri="{BB962C8B-B14F-4D97-AF65-F5344CB8AC3E}">
        <p14:creationId xmlns:p14="http://schemas.microsoft.com/office/powerpoint/2010/main" val="1580730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Generic Domains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9" y="1523999"/>
            <a:ext cx="5453062" cy="480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7928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Domain Name System (DNS)</a:t>
            </a:r>
          </a:p>
        </p:txBody>
      </p:sp>
      <p:sp>
        <p:nvSpPr>
          <p:cNvPr id="3" name="Content Placeholder 2"/>
          <p:cNvSpPr>
            <a:spLocks noGrp="1"/>
          </p:cNvSpPr>
          <p:nvPr>
            <p:ph idx="1"/>
          </p:nvPr>
        </p:nvSpPr>
        <p:spPr/>
        <p:txBody>
          <a:bodyPr>
            <a:normAutofit/>
          </a:bodyPr>
          <a:lstStyle/>
          <a:p>
            <a:r>
              <a:rPr lang="en-US" sz="1800" b="1" dirty="0"/>
              <a:t>Country Domain</a:t>
            </a:r>
          </a:p>
          <a:p>
            <a:pPr marL="0" indent="0">
              <a:buNone/>
            </a:pPr>
            <a:r>
              <a:rPr lang="en-US" sz="1800" dirty="0" smtClean="0"/>
              <a:t>	The </a:t>
            </a:r>
            <a:r>
              <a:rPr lang="en-US" sz="1800" dirty="0"/>
              <a:t>format of country domain is same as a generic domain, but it uses two-character country abbreviations (e.g</a:t>
            </a:r>
            <a:r>
              <a:rPr lang="en-US" sz="1800" dirty="0" smtClean="0"/>
              <a:t>. </a:t>
            </a:r>
            <a:r>
              <a:rPr lang="en-US" sz="1800" b="1" dirty="0" smtClean="0"/>
              <a:t>in</a:t>
            </a:r>
            <a:r>
              <a:rPr lang="en-US" sz="1800" dirty="0" smtClean="0"/>
              <a:t> for India, </a:t>
            </a:r>
            <a:r>
              <a:rPr lang="en-US" sz="1800" b="1" dirty="0" smtClean="0"/>
              <a:t>us</a:t>
            </a:r>
            <a:r>
              <a:rPr lang="en-US" sz="1800" dirty="0" smtClean="0"/>
              <a:t> for </a:t>
            </a:r>
            <a:r>
              <a:rPr lang="en-US" sz="1800" dirty="0"/>
              <a:t>the United States) in place of three character organizational abbreviations</a:t>
            </a:r>
            <a:r>
              <a:rPr lang="en-US" sz="1800" dirty="0" smtClean="0"/>
              <a:t>.</a:t>
            </a:r>
          </a:p>
          <a:p>
            <a:endParaRPr lang="en-US" sz="1800" dirty="0"/>
          </a:p>
          <a:p>
            <a:r>
              <a:rPr lang="en-US" sz="1800" b="1" dirty="0"/>
              <a:t>Inverse Domain</a:t>
            </a:r>
          </a:p>
          <a:p>
            <a:pPr marL="0" indent="0">
              <a:buNone/>
            </a:pPr>
            <a:r>
              <a:rPr lang="en-US" sz="1800" dirty="0" smtClean="0"/>
              <a:t>	The </a:t>
            </a:r>
            <a:r>
              <a:rPr lang="en-US" sz="1800" dirty="0"/>
              <a:t>inverse domain is used for mapping an address to a name. When the server has received a request from the client, and the server contains the files of only authorized clients. To determine whether the client is on the authorized list or not, it sends a query to the DNS server and ask for mapping an address to the name.</a:t>
            </a:r>
          </a:p>
          <a:p>
            <a:endParaRPr lang="en-IN" dirty="0"/>
          </a:p>
        </p:txBody>
      </p:sp>
    </p:spTree>
    <p:extLst>
      <p:ext uri="{BB962C8B-B14F-4D97-AF65-F5344CB8AC3E}">
        <p14:creationId xmlns:p14="http://schemas.microsoft.com/office/powerpoint/2010/main" val="1918090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Working of DNS</a:t>
            </a:r>
          </a:p>
        </p:txBody>
      </p:sp>
      <p:sp>
        <p:nvSpPr>
          <p:cNvPr id="3" name="Content Placeholder 2"/>
          <p:cNvSpPr>
            <a:spLocks noGrp="1"/>
          </p:cNvSpPr>
          <p:nvPr>
            <p:ph idx="1"/>
          </p:nvPr>
        </p:nvSpPr>
        <p:spPr/>
        <p:txBody>
          <a:bodyPr>
            <a:normAutofit fontScale="92500" lnSpcReduction="10000"/>
          </a:bodyPr>
          <a:lstStyle/>
          <a:p>
            <a:r>
              <a:rPr lang="en-US" sz="1800" dirty="0"/>
              <a:t>DNS is a </a:t>
            </a:r>
            <a:r>
              <a:rPr lang="en-US" sz="1800" b="1" dirty="0"/>
              <a:t>client/server</a:t>
            </a:r>
            <a:r>
              <a:rPr lang="en-US" sz="1800" dirty="0"/>
              <a:t> network communication protocol. DNS clients send requests to </a:t>
            </a:r>
            <a:r>
              <a:rPr lang="en-US" sz="1800" dirty="0" smtClean="0"/>
              <a:t>the </a:t>
            </a:r>
            <a:r>
              <a:rPr lang="en-US" sz="1800" dirty="0"/>
              <a:t>server while DNS servers send responses to the client</a:t>
            </a:r>
            <a:r>
              <a:rPr lang="en-US" sz="1800" dirty="0" smtClean="0"/>
              <a:t>.</a:t>
            </a:r>
          </a:p>
          <a:p>
            <a:endParaRPr lang="en-US" sz="1800" dirty="0"/>
          </a:p>
          <a:p>
            <a:r>
              <a:rPr lang="en-US" sz="1800" dirty="0"/>
              <a:t>Client requests contain a name which is converted into an IP address known as a </a:t>
            </a:r>
            <a:r>
              <a:rPr lang="en-US" sz="1800" b="1" dirty="0"/>
              <a:t>forward DNS lookups </a:t>
            </a:r>
            <a:r>
              <a:rPr lang="en-US" sz="1800" dirty="0"/>
              <a:t>while requests containing an IP address which is converted into a name known as </a:t>
            </a:r>
            <a:r>
              <a:rPr lang="en-US" sz="1800" b="1" dirty="0"/>
              <a:t>reverse DNS lookups</a:t>
            </a:r>
            <a:r>
              <a:rPr lang="en-US" sz="1800" dirty="0" smtClean="0"/>
              <a:t>.</a:t>
            </a:r>
          </a:p>
          <a:p>
            <a:endParaRPr lang="en-US" sz="1800" dirty="0"/>
          </a:p>
          <a:p>
            <a:r>
              <a:rPr lang="en-US" sz="1800" dirty="0"/>
              <a:t>DNS implements a distributed database to store the name of all the hosts available on the internet</a:t>
            </a:r>
            <a:r>
              <a:rPr lang="en-US" sz="1800" dirty="0" smtClean="0"/>
              <a:t>.</a:t>
            </a:r>
          </a:p>
          <a:p>
            <a:endParaRPr lang="en-US" sz="1800" dirty="0" smtClean="0"/>
          </a:p>
          <a:p>
            <a:r>
              <a:rPr lang="en-US" sz="1800" dirty="0"/>
              <a:t>If a client like a web browser sends a request containing a hostname, then a piece of software such as </a:t>
            </a:r>
            <a:r>
              <a:rPr lang="en-US" sz="1800" b="1" dirty="0"/>
              <a:t>DNS resolver</a:t>
            </a:r>
            <a:r>
              <a:rPr lang="en-US" sz="1800" dirty="0"/>
              <a:t> sends a request to the DNS server to obtain the IP address of a hostname. </a:t>
            </a:r>
            <a:endParaRPr lang="en-US" sz="1800" dirty="0" smtClean="0"/>
          </a:p>
          <a:p>
            <a:endParaRPr lang="en-US" sz="1800" dirty="0"/>
          </a:p>
          <a:p>
            <a:r>
              <a:rPr lang="en-US" sz="1800" dirty="0" smtClean="0"/>
              <a:t>If </a:t>
            </a:r>
            <a:r>
              <a:rPr lang="en-US" sz="1800" dirty="0"/>
              <a:t>DNS server does not contain the IP address associated with a hostname, then it forwards the request to another DNS server. If IP address has arrived at the </a:t>
            </a:r>
            <a:r>
              <a:rPr lang="en-US" sz="1800" b="1" dirty="0"/>
              <a:t>resolver</a:t>
            </a:r>
            <a:r>
              <a:rPr lang="en-US" sz="1800" dirty="0"/>
              <a:t>, which in turn completes the request over the internet protocol.</a:t>
            </a:r>
          </a:p>
          <a:p>
            <a:endParaRPr lang="en-US" sz="1800" dirty="0"/>
          </a:p>
          <a:p>
            <a:endParaRPr lang="en-IN" dirty="0"/>
          </a:p>
        </p:txBody>
      </p:sp>
    </p:spTree>
    <p:extLst>
      <p:ext uri="{BB962C8B-B14F-4D97-AF65-F5344CB8AC3E}">
        <p14:creationId xmlns:p14="http://schemas.microsoft.com/office/powerpoint/2010/main" val="2573763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DNS Resource records</a:t>
            </a:r>
            <a:endParaRPr lang="en-IN" sz="3200" dirty="0"/>
          </a:p>
        </p:txBody>
      </p:sp>
      <p:sp>
        <p:nvSpPr>
          <p:cNvPr id="3" name="Content Placeholder 2"/>
          <p:cNvSpPr>
            <a:spLocks noGrp="1"/>
          </p:cNvSpPr>
          <p:nvPr>
            <p:ph idx="1"/>
          </p:nvPr>
        </p:nvSpPr>
        <p:spPr/>
        <p:txBody>
          <a:bodyPr>
            <a:normAutofit fontScale="77500" lnSpcReduction="20000"/>
          </a:bodyPr>
          <a:lstStyle/>
          <a:p>
            <a:r>
              <a:rPr lang="en-US" sz="1800" dirty="0"/>
              <a:t>DNS records are used to specify various types of information about a domain, such as its IP address, the servers that handle its email, and other related information. </a:t>
            </a:r>
            <a:endParaRPr lang="en-US" sz="1800" dirty="0" smtClean="0"/>
          </a:p>
          <a:p>
            <a:endParaRPr lang="en-US" sz="1800" dirty="0"/>
          </a:p>
          <a:p>
            <a:r>
              <a:rPr lang="en-US" sz="1800" dirty="0" smtClean="0"/>
              <a:t>These </a:t>
            </a:r>
            <a:r>
              <a:rPr lang="en-US" sz="1800" dirty="0"/>
              <a:t>records are stored in a DNS database, which is a distributed database that is used to translate human-readable domain names into IP addresses that computers can understand.</a:t>
            </a:r>
          </a:p>
          <a:p>
            <a:endParaRPr lang="en-US" sz="1800" dirty="0" smtClean="0"/>
          </a:p>
          <a:p>
            <a:r>
              <a:rPr lang="en-US" sz="1800" dirty="0" smtClean="0"/>
              <a:t>There </a:t>
            </a:r>
            <a:r>
              <a:rPr lang="en-US" sz="1800" dirty="0"/>
              <a:t>are several different types of DNS records, including </a:t>
            </a:r>
            <a:r>
              <a:rPr lang="en-US" sz="1800" b="1" dirty="0"/>
              <a:t>A records</a:t>
            </a:r>
            <a:r>
              <a:rPr lang="en-US" sz="1800" dirty="0"/>
              <a:t>, </a:t>
            </a:r>
            <a:r>
              <a:rPr lang="en-US" sz="1800" b="1" dirty="0"/>
              <a:t>MX records</a:t>
            </a:r>
            <a:r>
              <a:rPr lang="en-US" sz="1800" dirty="0"/>
              <a:t>, </a:t>
            </a:r>
            <a:r>
              <a:rPr lang="en-US" sz="1800" b="1" dirty="0"/>
              <a:t>CNAME </a:t>
            </a:r>
            <a:r>
              <a:rPr lang="en-US" sz="1800" b="1" dirty="0" smtClean="0"/>
              <a:t>records</a:t>
            </a:r>
            <a:r>
              <a:rPr lang="en-US" sz="1800" dirty="0" smtClean="0"/>
              <a:t> etc. </a:t>
            </a:r>
            <a:r>
              <a:rPr lang="en-US" sz="1800" dirty="0"/>
              <a:t>each with its own specific purpose</a:t>
            </a:r>
            <a:r>
              <a:rPr lang="en-US" sz="1800" dirty="0" smtClean="0"/>
              <a:t>.</a:t>
            </a:r>
          </a:p>
          <a:p>
            <a:endParaRPr lang="en-US" sz="1800" dirty="0" smtClean="0"/>
          </a:p>
          <a:p>
            <a:r>
              <a:rPr lang="en-US" sz="1800" b="1" dirty="0"/>
              <a:t>A record </a:t>
            </a:r>
            <a:r>
              <a:rPr lang="en-US" sz="1800" dirty="0" smtClean="0"/>
              <a:t>maps </a:t>
            </a:r>
            <a:r>
              <a:rPr lang="en-US" sz="1800" dirty="0"/>
              <a:t>a domain or subdomain to an IP address. </a:t>
            </a:r>
            <a:r>
              <a:rPr lang="en-US" sz="1800" b="1" dirty="0" smtClean="0"/>
              <a:t>Ex:</a:t>
            </a:r>
            <a:r>
              <a:rPr lang="en-US" sz="1800" dirty="0" smtClean="0"/>
              <a:t> </a:t>
            </a:r>
            <a:r>
              <a:rPr lang="en-US" sz="1800" dirty="0"/>
              <a:t>the domain </a:t>
            </a:r>
            <a:r>
              <a:rPr lang="en-US" sz="1800" dirty="0" smtClean="0"/>
              <a:t>“abc.com</a:t>
            </a:r>
            <a:r>
              <a:rPr lang="en-US" sz="1800" dirty="0"/>
              <a:t>" might have an A record that maps it to the IP address "192.0.2.1". When someone types </a:t>
            </a:r>
            <a:r>
              <a:rPr lang="en-US" sz="1800" dirty="0" smtClean="0"/>
              <a:t>“abc.com</a:t>
            </a:r>
            <a:r>
              <a:rPr lang="en-US" sz="1800" dirty="0"/>
              <a:t>" into their web browser, the browser will use the A record to find the corresponding IP address and connect to the server at that location</a:t>
            </a:r>
            <a:r>
              <a:rPr lang="en-US" sz="1800" dirty="0" smtClean="0"/>
              <a:t>.</a:t>
            </a:r>
          </a:p>
          <a:p>
            <a:endParaRPr lang="en-US" sz="1800" dirty="0" smtClean="0"/>
          </a:p>
          <a:p>
            <a:r>
              <a:rPr lang="en-US" sz="1800" b="1" dirty="0"/>
              <a:t>MX records </a:t>
            </a:r>
            <a:r>
              <a:rPr lang="en-US" sz="1800" dirty="0" smtClean="0"/>
              <a:t>(mail </a:t>
            </a:r>
            <a:r>
              <a:rPr lang="en-US" sz="1800" dirty="0"/>
              <a:t>exchange </a:t>
            </a:r>
            <a:r>
              <a:rPr lang="en-US" sz="1800" dirty="0" smtClean="0"/>
              <a:t>records) </a:t>
            </a:r>
            <a:r>
              <a:rPr lang="en-US" sz="1800" dirty="0"/>
              <a:t>are used to route email for a domain to the correct email server. Each MX record specifies a hostname and a priority value. The hostname is the domain name of the server that should handle email for the domain, and the priority value is used to specify which server should be used first if there are multiple servers available</a:t>
            </a:r>
            <a:r>
              <a:rPr lang="en-US" sz="1800" dirty="0" smtClean="0"/>
              <a:t>.</a:t>
            </a:r>
          </a:p>
          <a:p>
            <a:endParaRPr lang="en-US" sz="1800" dirty="0"/>
          </a:p>
          <a:p>
            <a:r>
              <a:rPr lang="en-US" sz="1800" b="1" dirty="0"/>
              <a:t>CNAME records </a:t>
            </a:r>
            <a:r>
              <a:rPr lang="en-US" sz="1800" dirty="0" smtClean="0"/>
              <a:t>(Canonical Name Records) </a:t>
            </a:r>
            <a:r>
              <a:rPr lang="en-US" sz="1800" dirty="0"/>
              <a:t>are used to create aliases for domains. </a:t>
            </a:r>
            <a:r>
              <a:rPr lang="en-US" sz="1800" b="1" dirty="0" smtClean="0"/>
              <a:t>Ex:</a:t>
            </a:r>
            <a:r>
              <a:rPr lang="en-US" sz="1800" dirty="0" smtClean="0"/>
              <a:t> </a:t>
            </a:r>
            <a:r>
              <a:rPr lang="en-US" sz="1800" dirty="0"/>
              <a:t>if you have a domain </a:t>
            </a:r>
            <a:r>
              <a:rPr lang="en-US" sz="1800" dirty="0" smtClean="0"/>
              <a:t>"abc.com</a:t>
            </a:r>
            <a:r>
              <a:rPr lang="en-US" sz="1800" dirty="0"/>
              <a:t>" that points to a server at "192.0.2.1" and you want to create an alias </a:t>
            </a:r>
            <a:r>
              <a:rPr lang="en-US" sz="1800" b="1" dirty="0"/>
              <a:t>"</a:t>
            </a:r>
            <a:r>
              <a:rPr lang="en-US" sz="1800" b="1" dirty="0" smtClean="0"/>
              <a:t>www.abc.com</a:t>
            </a:r>
            <a:r>
              <a:rPr lang="en-US" sz="1800" b="1" dirty="0"/>
              <a:t>"</a:t>
            </a:r>
            <a:r>
              <a:rPr lang="en-US" sz="1800" dirty="0"/>
              <a:t> that points to the same server, you can use a CNAME record to do this.</a:t>
            </a:r>
            <a:endParaRPr lang="en-IN" sz="1800" dirty="0"/>
          </a:p>
        </p:txBody>
      </p:sp>
    </p:spTree>
    <p:extLst>
      <p:ext uri="{BB962C8B-B14F-4D97-AF65-F5344CB8AC3E}">
        <p14:creationId xmlns:p14="http://schemas.microsoft.com/office/powerpoint/2010/main" val="29209312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DNS Resource records</a:t>
            </a:r>
            <a:endParaRPr lang="en-IN" sz="3200" dirty="0"/>
          </a:p>
        </p:txBody>
      </p:sp>
      <p:sp>
        <p:nvSpPr>
          <p:cNvPr id="3" name="Content Placeholder 2"/>
          <p:cNvSpPr>
            <a:spLocks noGrp="1"/>
          </p:cNvSpPr>
          <p:nvPr>
            <p:ph idx="1"/>
          </p:nvPr>
        </p:nvSpPr>
        <p:spPr/>
        <p:txBody>
          <a:bodyPr>
            <a:normAutofit/>
          </a:bodyPr>
          <a:lstStyle/>
          <a:p>
            <a:pPr marL="0" indent="0">
              <a:buNone/>
            </a:pPr>
            <a:r>
              <a:rPr lang="en-US" sz="1800" dirty="0" smtClean="0"/>
              <a:t>Other different </a:t>
            </a:r>
            <a:r>
              <a:rPr lang="en-US" sz="1800" dirty="0"/>
              <a:t>types of DNS </a:t>
            </a:r>
            <a:r>
              <a:rPr lang="en-US" sz="1800" dirty="0" smtClean="0"/>
              <a:t>records are: </a:t>
            </a:r>
          </a:p>
          <a:p>
            <a:pPr marL="0" indent="0">
              <a:buNone/>
            </a:pPr>
            <a:endParaRPr lang="en-US" sz="1800" dirty="0" smtClean="0"/>
          </a:p>
          <a:p>
            <a:r>
              <a:rPr lang="en-US" sz="1800" b="1" dirty="0"/>
              <a:t>TXT record (Text Record)</a:t>
            </a:r>
            <a:r>
              <a:rPr lang="en-US" sz="1800" dirty="0"/>
              <a:t> − stores arbitrary text in a domain's DNS record.</a:t>
            </a:r>
          </a:p>
          <a:p>
            <a:r>
              <a:rPr lang="en-US" sz="1800" b="1" dirty="0"/>
              <a:t>PTR record (Pointer Record)</a:t>
            </a:r>
            <a:r>
              <a:rPr lang="en-US" sz="1800" dirty="0"/>
              <a:t> − maps an IP address to a domain name.</a:t>
            </a:r>
          </a:p>
          <a:p>
            <a:r>
              <a:rPr lang="en-US" sz="1800" b="1" dirty="0"/>
              <a:t>NS record (Name Server Record)</a:t>
            </a:r>
            <a:r>
              <a:rPr lang="en-US" sz="1800" dirty="0"/>
              <a:t> − specifies the name servers for a domain.</a:t>
            </a:r>
          </a:p>
          <a:p>
            <a:r>
              <a:rPr lang="en-US" sz="1800" b="1" dirty="0"/>
              <a:t>SOA record (Start of Authority Record)</a:t>
            </a:r>
            <a:r>
              <a:rPr lang="en-US" sz="1800" dirty="0"/>
              <a:t> − specifies the DNS server that is the authority for a specific domain.</a:t>
            </a:r>
          </a:p>
          <a:p>
            <a:r>
              <a:rPr lang="en-US" sz="1800" b="1" dirty="0"/>
              <a:t>SRV record (Service Record)</a:t>
            </a:r>
            <a:r>
              <a:rPr lang="en-US" sz="1800" dirty="0"/>
              <a:t> − specifies the hostname and port number for a specific service, such as a website or email server.</a:t>
            </a:r>
          </a:p>
          <a:p>
            <a:endParaRPr lang="en-IN" dirty="0"/>
          </a:p>
        </p:txBody>
      </p:sp>
    </p:spTree>
    <p:extLst>
      <p:ext uri="{BB962C8B-B14F-4D97-AF65-F5344CB8AC3E}">
        <p14:creationId xmlns:p14="http://schemas.microsoft.com/office/powerpoint/2010/main" val="3877998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HTTP </a:t>
            </a:r>
            <a:endParaRPr lang="en-IN" sz="3200" dirty="0"/>
          </a:p>
        </p:txBody>
      </p:sp>
      <p:sp>
        <p:nvSpPr>
          <p:cNvPr id="3" name="Content Placeholder 2"/>
          <p:cNvSpPr>
            <a:spLocks noGrp="1"/>
          </p:cNvSpPr>
          <p:nvPr>
            <p:ph idx="1"/>
          </p:nvPr>
        </p:nvSpPr>
        <p:spPr>
          <a:xfrm>
            <a:off x="457200" y="1600200"/>
            <a:ext cx="8229600" cy="4953000"/>
          </a:xfrm>
        </p:spPr>
        <p:txBody>
          <a:bodyPr>
            <a:normAutofit fontScale="47500" lnSpcReduction="20000"/>
          </a:bodyPr>
          <a:lstStyle/>
          <a:p>
            <a:r>
              <a:rPr lang="en-US" dirty="0"/>
              <a:t>HTTP stands for </a:t>
            </a:r>
            <a:r>
              <a:rPr lang="en-US" b="1" dirty="0" smtClean="0"/>
              <a:t>Hypertext </a:t>
            </a:r>
            <a:r>
              <a:rPr lang="en-US" b="1" dirty="0"/>
              <a:t>Transfer Protocol</a:t>
            </a:r>
            <a:r>
              <a:rPr lang="en-US" dirty="0" smtClean="0"/>
              <a:t>.</a:t>
            </a:r>
          </a:p>
          <a:p>
            <a:endParaRPr lang="en-US" dirty="0"/>
          </a:p>
          <a:p>
            <a:r>
              <a:rPr lang="en-US" dirty="0"/>
              <a:t>It is a protocol used to access the data on the </a:t>
            </a:r>
            <a:r>
              <a:rPr lang="en-US" b="1" dirty="0"/>
              <a:t>World Wide Web </a:t>
            </a:r>
            <a:r>
              <a:rPr lang="en-US" dirty="0"/>
              <a:t>(www</a:t>
            </a:r>
            <a:r>
              <a:rPr lang="en-US" dirty="0" smtClean="0"/>
              <a:t>).</a:t>
            </a:r>
          </a:p>
          <a:p>
            <a:endParaRPr lang="en-US" dirty="0"/>
          </a:p>
          <a:p>
            <a:r>
              <a:rPr lang="en-US" dirty="0"/>
              <a:t>The HTTP protocol can be used to transfer the data in the form of </a:t>
            </a:r>
            <a:r>
              <a:rPr lang="en-US" b="1" dirty="0"/>
              <a:t>plain text</a:t>
            </a:r>
            <a:r>
              <a:rPr lang="en-US" dirty="0"/>
              <a:t>, </a:t>
            </a:r>
            <a:r>
              <a:rPr lang="en-US" b="1" dirty="0"/>
              <a:t>hypertext</a:t>
            </a:r>
            <a:r>
              <a:rPr lang="en-US" dirty="0"/>
              <a:t>, </a:t>
            </a:r>
            <a:r>
              <a:rPr lang="en-US" b="1" dirty="0"/>
              <a:t>audio</a:t>
            </a:r>
            <a:r>
              <a:rPr lang="en-US" dirty="0"/>
              <a:t>, </a:t>
            </a:r>
            <a:r>
              <a:rPr lang="en-US" b="1" dirty="0"/>
              <a:t>video</a:t>
            </a:r>
            <a:r>
              <a:rPr lang="en-US" dirty="0"/>
              <a:t>, and so on</a:t>
            </a:r>
            <a:r>
              <a:rPr lang="en-US" dirty="0" smtClean="0"/>
              <a:t>.</a:t>
            </a:r>
          </a:p>
          <a:p>
            <a:endParaRPr lang="en-US" dirty="0"/>
          </a:p>
          <a:p>
            <a:r>
              <a:rPr lang="en-US" dirty="0"/>
              <a:t>This protocol is known as </a:t>
            </a:r>
            <a:r>
              <a:rPr lang="en-US" dirty="0" smtClean="0"/>
              <a:t>Hypertext </a:t>
            </a:r>
            <a:r>
              <a:rPr lang="en-US" dirty="0"/>
              <a:t>Transfer Protocol because of its efficiency that allows us to use in a hypertext environment where there are rapid jumps from one document to another document</a:t>
            </a:r>
            <a:r>
              <a:rPr lang="en-US" dirty="0" smtClean="0"/>
              <a:t>.</a:t>
            </a:r>
          </a:p>
          <a:p>
            <a:endParaRPr lang="en-US" dirty="0"/>
          </a:p>
          <a:p>
            <a:r>
              <a:rPr lang="en-US" dirty="0"/>
              <a:t>HTTP is similar to the FTP as it also transfers the files from one host to another host. </a:t>
            </a:r>
            <a:endParaRPr lang="en-US" dirty="0" smtClean="0"/>
          </a:p>
          <a:p>
            <a:endParaRPr lang="en-US" dirty="0"/>
          </a:p>
          <a:p>
            <a:r>
              <a:rPr lang="en-US" dirty="0" smtClean="0"/>
              <a:t>HTTP </a:t>
            </a:r>
            <a:r>
              <a:rPr lang="en-US" dirty="0"/>
              <a:t>is </a:t>
            </a:r>
            <a:r>
              <a:rPr lang="en-US" b="1" dirty="0"/>
              <a:t>simpler</a:t>
            </a:r>
            <a:r>
              <a:rPr lang="en-US" dirty="0"/>
              <a:t> than FTP as HTTP uses only one connection, i.e</a:t>
            </a:r>
            <a:r>
              <a:rPr lang="en-US" dirty="0" smtClean="0"/>
              <a:t>. </a:t>
            </a:r>
            <a:r>
              <a:rPr lang="en-US" dirty="0"/>
              <a:t>no control connection to transfer the files</a:t>
            </a:r>
            <a:r>
              <a:rPr lang="en-US" dirty="0" smtClean="0"/>
              <a:t>.</a:t>
            </a:r>
          </a:p>
          <a:p>
            <a:endParaRPr lang="en-US" dirty="0"/>
          </a:p>
          <a:p>
            <a:r>
              <a:rPr lang="en-US" dirty="0"/>
              <a:t>HTTP is used to carry the data in the form of </a:t>
            </a:r>
            <a:r>
              <a:rPr lang="en-US" b="1" dirty="0"/>
              <a:t>MIME</a:t>
            </a:r>
            <a:r>
              <a:rPr lang="en-US" dirty="0"/>
              <a:t>-like format</a:t>
            </a:r>
            <a:r>
              <a:rPr lang="en-US" dirty="0" smtClean="0"/>
              <a:t>.</a:t>
            </a:r>
          </a:p>
          <a:p>
            <a:endParaRPr lang="en-US" dirty="0"/>
          </a:p>
          <a:p>
            <a:r>
              <a:rPr lang="en-US" dirty="0"/>
              <a:t>HTTP is similar to SMTP as the data is transferred between client and server. </a:t>
            </a:r>
            <a:endParaRPr lang="en-US" dirty="0" smtClean="0"/>
          </a:p>
          <a:p>
            <a:endParaRPr lang="en-US" dirty="0"/>
          </a:p>
          <a:p>
            <a:r>
              <a:rPr lang="en-US" dirty="0" smtClean="0"/>
              <a:t>The </a:t>
            </a:r>
            <a:r>
              <a:rPr lang="en-US" dirty="0"/>
              <a:t>HTTP differs from the SMTP in the way the messages are sent from the client to the server and from server to the client. SMTP messages are stored and forwarded while HTTP messages are delivered immediately</a:t>
            </a:r>
            <a:r>
              <a:rPr lang="en-US" dirty="0" smtClean="0"/>
              <a:t>.</a:t>
            </a:r>
            <a:endParaRPr lang="en-US" dirty="0"/>
          </a:p>
        </p:txBody>
      </p:sp>
    </p:spTree>
    <p:extLst>
      <p:ext uri="{BB962C8B-B14F-4D97-AF65-F5344CB8AC3E}">
        <p14:creationId xmlns:p14="http://schemas.microsoft.com/office/powerpoint/2010/main" val="1563446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HTTP </a:t>
            </a:r>
            <a:endParaRPr lang="en-IN" sz="3200" dirty="0"/>
          </a:p>
        </p:txBody>
      </p:sp>
      <p:sp>
        <p:nvSpPr>
          <p:cNvPr id="3" name="Content Placeholder 2"/>
          <p:cNvSpPr>
            <a:spLocks noGrp="1"/>
          </p:cNvSpPr>
          <p:nvPr>
            <p:ph idx="1"/>
          </p:nvPr>
        </p:nvSpPr>
        <p:spPr/>
        <p:txBody>
          <a:bodyPr>
            <a:normAutofit fontScale="55000" lnSpcReduction="20000"/>
          </a:bodyPr>
          <a:lstStyle/>
          <a:p>
            <a:pPr marL="0" indent="0">
              <a:buNone/>
            </a:pPr>
            <a:r>
              <a:rPr lang="en-IN" b="1" dirty="0"/>
              <a:t>Features of HTTP</a:t>
            </a:r>
            <a:r>
              <a:rPr lang="en-IN" b="1" dirty="0" smtClean="0"/>
              <a:t>:</a:t>
            </a:r>
          </a:p>
          <a:p>
            <a:pPr marL="0" indent="0">
              <a:buNone/>
            </a:pPr>
            <a:endParaRPr lang="en-IN" b="1" dirty="0"/>
          </a:p>
          <a:p>
            <a:r>
              <a:rPr lang="en-US" b="1" dirty="0"/>
              <a:t>Connectionless protocol:</a:t>
            </a:r>
            <a:r>
              <a:rPr lang="en-US" dirty="0"/>
              <a:t> HTTP is a connectionless protocol. HTTP client initiates a request and waits for a response from the server. When the server receives the request, the server processes the request and sends back the response to the HTTP client after which the client disconnects the connection. The connection between client and server exist only during the current request and response time only</a:t>
            </a:r>
            <a:r>
              <a:rPr lang="en-US" dirty="0" smtClean="0"/>
              <a:t>.</a:t>
            </a:r>
          </a:p>
          <a:p>
            <a:endParaRPr lang="en-US" dirty="0"/>
          </a:p>
          <a:p>
            <a:r>
              <a:rPr lang="en-US" b="1" dirty="0"/>
              <a:t>Media independent:</a:t>
            </a:r>
            <a:r>
              <a:rPr lang="en-US" dirty="0"/>
              <a:t> HTTP protocol is a media independent as data can be sent as long as both the client and server know how to handle the data content. It is required for both the client and server to specify the content type in </a:t>
            </a:r>
            <a:r>
              <a:rPr lang="en-US" b="1" dirty="0"/>
              <a:t>MIME</a:t>
            </a:r>
            <a:r>
              <a:rPr lang="en-US" dirty="0"/>
              <a:t>-type header</a:t>
            </a:r>
            <a:r>
              <a:rPr lang="en-US" dirty="0" smtClean="0"/>
              <a:t>.</a:t>
            </a:r>
          </a:p>
          <a:p>
            <a:endParaRPr lang="en-US" dirty="0"/>
          </a:p>
          <a:p>
            <a:r>
              <a:rPr lang="en-US" b="1" dirty="0"/>
              <a:t>Stateless:</a:t>
            </a:r>
            <a:r>
              <a:rPr lang="en-US" dirty="0"/>
              <a:t> HTTP is a stateless protocol as both the client and server know each other only during the current request. Due to this nature of the protocol, both the client and server do not retain the information between various requests of the web pages.</a:t>
            </a:r>
          </a:p>
          <a:p>
            <a:endParaRPr lang="en-IN" dirty="0"/>
          </a:p>
        </p:txBody>
      </p:sp>
    </p:spTree>
    <p:extLst>
      <p:ext uri="{BB962C8B-B14F-4D97-AF65-F5344CB8AC3E}">
        <p14:creationId xmlns:p14="http://schemas.microsoft.com/office/powerpoint/2010/main" val="1255723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HTTP: Request and Response Message </a:t>
            </a:r>
            <a:endParaRPr lang="en-IN" sz="3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828800"/>
            <a:ext cx="5257799"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6001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HTTP: Request and Response Message </a:t>
            </a:r>
            <a:endParaRPr lang="en-IN" sz="3200" dirty="0"/>
          </a:p>
        </p:txBody>
      </p:sp>
      <p:sp>
        <p:nvSpPr>
          <p:cNvPr id="3" name="Content Placeholder 2"/>
          <p:cNvSpPr>
            <a:spLocks noGrp="1"/>
          </p:cNvSpPr>
          <p:nvPr>
            <p:ph idx="1"/>
          </p:nvPr>
        </p:nvSpPr>
        <p:spPr/>
        <p:txBody>
          <a:bodyPr>
            <a:normAutofit fontScale="85000" lnSpcReduction="20000"/>
          </a:bodyPr>
          <a:lstStyle/>
          <a:p>
            <a:r>
              <a:rPr lang="en-US" sz="1800" dirty="0"/>
              <a:t>The HTTP protocol is a </a:t>
            </a:r>
            <a:r>
              <a:rPr lang="en-US" sz="1800" b="1" dirty="0"/>
              <a:t>request/response</a:t>
            </a:r>
            <a:r>
              <a:rPr lang="en-US" sz="1800" dirty="0"/>
              <a:t> protocol based on the </a:t>
            </a:r>
            <a:r>
              <a:rPr lang="en-US" sz="1800" b="1" dirty="0"/>
              <a:t>client/server</a:t>
            </a:r>
            <a:r>
              <a:rPr lang="en-US" sz="1800" dirty="0"/>
              <a:t> based architecture where web browsers, robots and search engines, etc. act like HTTP clients, and the Web server acts as a server</a:t>
            </a:r>
            <a:r>
              <a:rPr lang="en-US" sz="1800" dirty="0" smtClean="0"/>
              <a:t>.</a:t>
            </a:r>
          </a:p>
          <a:p>
            <a:endParaRPr lang="en-US" sz="1800" dirty="0"/>
          </a:p>
          <a:p>
            <a:r>
              <a:rPr lang="en-US" sz="2100" b="1" dirty="0"/>
              <a:t>Request Message:</a:t>
            </a:r>
            <a:r>
              <a:rPr lang="en-US" sz="1800" dirty="0"/>
              <a:t> </a:t>
            </a:r>
            <a:r>
              <a:rPr lang="en-US" sz="1800" dirty="0" smtClean="0"/>
              <a:t>An </a:t>
            </a:r>
            <a:r>
              <a:rPr lang="en-US" sz="1800" dirty="0"/>
              <a:t>HTTP request is ways that web browsers ask for information to load website pages. HTTP request contains HTTP version type, a URL, HTTP request headers and HTTP body</a:t>
            </a:r>
            <a:r>
              <a:rPr lang="en-US" sz="1800" dirty="0" smtClean="0"/>
              <a:t>.</a:t>
            </a:r>
          </a:p>
          <a:p>
            <a:endParaRPr lang="en-US" sz="1800" dirty="0"/>
          </a:p>
          <a:p>
            <a:r>
              <a:rPr lang="en-US" sz="1800" dirty="0"/>
              <a:t> </a:t>
            </a:r>
            <a:r>
              <a:rPr lang="en-US" sz="1800" b="1" dirty="0"/>
              <a:t>HTTP request headers</a:t>
            </a:r>
            <a:r>
              <a:rPr lang="en-US" sz="1800" dirty="0"/>
              <a:t>: HTTP request headers include text information saved in key-value pairs, and these contained in every HTTP request</a:t>
            </a:r>
            <a:r>
              <a:rPr lang="en-US" sz="1800" dirty="0" smtClean="0"/>
              <a:t>.</a:t>
            </a:r>
          </a:p>
          <a:p>
            <a:endParaRPr lang="en-US" sz="1800" dirty="0"/>
          </a:p>
          <a:p>
            <a:r>
              <a:rPr lang="en-US" sz="1800" b="1" dirty="0" smtClean="0"/>
              <a:t>URL</a:t>
            </a:r>
            <a:r>
              <a:rPr lang="en-US" sz="1800" dirty="0"/>
              <a:t>: A client that wants to access a document needs an address. To facilitate the access of documents distributed throughout the world, HTTP protocol uses the concept of locations. The World Wide Web uses a locator called a URL to identify and intertribal data</a:t>
            </a:r>
            <a:r>
              <a:rPr lang="en-US" sz="1800" dirty="0" smtClean="0"/>
              <a:t>.</a:t>
            </a:r>
          </a:p>
          <a:p>
            <a:endParaRPr lang="en-US" sz="1800" dirty="0"/>
          </a:p>
          <a:p>
            <a:r>
              <a:rPr lang="en-US" sz="1800" dirty="0" smtClean="0"/>
              <a:t>URL </a:t>
            </a:r>
            <a:r>
              <a:rPr lang="en-US" sz="1800" dirty="0"/>
              <a:t>called as (</a:t>
            </a:r>
            <a:r>
              <a:rPr lang="en-US" sz="1800" b="1" dirty="0"/>
              <a:t>Uniform Resource Locator</a:t>
            </a:r>
            <a:r>
              <a:rPr lang="en-US" sz="1800" dirty="0"/>
              <a:t>). A URL is an </a:t>
            </a:r>
            <a:r>
              <a:rPr lang="en-US" sz="1800" dirty="0" smtClean="0"/>
              <a:t>internet</a:t>
            </a:r>
            <a:r>
              <a:rPr lang="en-US" sz="1800" dirty="0"/>
              <a:t> address of any website in common format https://www.iims.ac.in/. </a:t>
            </a:r>
            <a:endParaRPr lang="en-US" sz="1800" dirty="0" smtClean="0"/>
          </a:p>
          <a:p>
            <a:endParaRPr lang="en-US" sz="1800" dirty="0"/>
          </a:p>
          <a:p>
            <a:r>
              <a:rPr lang="en-US" sz="1800" dirty="0" smtClean="0"/>
              <a:t>A </a:t>
            </a:r>
            <a:r>
              <a:rPr lang="en-US" sz="1800" dirty="0"/>
              <a:t>URL has three parts: Method: //Host/Path, which used for accessing any file, document or website. </a:t>
            </a:r>
          </a:p>
          <a:p>
            <a:endParaRPr lang="en-US" sz="1800" dirty="0" smtClean="0"/>
          </a:p>
          <a:p>
            <a:endParaRPr lang="en-US" sz="1800" dirty="0"/>
          </a:p>
        </p:txBody>
      </p:sp>
    </p:spTree>
    <p:extLst>
      <p:ext uri="{BB962C8B-B14F-4D97-AF65-F5344CB8AC3E}">
        <p14:creationId xmlns:p14="http://schemas.microsoft.com/office/powerpoint/2010/main" val="607018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HTTP: Request and Response Message </a:t>
            </a:r>
            <a:endParaRPr lang="en-IN" sz="3200" dirty="0"/>
          </a:p>
        </p:txBody>
      </p:sp>
      <p:sp>
        <p:nvSpPr>
          <p:cNvPr id="3" name="Content Placeholder 2"/>
          <p:cNvSpPr>
            <a:spLocks noGrp="1"/>
          </p:cNvSpPr>
          <p:nvPr>
            <p:ph idx="1"/>
          </p:nvPr>
        </p:nvSpPr>
        <p:spPr/>
        <p:txBody>
          <a:bodyPr>
            <a:normAutofit fontScale="62500" lnSpcReduction="20000"/>
          </a:bodyPr>
          <a:lstStyle/>
          <a:p>
            <a:r>
              <a:rPr lang="en-US" b="1" dirty="0"/>
              <a:t>Response Message:</a:t>
            </a:r>
            <a:r>
              <a:rPr lang="en-US" sz="2800" dirty="0"/>
              <a:t> The response message is sent by the server to the </a:t>
            </a:r>
            <a:r>
              <a:rPr lang="en-US" sz="2800" dirty="0" smtClean="0"/>
              <a:t>client.</a:t>
            </a:r>
          </a:p>
          <a:p>
            <a:endParaRPr lang="en-US" sz="2800" dirty="0"/>
          </a:p>
          <a:p>
            <a:r>
              <a:rPr lang="en-US" sz="2800" dirty="0"/>
              <a:t>An HTTP response means when the web client gets the answer back from the webserver. It contains the information that asked for in the HTTP request. The HTTP response includes an HTTP status code, HTTP response headers, and an HTTP body</a:t>
            </a:r>
            <a:r>
              <a:rPr lang="en-US" sz="2800" dirty="0" smtClean="0"/>
              <a:t>.</a:t>
            </a:r>
          </a:p>
          <a:p>
            <a:endParaRPr lang="en-US" sz="2800" dirty="0"/>
          </a:p>
          <a:p>
            <a:r>
              <a:rPr lang="en-US" sz="2800" b="1" dirty="0" smtClean="0"/>
              <a:t>HTTP </a:t>
            </a:r>
            <a:r>
              <a:rPr lang="en-US" sz="2800" b="1" dirty="0"/>
              <a:t>status codes:</a:t>
            </a:r>
            <a:r>
              <a:rPr lang="en-US" sz="2800" dirty="0"/>
              <a:t> Often, when a client sends a request to the server, and If the HTTP request is not correct, the error comes. These errors shown in numeric codes. These also called HTTP status codes. The server gives these status codes to identify the problem. </a:t>
            </a:r>
            <a:endParaRPr lang="en-US" sz="2800" dirty="0" smtClean="0"/>
          </a:p>
          <a:p>
            <a:pPr marL="0" indent="0">
              <a:buNone/>
            </a:pPr>
            <a:endParaRPr lang="en-US" sz="2800" dirty="0"/>
          </a:p>
          <a:p>
            <a:pPr marL="0" indent="0">
              <a:buNone/>
            </a:pPr>
            <a:r>
              <a:rPr lang="en-US" sz="2800" dirty="0" smtClean="0"/>
              <a:t>Some </a:t>
            </a:r>
            <a:r>
              <a:rPr lang="en-US" sz="2800" dirty="0"/>
              <a:t>standard codes are shown below.</a:t>
            </a:r>
          </a:p>
          <a:p>
            <a:r>
              <a:rPr lang="en-US" sz="2800" b="1" dirty="0"/>
              <a:t>401-</a:t>
            </a:r>
            <a:r>
              <a:rPr lang="en-US" sz="2800" dirty="0"/>
              <a:t>“Unauthorized.”</a:t>
            </a:r>
          </a:p>
          <a:p>
            <a:r>
              <a:rPr lang="en-US" sz="2800" b="1" dirty="0"/>
              <a:t>400-</a:t>
            </a:r>
            <a:r>
              <a:rPr lang="en-US" sz="2800" dirty="0"/>
              <a:t>“Bad request.”</a:t>
            </a:r>
          </a:p>
          <a:p>
            <a:r>
              <a:rPr lang="en-US" sz="2800" b="1" dirty="0"/>
              <a:t>404-</a:t>
            </a:r>
            <a:r>
              <a:rPr lang="en-US" sz="2800" dirty="0"/>
              <a:t>“File not found.”</a:t>
            </a:r>
          </a:p>
          <a:p>
            <a:endParaRPr lang="en-IN" sz="2800" dirty="0"/>
          </a:p>
          <a:p>
            <a:endParaRPr lang="en-IN" dirty="0"/>
          </a:p>
        </p:txBody>
      </p:sp>
    </p:spTree>
    <p:extLst>
      <p:ext uri="{BB962C8B-B14F-4D97-AF65-F5344CB8AC3E}">
        <p14:creationId xmlns:p14="http://schemas.microsoft.com/office/powerpoint/2010/main" val="869530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Working </a:t>
            </a:r>
            <a:r>
              <a:rPr lang="en-US" sz="3600" dirty="0" smtClean="0"/>
              <a:t>of </a:t>
            </a:r>
            <a:r>
              <a:rPr lang="en-US" sz="3600" dirty="0"/>
              <a:t>the HTTP Protocol</a:t>
            </a:r>
            <a:r>
              <a:rPr lang="en-US" b="1" dirty="0"/>
              <a:t/>
            </a:r>
            <a:br>
              <a:rPr lang="en-US" b="1" dirty="0"/>
            </a:br>
            <a:endParaRPr lang="en-IN" dirty="0"/>
          </a:p>
        </p:txBody>
      </p:sp>
      <p:sp>
        <p:nvSpPr>
          <p:cNvPr id="3" name="Content Placeholder 2"/>
          <p:cNvSpPr>
            <a:spLocks noGrp="1"/>
          </p:cNvSpPr>
          <p:nvPr>
            <p:ph idx="1"/>
          </p:nvPr>
        </p:nvSpPr>
        <p:spPr>
          <a:xfrm>
            <a:off x="457200" y="1600200"/>
            <a:ext cx="8229600" cy="4876800"/>
          </a:xfrm>
        </p:spPr>
        <p:txBody>
          <a:bodyPr>
            <a:normAutofit fontScale="40000" lnSpcReduction="20000"/>
          </a:bodyPr>
          <a:lstStyle/>
          <a:p>
            <a:pPr marL="0" indent="0">
              <a:buNone/>
            </a:pPr>
            <a:r>
              <a:rPr lang="en-US" b="1" dirty="0" smtClean="0"/>
              <a:t>Step </a:t>
            </a:r>
            <a:r>
              <a:rPr lang="en-US" b="1" dirty="0"/>
              <a:t>1</a:t>
            </a:r>
            <a:r>
              <a:rPr lang="en-US" dirty="0"/>
              <a:t>: </a:t>
            </a:r>
            <a:r>
              <a:rPr lang="en-US" b="1" dirty="0"/>
              <a:t>Establishing a TCP/IP connection by the client.</a:t>
            </a:r>
            <a:endParaRPr lang="en-US" dirty="0"/>
          </a:p>
          <a:p>
            <a:r>
              <a:rPr lang="en-US" dirty="0" smtClean="0"/>
              <a:t>The </a:t>
            </a:r>
            <a:r>
              <a:rPr lang="en-US" dirty="0"/>
              <a:t>first step is initiating a TCP connection with the server by the client. Once the connection established, the browser and the server access TCP through their socket interfaces</a:t>
            </a:r>
            <a:r>
              <a:rPr lang="en-US" dirty="0" smtClean="0"/>
              <a:t>.</a:t>
            </a:r>
          </a:p>
          <a:p>
            <a:pPr marL="0" indent="0">
              <a:buNone/>
            </a:pPr>
            <a:endParaRPr lang="en-US" dirty="0"/>
          </a:p>
          <a:p>
            <a:pPr marL="0" indent="0">
              <a:buNone/>
            </a:pPr>
            <a:r>
              <a:rPr lang="en-US" dirty="0"/>
              <a:t> </a:t>
            </a:r>
            <a:r>
              <a:rPr lang="en-US" b="1" dirty="0"/>
              <a:t>Step 2</a:t>
            </a:r>
            <a:r>
              <a:rPr lang="en-US" dirty="0"/>
              <a:t>: </a:t>
            </a:r>
            <a:r>
              <a:rPr lang="en-US" b="1" dirty="0"/>
              <a:t>Initiating an HTTP GET request to the server by the client.</a:t>
            </a:r>
            <a:r>
              <a:rPr lang="en-US" dirty="0"/>
              <a:t> </a:t>
            </a:r>
          </a:p>
          <a:p>
            <a:r>
              <a:rPr lang="en-US" dirty="0"/>
              <a:t>The http request first line of the message is called the request line. The lines below the request line are known as header lines</a:t>
            </a:r>
            <a:r>
              <a:rPr lang="en-US" dirty="0" smtClean="0"/>
              <a:t>.</a:t>
            </a:r>
          </a:p>
          <a:p>
            <a:endParaRPr lang="en-US" dirty="0"/>
          </a:p>
          <a:p>
            <a:r>
              <a:rPr lang="en-US" dirty="0" smtClean="0"/>
              <a:t>The </a:t>
            </a:r>
            <a:r>
              <a:rPr lang="en-US" dirty="0"/>
              <a:t>request line has three fields- method, URL, and version. </a:t>
            </a:r>
            <a:endParaRPr lang="en-US" dirty="0" smtClean="0"/>
          </a:p>
          <a:p>
            <a:endParaRPr lang="en-US" dirty="0"/>
          </a:p>
          <a:p>
            <a:r>
              <a:rPr lang="en-US" dirty="0" smtClean="0"/>
              <a:t>Method </a:t>
            </a:r>
            <a:r>
              <a:rPr lang="en-US" dirty="0"/>
              <a:t>field can take several values like GET, POST, HEAD, PUT and DELETE, etc. The GET method used when the browser requests an object, with the requested object identified in the URL field</a:t>
            </a:r>
            <a:r>
              <a:rPr lang="en-US" dirty="0" smtClean="0"/>
              <a:t>.</a:t>
            </a:r>
          </a:p>
          <a:p>
            <a:endParaRPr lang="en-US" dirty="0"/>
          </a:p>
          <a:p>
            <a:pPr marL="0" indent="0">
              <a:buNone/>
            </a:pPr>
            <a:r>
              <a:rPr lang="en-US" b="1" dirty="0"/>
              <a:t> </a:t>
            </a:r>
            <a:r>
              <a:rPr lang="en-US" b="1" dirty="0" smtClean="0"/>
              <a:t>       GET</a:t>
            </a:r>
            <a:r>
              <a:rPr lang="en-US" dirty="0"/>
              <a:t>: </a:t>
            </a:r>
            <a:r>
              <a:rPr lang="en-US" dirty="0" smtClean="0"/>
              <a:t>It </a:t>
            </a:r>
            <a:r>
              <a:rPr lang="en-US" dirty="0"/>
              <a:t>retrieves those documents which identified in the URL.</a:t>
            </a:r>
          </a:p>
          <a:p>
            <a:pPr marL="0" indent="0">
              <a:buNone/>
            </a:pPr>
            <a:r>
              <a:rPr lang="en-US" dirty="0" smtClean="0"/>
              <a:t>       </a:t>
            </a:r>
            <a:r>
              <a:rPr lang="en-US" dirty="0"/>
              <a:t> </a:t>
            </a:r>
            <a:r>
              <a:rPr lang="en-US" b="1" dirty="0"/>
              <a:t>POST</a:t>
            </a:r>
            <a:r>
              <a:rPr lang="en-US" dirty="0"/>
              <a:t>: It </a:t>
            </a:r>
            <a:r>
              <a:rPr lang="en-US" dirty="0" smtClean="0"/>
              <a:t>will </a:t>
            </a:r>
            <a:r>
              <a:rPr lang="en-US" dirty="0"/>
              <a:t>give information to the server.</a:t>
            </a:r>
          </a:p>
          <a:p>
            <a:pPr marL="0" indent="0">
              <a:buNone/>
            </a:pPr>
            <a:r>
              <a:rPr lang="en-US" dirty="0" smtClean="0"/>
              <a:t>       </a:t>
            </a:r>
            <a:r>
              <a:rPr lang="en-US" dirty="0"/>
              <a:t> </a:t>
            </a:r>
            <a:r>
              <a:rPr lang="en-US" b="1" dirty="0"/>
              <a:t>HEAD</a:t>
            </a:r>
            <a:r>
              <a:rPr lang="en-US" dirty="0"/>
              <a:t>: It </a:t>
            </a:r>
            <a:r>
              <a:rPr lang="en-US" dirty="0" smtClean="0"/>
              <a:t>retrieves </a:t>
            </a:r>
            <a:r>
              <a:rPr lang="en-US" dirty="0"/>
              <a:t>the meta-information about the document identified in the URL.</a:t>
            </a:r>
          </a:p>
          <a:p>
            <a:pPr marL="0" indent="0">
              <a:buNone/>
            </a:pPr>
            <a:r>
              <a:rPr lang="en-US" dirty="0" smtClean="0"/>
              <a:t>       </a:t>
            </a:r>
            <a:r>
              <a:rPr lang="en-US" dirty="0"/>
              <a:t> </a:t>
            </a:r>
            <a:r>
              <a:rPr lang="en-US" b="1" dirty="0"/>
              <a:t>PUT</a:t>
            </a:r>
            <a:r>
              <a:rPr lang="en-US" dirty="0"/>
              <a:t>: It </a:t>
            </a:r>
            <a:r>
              <a:rPr lang="en-US" dirty="0" smtClean="0"/>
              <a:t>stores </a:t>
            </a:r>
            <a:r>
              <a:rPr lang="en-US" dirty="0"/>
              <a:t>those documents which are under specified URL.</a:t>
            </a:r>
          </a:p>
          <a:p>
            <a:pPr marL="0" indent="0">
              <a:buNone/>
            </a:pPr>
            <a:r>
              <a:rPr lang="en-US" dirty="0" smtClean="0"/>
              <a:t>       </a:t>
            </a:r>
            <a:r>
              <a:rPr lang="en-US" dirty="0"/>
              <a:t> </a:t>
            </a:r>
            <a:r>
              <a:rPr lang="en-US" b="1" dirty="0"/>
              <a:t>DELETE</a:t>
            </a:r>
            <a:r>
              <a:rPr lang="en-US" dirty="0"/>
              <a:t>: It </a:t>
            </a:r>
            <a:r>
              <a:rPr lang="en-US" dirty="0" smtClean="0"/>
              <a:t>deletes </a:t>
            </a:r>
            <a:r>
              <a:rPr lang="en-US" dirty="0"/>
              <a:t>the specified URL.</a:t>
            </a:r>
          </a:p>
          <a:p>
            <a:pPr marL="0" indent="0">
              <a:buNone/>
            </a:pPr>
            <a:r>
              <a:rPr lang="en-US" dirty="0" smtClean="0"/>
              <a:t>       </a:t>
            </a:r>
            <a:r>
              <a:rPr lang="en-US" dirty="0"/>
              <a:t> </a:t>
            </a:r>
            <a:r>
              <a:rPr lang="en-US" b="1" dirty="0"/>
              <a:t>TRACE</a:t>
            </a:r>
            <a:r>
              <a:rPr lang="en-US" dirty="0"/>
              <a:t>: It </a:t>
            </a:r>
            <a:r>
              <a:rPr lang="en-US" dirty="0" smtClean="0"/>
              <a:t>will </a:t>
            </a:r>
            <a:r>
              <a:rPr lang="en-US" dirty="0"/>
              <a:t>loop back the request message</a:t>
            </a:r>
            <a:r>
              <a:rPr lang="en-US" dirty="0" smtClean="0"/>
              <a:t>.</a:t>
            </a:r>
          </a:p>
          <a:p>
            <a:pPr marL="0" indent="0">
              <a:buNone/>
            </a:pPr>
            <a:endParaRPr lang="en-US" dirty="0"/>
          </a:p>
          <a:p>
            <a:pPr marL="0" indent="0">
              <a:buNone/>
            </a:pPr>
            <a:r>
              <a:rPr lang="en-US" b="1" dirty="0"/>
              <a:t>Step 3</a:t>
            </a:r>
            <a:r>
              <a:rPr lang="en-US" dirty="0"/>
              <a:t>: </a:t>
            </a:r>
            <a:r>
              <a:rPr lang="en-US" b="1" dirty="0"/>
              <a:t>HTTP Server Response to an HTTP GET request.</a:t>
            </a:r>
            <a:endParaRPr lang="en-US" dirty="0"/>
          </a:p>
          <a:p>
            <a:r>
              <a:rPr lang="en-US" dirty="0" smtClean="0"/>
              <a:t>HTTP </a:t>
            </a:r>
            <a:r>
              <a:rPr lang="en-US" dirty="0"/>
              <a:t>response message has three sections- status line, header lines, and an entity-body. Further, the status line has 3 fields- version, status code, and phrase. After then, header lines are there. In the end, there is the entity-body, which contains the requested message itself.</a:t>
            </a:r>
          </a:p>
          <a:p>
            <a:pPr marL="0" indent="0">
              <a:buNone/>
            </a:pPr>
            <a:endParaRPr lang="en-US" dirty="0"/>
          </a:p>
          <a:p>
            <a:endParaRPr lang="en-US" dirty="0"/>
          </a:p>
          <a:p>
            <a:endParaRPr lang="en-IN" dirty="0"/>
          </a:p>
        </p:txBody>
      </p:sp>
    </p:spTree>
    <p:extLst>
      <p:ext uri="{BB962C8B-B14F-4D97-AF65-F5344CB8AC3E}">
        <p14:creationId xmlns:p14="http://schemas.microsoft.com/office/powerpoint/2010/main" val="1147236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dirty="0"/>
              <a:t>Email </a:t>
            </a:r>
            <a:r>
              <a:rPr lang="en-IN" sz="3200" dirty="0" smtClean="0"/>
              <a:t>Protocols </a:t>
            </a:r>
            <a:r>
              <a:rPr lang="en-IN" sz="3200" dirty="0"/>
              <a:t>– </a:t>
            </a:r>
            <a:r>
              <a:rPr lang="en-IN" sz="3200" dirty="0" smtClean="0"/>
              <a:t>SMTP</a:t>
            </a:r>
            <a:endParaRPr lang="en-IN" sz="3200" dirty="0"/>
          </a:p>
        </p:txBody>
      </p:sp>
      <p:sp>
        <p:nvSpPr>
          <p:cNvPr id="3" name="Content Placeholder 2"/>
          <p:cNvSpPr>
            <a:spLocks noGrp="1"/>
          </p:cNvSpPr>
          <p:nvPr>
            <p:ph idx="1"/>
          </p:nvPr>
        </p:nvSpPr>
        <p:spPr/>
        <p:txBody>
          <a:bodyPr>
            <a:normAutofit fontScale="47500" lnSpcReduction="20000"/>
          </a:bodyPr>
          <a:lstStyle/>
          <a:p>
            <a:r>
              <a:rPr lang="en-US" dirty="0"/>
              <a:t>SMTP stands for </a:t>
            </a:r>
            <a:r>
              <a:rPr lang="en-US" b="1" dirty="0"/>
              <a:t>Simple Mail Transfer Protocol</a:t>
            </a:r>
            <a:r>
              <a:rPr lang="en-US" dirty="0" smtClean="0"/>
              <a:t>.</a:t>
            </a:r>
          </a:p>
          <a:p>
            <a:endParaRPr lang="en-US" dirty="0"/>
          </a:p>
          <a:p>
            <a:r>
              <a:rPr lang="en-US" dirty="0"/>
              <a:t>SMTP is a set of communication guidelines that allow software to transmit an electronic mail over the internet is called Simple Mail Transfer Protocol</a:t>
            </a:r>
            <a:r>
              <a:rPr lang="en-US" dirty="0" smtClean="0"/>
              <a:t>.</a:t>
            </a:r>
          </a:p>
          <a:p>
            <a:endParaRPr lang="en-US" dirty="0"/>
          </a:p>
          <a:p>
            <a:r>
              <a:rPr lang="en-US" dirty="0"/>
              <a:t>It is a program used for sending messages to other computer users based on e-mail addresses</a:t>
            </a:r>
            <a:r>
              <a:rPr lang="en-US" dirty="0" smtClean="0"/>
              <a:t>.</a:t>
            </a:r>
          </a:p>
          <a:p>
            <a:endParaRPr lang="en-US" dirty="0"/>
          </a:p>
          <a:p>
            <a:r>
              <a:rPr lang="en-US" dirty="0"/>
              <a:t>It provides a mail exchange between users on the same or different computers, and it also supports:</a:t>
            </a:r>
          </a:p>
          <a:p>
            <a:pPr lvl="1"/>
            <a:r>
              <a:rPr lang="en-US" dirty="0"/>
              <a:t>It can send a single message to one or more recipients.</a:t>
            </a:r>
          </a:p>
          <a:p>
            <a:pPr lvl="1"/>
            <a:r>
              <a:rPr lang="en-US" dirty="0"/>
              <a:t>Sending message can include text, voice, video or graphics.</a:t>
            </a:r>
          </a:p>
          <a:p>
            <a:pPr lvl="1"/>
            <a:r>
              <a:rPr lang="en-US" dirty="0"/>
              <a:t>It can also send the messages on networks outside the internet</a:t>
            </a:r>
            <a:r>
              <a:rPr lang="en-US" dirty="0" smtClean="0"/>
              <a:t>.</a:t>
            </a:r>
          </a:p>
          <a:p>
            <a:pPr marL="457200" lvl="1" indent="0">
              <a:buNone/>
            </a:pPr>
            <a:endParaRPr lang="en-US" dirty="0"/>
          </a:p>
          <a:p>
            <a:r>
              <a:rPr lang="en-US" dirty="0"/>
              <a:t>The main purpose of SMTP is used to set up communication rules between servers. </a:t>
            </a:r>
            <a:endParaRPr lang="en-US" dirty="0" smtClean="0"/>
          </a:p>
          <a:p>
            <a:endParaRPr lang="en-US" dirty="0"/>
          </a:p>
          <a:p>
            <a:r>
              <a:rPr lang="en-US" dirty="0" smtClean="0"/>
              <a:t>The </a:t>
            </a:r>
            <a:r>
              <a:rPr lang="en-US" dirty="0"/>
              <a:t>servers have a way of identifying themselves and announcing what kind of communication they are trying to perform. </a:t>
            </a:r>
            <a:endParaRPr lang="en-US" dirty="0" smtClean="0"/>
          </a:p>
          <a:p>
            <a:endParaRPr lang="en-US" dirty="0"/>
          </a:p>
          <a:p>
            <a:r>
              <a:rPr lang="en-US" dirty="0" smtClean="0"/>
              <a:t>They </a:t>
            </a:r>
            <a:r>
              <a:rPr lang="en-US" dirty="0"/>
              <a:t>also have a way of handling the errors such as incorrect email address. </a:t>
            </a:r>
            <a:r>
              <a:rPr lang="en-US" b="1" dirty="0" smtClean="0"/>
              <a:t>Ex:</a:t>
            </a:r>
            <a:r>
              <a:rPr lang="en-US" dirty="0" smtClean="0"/>
              <a:t> </a:t>
            </a:r>
            <a:r>
              <a:rPr lang="en-US" dirty="0"/>
              <a:t>if the recipient address is wrong, then receiving server reply with an error message of some kind</a:t>
            </a:r>
            <a:r>
              <a:rPr lang="en-US" dirty="0" smtClean="0"/>
              <a:t>.</a:t>
            </a:r>
            <a:r>
              <a:rPr lang="en-US" dirty="0"/>
              <a:t/>
            </a:r>
            <a:br>
              <a:rPr lang="en-US" dirty="0"/>
            </a:br>
            <a:endParaRPr lang="en-IN" dirty="0"/>
          </a:p>
        </p:txBody>
      </p:sp>
    </p:spTree>
    <p:extLst>
      <p:ext uri="{BB962C8B-B14F-4D97-AF65-F5344CB8AC3E}">
        <p14:creationId xmlns:p14="http://schemas.microsoft.com/office/powerpoint/2010/main" val="14646921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SMTP</a:t>
            </a:r>
          </a:p>
        </p:txBody>
      </p:sp>
      <p:sp>
        <p:nvSpPr>
          <p:cNvPr id="3" name="Content Placeholder 2"/>
          <p:cNvSpPr>
            <a:spLocks noGrp="1"/>
          </p:cNvSpPr>
          <p:nvPr>
            <p:ph idx="1"/>
          </p:nvPr>
        </p:nvSpPr>
        <p:spPr/>
        <p:txBody>
          <a:bodyPr>
            <a:normAutofit fontScale="85000" lnSpcReduction="10000"/>
          </a:bodyPr>
          <a:lstStyle/>
          <a:p>
            <a:pPr fontAlgn="base"/>
            <a:r>
              <a:rPr lang="en-US" sz="2000" dirty="0"/>
              <a:t>The SMTP model is of two types:</a:t>
            </a:r>
          </a:p>
          <a:p>
            <a:pPr lvl="1" fontAlgn="base"/>
            <a:r>
              <a:rPr lang="en-US" sz="1800" dirty="0"/>
              <a:t>End-to-end method</a:t>
            </a:r>
          </a:p>
          <a:p>
            <a:pPr lvl="1" fontAlgn="base"/>
            <a:r>
              <a:rPr lang="en-US" sz="1800" dirty="0"/>
              <a:t>Store-and- forward method</a:t>
            </a:r>
          </a:p>
          <a:p>
            <a:pPr lvl="1" fontAlgn="base"/>
            <a:endParaRPr lang="en-US" sz="1800" dirty="0"/>
          </a:p>
          <a:p>
            <a:pPr fontAlgn="base"/>
            <a:r>
              <a:rPr lang="en-US" sz="2000" dirty="0"/>
              <a:t>The end-to-end model is used to communicate between different organizations whereas the store and forward method is used within an </a:t>
            </a:r>
            <a:r>
              <a:rPr lang="en-US" sz="2000" dirty="0" smtClean="0"/>
              <a:t>organization.</a:t>
            </a:r>
          </a:p>
          <a:p>
            <a:pPr fontAlgn="base"/>
            <a:endParaRPr lang="en-US" sz="2000" dirty="0" smtClean="0"/>
          </a:p>
          <a:p>
            <a:pPr fontAlgn="base"/>
            <a:r>
              <a:rPr lang="en-US" sz="2000" dirty="0" smtClean="0"/>
              <a:t>An </a:t>
            </a:r>
            <a:r>
              <a:rPr lang="en-US" sz="2000" dirty="0"/>
              <a:t>SMTP client who wants to send the mail will contact the destination’s host SMTP directly, in order to send the mail to the destination. </a:t>
            </a:r>
            <a:endParaRPr lang="en-US" sz="2000" dirty="0" smtClean="0"/>
          </a:p>
          <a:p>
            <a:pPr fontAlgn="base"/>
            <a:endParaRPr lang="en-US" sz="2000" dirty="0"/>
          </a:p>
          <a:p>
            <a:pPr fontAlgn="base"/>
            <a:r>
              <a:rPr lang="en-US" sz="2000" dirty="0"/>
              <a:t>The SMTP server will keep the mail to itself until it is successfully copied to the receiver’s SMTP. </a:t>
            </a:r>
            <a:endParaRPr lang="en-US" sz="2000" dirty="0" smtClean="0"/>
          </a:p>
          <a:p>
            <a:pPr fontAlgn="base"/>
            <a:endParaRPr lang="en-US" sz="2000" dirty="0" smtClean="0"/>
          </a:p>
          <a:p>
            <a:pPr fontAlgn="base"/>
            <a:r>
              <a:rPr lang="en-US" sz="2000" dirty="0" smtClean="0"/>
              <a:t>The </a:t>
            </a:r>
            <a:r>
              <a:rPr lang="en-US" sz="2000" dirty="0"/>
              <a:t>client SMTP is the one that initiates the session so let us call it client- SMTP and the server SMTP is the one that responds to the session request so let us call it receiver-SMTP. The client- SMTP will start the session and the receiver-SMTP will respond to the request. </a:t>
            </a:r>
          </a:p>
          <a:p>
            <a:pPr fontAlgn="base"/>
            <a:endParaRPr lang="en-US" sz="2000" dirty="0"/>
          </a:p>
          <a:p>
            <a:endParaRPr lang="en-IN" dirty="0"/>
          </a:p>
        </p:txBody>
      </p:sp>
    </p:spTree>
    <p:extLst>
      <p:ext uri="{BB962C8B-B14F-4D97-AF65-F5344CB8AC3E}">
        <p14:creationId xmlns:p14="http://schemas.microsoft.com/office/powerpoint/2010/main" val="33023956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SMTP</a:t>
            </a:r>
          </a:p>
        </p:txBody>
      </p:sp>
      <p:sp>
        <p:nvSpPr>
          <p:cNvPr id="3" name="Content Placeholder 2"/>
          <p:cNvSpPr>
            <a:spLocks noGrp="1"/>
          </p:cNvSpPr>
          <p:nvPr>
            <p:ph idx="1"/>
          </p:nvPr>
        </p:nvSpPr>
        <p:spPr/>
        <p:txBody>
          <a:bodyPr>
            <a:normAutofit/>
          </a:bodyPr>
          <a:lstStyle/>
          <a:p>
            <a:pPr fontAlgn="base"/>
            <a:r>
              <a:rPr lang="en-US" sz="1800" dirty="0" smtClean="0"/>
              <a:t>An </a:t>
            </a:r>
            <a:r>
              <a:rPr lang="en-US" sz="1800" dirty="0"/>
              <a:t>SMTP client who wants to send the mail will contact the destination’s host SMTP directly, in order to send the mail to the destination. </a:t>
            </a:r>
            <a:endParaRPr lang="en-US" sz="1800" dirty="0" smtClean="0"/>
          </a:p>
          <a:p>
            <a:pPr fontAlgn="base"/>
            <a:endParaRPr lang="en-US" sz="1800" dirty="0"/>
          </a:p>
          <a:p>
            <a:pPr fontAlgn="base"/>
            <a:r>
              <a:rPr lang="en-US" sz="1800" dirty="0"/>
              <a:t>The SMTP server will keep the mail to itself until it is successfully copied to the receiver’s SMTP. </a:t>
            </a:r>
            <a:endParaRPr lang="en-US" sz="1800" dirty="0" smtClean="0"/>
          </a:p>
          <a:p>
            <a:pPr fontAlgn="base"/>
            <a:endParaRPr lang="en-US" sz="1800" dirty="0"/>
          </a:p>
          <a:p>
            <a:pPr fontAlgn="base"/>
            <a:r>
              <a:rPr lang="en-US" sz="1800" dirty="0" smtClean="0"/>
              <a:t>The </a:t>
            </a:r>
            <a:r>
              <a:rPr lang="en-US" sz="1800" dirty="0"/>
              <a:t>client SMTP is the one that initiates the session so let us call it </a:t>
            </a:r>
            <a:r>
              <a:rPr lang="en-US" sz="1800" b="1" dirty="0"/>
              <a:t>client- SMTP </a:t>
            </a:r>
            <a:r>
              <a:rPr lang="en-US" sz="1800" dirty="0"/>
              <a:t>and the server SMTP is the one that responds to the session request so let us call it </a:t>
            </a:r>
            <a:r>
              <a:rPr lang="en-US" sz="1800" b="1" dirty="0"/>
              <a:t>receiver-SMTP</a:t>
            </a:r>
            <a:r>
              <a:rPr lang="en-US" sz="1800" dirty="0"/>
              <a:t>. </a:t>
            </a:r>
            <a:endParaRPr lang="en-US" sz="1800" dirty="0" smtClean="0"/>
          </a:p>
          <a:p>
            <a:pPr fontAlgn="base"/>
            <a:endParaRPr lang="en-US" sz="1800" dirty="0"/>
          </a:p>
          <a:p>
            <a:pPr fontAlgn="base"/>
            <a:r>
              <a:rPr lang="en-US" sz="1800" dirty="0" smtClean="0"/>
              <a:t>The </a:t>
            </a:r>
            <a:r>
              <a:rPr lang="en-US" sz="1800" dirty="0"/>
              <a:t>client- SMTP will start the session and the receiver-SMTP will respond to the request. </a:t>
            </a:r>
          </a:p>
          <a:p>
            <a:endParaRPr lang="en-IN" sz="1800" dirty="0"/>
          </a:p>
        </p:txBody>
      </p:sp>
    </p:spTree>
    <p:extLst>
      <p:ext uri="{BB962C8B-B14F-4D97-AF65-F5344CB8AC3E}">
        <p14:creationId xmlns:p14="http://schemas.microsoft.com/office/powerpoint/2010/main" val="27051850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Components of SMTP</a:t>
            </a:r>
          </a:p>
        </p:txBody>
      </p:sp>
      <p:sp>
        <p:nvSpPr>
          <p:cNvPr id="3" name="Content Placeholder 2"/>
          <p:cNvSpPr>
            <a:spLocks noGrp="1"/>
          </p:cNvSpPr>
          <p:nvPr>
            <p:ph idx="1"/>
          </p:nvPr>
        </p:nvSpPr>
        <p:spPr/>
        <p:txBody>
          <a:bodyPr/>
          <a:lstStyle/>
          <a:p>
            <a:r>
              <a:rPr lang="en-US" sz="1800" dirty="0"/>
              <a:t>First, we will break the SMTP client and SMTP server into two components such as </a:t>
            </a:r>
            <a:r>
              <a:rPr lang="en-US" sz="1800" b="1" dirty="0"/>
              <a:t>user agent </a:t>
            </a:r>
            <a:r>
              <a:rPr lang="en-US" sz="1800" dirty="0"/>
              <a:t>(UA) and </a:t>
            </a:r>
            <a:r>
              <a:rPr lang="en-US" sz="1800" b="1" dirty="0"/>
              <a:t>mail transfer agent </a:t>
            </a:r>
            <a:r>
              <a:rPr lang="en-US" sz="1800" dirty="0"/>
              <a:t>(MTA). </a:t>
            </a:r>
            <a:endParaRPr lang="en-US" sz="1800" dirty="0" smtClean="0"/>
          </a:p>
          <a:p>
            <a:endParaRPr lang="en-US" sz="1800" dirty="0"/>
          </a:p>
          <a:p>
            <a:r>
              <a:rPr lang="en-US" sz="1800" dirty="0" smtClean="0"/>
              <a:t>The </a:t>
            </a:r>
            <a:r>
              <a:rPr lang="en-US" sz="1800" dirty="0"/>
              <a:t>user agent (UA) prepares the message, creates the envelope and then puts the message in the envelope. </a:t>
            </a:r>
            <a:endParaRPr lang="en-US" sz="1800" dirty="0" smtClean="0"/>
          </a:p>
          <a:p>
            <a:endParaRPr lang="en-US" sz="1800" dirty="0"/>
          </a:p>
          <a:p>
            <a:r>
              <a:rPr lang="en-US" sz="1800" dirty="0" smtClean="0"/>
              <a:t>The </a:t>
            </a:r>
            <a:r>
              <a:rPr lang="en-US" sz="1800" dirty="0"/>
              <a:t>mail transfer agent (MTA) transfers this mail across the internet.</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132053"/>
            <a:ext cx="3352800" cy="242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212191"/>
            <a:ext cx="4357777"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9879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Components of SMTP</a:t>
            </a:r>
          </a:p>
        </p:txBody>
      </p:sp>
      <p:sp>
        <p:nvSpPr>
          <p:cNvPr id="3" name="Content Placeholder 2"/>
          <p:cNvSpPr>
            <a:spLocks noGrp="1"/>
          </p:cNvSpPr>
          <p:nvPr>
            <p:ph idx="1"/>
          </p:nvPr>
        </p:nvSpPr>
        <p:spPr/>
        <p:txBody>
          <a:bodyPr/>
          <a:lstStyle/>
          <a:p>
            <a:r>
              <a:rPr lang="en-US" sz="1800" dirty="0"/>
              <a:t>The relaying system without TCP/IP protocol can also be used to send the emails to users, and this is achieved by the use of the mail gateway. The mail gateway is a relay MTA that can be used to receive an email</a:t>
            </a:r>
            <a:r>
              <a:rPr lang="en-US" sz="1800" dirty="0" smtClean="0"/>
              <a:t>.</a:t>
            </a:r>
          </a:p>
          <a:p>
            <a:endParaRPr lang="en-US" sz="1800" dirty="0"/>
          </a:p>
          <a:p>
            <a:r>
              <a:rPr lang="en-US" sz="1800" dirty="0"/>
              <a:t>The relaying system without TCP/IP protocol can also be used to send the emails to users, and this is achieved by the use of the mail gateway. The mail gateway is a relay MTA that can be used to receive an email.</a:t>
            </a:r>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3886200"/>
            <a:ext cx="44958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886200"/>
            <a:ext cx="3941763" cy="2239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42971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dirty="0"/>
              <a:t>Working of SMTP</a:t>
            </a:r>
            <a:r>
              <a:rPr lang="en-IN" dirty="0"/>
              <a:t/>
            </a:r>
            <a:br>
              <a:rPr lang="en-IN" dirty="0"/>
            </a:br>
            <a:endParaRPr lang="en-IN" dirty="0"/>
          </a:p>
        </p:txBody>
      </p:sp>
      <p:sp>
        <p:nvSpPr>
          <p:cNvPr id="3" name="Content Placeholder 2"/>
          <p:cNvSpPr>
            <a:spLocks noGrp="1"/>
          </p:cNvSpPr>
          <p:nvPr>
            <p:ph idx="1"/>
          </p:nvPr>
        </p:nvSpPr>
        <p:spPr/>
        <p:txBody>
          <a:bodyPr>
            <a:normAutofit lnSpcReduction="10000"/>
          </a:bodyPr>
          <a:lstStyle/>
          <a:p>
            <a:r>
              <a:rPr lang="en-US" sz="1800" b="1" dirty="0"/>
              <a:t>Composition of Mail:</a:t>
            </a:r>
            <a:r>
              <a:rPr lang="en-US" sz="1800" dirty="0"/>
              <a:t> A user sends an e-mail by composing an electronic mail message using a Mail User Agent (MUA). </a:t>
            </a:r>
            <a:endParaRPr lang="en-US" sz="1800" dirty="0" smtClean="0"/>
          </a:p>
          <a:p>
            <a:endParaRPr lang="en-US" sz="1800" dirty="0"/>
          </a:p>
          <a:p>
            <a:r>
              <a:rPr lang="en-US" sz="1800" dirty="0" smtClean="0"/>
              <a:t>Mail </a:t>
            </a:r>
            <a:r>
              <a:rPr lang="en-US" sz="1800" dirty="0"/>
              <a:t>User Agent is a program which is used to send and receive mail. </a:t>
            </a:r>
            <a:endParaRPr lang="en-US" sz="1800" dirty="0" smtClean="0"/>
          </a:p>
          <a:p>
            <a:endParaRPr lang="en-US" sz="1800" dirty="0"/>
          </a:p>
          <a:p>
            <a:r>
              <a:rPr lang="en-US" sz="1800" dirty="0" smtClean="0"/>
              <a:t>The </a:t>
            </a:r>
            <a:r>
              <a:rPr lang="en-US" sz="1800" dirty="0"/>
              <a:t>message contains two parts: </a:t>
            </a:r>
            <a:r>
              <a:rPr lang="en-US" sz="1800" b="1" dirty="0"/>
              <a:t>body</a:t>
            </a:r>
            <a:r>
              <a:rPr lang="en-US" sz="1800" dirty="0"/>
              <a:t> and </a:t>
            </a:r>
            <a:r>
              <a:rPr lang="en-US" sz="1800" b="1" dirty="0"/>
              <a:t>header</a:t>
            </a:r>
            <a:r>
              <a:rPr lang="en-US" sz="1800" dirty="0"/>
              <a:t>. </a:t>
            </a:r>
            <a:endParaRPr lang="en-US" sz="1800" dirty="0" smtClean="0"/>
          </a:p>
          <a:p>
            <a:endParaRPr lang="en-US" sz="1800" dirty="0"/>
          </a:p>
          <a:p>
            <a:r>
              <a:rPr lang="en-US" sz="1800" dirty="0" smtClean="0"/>
              <a:t>The </a:t>
            </a:r>
            <a:r>
              <a:rPr lang="en-US" sz="1800" dirty="0"/>
              <a:t>body is the main part of the message while the header includes information such as the sender and recipient address. </a:t>
            </a:r>
            <a:endParaRPr lang="en-US" sz="1800" dirty="0" smtClean="0"/>
          </a:p>
          <a:p>
            <a:endParaRPr lang="en-US" sz="1800" dirty="0"/>
          </a:p>
          <a:p>
            <a:r>
              <a:rPr lang="en-US" sz="1800" dirty="0" smtClean="0"/>
              <a:t>The </a:t>
            </a:r>
            <a:r>
              <a:rPr lang="en-US" sz="1800" dirty="0"/>
              <a:t>header also includes descriptive information such as the </a:t>
            </a:r>
            <a:r>
              <a:rPr lang="en-US" sz="1800" b="1" dirty="0"/>
              <a:t>subject</a:t>
            </a:r>
            <a:r>
              <a:rPr lang="en-US" sz="1800" dirty="0"/>
              <a:t> of the message. </a:t>
            </a:r>
            <a:endParaRPr lang="en-US" sz="1800" dirty="0" smtClean="0"/>
          </a:p>
          <a:p>
            <a:endParaRPr lang="en-US" sz="1800" dirty="0"/>
          </a:p>
          <a:p>
            <a:r>
              <a:rPr lang="en-US" sz="1800" dirty="0" smtClean="0"/>
              <a:t>In </a:t>
            </a:r>
            <a:r>
              <a:rPr lang="en-US" sz="1800" dirty="0"/>
              <a:t>this case, the message body is like a </a:t>
            </a:r>
            <a:r>
              <a:rPr lang="en-US" sz="1800" b="1" dirty="0"/>
              <a:t>letter</a:t>
            </a:r>
            <a:r>
              <a:rPr lang="en-US" sz="1800" dirty="0"/>
              <a:t> and header is like an </a:t>
            </a:r>
            <a:r>
              <a:rPr lang="en-US" sz="1800" b="1" dirty="0"/>
              <a:t>envelope</a:t>
            </a:r>
            <a:r>
              <a:rPr lang="en-US" sz="1800" dirty="0"/>
              <a:t> that contains the recipient's address.</a:t>
            </a:r>
          </a:p>
          <a:p>
            <a:endParaRPr lang="en-IN" dirty="0"/>
          </a:p>
          <a:p>
            <a:endParaRPr lang="en-IN" dirty="0"/>
          </a:p>
        </p:txBody>
      </p:sp>
    </p:spTree>
    <p:extLst>
      <p:ext uri="{BB962C8B-B14F-4D97-AF65-F5344CB8AC3E}">
        <p14:creationId xmlns:p14="http://schemas.microsoft.com/office/powerpoint/2010/main" val="11474284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Working of SMTP</a:t>
            </a:r>
          </a:p>
        </p:txBody>
      </p:sp>
      <p:sp>
        <p:nvSpPr>
          <p:cNvPr id="3" name="Content Placeholder 2"/>
          <p:cNvSpPr>
            <a:spLocks noGrp="1"/>
          </p:cNvSpPr>
          <p:nvPr>
            <p:ph idx="1"/>
          </p:nvPr>
        </p:nvSpPr>
        <p:spPr/>
        <p:txBody>
          <a:bodyPr>
            <a:normAutofit/>
          </a:bodyPr>
          <a:lstStyle/>
          <a:p>
            <a:r>
              <a:rPr lang="en-US" sz="1800" b="1" dirty="0"/>
              <a:t>Submission of Mail:</a:t>
            </a:r>
            <a:r>
              <a:rPr lang="en-US" sz="1800" dirty="0"/>
              <a:t> After composing an email, the mail client then submits the completed e-mail to the SMTP server by using SMTP on TCP </a:t>
            </a:r>
            <a:r>
              <a:rPr lang="en-US" sz="1800" b="1" dirty="0"/>
              <a:t>port 25</a:t>
            </a:r>
            <a:r>
              <a:rPr lang="en-US" sz="1800" dirty="0" smtClean="0"/>
              <a:t>.</a:t>
            </a:r>
          </a:p>
          <a:p>
            <a:endParaRPr lang="en-US" sz="1800" dirty="0"/>
          </a:p>
          <a:p>
            <a:r>
              <a:rPr lang="en-US" sz="1800" b="1" dirty="0"/>
              <a:t>Delivery of Mail:</a:t>
            </a:r>
            <a:r>
              <a:rPr lang="en-US" sz="1800" dirty="0"/>
              <a:t> E-mail addresses contain two parts: </a:t>
            </a:r>
            <a:r>
              <a:rPr lang="en-US" sz="1800" b="1" dirty="0"/>
              <a:t>username</a:t>
            </a:r>
            <a:r>
              <a:rPr lang="en-US" sz="1800" dirty="0"/>
              <a:t> of the recipient and </a:t>
            </a:r>
            <a:r>
              <a:rPr lang="en-US" sz="1800" b="1" dirty="0"/>
              <a:t>domain name</a:t>
            </a:r>
            <a:r>
              <a:rPr lang="en-US" sz="1800" dirty="0"/>
              <a:t>. For example, vivek@gmail.com, where "</a:t>
            </a:r>
            <a:r>
              <a:rPr lang="en-US" sz="1800" dirty="0" err="1"/>
              <a:t>vivek</a:t>
            </a:r>
            <a:r>
              <a:rPr lang="en-US" sz="1800" dirty="0"/>
              <a:t>" is the username of the recipient and "gmail.com" is the domain name</a:t>
            </a:r>
            <a:r>
              <a:rPr lang="en-US" sz="1800" dirty="0" smtClean="0"/>
              <a:t>.</a:t>
            </a:r>
          </a:p>
          <a:p>
            <a:endParaRPr lang="en-US" sz="1800" dirty="0"/>
          </a:p>
          <a:p>
            <a:r>
              <a:rPr lang="en-US" sz="1800" b="1" dirty="0"/>
              <a:t>Receipt and Processing of Mail:</a:t>
            </a:r>
            <a:r>
              <a:rPr lang="en-US" sz="1800" dirty="0"/>
              <a:t> Once the incoming message is received, the exchange server delivers it to the incoming server (Mail Delivery Agent) which stores the e-mail where it waits for the user to retrieve it</a:t>
            </a:r>
            <a:r>
              <a:rPr lang="en-US" sz="1800" dirty="0" smtClean="0"/>
              <a:t>.</a:t>
            </a:r>
          </a:p>
          <a:p>
            <a:endParaRPr lang="en-US" sz="1800" dirty="0"/>
          </a:p>
          <a:p>
            <a:r>
              <a:rPr lang="en-US" sz="1800" b="1" dirty="0"/>
              <a:t>Access and Retrieval of Mail:</a:t>
            </a:r>
            <a:r>
              <a:rPr lang="en-US" sz="1800" dirty="0"/>
              <a:t> The stored email in MDA can be retrieved by using MUA (Mail User Agent). MUA can be accessed by using login and password.</a:t>
            </a:r>
          </a:p>
          <a:p>
            <a:endParaRPr lang="en-IN" sz="1800" dirty="0"/>
          </a:p>
          <a:p>
            <a:endParaRPr lang="en-IN" dirty="0"/>
          </a:p>
        </p:txBody>
      </p:sp>
    </p:spTree>
    <p:extLst>
      <p:ext uri="{BB962C8B-B14F-4D97-AF65-F5344CB8AC3E}">
        <p14:creationId xmlns:p14="http://schemas.microsoft.com/office/powerpoint/2010/main" val="23532368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a:t>
            </a:r>
            <a:r>
              <a:rPr lang="en-IN" sz="3200" dirty="0" smtClean="0"/>
              <a:t>- POP3</a:t>
            </a:r>
            <a:endParaRPr lang="en-IN" sz="3200" dirty="0"/>
          </a:p>
        </p:txBody>
      </p:sp>
      <p:sp>
        <p:nvSpPr>
          <p:cNvPr id="3" name="Content Placeholder 2"/>
          <p:cNvSpPr>
            <a:spLocks noGrp="1"/>
          </p:cNvSpPr>
          <p:nvPr>
            <p:ph idx="1"/>
          </p:nvPr>
        </p:nvSpPr>
        <p:spPr/>
        <p:txBody>
          <a:bodyPr>
            <a:normAutofit/>
          </a:bodyPr>
          <a:lstStyle/>
          <a:p>
            <a:r>
              <a:rPr lang="en-US" sz="1800" dirty="0"/>
              <a:t>The POP protocol stands for </a:t>
            </a:r>
            <a:r>
              <a:rPr lang="en-US" sz="1800" b="1" dirty="0"/>
              <a:t>Post Office Protocol</a:t>
            </a:r>
            <a:r>
              <a:rPr lang="en-US" sz="1800" dirty="0" smtClean="0"/>
              <a:t>.</a:t>
            </a:r>
          </a:p>
          <a:p>
            <a:endParaRPr lang="en-US" sz="1800" dirty="0"/>
          </a:p>
          <a:p>
            <a:r>
              <a:rPr lang="en-US" sz="1800" dirty="0" smtClean="0"/>
              <a:t>SMTP </a:t>
            </a:r>
            <a:r>
              <a:rPr lang="en-US" sz="1800" dirty="0"/>
              <a:t>is used as a message transfer agent. When the message is sent, then SMPT is used to deliver the message from the client to the server and then to the recipient server. </a:t>
            </a:r>
            <a:endParaRPr lang="en-US" sz="1800" dirty="0" smtClean="0"/>
          </a:p>
          <a:p>
            <a:endParaRPr lang="en-US" sz="1800" dirty="0"/>
          </a:p>
          <a:p>
            <a:r>
              <a:rPr lang="en-US" sz="1800" dirty="0" smtClean="0"/>
              <a:t>The </a:t>
            </a:r>
            <a:r>
              <a:rPr lang="en-US" sz="1800" dirty="0"/>
              <a:t>message is sent from the recipient server to the actual server with the help of the </a:t>
            </a:r>
            <a:r>
              <a:rPr lang="en-US" sz="1800" b="1" dirty="0"/>
              <a:t>Message Access Agent</a:t>
            </a:r>
            <a:r>
              <a:rPr lang="en-US" sz="1800" dirty="0"/>
              <a:t>. </a:t>
            </a:r>
            <a:endParaRPr lang="en-US" sz="1800" dirty="0" smtClean="0"/>
          </a:p>
          <a:p>
            <a:endParaRPr lang="en-US" sz="1800" dirty="0"/>
          </a:p>
          <a:p>
            <a:r>
              <a:rPr lang="en-US" sz="1800" dirty="0" smtClean="0"/>
              <a:t>The </a:t>
            </a:r>
            <a:r>
              <a:rPr lang="en-US" sz="1800" dirty="0"/>
              <a:t>Message Access Agent contains two types of protocols, i.e., </a:t>
            </a:r>
            <a:r>
              <a:rPr lang="en-US" sz="1800" b="1" dirty="0"/>
              <a:t>POP3</a:t>
            </a:r>
            <a:r>
              <a:rPr lang="en-US" sz="1800" dirty="0"/>
              <a:t> and </a:t>
            </a:r>
            <a:r>
              <a:rPr lang="en-US" sz="1800" b="1" dirty="0"/>
              <a:t>IMAP</a:t>
            </a:r>
            <a:r>
              <a:rPr lang="en-US" sz="1800" dirty="0"/>
              <a:t>.</a:t>
            </a:r>
            <a:endParaRPr lang="en-IN" sz="1800" dirty="0"/>
          </a:p>
          <a:p>
            <a:endParaRPr lang="en-IN" dirty="0"/>
          </a:p>
        </p:txBody>
      </p:sp>
    </p:spTree>
    <p:extLst>
      <p:ext uri="{BB962C8B-B14F-4D97-AF65-F5344CB8AC3E}">
        <p14:creationId xmlns:p14="http://schemas.microsoft.com/office/powerpoint/2010/main" val="29935464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POP3</a:t>
            </a:r>
          </a:p>
        </p:txBody>
      </p:sp>
      <p:sp>
        <p:nvSpPr>
          <p:cNvPr id="3" name="Content Placeholder 2"/>
          <p:cNvSpPr>
            <a:spLocks noGrp="1"/>
          </p:cNvSpPr>
          <p:nvPr>
            <p:ph idx="1"/>
          </p:nvPr>
        </p:nvSpPr>
        <p:spPr/>
        <p:txBody>
          <a:bodyPr/>
          <a:lstStyle/>
          <a:p>
            <a:pPr marL="0" indent="0">
              <a:buNone/>
            </a:pPr>
            <a:r>
              <a:rPr lang="en-IN" sz="1800" b="1" dirty="0"/>
              <a:t>How is mail transmitted</a:t>
            </a:r>
            <a:r>
              <a:rPr lang="en-IN" sz="1800" b="1" dirty="0" smtClean="0"/>
              <a:t>?</a:t>
            </a:r>
          </a:p>
          <a:p>
            <a:pPr marL="0" indent="0">
              <a:buNone/>
            </a:pPr>
            <a:endParaRPr lang="en-US" sz="1800" b="1" dirty="0" smtClean="0"/>
          </a:p>
          <a:p>
            <a:r>
              <a:rPr lang="en-US" sz="1800" dirty="0" smtClean="0"/>
              <a:t>Suppose </a:t>
            </a:r>
            <a:r>
              <a:rPr lang="en-US" sz="1800" dirty="0"/>
              <a:t>sender wants to send the mail to receiver. First mail is transmitted to the sender's mail server. </a:t>
            </a:r>
            <a:endParaRPr lang="en-US" sz="1800" dirty="0" smtClean="0"/>
          </a:p>
          <a:p>
            <a:endParaRPr lang="en-US" sz="1800" dirty="0"/>
          </a:p>
          <a:p>
            <a:r>
              <a:rPr lang="en-US" sz="1800" dirty="0" smtClean="0"/>
              <a:t>Then</a:t>
            </a:r>
            <a:r>
              <a:rPr lang="en-US" sz="1800" dirty="0"/>
              <a:t>, the mail is transmitted from the sender's mail server to the receiver's mail server over the internet. </a:t>
            </a:r>
            <a:endParaRPr lang="en-US" sz="1800" dirty="0" smtClean="0"/>
          </a:p>
          <a:p>
            <a:endParaRPr lang="en-US" sz="1800" dirty="0"/>
          </a:p>
          <a:p>
            <a:r>
              <a:rPr lang="en-US" sz="1800" dirty="0" smtClean="0"/>
              <a:t>On </a:t>
            </a:r>
            <a:r>
              <a:rPr lang="en-US" sz="1800" dirty="0"/>
              <a:t>receiving the mail at the receiver's mail server, the mail is then sent to the user. </a:t>
            </a:r>
            <a:endParaRPr lang="en-IN" sz="1800" dirty="0"/>
          </a:p>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632325"/>
            <a:ext cx="6934200"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80115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POP3</a:t>
            </a:r>
          </a:p>
        </p:txBody>
      </p:sp>
      <p:sp>
        <p:nvSpPr>
          <p:cNvPr id="3" name="Content Placeholder 2"/>
          <p:cNvSpPr>
            <a:spLocks noGrp="1"/>
          </p:cNvSpPr>
          <p:nvPr>
            <p:ph idx="1"/>
          </p:nvPr>
        </p:nvSpPr>
        <p:spPr/>
        <p:txBody>
          <a:bodyPr/>
          <a:lstStyle/>
          <a:p>
            <a:r>
              <a:rPr lang="en-US" sz="1800" dirty="0"/>
              <a:t>The whole process is done with the help of Email protocols. The transmission of mail from the sender to the sender's mail server and then to the receiver's mail server is done with the help of the </a:t>
            </a:r>
            <a:r>
              <a:rPr lang="en-US" sz="1800" b="1" dirty="0"/>
              <a:t>SMTP protocol</a:t>
            </a:r>
            <a:r>
              <a:rPr lang="en-US" sz="1800" dirty="0"/>
              <a:t>. </a:t>
            </a:r>
            <a:endParaRPr lang="en-US" sz="1800" dirty="0" smtClean="0"/>
          </a:p>
          <a:p>
            <a:endParaRPr lang="en-US" sz="1800" dirty="0"/>
          </a:p>
          <a:p>
            <a:r>
              <a:rPr lang="en-US" sz="1800" dirty="0" smtClean="0"/>
              <a:t>At </a:t>
            </a:r>
            <a:r>
              <a:rPr lang="en-US" sz="1800" dirty="0"/>
              <a:t>the receiver's mail server, the POP or IMAP protocol takes the data and transmits to the actual user.</a:t>
            </a:r>
            <a:endParaRPr lang="en-IN" sz="1800" dirty="0"/>
          </a:p>
          <a:p>
            <a:endParaRPr lang="en-IN" dirty="0"/>
          </a:p>
        </p:txBody>
      </p:sp>
    </p:spTree>
    <p:extLst>
      <p:ext uri="{BB962C8B-B14F-4D97-AF65-F5344CB8AC3E}">
        <p14:creationId xmlns:p14="http://schemas.microsoft.com/office/powerpoint/2010/main" val="41775526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dirty="0"/>
              <a:t>Advantages of POP3 protocol</a:t>
            </a:r>
            <a:r>
              <a:rPr lang="en-IN" dirty="0"/>
              <a:t/>
            </a:r>
            <a:br>
              <a:rPr lang="en-IN" dirty="0"/>
            </a:br>
            <a:endParaRPr lang="en-IN" dirty="0"/>
          </a:p>
        </p:txBody>
      </p:sp>
      <p:sp>
        <p:nvSpPr>
          <p:cNvPr id="3" name="Content Placeholder 2"/>
          <p:cNvSpPr>
            <a:spLocks noGrp="1"/>
          </p:cNvSpPr>
          <p:nvPr>
            <p:ph idx="1"/>
          </p:nvPr>
        </p:nvSpPr>
        <p:spPr/>
        <p:txBody>
          <a:bodyPr>
            <a:normAutofit/>
          </a:bodyPr>
          <a:lstStyle/>
          <a:p>
            <a:r>
              <a:rPr lang="en-US" sz="1800" dirty="0"/>
              <a:t>It provides </a:t>
            </a:r>
            <a:r>
              <a:rPr lang="en-US" sz="1800" b="1" dirty="0"/>
              <a:t>easy</a:t>
            </a:r>
            <a:r>
              <a:rPr lang="en-US" sz="1800" dirty="0"/>
              <a:t> and </a:t>
            </a:r>
            <a:r>
              <a:rPr lang="en-US" sz="1800" b="1" dirty="0"/>
              <a:t>fast</a:t>
            </a:r>
            <a:r>
              <a:rPr lang="en-US" sz="1800" dirty="0"/>
              <a:t> access to the emails as they are already stored on our PC</a:t>
            </a:r>
            <a:r>
              <a:rPr lang="en-US" sz="1800" dirty="0" smtClean="0"/>
              <a:t>.</a:t>
            </a:r>
          </a:p>
          <a:p>
            <a:endParaRPr lang="en-US" sz="1800" dirty="0"/>
          </a:p>
          <a:p>
            <a:r>
              <a:rPr lang="en-US" sz="1800" dirty="0"/>
              <a:t>There is </a:t>
            </a:r>
            <a:r>
              <a:rPr lang="en-US" sz="1800" b="1" dirty="0"/>
              <a:t>no limit on the size </a:t>
            </a:r>
            <a:r>
              <a:rPr lang="en-US" sz="1800" dirty="0"/>
              <a:t>of the email which we receive or send</a:t>
            </a:r>
            <a:r>
              <a:rPr lang="en-US" sz="1800" dirty="0" smtClean="0"/>
              <a:t>.</a:t>
            </a:r>
          </a:p>
          <a:p>
            <a:endParaRPr lang="en-US" sz="1800" dirty="0"/>
          </a:p>
          <a:p>
            <a:r>
              <a:rPr lang="en-US" sz="1800" dirty="0"/>
              <a:t>It requires </a:t>
            </a:r>
            <a:r>
              <a:rPr lang="en-US" sz="1800" b="1" dirty="0"/>
              <a:t>less server storage space </a:t>
            </a:r>
            <a:r>
              <a:rPr lang="en-US" sz="1800" dirty="0"/>
              <a:t>as all the mails are stored on the local machine</a:t>
            </a:r>
            <a:r>
              <a:rPr lang="en-US" sz="1800" dirty="0" smtClean="0"/>
              <a:t>.</a:t>
            </a:r>
          </a:p>
          <a:p>
            <a:endParaRPr lang="en-US" sz="1800" dirty="0"/>
          </a:p>
          <a:p>
            <a:r>
              <a:rPr lang="en-US" sz="1800" dirty="0" smtClean="0"/>
              <a:t>It </a:t>
            </a:r>
            <a:r>
              <a:rPr lang="en-US" sz="1800" dirty="0"/>
              <a:t>is a simple protocol so it is one of the most popular protocols used today</a:t>
            </a:r>
            <a:r>
              <a:rPr lang="en-US" sz="1800" dirty="0" smtClean="0"/>
              <a:t>.</a:t>
            </a:r>
          </a:p>
          <a:p>
            <a:endParaRPr lang="en-US" sz="1800" dirty="0"/>
          </a:p>
          <a:p>
            <a:r>
              <a:rPr lang="en-US" sz="1800" dirty="0"/>
              <a:t>It is easy to configure and use.</a:t>
            </a:r>
          </a:p>
          <a:p>
            <a:pPr marL="0" indent="0">
              <a:buNone/>
            </a:pPr>
            <a:endParaRPr lang="en-IN" dirty="0"/>
          </a:p>
        </p:txBody>
      </p:sp>
    </p:spTree>
    <p:extLst>
      <p:ext uri="{BB962C8B-B14F-4D97-AF65-F5344CB8AC3E}">
        <p14:creationId xmlns:p14="http://schemas.microsoft.com/office/powerpoint/2010/main" val="19761491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Disadvantages of POP3 protocol</a:t>
            </a:r>
          </a:p>
        </p:txBody>
      </p:sp>
      <p:sp>
        <p:nvSpPr>
          <p:cNvPr id="3" name="Content Placeholder 2"/>
          <p:cNvSpPr>
            <a:spLocks noGrp="1"/>
          </p:cNvSpPr>
          <p:nvPr>
            <p:ph idx="1"/>
          </p:nvPr>
        </p:nvSpPr>
        <p:spPr/>
        <p:txBody>
          <a:bodyPr>
            <a:normAutofit lnSpcReduction="10000"/>
          </a:bodyPr>
          <a:lstStyle/>
          <a:p>
            <a:r>
              <a:rPr lang="en-US" sz="1800" dirty="0"/>
              <a:t>If the emails are downloaded from the server, then all the mails are deleted from the server by default. </a:t>
            </a:r>
            <a:endParaRPr lang="en-US" sz="1800" dirty="0" smtClean="0"/>
          </a:p>
          <a:p>
            <a:endParaRPr lang="en-US" sz="1800" dirty="0"/>
          </a:p>
          <a:p>
            <a:r>
              <a:rPr lang="en-US" sz="1800" dirty="0"/>
              <a:t>Transferring the mail folder from the local machine to another machine can be difficult</a:t>
            </a:r>
            <a:r>
              <a:rPr lang="en-US" sz="1800" dirty="0" smtClean="0"/>
              <a:t>.</a:t>
            </a:r>
          </a:p>
          <a:p>
            <a:endParaRPr lang="en-US" sz="1800" dirty="0"/>
          </a:p>
          <a:p>
            <a:r>
              <a:rPr lang="en-US" sz="1800" dirty="0"/>
              <a:t>Since all the attachments are stored on your local machine, there is a high </a:t>
            </a:r>
            <a:r>
              <a:rPr lang="en-US" sz="1800" b="1" dirty="0"/>
              <a:t>risk of a virus attack</a:t>
            </a:r>
            <a:r>
              <a:rPr lang="en-US" sz="1800" dirty="0"/>
              <a:t> if the virus scanner does not scan them. The virus attack can harm the computer</a:t>
            </a:r>
            <a:r>
              <a:rPr lang="en-US" sz="1800" dirty="0" smtClean="0"/>
              <a:t>.</a:t>
            </a:r>
          </a:p>
          <a:p>
            <a:endParaRPr lang="en-US" sz="1800" dirty="0"/>
          </a:p>
          <a:p>
            <a:r>
              <a:rPr lang="en-US" sz="1800" dirty="0"/>
              <a:t>The email folder which is downloaded from the mail server can also become corrupted</a:t>
            </a:r>
            <a:r>
              <a:rPr lang="en-US" sz="1800" dirty="0" smtClean="0"/>
              <a:t>.</a:t>
            </a:r>
          </a:p>
          <a:p>
            <a:endParaRPr lang="en-US" sz="1800" dirty="0"/>
          </a:p>
          <a:p>
            <a:r>
              <a:rPr lang="en-US" sz="1800" dirty="0"/>
              <a:t>The mails are stored on the local machine, so anyone who sits on your machine can access the email folder.</a:t>
            </a:r>
          </a:p>
          <a:p>
            <a:endParaRPr lang="en-IN" dirty="0"/>
          </a:p>
        </p:txBody>
      </p:sp>
    </p:spTree>
    <p:extLst>
      <p:ext uri="{BB962C8B-B14F-4D97-AF65-F5344CB8AC3E}">
        <p14:creationId xmlns:p14="http://schemas.microsoft.com/office/powerpoint/2010/main" val="1958028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a:t>
            </a:r>
            <a:r>
              <a:rPr lang="en-IN" sz="3200" dirty="0" smtClean="0"/>
              <a:t>- IMAP4</a:t>
            </a:r>
            <a:endParaRPr lang="en-IN" sz="3200" dirty="0"/>
          </a:p>
        </p:txBody>
      </p:sp>
      <p:sp>
        <p:nvSpPr>
          <p:cNvPr id="3" name="Content Placeholder 2"/>
          <p:cNvSpPr>
            <a:spLocks noGrp="1"/>
          </p:cNvSpPr>
          <p:nvPr>
            <p:ph idx="1"/>
          </p:nvPr>
        </p:nvSpPr>
        <p:spPr/>
        <p:txBody>
          <a:bodyPr>
            <a:normAutofit/>
          </a:bodyPr>
          <a:lstStyle/>
          <a:p>
            <a:r>
              <a:rPr lang="en-US" sz="1800" dirty="0"/>
              <a:t>IMAP stands for </a:t>
            </a:r>
            <a:r>
              <a:rPr lang="en-US" sz="1800" b="1" dirty="0"/>
              <a:t>Internet Message Access Protocol</a:t>
            </a:r>
            <a:r>
              <a:rPr lang="en-US" sz="1800" dirty="0"/>
              <a:t>. It is an application layer protocol which is </a:t>
            </a:r>
            <a:r>
              <a:rPr lang="en-US" sz="1800" b="1" dirty="0"/>
              <a:t>used to receive the emails from the mail server. </a:t>
            </a:r>
            <a:r>
              <a:rPr lang="en-US" sz="1800" dirty="0"/>
              <a:t>It is the most commonly used protocols like POP3 for retrieving the emails</a:t>
            </a:r>
            <a:r>
              <a:rPr lang="en-US" sz="1800" dirty="0" smtClean="0"/>
              <a:t>.</a:t>
            </a:r>
          </a:p>
          <a:p>
            <a:endParaRPr lang="en-US" sz="1800" dirty="0"/>
          </a:p>
          <a:p>
            <a:r>
              <a:rPr lang="en-US" sz="1800" dirty="0"/>
              <a:t>It also follows the client/server model. On one side, we have an IMAP client, which is a process running on a computer. On the other side, we have an IMAP server, which is also a process running on another computer. Both computers are connected through a network.</a:t>
            </a:r>
          </a:p>
          <a:p>
            <a:endParaRPr lang="en-IN" dirty="0"/>
          </a:p>
        </p:txBody>
      </p:sp>
    </p:spTree>
    <p:extLst>
      <p:ext uri="{BB962C8B-B14F-4D97-AF65-F5344CB8AC3E}">
        <p14:creationId xmlns:p14="http://schemas.microsoft.com/office/powerpoint/2010/main" val="36982211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IMAP4</a:t>
            </a:r>
          </a:p>
        </p:txBody>
      </p:sp>
      <p:sp>
        <p:nvSpPr>
          <p:cNvPr id="3" name="Content Placeholder 2"/>
          <p:cNvSpPr>
            <a:spLocks noGrp="1"/>
          </p:cNvSpPr>
          <p:nvPr>
            <p:ph idx="1"/>
          </p:nvPr>
        </p:nvSpPr>
        <p:spPr/>
        <p:txBody>
          <a:bodyPr>
            <a:normAutofit/>
          </a:bodyPr>
          <a:lstStyle/>
          <a:p>
            <a:r>
              <a:rPr lang="en-US" sz="2000" dirty="0"/>
              <a:t>The IMAP protocol resides on the TCP/IP transport layer which means that it implicitly uses the reliability of the protocol. Once the TCP connection is established between the IMAP client and IMAP server, the IMAP server listens to the port 143 by default, but this port number can also be changed</a:t>
            </a:r>
            <a:r>
              <a:rPr lang="en-US" sz="2000" dirty="0" smtClean="0"/>
              <a:t>.</a:t>
            </a:r>
          </a:p>
          <a:p>
            <a:endParaRPr lang="en-US" sz="2000" dirty="0"/>
          </a:p>
          <a:p>
            <a:r>
              <a:rPr lang="en-US" sz="2000" dirty="0"/>
              <a:t>By default, there are two ports used by IMAP:</a:t>
            </a:r>
          </a:p>
          <a:p>
            <a:pPr lvl="1"/>
            <a:r>
              <a:rPr lang="en-US" sz="1800" dirty="0"/>
              <a:t>Port 143: It is a non-encrypted IMAP port.</a:t>
            </a:r>
          </a:p>
          <a:p>
            <a:pPr lvl="1"/>
            <a:r>
              <a:rPr lang="en-US" sz="1800" dirty="0"/>
              <a:t>Port 993: This port is used when IMAP client wants to connect through IMAP securely.</a:t>
            </a:r>
          </a:p>
          <a:p>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4953000"/>
            <a:ext cx="4760913" cy="144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23693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a:t>
            </a:r>
            <a:r>
              <a:rPr lang="en-IN" sz="3200" dirty="0" smtClean="0"/>
              <a:t>MIME</a:t>
            </a:r>
            <a:endParaRPr lang="en-IN" sz="3200" dirty="0"/>
          </a:p>
        </p:txBody>
      </p:sp>
      <p:sp>
        <p:nvSpPr>
          <p:cNvPr id="3" name="Content Placeholder 2"/>
          <p:cNvSpPr>
            <a:spLocks noGrp="1"/>
          </p:cNvSpPr>
          <p:nvPr>
            <p:ph idx="1"/>
          </p:nvPr>
        </p:nvSpPr>
        <p:spPr/>
        <p:txBody>
          <a:bodyPr>
            <a:normAutofit/>
          </a:bodyPr>
          <a:lstStyle/>
          <a:p>
            <a:r>
              <a:rPr lang="en-US" sz="1800" dirty="0"/>
              <a:t>MIME stands for </a:t>
            </a:r>
            <a:r>
              <a:rPr lang="en-US" sz="1800" b="1" dirty="0"/>
              <a:t>Multipurpose Internet Mail Extensions</a:t>
            </a:r>
            <a:r>
              <a:rPr lang="en-US" sz="1800" dirty="0"/>
              <a:t>. It is used to extend the capabilities of Internet e-mail protocols such as SMTP. </a:t>
            </a:r>
            <a:endParaRPr lang="en-US" sz="1800" dirty="0" smtClean="0"/>
          </a:p>
          <a:p>
            <a:endParaRPr lang="en-US" sz="1800" dirty="0"/>
          </a:p>
          <a:p>
            <a:r>
              <a:rPr lang="en-US" sz="1800" dirty="0"/>
              <a:t>The MIME protocol allows the users to exchange various types of digital content such as </a:t>
            </a:r>
            <a:r>
              <a:rPr lang="en-US" sz="1800" b="1" dirty="0"/>
              <a:t>pictures</a:t>
            </a:r>
            <a:r>
              <a:rPr lang="en-US" sz="1800" dirty="0"/>
              <a:t>, </a:t>
            </a:r>
            <a:r>
              <a:rPr lang="en-US" sz="1800" b="1" dirty="0"/>
              <a:t>audio</a:t>
            </a:r>
            <a:r>
              <a:rPr lang="en-US" sz="1800" dirty="0"/>
              <a:t>, </a:t>
            </a:r>
            <a:r>
              <a:rPr lang="en-US" sz="1800" b="1" dirty="0"/>
              <a:t>video</a:t>
            </a:r>
            <a:r>
              <a:rPr lang="en-US" sz="1800" dirty="0"/>
              <a:t>, and various types of </a:t>
            </a:r>
            <a:r>
              <a:rPr lang="en-US" sz="1800" b="1" dirty="0"/>
              <a:t>documents</a:t>
            </a:r>
            <a:r>
              <a:rPr lang="en-US" sz="1800" dirty="0"/>
              <a:t> and </a:t>
            </a:r>
            <a:r>
              <a:rPr lang="en-US" sz="1800" b="1" dirty="0"/>
              <a:t>files</a:t>
            </a:r>
            <a:r>
              <a:rPr lang="en-US" sz="1800" dirty="0"/>
              <a:t> in the e-mail. </a:t>
            </a:r>
            <a:endParaRPr lang="en-US" sz="1800" dirty="0" smtClean="0"/>
          </a:p>
          <a:p>
            <a:endParaRPr lang="en-US" sz="1800" dirty="0"/>
          </a:p>
          <a:p>
            <a:r>
              <a:rPr lang="en-US" sz="1800" dirty="0"/>
              <a:t>MIME was created in </a:t>
            </a:r>
            <a:r>
              <a:rPr lang="en-US" sz="1800" b="1" dirty="0"/>
              <a:t>1991</a:t>
            </a:r>
            <a:r>
              <a:rPr lang="en-US" sz="1800" dirty="0"/>
              <a:t> by a computer scientist named </a:t>
            </a:r>
            <a:r>
              <a:rPr lang="en-US" sz="1800" b="1" dirty="0"/>
              <a:t>Nathan Borenstein </a:t>
            </a:r>
            <a:r>
              <a:rPr lang="en-US" sz="1800" dirty="0"/>
              <a:t>at a company called Bell Communications.</a:t>
            </a:r>
            <a:endParaRPr lang="en-IN" sz="1800" dirty="0"/>
          </a:p>
        </p:txBody>
      </p:sp>
    </p:spTree>
    <p:extLst>
      <p:ext uri="{BB962C8B-B14F-4D97-AF65-F5344CB8AC3E}">
        <p14:creationId xmlns:p14="http://schemas.microsoft.com/office/powerpoint/2010/main" val="2545394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MIME</a:t>
            </a:r>
          </a:p>
        </p:txBody>
      </p:sp>
      <p:sp>
        <p:nvSpPr>
          <p:cNvPr id="3" name="Content Placeholder 2"/>
          <p:cNvSpPr>
            <a:spLocks noGrp="1"/>
          </p:cNvSpPr>
          <p:nvPr>
            <p:ph idx="1"/>
          </p:nvPr>
        </p:nvSpPr>
        <p:spPr/>
        <p:txBody>
          <a:bodyPr>
            <a:noAutofit/>
          </a:bodyPr>
          <a:lstStyle/>
          <a:p>
            <a:r>
              <a:rPr lang="en-US" sz="1800" dirty="0"/>
              <a:t>MIME is an e-mail extension protocol, i.e., it does not operate independently, but </a:t>
            </a:r>
            <a:r>
              <a:rPr lang="en-US" sz="1800" b="1" dirty="0"/>
              <a:t>it helps to extend the capabilities of e-mail </a:t>
            </a:r>
            <a:r>
              <a:rPr lang="en-US" sz="1800" dirty="0"/>
              <a:t>in collaboration with other protocols such as SMTP. </a:t>
            </a:r>
            <a:endParaRPr lang="en-US" sz="1800" dirty="0" smtClean="0"/>
          </a:p>
          <a:p>
            <a:endParaRPr lang="en-US" sz="1800" dirty="0"/>
          </a:p>
          <a:p>
            <a:r>
              <a:rPr lang="en-US" sz="1800" dirty="0"/>
              <a:t>MIME was able to transfer only text written file in a limited size English language with the help of the internet. </a:t>
            </a:r>
            <a:endParaRPr lang="en-US" sz="1800" dirty="0" smtClean="0"/>
          </a:p>
          <a:p>
            <a:endParaRPr lang="en-US" sz="1800" dirty="0"/>
          </a:p>
          <a:p>
            <a:r>
              <a:rPr lang="en-US" sz="1800" dirty="0"/>
              <a:t>It is used by almost all e-mail related service companies such as Gmail, Yahoo-mail, Hotmail.</a:t>
            </a:r>
            <a:endParaRPr lang="en-IN" sz="1800" dirty="0"/>
          </a:p>
          <a:p>
            <a:endParaRPr lang="en-IN" sz="1800" dirty="0"/>
          </a:p>
        </p:txBody>
      </p:sp>
    </p:spTree>
    <p:extLst>
      <p:ext uri="{BB962C8B-B14F-4D97-AF65-F5344CB8AC3E}">
        <p14:creationId xmlns:p14="http://schemas.microsoft.com/office/powerpoint/2010/main" val="10319769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MIME</a:t>
            </a:r>
          </a:p>
        </p:txBody>
      </p:sp>
      <p:sp>
        <p:nvSpPr>
          <p:cNvPr id="3" name="Content Placeholder 2"/>
          <p:cNvSpPr>
            <a:spLocks noGrp="1"/>
          </p:cNvSpPr>
          <p:nvPr>
            <p:ph idx="1"/>
          </p:nvPr>
        </p:nvSpPr>
        <p:spPr/>
        <p:txBody>
          <a:bodyPr>
            <a:normAutofit/>
          </a:bodyPr>
          <a:lstStyle/>
          <a:p>
            <a:pPr marL="0" indent="0">
              <a:buNone/>
            </a:pPr>
            <a:r>
              <a:rPr lang="en-IN" sz="1800" b="1" dirty="0"/>
              <a:t>Need of MIME </a:t>
            </a:r>
            <a:r>
              <a:rPr lang="en-IN" sz="1800" b="1" dirty="0" smtClean="0"/>
              <a:t>Protocol</a:t>
            </a:r>
          </a:p>
          <a:p>
            <a:pPr marL="0" indent="0">
              <a:buNone/>
            </a:pPr>
            <a:endParaRPr lang="en-IN" sz="1800" b="1" dirty="0" smtClean="0"/>
          </a:p>
          <a:p>
            <a:r>
              <a:rPr lang="en-US" sz="1800" dirty="0" smtClean="0"/>
              <a:t>The </a:t>
            </a:r>
            <a:r>
              <a:rPr lang="en-US" sz="1800" dirty="0"/>
              <a:t>MIME protocol supports multiple languages in e-mail, such as Hindi, French, Japanese, Chinese, etc</a:t>
            </a:r>
            <a:r>
              <a:rPr lang="en-US" sz="1800" dirty="0" smtClean="0"/>
              <a:t>.</a:t>
            </a:r>
          </a:p>
          <a:p>
            <a:endParaRPr lang="en-US" sz="1800" dirty="0"/>
          </a:p>
          <a:p>
            <a:r>
              <a:rPr lang="en-US" sz="1800" dirty="0"/>
              <a:t>Simple protocols can reject mail that exceeds a certain size, but there is no word limit in MIME</a:t>
            </a:r>
            <a:r>
              <a:rPr lang="en-US" sz="1800" dirty="0" smtClean="0"/>
              <a:t>.</a:t>
            </a:r>
          </a:p>
          <a:p>
            <a:endParaRPr lang="en-US" sz="1800" dirty="0"/>
          </a:p>
          <a:p>
            <a:r>
              <a:rPr lang="en-US" sz="1800" dirty="0"/>
              <a:t>Images, audio, and video cannot be sent using simple e-mail protocols such as SMTP. These require MIME protocol.</a:t>
            </a:r>
          </a:p>
          <a:p>
            <a:endParaRPr lang="en-IN" dirty="0"/>
          </a:p>
        </p:txBody>
      </p:sp>
    </p:spTree>
    <p:extLst>
      <p:ext uri="{BB962C8B-B14F-4D97-AF65-F5344CB8AC3E}">
        <p14:creationId xmlns:p14="http://schemas.microsoft.com/office/powerpoint/2010/main" val="20128076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MIME</a:t>
            </a:r>
          </a:p>
        </p:txBody>
      </p:sp>
      <p:sp>
        <p:nvSpPr>
          <p:cNvPr id="3" name="Content Placeholder 2"/>
          <p:cNvSpPr>
            <a:spLocks noGrp="1"/>
          </p:cNvSpPr>
          <p:nvPr>
            <p:ph idx="1"/>
          </p:nvPr>
        </p:nvSpPr>
        <p:spPr/>
        <p:txBody>
          <a:bodyPr>
            <a:normAutofit/>
          </a:bodyPr>
          <a:lstStyle/>
          <a:p>
            <a:pPr marL="0" indent="0">
              <a:buNone/>
            </a:pPr>
            <a:r>
              <a:rPr lang="en-IN" sz="2000" b="1" dirty="0"/>
              <a:t>MIME </a:t>
            </a:r>
            <a:r>
              <a:rPr lang="en-IN" sz="2000" b="1" dirty="0" smtClean="0"/>
              <a:t>Header:</a:t>
            </a:r>
          </a:p>
          <a:p>
            <a:pPr marL="0" indent="0">
              <a:buNone/>
            </a:pPr>
            <a:endParaRPr lang="en-IN" sz="2000" b="1" dirty="0" smtClean="0"/>
          </a:p>
          <a:p>
            <a:r>
              <a:rPr lang="en-US" sz="2000" dirty="0"/>
              <a:t>MIME adds five additional fields to the header portion of the actual e-mail to extend the properties of the simple email protocol. These fields are as follows:</a:t>
            </a:r>
          </a:p>
          <a:p>
            <a:pPr lvl="1"/>
            <a:r>
              <a:rPr lang="en-US" sz="1800" dirty="0"/>
              <a:t>MIME Version</a:t>
            </a:r>
          </a:p>
          <a:p>
            <a:pPr lvl="1"/>
            <a:r>
              <a:rPr lang="en-US" sz="1800" dirty="0"/>
              <a:t>Content Type</a:t>
            </a:r>
          </a:p>
          <a:p>
            <a:pPr lvl="1"/>
            <a:r>
              <a:rPr lang="en-US" sz="1800" dirty="0"/>
              <a:t>Content Type Encoding</a:t>
            </a:r>
          </a:p>
          <a:p>
            <a:pPr lvl="1"/>
            <a:r>
              <a:rPr lang="en-US" sz="1800" dirty="0"/>
              <a:t>Content Id</a:t>
            </a:r>
          </a:p>
          <a:p>
            <a:pPr lvl="1"/>
            <a:r>
              <a:rPr lang="en-US" sz="1800" dirty="0"/>
              <a:t>Content description</a:t>
            </a:r>
          </a:p>
          <a:p>
            <a:endParaRPr lang="en-IN" dirty="0"/>
          </a:p>
        </p:txBody>
      </p:sp>
    </p:spTree>
    <p:extLst>
      <p:ext uri="{BB962C8B-B14F-4D97-AF65-F5344CB8AC3E}">
        <p14:creationId xmlns:p14="http://schemas.microsoft.com/office/powerpoint/2010/main" val="31294853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MIME</a:t>
            </a:r>
          </a:p>
        </p:txBody>
      </p:sp>
      <p:sp>
        <p:nvSpPr>
          <p:cNvPr id="3" name="Content Placeholder 2"/>
          <p:cNvSpPr>
            <a:spLocks noGrp="1"/>
          </p:cNvSpPr>
          <p:nvPr>
            <p:ph idx="1"/>
          </p:nvPr>
        </p:nvSpPr>
        <p:spPr/>
        <p:txBody>
          <a:bodyPr>
            <a:normAutofit/>
          </a:bodyPr>
          <a:lstStyle/>
          <a:p>
            <a:pPr>
              <a:buAutoNum type="arabicPeriod"/>
            </a:pPr>
            <a:r>
              <a:rPr lang="en-US" sz="1800" b="1" dirty="0" smtClean="0"/>
              <a:t>MIME Version</a:t>
            </a:r>
          </a:p>
          <a:p>
            <a:pPr marL="0" indent="0">
              <a:buNone/>
            </a:pPr>
            <a:endParaRPr lang="en-US" sz="1800" dirty="0"/>
          </a:p>
          <a:p>
            <a:r>
              <a:rPr lang="en-US" sz="1800" dirty="0"/>
              <a:t>It defines the version of the MIME protocol. This header usually has a parameter value 1.0, indicating that the message is formatted using MIME</a:t>
            </a:r>
            <a:r>
              <a:rPr lang="en-US" sz="1800" dirty="0" smtClean="0"/>
              <a:t>.</a:t>
            </a:r>
          </a:p>
          <a:p>
            <a:endParaRPr lang="en-US" sz="1800" dirty="0"/>
          </a:p>
          <a:p>
            <a:pPr marL="0" indent="0">
              <a:buNone/>
            </a:pPr>
            <a:r>
              <a:rPr lang="en-US" sz="1800" b="1" dirty="0"/>
              <a:t>2. Content </a:t>
            </a:r>
            <a:r>
              <a:rPr lang="en-US" sz="1800" b="1" dirty="0" smtClean="0"/>
              <a:t>Type</a:t>
            </a:r>
          </a:p>
          <a:p>
            <a:pPr marL="0" indent="0">
              <a:buNone/>
            </a:pPr>
            <a:endParaRPr lang="en-US" sz="1800" dirty="0"/>
          </a:p>
          <a:p>
            <a:r>
              <a:rPr lang="en-US" sz="1800" dirty="0"/>
              <a:t>It describes the type and subtype of information to be sent in the message. These messages can be of many types such as </a:t>
            </a:r>
            <a:r>
              <a:rPr lang="en-US" sz="1800" b="1" dirty="0"/>
              <a:t>Text</a:t>
            </a:r>
            <a:r>
              <a:rPr lang="en-US" sz="1800" dirty="0"/>
              <a:t>, </a:t>
            </a:r>
            <a:r>
              <a:rPr lang="en-US" sz="1800" b="1" dirty="0"/>
              <a:t>Image</a:t>
            </a:r>
            <a:r>
              <a:rPr lang="en-US" sz="1800" dirty="0"/>
              <a:t>, </a:t>
            </a:r>
            <a:r>
              <a:rPr lang="en-US" sz="1800" b="1" dirty="0"/>
              <a:t>Audio</a:t>
            </a:r>
            <a:r>
              <a:rPr lang="en-US" sz="1800" dirty="0"/>
              <a:t>, </a:t>
            </a:r>
            <a:r>
              <a:rPr lang="en-US" sz="1800" b="1" dirty="0"/>
              <a:t>Video</a:t>
            </a:r>
            <a:r>
              <a:rPr lang="en-US" sz="1800" dirty="0"/>
              <a:t>, and they also have many subtypes such that the subtype of the image can be </a:t>
            </a:r>
            <a:r>
              <a:rPr lang="en-US" sz="1800" b="1" dirty="0" err="1"/>
              <a:t>png</a:t>
            </a:r>
            <a:r>
              <a:rPr lang="en-US" sz="1800" dirty="0"/>
              <a:t> or </a:t>
            </a:r>
            <a:r>
              <a:rPr lang="en-US" sz="1800" b="1" dirty="0"/>
              <a:t>jpeg</a:t>
            </a:r>
            <a:r>
              <a:rPr lang="en-US" sz="1800" dirty="0"/>
              <a:t>. </a:t>
            </a:r>
            <a:r>
              <a:rPr lang="en-US" sz="1800" dirty="0" smtClean="0"/>
              <a:t> subtype </a:t>
            </a:r>
            <a:r>
              <a:rPr lang="en-US" sz="1800" dirty="0"/>
              <a:t>of Video can be </a:t>
            </a:r>
            <a:r>
              <a:rPr lang="en-US" sz="1800" b="1" dirty="0"/>
              <a:t>WEBM</a:t>
            </a:r>
            <a:r>
              <a:rPr lang="en-US" sz="1800" dirty="0"/>
              <a:t>, </a:t>
            </a:r>
            <a:r>
              <a:rPr lang="en-US" sz="1800" b="1" dirty="0"/>
              <a:t>MP4</a:t>
            </a:r>
            <a:r>
              <a:rPr lang="en-US" sz="1800" dirty="0"/>
              <a:t> etc.</a:t>
            </a:r>
          </a:p>
          <a:p>
            <a:endParaRPr lang="en-IN" dirty="0"/>
          </a:p>
        </p:txBody>
      </p:sp>
    </p:spTree>
    <p:extLst>
      <p:ext uri="{BB962C8B-B14F-4D97-AF65-F5344CB8AC3E}">
        <p14:creationId xmlns:p14="http://schemas.microsoft.com/office/powerpoint/2010/main" val="1189109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MIME</a:t>
            </a:r>
          </a:p>
        </p:txBody>
      </p:sp>
      <p:sp>
        <p:nvSpPr>
          <p:cNvPr id="3" name="Content Placeholder 2"/>
          <p:cNvSpPr>
            <a:spLocks noGrp="1"/>
          </p:cNvSpPr>
          <p:nvPr>
            <p:ph idx="1"/>
          </p:nvPr>
        </p:nvSpPr>
        <p:spPr/>
        <p:txBody>
          <a:bodyPr>
            <a:normAutofit/>
          </a:bodyPr>
          <a:lstStyle/>
          <a:p>
            <a:pPr marL="0" indent="0">
              <a:buNone/>
            </a:pPr>
            <a:r>
              <a:rPr lang="en-US" sz="1800" b="1" dirty="0" smtClean="0"/>
              <a:t>3. Content </a:t>
            </a:r>
            <a:r>
              <a:rPr lang="en-US" sz="1800" b="1" dirty="0"/>
              <a:t>Type Encoding</a:t>
            </a:r>
            <a:endParaRPr lang="en-US" sz="1800" dirty="0"/>
          </a:p>
          <a:p>
            <a:r>
              <a:rPr lang="en-US" sz="1800" dirty="0"/>
              <a:t>In this field, it is told which method has been used to convert mail information into ASCII or Binary number, such as 7-bit encoding, 8-bit encoding, etc</a:t>
            </a:r>
            <a:r>
              <a:rPr lang="en-US" sz="1800" dirty="0" smtClean="0"/>
              <a:t>.</a:t>
            </a:r>
          </a:p>
          <a:p>
            <a:endParaRPr lang="en-US" sz="1800" dirty="0"/>
          </a:p>
          <a:p>
            <a:pPr marL="0" indent="0">
              <a:buNone/>
            </a:pPr>
            <a:r>
              <a:rPr lang="en-US" sz="1800" b="1" dirty="0"/>
              <a:t>4. Content Id</a:t>
            </a:r>
            <a:endParaRPr lang="en-US" sz="1800" dirty="0"/>
          </a:p>
          <a:p>
            <a:r>
              <a:rPr lang="en-US" sz="1800" dirty="0"/>
              <a:t>In this field, a unique "Content Id" number is appended to all email messages so that they can be uniquely identified</a:t>
            </a:r>
            <a:r>
              <a:rPr lang="en-US" sz="1800" dirty="0" smtClean="0"/>
              <a:t>.</a:t>
            </a:r>
          </a:p>
          <a:p>
            <a:endParaRPr lang="en-US" sz="1800" dirty="0"/>
          </a:p>
          <a:p>
            <a:pPr marL="0" indent="0">
              <a:buNone/>
            </a:pPr>
            <a:r>
              <a:rPr lang="en-US" sz="1800" b="1" dirty="0"/>
              <a:t>5. Content description</a:t>
            </a:r>
            <a:endParaRPr lang="en-US" sz="1800" dirty="0"/>
          </a:p>
          <a:p>
            <a:r>
              <a:rPr lang="en-US" sz="1800" dirty="0"/>
              <a:t>This field contains a brief description of the content within the email. This means that information about whatever is being sent in the mail is clearly in the "Content Description". This field also provides the information of name, creation date, and modification date of the file. </a:t>
            </a:r>
          </a:p>
          <a:p>
            <a:endParaRPr lang="en-IN" dirty="0"/>
          </a:p>
        </p:txBody>
      </p:sp>
    </p:spTree>
    <p:extLst>
      <p:ext uri="{BB962C8B-B14F-4D97-AF65-F5344CB8AC3E}">
        <p14:creationId xmlns:p14="http://schemas.microsoft.com/office/powerpoint/2010/main" val="3196309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MIME</a:t>
            </a:r>
          </a:p>
        </p:txBody>
      </p:sp>
      <p:sp>
        <p:nvSpPr>
          <p:cNvPr id="3" name="Content Placeholder 2"/>
          <p:cNvSpPr>
            <a:spLocks noGrp="1"/>
          </p:cNvSpPr>
          <p:nvPr>
            <p:ph idx="1"/>
          </p:nvPr>
        </p:nvSpPr>
        <p:spPr/>
        <p:txBody>
          <a:bodyPr/>
          <a:lstStyle/>
          <a:p>
            <a:pPr marL="0" indent="0">
              <a:buNone/>
            </a:pPr>
            <a:r>
              <a:rPr lang="en-IN" sz="1800" b="1" dirty="0"/>
              <a:t>Features of MIME </a:t>
            </a:r>
            <a:r>
              <a:rPr lang="en-IN" sz="1800" b="1" dirty="0" smtClean="0"/>
              <a:t>Protocol</a:t>
            </a:r>
          </a:p>
          <a:p>
            <a:pPr marL="0" indent="0">
              <a:buNone/>
            </a:pPr>
            <a:endParaRPr lang="en-IN" sz="1800" b="1" dirty="0" smtClean="0"/>
          </a:p>
          <a:p>
            <a:r>
              <a:rPr lang="en-US" sz="1800" dirty="0" smtClean="0"/>
              <a:t>It </a:t>
            </a:r>
            <a:r>
              <a:rPr lang="en-US" sz="1800" dirty="0"/>
              <a:t>supports multiple attachments in a single e-mail.</a:t>
            </a:r>
          </a:p>
          <a:p>
            <a:r>
              <a:rPr lang="en-US" sz="1800" dirty="0"/>
              <a:t>It supports the non-ASCII characters.</a:t>
            </a:r>
          </a:p>
          <a:p>
            <a:r>
              <a:rPr lang="en-US" sz="1800" dirty="0"/>
              <a:t>It supports unlimited e-mail length.</a:t>
            </a:r>
          </a:p>
          <a:p>
            <a:r>
              <a:rPr lang="en-US" sz="1800" dirty="0"/>
              <a:t>It supports multiple languages.</a:t>
            </a:r>
          </a:p>
          <a:p>
            <a:endParaRPr lang="en-IN" dirty="0"/>
          </a:p>
        </p:txBody>
      </p:sp>
    </p:spTree>
    <p:extLst>
      <p:ext uri="{BB962C8B-B14F-4D97-AF65-F5344CB8AC3E}">
        <p14:creationId xmlns:p14="http://schemas.microsoft.com/office/powerpoint/2010/main" val="5095157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Email Protocols - MIME</a:t>
            </a:r>
          </a:p>
        </p:txBody>
      </p:sp>
      <p:sp>
        <p:nvSpPr>
          <p:cNvPr id="3" name="Content Placeholder 2"/>
          <p:cNvSpPr>
            <a:spLocks noGrp="1"/>
          </p:cNvSpPr>
          <p:nvPr>
            <p:ph idx="1"/>
          </p:nvPr>
        </p:nvSpPr>
        <p:spPr/>
        <p:txBody>
          <a:bodyPr>
            <a:normAutofit fontScale="92500"/>
          </a:bodyPr>
          <a:lstStyle/>
          <a:p>
            <a:pPr marL="0" indent="0">
              <a:buNone/>
            </a:pPr>
            <a:r>
              <a:rPr lang="en-IN" sz="1800" b="1" dirty="0"/>
              <a:t>Advantage of the </a:t>
            </a:r>
            <a:r>
              <a:rPr lang="en-IN" sz="1800" b="1" dirty="0" smtClean="0"/>
              <a:t>MIME</a:t>
            </a:r>
          </a:p>
          <a:p>
            <a:pPr marL="0" indent="0">
              <a:buNone/>
            </a:pPr>
            <a:endParaRPr lang="en-IN" sz="1800" b="1" dirty="0" smtClean="0"/>
          </a:p>
          <a:p>
            <a:r>
              <a:rPr lang="en-US" sz="1800" dirty="0"/>
              <a:t>It is capable of sending various types of files in a message, such as text, audio, video files</a:t>
            </a:r>
            <a:r>
              <a:rPr lang="en-US" sz="1800" dirty="0" smtClean="0"/>
              <a:t>.</a:t>
            </a:r>
          </a:p>
          <a:p>
            <a:endParaRPr lang="en-US" sz="1800" dirty="0"/>
          </a:p>
          <a:p>
            <a:r>
              <a:rPr lang="en-US" sz="1800" dirty="0"/>
              <a:t>It also provides the facility to send and receive emails in different languages like Hindi, French, Japanese, Chinese etc</a:t>
            </a:r>
            <a:r>
              <a:rPr lang="en-US" sz="1800" dirty="0" smtClean="0"/>
              <a:t>.</a:t>
            </a:r>
          </a:p>
          <a:p>
            <a:endParaRPr lang="en-US" sz="1800" dirty="0"/>
          </a:p>
          <a:p>
            <a:r>
              <a:rPr lang="en-US" sz="1800" dirty="0"/>
              <a:t>It also provides the facility of connecting HTML and CSS to email, due to which people can design email as per their requirement and make it attractive and beautiful</a:t>
            </a:r>
            <a:r>
              <a:rPr lang="en-US" sz="1800" dirty="0" smtClean="0"/>
              <a:t>.</a:t>
            </a:r>
          </a:p>
          <a:p>
            <a:endParaRPr lang="en-US" sz="1800" dirty="0"/>
          </a:p>
          <a:p>
            <a:r>
              <a:rPr lang="en-US" sz="1800" dirty="0"/>
              <a:t>It is capable of sending the information contained in an email regardless of its length</a:t>
            </a:r>
            <a:r>
              <a:rPr lang="en-US" sz="1800" dirty="0" smtClean="0"/>
              <a:t>.</a:t>
            </a:r>
          </a:p>
          <a:p>
            <a:endParaRPr lang="en-US" sz="1800" dirty="0"/>
          </a:p>
          <a:p>
            <a:r>
              <a:rPr lang="en-US" sz="1800" dirty="0"/>
              <a:t>It assigns a unique id to all e-mails.</a:t>
            </a:r>
          </a:p>
          <a:p>
            <a:endParaRPr lang="en-IN" dirty="0"/>
          </a:p>
        </p:txBody>
      </p:sp>
    </p:spTree>
    <p:extLst>
      <p:ext uri="{BB962C8B-B14F-4D97-AF65-F5344CB8AC3E}">
        <p14:creationId xmlns:p14="http://schemas.microsoft.com/office/powerpoint/2010/main" val="10194871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FTP</a:t>
            </a:r>
            <a:endParaRPr lang="en-IN" sz="3200" dirty="0"/>
          </a:p>
        </p:txBody>
      </p:sp>
      <p:sp>
        <p:nvSpPr>
          <p:cNvPr id="3" name="Content Placeholder 2"/>
          <p:cNvSpPr>
            <a:spLocks noGrp="1"/>
          </p:cNvSpPr>
          <p:nvPr>
            <p:ph idx="1"/>
          </p:nvPr>
        </p:nvSpPr>
        <p:spPr/>
        <p:txBody>
          <a:bodyPr>
            <a:normAutofit fontScale="55000" lnSpcReduction="20000"/>
          </a:bodyPr>
          <a:lstStyle/>
          <a:p>
            <a:r>
              <a:rPr lang="en-US" dirty="0"/>
              <a:t>FTP </a:t>
            </a:r>
            <a:r>
              <a:rPr lang="en-US" dirty="0" smtClean="0"/>
              <a:t>stands for </a:t>
            </a:r>
            <a:r>
              <a:rPr lang="en-US" b="1" dirty="0" smtClean="0"/>
              <a:t>File </a:t>
            </a:r>
            <a:r>
              <a:rPr lang="en-US" b="1" dirty="0"/>
              <a:t>transfer protocol </a:t>
            </a:r>
            <a:r>
              <a:rPr lang="en-US" dirty="0"/>
              <a:t>and it is a standard internet protocol supported by TCP/IP used for transmitting the files from one host to another. </a:t>
            </a:r>
            <a:endParaRPr lang="en-US" dirty="0" smtClean="0"/>
          </a:p>
          <a:p>
            <a:endParaRPr lang="en-US" dirty="0"/>
          </a:p>
          <a:p>
            <a:r>
              <a:rPr lang="en-US" b="1" dirty="0" smtClean="0"/>
              <a:t>FTP</a:t>
            </a:r>
            <a:r>
              <a:rPr lang="en-US" dirty="0" smtClean="0"/>
              <a:t> </a:t>
            </a:r>
            <a:r>
              <a:rPr lang="en-US" dirty="0"/>
              <a:t>needs </a:t>
            </a:r>
            <a:r>
              <a:rPr lang="en-US" b="1" dirty="0"/>
              <a:t>TCP</a:t>
            </a:r>
            <a:r>
              <a:rPr lang="en-US" dirty="0"/>
              <a:t> as a transport protocol to help the </a:t>
            </a:r>
            <a:r>
              <a:rPr lang="en-US" b="1" dirty="0"/>
              <a:t>reliable end to end connections </a:t>
            </a:r>
            <a:r>
              <a:rPr lang="en-US" dirty="0"/>
              <a:t>and executes two types of connections in managing data transfers</a:t>
            </a:r>
            <a:r>
              <a:rPr lang="en-US" dirty="0" smtClean="0"/>
              <a:t>.</a:t>
            </a:r>
          </a:p>
          <a:p>
            <a:endParaRPr lang="en-US" dirty="0"/>
          </a:p>
          <a:p>
            <a:r>
              <a:rPr lang="en-US" dirty="0"/>
              <a:t>The FTP clients initiate the first connection, referred to as the control connection, to </a:t>
            </a:r>
            <a:r>
              <a:rPr lang="en-US" dirty="0" smtClean="0"/>
              <a:t>well known </a:t>
            </a:r>
            <a:r>
              <a:rPr lang="en-US" b="1" dirty="0"/>
              <a:t>port 21 </a:t>
            </a:r>
            <a:r>
              <a:rPr lang="en-US" dirty="0" smtClean="0"/>
              <a:t>(clients port). </a:t>
            </a:r>
          </a:p>
          <a:p>
            <a:endParaRPr lang="en-US" dirty="0"/>
          </a:p>
          <a:p>
            <a:r>
              <a:rPr lang="en-US" dirty="0" smtClean="0"/>
              <a:t>It </a:t>
            </a:r>
            <a:r>
              <a:rPr lang="en-US" dirty="0"/>
              <a:t>is on this part that an FTP server listens for it and accepts new connections. </a:t>
            </a:r>
            <a:endParaRPr lang="en-US" dirty="0" smtClean="0"/>
          </a:p>
          <a:p>
            <a:endParaRPr lang="en-US" dirty="0"/>
          </a:p>
          <a:p>
            <a:r>
              <a:rPr lang="en-US" dirty="0" smtClean="0"/>
              <a:t>The </a:t>
            </a:r>
            <a:r>
              <a:rPr lang="en-US" dirty="0"/>
              <a:t>control connection is issued for all of the control commands a client user uses to log on to the server, manipulate files, and terminate a session. </a:t>
            </a:r>
            <a:endParaRPr lang="en-US" dirty="0" smtClean="0"/>
          </a:p>
          <a:p>
            <a:endParaRPr lang="en-US" dirty="0"/>
          </a:p>
          <a:p>
            <a:r>
              <a:rPr lang="en-US" dirty="0" smtClean="0"/>
              <a:t>This </a:t>
            </a:r>
            <a:r>
              <a:rPr lang="en-US" dirty="0"/>
              <a:t>is also the relationship across which the FTP server will transmit messages to the client in response to their control commands.</a:t>
            </a:r>
          </a:p>
          <a:p>
            <a:endParaRPr lang="en-IN" dirty="0"/>
          </a:p>
        </p:txBody>
      </p:sp>
    </p:spTree>
    <p:extLst>
      <p:ext uri="{BB962C8B-B14F-4D97-AF65-F5344CB8AC3E}">
        <p14:creationId xmlns:p14="http://schemas.microsoft.com/office/powerpoint/2010/main" val="26908677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FTP</a:t>
            </a:r>
          </a:p>
        </p:txBody>
      </p:sp>
      <p:sp>
        <p:nvSpPr>
          <p:cNvPr id="3" name="Content Placeholder 2"/>
          <p:cNvSpPr>
            <a:spLocks noGrp="1"/>
          </p:cNvSpPr>
          <p:nvPr>
            <p:ph idx="1"/>
          </p:nvPr>
        </p:nvSpPr>
        <p:spPr/>
        <p:txBody>
          <a:bodyPr>
            <a:normAutofit fontScale="55000" lnSpcReduction="20000"/>
          </a:bodyPr>
          <a:lstStyle/>
          <a:p>
            <a:r>
              <a:rPr lang="en-US" dirty="0"/>
              <a:t>The second connection used by FTP is defined as the data connection. </a:t>
            </a:r>
            <a:endParaRPr lang="en-US" dirty="0" smtClean="0"/>
          </a:p>
          <a:p>
            <a:endParaRPr lang="en-US" dirty="0" smtClean="0"/>
          </a:p>
          <a:p>
            <a:r>
              <a:rPr lang="en-US" dirty="0" smtClean="0"/>
              <a:t>The </a:t>
            </a:r>
            <a:r>
              <a:rPr lang="en-US" dirty="0"/>
              <a:t>data connection is established on the server </a:t>
            </a:r>
            <a:r>
              <a:rPr lang="en-US" b="1" dirty="0"/>
              <a:t>port 20</a:t>
            </a:r>
            <a:r>
              <a:rPr lang="en-US" dirty="0"/>
              <a:t>. </a:t>
            </a:r>
            <a:endParaRPr lang="en-US" dirty="0" smtClean="0"/>
          </a:p>
          <a:p>
            <a:endParaRPr lang="en-US" dirty="0"/>
          </a:p>
          <a:p>
            <a:r>
              <a:rPr lang="en-US" dirty="0" smtClean="0"/>
              <a:t>It </a:t>
            </a:r>
            <a:r>
              <a:rPr lang="en-US" dirty="0"/>
              <a:t>depends on how the data connection is </a:t>
            </a:r>
            <a:r>
              <a:rPr lang="en-US" dirty="0" smtClean="0"/>
              <a:t>established; It </a:t>
            </a:r>
            <a:r>
              <a:rPr lang="en-US" dirty="0"/>
              <a:t>is across the connection that FTP shares the information</a:t>
            </a:r>
            <a:r>
              <a:rPr lang="en-US" dirty="0" smtClean="0"/>
              <a:t>.</a:t>
            </a:r>
          </a:p>
          <a:p>
            <a:endParaRPr lang="en-US" dirty="0"/>
          </a:p>
          <a:p>
            <a:r>
              <a:rPr lang="en-US" dirty="0"/>
              <a:t>FTP opens a data connection when a user concerns a command requiring a data transfer, including a request to retrieve a file or to view a list of the files available. </a:t>
            </a:r>
            <a:endParaRPr lang="en-US" dirty="0" smtClean="0"/>
          </a:p>
          <a:p>
            <a:endParaRPr lang="en-US" dirty="0"/>
          </a:p>
          <a:p>
            <a:r>
              <a:rPr lang="en-US" dirty="0" smtClean="0"/>
              <a:t>Therefore</a:t>
            </a:r>
            <a:r>
              <a:rPr lang="en-US" dirty="0"/>
              <a:t>, an entire FTP session can open and close without a data connection ever having been opened</a:t>
            </a:r>
            <a:r>
              <a:rPr lang="en-US" dirty="0" smtClean="0"/>
              <a:t>.</a:t>
            </a:r>
          </a:p>
          <a:p>
            <a:endParaRPr lang="en-US" dirty="0"/>
          </a:p>
          <a:p>
            <a:r>
              <a:rPr lang="en-US" dirty="0"/>
              <a:t>In other words, when a client starts an FTP session, the control connections open while the control connection is open, and the data connection can be opened and closed multiple times if several files are transferred.</a:t>
            </a:r>
          </a:p>
          <a:p>
            <a:endParaRPr lang="en-IN" dirty="0"/>
          </a:p>
        </p:txBody>
      </p:sp>
    </p:spTree>
    <p:extLst>
      <p:ext uri="{BB962C8B-B14F-4D97-AF65-F5344CB8AC3E}">
        <p14:creationId xmlns:p14="http://schemas.microsoft.com/office/powerpoint/2010/main" val="12500386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FTP</a:t>
            </a:r>
          </a:p>
        </p:txBody>
      </p:sp>
      <p:sp>
        <p:nvSpPr>
          <p:cNvPr id="3" name="Content Placeholder 2"/>
          <p:cNvSpPr>
            <a:spLocks noGrp="1"/>
          </p:cNvSpPr>
          <p:nvPr>
            <p:ph idx="1"/>
          </p:nvPr>
        </p:nvSpPr>
        <p:spPr>
          <a:xfrm>
            <a:off x="457200" y="1600200"/>
            <a:ext cx="8229600" cy="5029200"/>
          </a:xfrm>
        </p:spPr>
        <p:txBody>
          <a:bodyPr>
            <a:normAutofit fontScale="47500" lnSpcReduction="20000"/>
          </a:bodyPr>
          <a:lstStyle/>
          <a:p>
            <a:pPr marL="0" indent="0">
              <a:buNone/>
            </a:pPr>
            <a:r>
              <a:rPr lang="en-US" b="1" dirty="0"/>
              <a:t>Advantages of </a:t>
            </a:r>
            <a:r>
              <a:rPr lang="en-US" b="1" dirty="0" smtClean="0"/>
              <a:t>FTP</a:t>
            </a:r>
          </a:p>
          <a:p>
            <a:pPr marL="0" indent="0">
              <a:buNone/>
            </a:pPr>
            <a:endParaRPr lang="en-US" b="1" dirty="0"/>
          </a:p>
          <a:p>
            <a:r>
              <a:rPr lang="en-US" b="1" dirty="0" smtClean="0"/>
              <a:t>Speed</a:t>
            </a:r>
            <a:r>
              <a:rPr lang="en-US" dirty="0"/>
              <a:t> − The FTP is one of the quickest ways to transfer documents from one device to another</a:t>
            </a:r>
            <a:r>
              <a:rPr lang="en-US" dirty="0" smtClean="0"/>
              <a:t>.</a:t>
            </a:r>
          </a:p>
          <a:p>
            <a:endParaRPr lang="en-US" dirty="0"/>
          </a:p>
          <a:p>
            <a:r>
              <a:rPr lang="en-US" b="1" dirty="0"/>
              <a:t>Security</a:t>
            </a:r>
            <a:r>
              <a:rPr lang="en-US" dirty="0"/>
              <a:t> − It can create the FTP server. We need to log in with the username and password</a:t>
            </a:r>
            <a:r>
              <a:rPr lang="en-US" dirty="0" smtClean="0"/>
              <a:t>.</a:t>
            </a:r>
          </a:p>
          <a:p>
            <a:endParaRPr lang="en-US" dirty="0"/>
          </a:p>
          <a:p>
            <a:r>
              <a:rPr lang="en-US" b="1" dirty="0"/>
              <a:t>Efficient</a:t>
            </a:r>
            <a:r>
              <a:rPr lang="en-US" dirty="0"/>
              <a:t> − It is higher efficient as we do not require all the services to obtain the whole file</a:t>
            </a:r>
            <a:r>
              <a:rPr lang="en-US" dirty="0" smtClean="0"/>
              <a:t>.</a:t>
            </a:r>
          </a:p>
          <a:p>
            <a:endParaRPr lang="en-US" dirty="0"/>
          </a:p>
          <a:p>
            <a:r>
              <a:rPr lang="en-US" b="1" dirty="0"/>
              <a:t>Back &amp; forth movement</a:t>
            </a:r>
            <a:r>
              <a:rPr lang="en-US" dirty="0"/>
              <a:t> − FTP enables us to send the files back and forth</a:t>
            </a:r>
            <a:r>
              <a:rPr lang="en-US" dirty="0" smtClean="0"/>
              <a:t>.</a:t>
            </a:r>
          </a:p>
          <a:p>
            <a:endParaRPr lang="en-US" dirty="0"/>
          </a:p>
          <a:p>
            <a:pPr marL="0" indent="0">
              <a:buNone/>
            </a:pPr>
            <a:r>
              <a:rPr lang="en-US" b="1" dirty="0"/>
              <a:t>Disadvantages of </a:t>
            </a:r>
            <a:r>
              <a:rPr lang="en-US" b="1" dirty="0" smtClean="0"/>
              <a:t>FTP</a:t>
            </a:r>
          </a:p>
          <a:p>
            <a:pPr marL="0" indent="0">
              <a:buNone/>
            </a:pPr>
            <a:endParaRPr lang="en-US" b="1" dirty="0"/>
          </a:p>
          <a:p>
            <a:r>
              <a:rPr lang="en-US" dirty="0"/>
              <a:t>The standard requirement of the market is that all FTP transmissions should be encrypted. However, not all FTP providers are equal and not all provider's support encryption. FTP serves two operations, such as sending and receiving huge files on a network. The size limit of the file is 2GB that can transmit</a:t>
            </a:r>
            <a:r>
              <a:rPr lang="en-US" dirty="0" smtClean="0"/>
              <a:t>.</a:t>
            </a:r>
          </a:p>
          <a:p>
            <a:endParaRPr lang="en-US" dirty="0"/>
          </a:p>
          <a:p>
            <a:r>
              <a:rPr lang="en-US" dirty="0"/>
              <a:t>Passwords and file text are sent in clear text that enables unwanted eavesdropping. Therefore, it is quite possible that attackers can carry out the brute force attack by trying to guess the FTP password</a:t>
            </a:r>
            <a:r>
              <a:rPr lang="en-US" dirty="0" smtClean="0"/>
              <a:t>.</a:t>
            </a:r>
          </a:p>
          <a:p>
            <a:endParaRPr lang="en-US" dirty="0"/>
          </a:p>
          <a:p>
            <a:r>
              <a:rPr lang="en-US" dirty="0"/>
              <a:t>It is not compatible with every system.</a:t>
            </a:r>
          </a:p>
          <a:p>
            <a:endParaRPr lang="en-IN" dirty="0"/>
          </a:p>
        </p:txBody>
      </p:sp>
    </p:spTree>
    <p:extLst>
      <p:ext uri="{BB962C8B-B14F-4D97-AF65-F5344CB8AC3E}">
        <p14:creationId xmlns:p14="http://schemas.microsoft.com/office/powerpoint/2010/main" val="1360038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Telnet</a:t>
            </a:r>
          </a:p>
        </p:txBody>
      </p:sp>
      <p:sp>
        <p:nvSpPr>
          <p:cNvPr id="3" name="Content Placeholder 2"/>
          <p:cNvSpPr>
            <a:spLocks noGrp="1"/>
          </p:cNvSpPr>
          <p:nvPr>
            <p:ph idx="1"/>
          </p:nvPr>
        </p:nvSpPr>
        <p:spPr/>
        <p:txBody>
          <a:bodyPr>
            <a:normAutofit/>
          </a:bodyPr>
          <a:lstStyle/>
          <a:p>
            <a:r>
              <a:rPr lang="en-US" sz="1800" dirty="0"/>
              <a:t>The main task of the internet is to provide services to users. </a:t>
            </a:r>
            <a:endParaRPr lang="en-US" sz="1800" dirty="0" smtClean="0"/>
          </a:p>
          <a:p>
            <a:endParaRPr lang="en-US" sz="1800" dirty="0"/>
          </a:p>
          <a:p>
            <a:r>
              <a:rPr lang="en-US" sz="1800" b="1" dirty="0" smtClean="0"/>
              <a:t>Ex: </a:t>
            </a:r>
            <a:r>
              <a:rPr lang="en-US" sz="1800" dirty="0" smtClean="0"/>
              <a:t>users </a:t>
            </a:r>
            <a:r>
              <a:rPr lang="en-US" sz="1800" dirty="0"/>
              <a:t>want to run different application programs at the remote site and transfers a result to the local site. This requires a client-server program such as FTP, SMTP. But this would not allow us to create a specific program for each demand</a:t>
            </a:r>
            <a:r>
              <a:rPr lang="en-US" sz="1800" dirty="0" smtClean="0"/>
              <a:t>.</a:t>
            </a:r>
          </a:p>
          <a:p>
            <a:endParaRPr lang="en-US" sz="1800" dirty="0"/>
          </a:p>
          <a:p>
            <a:r>
              <a:rPr lang="en-US" sz="1800" dirty="0"/>
              <a:t>The better solution is to provide a general client-server program that lets the user access any application program on a remote computer. Therefore, a program that allows a user to log on to a remote computer. A popular client-server program Telnet is used to meet such demands. Telnet is an abbreviation for </a:t>
            </a:r>
            <a:r>
              <a:rPr lang="en-US" sz="1800" b="1" dirty="0"/>
              <a:t>Terminal Network</a:t>
            </a:r>
            <a:r>
              <a:rPr lang="en-US" sz="1800" dirty="0" smtClean="0"/>
              <a:t>.</a:t>
            </a:r>
          </a:p>
          <a:p>
            <a:endParaRPr lang="en-US" sz="1800" dirty="0"/>
          </a:p>
          <a:p>
            <a:r>
              <a:rPr lang="en-US" sz="1800" dirty="0"/>
              <a:t>Telnet provides a connection to the remote computer in such a way that a local terminal appears to be at the remote side.</a:t>
            </a:r>
          </a:p>
          <a:p>
            <a:endParaRPr lang="en-IN" dirty="0"/>
          </a:p>
        </p:txBody>
      </p:sp>
    </p:spTree>
    <p:extLst>
      <p:ext uri="{BB962C8B-B14F-4D97-AF65-F5344CB8AC3E}">
        <p14:creationId xmlns:p14="http://schemas.microsoft.com/office/powerpoint/2010/main" val="16237253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Telnet</a:t>
            </a:r>
          </a:p>
        </p:txBody>
      </p:sp>
      <p:sp>
        <p:nvSpPr>
          <p:cNvPr id="3" name="Content Placeholder 2"/>
          <p:cNvSpPr>
            <a:spLocks noGrp="1"/>
          </p:cNvSpPr>
          <p:nvPr>
            <p:ph idx="1"/>
          </p:nvPr>
        </p:nvSpPr>
        <p:spPr/>
        <p:txBody>
          <a:bodyPr>
            <a:normAutofit/>
          </a:bodyPr>
          <a:lstStyle/>
          <a:p>
            <a:pPr marL="0" indent="0">
              <a:buNone/>
            </a:pPr>
            <a:r>
              <a:rPr lang="en-US" sz="1800" b="1" dirty="0"/>
              <a:t>There are two types of login</a:t>
            </a:r>
            <a:r>
              <a:rPr lang="en-US" sz="1800" b="1" dirty="0" smtClean="0"/>
              <a:t>:</a:t>
            </a:r>
          </a:p>
          <a:p>
            <a:pPr marL="0" indent="0">
              <a:buNone/>
            </a:pPr>
            <a:endParaRPr lang="en-US" sz="1800" b="1" dirty="0"/>
          </a:p>
          <a:p>
            <a:r>
              <a:rPr lang="en-US" sz="1800" dirty="0"/>
              <a:t>When a user logs into a local computer, then it is known as </a:t>
            </a:r>
            <a:r>
              <a:rPr lang="en-US" sz="1800" b="1" dirty="0"/>
              <a:t>local login</a:t>
            </a:r>
            <a:r>
              <a:rPr lang="en-US" sz="1800" dirty="0" smtClean="0"/>
              <a:t>.</a:t>
            </a:r>
          </a:p>
          <a:p>
            <a:endParaRPr lang="en-US" sz="1800" dirty="0"/>
          </a:p>
          <a:p>
            <a:r>
              <a:rPr lang="en-US" sz="1800" dirty="0"/>
              <a:t>When the workstation running terminal emulator, the keystrokes entered by the user are accepted by the terminal driver. The terminal driver then passes these characters to the operating system which in turn, invokes the desired application program</a:t>
            </a:r>
            <a:r>
              <a:rPr lang="en-US" sz="1800" dirty="0" smtClean="0"/>
              <a:t>.</a:t>
            </a:r>
          </a:p>
          <a:p>
            <a:endParaRPr lang="en-US" sz="1800" dirty="0"/>
          </a:p>
          <a:p>
            <a:r>
              <a:rPr lang="en-US" sz="1800" dirty="0"/>
              <a:t>However, the operating system has special meaning to special characters. </a:t>
            </a:r>
            <a:r>
              <a:rPr lang="en-US" sz="1800" b="1" dirty="0" smtClean="0"/>
              <a:t>Ex:</a:t>
            </a:r>
            <a:r>
              <a:rPr lang="en-US" sz="1800" dirty="0" smtClean="0"/>
              <a:t> </a:t>
            </a:r>
            <a:r>
              <a:rPr lang="en-US" sz="1800" dirty="0"/>
              <a:t>in UNIX some combination of characters have special meanings such as control character with "z" means suspend. Such situations do not create any problem as the terminal driver knows the meaning of such characters. But, it can cause the problems in remote login.</a:t>
            </a:r>
          </a:p>
          <a:p>
            <a:endParaRPr lang="en-IN" sz="1800" dirty="0"/>
          </a:p>
        </p:txBody>
      </p:sp>
    </p:spTree>
    <p:extLst>
      <p:ext uri="{BB962C8B-B14F-4D97-AF65-F5344CB8AC3E}">
        <p14:creationId xmlns:p14="http://schemas.microsoft.com/office/powerpoint/2010/main" val="1671241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Telnet</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600200"/>
            <a:ext cx="3810000" cy="425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27820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Telnet</a:t>
            </a:r>
          </a:p>
        </p:txBody>
      </p:sp>
      <p:sp>
        <p:nvSpPr>
          <p:cNvPr id="3" name="Content Placeholder 2"/>
          <p:cNvSpPr>
            <a:spLocks noGrp="1"/>
          </p:cNvSpPr>
          <p:nvPr>
            <p:ph idx="1"/>
          </p:nvPr>
        </p:nvSpPr>
        <p:spPr/>
        <p:txBody>
          <a:bodyPr/>
          <a:lstStyle/>
          <a:p>
            <a:r>
              <a:rPr lang="en-IN" sz="1800" b="1" dirty="0"/>
              <a:t>Remote </a:t>
            </a:r>
            <a:r>
              <a:rPr lang="en-IN" sz="1800" b="1" dirty="0" smtClean="0"/>
              <a:t>login: </a:t>
            </a:r>
            <a:r>
              <a:rPr lang="en-US" sz="1800" dirty="0"/>
              <a:t>When the user wants to access an application program on a remote computer, then the user must perform remote login.</a:t>
            </a:r>
          </a:p>
          <a:p>
            <a:pPr marL="0" indent="0">
              <a:buNone/>
            </a:pPr>
            <a:endParaRPr lang="en-IN" sz="1800" b="1" dirty="0"/>
          </a:p>
          <a:p>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667000"/>
            <a:ext cx="79248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36129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Telnet</a:t>
            </a:r>
          </a:p>
        </p:txBody>
      </p:sp>
      <p:sp>
        <p:nvSpPr>
          <p:cNvPr id="3" name="Content Placeholder 2"/>
          <p:cNvSpPr>
            <a:spLocks noGrp="1"/>
          </p:cNvSpPr>
          <p:nvPr>
            <p:ph idx="1"/>
          </p:nvPr>
        </p:nvSpPr>
        <p:spPr/>
        <p:txBody>
          <a:bodyPr>
            <a:normAutofit fontScale="47500" lnSpcReduction="20000"/>
          </a:bodyPr>
          <a:lstStyle/>
          <a:p>
            <a:pPr marL="0" indent="0">
              <a:buNone/>
            </a:pPr>
            <a:r>
              <a:rPr lang="en-US" b="1" dirty="0"/>
              <a:t>How remote login </a:t>
            </a:r>
            <a:r>
              <a:rPr lang="en-US" b="1" dirty="0" smtClean="0"/>
              <a:t>occurs</a:t>
            </a:r>
          </a:p>
          <a:p>
            <a:pPr marL="0" indent="0">
              <a:buNone/>
            </a:pPr>
            <a:endParaRPr lang="en-US" b="1" dirty="0"/>
          </a:p>
          <a:p>
            <a:pPr marL="0" indent="0">
              <a:buNone/>
            </a:pPr>
            <a:r>
              <a:rPr lang="en-US" b="1" dirty="0"/>
              <a:t>At the local site</a:t>
            </a:r>
          </a:p>
          <a:p>
            <a:r>
              <a:rPr lang="en-US" dirty="0"/>
              <a:t>The user sends the keystrokes to the terminal driver, the characters are then sent to the TELNET client. The TELNET client which in turn, transforms the characters to a universal character set known as network virtual terminal characters and delivers them to the local TCP/IP </a:t>
            </a:r>
            <a:r>
              <a:rPr lang="en-US" dirty="0" smtClean="0"/>
              <a:t>stack.</a:t>
            </a:r>
          </a:p>
          <a:p>
            <a:endParaRPr lang="en-US" dirty="0"/>
          </a:p>
          <a:p>
            <a:pPr marL="0" indent="0">
              <a:buNone/>
            </a:pPr>
            <a:r>
              <a:rPr lang="en-US" b="1" dirty="0"/>
              <a:t>At the remote site</a:t>
            </a:r>
          </a:p>
          <a:p>
            <a:r>
              <a:rPr lang="en-US" dirty="0"/>
              <a:t>The commands in NVT forms are transmitted to the TCP/IP at the remote machine. Here, the characters are delivered to the operating system and then pass to the TELNET server. </a:t>
            </a:r>
            <a:endParaRPr lang="en-US" dirty="0" smtClean="0"/>
          </a:p>
          <a:p>
            <a:endParaRPr lang="en-US" dirty="0"/>
          </a:p>
          <a:p>
            <a:r>
              <a:rPr lang="en-US" dirty="0" smtClean="0"/>
              <a:t>The </a:t>
            </a:r>
            <a:r>
              <a:rPr lang="en-US" dirty="0"/>
              <a:t>TELNET server transforms the characters which can be understandable by a remote computer. However, the characters cannot be directly passed to the operating system as a remote operating system does not receive the characters from the TELNET server. </a:t>
            </a:r>
            <a:endParaRPr lang="en-US" dirty="0" smtClean="0"/>
          </a:p>
          <a:p>
            <a:endParaRPr lang="en-US" dirty="0"/>
          </a:p>
          <a:p>
            <a:r>
              <a:rPr lang="en-US" dirty="0" smtClean="0"/>
              <a:t>Therefore </a:t>
            </a:r>
            <a:r>
              <a:rPr lang="en-US" dirty="0"/>
              <a:t>it requires some piece of software that can accept the characters from the TELNET server. The operating system then passes these characters to the appropriate application program.</a:t>
            </a:r>
          </a:p>
          <a:p>
            <a:endParaRPr lang="en-IN" dirty="0"/>
          </a:p>
        </p:txBody>
      </p:sp>
    </p:spTree>
    <p:extLst>
      <p:ext uri="{BB962C8B-B14F-4D97-AF65-F5344CB8AC3E}">
        <p14:creationId xmlns:p14="http://schemas.microsoft.com/office/powerpoint/2010/main" val="5716773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Telnet</a:t>
            </a:r>
          </a:p>
        </p:txBody>
      </p:sp>
      <p:sp>
        <p:nvSpPr>
          <p:cNvPr id="3" name="Content Placeholder 2"/>
          <p:cNvSpPr>
            <a:spLocks noGrp="1"/>
          </p:cNvSpPr>
          <p:nvPr>
            <p:ph idx="1"/>
          </p:nvPr>
        </p:nvSpPr>
        <p:spPr/>
        <p:txBody>
          <a:bodyPr/>
          <a:lstStyle/>
          <a:p>
            <a:r>
              <a:rPr lang="en-IN" sz="1800" dirty="0"/>
              <a:t>Network Virtual Terminal (NVT)</a:t>
            </a:r>
          </a:p>
          <a:p>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133600"/>
            <a:ext cx="7162800" cy="402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92933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Telnet</a:t>
            </a:r>
          </a:p>
        </p:txBody>
      </p:sp>
      <p:sp>
        <p:nvSpPr>
          <p:cNvPr id="3" name="Content Placeholder 2"/>
          <p:cNvSpPr>
            <a:spLocks noGrp="1"/>
          </p:cNvSpPr>
          <p:nvPr>
            <p:ph idx="1"/>
          </p:nvPr>
        </p:nvSpPr>
        <p:spPr/>
        <p:txBody>
          <a:bodyPr>
            <a:normAutofit/>
          </a:bodyPr>
          <a:lstStyle/>
          <a:p>
            <a:r>
              <a:rPr lang="en-US" sz="1800" dirty="0"/>
              <a:t>The network virtual terminal is an interface that defines how data and commands are sent across the network</a:t>
            </a:r>
            <a:r>
              <a:rPr lang="en-US" sz="1800" dirty="0" smtClean="0"/>
              <a:t>.</a:t>
            </a:r>
          </a:p>
          <a:p>
            <a:endParaRPr lang="en-US" sz="1800" dirty="0"/>
          </a:p>
          <a:p>
            <a:r>
              <a:rPr lang="en-US" sz="1800" dirty="0"/>
              <a:t>In today's world, systems are heterogeneous. </a:t>
            </a:r>
            <a:r>
              <a:rPr lang="en-US" sz="1800" b="1" dirty="0" smtClean="0"/>
              <a:t>Ex:</a:t>
            </a:r>
            <a:r>
              <a:rPr lang="en-US" sz="1800" dirty="0" smtClean="0"/>
              <a:t> </a:t>
            </a:r>
            <a:r>
              <a:rPr lang="en-US" sz="1800" dirty="0"/>
              <a:t>the operating system accepts a special combination of characters such as end-of-file token running a DOS operating system </a:t>
            </a:r>
            <a:r>
              <a:rPr lang="en-US" sz="1800" i="1" dirty="0" err="1"/>
              <a:t>ctrl+z</a:t>
            </a:r>
            <a:r>
              <a:rPr lang="en-US" sz="1800" dirty="0"/>
              <a:t> while the token running a UNIX operating system is </a:t>
            </a:r>
            <a:r>
              <a:rPr lang="en-US" sz="1800" i="1" dirty="0" err="1"/>
              <a:t>ctrl+d</a:t>
            </a:r>
            <a:r>
              <a:rPr lang="en-US" sz="1800" dirty="0" smtClean="0"/>
              <a:t>.</a:t>
            </a:r>
          </a:p>
          <a:p>
            <a:endParaRPr lang="en-US" sz="1800" dirty="0"/>
          </a:p>
          <a:p>
            <a:r>
              <a:rPr lang="en-US" sz="1800" dirty="0"/>
              <a:t>TELNET solves this issue by defining a universal interface known as </a:t>
            </a:r>
            <a:r>
              <a:rPr lang="en-US" sz="1800" b="1" dirty="0"/>
              <a:t>network virtual interface</a:t>
            </a:r>
            <a:r>
              <a:rPr lang="en-US" sz="1800" dirty="0" smtClean="0"/>
              <a:t>.</a:t>
            </a:r>
          </a:p>
          <a:p>
            <a:endParaRPr lang="en-US" sz="1800" dirty="0"/>
          </a:p>
          <a:p>
            <a:r>
              <a:rPr lang="en-US" sz="1800" dirty="0"/>
              <a:t>The TELNET client translates the characters that come from the local terminal into NVT form and then delivers them to the network. The Telnet server then translates the data from NVT form into a form which can be understandable by a remote computer.</a:t>
            </a:r>
          </a:p>
          <a:p>
            <a:endParaRPr lang="en-IN" dirty="0"/>
          </a:p>
        </p:txBody>
      </p:sp>
    </p:spTree>
    <p:extLst>
      <p:ext uri="{BB962C8B-B14F-4D97-AF65-F5344CB8AC3E}">
        <p14:creationId xmlns:p14="http://schemas.microsoft.com/office/powerpoint/2010/main" val="4199269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883</TotalTime>
  <Words>3668</Words>
  <Application>Microsoft Office PowerPoint</Application>
  <PresentationFormat>On-screen Show (4:3)</PresentationFormat>
  <Paragraphs>537</Paragraphs>
  <Slides>62</Slides>
  <Notes>0</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Application Layer Protocols</vt:lpstr>
      <vt:lpstr>Application Layer</vt:lpstr>
      <vt:lpstr>Application Layer</vt:lpstr>
      <vt:lpstr>Application Layer</vt:lpstr>
      <vt:lpstr>DHCP</vt:lpstr>
      <vt:lpstr>DHCP</vt:lpstr>
      <vt:lpstr>DHCP Working</vt:lpstr>
      <vt:lpstr>DHCP Components</vt:lpstr>
      <vt:lpstr>DHCP Components</vt:lpstr>
      <vt:lpstr>Benefits of DHCP</vt:lpstr>
      <vt:lpstr>DNS</vt:lpstr>
      <vt:lpstr>DNS</vt:lpstr>
      <vt:lpstr>Resolution process</vt:lpstr>
      <vt:lpstr>Resolution process</vt:lpstr>
      <vt:lpstr>Resolution process</vt:lpstr>
      <vt:lpstr>Resolution process</vt:lpstr>
      <vt:lpstr>DNS protocol structure</vt:lpstr>
      <vt:lpstr>DNS protocol structure</vt:lpstr>
      <vt:lpstr>Generic Domains</vt:lpstr>
      <vt:lpstr>Generic Domains</vt:lpstr>
      <vt:lpstr>Domain Name System (DNS)</vt:lpstr>
      <vt:lpstr>Working of DNS</vt:lpstr>
      <vt:lpstr>DNS Resource records</vt:lpstr>
      <vt:lpstr>DNS Resource records</vt:lpstr>
      <vt:lpstr>HTTP </vt:lpstr>
      <vt:lpstr>HTTP </vt:lpstr>
      <vt:lpstr>HTTP: Request and Response Message </vt:lpstr>
      <vt:lpstr>HTTP: Request and Response Message </vt:lpstr>
      <vt:lpstr>HTTP: Request and Response Message </vt:lpstr>
      <vt:lpstr>Working of the HTTP Protocol </vt:lpstr>
      <vt:lpstr>Email Protocols – SMTP</vt:lpstr>
      <vt:lpstr>Email Protocols – SMTP</vt:lpstr>
      <vt:lpstr>Email Protocols – SMTP</vt:lpstr>
      <vt:lpstr>Components of SMTP</vt:lpstr>
      <vt:lpstr>Components of SMTP</vt:lpstr>
      <vt:lpstr>Working of SMTP </vt:lpstr>
      <vt:lpstr>Working of SMTP</vt:lpstr>
      <vt:lpstr>Email Protocols - POP3</vt:lpstr>
      <vt:lpstr>Email Protocols - POP3</vt:lpstr>
      <vt:lpstr>Email Protocols - POP3</vt:lpstr>
      <vt:lpstr>Advantages of POP3 protocol </vt:lpstr>
      <vt:lpstr>Disadvantages of POP3 protocol</vt:lpstr>
      <vt:lpstr>Email Protocols - IMAP4</vt:lpstr>
      <vt:lpstr>Email Protocols - IMAP4</vt:lpstr>
      <vt:lpstr>Email Protocols - MIME</vt:lpstr>
      <vt:lpstr>Email Protocols - MIME</vt:lpstr>
      <vt:lpstr>Email Protocols - MIME</vt:lpstr>
      <vt:lpstr>Email Protocols - MIME</vt:lpstr>
      <vt:lpstr>Email Protocols - MIME</vt:lpstr>
      <vt:lpstr>Email Protocols - MIME</vt:lpstr>
      <vt:lpstr>Email Protocols - MIME</vt:lpstr>
      <vt:lpstr>Email Protocols - MIME</vt:lpstr>
      <vt:lpstr>FTP</vt:lpstr>
      <vt:lpstr>FTP</vt:lpstr>
      <vt:lpstr>FTP</vt:lpstr>
      <vt:lpstr>Telnet</vt:lpstr>
      <vt:lpstr>Telnet</vt:lpstr>
      <vt:lpstr>Telnet</vt:lpstr>
      <vt:lpstr>Telnet</vt:lpstr>
      <vt:lpstr>Telnet</vt:lpstr>
      <vt:lpstr>Telnet</vt:lpstr>
      <vt:lpstr>Telnet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Layer Protocols</dc:title>
  <dc:creator>IIMS Faculty</dc:creator>
  <cp:lastModifiedBy>IIMS FACULTY</cp:lastModifiedBy>
  <cp:revision>314</cp:revision>
  <dcterms:created xsi:type="dcterms:W3CDTF">2006-08-16T00:00:00Z</dcterms:created>
  <dcterms:modified xsi:type="dcterms:W3CDTF">2023-11-08T11:18:58Z</dcterms:modified>
</cp:coreProperties>
</file>