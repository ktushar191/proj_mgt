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63" r:id="rId4"/>
    <p:sldId id="257" r:id="rId5"/>
    <p:sldId id="264" r:id="rId6"/>
    <p:sldId id="265" r:id="rId7"/>
    <p:sldId id="266" r:id="rId8"/>
    <p:sldId id="267" r:id="rId9"/>
    <p:sldId id="268" r:id="rId10"/>
    <p:sldId id="269" r:id="rId11"/>
    <p:sldId id="270" r:id="rId12"/>
    <p:sldId id="275" r:id="rId13"/>
    <p:sldId id="271" r:id="rId14"/>
    <p:sldId id="272" r:id="rId15"/>
    <p:sldId id="298" r:id="rId16"/>
    <p:sldId id="273" r:id="rId17"/>
    <p:sldId id="276" r:id="rId18"/>
    <p:sldId id="277" r:id="rId19"/>
    <p:sldId id="300" r:id="rId20"/>
    <p:sldId id="301" r:id="rId21"/>
    <p:sldId id="299" r:id="rId22"/>
    <p:sldId id="278" r:id="rId23"/>
    <p:sldId id="279" r:id="rId24"/>
    <p:sldId id="280" r:id="rId25"/>
    <p:sldId id="281" r:id="rId26"/>
    <p:sldId id="282" r:id="rId27"/>
    <p:sldId id="283" r:id="rId28"/>
    <p:sldId id="284" r:id="rId29"/>
    <p:sldId id="324" r:id="rId30"/>
    <p:sldId id="325" r:id="rId31"/>
    <p:sldId id="326" r:id="rId32"/>
    <p:sldId id="258" r:id="rId33"/>
    <p:sldId id="285" r:id="rId34"/>
    <p:sldId id="290" r:id="rId35"/>
    <p:sldId id="289" r:id="rId36"/>
    <p:sldId id="291" r:id="rId37"/>
    <p:sldId id="292" r:id="rId38"/>
    <p:sldId id="288" r:id="rId39"/>
    <p:sldId id="286" r:id="rId40"/>
    <p:sldId id="287" r:id="rId41"/>
    <p:sldId id="293" r:id="rId42"/>
    <p:sldId id="294" r:id="rId43"/>
    <p:sldId id="295" r:id="rId44"/>
    <p:sldId id="259" r:id="rId45"/>
    <p:sldId id="303" r:id="rId46"/>
    <p:sldId id="296" r:id="rId47"/>
    <p:sldId id="302" r:id="rId48"/>
    <p:sldId id="304" r:id="rId49"/>
    <p:sldId id="306" r:id="rId50"/>
    <p:sldId id="305" r:id="rId51"/>
    <p:sldId id="307" r:id="rId52"/>
    <p:sldId id="308" r:id="rId53"/>
    <p:sldId id="297" r:id="rId54"/>
    <p:sldId id="309" r:id="rId55"/>
    <p:sldId id="310" r:id="rId56"/>
    <p:sldId id="311" r:id="rId57"/>
    <p:sldId id="312" r:id="rId58"/>
    <p:sldId id="313" r:id="rId59"/>
    <p:sldId id="314" r:id="rId60"/>
    <p:sldId id="315" r:id="rId61"/>
    <p:sldId id="260" r:id="rId62"/>
    <p:sldId id="261" r:id="rId63"/>
    <p:sldId id="316" r:id="rId64"/>
    <p:sldId id="317" r:id="rId65"/>
    <p:sldId id="319" r:id="rId66"/>
    <p:sldId id="320" r:id="rId67"/>
    <p:sldId id="318" r:id="rId68"/>
    <p:sldId id="321" r:id="rId69"/>
    <p:sldId id="322" r:id="rId70"/>
    <p:sldId id="323" r:id="rId7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10" d="100"/>
          <a:sy n="110" d="100"/>
        </p:scale>
        <p:origin x="-1644" y="-96"/>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slide" Target="slides/slide7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2/1/2023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2/1/2023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2/1/2023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2/1/2023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2/1/2023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2/1/2023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dirty="0"/>
              <a:t>Link Layer Communication</a:t>
            </a:r>
          </a:p>
        </p:txBody>
      </p:sp>
      <p:sp>
        <p:nvSpPr>
          <p:cNvPr id="3" name="Subtitle 2"/>
          <p:cNvSpPr>
            <a:spLocks noGrp="1"/>
          </p:cNvSpPr>
          <p:nvPr>
            <p:ph type="subTitle" idx="1"/>
          </p:nvPr>
        </p:nvSpPr>
        <p:spPr/>
        <p:txBody>
          <a:bodyPr/>
          <a:lstStyle/>
          <a:p>
            <a:r>
              <a:rPr lang="en-IN" dirty="0" smtClean="0"/>
              <a:t>Unit 3</a:t>
            </a:r>
            <a:endParaRPr lang="en-IN" dirty="0"/>
          </a:p>
        </p:txBody>
      </p:sp>
    </p:spTree>
    <p:extLst>
      <p:ext uri="{BB962C8B-B14F-4D97-AF65-F5344CB8AC3E}">
        <p14:creationId xmlns:p14="http://schemas.microsoft.com/office/powerpoint/2010/main" val="1730988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Link Layer Communication</a:t>
            </a:r>
          </a:p>
        </p:txBody>
      </p:sp>
      <p:sp>
        <p:nvSpPr>
          <p:cNvPr id="3" name="Content Placeholder 2"/>
          <p:cNvSpPr>
            <a:spLocks noGrp="1"/>
          </p:cNvSpPr>
          <p:nvPr>
            <p:ph idx="1"/>
          </p:nvPr>
        </p:nvSpPr>
        <p:spPr/>
        <p:txBody>
          <a:bodyPr>
            <a:normAutofit/>
          </a:bodyPr>
          <a:lstStyle/>
          <a:p>
            <a:r>
              <a:rPr lang="en-US" sz="1800" dirty="0"/>
              <a:t>The data link layer is Layer 2 in the OSI architecture model for a set of telecommunication protocols. </a:t>
            </a:r>
            <a:endParaRPr lang="en-US" sz="1800" dirty="0" smtClean="0"/>
          </a:p>
          <a:p>
            <a:endParaRPr lang="en-US" sz="1800" dirty="0" smtClean="0"/>
          </a:p>
          <a:p>
            <a:r>
              <a:rPr lang="en-US" sz="1800" dirty="0" smtClean="0"/>
              <a:t>Data </a:t>
            </a:r>
            <a:r>
              <a:rPr lang="en-US" sz="1800" dirty="0"/>
              <a:t>bits are encoded, decoded and organized in the data link layer, before they are transported as </a:t>
            </a:r>
            <a:r>
              <a:rPr lang="en-US" sz="1800" b="1" dirty="0"/>
              <a:t>frames</a:t>
            </a:r>
            <a:r>
              <a:rPr lang="en-US" sz="1800" dirty="0"/>
              <a:t> between two adjacent nodes on the same LAN </a:t>
            </a:r>
            <a:r>
              <a:rPr lang="en-US" sz="1800" dirty="0" smtClean="0"/>
              <a:t>or WAN</a:t>
            </a:r>
            <a:r>
              <a:rPr lang="en-US" sz="1800" dirty="0"/>
              <a:t>. </a:t>
            </a:r>
            <a:endParaRPr lang="en-US" sz="1800" dirty="0" smtClean="0"/>
          </a:p>
          <a:p>
            <a:endParaRPr lang="en-US" sz="1800" dirty="0" smtClean="0"/>
          </a:p>
          <a:p>
            <a:r>
              <a:rPr lang="en-US" sz="1800" dirty="0" smtClean="0"/>
              <a:t>The </a:t>
            </a:r>
            <a:r>
              <a:rPr lang="en-US" sz="1800" dirty="0"/>
              <a:t>data link layer also determines how devices recover from collisions that may occur when nodes attempt to send frames at the same </a:t>
            </a:r>
            <a:r>
              <a:rPr lang="en-US" sz="1800" dirty="0" smtClean="0"/>
              <a:t>time.</a:t>
            </a:r>
          </a:p>
          <a:p>
            <a:endParaRPr lang="en-US" sz="1800" dirty="0" smtClean="0"/>
          </a:p>
          <a:p>
            <a:r>
              <a:rPr lang="en-US" sz="1800" dirty="0"/>
              <a:t>The data link layer has two sub-layers: the </a:t>
            </a:r>
            <a:r>
              <a:rPr lang="en-US" sz="1800" b="1" dirty="0"/>
              <a:t>logical link control</a:t>
            </a:r>
            <a:r>
              <a:rPr lang="en-US" sz="1800" dirty="0"/>
              <a:t> (LLC) sub-layer and the </a:t>
            </a:r>
            <a:r>
              <a:rPr lang="en-US" sz="1800" b="1" dirty="0"/>
              <a:t>media access control </a:t>
            </a:r>
            <a:r>
              <a:rPr lang="en-US" sz="1800" dirty="0"/>
              <a:t>(MAC) sub-layer.</a:t>
            </a:r>
            <a:endParaRPr lang="en-IN" sz="1800" dirty="0"/>
          </a:p>
        </p:txBody>
      </p:sp>
    </p:spTree>
    <p:extLst>
      <p:ext uri="{BB962C8B-B14F-4D97-AF65-F5344CB8AC3E}">
        <p14:creationId xmlns:p14="http://schemas.microsoft.com/office/powerpoint/2010/main" val="18501702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Link Layer Communication</a:t>
            </a:r>
          </a:p>
        </p:txBody>
      </p:sp>
      <p:sp>
        <p:nvSpPr>
          <p:cNvPr id="3" name="Content Placeholder 2"/>
          <p:cNvSpPr>
            <a:spLocks noGrp="1"/>
          </p:cNvSpPr>
          <p:nvPr>
            <p:ph idx="1"/>
          </p:nvPr>
        </p:nvSpPr>
        <p:spPr/>
        <p:txBody>
          <a:bodyPr>
            <a:normAutofit fontScale="92500" lnSpcReduction="10000"/>
          </a:bodyPr>
          <a:lstStyle/>
          <a:p>
            <a:pPr marL="0" indent="0">
              <a:buNone/>
            </a:pPr>
            <a:r>
              <a:rPr lang="en-US" sz="1800" b="1" dirty="0"/>
              <a:t>Functions of the data link layer </a:t>
            </a:r>
            <a:endParaRPr lang="en-US" sz="1800" b="1" dirty="0" smtClean="0"/>
          </a:p>
          <a:p>
            <a:pPr marL="0" indent="0">
              <a:buNone/>
            </a:pPr>
            <a:endParaRPr lang="en-US" sz="1800" b="1" dirty="0" smtClean="0"/>
          </a:p>
          <a:p>
            <a:pPr marL="0" indent="0">
              <a:buNone/>
            </a:pPr>
            <a:r>
              <a:rPr lang="en-US" sz="1800" dirty="0" smtClean="0"/>
              <a:t>1</a:t>
            </a:r>
            <a:r>
              <a:rPr lang="en-US" sz="1800" dirty="0"/>
              <a:t>. It handles problems that occur as a result of bit transmission errors. </a:t>
            </a:r>
            <a:endParaRPr lang="en-US" sz="1800" dirty="0" smtClean="0"/>
          </a:p>
          <a:p>
            <a:endParaRPr lang="en-US" sz="1800" dirty="0" smtClean="0"/>
          </a:p>
          <a:p>
            <a:pPr marL="0" indent="0">
              <a:buNone/>
            </a:pPr>
            <a:r>
              <a:rPr lang="en-US" sz="1800" dirty="0" smtClean="0"/>
              <a:t>2</a:t>
            </a:r>
            <a:r>
              <a:rPr lang="en-US" sz="1800" dirty="0"/>
              <a:t>. It ensures data flows at a pace that doesn't overwhelm sending and receiving devices. </a:t>
            </a:r>
            <a:endParaRPr lang="en-US" sz="1800" dirty="0" smtClean="0"/>
          </a:p>
          <a:p>
            <a:endParaRPr lang="en-US" sz="1800" dirty="0"/>
          </a:p>
          <a:p>
            <a:pPr marL="0" indent="0">
              <a:buNone/>
            </a:pPr>
            <a:r>
              <a:rPr lang="en-US" sz="1800" dirty="0" smtClean="0"/>
              <a:t>3</a:t>
            </a:r>
            <a:r>
              <a:rPr lang="en-US" sz="1800" dirty="0"/>
              <a:t>. It permits the transmission of data to Layer 3, the network layer, where it is addressed and routed. </a:t>
            </a:r>
            <a:endParaRPr lang="en-US" sz="1800" dirty="0" smtClean="0"/>
          </a:p>
          <a:p>
            <a:pPr marL="0" indent="0">
              <a:buNone/>
            </a:pPr>
            <a:endParaRPr lang="en-US" sz="1800" dirty="0"/>
          </a:p>
          <a:p>
            <a:pPr marL="0" indent="0">
              <a:buNone/>
            </a:pPr>
            <a:r>
              <a:rPr lang="en-US" sz="1800" b="1" dirty="0" smtClean="0"/>
              <a:t>Services provided by data link layer:</a:t>
            </a:r>
          </a:p>
          <a:p>
            <a:pPr marL="0" indent="0">
              <a:buNone/>
            </a:pPr>
            <a:endParaRPr lang="en-US" sz="1800" dirty="0"/>
          </a:p>
          <a:p>
            <a:pPr marL="0" indent="0">
              <a:buNone/>
            </a:pPr>
            <a:r>
              <a:rPr lang="en-US" sz="1800" dirty="0" smtClean="0"/>
              <a:t>1.Framing</a:t>
            </a:r>
          </a:p>
          <a:p>
            <a:pPr marL="0" indent="0">
              <a:buNone/>
            </a:pPr>
            <a:r>
              <a:rPr lang="en-US" sz="1800" dirty="0" smtClean="0"/>
              <a:t>2.Flow Control</a:t>
            </a:r>
          </a:p>
          <a:p>
            <a:pPr marL="0" indent="0">
              <a:buNone/>
            </a:pPr>
            <a:r>
              <a:rPr lang="en-US" sz="1800" dirty="0" smtClean="0"/>
              <a:t>3.Error Control</a:t>
            </a:r>
          </a:p>
          <a:p>
            <a:pPr marL="0" indent="0">
              <a:buNone/>
            </a:pPr>
            <a:r>
              <a:rPr lang="en-US" sz="1800" dirty="0" smtClean="0"/>
              <a:t>4.Congestion Control</a:t>
            </a:r>
            <a:endParaRPr lang="en-IN" sz="1800" dirty="0"/>
          </a:p>
        </p:txBody>
      </p:sp>
    </p:spTree>
    <p:extLst>
      <p:ext uri="{BB962C8B-B14F-4D97-AF65-F5344CB8AC3E}">
        <p14:creationId xmlns:p14="http://schemas.microsoft.com/office/powerpoint/2010/main" val="386111280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US" sz="1800" b="1" dirty="0"/>
              <a:t>Errors </a:t>
            </a:r>
            <a:endParaRPr lang="en-US" sz="1800" b="1" dirty="0" smtClean="0"/>
          </a:p>
          <a:p>
            <a:pPr marL="0" indent="0">
              <a:buNone/>
            </a:pPr>
            <a:endParaRPr lang="en-US" sz="1800" b="1" dirty="0" smtClean="0"/>
          </a:p>
          <a:p>
            <a:r>
              <a:rPr lang="en-US" sz="1800" dirty="0" smtClean="0"/>
              <a:t>When </a:t>
            </a:r>
            <a:r>
              <a:rPr lang="en-US" sz="1800" dirty="0"/>
              <a:t>bits are transmitted over the computer network, they are subject to get corrupted due to interference and network problems</a:t>
            </a:r>
            <a:r>
              <a:rPr lang="en-US" sz="1800" dirty="0" smtClean="0"/>
              <a:t>.</a:t>
            </a:r>
          </a:p>
          <a:p>
            <a:endParaRPr lang="en-US" sz="1800" dirty="0" smtClean="0"/>
          </a:p>
          <a:p>
            <a:r>
              <a:rPr lang="en-US" sz="1800" dirty="0" smtClean="0"/>
              <a:t>The </a:t>
            </a:r>
            <a:r>
              <a:rPr lang="en-US" sz="1800" dirty="0"/>
              <a:t>corrupted bits leads to spurious data being received by the destination and are called </a:t>
            </a:r>
            <a:r>
              <a:rPr lang="en-US" sz="1800" b="1" dirty="0"/>
              <a:t>errors</a:t>
            </a:r>
            <a:r>
              <a:rPr lang="en-US" sz="1800" dirty="0"/>
              <a:t>. </a:t>
            </a:r>
            <a:endParaRPr lang="en-US" sz="1800" dirty="0" smtClean="0"/>
          </a:p>
          <a:p>
            <a:pPr marL="0" indent="0">
              <a:buNone/>
            </a:pPr>
            <a:endParaRPr lang="en-US" sz="1800" dirty="0" smtClean="0"/>
          </a:p>
          <a:p>
            <a:pPr marL="0" indent="0">
              <a:buNone/>
            </a:pPr>
            <a:r>
              <a:rPr lang="en-US" sz="1800" b="1" dirty="0" smtClean="0"/>
              <a:t>Types </a:t>
            </a:r>
            <a:r>
              <a:rPr lang="en-US" sz="1800" b="1" dirty="0"/>
              <a:t>Of Errors </a:t>
            </a:r>
            <a:endParaRPr lang="en-US" sz="1800" b="1" dirty="0" smtClean="0"/>
          </a:p>
          <a:p>
            <a:pPr marL="0" indent="0">
              <a:buNone/>
            </a:pPr>
            <a:endParaRPr lang="en-US" sz="1800" b="1" dirty="0" smtClean="0"/>
          </a:p>
          <a:p>
            <a:r>
              <a:rPr lang="en-US" sz="1800" dirty="0" smtClean="0"/>
              <a:t>Single-Bit </a:t>
            </a:r>
            <a:r>
              <a:rPr lang="en-US" sz="1800" dirty="0"/>
              <a:t>Error </a:t>
            </a:r>
            <a:endParaRPr lang="en-US" sz="1800" dirty="0" smtClean="0"/>
          </a:p>
          <a:p>
            <a:r>
              <a:rPr lang="en-US" sz="1800" dirty="0" smtClean="0"/>
              <a:t>Multiple </a:t>
            </a:r>
            <a:r>
              <a:rPr lang="en-US" sz="1800" dirty="0"/>
              <a:t>bits error </a:t>
            </a:r>
            <a:endParaRPr lang="en-US" sz="1800" dirty="0" smtClean="0"/>
          </a:p>
          <a:p>
            <a:r>
              <a:rPr lang="en-US" sz="1800" dirty="0" smtClean="0"/>
              <a:t>Burst Error</a:t>
            </a:r>
            <a:endParaRPr lang="en-IN" sz="1800" dirty="0"/>
          </a:p>
        </p:txBody>
      </p:sp>
    </p:spTree>
    <p:extLst>
      <p:ext uri="{BB962C8B-B14F-4D97-AF65-F5344CB8AC3E}">
        <p14:creationId xmlns:p14="http://schemas.microsoft.com/office/powerpoint/2010/main" val="15305201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fontScale="62500" lnSpcReduction="20000"/>
          </a:bodyPr>
          <a:lstStyle/>
          <a:p>
            <a:r>
              <a:rPr lang="en-US" b="1" dirty="0"/>
              <a:t>Single bit error corrupted</a:t>
            </a:r>
            <a:r>
              <a:rPr lang="en-US" dirty="0"/>
              <a:t>, i.e. either changed from 0 to 1 or from 1 to 0</a:t>
            </a:r>
            <a:r>
              <a:rPr lang="en-US" dirty="0" smtClean="0"/>
              <a:t>.</a:t>
            </a:r>
          </a:p>
          <a:p>
            <a:endParaRPr lang="en-US" dirty="0"/>
          </a:p>
          <a:p>
            <a:endParaRPr lang="en-US" dirty="0" smtClean="0"/>
          </a:p>
          <a:p>
            <a:endParaRPr lang="en-US" dirty="0" smtClean="0"/>
          </a:p>
          <a:p>
            <a:endParaRPr lang="en-US" dirty="0" smtClean="0"/>
          </a:p>
          <a:p>
            <a:endParaRPr lang="en-US" dirty="0"/>
          </a:p>
          <a:p>
            <a:endParaRPr lang="en-US" dirty="0" smtClean="0"/>
          </a:p>
          <a:p>
            <a:endParaRPr lang="en-US" dirty="0" smtClean="0"/>
          </a:p>
          <a:p>
            <a:r>
              <a:rPr lang="en-US" dirty="0"/>
              <a:t>Single-Bit Error does not appear more likely in Serial Data Transmission</a:t>
            </a:r>
            <a:r>
              <a:rPr lang="en-US" dirty="0" smtClean="0"/>
              <a:t>.</a:t>
            </a:r>
          </a:p>
          <a:p>
            <a:endParaRPr lang="en-US" dirty="0"/>
          </a:p>
          <a:p>
            <a:r>
              <a:rPr lang="en-US" dirty="0"/>
              <a:t>Single-Bit Error mainly occurs in Parallel Data Transmission</a:t>
            </a:r>
            <a:r>
              <a:rPr lang="en-US" dirty="0" smtClean="0"/>
              <a:t>.</a:t>
            </a:r>
          </a:p>
          <a:p>
            <a:endParaRPr lang="en-US" dirty="0"/>
          </a:p>
          <a:p>
            <a:r>
              <a:rPr lang="en-US" b="1" dirty="0" smtClean="0"/>
              <a:t>Ex:</a:t>
            </a:r>
            <a:r>
              <a:rPr lang="en-US" dirty="0" smtClean="0"/>
              <a:t> If </a:t>
            </a:r>
            <a:r>
              <a:rPr lang="en-US" dirty="0"/>
              <a:t>eight wires are used to send the eight bits of a byte, if one of the wire is noisy, then single-bit is corrupted per byte. </a:t>
            </a:r>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0" y="2057400"/>
            <a:ext cx="5191125" cy="18764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4837868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lstStyle/>
          <a:p>
            <a:r>
              <a:rPr lang="en-IN" sz="1800" b="1" dirty="0"/>
              <a:t>Multiple bits </a:t>
            </a:r>
            <a:r>
              <a:rPr lang="en-IN" sz="1800" b="1" dirty="0" smtClean="0"/>
              <a:t>error: </a:t>
            </a:r>
            <a:r>
              <a:rPr lang="en-IN" sz="1800" dirty="0" smtClean="0"/>
              <a:t>In the received frame, more than one bits are corrupted.</a:t>
            </a:r>
          </a:p>
          <a:p>
            <a:endParaRPr lang="en-US" sz="1800" dirty="0"/>
          </a:p>
          <a:p>
            <a:endParaRPr lang="en-US" sz="1800" dirty="0" smtClean="0"/>
          </a:p>
          <a:p>
            <a:endParaRPr lang="en-US" sz="1800" dirty="0" smtClean="0"/>
          </a:p>
          <a:p>
            <a:endParaRPr lang="en-US" sz="1800" dirty="0"/>
          </a:p>
          <a:p>
            <a:endParaRPr lang="en-US" sz="1800" dirty="0"/>
          </a:p>
          <a:p>
            <a:endParaRPr lang="en-US" sz="1800" dirty="0" smtClean="0"/>
          </a:p>
          <a:p>
            <a:r>
              <a:rPr lang="en-IN" sz="1800" b="1" dirty="0"/>
              <a:t>Burst </a:t>
            </a:r>
            <a:r>
              <a:rPr lang="en-IN" sz="1800" b="1" dirty="0" smtClean="0"/>
              <a:t>error : </a:t>
            </a:r>
            <a:r>
              <a:rPr lang="en-IN" sz="1800" dirty="0" smtClean="0"/>
              <a:t>In the received frame, more than one consecutive bits are corrupted.</a:t>
            </a:r>
          </a:p>
          <a:p>
            <a:endParaRPr lang="en-US" dirty="0"/>
          </a:p>
          <a:p>
            <a:endParaRPr lang="en-IN" dirty="0" smtClean="0"/>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28800" y="1981200"/>
            <a:ext cx="481012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4443413"/>
            <a:ext cx="5172075" cy="2028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01602406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Error Control </a:t>
            </a:r>
            <a:endParaRPr lang="en-US" b="1" dirty="0" smtClean="0"/>
          </a:p>
          <a:p>
            <a:endParaRPr lang="en-US" dirty="0" smtClean="0"/>
          </a:p>
          <a:p>
            <a:r>
              <a:rPr lang="en-US" dirty="0" smtClean="0"/>
              <a:t>Error </a:t>
            </a:r>
            <a:r>
              <a:rPr lang="en-US" dirty="0"/>
              <a:t>control can be done in two </a:t>
            </a:r>
            <a:r>
              <a:rPr lang="en-US" dirty="0" smtClean="0"/>
              <a:t>ways.</a:t>
            </a:r>
          </a:p>
          <a:p>
            <a:endParaRPr lang="en-US" dirty="0"/>
          </a:p>
          <a:p>
            <a:r>
              <a:rPr lang="en-US" b="1" dirty="0" smtClean="0"/>
              <a:t>Error detection - </a:t>
            </a:r>
            <a:r>
              <a:rPr lang="en-US" dirty="0" smtClean="0"/>
              <a:t>Error detection involves checking whether any </a:t>
            </a:r>
            <a:r>
              <a:rPr lang="en-US" dirty="0"/>
              <a:t>error has occurred or not. The number of error bits and the type of error does not matter. </a:t>
            </a:r>
            <a:endParaRPr lang="en-US" dirty="0" smtClean="0"/>
          </a:p>
          <a:p>
            <a:endParaRPr lang="en-US" dirty="0"/>
          </a:p>
          <a:p>
            <a:r>
              <a:rPr lang="en-US" b="1" dirty="0" smtClean="0"/>
              <a:t>Error correction – </a:t>
            </a:r>
            <a:r>
              <a:rPr lang="en-US" dirty="0" smtClean="0"/>
              <a:t>Error correction involves ascertaining the exact </a:t>
            </a:r>
            <a:r>
              <a:rPr lang="en-US" dirty="0"/>
              <a:t>number of bits that has been corrupted and the location of the corrupted bits. </a:t>
            </a:r>
            <a:endParaRPr lang="en-US" dirty="0" smtClean="0"/>
          </a:p>
          <a:p>
            <a:endParaRPr lang="en-US" dirty="0"/>
          </a:p>
          <a:p>
            <a:r>
              <a:rPr lang="en-US" dirty="0" smtClean="0"/>
              <a:t>For </a:t>
            </a:r>
            <a:r>
              <a:rPr lang="en-US" dirty="0"/>
              <a:t>both error detection and error correction, the sender needs to send some additional bits along with the data bits. </a:t>
            </a:r>
            <a:endParaRPr lang="en-US" dirty="0" smtClean="0"/>
          </a:p>
          <a:p>
            <a:endParaRPr lang="en-US" dirty="0"/>
          </a:p>
          <a:p>
            <a:r>
              <a:rPr lang="en-US" dirty="0" smtClean="0"/>
              <a:t>The </a:t>
            </a:r>
            <a:r>
              <a:rPr lang="en-US" dirty="0"/>
              <a:t>receiver performs necessary checks based upon the additional redundant bits. </a:t>
            </a:r>
            <a:endParaRPr lang="en-US" dirty="0" smtClean="0"/>
          </a:p>
          <a:p>
            <a:endParaRPr lang="en-US" dirty="0"/>
          </a:p>
          <a:p>
            <a:r>
              <a:rPr lang="en-US" dirty="0" smtClean="0"/>
              <a:t>If </a:t>
            </a:r>
            <a:r>
              <a:rPr lang="en-US" dirty="0"/>
              <a:t>it finds that the data is free from errors, it removes the redundant bits before passing the message to the upper layers</a:t>
            </a:r>
            <a:endParaRPr lang="en-IN" dirty="0"/>
          </a:p>
        </p:txBody>
      </p:sp>
    </p:spTree>
    <p:extLst>
      <p:ext uri="{BB962C8B-B14F-4D97-AF65-F5344CB8AC3E}">
        <p14:creationId xmlns:p14="http://schemas.microsoft.com/office/powerpoint/2010/main" val="967220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pPr marL="0" indent="0">
              <a:buNone/>
            </a:pPr>
            <a:r>
              <a:rPr lang="en-US" sz="1800" b="1" dirty="0"/>
              <a:t>Error Detection Techniques </a:t>
            </a:r>
            <a:r>
              <a:rPr lang="en-US" sz="1800" b="1" dirty="0" smtClean="0"/>
              <a:t>:</a:t>
            </a:r>
          </a:p>
          <a:p>
            <a:r>
              <a:rPr lang="en-US" sz="1800" dirty="0" smtClean="0"/>
              <a:t>There </a:t>
            </a:r>
            <a:r>
              <a:rPr lang="en-US" sz="1800" dirty="0"/>
              <a:t>are three main techniques for detecting errors in frames: </a:t>
            </a:r>
            <a:endParaRPr lang="en-US" sz="1800" dirty="0" smtClean="0"/>
          </a:p>
          <a:p>
            <a:endParaRPr lang="en-US" sz="1800" dirty="0" smtClean="0"/>
          </a:p>
          <a:p>
            <a:pPr marL="0" indent="0">
              <a:buNone/>
            </a:pPr>
            <a:r>
              <a:rPr lang="en-US" sz="1800" dirty="0" smtClean="0"/>
              <a:t>1</a:t>
            </a:r>
            <a:r>
              <a:rPr lang="en-US" sz="1800" dirty="0"/>
              <a:t>. Parity </a:t>
            </a:r>
            <a:r>
              <a:rPr lang="en-US" sz="1800" dirty="0" smtClean="0"/>
              <a:t>Check</a:t>
            </a:r>
          </a:p>
          <a:p>
            <a:pPr marL="0" indent="0">
              <a:buNone/>
            </a:pPr>
            <a:r>
              <a:rPr lang="en-US" sz="1800" dirty="0" smtClean="0"/>
              <a:t>2</a:t>
            </a:r>
            <a:r>
              <a:rPr lang="en-US" sz="1800" dirty="0"/>
              <a:t>. Checksum and </a:t>
            </a:r>
            <a:endParaRPr lang="en-US" sz="1800" dirty="0" smtClean="0"/>
          </a:p>
          <a:p>
            <a:pPr marL="0" indent="0">
              <a:buNone/>
            </a:pPr>
            <a:r>
              <a:rPr lang="en-US" sz="1800" dirty="0" smtClean="0"/>
              <a:t>3</a:t>
            </a:r>
            <a:r>
              <a:rPr lang="en-US" sz="1800" dirty="0"/>
              <a:t>. Cyclic Redundancy Check (CRC)</a:t>
            </a:r>
            <a:endParaRPr lang="en-IN" sz="1800" dirty="0"/>
          </a:p>
        </p:txBody>
      </p:sp>
    </p:spTree>
    <p:extLst>
      <p:ext uri="{BB962C8B-B14F-4D97-AF65-F5344CB8AC3E}">
        <p14:creationId xmlns:p14="http://schemas.microsoft.com/office/powerpoint/2010/main" val="12267785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pPr marL="0" indent="0">
              <a:buNone/>
            </a:pPr>
            <a:r>
              <a:rPr lang="en-US" sz="1800" b="1" dirty="0" smtClean="0"/>
              <a:t>1. Parity </a:t>
            </a:r>
            <a:r>
              <a:rPr lang="en-US" sz="1800" b="1" dirty="0"/>
              <a:t>Check </a:t>
            </a:r>
            <a:endParaRPr lang="en-US" sz="1800" b="1" dirty="0" smtClean="0"/>
          </a:p>
          <a:p>
            <a:r>
              <a:rPr lang="en-US" sz="1800" dirty="0" smtClean="0"/>
              <a:t>The </a:t>
            </a:r>
            <a:r>
              <a:rPr lang="en-US" sz="1800" dirty="0"/>
              <a:t>parity check is done by adding an extra bit, called parity bit to the data to make a number of 1s either even in case of even parity or odd in case of odd parity. </a:t>
            </a:r>
            <a:endParaRPr lang="en-US" sz="1800" dirty="0" smtClean="0"/>
          </a:p>
          <a:p>
            <a:endParaRPr lang="en-US" sz="1800" dirty="0"/>
          </a:p>
          <a:p>
            <a:r>
              <a:rPr lang="en-US" sz="1800" dirty="0" smtClean="0"/>
              <a:t>While </a:t>
            </a:r>
            <a:r>
              <a:rPr lang="en-US" sz="1800" dirty="0"/>
              <a:t>creating a frame, the sender counts the number of 1s in it and adds the parity bit in the following </a:t>
            </a:r>
            <a:r>
              <a:rPr lang="en-US" sz="1800" dirty="0" smtClean="0"/>
              <a:t>way</a:t>
            </a:r>
            <a:endParaRPr lang="en-IN" sz="1800"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200" y="4167188"/>
            <a:ext cx="6038850" cy="1476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603107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IN" sz="1800" b="1" dirty="0"/>
              <a:t>Parity </a:t>
            </a:r>
            <a:r>
              <a:rPr lang="en-IN" sz="1800" b="1" dirty="0" smtClean="0"/>
              <a:t>Check</a:t>
            </a:r>
          </a:p>
          <a:p>
            <a:endParaRPr lang="en-IN" sz="1800" b="1" dirty="0" smtClean="0"/>
          </a:p>
          <a:p>
            <a:r>
              <a:rPr lang="en-US" sz="1800" b="1" dirty="0"/>
              <a:t>Even parity: </a:t>
            </a:r>
            <a:r>
              <a:rPr lang="en-US" sz="1800" dirty="0"/>
              <a:t>If a number of 1s is even then parity bit value is 0. If the number of 1s is odd then parity bit value is 1. </a:t>
            </a:r>
            <a:endParaRPr lang="en-US" sz="1800" dirty="0" smtClean="0"/>
          </a:p>
          <a:p>
            <a:endParaRPr lang="en-US" sz="1800" dirty="0" smtClean="0"/>
          </a:p>
          <a:p>
            <a:r>
              <a:rPr lang="en-US" sz="1800" b="1" dirty="0" smtClean="0"/>
              <a:t>Odd </a:t>
            </a:r>
            <a:r>
              <a:rPr lang="en-US" sz="1800" b="1" dirty="0"/>
              <a:t>parity: </a:t>
            </a:r>
            <a:r>
              <a:rPr lang="en-US" sz="1800" dirty="0"/>
              <a:t>If a number of 1s is odd then parity bit value is 0. If a number of 1s is even then parity bit value is 1. </a:t>
            </a:r>
            <a:endParaRPr lang="en-US" sz="1800" dirty="0" smtClean="0"/>
          </a:p>
          <a:p>
            <a:endParaRPr lang="en-US" sz="1800" dirty="0"/>
          </a:p>
          <a:p>
            <a:r>
              <a:rPr lang="en-US" sz="1800" dirty="0" smtClean="0"/>
              <a:t>On </a:t>
            </a:r>
            <a:r>
              <a:rPr lang="en-US" sz="1800" dirty="0"/>
              <a:t>receiving a frame, the receiver counts the number of 1s in it. </a:t>
            </a:r>
            <a:endParaRPr lang="en-US" sz="1800" dirty="0" smtClean="0"/>
          </a:p>
          <a:p>
            <a:endParaRPr lang="en-US" sz="1800" dirty="0"/>
          </a:p>
          <a:p>
            <a:r>
              <a:rPr lang="en-US" sz="1800" dirty="0" smtClean="0"/>
              <a:t>In </a:t>
            </a:r>
            <a:r>
              <a:rPr lang="en-US" sz="1800" dirty="0"/>
              <a:t>case of even parity check, if the count of 1s is even, the frame is accepted, otherwise, it is rejected. </a:t>
            </a:r>
            <a:endParaRPr lang="en-US" sz="1800" dirty="0" smtClean="0"/>
          </a:p>
          <a:p>
            <a:endParaRPr lang="en-US" sz="1800" dirty="0"/>
          </a:p>
          <a:p>
            <a:r>
              <a:rPr lang="en-US" sz="1800" dirty="0" smtClean="0"/>
              <a:t>A </a:t>
            </a:r>
            <a:r>
              <a:rPr lang="en-US" sz="1800" dirty="0"/>
              <a:t>similar rule is adopted for odd parity check. The parity check is suitable for single bit error </a:t>
            </a:r>
            <a:r>
              <a:rPr lang="en-US" sz="1800"/>
              <a:t>detection </a:t>
            </a:r>
            <a:r>
              <a:rPr lang="en-US" sz="1800" smtClean="0"/>
              <a:t>only.</a:t>
            </a:r>
            <a:endParaRPr lang="en-IN" sz="1800" dirty="0"/>
          </a:p>
        </p:txBody>
      </p:sp>
    </p:spTree>
    <p:extLst>
      <p:ext uri="{BB962C8B-B14F-4D97-AF65-F5344CB8AC3E}">
        <p14:creationId xmlns:p14="http://schemas.microsoft.com/office/powerpoint/2010/main" val="31405391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pPr marL="0" indent="0">
              <a:buNone/>
            </a:pPr>
            <a:r>
              <a:rPr lang="en-US" sz="1800" b="1" dirty="0"/>
              <a:t>Single Parity Check </a:t>
            </a:r>
            <a:endParaRPr lang="en-US" sz="1800" b="1" dirty="0" smtClean="0"/>
          </a:p>
          <a:p>
            <a:endParaRPr lang="en-US" sz="1800" dirty="0"/>
          </a:p>
          <a:p>
            <a:r>
              <a:rPr lang="en-US" sz="1800" dirty="0" smtClean="0"/>
              <a:t>In </a:t>
            </a:r>
            <a:r>
              <a:rPr lang="en-US" sz="1800" dirty="0"/>
              <a:t>this technique, a redundant bit is also known as a parity bit which is appended at the end of the data unit so that the number of 1s becomes even. Therefore, the total number of transmitted bits would be 9 bits. </a:t>
            </a:r>
            <a:endParaRPr lang="en-US" sz="1800" dirty="0" smtClean="0"/>
          </a:p>
          <a:p>
            <a:endParaRPr lang="en-US" sz="1800" dirty="0"/>
          </a:p>
          <a:p>
            <a:r>
              <a:rPr lang="en-US" sz="1800" dirty="0" smtClean="0"/>
              <a:t>If </a:t>
            </a:r>
            <a:r>
              <a:rPr lang="en-US" sz="1800" dirty="0"/>
              <a:t>the number of 1s bits is odd, then parity bit 1 is appended and if the number of 1s bits is even, then parity bit 0 is appended at the end of the data unit. </a:t>
            </a:r>
            <a:endParaRPr lang="en-US" sz="1800" dirty="0" smtClean="0"/>
          </a:p>
          <a:p>
            <a:endParaRPr lang="en-US" sz="1800" dirty="0"/>
          </a:p>
          <a:p>
            <a:r>
              <a:rPr lang="en-US" sz="1800" dirty="0" smtClean="0"/>
              <a:t>At </a:t>
            </a:r>
            <a:r>
              <a:rPr lang="en-US" sz="1800" dirty="0"/>
              <a:t>the receiving end, the parity bit is calculated from the received data bits and compared with the received parity bit. </a:t>
            </a:r>
            <a:endParaRPr lang="en-US" sz="1800" dirty="0" smtClean="0"/>
          </a:p>
          <a:p>
            <a:endParaRPr lang="en-US" sz="1800" dirty="0"/>
          </a:p>
          <a:p>
            <a:r>
              <a:rPr lang="en-US" sz="1800" dirty="0" smtClean="0"/>
              <a:t>This </a:t>
            </a:r>
            <a:r>
              <a:rPr lang="en-US" sz="1800" dirty="0"/>
              <a:t>technique generates the total number of 1s even, so it is known as </a:t>
            </a:r>
            <a:r>
              <a:rPr lang="en-US" sz="1800" dirty="0" smtClean="0"/>
              <a:t>even parity checking</a:t>
            </a:r>
            <a:endParaRPr lang="en-IN" sz="1800" dirty="0"/>
          </a:p>
        </p:txBody>
      </p:sp>
    </p:spTree>
    <p:extLst>
      <p:ext uri="{BB962C8B-B14F-4D97-AF65-F5344CB8AC3E}">
        <p14:creationId xmlns:p14="http://schemas.microsoft.com/office/powerpoint/2010/main" val="4243955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pPr marL="0" indent="0">
              <a:buNone/>
            </a:pPr>
            <a:r>
              <a:rPr lang="en-IN" sz="1800" b="1" dirty="0"/>
              <a:t>Single Parity </a:t>
            </a:r>
            <a:r>
              <a:rPr lang="en-IN" sz="1800" b="1" dirty="0" smtClean="0"/>
              <a:t>Check</a:t>
            </a:r>
          </a:p>
          <a:p>
            <a:pPr marL="0" indent="0">
              <a:buNone/>
            </a:pPr>
            <a:endParaRPr lang="en-US" sz="1800" b="1" dirty="0"/>
          </a:p>
          <a:p>
            <a:pPr marL="0" indent="0">
              <a:buNone/>
            </a:pPr>
            <a:endParaRPr lang="en-US" sz="1800" b="1" dirty="0" smtClean="0"/>
          </a:p>
          <a:p>
            <a:pPr marL="0" indent="0">
              <a:buNone/>
            </a:pPr>
            <a:endParaRPr lang="en-US" sz="1800" b="1" dirty="0"/>
          </a:p>
          <a:p>
            <a:pPr marL="0" indent="0">
              <a:buNone/>
            </a:pPr>
            <a:endParaRPr lang="en-US" sz="1800" b="1" dirty="0" smtClean="0"/>
          </a:p>
          <a:p>
            <a:pPr marL="0" indent="0">
              <a:buNone/>
            </a:pPr>
            <a:endParaRPr lang="en-US" sz="1800" b="1" dirty="0"/>
          </a:p>
          <a:p>
            <a:pPr marL="0" indent="0">
              <a:buNone/>
            </a:pPr>
            <a:endParaRPr lang="en-US" sz="1800" b="1" dirty="0" smtClean="0"/>
          </a:p>
          <a:p>
            <a:pPr marL="0" indent="0">
              <a:buNone/>
            </a:pPr>
            <a:endParaRPr lang="en-US" sz="1800" b="1" dirty="0"/>
          </a:p>
          <a:p>
            <a:pPr marL="0" indent="0">
              <a:buNone/>
            </a:pPr>
            <a:endParaRPr lang="en-US" sz="1800" b="1" dirty="0" smtClean="0"/>
          </a:p>
          <a:p>
            <a:pPr marL="0" indent="0">
              <a:buNone/>
            </a:pPr>
            <a:endParaRPr lang="en-IN" sz="1800" b="1" dirty="0" smtClean="0"/>
          </a:p>
          <a:p>
            <a:pPr marL="0" indent="0">
              <a:buNone/>
            </a:pPr>
            <a:r>
              <a:rPr lang="en-US" sz="1800" b="1" dirty="0"/>
              <a:t>Drawbacks Of Single Parity Checking </a:t>
            </a:r>
            <a:endParaRPr lang="en-US" sz="1800" b="1" dirty="0" smtClean="0"/>
          </a:p>
          <a:p>
            <a:r>
              <a:rPr lang="en-US" sz="1800" dirty="0" smtClean="0"/>
              <a:t>It </a:t>
            </a:r>
            <a:r>
              <a:rPr lang="en-US" sz="1800" dirty="0"/>
              <a:t>can only detect single-bit errors which are very rare. </a:t>
            </a:r>
            <a:endParaRPr lang="en-US" sz="1800" dirty="0" smtClean="0"/>
          </a:p>
          <a:p>
            <a:r>
              <a:rPr lang="en-US" sz="1800" dirty="0" smtClean="0"/>
              <a:t>If </a:t>
            </a:r>
            <a:r>
              <a:rPr lang="en-US" sz="1800" dirty="0"/>
              <a:t>two bits are interchanged, then it cannot detect the errors</a:t>
            </a:r>
            <a:endParaRPr lang="en-IN" sz="1800" dirty="0"/>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33563" y="2209801"/>
            <a:ext cx="4262437" cy="25871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311336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US" sz="1800" b="1" dirty="0"/>
              <a:t>Two-Dimensional Parity Check </a:t>
            </a:r>
            <a:endParaRPr lang="en-US" sz="1800" b="1" dirty="0" smtClean="0"/>
          </a:p>
          <a:p>
            <a:endParaRPr lang="en-US" sz="1800" b="1" dirty="0" smtClean="0"/>
          </a:p>
          <a:p>
            <a:r>
              <a:rPr lang="en-US" sz="1800" dirty="0" smtClean="0"/>
              <a:t>Performance </a:t>
            </a:r>
            <a:r>
              <a:rPr lang="en-US" sz="1800" dirty="0"/>
              <a:t>can be improved by using </a:t>
            </a:r>
            <a:r>
              <a:rPr lang="en-US" sz="1800" b="1" dirty="0"/>
              <a:t>Two-Dimensional Parity Check</a:t>
            </a:r>
            <a:r>
              <a:rPr lang="en-US" sz="1800" dirty="0"/>
              <a:t> which organizes the data in the form of a table. </a:t>
            </a:r>
            <a:endParaRPr lang="en-US" sz="1800" dirty="0" smtClean="0"/>
          </a:p>
          <a:p>
            <a:endParaRPr lang="en-US" sz="1800" dirty="0"/>
          </a:p>
          <a:p>
            <a:r>
              <a:rPr lang="en-US" sz="1800" dirty="0" smtClean="0"/>
              <a:t>Parity </a:t>
            </a:r>
            <a:r>
              <a:rPr lang="en-US" sz="1800" dirty="0"/>
              <a:t>check bits are computed for each row, which is equivalent to the single-parity check. </a:t>
            </a:r>
            <a:endParaRPr lang="en-US" sz="1800" dirty="0" smtClean="0"/>
          </a:p>
          <a:p>
            <a:endParaRPr lang="en-US" sz="1800" dirty="0"/>
          </a:p>
          <a:p>
            <a:r>
              <a:rPr lang="en-US" sz="1800" dirty="0" smtClean="0"/>
              <a:t>Here</a:t>
            </a:r>
            <a:r>
              <a:rPr lang="en-US" sz="1800" dirty="0"/>
              <a:t>, a block of bits is divided into rows, and the redundant row of bits is added to the whole block</a:t>
            </a:r>
            <a:r>
              <a:rPr lang="en-US" sz="1800" dirty="0" smtClean="0"/>
              <a:t>.</a:t>
            </a:r>
          </a:p>
          <a:p>
            <a:endParaRPr lang="en-US" sz="1800" dirty="0"/>
          </a:p>
          <a:p>
            <a:r>
              <a:rPr lang="en-US" sz="1800" dirty="0" smtClean="0"/>
              <a:t>At </a:t>
            </a:r>
            <a:r>
              <a:rPr lang="en-US" sz="1800" dirty="0"/>
              <a:t>the receiving end, the parity bits are compared with the parity bits computed from the received </a:t>
            </a:r>
            <a:r>
              <a:rPr lang="en-US" sz="1800" dirty="0" smtClean="0"/>
              <a:t>data</a:t>
            </a:r>
            <a:endParaRPr lang="en-IN" sz="1800" dirty="0"/>
          </a:p>
        </p:txBody>
      </p:sp>
    </p:spTree>
    <p:extLst>
      <p:ext uri="{BB962C8B-B14F-4D97-AF65-F5344CB8AC3E}">
        <p14:creationId xmlns:p14="http://schemas.microsoft.com/office/powerpoint/2010/main" val="37758754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endParaRPr lang="en-IN" sz="1800" b="1" dirty="0" smtClean="0"/>
          </a:p>
          <a:p>
            <a:endParaRPr lang="en-US" sz="1800" dirty="0" smtClean="0"/>
          </a:p>
          <a:p>
            <a:endParaRPr lang="en-US" sz="1800" dirty="0"/>
          </a:p>
          <a:p>
            <a:endParaRPr lang="en-US" sz="1800" dirty="0" smtClean="0"/>
          </a:p>
          <a:p>
            <a:endParaRPr lang="en-US" sz="1800" dirty="0"/>
          </a:p>
          <a:p>
            <a:endParaRPr lang="en-US" sz="1800" dirty="0" smtClean="0"/>
          </a:p>
          <a:p>
            <a:endParaRPr lang="en-US" sz="1800" dirty="0"/>
          </a:p>
          <a:p>
            <a:endParaRPr lang="en-IN" sz="1800" dirty="0" smtClean="0"/>
          </a:p>
        </p:txBody>
      </p:sp>
      <p:pic>
        <p:nvPicPr>
          <p:cNvPr id="1029" name="Picture 5" descr="C:\Users\iims.faculty\Desktop\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1752600"/>
            <a:ext cx="6773863" cy="42814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660703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pPr marL="0" indent="0">
              <a:buNone/>
            </a:pPr>
            <a:r>
              <a:rPr lang="en-US" sz="1800" b="1" dirty="0"/>
              <a:t>Drawbacks Of 2D Parity Check </a:t>
            </a:r>
          </a:p>
          <a:p>
            <a:endParaRPr lang="en-US" sz="1800" dirty="0"/>
          </a:p>
          <a:p>
            <a:r>
              <a:rPr lang="en-US" sz="1800" dirty="0"/>
              <a:t>If two bits in one data unit are corrupted and two bits exactly the same position in another data unit are also corrupted, then 2D Parity checker will not be able to detect the error. </a:t>
            </a:r>
          </a:p>
          <a:p>
            <a:endParaRPr lang="en-US" sz="1800" dirty="0"/>
          </a:p>
          <a:p>
            <a:r>
              <a:rPr lang="en-US" sz="1800" dirty="0"/>
              <a:t>This technique cannot be used to detect the 4-bit errors or more in some cases. </a:t>
            </a:r>
            <a:endParaRPr lang="en-IN" sz="1800" dirty="0"/>
          </a:p>
          <a:p>
            <a:endParaRPr lang="en-IN" dirty="0"/>
          </a:p>
        </p:txBody>
      </p:sp>
    </p:spTree>
    <p:extLst>
      <p:ext uri="{BB962C8B-B14F-4D97-AF65-F5344CB8AC3E}">
        <p14:creationId xmlns:p14="http://schemas.microsoft.com/office/powerpoint/2010/main" val="160265061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fontScale="32500" lnSpcReduction="20000"/>
          </a:bodyPr>
          <a:lstStyle/>
          <a:p>
            <a:pPr marL="0" indent="0">
              <a:buNone/>
            </a:pPr>
            <a:r>
              <a:rPr lang="en-US" sz="4900" b="1" dirty="0"/>
              <a:t>2</a:t>
            </a:r>
            <a:r>
              <a:rPr lang="en-US" sz="4900" b="1" dirty="0" smtClean="0"/>
              <a:t>. Checksum</a:t>
            </a:r>
            <a:r>
              <a:rPr lang="en-US" sz="4900" dirty="0" smtClean="0"/>
              <a:t> </a:t>
            </a:r>
          </a:p>
          <a:p>
            <a:endParaRPr lang="en-US" sz="4900" dirty="0"/>
          </a:p>
          <a:p>
            <a:r>
              <a:rPr lang="en-US" sz="4900" dirty="0" smtClean="0"/>
              <a:t>A </a:t>
            </a:r>
            <a:r>
              <a:rPr lang="en-US" sz="4900" dirty="0"/>
              <a:t>Checksum is an error detection technique based on the concept of redundancy. </a:t>
            </a:r>
            <a:endParaRPr lang="en-US" sz="4900" dirty="0" smtClean="0"/>
          </a:p>
          <a:p>
            <a:endParaRPr lang="en-US" sz="4900" dirty="0"/>
          </a:p>
          <a:p>
            <a:r>
              <a:rPr lang="en-US" sz="4900" b="1" dirty="0" smtClean="0"/>
              <a:t>It </a:t>
            </a:r>
            <a:r>
              <a:rPr lang="en-US" sz="4900" b="1" dirty="0"/>
              <a:t>is divided into two parts: </a:t>
            </a:r>
            <a:endParaRPr lang="en-US" sz="4900" b="1" dirty="0" smtClean="0"/>
          </a:p>
          <a:p>
            <a:endParaRPr lang="en-US" sz="4900" dirty="0"/>
          </a:p>
          <a:p>
            <a:pPr marL="0" indent="0">
              <a:buNone/>
            </a:pPr>
            <a:r>
              <a:rPr lang="en-US" sz="4900" dirty="0" smtClean="0"/>
              <a:t>	1</a:t>
            </a:r>
            <a:r>
              <a:rPr lang="en-US" sz="4900" dirty="0"/>
              <a:t>. Checksum Generator </a:t>
            </a:r>
            <a:endParaRPr lang="en-US" sz="4900" dirty="0" smtClean="0"/>
          </a:p>
          <a:p>
            <a:pPr marL="0" indent="0">
              <a:buNone/>
            </a:pPr>
            <a:r>
              <a:rPr lang="en-US" sz="4900" dirty="0" smtClean="0"/>
              <a:t>	2</a:t>
            </a:r>
            <a:r>
              <a:rPr lang="en-US" sz="4900" dirty="0"/>
              <a:t>. Checksum Checker </a:t>
            </a:r>
            <a:endParaRPr lang="en-US" sz="4900" dirty="0" smtClean="0"/>
          </a:p>
          <a:p>
            <a:endParaRPr lang="en-US" sz="4900" dirty="0"/>
          </a:p>
          <a:p>
            <a:r>
              <a:rPr lang="en-US" sz="4900" dirty="0" smtClean="0"/>
              <a:t>Here</a:t>
            </a:r>
            <a:r>
              <a:rPr lang="en-US" sz="4900" dirty="0"/>
              <a:t>, Data is divided into fixed sized frames or segments. </a:t>
            </a:r>
            <a:endParaRPr lang="en-US" sz="4900" dirty="0" smtClean="0"/>
          </a:p>
          <a:p>
            <a:endParaRPr lang="en-US" sz="4900" dirty="0"/>
          </a:p>
          <a:p>
            <a:r>
              <a:rPr lang="en-US" sz="4900" dirty="0" smtClean="0"/>
              <a:t>The sender adds the segments using 1’s complements arithmetic to get the sum. It then complements </a:t>
            </a:r>
            <a:r>
              <a:rPr lang="en-US" sz="4900" dirty="0"/>
              <a:t>the sum to get the checksum and sends it along with the data frames. </a:t>
            </a:r>
            <a:endParaRPr lang="en-US" sz="4900" dirty="0" smtClean="0"/>
          </a:p>
          <a:p>
            <a:endParaRPr lang="en-US" sz="4900" dirty="0"/>
          </a:p>
          <a:p>
            <a:r>
              <a:rPr lang="en-US" sz="4900" dirty="0" smtClean="0"/>
              <a:t>The receiver adds the incoming segments along with the checksum using 1’s complement </a:t>
            </a:r>
            <a:r>
              <a:rPr lang="en-US" sz="4900" dirty="0"/>
              <a:t>arithmetic to get the sum and then complements it. If the result is zero, the received frames are accepted; otherwise, they are discarded</a:t>
            </a:r>
            <a:endParaRPr lang="en-IN" dirty="0"/>
          </a:p>
        </p:txBody>
      </p:sp>
    </p:spTree>
    <p:extLst>
      <p:ext uri="{BB962C8B-B14F-4D97-AF65-F5344CB8AC3E}">
        <p14:creationId xmlns:p14="http://schemas.microsoft.com/office/powerpoint/2010/main" val="23396108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pPr marL="0" indent="0">
              <a:buNone/>
            </a:pPr>
            <a:r>
              <a:rPr lang="en-IN" sz="1800" b="1" dirty="0" smtClean="0"/>
              <a:t>Checksum</a:t>
            </a:r>
          </a:p>
          <a:p>
            <a:pPr marL="0" indent="0">
              <a:buNone/>
            </a:pPr>
            <a:endParaRPr lang="en-IN" sz="1800" b="1" dirty="0" smtClean="0"/>
          </a:p>
          <a:p>
            <a:pPr marL="0" indent="0">
              <a:buNone/>
            </a:pPr>
            <a:r>
              <a:rPr lang="en-US" sz="1800" b="1" dirty="0" smtClean="0"/>
              <a:t>The sender follows following steps:</a:t>
            </a:r>
          </a:p>
          <a:p>
            <a:endParaRPr lang="en-US" sz="1800" dirty="0" smtClean="0"/>
          </a:p>
          <a:p>
            <a:r>
              <a:rPr lang="en-US" sz="1800" dirty="0" smtClean="0"/>
              <a:t>The block unit is divided into k sections, and each of n bits.</a:t>
            </a:r>
          </a:p>
          <a:p>
            <a:endParaRPr lang="en-US" sz="1800" dirty="0" smtClean="0"/>
          </a:p>
          <a:p>
            <a:r>
              <a:rPr lang="en-US" sz="1800" dirty="0" smtClean="0"/>
              <a:t>All the k sections are added together by using 1’s Complement to get the sum.</a:t>
            </a:r>
          </a:p>
          <a:p>
            <a:endParaRPr lang="en-US" sz="1800" dirty="0" smtClean="0"/>
          </a:p>
          <a:p>
            <a:r>
              <a:rPr lang="en-US" sz="1800" dirty="0" smtClean="0"/>
              <a:t>The sum is complimented and it becomes the checksum field.</a:t>
            </a:r>
          </a:p>
          <a:p>
            <a:endParaRPr lang="en-US" sz="1800" dirty="0" smtClean="0"/>
          </a:p>
          <a:p>
            <a:r>
              <a:rPr lang="en-US" sz="1800" dirty="0" smtClean="0"/>
              <a:t>The original data and checksum field are sent across the network. </a:t>
            </a:r>
            <a:endParaRPr lang="en-IN" sz="1800" dirty="0"/>
          </a:p>
        </p:txBody>
      </p:sp>
    </p:spTree>
    <p:extLst>
      <p:ext uri="{BB962C8B-B14F-4D97-AF65-F5344CB8AC3E}">
        <p14:creationId xmlns:p14="http://schemas.microsoft.com/office/powerpoint/2010/main" val="20605363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US" sz="1600" b="1" dirty="0"/>
              <a:t>Checksum Checker </a:t>
            </a:r>
            <a:endParaRPr lang="en-US" sz="1600" b="1" dirty="0" smtClean="0"/>
          </a:p>
          <a:p>
            <a:endParaRPr lang="en-US" sz="1600" dirty="0"/>
          </a:p>
          <a:p>
            <a:r>
              <a:rPr lang="en-US" sz="1600" dirty="0" smtClean="0"/>
              <a:t>A </a:t>
            </a:r>
            <a:r>
              <a:rPr lang="en-US" sz="1600" dirty="0"/>
              <a:t>Checksum is verified at the receiving side. The receiver subdivides the incoming data into equal segments of n bits each, and all these segments are added together, and then this sum is complemented. If the complement of the sum is zero, then the data is accepted otherwise data is rejected. </a:t>
            </a:r>
            <a:endParaRPr lang="en-US" sz="1600" dirty="0" smtClean="0"/>
          </a:p>
          <a:p>
            <a:endParaRPr lang="en-US" sz="1600" dirty="0"/>
          </a:p>
          <a:p>
            <a:pPr marL="0" indent="0">
              <a:buNone/>
            </a:pPr>
            <a:r>
              <a:rPr lang="en-US" sz="1600" b="1" dirty="0" smtClean="0"/>
              <a:t>The </a:t>
            </a:r>
            <a:r>
              <a:rPr lang="en-US" sz="1600" b="1" dirty="0"/>
              <a:t>Receiver follows the given steps: </a:t>
            </a:r>
            <a:endParaRPr lang="en-US" sz="1600" b="1" dirty="0" smtClean="0"/>
          </a:p>
          <a:p>
            <a:endParaRPr lang="en-US" sz="1600" dirty="0"/>
          </a:p>
          <a:p>
            <a:r>
              <a:rPr lang="en-US" sz="1600" dirty="0" smtClean="0"/>
              <a:t>The </a:t>
            </a:r>
            <a:r>
              <a:rPr lang="en-US" sz="1600" dirty="0"/>
              <a:t>block unit is divided into k sections and each of n bits</a:t>
            </a:r>
            <a:r>
              <a:rPr lang="en-US" sz="1600" dirty="0" smtClean="0"/>
              <a:t>.</a:t>
            </a:r>
          </a:p>
          <a:p>
            <a:endParaRPr lang="en-US" sz="1600" dirty="0" smtClean="0"/>
          </a:p>
          <a:p>
            <a:r>
              <a:rPr lang="en-US" sz="1600" dirty="0" smtClean="0"/>
              <a:t>All </a:t>
            </a:r>
            <a:r>
              <a:rPr lang="en-US" sz="1600" dirty="0"/>
              <a:t>the k sections are added together by using one's complement </a:t>
            </a:r>
            <a:r>
              <a:rPr lang="en-US" sz="1600" dirty="0" smtClean="0"/>
              <a:t>algorithm to get the sum.</a:t>
            </a:r>
          </a:p>
          <a:p>
            <a:endParaRPr lang="en-US" sz="1600" dirty="0"/>
          </a:p>
          <a:p>
            <a:r>
              <a:rPr lang="en-US" sz="1600" dirty="0" smtClean="0"/>
              <a:t>The sum is complemented.</a:t>
            </a:r>
          </a:p>
          <a:p>
            <a:endParaRPr lang="en-US" sz="1600" dirty="0" smtClean="0"/>
          </a:p>
          <a:p>
            <a:r>
              <a:rPr lang="en-US" sz="1600" dirty="0" smtClean="0"/>
              <a:t>If the result of the sum is zero, then data is accepted otherwise the data is discarded.</a:t>
            </a:r>
            <a:endParaRPr lang="en-IN" sz="1600" dirty="0"/>
          </a:p>
        </p:txBody>
      </p:sp>
    </p:spTree>
    <p:extLst>
      <p:ext uri="{BB962C8B-B14F-4D97-AF65-F5344CB8AC3E}">
        <p14:creationId xmlns:p14="http://schemas.microsoft.com/office/powerpoint/2010/main" val="1133054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038" y="1905000"/>
            <a:ext cx="7019925" cy="3676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4241521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fontScale="92500" lnSpcReduction="10000"/>
          </a:bodyPr>
          <a:lstStyle/>
          <a:p>
            <a:pPr marL="0" indent="0">
              <a:buNone/>
            </a:pPr>
            <a:r>
              <a:rPr lang="en-US" sz="1900" b="1" dirty="0" smtClean="0"/>
              <a:t>Example:</a:t>
            </a:r>
          </a:p>
          <a:p>
            <a:pPr marL="0" indent="0">
              <a:buNone/>
            </a:pPr>
            <a:endParaRPr lang="en-US" sz="1900" b="1" dirty="0" smtClean="0"/>
          </a:p>
          <a:p>
            <a:r>
              <a:rPr lang="en-US" sz="1900" dirty="0" smtClean="0"/>
              <a:t>Suppose </a:t>
            </a:r>
            <a:r>
              <a:rPr lang="en-US" sz="1900" dirty="0"/>
              <a:t>that the sender wants to send 4 frames each of 8 bits, where the frames are </a:t>
            </a:r>
            <a:r>
              <a:rPr lang="en-US" sz="1900" b="1" dirty="0"/>
              <a:t>11001100</a:t>
            </a:r>
            <a:r>
              <a:rPr lang="en-US" sz="1900" dirty="0"/>
              <a:t>, </a:t>
            </a:r>
            <a:r>
              <a:rPr lang="en-US" sz="1900" b="1" dirty="0"/>
              <a:t>10101010</a:t>
            </a:r>
            <a:r>
              <a:rPr lang="en-US" sz="1900" dirty="0"/>
              <a:t>, </a:t>
            </a:r>
            <a:r>
              <a:rPr lang="en-US" sz="1900" b="1" dirty="0"/>
              <a:t>11110000</a:t>
            </a:r>
            <a:r>
              <a:rPr lang="en-US" sz="1900" dirty="0"/>
              <a:t> and </a:t>
            </a:r>
            <a:r>
              <a:rPr lang="en-US" sz="1900" b="1" dirty="0"/>
              <a:t>11000011</a:t>
            </a:r>
            <a:r>
              <a:rPr lang="en-US" sz="1900" dirty="0" smtClean="0"/>
              <a:t>.</a:t>
            </a:r>
          </a:p>
          <a:p>
            <a:endParaRPr lang="en-US" sz="1900" dirty="0"/>
          </a:p>
          <a:p>
            <a:r>
              <a:rPr lang="en-US" sz="1900" dirty="0"/>
              <a:t>The sender adds the bits using 1s complement arithmetic. While adding two numbers using 1s complement arithmetic, if there is a carry over, it is added to the sum</a:t>
            </a:r>
            <a:r>
              <a:rPr lang="en-US" sz="1900" dirty="0" smtClean="0"/>
              <a:t>.</a:t>
            </a:r>
          </a:p>
          <a:p>
            <a:endParaRPr lang="en-US" sz="1900" dirty="0"/>
          </a:p>
          <a:p>
            <a:r>
              <a:rPr lang="en-US" sz="1900" dirty="0"/>
              <a:t>After adding all the 4 frames, the sender complements the sum to get the checksum, </a:t>
            </a:r>
            <a:r>
              <a:rPr lang="en-US" sz="1900" b="1" dirty="0"/>
              <a:t>11010011</a:t>
            </a:r>
            <a:r>
              <a:rPr lang="en-US" sz="1900" dirty="0"/>
              <a:t>, and sends it along with the data frames</a:t>
            </a:r>
            <a:r>
              <a:rPr lang="en-US" sz="1900" dirty="0" smtClean="0"/>
              <a:t>.</a:t>
            </a:r>
          </a:p>
          <a:p>
            <a:endParaRPr lang="en-US" sz="1900" dirty="0"/>
          </a:p>
          <a:p>
            <a:r>
              <a:rPr lang="en-US" sz="1900" dirty="0"/>
              <a:t>The receiver performs 1s complement arithmetic sum of all the frames including the checksum. The result is complemented and found to be 0. Hence, the receiver assumes that no error has occurred.</a:t>
            </a:r>
          </a:p>
          <a:p>
            <a:endParaRPr lang="en-IN" dirty="0"/>
          </a:p>
        </p:txBody>
      </p:sp>
    </p:spTree>
    <p:extLst>
      <p:ext uri="{BB962C8B-B14F-4D97-AF65-F5344CB8AC3E}">
        <p14:creationId xmlns:p14="http://schemas.microsoft.com/office/powerpoint/2010/main" val="16768658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lstStyle/>
          <a:p>
            <a:r>
              <a:rPr lang="en-US" sz="2000" b="1" dirty="0"/>
              <a:t>Checksum </a:t>
            </a:r>
          </a:p>
          <a:p>
            <a:endParaRPr lang="en-IN" dirty="0"/>
          </a:p>
        </p:txBody>
      </p:sp>
      <p:pic>
        <p:nvPicPr>
          <p:cNvPr id="2050" name="Picture 2" descr="https://www.tutorialspoint.com/assets/questions/media/15760/29.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2057400"/>
            <a:ext cx="4562475" cy="43243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6651022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US" sz="1800" b="1" dirty="0" smtClean="0"/>
              <a:t>3. Cyclic </a:t>
            </a:r>
            <a:r>
              <a:rPr lang="en-US" sz="1800" b="1" dirty="0"/>
              <a:t>Redundancy Check (CRC) </a:t>
            </a:r>
            <a:endParaRPr lang="en-US" sz="1800" b="1" dirty="0" smtClean="0"/>
          </a:p>
          <a:p>
            <a:endParaRPr lang="en-US" sz="1800" dirty="0"/>
          </a:p>
          <a:p>
            <a:r>
              <a:rPr lang="en-US" sz="1800" dirty="0" smtClean="0"/>
              <a:t>CRC </a:t>
            </a:r>
            <a:r>
              <a:rPr lang="en-US" sz="1800" dirty="0"/>
              <a:t>is a redundancy error technique used to determine the error. </a:t>
            </a:r>
            <a:endParaRPr lang="en-US" sz="1800" dirty="0" smtClean="0"/>
          </a:p>
          <a:p>
            <a:endParaRPr lang="en-US" sz="1800" dirty="0"/>
          </a:p>
          <a:p>
            <a:pPr marL="0" indent="0">
              <a:buNone/>
            </a:pPr>
            <a:r>
              <a:rPr lang="en-US" sz="1800" b="1" dirty="0" smtClean="0"/>
              <a:t>Following </a:t>
            </a:r>
            <a:r>
              <a:rPr lang="en-US" sz="1800" b="1" dirty="0"/>
              <a:t>are the steps used in CRC for error detection: </a:t>
            </a:r>
            <a:endParaRPr lang="en-US" sz="1800" b="1" dirty="0" smtClean="0"/>
          </a:p>
          <a:p>
            <a:endParaRPr lang="en-US" sz="1800" dirty="0"/>
          </a:p>
          <a:p>
            <a:pPr marL="0" indent="0">
              <a:buNone/>
            </a:pPr>
            <a:r>
              <a:rPr lang="en-US" sz="1800" dirty="0" smtClean="0"/>
              <a:t>1</a:t>
            </a:r>
            <a:r>
              <a:rPr lang="en-US" sz="1800" dirty="0"/>
              <a:t>. A string of n 0s is appended to the data unit, and this n number is less than the number of bits in a predetermined number, known as division which is n+1 bits. </a:t>
            </a:r>
            <a:endParaRPr lang="en-US" sz="1800" dirty="0" smtClean="0"/>
          </a:p>
          <a:p>
            <a:endParaRPr lang="en-US" sz="1800" dirty="0"/>
          </a:p>
          <a:p>
            <a:pPr marL="0" indent="0">
              <a:buNone/>
            </a:pPr>
            <a:r>
              <a:rPr lang="en-US" sz="1800" dirty="0" smtClean="0"/>
              <a:t>2</a:t>
            </a:r>
            <a:r>
              <a:rPr lang="en-US" sz="1800" dirty="0"/>
              <a:t>. The newly extended data is divided by a divisor using a process is known as binary division. The remainder generated from this division is known as CRC remainder</a:t>
            </a:r>
            <a:endParaRPr lang="en-IN" sz="1800" dirty="0"/>
          </a:p>
        </p:txBody>
      </p:sp>
    </p:spTree>
    <p:extLst>
      <p:ext uri="{BB962C8B-B14F-4D97-AF65-F5344CB8AC3E}">
        <p14:creationId xmlns:p14="http://schemas.microsoft.com/office/powerpoint/2010/main" val="163369985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US" sz="2000" b="1" dirty="0"/>
              <a:t>Cyclic Redundancy Check (CRC) </a:t>
            </a:r>
            <a:endParaRPr lang="en-US" sz="2000" b="1" dirty="0" smtClean="0"/>
          </a:p>
          <a:p>
            <a:endParaRPr lang="en-US" sz="2000" dirty="0"/>
          </a:p>
          <a:p>
            <a:pPr marL="0" indent="0">
              <a:buNone/>
            </a:pPr>
            <a:r>
              <a:rPr lang="en-US" sz="2000" dirty="0" smtClean="0"/>
              <a:t>3</a:t>
            </a:r>
            <a:r>
              <a:rPr lang="en-US" sz="2000" dirty="0"/>
              <a:t>. CRC remainder replaces the appended 0s at the end of the original data. This newly generated unit is sent to the receiver. </a:t>
            </a:r>
            <a:endParaRPr lang="en-US" sz="2000" dirty="0" smtClean="0"/>
          </a:p>
          <a:p>
            <a:endParaRPr lang="en-US" sz="2000" dirty="0"/>
          </a:p>
          <a:p>
            <a:pPr marL="0" indent="0">
              <a:buNone/>
            </a:pPr>
            <a:r>
              <a:rPr lang="en-US" sz="2000" dirty="0" smtClean="0"/>
              <a:t>4</a:t>
            </a:r>
            <a:r>
              <a:rPr lang="en-US" sz="2000" dirty="0"/>
              <a:t>. The receiver receives the data followed by the CRC remainder. The receiver will treat this whole unit as a single unit, and it is divided by the same divisor that was used to find the CRC remainder. </a:t>
            </a:r>
            <a:endParaRPr lang="en-IN" sz="2000" dirty="0"/>
          </a:p>
        </p:txBody>
      </p:sp>
    </p:spTree>
    <p:extLst>
      <p:ext uri="{BB962C8B-B14F-4D97-AF65-F5344CB8AC3E}">
        <p14:creationId xmlns:p14="http://schemas.microsoft.com/office/powerpoint/2010/main" val="16106423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a:bodyPr>
          <a:lstStyle/>
          <a:p>
            <a:r>
              <a:rPr lang="en-US" sz="1800" dirty="0"/>
              <a:t>If the resultant of this division is zero which means that it has no error, and the data is accepted. </a:t>
            </a:r>
            <a:endParaRPr lang="en-US" sz="1800" dirty="0" smtClean="0"/>
          </a:p>
          <a:p>
            <a:endParaRPr lang="en-US" sz="1800" dirty="0"/>
          </a:p>
          <a:p>
            <a:r>
              <a:rPr lang="en-US" sz="1800" dirty="0" smtClean="0"/>
              <a:t>If </a:t>
            </a:r>
            <a:r>
              <a:rPr lang="en-US" sz="1800" dirty="0"/>
              <a:t>the resultant of this division is not zero which means that the data consists of an error. Therefore, the data is discarded. </a:t>
            </a:r>
            <a:endParaRPr lang="en-IN" sz="1800" dirty="0"/>
          </a:p>
        </p:txBody>
      </p:sp>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1200" y="3733800"/>
            <a:ext cx="5238750" cy="236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2116688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rmAutofit fontScale="55000" lnSpcReduction="20000"/>
          </a:bodyPr>
          <a:lstStyle/>
          <a:p>
            <a:pPr marL="0" indent="0">
              <a:buNone/>
            </a:pPr>
            <a:r>
              <a:rPr lang="en-US" b="1" dirty="0" smtClean="0"/>
              <a:t>Ex: </a:t>
            </a:r>
            <a:r>
              <a:rPr lang="en-US" dirty="0"/>
              <a:t>Suppose the original data is 11100 and divisor is 1001. </a:t>
            </a:r>
            <a:endParaRPr lang="en-US" dirty="0" smtClean="0"/>
          </a:p>
          <a:p>
            <a:endParaRPr lang="en-US" dirty="0"/>
          </a:p>
          <a:p>
            <a:pPr marL="0" indent="0">
              <a:buNone/>
            </a:pPr>
            <a:r>
              <a:rPr lang="en-US" b="1" dirty="0" smtClean="0"/>
              <a:t>CRC Generator:</a:t>
            </a:r>
          </a:p>
          <a:p>
            <a:endParaRPr lang="en-US" dirty="0"/>
          </a:p>
          <a:p>
            <a:r>
              <a:rPr lang="en-US" dirty="0" smtClean="0"/>
              <a:t>A </a:t>
            </a:r>
            <a:r>
              <a:rPr lang="en-US" dirty="0"/>
              <a:t>CRC generator uses a modulo-2 division. Firstly, three zeroes are appended at the end of the data as the length of the divisor is 4 and we know that the length of the string 0s to be appended is always one less than the length of the divisor. </a:t>
            </a:r>
            <a:endParaRPr lang="en-US" dirty="0" smtClean="0"/>
          </a:p>
          <a:p>
            <a:endParaRPr lang="en-US" dirty="0"/>
          </a:p>
          <a:p>
            <a:r>
              <a:rPr lang="en-US" dirty="0" smtClean="0"/>
              <a:t>Now</a:t>
            </a:r>
            <a:r>
              <a:rPr lang="en-US" dirty="0"/>
              <a:t>, the string becomes 11100000, and the resultant string is divided by the divisor 1001. </a:t>
            </a:r>
            <a:endParaRPr lang="en-US" dirty="0" smtClean="0"/>
          </a:p>
          <a:p>
            <a:endParaRPr lang="en-US" dirty="0"/>
          </a:p>
          <a:p>
            <a:r>
              <a:rPr lang="en-US" dirty="0" smtClean="0"/>
              <a:t>The </a:t>
            </a:r>
            <a:r>
              <a:rPr lang="en-US" dirty="0"/>
              <a:t>remainder generated from the binary division is known as CRC remainder. The generated value of the CRC remainder is 111. </a:t>
            </a:r>
            <a:endParaRPr lang="en-US" dirty="0" smtClean="0"/>
          </a:p>
          <a:p>
            <a:endParaRPr lang="en-US" dirty="0"/>
          </a:p>
          <a:p>
            <a:r>
              <a:rPr lang="en-US" dirty="0" smtClean="0"/>
              <a:t>CRC </a:t>
            </a:r>
            <a:r>
              <a:rPr lang="en-US" dirty="0"/>
              <a:t>remainder replaces the appended string of 0s at the end of the data unit, and the final string would be 11100111 which is sent across the network. </a:t>
            </a:r>
            <a:endParaRPr lang="en-IN" dirty="0"/>
          </a:p>
        </p:txBody>
      </p:sp>
    </p:spTree>
    <p:extLst>
      <p:ext uri="{BB962C8B-B14F-4D97-AF65-F5344CB8AC3E}">
        <p14:creationId xmlns:p14="http://schemas.microsoft.com/office/powerpoint/2010/main" val="4333900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1905000"/>
            <a:ext cx="5029200" cy="4017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402166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sp>
        <p:nvSpPr>
          <p:cNvPr id="3" name="Content Placeholder 2"/>
          <p:cNvSpPr>
            <a:spLocks noGrp="1"/>
          </p:cNvSpPr>
          <p:nvPr>
            <p:ph idx="1"/>
          </p:nvPr>
        </p:nvSpPr>
        <p:spPr/>
        <p:txBody>
          <a:bodyPr>
            <a:noAutofit/>
          </a:bodyPr>
          <a:lstStyle/>
          <a:p>
            <a:pPr marL="0" indent="0">
              <a:buNone/>
            </a:pPr>
            <a:r>
              <a:rPr lang="en-US" sz="1800" b="1" dirty="0"/>
              <a:t>CRC Checker </a:t>
            </a:r>
            <a:endParaRPr lang="en-US" sz="1800" b="1" dirty="0" smtClean="0"/>
          </a:p>
          <a:p>
            <a:endParaRPr lang="en-US" sz="1800" dirty="0" smtClean="0"/>
          </a:p>
          <a:p>
            <a:r>
              <a:rPr lang="en-US" sz="1800" dirty="0" smtClean="0"/>
              <a:t>The </a:t>
            </a:r>
            <a:r>
              <a:rPr lang="en-US" sz="1800" dirty="0"/>
              <a:t>functionality of the CRC checker is similar to the CRC generator. </a:t>
            </a:r>
            <a:endParaRPr lang="en-US" sz="1800" dirty="0" smtClean="0"/>
          </a:p>
          <a:p>
            <a:endParaRPr lang="en-US" sz="1800" dirty="0"/>
          </a:p>
          <a:p>
            <a:r>
              <a:rPr lang="en-US" sz="1800" dirty="0" smtClean="0"/>
              <a:t>When </a:t>
            </a:r>
            <a:r>
              <a:rPr lang="en-US" sz="1800" dirty="0"/>
              <a:t>the string 11100111 is received at the receiving end, then CRC checker performs the modulo-2 division. </a:t>
            </a:r>
            <a:endParaRPr lang="en-US" sz="1800" dirty="0" smtClean="0"/>
          </a:p>
          <a:p>
            <a:endParaRPr lang="en-US" sz="1800" dirty="0"/>
          </a:p>
          <a:p>
            <a:r>
              <a:rPr lang="en-US" sz="1800" dirty="0" smtClean="0"/>
              <a:t>A </a:t>
            </a:r>
            <a:r>
              <a:rPr lang="en-US" sz="1800" dirty="0"/>
              <a:t>string is divided by the same divisor, i.e., 1001. </a:t>
            </a:r>
            <a:endParaRPr lang="en-US" sz="1800" dirty="0" smtClean="0"/>
          </a:p>
          <a:p>
            <a:endParaRPr lang="en-US" sz="1800" dirty="0"/>
          </a:p>
          <a:p>
            <a:r>
              <a:rPr lang="en-US" sz="1800" dirty="0" smtClean="0"/>
              <a:t>In </a:t>
            </a:r>
            <a:r>
              <a:rPr lang="en-US" sz="1800" dirty="0"/>
              <a:t>this case, CRC checker generates the remainder of zero. </a:t>
            </a:r>
            <a:r>
              <a:rPr lang="en-US" sz="1800" dirty="0" smtClean="0"/>
              <a:t>therefore</a:t>
            </a:r>
            <a:r>
              <a:rPr lang="en-US" sz="1800" dirty="0"/>
              <a:t>, the data is accepted. </a:t>
            </a:r>
            <a:endParaRPr lang="en-IN" sz="1800" dirty="0"/>
          </a:p>
        </p:txBody>
      </p:sp>
    </p:spTree>
    <p:extLst>
      <p:ext uri="{BB962C8B-B14F-4D97-AF65-F5344CB8AC3E}">
        <p14:creationId xmlns:p14="http://schemas.microsoft.com/office/powerpoint/2010/main" val="56317342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detection and correction techniques</a:t>
            </a:r>
          </a:p>
        </p:txBody>
      </p:sp>
      <p:pic>
        <p:nvPicPr>
          <p:cNvPr id="1024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828800"/>
            <a:ext cx="5334000" cy="39703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500641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Examples</a:t>
            </a:r>
            <a:endParaRPr lang="en-IN" sz="3200" dirty="0"/>
          </a:p>
        </p:txBody>
      </p:sp>
      <p:sp>
        <p:nvSpPr>
          <p:cNvPr id="3" name="Content Placeholder 2"/>
          <p:cNvSpPr>
            <a:spLocks noGrp="1"/>
          </p:cNvSpPr>
          <p:nvPr>
            <p:ph idx="1"/>
          </p:nvPr>
        </p:nvSpPr>
        <p:spPr/>
        <p:txBody>
          <a:bodyPr/>
          <a:lstStyle/>
          <a:p>
            <a:r>
              <a:rPr lang="en-US" altLang="en-US" sz="1800" dirty="0"/>
              <a:t>Message = 110101 Polynomial = 101</a:t>
            </a:r>
          </a:p>
          <a:p>
            <a:r>
              <a:rPr lang="en-US" altLang="en-US" sz="1800" dirty="0"/>
              <a:t>FIND CRC?</a:t>
            </a:r>
          </a:p>
          <a:p>
            <a:pPr marL="0" indent="0">
              <a:buNone/>
            </a:pPr>
            <a:endParaRPr lang="en-IN"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717800"/>
            <a:ext cx="5181600" cy="34544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44691529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Examples</a:t>
            </a:r>
          </a:p>
        </p:txBody>
      </p:sp>
      <p:sp>
        <p:nvSpPr>
          <p:cNvPr id="3" name="Content Placeholder 2"/>
          <p:cNvSpPr>
            <a:spLocks noGrp="1"/>
          </p:cNvSpPr>
          <p:nvPr>
            <p:ph idx="1"/>
          </p:nvPr>
        </p:nvSpPr>
        <p:spPr/>
        <p:txBody>
          <a:bodyPr/>
          <a:lstStyle/>
          <a:p>
            <a:r>
              <a:rPr lang="en-US" altLang="en-US" sz="1800" dirty="0"/>
              <a:t>Message with CRC = 11010111</a:t>
            </a:r>
          </a:p>
          <a:p>
            <a:r>
              <a:rPr lang="en-US" altLang="en-US" sz="1800" dirty="0" smtClean="0"/>
              <a:t>Polynomial </a:t>
            </a:r>
            <a:r>
              <a:rPr lang="en-US" altLang="en-US" sz="1800" dirty="0"/>
              <a:t>= 101</a:t>
            </a:r>
          </a:p>
          <a:p>
            <a:r>
              <a:rPr lang="en-US" altLang="en-US" sz="1800" dirty="0"/>
              <a:t>Check if error in the message at the receiver side.</a:t>
            </a:r>
          </a:p>
          <a:p>
            <a:endParaRPr lang="en-IN" dirty="0"/>
          </a:p>
        </p:txBody>
      </p:sp>
      <p:pic>
        <p:nvPicPr>
          <p:cNvPr id="4" name="Content Placeholder 3"/>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819400"/>
            <a:ext cx="5867400" cy="398087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69124300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Examples</a:t>
            </a:r>
          </a:p>
        </p:txBody>
      </p:sp>
      <p:sp>
        <p:nvSpPr>
          <p:cNvPr id="3" name="Content Placeholder 2"/>
          <p:cNvSpPr>
            <a:spLocks noGrp="1"/>
          </p:cNvSpPr>
          <p:nvPr>
            <p:ph idx="1"/>
          </p:nvPr>
        </p:nvSpPr>
        <p:spPr/>
        <p:txBody>
          <a:bodyPr/>
          <a:lstStyle/>
          <a:p>
            <a:r>
              <a:rPr lang="en-US" altLang="en-US" sz="1800" dirty="0"/>
              <a:t>Message with CRC = 11010011</a:t>
            </a:r>
          </a:p>
          <a:p>
            <a:r>
              <a:rPr lang="en-US" altLang="en-US" sz="1800" dirty="0" smtClean="0"/>
              <a:t>Polynomial </a:t>
            </a:r>
            <a:r>
              <a:rPr lang="en-US" altLang="en-US" sz="1800" dirty="0"/>
              <a:t>= 101</a:t>
            </a:r>
          </a:p>
          <a:p>
            <a:r>
              <a:rPr lang="en-US" altLang="en-US" sz="1800" dirty="0"/>
              <a:t>Check if error in the message at the receiver side.</a:t>
            </a:r>
          </a:p>
          <a:p>
            <a:endParaRPr lang="en-IN" dirty="0"/>
          </a:p>
        </p:txBody>
      </p:sp>
    </p:spTree>
    <p:extLst>
      <p:ext uri="{BB962C8B-B14F-4D97-AF65-F5344CB8AC3E}">
        <p14:creationId xmlns:p14="http://schemas.microsoft.com/office/powerpoint/2010/main" val="299251002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Framing</a:t>
            </a:r>
            <a:endParaRPr lang="en-IN" sz="3200" dirty="0"/>
          </a:p>
        </p:txBody>
      </p:sp>
      <p:sp>
        <p:nvSpPr>
          <p:cNvPr id="3" name="Content Placeholder 2"/>
          <p:cNvSpPr>
            <a:spLocks noGrp="1"/>
          </p:cNvSpPr>
          <p:nvPr>
            <p:ph idx="1"/>
          </p:nvPr>
        </p:nvSpPr>
        <p:spPr/>
        <p:txBody>
          <a:bodyPr>
            <a:noAutofit/>
          </a:bodyPr>
          <a:lstStyle/>
          <a:p>
            <a:r>
              <a:rPr lang="en-US" sz="1800" dirty="0"/>
              <a:t>Frames are the units of digital transmission, particularly in computer networks and telecommunications. </a:t>
            </a:r>
            <a:endParaRPr lang="en-US" sz="1800" dirty="0" smtClean="0"/>
          </a:p>
          <a:p>
            <a:endParaRPr lang="en-US" sz="1800" dirty="0"/>
          </a:p>
          <a:p>
            <a:r>
              <a:rPr lang="en-US" sz="1800" dirty="0" smtClean="0"/>
              <a:t>Frames </a:t>
            </a:r>
            <a:r>
              <a:rPr lang="en-US" sz="1800" dirty="0"/>
              <a:t>are comparable to the packets of energy called photons in the case of light energy. </a:t>
            </a:r>
            <a:endParaRPr lang="en-US" sz="1800" dirty="0" smtClean="0"/>
          </a:p>
          <a:p>
            <a:endParaRPr lang="en-US" sz="1800" dirty="0"/>
          </a:p>
          <a:p>
            <a:r>
              <a:rPr lang="en-US" sz="1800" dirty="0"/>
              <a:t>Framing is a point-to-point connection between two computers or devices consists of a wire in which data is transmitted as a stream of bits. </a:t>
            </a:r>
            <a:endParaRPr lang="en-US" sz="1800" dirty="0" smtClean="0"/>
          </a:p>
          <a:p>
            <a:endParaRPr lang="en-US" sz="1800" dirty="0"/>
          </a:p>
          <a:p>
            <a:r>
              <a:rPr lang="en-US" sz="1800" dirty="0" smtClean="0"/>
              <a:t>However</a:t>
            </a:r>
            <a:r>
              <a:rPr lang="en-US" sz="1800" dirty="0"/>
              <a:t>, these bits must be framed into discernible blocks of information</a:t>
            </a:r>
            <a:r>
              <a:rPr lang="en-US" sz="1800" dirty="0" smtClean="0"/>
              <a:t>.</a:t>
            </a:r>
          </a:p>
          <a:p>
            <a:endParaRPr lang="en-US" sz="1800" dirty="0"/>
          </a:p>
          <a:p>
            <a:r>
              <a:rPr lang="en-US" sz="1800" dirty="0" smtClean="0"/>
              <a:t>Framing </a:t>
            </a:r>
            <a:r>
              <a:rPr lang="en-US" sz="1800" dirty="0"/>
              <a:t>is a function of the data link layer. It provides a way for a sender to transmit a set of bits that are meaningful to the receiver. </a:t>
            </a:r>
            <a:endParaRPr lang="en-US" sz="1800" dirty="0" smtClean="0"/>
          </a:p>
          <a:p>
            <a:endParaRPr lang="en-US" sz="1800" dirty="0"/>
          </a:p>
        </p:txBody>
      </p:sp>
    </p:spTree>
    <p:extLst>
      <p:ext uri="{BB962C8B-B14F-4D97-AF65-F5344CB8AC3E}">
        <p14:creationId xmlns:p14="http://schemas.microsoft.com/office/powerpoint/2010/main" val="13581449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Framing</a:t>
            </a:r>
            <a:endParaRPr lang="en-IN" sz="3200" dirty="0"/>
          </a:p>
        </p:txBody>
      </p:sp>
      <p:sp>
        <p:nvSpPr>
          <p:cNvPr id="3" name="Content Placeholder 2"/>
          <p:cNvSpPr>
            <a:spLocks noGrp="1"/>
          </p:cNvSpPr>
          <p:nvPr>
            <p:ph idx="1"/>
          </p:nvPr>
        </p:nvSpPr>
        <p:spPr/>
        <p:txBody>
          <a:bodyPr>
            <a:normAutofit fontScale="92500" lnSpcReduction="20000"/>
          </a:bodyPr>
          <a:lstStyle/>
          <a:p>
            <a:r>
              <a:rPr lang="en-US" sz="1800" dirty="0"/>
              <a:t>Ethernet, token ring, frame relay, and other data link layer technologies have their own frame structures. </a:t>
            </a:r>
          </a:p>
          <a:p>
            <a:endParaRPr lang="en-US" sz="1800" dirty="0"/>
          </a:p>
          <a:p>
            <a:r>
              <a:rPr lang="en-US" sz="1800" dirty="0"/>
              <a:t>Frames have headers that contain information such as error-checking codes. </a:t>
            </a:r>
            <a:endParaRPr lang="en-US" sz="1800" dirty="0" smtClean="0"/>
          </a:p>
          <a:p>
            <a:endParaRPr lang="en-US" sz="1800" dirty="0"/>
          </a:p>
          <a:p>
            <a:r>
              <a:rPr lang="en-US" sz="1800" dirty="0"/>
              <a:t>At the data link layer, it extracts the message from the sender and provides it to the receiver by providing the sender’s and receiver’s addresses. </a:t>
            </a:r>
            <a:endParaRPr lang="en-US" sz="1800" dirty="0" smtClean="0"/>
          </a:p>
          <a:p>
            <a:endParaRPr lang="en-US" sz="1800" dirty="0"/>
          </a:p>
          <a:p>
            <a:r>
              <a:rPr lang="en-US" sz="1800" dirty="0" smtClean="0"/>
              <a:t>The </a:t>
            </a:r>
            <a:r>
              <a:rPr lang="en-US" sz="1800" dirty="0"/>
              <a:t>advantage of using frames is that data is broken up into recoverable chunks that can easily be checked for corruption. </a:t>
            </a:r>
            <a:endParaRPr lang="en-IN" sz="1800" dirty="0"/>
          </a:p>
          <a:p>
            <a:pPr fontAlgn="base"/>
            <a:endParaRPr lang="en-US" sz="1800" dirty="0" smtClean="0"/>
          </a:p>
          <a:p>
            <a:pPr fontAlgn="base"/>
            <a:r>
              <a:rPr lang="en-US" sz="1800" dirty="0" smtClean="0"/>
              <a:t>The </a:t>
            </a:r>
            <a:r>
              <a:rPr lang="en-US" sz="1800" dirty="0"/>
              <a:t>process of dividing the data into frames and reassembling it is transparent to the user and is handled by the data link layer</a:t>
            </a:r>
            <a:r>
              <a:rPr lang="en-US" sz="1800" dirty="0" smtClean="0"/>
              <a:t>.</a:t>
            </a:r>
          </a:p>
          <a:p>
            <a:pPr fontAlgn="base"/>
            <a:endParaRPr lang="en-US" sz="1800" dirty="0"/>
          </a:p>
          <a:p>
            <a:pPr fontAlgn="base"/>
            <a:r>
              <a:rPr lang="en-US" sz="1800" dirty="0" smtClean="0"/>
              <a:t>Framing </a:t>
            </a:r>
            <a:r>
              <a:rPr lang="en-US" sz="1800" dirty="0"/>
              <a:t>is an important aspect of data link layer protocol design because it allows the transmission of data to be organized and controlled, ensuring that the data is delivered accurately and efficiently.</a:t>
            </a:r>
          </a:p>
          <a:p>
            <a:endParaRPr lang="en-IN" dirty="0"/>
          </a:p>
        </p:txBody>
      </p:sp>
    </p:spTree>
    <p:extLst>
      <p:ext uri="{BB962C8B-B14F-4D97-AF65-F5344CB8AC3E}">
        <p14:creationId xmlns:p14="http://schemas.microsoft.com/office/powerpoint/2010/main" val="41191529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Frame</a:t>
            </a:r>
            <a:endParaRPr lang="en-IN" sz="3200" dirty="0"/>
          </a:p>
        </p:txBody>
      </p:sp>
      <p:pic>
        <p:nvPicPr>
          <p:cNvPr id="4" name="Picture 3" descr="Image result for data link layer frame head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6800" y="2209800"/>
            <a:ext cx="7010400" cy="3715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9729214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Formatting Data for Transmission</a:t>
            </a:r>
            <a:endParaRPr lang="en-IN" sz="3200" dirty="0"/>
          </a:p>
        </p:txBody>
      </p:sp>
      <p:sp>
        <p:nvSpPr>
          <p:cNvPr id="3" name="Content Placeholder 2"/>
          <p:cNvSpPr>
            <a:spLocks noGrp="1"/>
          </p:cNvSpPr>
          <p:nvPr>
            <p:ph idx="1"/>
          </p:nvPr>
        </p:nvSpPr>
        <p:spPr/>
        <p:txBody>
          <a:bodyPr>
            <a:normAutofit fontScale="62500" lnSpcReduction="20000"/>
          </a:bodyPr>
          <a:lstStyle/>
          <a:p>
            <a:r>
              <a:rPr lang="en-US" altLang="en-US" dirty="0"/>
              <a:t>When data travels on the media, it is converted into a stream of bits, or 1s and 0s. </a:t>
            </a:r>
            <a:endParaRPr lang="en-US" altLang="en-US" dirty="0" smtClean="0"/>
          </a:p>
          <a:p>
            <a:endParaRPr lang="en-US" altLang="en-US" dirty="0"/>
          </a:p>
          <a:p>
            <a:r>
              <a:rPr lang="en-US" altLang="en-US" dirty="0" smtClean="0"/>
              <a:t>If </a:t>
            </a:r>
            <a:r>
              <a:rPr lang="en-US" altLang="en-US" dirty="0"/>
              <a:t>a node is receiving long streams of bits, how does it determine where a frame starts and stops or which bits represent the address</a:t>
            </a:r>
            <a:r>
              <a:rPr lang="en-US" altLang="en-US" dirty="0" smtClean="0"/>
              <a:t>?</a:t>
            </a:r>
          </a:p>
          <a:p>
            <a:endParaRPr lang="en-US" altLang="en-US" dirty="0"/>
          </a:p>
          <a:p>
            <a:pPr marL="0" indent="0">
              <a:buNone/>
            </a:pPr>
            <a:r>
              <a:rPr lang="en-US" altLang="en-US" dirty="0"/>
              <a:t>Typical field types include</a:t>
            </a:r>
            <a:r>
              <a:rPr lang="en-US" altLang="en-US" dirty="0" smtClean="0"/>
              <a:t>:</a:t>
            </a:r>
          </a:p>
          <a:p>
            <a:pPr marL="0" indent="0">
              <a:buNone/>
            </a:pPr>
            <a:endParaRPr lang="en-US" altLang="en-US" dirty="0"/>
          </a:p>
          <a:p>
            <a:pPr lvl="1"/>
            <a:r>
              <a:rPr lang="en-US" altLang="en-US" b="1" dirty="0"/>
              <a:t>Start and stop indicator fields </a:t>
            </a:r>
            <a:r>
              <a:rPr lang="en-US" altLang="en-US" dirty="0"/>
              <a:t>- The beginning and end limits of the frame</a:t>
            </a:r>
          </a:p>
          <a:p>
            <a:pPr lvl="1"/>
            <a:r>
              <a:rPr lang="en-US" altLang="en-US" b="1" dirty="0"/>
              <a:t>Naming or addressing fields</a:t>
            </a:r>
          </a:p>
          <a:p>
            <a:pPr lvl="1"/>
            <a:r>
              <a:rPr lang="en-US" altLang="en-US" b="1" dirty="0"/>
              <a:t>Type field </a:t>
            </a:r>
            <a:r>
              <a:rPr lang="en-US" altLang="en-US" dirty="0"/>
              <a:t>- The type of PDU contained in the frame</a:t>
            </a:r>
          </a:p>
          <a:p>
            <a:pPr lvl="1"/>
            <a:r>
              <a:rPr lang="en-US" altLang="en-US" b="1" dirty="0"/>
              <a:t>Quality</a:t>
            </a:r>
            <a:r>
              <a:rPr lang="en-US" altLang="en-US" dirty="0"/>
              <a:t> - control fields</a:t>
            </a:r>
          </a:p>
          <a:p>
            <a:pPr lvl="1"/>
            <a:r>
              <a:rPr lang="en-US" altLang="en-US" b="1" dirty="0"/>
              <a:t>A data field </a:t>
            </a:r>
            <a:r>
              <a:rPr lang="en-US" altLang="en-US" dirty="0"/>
              <a:t>-The frame payload (Network layer packet)</a:t>
            </a:r>
          </a:p>
          <a:p>
            <a:pPr lvl="1"/>
            <a:r>
              <a:rPr lang="en-US" altLang="en-US" dirty="0"/>
              <a:t>Fields at the end of the frame form the </a:t>
            </a:r>
            <a:r>
              <a:rPr lang="en-US" altLang="en-US" b="1" dirty="0"/>
              <a:t>trailer</a:t>
            </a:r>
            <a:r>
              <a:rPr lang="en-US" altLang="en-US" dirty="0"/>
              <a:t>. </a:t>
            </a:r>
          </a:p>
          <a:p>
            <a:pPr lvl="1"/>
            <a:r>
              <a:rPr lang="en-US" altLang="en-US" dirty="0"/>
              <a:t>These fields are used for error detection and mark the end of the frame. </a:t>
            </a:r>
          </a:p>
          <a:p>
            <a:endParaRPr lang="en-IN" dirty="0"/>
          </a:p>
        </p:txBody>
      </p:sp>
    </p:spTree>
    <p:extLst>
      <p:ext uri="{BB962C8B-B14F-4D97-AF65-F5344CB8AC3E}">
        <p14:creationId xmlns:p14="http://schemas.microsoft.com/office/powerpoint/2010/main" val="143497286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Frame</a:t>
            </a:r>
            <a:endParaRPr lang="en-IN" sz="3200" dirty="0"/>
          </a:p>
        </p:txBody>
      </p:sp>
      <p:pic>
        <p:nvPicPr>
          <p:cNvPr id="4" name="Content Placeholder 3"/>
          <p:cNvPicPr>
            <a:picLocks noGrp="1"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212221" y="1295400"/>
            <a:ext cx="7398379" cy="46482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382425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Transfer of frame</a:t>
            </a:r>
            <a:endParaRPr lang="en-IN" sz="3200" dirty="0"/>
          </a:p>
        </p:txBody>
      </p:sp>
      <p:pic>
        <p:nvPicPr>
          <p:cNvPr id="6" name="Picture 4"/>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909638" y="1981200"/>
            <a:ext cx="343535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178424" y="1864743"/>
            <a:ext cx="3463925" cy="426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97571754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Framing and its types</a:t>
            </a:r>
          </a:p>
        </p:txBody>
      </p:sp>
      <p:sp>
        <p:nvSpPr>
          <p:cNvPr id="3" name="Content Placeholder 2"/>
          <p:cNvSpPr>
            <a:spLocks noGrp="1"/>
          </p:cNvSpPr>
          <p:nvPr>
            <p:ph idx="1"/>
          </p:nvPr>
        </p:nvSpPr>
        <p:spPr/>
        <p:txBody>
          <a:bodyPr>
            <a:normAutofit/>
          </a:bodyPr>
          <a:lstStyle/>
          <a:p>
            <a:pPr marL="0" indent="0">
              <a:buNone/>
            </a:pPr>
            <a:r>
              <a:rPr lang="en-IN" sz="1800" b="1" dirty="0"/>
              <a:t>Problems in </a:t>
            </a:r>
            <a:r>
              <a:rPr lang="en-IN" sz="1800" b="1" dirty="0" smtClean="0"/>
              <a:t>Framing</a:t>
            </a:r>
          </a:p>
          <a:p>
            <a:pPr marL="0" indent="0">
              <a:buNone/>
            </a:pPr>
            <a:endParaRPr lang="en-IN" sz="1800" b="1" dirty="0" smtClean="0"/>
          </a:p>
          <a:p>
            <a:pPr fontAlgn="base"/>
            <a:r>
              <a:rPr lang="en-US" sz="1800" b="1" dirty="0" smtClean="0"/>
              <a:t>Detecting </a:t>
            </a:r>
            <a:r>
              <a:rPr lang="en-US" sz="1800" b="1" dirty="0"/>
              <a:t>start of the frame: </a:t>
            </a:r>
            <a:r>
              <a:rPr lang="en-US" sz="1800" dirty="0"/>
              <a:t>When a frame is transmitted, every station must be able to detect it. Station detects frames by looking out for a special sequence of bits that marks the beginning of the frame i.e. </a:t>
            </a:r>
            <a:r>
              <a:rPr lang="en-US" sz="1800" b="1" dirty="0"/>
              <a:t>SFD</a:t>
            </a:r>
            <a:r>
              <a:rPr lang="en-US" sz="1800" dirty="0"/>
              <a:t> (Starting Frame Delimiter</a:t>
            </a:r>
            <a:r>
              <a:rPr lang="en-US" sz="1800" dirty="0" smtClean="0"/>
              <a:t>).</a:t>
            </a:r>
          </a:p>
          <a:p>
            <a:pPr fontAlgn="base"/>
            <a:endParaRPr lang="en-US" sz="1800" dirty="0"/>
          </a:p>
          <a:p>
            <a:pPr fontAlgn="base"/>
            <a:r>
              <a:rPr lang="en-US" sz="1800" b="1" dirty="0"/>
              <a:t>How does the</a:t>
            </a:r>
            <a:r>
              <a:rPr lang="en-US" sz="1800" dirty="0"/>
              <a:t> </a:t>
            </a:r>
            <a:r>
              <a:rPr lang="en-US" sz="1800" b="1" dirty="0"/>
              <a:t>station detect a frame: </a:t>
            </a:r>
            <a:r>
              <a:rPr lang="en-US" sz="1800" dirty="0"/>
              <a:t>Every station listens to link for SFD pattern through a sequential circuit. If SFD is detected, sequential circuit alerts station. Station checks destination address to accept or reject frame</a:t>
            </a:r>
            <a:r>
              <a:rPr lang="en-US" sz="1800" dirty="0" smtClean="0"/>
              <a:t>.</a:t>
            </a:r>
          </a:p>
          <a:p>
            <a:pPr fontAlgn="base"/>
            <a:endParaRPr lang="en-US" sz="1800" dirty="0"/>
          </a:p>
          <a:p>
            <a:pPr fontAlgn="base"/>
            <a:r>
              <a:rPr lang="en-US" sz="1800" b="1" dirty="0"/>
              <a:t>Detecting end of frame: </a:t>
            </a:r>
            <a:r>
              <a:rPr lang="en-US" sz="1800" dirty="0"/>
              <a:t>When to stop reading the frame.</a:t>
            </a:r>
          </a:p>
          <a:p>
            <a:endParaRPr lang="en-IN" dirty="0"/>
          </a:p>
        </p:txBody>
      </p:sp>
    </p:spTree>
    <p:extLst>
      <p:ext uri="{BB962C8B-B14F-4D97-AF65-F5344CB8AC3E}">
        <p14:creationId xmlns:p14="http://schemas.microsoft.com/office/powerpoint/2010/main" val="1160485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Types </a:t>
            </a:r>
            <a:r>
              <a:rPr lang="en-IN" sz="3200" dirty="0"/>
              <a:t>Framing </a:t>
            </a:r>
          </a:p>
        </p:txBody>
      </p:sp>
      <p:sp>
        <p:nvSpPr>
          <p:cNvPr id="3" name="Content Placeholder 2"/>
          <p:cNvSpPr>
            <a:spLocks noGrp="1"/>
          </p:cNvSpPr>
          <p:nvPr>
            <p:ph idx="1"/>
          </p:nvPr>
        </p:nvSpPr>
        <p:spPr/>
        <p:txBody>
          <a:bodyPr>
            <a:normAutofit/>
          </a:bodyPr>
          <a:lstStyle/>
          <a:p>
            <a:pPr marL="0" indent="0" fontAlgn="base">
              <a:buNone/>
            </a:pPr>
            <a:r>
              <a:rPr lang="en-US" sz="1800" b="1" dirty="0" smtClean="0"/>
              <a:t>There </a:t>
            </a:r>
            <a:r>
              <a:rPr lang="en-US" sz="1800" b="1" dirty="0"/>
              <a:t>are two types of framing: </a:t>
            </a:r>
            <a:endParaRPr lang="en-US" sz="1800" b="1" dirty="0" smtClean="0"/>
          </a:p>
          <a:p>
            <a:pPr marL="0" indent="0" fontAlgn="base">
              <a:buNone/>
            </a:pPr>
            <a:endParaRPr lang="en-US" sz="1800" dirty="0"/>
          </a:p>
          <a:p>
            <a:pPr marL="0" indent="0" fontAlgn="base">
              <a:buNone/>
            </a:pPr>
            <a:r>
              <a:rPr lang="en-US" sz="1800" b="1" dirty="0"/>
              <a:t>1. Fixed size –</a:t>
            </a:r>
            <a:r>
              <a:rPr lang="en-US" sz="1800" dirty="0"/>
              <a:t> The frame is of fixed size and there is no need to provide boundaries to the frame, the length of the frame itself acts as a delimiter.  </a:t>
            </a:r>
            <a:endParaRPr lang="en-US" sz="1800" dirty="0" smtClean="0"/>
          </a:p>
          <a:p>
            <a:pPr fontAlgn="base"/>
            <a:endParaRPr lang="en-US" sz="1800" dirty="0"/>
          </a:p>
          <a:p>
            <a:pPr fontAlgn="base"/>
            <a:r>
              <a:rPr lang="en-US" sz="1800" b="1" dirty="0"/>
              <a:t>Drawback: </a:t>
            </a:r>
            <a:r>
              <a:rPr lang="en-US" sz="1800" dirty="0"/>
              <a:t>It suffers from internal fragmentation if the data size is less than the frame </a:t>
            </a:r>
            <a:r>
              <a:rPr lang="en-US" sz="1800" dirty="0" smtClean="0"/>
              <a:t>size</a:t>
            </a:r>
          </a:p>
          <a:p>
            <a:pPr fontAlgn="base"/>
            <a:endParaRPr lang="en-US" sz="1800" dirty="0"/>
          </a:p>
          <a:p>
            <a:pPr fontAlgn="base"/>
            <a:r>
              <a:rPr lang="en-US" sz="1800" b="1" dirty="0"/>
              <a:t>Solution: </a:t>
            </a:r>
            <a:r>
              <a:rPr lang="en-US" sz="1800" dirty="0"/>
              <a:t>Padding</a:t>
            </a:r>
          </a:p>
          <a:p>
            <a:endParaRPr lang="en-IN" dirty="0"/>
          </a:p>
        </p:txBody>
      </p:sp>
    </p:spTree>
    <p:extLst>
      <p:ext uri="{BB962C8B-B14F-4D97-AF65-F5344CB8AC3E}">
        <p14:creationId xmlns:p14="http://schemas.microsoft.com/office/powerpoint/2010/main" val="116932820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Types Framing </a:t>
            </a:r>
          </a:p>
        </p:txBody>
      </p:sp>
      <p:sp>
        <p:nvSpPr>
          <p:cNvPr id="3" name="Content Placeholder 2"/>
          <p:cNvSpPr>
            <a:spLocks noGrp="1"/>
          </p:cNvSpPr>
          <p:nvPr>
            <p:ph idx="1"/>
          </p:nvPr>
        </p:nvSpPr>
        <p:spPr/>
        <p:txBody>
          <a:bodyPr>
            <a:normAutofit fontScale="47500" lnSpcReduction="20000"/>
          </a:bodyPr>
          <a:lstStyle/>
          <a:p>
            <a:pPr marL="0" indent="0" fontAlgn="base">
              <a:buNone/>
            </a:pPr>
            <a:r>
              <a:rPr lang="en-US" b="1" dirty="0"/>
              <a:t>2. Variable size –</a:t>
            </a:r>
            <a:r>
              <a:rPr lang="en-US" dirty="0"/>
              <a:t> In this, there is a need to define the end of the frame as well as the beginning of the next frame to distinguish. </a:t>
            </a:r>
            <a:endParaRPr lang="en-US" dirty="0" smtClean="0"/>
          </a:p>
          <a:p>
            <a:pPr marL="0" indent="0" fontAlgn="base">
              <a:buNone/>
            </a:pPr>
            <a:endParaRPr lang="en-US" dirty="0"/>
          </a:p>
          <a:p>
            <a:pPr marL="0" indent="0" fontAlgn="base">
              <a:buNone/>
            </a:pPr>
            <a:r>
              <a:rPr lang="en-US" dirty="0" smtClean="0"/>
              <a:t>This </a:t>
            </a:r>
            <a:r>
              <a:rPr lang="en-US" dirty="0"/>
              <a:t>can be done in two ways: </a:t>
            </a:r>
            <a:br>
              <a:rPr lang="en-US" dirty="0"/>
            </a:br>
            <a:r>
              <a:rPr lang="en-US" dirty="0"/>
              <a:t> </a:t>
            </a:r>
          </a:p>
          <a:p>
            <a:pPr fontAlgn="base"/>
            <a:r>
              <a:rPr lang="en-US" b="1" dirty="0"/>
              <a:t>Length field –</a:t>
            </a:r>
            <a:r>
              <a:rPr lang="en-US" dirty="0"/>
              <a:t> We can introduce a length field in the frame to indicate the length of the frame. Used in Ethernet(802.3). The problem with this is that sometimes the length field might get corrupted</a:t>
            </a:r>
            <a:r>
              <a:rPr lang="en-US" dirty="0" smtClean="0"/>
              <a:t>.</a:t>
            </a:r>
          </a:p>
          <a:p>
            <a:pPr fontAlgn="base"/>
            <a:endParaRPr lang="en-US" dirty="0"/>
          </a:p>
          <a:p>
            <a:pPr fontAlgn="base"/>
            <a:r>
              <a:rPr lang="en-US" b="1" dirty="0"/>
              <a:t>End Delimiter (ED) –</a:t>
            </a:r>
            <a:r>
              <a:rPr lang="en-US" dirty="0"/>
              <a:t> We can introduce an ED(pattern) to indicate the end of the frame. Used in Token Ring. The problem with this is that ED can occur in the data. </a:t>
            </a:r>
            <a:endParaRPr lang="en-US" dirty="0" smtClean="0"/>
          </a:p>
          <a:p>
            <a:pPr fontAlgn="base"/>
            <a:endParaRPr lang="en-US" dirty="0"/>
          </a:p>
          <a:p>
            <a:pPr lvl="1" fontAlgn="base"/>
            <a:r>
              <a:rPr lang="en-US" dirty="0" smtClean="0"/>
              <a:t>This </a:t>
            </a:r>
            <a:r>
              <a:rPr lang="en-US" dirty="0"/>
              <a:t>can be solved by: </a:t>
            </a:r>
            <a:endParaRPr lang="en-US" dirty="0" smtClean="0"/>
          </a:p>
          <a:p>
            <a:pPr marL="457200" lvl="1" indent="0" fontAlgn="base">
              <a:buNone/>
            </a:pPr>
            <a:r>
              <a:rPr lang="en-US" b="1" dirty="0"/>
              <a:t>	</a:t>
            </a:r>
            <a:r>
              <a:rPr lang="en-US" b="1" dirty="0" smtClean="0"/>
              <a:t>1</a:t>
            </a:r>
            <a:r>
              <a:rPr lang="en-US" b="1" dirty="0"/>
              <a:t>. Character/Byte Stuffing: </a:t>
            </a:r>
            <a:r>
              <a:rPr lang="en-US" dirty="0"/>
              <a:t>Used when frames consist of characters. If data contains ED then, a byte is stuffed into data to differentiate it from ED. </a:t>
            </a:r>
            <a:endParaRPr lang="en-US" dirty="0" smtClean="0"/>
          </a:p>
          <a:p>
            <a:pPr marL="457200" lvl="1" indent="0" fontAlgn="base">
              <a:buNone/>
            </a:pPr>
            <a:endParaRPr lang="en-US" dirty="0"/>
          </a:p>
          <a:p>
            <a:pPr marL="457200" lvl="1" indent="0" fontAlgn="base">
              <a:buNone/>
            </a:pPr>
            <a:r>
              <a:rPr lang="en-US" dirty="0"/>
              <a:t>Let ED = “$” –&gt; if data contains ‘$’ anywhere, it can be escaped using ‘\O’ character. </a:t>
            </a:r>
            <a:br>
              <a:rPr lang="en-US" dirty="0"/>
            </a:br>
            <a:r>
              <a:rPr lang="en-US" dirty="0"/>
              <a:t>–&gt; if data contains ‘\O$’ then, use ‘\O\O\O$'($ is escaped using \O and \O is escaped using \O</a:t>
            </a:r>
            <a:r>
              <a:rPr lang="en-US" dirty="0" smtClean="0"/>
              <a:t>).</a:t>
            </a:r>
          </a:p>
          <a:p>
            <a:pPr lvl="1" fontAlgn="base">
              <a:buFont typeface="Arial" panose="020B0604020202020204" pitchFamily="34" charset="0"/>
              <a:buChar char="•"/>
            </a:pPr>
            <a:endParaRPr lang="en-US" dirty="0"/>
          </a:p>
          <a:p>
            <a:pPr marL="457200" lvl="1" indent="0" fontAlgn="base">
              <a:buNone/>
            </a:pPr>
            <a:endParaRPr lang="en-US" dirty="0"/>
          </a:p>
          <a:p>
            <a:r>
              <a:rPr lang="en-US" b="1" dirty="0"/>
              <a:t>Disadvantage –</a:t>
            </a:r>
            <a:r>
              <a:rPr lang="en-US" dirty="0"/>
              <a:t> It is very costly </a:t>
            </a:r>
            <a:r>
              <a:rPr lang="en-US" dirty="0" smtClean="0"/>
              <a:t>method</a:t>
            </a:r>
            <a:r>
              <a:rPr lang="en-US" dirty="0"/>
              <a:t>. </a:t>
            </a:r>
            <a:endParaRPr lang="en-IN" dirty="0"/>
          </a:p>
        </p:txBody>
      </p:sp>
    </p:spTree>
    <p:extLst>
      <p:ext uri="{BB962C8B-B14F-4D97-AF65-F5344CB8AC3E}">
        <p14:creationId xmlns:p14="http://schemas.microsoft.com/office/powerpoint/2010/main" val="2288402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Types Framing </a:t>
            </a:r>
          </a:p>
        </p:txBody>
      </p:sp>
      <p:pic>
        <p:nvPicPr>
          <p:cNvPr id="11266" name="Picture 2" descr="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209800"/>
            <a:ext cx="5286375" cy="34268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741883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Types Framing </a:t>
            </a:r>
          </a:p>
        </p:txBody>
      </p:sp>
      <p:sp>
        <p:nvSpPr>
          <p:cNvPr id="3" name="Content Placeholder 2"/>
          <p:cNvSpPr>
            <a:spLocks noGrp="1"/>
          </p:cNvSpPr>
          <p:nvPr>
            <p:ph idx="1"/>
          </p:nvPr>
        </p:nvSpPr>
        <p:spPr/>
        <p:txBody>
          <a:bodyPr>
            <a:normAutofit/>
          </a:bodyPr>
          <a:lstStyle/>
          <a:p>
            <a:r>
              <a:rPr lang="en-US" sz="1800" b="1" dirty="0"/>
              <a:t>2. Bit Stuffing: </a:t>
            </a:r>
            <a:r>
              <a:rPr lang="en-US" sz="1800" dirty="0"/>
              <a:t>Let ED = 01111 and if data = 01111 </a:t>
            </a:r>
            <a:endParaRPr lang="en-US" sz="1800" dirty="0" smtClean="0"/>
          </a:p>
          <a:p>
            <a:pPr marL="0" indent="0">
              <a:buNone/>
            </a:pPr>
            <a:r>
              <a:rPr lang="en-US" sz="1800" dirty="0"/>
              <a:t/>
            </a:r>
            <a:br>
              <a:rPr lang="en-US" sz="1800" dirty="0"/>
            </a:br>
            <a:r>
              <a:rPr lang="en-US" sz="1800" b="1" dirty="0" smtClean="0"/>
              <a:t>–</a:t>
            </a:r>
            <a:r>
              <a:rPr lang="en-US" sz="1800" dirty="0"/>
              <a:t> Sender stuffs a bit to break the pattern i.e. here appends a 0 in data = 0111</a:t>
            </a:r>
            <a:r>
              <a:rPr lang="en-US" sz="1800" b="1" dirty="0"/>
              <a:t>0</a:t>
            </a:r>
            <a:r>
              <a:rPr lang="en-US" sz="1800" dirty="0"/>
              <a:t>1. </a:t>
            </a:r>
            <a:br>
              <a:rPr lang="en-US" sz="1800" dirty="0"/>
            </a:br>
            <a:r>
              <a:rPr lang="en-US" sz="1800" b="1" dirty="0" smtClean="0"/>
              <a:t>–</a:t>
            </a:r>
            <a:r>
              <a:rPr lang="en-US" sz="1800" dirty="0"/>
              <a:t> Receiver receives the frame. </a:t>
            </a:r>
            <a:br>
              <a:rPr lang="en-US" sz="1800" dirty="0"/>
            </a:br>
            <a:r>
              <a:rPr lang="en-US" sz="1800" b="1" dirty="0" smtClean="0"/>
              <a:t>–</a:t>
            </a:r>
            <a:r>
              <a:rPr lang="en-US" sz="1800" dirty="0"/>
              <a:t> If data contains </a:t>
            </a:r>
            <a:r>
              <a:rPr lang="en-US" sz="1800" u="sng" dirty="0"/>
              <a:t>0111</a:t>
            </a:r>
            <a:r>
              <a:rPr lang="en-US" sz="1800" dirty="0"/>
              <a:t>01, receiver removes the 0 and reads the data</a:t>
            </a:r>
            <a:r>
              <a:rPr lang="en-US" sz="1800" dirty="0" smtClean="0"/>
              <a:t>.</a:t>
            </a:r>
          </a:p>
          <a:p>
            <a:endParaRPr lang="en-US" sz="1800" dirty="0" smtClean="0"/>
          </a:p>
          <a:p>
            <a:pPr marL="0" indent="0" fontAlgn="base">
              <a:buNone/>
            </a:pPr>
            <a:r>
              <a:rPr lang="en-US" sz="1800" b="1" dirty="0" smtClean="0"/>
              <a:t>Ex:</a:t>
            </a:r>
            <a:r>
              <a:rPr lang="en-US" sz="1800" dirty="0"/>
              <a:t> </a:t>
            </a:r>
          </a:p>
          <a:p>
            <a:pPr fontAlgn="base"/>
            <a:r>
              <a:rPr lang="en-US" sz="1800" dirty="0"/>
              <a:t>If Data –&gt; 011100011110 and ED –&gt; 0111 then, find data after bit stuffing? –&gt; 011</a:t>
            </a:r>
            <a:r>
              <a:rPr lang="en-US" sz="1800" b="1" dirty="0"/>
              <a:t>0</a:t>
            </a:r>
            <a:r>
              <a:rPr lang="en-US" sz="1800" dirty="0"/>
              <a:t>100011</a:t>
            </a:r>
            <a:r>
              <a:rPr lang="en-US" sz="1800" b="1" dirty="0"/>
              <a:t>0</a:t>
            </a:r>
            <a:r>
              <a:rPr lang="en-US" sz="1800" dirty="0"/>
              <a:t>11</a:t>
            </a:r>
            <a:r>
              <a:rPr lang="en-US" sz="1800" b="1" dirty="0"/>
              <a:t>0</a:t>
            </a:r>
            <a:r>
              <a:rPr lang="en-US" sz="1800" dirty="0"/>
              <a:t>0 </a:t>
            </a:r>
            <a:br>
              <a:rPr lang="en-US" sz="1800" dirty="0"/>
            </a:br>
            <a:r>
              <a:rPr lang="en-US" sz="1800" dirty="0"/>
              <a:t> </a:t>
            </a:r>
          </a:p>
          <a:p>
            <a:pPr fontAlgn="base"/>
            <a:r>
              <a:rPr lang="en-US" sz="1800" dirty="0"/>
              <a:t>If Data –&gt; 110001001 and ED –&gt; 1000 then, find data after bit stuffing? –&gt; 1100</a:t>
            </a:r>
            <a:r>
              <a:rPr lang="en-US" sz="1800" b="1" dirty="0"/>
              <a:t>1</a:t>
            </a:r>
            <a:r>
              <a:rPr lang="en-US" sz="1800" dirty="0"/>
              <a:t>0100</a:t>
            </a:r>
            <a:r>
              <a:rPr lang="en-US" sz="1800" b="1" dirty="0"/>
              <a:t>1</a:t>
            </a:r>
            <a:r>
              <a:rPr lang="en-US" sz="1800" dirty="0"/>
              <a:t>1 </a:t>
            </a:r>
            <a:br>
              <a:rPr lang="en-US" sz="1800" dirty="0"/>
            </a:br>
            <a:r>
              <a:rPr lang="en-US" sz="1800" dirty="0"/>
              <a:t> </a:t>
            </a:r>
          </a:p>
          <a:p>
            <a:endParaRPr lang="en-IN" dirty="0"/>
          </a:p>
        </p:txBody>
      </p:sp>
    </p:spTree>
    <p:extLst>
      <p:ext uri="{BB962C8B-B14F-4D97-AF65-F5344CB8AC3E}">
        <p14:creationId xmlns:p14="http://schemas.microsoft.com/office/powerpoint/2010/main" val="272331883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Types Framing </a:t>
            </a:r>
          </a:p>
        </p:txBody>
      </p:sp>
      <p:pic>
        <p:nvPicPr>
          <p:cNvPr id="14338" name="Picture 2" descr="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1676400"/>
            <a:ext cx="4438650" cy="353377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2037293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and error control</a:t>
            </a:r>
          </a:p>
        </p:txBody>
      </p:sp>
      <p:sp>
        <p:nvSpPr>
          <p:cNvPr id="3" name="Content Placeholder 2"/>
          <p:cNvSpPr>
            <a:spLocks noGrp="1"/>
          </p:cNvSpPr>
          <p:nvPr>
            <p:ph idx="1"/>
          </p:nvPr>
        </p:nvSpPr>
        <p:spPr/>
        <p:txBody>
          <a:bodyPr>
            <a:noAutofit/>
          </a:bodyPr>
          <a:lstStyle/>
          <a:p>
            <a:r>
              <a:rPr lang="en-US" sz="1800" dirty="0"/>
              <a:t>Flow control and Error control are the two main responsibilities of the Data link layer</a:t>
            </a:r>
            <a:r>
              <a:rPr lang="en-US" sz="1800" dirty="0" smtClean="0"/>
              <a:t>.</a:t>
            </a:r>
          </a:p>
          <a:p>
            <a:endParaRPr lang="en-US" sz="1800" dirty="0" smtClean="0"/>
          </a:p>
          <a:p>
            <a:r>
              <a:rPr lang="en-US" sz="1800" dirty="0"/>
              <a:t>For the node-to-node delivery of the data, the flow and error control are done at the data link layer</a:t>
            </a:r>
            <a:r>
              <a:rPr lang="en-US" sz="1800" dirty="0" smtClean="0"/>
              <a:t>.</a:t>
            </a:r>
          </a:p>
          <a:p>
            <a:pPr marL="0" indent="0">
              <a:buNone/>
            </a:pPr>
            <a:endParaRPr lang="en-US" sz="1800" dirty="0" smtClean="0"/>
          </a:p>
        </p:txBody>
      </p:sp>
    </p:spTree>
    <p:extLst>
      <p:ext uri="{BB962C8B-B14F-4D97-AF65-F5344CB8AC3E}">
        <p14:creationId xmlns:p14="http://schemas.microsoft.com/office/powerpoint/2010/main" val="399039013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a:t>
            </a:r>
            <a:r>
              <a:rPr lang="en-IN" sz="3200" dirty="0" smtClean="0"/>
              <a:t>control</a:t>
            </a:r>
            <a:endParaRPr lang="en-IN" sz="3200" dirty="0"/>
          </a:p>
        </p:txBody>
      </p:sp>
      <p:sp>
        <p:nvSpPr>
          <p:cNvPr id="3" name="Content Placeholder 2"/>
          <p:cNvSpPr>
            <a:spLocks noGrp="1"/>
          </p:cNvSpPr>
          <p:nvPr>
            <p:ph idx="1"/>
          </p:nvPr>
        </p:nvSpPr>
        <p:spPr/>
        <p:txBody>
          <a:bodyPr>
            <a:noAutofit/>
          </a:bodyPr>
          <a:lstStyle/>
          <a:p>
            <a:pPr marL="0" indent="0">
              <a:buNone/>
            </a:pPr>
            <a:endParaRPr lang="en-US" sz="1800" dirty="0" smtClean="0"/>
          </a:p>
          <a:p>
            <a:r>
              <a:rPr lang="en-US" sz="1800" b="1" dirty="0"/>
              <a:t>Flow control </a:t>
            </a:r>
            <a:r>
              <a:rPr lang="en-US" sz="1800" dirty="0"/>
              <a:t>is a technique that allows two stations working at different speeds to communicate with each other. </a:t>
            </a:r>
            <a:endParaRPr lang="en-US" sz="1800" dirty="0" smtClean="0"/>
          </a:p>
          <a:p>
            <a:endParaRPr lang="en-US" sz="1800" dirty="0" smtClean="0"/>
          </a:p>
          <a:p>
            <a:r>
              <a:rPr lang="en-US" sz="1800" dirty="0" smtClean="0"/>
              <a:t>It </a:t>
            </a:r>
            <a:r>
              <a:rPr lang="en-US" sz="1800" dirty="0"/>
              <a:t>is a set of measures taken to regulate the amount of data that a sender sends so that a fast sender does not overwhelm a slow receiver. </a:t>
            </a:r>
            <a:endParaRPr lang="en-US" sz="1800" dirty="0" smtClean="0"/>
          </a:p>
          <a:p>
            <a:endParaRPr lang="en-US" sz="1800" dirty="0"/>
          </a:p>
          <a:p>
            <a:r>
              <a:rPr lang="en-US" sz="1800" dirty="0" smtClean="0"/>
              <a:t>In </a:t>
            </a:r>
            <a:r>
              <a:rPr lang="en-US" sz="1800" dirty="0"/>
              <a:t>data link layer, flow control restricts the number of frames the sender can send before it waits for an acknowledgment from the receiver</a:t>
            </a:r>
            <a:r>
              <a:rPr lang="en-US" sz="1800" dirty="0" smtClean="0"/>
              <a:t>.</a:t>
            </a:r>
          </a:p>
          <a:p>
            <a:endParaRPr lang="en-US" sz="1800" b="1" dirty="0" smtClean="0"/>
          </a:p>
          <a:p>
            <a:r>
              <a:rPr lang="en-US" sz="1800" b="1" dirty="0" smtClean="0"/>
              <a:t>Flow </a:t>
            </a:r>
            <a:r>
              <a:rPr lang="en-US" sz="1800" b="1" dirty="0"/>
              <a:t>Control</a:t>
            </a:r>
            <a:r>
              <a:rPr lang="en-US" sz="1800" dirty="0"/>
              <a:t> mainly coordinates with the amount of data that can be sent before receiving an acknowledgment from the receiver and it is one of the major duties of the data link layer</a:t>
            </a:r>
            <a:r>
              <a:rPr lang="en-US" sz="1800" dirty="0" smtClean="0"/>
              <a:t>.</a:t>
            </a:r>
          </a:p>
          <a:p>
            <a:pPr marL="0" indent="0">
              <a:buNone/>
            </a:pPr>
            <a:endParaRPr lang="en-US" sz="1800" dirty="0" smtClean="0"/>
          </a:p>
        </p:txBody>
      </p:sp>
    </p:spTree>
    <p:extLst>
      <p:ext uri="{BB962C8B-B14F-4D97-AF65-F5344CB8AC3E}">
        <p14:creationId xmlns:p14="http://schemas.microsoft.com/office/powerpoint/2010/main" val="27358431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a:t>
            </a:r>
            <a:r>
              <a:rPr lang="en-IN" sz="3200" dirty="0" smtClean="0"/>
              <a:t>control</a:t>
            </a:r>
            <a:endParaRPr lang="en-IN" sz="3200" dirty="0"/>
          </a:p>
        </p:txBody>
      </p:sp>
      <p:sp>
        <p:nvSpPr>
          <p:cNvPr id="3" name="Content Placeholder 2"/>
          <p:cNvSpPr>
            <a:spLocks noGrp="1"/>
          </p:cNvSpPr>
          <p:nvPr>
            <p:ph idx="1"/>
          </p:nvPr>
        </p:nvSpPr>
        <p:spPr/>
        <p:txBody>
          <a:bodyPr>
            <a:normAutofit/>
          </a:bodyPr>
          <a:lstStyle/>
          <a:p>
            <a:r>
              <a:rPr lang="en-US" sz="1800" dirty="0"/>
              <a:t>The data flow must not be allowed to overwhelm the receiver; because any receiving device has a very limited speed at which the device can process the incoming data and the limited amount of memory to store the incoming data.</a:t>
            </a:r>
          </a:p>
          <a:p>
            <a:pPr marL="0" indent="0">
              <a:buNone/>
            </a:pPr>
            <a:endParaRPr lang="en-US" sz="1800" dirty="0" smtClean="0"/>
          </a:p>
          <a:p>
            <a:r>
              <a:rPr lang="en-US" sz="1800" dirty="0" smtClean="0"/>
              <a:t>The </a:t>
            </a:r>
            <a:r>
              <a:rPr lang="en-US" sz="1800" dirty="0"/>
              <a:t>processing rate is slower than the transmission rate; due to this reason each receiving device has a block of memory that is commonly known as </a:t>
            </a:r>
            <a:r>
              <a:rPr lang="en-US" sz="1800" b="1" dirty="0"/>
              <a:t>buffer, </a:t>
            </a:r>
            <a:r>
              <a:rPr lang="en-US" sz="1800" dirty="0"/>
              <a:t>that is used to store the incoming data until this data will be processed. </a:t>
            </a:r>
          </a:p>
          <a:p>
            <a:endParaRPr lang="en-US" sz="1800" dirty="0"/>
          </a:p>
          <a:p>
            <a:r>
              <a:rPr lang="en-US" sz="1800" dirty="0"/>
              <a:t>In case the buffer begins to fillup then the receiver must be able to tell the sender to halt the transmission until once again the receiver become able to receive.</a:t>
            </a:r>
            <a:endParaRPr lang="en-IN" sz="1800" dirty="0"/>
          </a:p>
          <a:p>
            <a:endParaRPr lang="en-US" sz="1800" dirty="0" smtClean="0"/>
          </a:p>
          <a:p>
            <a:r>
              <a:rPr lang="en-US" sz="1800" dirty="0" smtClean="0"/>
              <a:t>Thus </a:t>
            </a:r>
            <a:r>
              <a:rPr lang="en-US" sz="1800" dirty="0"/>
              <a:t>the flow control makes the sender; wait for the acknowledgment from the receiver before the continuation to send more data to the receiver</a:t>
            </a:r>
            <a:r>
              <a:rPr lang="en-US" sz="1800" dirty="0" smtClean="0"/>
              <a:t>.</a:t>
            </a:r>
          </a:p>
          <a:p>
            <a:endParaRPr lang="en-US" sz="1800" dirty="0"/>
          </a:p>
          <a:p>
            <a:pPr marL="0" indent="0">
              <a:buNone/>
            </a:pPr>
            <a:endParaRPr lang="en-US" sz="1800" dirty="0"/>
          </a:p>
          <a:p>
            <a:endParaRPr lang="en-US" sz="1800" dirty="0"/>
          </a:p>
          <a:p>
            <a:endParaRPr lang="en-IN" dirty="0"/>
          </a:p>
        </p:txBody>
      </p:sp>
    </p:spTree>
    <p:extLst>
      <p:ext uri="{BB962C8B-B14F-4D97-AF65-F5344CB8AC3E}">
        <p14:creationId xmlns:p14="http://schemas.microsoft.com/office/powerpoint/2010/main" val="334872508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control</a:t>
            </a:r>
          </a:p>
        </p:txBody>
      </p:sp>
      <p:sp>
        <p:nvSpPr>
          <p:cNvPr id="3" name="Content Placeholder 2"/>
          <p:cNvSpPr>
            <a:spLocks noGrp="1"/>
          </p:cNvSpPr>
          <p:nvPr>
            <p:ph idx="1"/>
          </p:nvPr>
        </p:nvSpPr>
        <p:spPr/>
        <p:txBody>
          <a:bodyPr>
            <a:normAutofit/>
          </a:bodyPr>
          <a:lstStyle/>
          <a:p>
            <a:pPr marL="0" indent="0">
              <a:buNone/>
            </a:pPr>
            <a:r>
              <a:rPr lang="en-IN" sz="1800" b="1" dirty="0"/>
              <a:t>Approaches of Flow </a:t>
            </a:r>
            <a:r>
              <a:rPr lang="en-IN" sz="1800" b="1" dirty="0" smtClean="0"/>
              <a:t>Control</a:t>
            </a:r>
          </a:p>
          <a:p>
            <a:pPr marL="0" indent="0">
              <a:buNone/>
            </a:pPr>
            <a:endParaRPr lang="en-IN" sz="1800" dirty="0" smtClean="0"/>
          </a:p>
          <a:p>
            <a:r>
              <a:rPr lang="en-US" sz="1800" b="1" dirty="0"/>
              <a:t>Feedback based Flow Control</a:t>
            </a:r>
            <a:r>
              <a:rPr lang="en-US" sz="1800" dirty="0"/>
              <a:t> In </a:t>
            </a:r>
            <a:r>
              <a:rPr lang="en-US" sz="1800" dirty="0" smtClean="0"/>
              <a:t>these protocols, </a:t>
            </a:r>
            <a:r>
              <a:rPr lang="en-US" sz="1800" dirty="0"/>
              <a:t>the sender sends frames after it has received acknowledgments from the user. This is used in the data link layer</a:t>
            </a:r>
            <a:r>
              <a:rPr lang="en-US" sz="1800" dirty="0" smtClean="0"/>
              <a:t>.</a:t>
            </a:r>
          </a:p>
          <a:p>
            <a:endParaRPr lang="en-US" sz="1800" dirty="0"/>
          </a:p>
          <a:p>
            <a:r>
              <a:rPr lang="en-US" sz="1800" b="1" dirty="0"/>
              <a:t>Rate based Flow Control</a:t>
            </a:r>
            <a:r>
              <a:rPr lang="en-US" sz="1800" dirty="0"/>
              <a:t> These </a:t>
            </a:r>
            <a:r>
              <a:rPr lang="en-US" sz="1800" dirty="0" smtClean="0"/>
              <a:t>protocols have </a:t>
            </a:r>
            <a:r>
              <a:rPr lang="en-US" sz="1800" dirty="0"/>
              <a:t>built in mechanisms to restrict the rate of transmission of data without requiring acknowledgment from the receiver. This is used in the network layer and the transport layer.</a:t>
            </a:r>
          </a:p>
          <a:p>
            <a:endParaRPr lang="en-IN" dirty="0"/>
          </a:p>
          <a:p>
            <a:endParaRPr lang="en-IN" dirty="0"/>
          </a:p>
        </p:txBody>
      </p:sp>
    </p:spTree>
    <p:extLst>
      <p:ext uri="{BB962C8B-B14F-4D97-AF65-F5344CB8AC3E}">
        <p14:creationId xmlns:p14="http://schemas.microsoft.com/office/powerpoint/2010/main" val="20748510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Flow control</a:t>
            </a:r>
          </a:p>
        </p:txBody>
      </p:sp>
      <p:sp>
        <p:nvSpPr>
          <p:cNvPr id="3" name="Content Placeholder 2"/>
          <p:cNvSpPr>
            <a:spLocks noGrp="1"/>
          </p:cNvSpPr>
          <p:nvPr>
            <p:ph idx="1"/>
          </p:nvPr>
        </p:nvSpPr>
        <p:spPr/>
        <p:txBody>
          <a:bodyPr>
            <a:normAutofit fontScale="47500" lnSpcReduction="20000"/>
          </a:bodyPr>
          <a:lstStyle/>
          <a:p>
            <a:pPr marL="0" indent="0">
              <a:buNone/>
            </a:pPr>
            <a:r>
              <a:rPr lang="en-US" b="1" dirty="0"/>
              <a:t>Flow Control Techniques in Data Link </a:t>
            </a:r>
            <a:r>
              <a:rPr lang="en-US" b="1" dirty="0" smtClean="0"/>
              <a:t>Layer</a:t>
            </a:r>
          </a:p>
          <a:p>
            <a:pPr marL="0" indent="0">
              <a:buNone/>
            </a:pPr>
            <a:endParaRPr lang="en-US" b="1" dirty="0"/>
          </a:p>
          <a:p>
            <a:r>
              <a:rPr lang="en-US" dirty="0"/>
              <a:t>Data link layer uses feedback based flow control mechanisms. There are two main </a:t>
            </a:r>
            <a:r>
              <a:rPr lang="en-US" dirty="0" smtClean="0"/>
              <a:t>techniques are: </a:t>
            </a:r>
            <a:r>
              <a:rPr lang="en-US" b="1" dirty="0"/>
              <a:t>Stop-and-Wait</a:t>
            </a:r>
            <a:r>
              <a:rPr lang="en-US" dirty="0"/>
              <a:t> and </a:t>
            </a:r>
            <a:r>
              <a:rPr lang="en-US" b="1" dirty="0"/>
              <a:t>sliding window technique</a:t>
            </a:r>
            <a:r>
              <a:rPr lang="en-US" dirty="0" smtClean="0"/>
              <a:t>.</a:t>
            </a:r>
          </a:p>
          <a:p>
            <a:endParaRPr lang="en-US" dirty="0"/>
          </a:p>
          <a:p>
            <a:pPr marL="514350" indent="-514350">
              <a:buAutoNum type="arabicPeriod"/>
            </a:pPr>
            <a:r>
              <a:rPr lang="en-US" b="1" dirty="0" smtClean="0"/>
              <a:t>Stop </a:t>
            </a:r>
            <a:r>
              <a:rPr lang="en-US" b="1" dirty="0"/>
              <a:t>and </a:t>
            </a:r>
            <a:r>
              <a:rPr lang="en-US" b="1" dirty="0" smtClean="0"/>
              <a:t>Wait:</a:t>
            </a:r>
          </a:p>
          <a:p>
            <a:pPr marL="0" indent="0">
              <a:buNone/>
            </a:pPr>
            <a:endParaRPr lang="en-US" b="1" dirty="0"/>
          </a:p>
          <a:p>
            <a:pPr marL="0" indent="0">
              <a:buNone/>
            </a:pPr>
            <a:r>
              <a:rPr lang="en-US" b="1" dirty="0"/>
              <a:t>Stop-and-wait protocol</a:t>
            </a:r>
            <a:r>
              <a:rPr lang="en-US" dirty="0"/>
              <a:t> works under the assumption that the communication channel is </a:t>
            </a:r>
            <a:r>
              <a:rPr lang="en-US" b="1" dirty="0"/>
              <a:t>noiseless</a:t>
            </a:r>
            <a:r>
              <a:rPr lang="en-US" dirty="0"/>
              <a:t> and transmissions are </a:t>
            </a:r>
            <a:r>
              <a:rPr lang="en-US" b="1" dirty="0"/>
              <a:t>error-free</a:t>
            </a:r>
            <a:r>
              <a:rPr lang="en-US" dirty="0"/>
              <a:t>.</a:t>
            </a:r>
            <a:endParaRPr lang="en-US" b="1" dirty="0" smtClean="0"/>
          </a:p>
          <a:p>
            <a:pPr marL="0" indent="0">
              <a:buNone/>
            </a:pPr>
            <a:endParaRPr lang="en-US" b="1" dirty="0"/>
          </a:p>
          <a:p>
            <a:pPr marL="0" indent="0">
              <a:buNone/>
            </a:pPr>
            <a:r>
              <a:rPr lang="en-US" dirty="0" smtClean="0"/>
              <a:t>This </a:t>
            </a:r>
            <a:r>
              <a:rPr lang="en-US" dirty="0"/>
              <a:t>protocol involves the following transitions :</a:t>
            </a:r>
            <a:endParaRPr lang="en-US" dirty="0" smtClean="0"/>
          </a:p>
          <a:p>
            <a:pPr marL="0" indent="0">
              <a:buNone/>
            </a:pPr>
            <a:endParaRPr lang="en-US" dirty="0"/>
          </a:p>
          <a:p>
            <a:r>
              <a:rPr lang="en-US" dirty="0"/>
              <a:t>The sender sends a frame and waits for acknowledgment</a:t>
            </a:r>
            <a:r>
              <a:rPr lang="en-US" dirty="0" smtClean="0"/>
              <a:t>.</a:t>
            </a:r>
          </a:p>
          <a:p>
            <a:endParaRPr lang="en-US" dirty="0"/>
          </a:p>
          <a:p>
            <a:r>
              <a:rPr lang="en-US" dirty="0"/>
              <a:t>Once the receiver receives the frame, it sends an acknowledgment frame back to the sender</a:t>
            </a:r>
            <a:r>
              <a:rPr lang="en-US" dirty="0" smtClean="0"/>
              <a:t>.</a:t>
            </a:r>
          </a:p>
          <a:p>
            <a:endParaRPr lang="en-US" dirty="0"/>
          </a:p>
          <a:p>
            <a:r>
              <a:rPr lang="en-US" dirty="0"/>
              <a:t>On receiving the acknowledgment frame, the sender understands that the receiver is ready to accept the next frame. So it sender the next frame in queue.</a:t>
            </a:r>
          </a:p>
          <a:p>
            <a:endParaRPr lang="en-US" dirty="0"/>
          </a:p>
          <a:p>
            <a:endParaRPr lang="en-IN" dirty="0"/>
          </a:p>
        </p:txBody>
      </p:sp>
    </p:spTree>
    <p:extLst>
      <p:ext uri="{BB962C8B-B14F-4D97-AF65-F5344CB8AC3E}">
        <p14:creationId xmlns:p14="http://schemas.microsoft.com/office/powerpoint/2010/main" val="37829509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control</a:t>
            </a:r>
          </a:p>
        </p:txBody>
      </p:sp>
      <p:pic>
        <p:nvPicPr>
          <p:cNvPr id="4098" name="Picture 2" descr="C:\Users\iims.faculty\Desktop\Untitled.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1812985"/>
            <a:ext cx="4411083" cy="4100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261512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Flow control</a:t>
            </a:r>
            <a:endParaRPr lang="en-IN" dirty="0"/>
          </a:p>
        </p:txBody>
      </p:sp>
      <p:sp>
        <p:nvSpPr>
          <p:cNvPr id="3" name="Content Placeholder 2"/>
          <p:cNvSpPr>
            <a:spLocks noGrp="1"/>
          </p:cNvSpPr>
          <p:nvPr>
            <p:ph idx="1"/>
          </p:nvPr>
        </p:nvSpPr>
        <p:spPr/>
        <p:txBody>
          <a:bodyPr>
            <a:normAutofit fontScale="40000" lnSpcReduction="20000"/>
          </a:bodyPr>
          <a:lstStyle/>
          <a:p>
            <a:pPr marL="0" indent="0">
              <a:buNone/>
            </a:pPr>
            <a:r>
              <a:rPr lang="en-US" b="1" dirty="0" smtClean="0"/>
              <a:t>2. Sliding Window:</a:t>
            </a:r>
          </a:p>
          <a:p>
            <a:pPr marL="0" indent="0">
              <a:buNone/>
            </a:pPr>
            <a:endParaRPr lang="en-US" b="1" dirty="0"/>
          </a:p>
          <a:p>
            <a:r>
              <a:rPr lang="en-US" dirty="0"/>
              <a:t>This protocol improves the efficiency of stop and wait protocol by allowing multiple frames to be transmitted before receiving an acknowledgment</a:t>
            </a:r>
            <a:r>
              <a:rPr lang="en-US" dirty="0" smtClean="0"/>
              <a:t>.</a:t>
            </a:r>
          </a:p>
          <a:p>
            <a:endParaRPr lang="en-US" dirty="0"/>
          </a:p>
          <a:p>
            <a:r>
              <a:rPr lang="en-US" dirty="0"/>
              <a:t>The </a:t>
            </a:r>
            <a:r>
              <a:rPr lang="en-US" b="1" dirty="0"/>
              <a:t>sliding window protocol</a:t>
            </a:r>
            <a:r>
              <a:rPr lang="en-US" dirty="0"/>
              <a:t> is the flow control protocol for </a:t>
            </a:r>
            <a:r>
              <a:rPr lang="en-US" b="1" dirty="0"/>
              <a:t>noisy channels </a:t>
            </a:r>
            <a:r>
              <a:rPr lang="en-US" dirty="0"/>
              <a:t>that allows the sender to send multiple frames even before acknowledgments are received. </a:t>
            </a:r>
            <a:endParaRPr lang="en-US" dirty="0" smtClean="0"/>
          </a:p>
          <a:p>
            <a:endParaRPr lang="en-US" dirty="0"/>
          </a:p>
          <a:p>
            <a:r>
              <a:rPr lang="en-US" dirty="0" smtClean="0"/>
              <a:t>It </a:t>
            </a:r>
            <a:r>
              <a:rPr lang="en-US" dirty="0"/>
              <a:t>is called a </a:t>
            </a:r>
            <a:r>
              <a:rPr lang="en-US" b="1" dirty="0"/>
              <a:t>Sliding window</a:t>
            </a:r>
            <a:r>
              <a:rPr lang="en-US" dirty="0"/>
              <a:t> because the sender slides its window upon receiving the acknowledgments for the sent frames.</a:t>
            </a:r>
            <a:endParaRPr lang="en-US" dirty="0" smtClean="0"/>
          </a:p>
          <a:p>
            <a:endParaRPr lang="en-US" dirty="0"/>
          </a:p>
          <a:p>
            <a:pPr marL="0" indent="0">
              <a:buNone/>
            </a:pPr>
            <a:r>
              <a:rPr lang="en-US" dirty="0"/>
              <a:t>The working principle of this protocol can be described as follows </a:t>
            </a:r>
            <a:r>
              <a:rPr lang="en-US" dirty="0" smtClean="0"/>
              <a:t>:</a:t>
            </a:r>
          </a:p>
          <a:p>
            <a:pPr marL="0" indent="0">
              <a:buNone/>
            </a:pPr>
            <a:endParaRPr lang="en-US" dirty="0"/>
          </a:p>
          <a:p>
            <a:r>
              <a:rPr lang="en-US" dirty="0"/>
              <a:t>Both the sender and the receiver has finite sized buffers called windows. The sender and the receiver agrees upon the number of frames to be sent based upon the buffer size</a:t>
            </a:r>
            <a:r>
              <a:rPr lang="en-US" dirty="0" smtClean="0"/>
              <a:t>.</a:t>
            </a:r>
          </a:p>
          <a:p>
            <a:endParaRPr lang="en-US" dirty="0"/>
          </a:p>
          <a:p>
            <a:r>
              <a:rPr lang="en-US" dirty="0"/>
              <a:t>The sender sends multiple frames in a sequence, without waiting for acknowledgment. </a:t>
            </a:r>
            <a:endParaRPr lang="en-US" dirty="0" smtClean="0"/>
          </a:p>
          <a:p>
            <a:endParaRPr lang="en-US" dirty="0"/>
          </a:p>
          <a:p>
            <a:r>
              <a:rPr lang="en-US" dirty="0" smtClean="0"/>
              <a:t>When </a:t>
            </a:r>
            <a:r>
              <a:rPr lang="en-US" dirty="0"/>
              <a:t>its sending window is filled, it waits for acknowledgment. </a:t>
            </a:r>
            <a:endParaRPr lang="en-US" dirty="0" smtClean="0"/>
          </a:p>
          <a:p>
            <a:endParaRPr lang="en-US" dirty="0"/>
          </a:p>
          <a:p>
            <a:r>
              <a:rPr lang="en-US" dirty="0" smtClean="0"/>
              <a:t>On </a:t>
            </a:r>
            <a:r>
              <a:rPr lang="en-US" dirty="0"/>
              <a:t>receiving </a:t>
            </a:r>
            <a:r>
              <a:rPr lang="en-US" dirty="0" smtClean="0"/>
              <a:t>acknowledgment(ACK), </a:t>
            </a:r>
            <a:r>
              <a:rPr lang="en-US" dirty="0"/>
              <a:t>it advances the window and transmits the next frames, according to the number of acknowledgments received.</a:t>
            </a:r>
          </a:p>
          <a:p>
            <a:endParaRPr lang="en-IN" dirty="0"/>
          </a:p>
        </p:txBody>
      </p:sp>
    </p:spTree>
    <p:extLst>
      <p:ext uri="{BB962C8B-B14F-4D97-AF65-F5344CB8AC3E}">
        <p14:creationId xmlns:p14="http://schemas.microsoft.com/office/powerpoint/2010/main" val="418586410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control</a:t>
            </a:r>
          </a:p>
        </p:txBody>
      </p:sp>
      <p:pic>
        <p:nvPicPr>
          <p:cNvPr id="5122" name="Picture 2" descr="C:\Users\iims.faculty\Desktop\Untitled.png"/>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447800" y="1524000"/>
            <a:ext cx="5719760" cy="450085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6050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Flow control</a:t>
            </a:r>
          </a:p>
        </p:txBody>
      </p:sp>
      <p:sp>
        <p:nvSpPr>
          <p:cNvPr id="3" name="Content Placeholder 2"/>
          <p:cNvSpPr>
            <a:spLocks noGrp="1"/>
          </p:cNvSpPr>
          <p:nvPr>
            <p:ph idx="1"/>
          </p:nvPr>
        </p:nvSpPr>
        <p:spPr/>
        <p:txBody>
          <a:bodyPr>
            <a:normAutofit/>
          </a:bodyPr>
          <a:lstStyle/>
          <a:p>
            <a:r>
              <a:rPr lang="en-US" sz="1800" dirty="0"/>
              <a:t>The sender sends the frames 0 and 1 from the first window (because the window size is 2</a:t>
            </a:r>
            <a:r>
              <a:rPr lang="en-US" sz="1800" dirty="0" smtClean="0"/>
              <a:t>).</a:t>
            </a:r>
          </a:p>
          <a:p>
            <a:endParaRPr lang="en-US" sz="1800" dirty="0"/>
          </a:p>
          <a:p>
            <a:r>
              <a:rPr lang="en-US" sz="1800" dirty="0"/>
              <a:t>The receiver after receiving the sent frames, sends an acknowledgment for frame 2 (as frame 2 is the next expected frame</a:t>
            </a:r>
            <a:r>
              <a:rPr lang="en-US" sz="1800" dirty="0" smtClean="0"/>
              <a:t>).</a:t>
            </a:r>
          </a:p>
          <a:p>
            <a:endParaRPr lang="en-US" sz="1800" dirty="0"/>
          </a:p>
          <a:p>
            <a:r>
              <a:rPr lang="en-US" sz="1800" dirty="0"/>
              <a:t>The sender then sends frames 2 and 3. Since frame 2 is lost on the way, the receiver sends back a “</a:t>
            </a:r>
            <a:r>
              <a:rPr lang="en-US" sz="1800" b="1" dirty="0"/>
              <a:t>NAK</a:t>
            </a:r>
            <a:r>
              <a:rPr lang="en-US" sz="1800" dirty="0"/>
              <a:t>” signal (a non-acknowledgment) to inform the sender that frame 2 has been lost. So, the sender retransmits frame 2.</a:t>
            </a:r>
          </a:p>
          <a:p>
            <a:endParaRPr lang="en-IN" dirty="0"/>
          </a:p>
        </p:txBody>
      </p:sp>
    </p:spTree>
    <p:extLst>
      <p:ext uri="{BB962C8B-B14F-4D97-AF65-F5344CB8AC3E}">
        <p14:creationId xmlns:p14="http://schemas.microsoft.com/office/powerpoint/2010/main" val="186305866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smtClean="0"/>
              <a:t>Error </a:t>
            </a:r>
            <a:r>
              <a:rPr lang="en-IN" sz="3200" dirty="0"/>
              <a:t>control</a:t>
            </a:r>
          </a:p>
        </p:txBody>
      </p:sp>
      <p:sp>
        <p:nvSpPr>
          <p:cNvPr id="3" name="Content Placeholder 2"/>
          <p:cNvSpPr>
            <a:spLocks noGrp="1"/>
          </p:cNvSpPr>
          <p:nvPr>
            <p:ph idx="1"/>
          </p:nvPr>
        </p:nvSpPr>
        <p:spPr/>
        <p:txBody>
          <a:bodyPr>
            <a:normAutofit/>
          </a:bodyPr>
          <a:lstStyle/>
          <a:p>
            <a:r>
              <a:rPr lang="en-US" sz="1800" b="1" dirty="0"/>
              <a:t>Error Control</a:t>
            </a:r>
            <a:r>
              <a:rPr lang="en-US" sz="1800" dirty="0"/>
              <a:t> contains both error detection and error correction. </a:t>
            </a:r>
            <a:endParaRPr lang="en-US" sz="1800" dirty="0" smtClean="0"/>
          </a:p>
          <a:p>
            <a:endParaRPr lang="en-US" sz="1800" dirty="0" smtClean="0"/>
          </a:p>
          <a:p>
            <a:r>
              <a:rPr lang="en-US" sz="1800" dirty="0" smtClean="0"/>
              <a:t>It </a:t>
            </a:r>
            <a:r>
              <a:rPr lang="en-US" sz="1800" dirty="0"/>
              <a:t>mainly allows the receiver to inform the sender about any damaged or lost frames during the transmission and then it coordinates with the retransmission of those frames by the sender</a:t>
            </a:r>
            <a:r>
              <a:rPr lang="en-US" sz="1800" dirty="0" smtClean="0"/>
              <a:t>.</a:t>
            </a:r>
          </a:p>
          <a:p>
            <a:endParaRPr lang="en-US" sz="1800" dirty="0"/>
          </a:p>
          <a:p>
            <a:r>
              <a:rPr lang="en-US" sz="1800" dirty="0"/>
              <a:t>The term Error control in the data link layer mainly refers to the methods of error detection and retransmission. </a:t>
            </a:r>
            <a:endParaRPr lang="en-US" sz="1800" dirty="0" smtClean="0"/>
          </a:p>
          <a:p>
            <a:endParaRPr lang="en-US" sz="1800" dirty="0"/>
          </a:p>
          <a:p>
            <a:r>
              <a:rPr lang="en-US" sz="1800" dirty="0" smtClean="0"/>
              <a:t>Error </a:t>
            </a:r>
            <a:r>
              <a:rPr lang="en-US" sz="1800" dirty="0"/>
              <a:t>control is mainly implemented in a simple way and that is whenever there is an error detected during the exchange, then specified frames are retransmitted and this process is also referred to as </a:t>
            </a:r>
            <a:r>
              <a:rPr lang="en-US" sz="1800" b="1" dirty="0"/>
              <a:t>Automatic Repeat request(ARQ).</a:t>
            </a:r>
            <a:endParaRPr lang="en-US" sz="1800" dirty="0"/>
          </a:p>
          <a:p>
            <a:endParaRPr lang="en-IN" dirty="0"/>
          </a:p>
        </p:txBody>
      </p:sp>
    </p:spTree>
    <p:extLst>
      <p:ext uri="{BB962C8B-B14F-4D97-AF65-F5344CB8AC3E}">
        <p14:creationId xmlns:p14="http://schemas.microsoft.com/office/powerpoint/2010/main" val="264128451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sp>
        <p:nvSpPr>
          <p:cNvPr id="3" name="Content Placeholder 2"/>
          <p:cNvSpPr>
            <a:spLocks noGrp="1"/>
          </p:cNvSpPr>
          <p:nvPr>
            <p:ph idx="1"/>
          </p:nvPr>
        </p:nvSpPr>
        <p:spPr/>
        <p:txBody>
          <a:bodyPr>
            <a:noAutofit/>
          </a:bodyPr>
          <a:lstStyle/>
          <a:p>
            <a:r>
              <a:rPr lang="en-US" sz="1800" b="1" dirty="0"/>
              <a:t>Error control</a:t>
            </a:r>
            <a:r>
              <a:rPr lang="en-US" sz="1800" dirty="0"/>
              <a:t> is a vital function of the data link layer that detects errors in transmitted frames and retransmits all the erroneous frames. </a:t>
            </a:r>
            <a:endParaRPr lang="en-US" sz="1800" dirty="0" smtClean="0"/>
          </a:p>
          <a:p>
            <a:endParaRPr lang="en-US" sz="1800" dirty="0"/>
          </a:p>
          <a:p>
            <a:r>
              <a:rPr lang="en-US" sz="1800" dirty="0" smtClean="0"/>
              <a:t>Error </a:t>
            </a:r>
            <a:r>
              <a:rPr lang="en-US" sz="1800" dirty="0"/>
              <a:t>discovery and amendment deal with data frames damaged or lost in transit and the acknowledgment frames lost during transmission</a:t>
            </a:r>
            <a:r>
              <a:rPr lang="en-US" sz="1800" dirty="0" smtClean="0"/>
              <a:t>.</a:t>
            </a:r>
          </a:p>
          <a:p>
            <a:endParaRPr lang="en-US" sz="1800" dirty="0" smtClean="0"/>
          </a:p>
          <a:p>
            <a:r>
              <a:rPr lang="en-US" sz="1800" dirty="0" smtClean="0"/>
              <a:t>The </a:t>
            </a:r>
            <a:r>
              <a:rPr lang="en-US" sz="1800" dirty="0"/>
              <a:t>method used in noisy channels to control these errors is </a:t>
            </a:r>
            <a:r>
              <a:rPr lang="en-US" sz="1800" b="1" dirty="0"/>
              <a:t>ARQ</a:t>
            </a:r>
            <a:r>
              <a:rPr lang="en-US" sz="1800" dirty="0"/>
              <a:t> or </a:t>
            </a:r>
            <a:r>
              <a:rPr lang="en-US" sz="1800" b="1" dirty="0"/>
              <a:t>Automatic Repeat Request</a:t>
            </a:r>
            <a:r>
              <a:rPr lang="en-US" sz="1800" dirty="0" smtClean="0"/>
              <a:t>.</a:t>
            </a:r>
          </a:p>
          <a:p>
            <a:endParaRPr lang="en-US" sz="1800" dirty="0"/>
          </a:p>
          <a:p>
            <a:pPr marL="0" indent="0">
              <a:buNone/>
            </a:pPr>
            <a:endParaRPr lang="en-IN" sz="1800" dirty="0"/>
          </a:p>
        </p:txBody>
      </p:sp>
    </p:spTree>
    <p:extLst>
      <p:ext uri="{BB962C8B-B14F-4D97-AF65-F5344CB8AC3E}">
        <p14:creationId xmlns:p14="http://schemas.microsoft.com/office/powerpoint/2010/main" val="2972919295"/>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sp>
        <p:nvSpPr>
          <p:cNvPr id="3" name="Content Placeholder 2"/>
          <p:cNvSpPr>
            <a:spLocks noGrp="1"/>
          </p:cNvSpPr>
          <p:nvPr>
            <p:ph idx="1"/>
          </p:nvPr>
        </p:nvSpPr>
        <p:spPr/>
        <p:txBody>
          <a:bodyPr>
            <a:normAutofit fontScale="92500" lnSpcReduction="10000"/>
          </a:bodyPr>
          <a:lstStyle/>
          <a:p>
            <a:pPr marL="0" indent="0">
              <a:buNone/>
            </a:pPr>
            <a:r>
              <a:rPr lang="en-US" sz="1900" b="1" dirty="0"/>
              <a:t>Categories of Error Control</a:t>
            </a:r>
          </a:p>
          <a:p>
            <a:pPr marL="0" indent="0">
              <a:buNone/>
            </a:pPr>
            <a:endParaRPr lang="en-US" b="1" dirty="0"/>
          </a:p>
          <a:p>
            <a:pPr marL="0" indent="0">
              <a:buNone/>
            </a:pPr>
            <a:r>
              <a:rPr lang="en-US" sz="1900" b="1" dirty="0" smtClean="0"/>
              <a:t>1. Stop-and-wait </a:t>
            </a:r>
            <a:r>
              <a:rPr lang="en-US" sz="1900" b="1" dirty="0"/>
              <a:t>ARQ</a:t>
            </a:r>
          </a:p>
          <a:p>
            <a:endParaRPr lang="en-US" sz="1900" b="1" dirty="0"/>
          </a:p>
          <a:p>
            <a:r>
              <a:rPr lang="en-US" sz="1900" dirty="0"/>
              <a:t>In the case of </a:t>
            </a:r>
            <a:r>
              <a:rPr lang="en-US" sz="1900" b="1" dirty="0"/>
              <a:t>stop-and-wait ARQ</a:t>
            </a:r>
            <a:r>
              <a:rPr lang="en-US" sz="1900" dirty="0"/>
              <a:t> after the frame is sent, the sender maintains a timeout counter</a:t>
            </a:r>
            <a:r>
              <a:rPr lang="en-US" sz="1900" dirty="0" smtClean="0"/>
              <a:t>.</a:t>
            </a:r>
          </a:p>
          <a:p>
            <a:endParaRPr lang="en-US" sz="1900" dirty="0"/>
          </a:p>
          <a:p>
            <a:r>
              <a:rPr lang="en-US" sz="1900" dirty="0"/>
              <a:t>If acknowledgment of the frame comes in time, the sender transmits the next frame in the queue</a:t>
            </a:r>
            <a:r>
              <a:rPr lang="en-US" sz="1900" dirty="0" smtClean="0"/>
              <a:t>.</a:t>
            </a:r>
          </a:p>
          <a:p>
            <a:endParaRPr lang="en-US" sz="1900" dirty="0"/>
          </a:p>
          <a:p>
            <a:r>
              <a:rPr lang="en-US" sz="1900" dirty="0"/>
              <a:t>Else, the sender retransmits the frame and starts the timeout counter</a:t>
            </a:r>
            <a:r>
              <a:rPr lang="en-US" sz="1900" dirty="0" smtClean="0"/>
              <a:t>.</a:t>
            </a:r>
          </a:p>
          <a:p>
            <a:endParaRPr lang="en-US" sz="1900" dirty="0"/>
          </a:p>
          <a:p>
            <a:r>
              <a:rPr lang="en-US" sz="1900" dirty="0"/>
              <a:t>In case the receiver receives a negative acknowledgment, the sender retransmits the frame.</a:t>
            </a:r>
          </a:p>
          <a:p>
            <a:endParaRPr lang="en-IN" dirty="0"/>
          </a:p>
        </p:txBody>
      </p:sp>
    </p:spTree>
    <p:extLst>
      <p:ext uri="{BB962C8B-B14F-4D97-AF65-F5344CB8AC3E}">
        <p14:creationId xmlns:p14="http://schemas.microsoft.com/office/powerpoint/2010/main" val="2119483985"/>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sp>
        <p:nvSpPr>
          <p:cNvPr id="4" name="AutoShape 2" descr="stop-and-wait-arq-in-link-laye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27" name="Picture 3" descr="C:\Users\iims.faculty\Desktop\Untitled1.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62200" y="1524000"/>
            <a:ext cx="4419600" cy="46243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2395439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sp>
        <p:nvSpPr>
          <p:cNvPr id="3" name="Content Placeholder 2"/>
          <p:cNvSpPr>
            <a:spLocks noGrp="1"/>
          </p:cNvSpPr>
          <p:nvPr>
            <p:ph idx="1"/>
          </p:nvPr>
        </p:nvSpPr>
        <p:spPr/>
        <p:txBody>
          <a:bodyPr>
            <a:normAutofit/>
          </a:bodyPr>
          <a:lstStyle/>
          <a:p>
            <a:pPr marL="0" indent="0">
              <a:buNone/>
            </a:pPr>
            <a:r>
              <a:rPr lang="en-US" sz="1800" b="1" dirty="0" smtClean="0"/>
              <a:t>2. Sliding </a:t>
            </a:r>
            <a:r>
              <a:rPr lang="en-US" sz="1800" b="1" dirty="0"/>
              <a:t>Window </a:t>
            </a:r>
            <a:r>
              <a:rPr lang="en-US" sz="1800" b="1" dirty="0" smtClean="0"/>
              <a:t>ARQ</a:t>
            </a:r>
          </a:p>
          <a:p>
            <a:pPr marL="0" indent="0">
              <a:buNone/>
            </a:pPr>
            <a:endParaRPr lang="en-US" sz="1800" b="1" dirty="0"/>
          </a:p>
          <a:p>
            <a:r>
              <a:rPr lang="en-US" sz="1800" dirty="0"/>
              <a:t>To deal with the retransmission of lost or damaged frames, a few changes are made to the sliding window mechanism used in flow control</a:t>
            </a:r>
            <a:r>
              <a:rPr lang="en-US" sz="1800" dirty="0" smtClean="0"/>
              <a:t>.</a:t>
            </a:r>
          </a:p>
          <a:p>
            <a:pPr marL="0" indent="0">
              <a:buNone/>
            </a:pPr>
            <a:endParaRPr lang="en-US" sz="1800" dirty="0"/>
          </a:p>
          <a:p>
            <a:pPr marL="571500" indent="-571500">
              <a:buAutoNum type="romanLcParenR"/>
            </a:pPr>
            <a:r>
              <a:rPr lang="en-US" sz="1800" b="1" dirty="0" smtClean="0"/>
              <a:t>Go-Back-N </a:t>
            </a:r>
            <a:r>
              <a:rPr lang="en-US" sz="1800" b="1" dirty="0"/>
              <a:t>ARQ </a:t>
            </a:r>
            <a:r>
              <a:rPr lang="en-US" sz="1800" b="1" dirty="0" smtClean="0"/>
              <a:t>:</a:t>
            </a:r>
          </a:p>
          <a:p>
            <a:pPr marL="0" indent="0">
              <a:buNone/>
            </a:pPr>
            <a:endParaRPr lang="en-US" sz="1800" dirty="0"/>
          </a:p>
          <a:p>
            <a:r>
              <a:rPr lang="en-US" sz="1800" dirty="0"/>
              <a:t>In </a:t>
            </a:r>
            <a:r>
              <a:rPr lang="en-US" sz="1800" b="1" dirty="0"/>
              <a:t>Go-Back-N ARQ</a:t>
            </a:r>
            <a:r>
              <a:rPr lang="en-US" sz="1800" dirty="0"/>
              <a:t>, if the sent frames are suspected or damaged, all the frames are re-transmitted from the lost packet to the last packet transmitted.</a:t>
            </a:r>
          </a:p>
          <a:p>
            <a:endParaRPr lang="en-IN" dirty="0"/>
          </a:p>
        </p:txBody>
      </p:sp>
    </p:spTree>
    <p:extLst>
      <p:ext uri="{BB962C8B-B14F-4D97-AF65-F5344CB8AC3E}">
        <p14:creationId xmlns:p14="http://schemas.microsoft.com/office/powerpoint/2010/main" val="81209010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pic>
        <p:nvPicPr>
          <p:cNvPr id="2050" name="Picture 2" descr="C:\Users\iims.faculty\Desktop\Untitled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43100" y="1524000"/>
            <a:ext cx="5257800" cy="5029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122476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sp>
        <p:nvSpPr>
          <p:cNvPr id="3" name="Content Placeholder 2"/>
          <p:cNvSpPr>
            <a:spLocks noGrp="1"/>
          </p:cNvSpPr>
          <p:nvPr>
            <p:ph idx="1"/>
          </p:nvPr>
        </p:nvSpPr>
        <p:spPr/>
        <p:txBody>
          <a:bodyPr/>
          <a:lstStyle/>
          <a:p>
            <a:pPr marL="0" indent="0">
              <a:buNone/>
            </a:pPr>
            <a:r>
              <a:rPr lang="en-US" sz="1800" b="1" dirty="0" smtClean="0"/>
              <a:t>ii)Selective </a:t>
            </a:r>
            <a:r>
              <a:rPr lang="en-US" sz="1800" b="1" dirty="0"/>
              <a:t>Repeat ARQ </a:t>
            </a:r>
            <a:r>
              <a:rPr lang="en-US" sz="1800" b="1" dirty="0" smtClean="0"/>
              <a:t>:</a:t>
            </a:r>
          </a:p>
          <a:p>
            <a:pPr marL="0" indent="0">
              <a:buNone/>
            </a:pPr>
            <a:endParaRPr lang="en-US" sz="1800" dirty="0"/>
          </a:p>
          <a:p>
            <a:r>
              <a:rPr lang="en-US" sz="1800" b="1" dirty="0"/>
              <a:t>Selective repeat ARQ/ Selective Reject ARQ</a:t>
            </a:r>
            <a:r>
              <a:rPr lang="en-US" sz="1800" dirty="0"/>
              <a:t> is a type of Sliding Window ARQ in which only the suspected or damaged frames are re-transmitted.</a:t>
            </a:r>
          </a:p>
          <a:p>
            <a:endParaRPr lang="en-IN" dirty="0"/>
          </a:p>
        </p:txBody>
      </p:sp>
    </p:spTree>
    <p:extLst>
      <p:ext uri="{BB962C8B-B14F-4D97-AF65-F5344CB8AC3E}">
        <p14:creationId xmlns:p14="http://schemas.microsoft.com/office/powerpoint/2010/main" val="125908176"/>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Error control</a:t>
            </a:r>
          </a:p>
        </p:txBody>
      </p:sp>
      <p:pic>
        <p:nvPicPr>
          <p:cNvPr id="3074" name="Picture 2" descr="C:\Users\iims.faculty\Desktop\Untitled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447800"/>
            <a:ext cx="8610599" cy="46529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2349138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HDLC protocol </a:t>
            </a:r>
          </a:p>
        </p:txBody>
      </p:sp>
      <p:sp>
        <p:nvSpPr>
          <p:cNvPr id="3" name="Content Placeholder 2"/>
          <p:cNvSpPr>
            <a:spLocks noGrp="1"/>
          </p:cNvSpPr>
          <p:nvPr>
            <p:ph idx="1"/>
          </p:nvPr>
        </p:nvSpPr>
        <p:spPr/>
        <p:txBody>
          <a:bodyPr>
            <a:normAutofit fontScale="92500" lnSpcReduction="20000"/>
          </a:bodyPr>
          <a:lstStyle/>
          <a:p>
            <a:r>
              <a:rPr lang="en-US" sz="1800" dirty="0"/>
              <a:t>High-level Data Link Control (HDLC) is a group of communication protocols of the data link layer for transmitting data between network points or nodes. </a:t>
            </a:r>
            <a:endParaRPr lang="en-US" sz="1800" dirty="0" smtClean="0"/>
          </a:p>
          <a:p>
            <a:endParaRPr lang="en-US" sz="1800" dirty="0"/>
          </a:p>
          <a:p>
            <a:r>
              <a:rPr lang="en-US" sz="1800" dirty="0" smtClean="0"/>
              <a:t>Since </a:t>
            </a:r>
            <a:r>
              <a:rPr lang="en-US" sz="1800" dirty="0"/>
              <a:t>it is a data link protocol, data is organized into frames. A frame is transmitted via the network to the destination that verifies its successful arrival. </a:t>
            </a:r>
            <a:endParaRPr lang="en-US" sz="1800" dirty="0" smtClean="0"/>
          </a:p>
          <a:p>
            <a:endParaRPr lang="en-US" sz="1800" dirty="0"/>
          </a:p>
          <a:p>
            <a:r>
              <a:rPr lang="en-US" sz="1800" dirty="0" smtClean="0"/>
              <a:t>It </a:t>
            </a:r>
            <a:r>
              <a:rPr lang="en-US" sz="1800" dirty="0"/>
              <a:t>is a bit - oriented protocol that is applicable for both point - to - point and multipoint communications</a:t>
            </a:r>
            <a:r>
              <a:rPr lang="en-US" sz="1800" dirty="0" smtClean="0"/>
              <a:t>.</a:t>
            </a:r>
          </a:p>
          <a:p>
            <a:endParaRPr lang="en-US" sz="1800" dirty="0"/>
          </a:p>
          <a:p>
            <a:pPr marL="0" indent="0">
              <a:buNone/>
            </a:pPr>
            <a:r>
              <a:rPr lang="en-US" sz="1800" b="1" dirty="0"/>
              <a:t>Transfer </a:t>
            </a:r>
            <a:r>
              <a:rPr lang="en-US" sz="1800" b="1" dirty="0" smtClean="0"/>
              <a:t>Modes: </a:t>
            </a:r>
          </a:p>
          <a:p>
            <a:pPr marL="0" indent="0">
              <a:buNone/>
            </a:pPr>
            <a:endParaRPr lang="en-US" sz="1800" b="1" dirty="0"/>
          </a:p>
          <a:p>
            <a:r>
              <a:rPr lang="en-US" sz="1800" dirty="0"/>
              <a:t>HDLC supports two types of transfer modes, </a:t>
            </a:r>
            <a:r>
              <a:rPr lang="en-US" sz="1800" b="1" dirty="0"/>
              <a:t>normal response mode </a:t>
            </a:r>
            <a:r>
              <a:rPr lang="en-US" sz="1800" dirty="0"/>
              <a:t>and </a:t>
            </a:r>
            <a:r>
              <a:rPr lang="en-US" sz="1800" b="1" dirty="0"/>
              <a:t>asynchronous balanced </a:t>
            </a:r>
            <a:r>
              <a:rPr lang="en-US" sz="1800" b="1" dirty="0" smtClean="0"/>
              <a:t>mode</a:t>
            </a:r>
            <a:r>
              <a:rPr lang="en-US" sz="1800" dirty="0" smtClean="0"/>
              <a:t>.</a:t>
            </a:r>
          </a:p>
          <a:p>
            <a:endParaRPr lang="en-US" sz="1800" b="1" dirty="0"/>
          </a:p>
          <a:p>
            <a:r>
              <a:rPr lang="en-US" sz="1800" b="1" dirty="0" smtClean="0"/>
              <a:t>Normal </a:t>
            </a:r>
            <a:r>
              <a:rPr lang="en-US" sz="1800" b="1" dirty="0"/>
              <a:t>Response Mode (NRM)</a:t>
            </a:r>
            <a:r>
              <a:rPr lang="en-US" sz="1800" dirty="0"/>
              <a:t> − Here, two types of stations are there, a primary station that send commands and secondary station that can respond to received commands. It is used for both point - to - point and multipoint communications.</a:t>
            </a:r>
          </a:p>
          <a:p>
            <a:endParaRPr lang="en-IN" sz="1800" dirty="0"/>
          </a:p>
        </p:txBody>
      </p:sp>
    </p:spTree>
    <p:extLst>
      <p:ext uri="{BB962C8B-B14F-4D97-AF65-F5344CB8AC3E}">
        <p14:creationId xmlns:p14="http://schemas.microsoft.com/office/powerpoint/2010/main" val="1805903649"/>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HDLC protocol </a:t>
            </a:r>
          </a:p>
        </p:txBody>
      </p:sp>
      <p:pic>
        <p:nvPicPr>
          <p:cNvPr id="4098" name="Picture 2" descr="https://www.tutorialspoint.com/assets/questions/media/15399/transfer_modes.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828799"/>
            <a:ext cx="7162800" cy="440055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088346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HDLC protocol </a:t>
            </a:r>
          </a:p>
        </p:txBody>
      </p:sp>
      <p:sp>
        <p:nvSpPr>
          <p:cNvPr id="3" name="Content Placeholder 2"/>
          <p:cNvSpPr>
            <a:spLocks noGrp="1"/>
          </p:cNvSpPr>
          <p:nvPr>
            <p:ph idx="1"/>
          </p:nvPr>
        </p:nvSpPr>
        <p:spPr/>
        <p:txBody>
          <a:bodyPr/>
          <a:lstStyle/>
          <a:p>
            <a:r>
              <a:rPr lang="en-US" sz="1800" b="1" dirty="0"/>
              <a:t>Asynchronous Balanced Mode (ABM)</a:t>
            </a:r>
            <a:r>
              <a:rPr lang="en-US" sz="1800" dirty="0"/>
              <a:t> − Here, the configuration is balanced, i.e. each station can both send commands and respond to commands. It is used for </a:t>
            </a:r>
            <a:r>
              <a:rPr lang="en-US" sz="1800" b="1" dirty="0"/>
              <a:t>only</a:t>
            </a:r>
            <a:r>
              <a:rPr lang="en-US" sz="1800" dirty="0"/>
              <a:t> point - to - point communications</a:t>
            </a:r>
            <a:r>
              <a:rPr lang="en-US" sz="1800" dirty="0" smtClean="0"/>
              <a:t>.</a:t>
            </a:r>
          </a:p>
          <a:p>
            <a:endParaRPr lang="en-US" sz="1800" dirty="0"/>
          </a:p>
          <a:p>
            <a:endParaRPr lang="en-IN" dirty="0"/>
          </a:p>
        </p:txBody>
      </p:sp>
      <p:pic>
        <p:nvPicPr>
          <p:cNvPr id="5122" name="Picture 2" descr="https://www.tutorialspoint.com/assets/questions/media/15399/abm.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0600" y="2971800"/>
            <a:ext cx="6553200" cy="2590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3040535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3200" dirty="0"/>
              <a:t>HDLC protocol </a:t>
            </a:r>
            <a:endParaRPr lang="en-IN" dirty="0"/>
          </a:p>
        </p:txBody>
      </p:sp>
      <p:sp>
        <p:nvSpPr>
          <p:cNvPr id="3" name="Content Placeholder 2"/>
          <p:cNvSpPr>
            <a:spLocks noGrp="1"/>
          </p:cNvSpPr>
          <p:nvPr>
            <p:ph idx="1"/>
          </p:nvPr>
        </p:nvSpPr>
        <p:spPr>
          <a:xfrm>
            <a:off x="457200" y="1295400"/>
            <a:ext cx="8229600" cy="4525963"/>
          </a:xfrm>
        </p:spPr>
        <p:txBody>
          <a:bodyPr>
            <a:normAutofit fontScale="47500" lnSpcReduction="20000"/>
          </a:bodyPr>
          <a:lstStyle/>
          <a:p>
            <a:pPr marL="0" indent="0">
              <a:buNone/>
            </a:pPr>
            <a:r>
              <a:rPr lang="en-US" b="1" dirty="0"/>
              <a:t>HDLC </a:t>
            </a:r>
            <a:r>
              <a:rPr lang="en-US" b="1" dirty="0" smtClean="0"/>
              <a:t>Frame:</a:t>
            </a:r>
          </a:p>
          <a:p>
            <a:pPr marL="0" indent="0">
              <a:buNone/>
            </a:pPr>
            <a:endParaRPr lang="en-US" b="1" dirty="0"/>
          </a:p>
          <a:p>
            <a:r>
              <a:rPr lang="en-US" dirty="0"/>
              <a:t>HDLC is a bit - oriented protocol where each frame contains up to six fields. The structure varies according to the type of frame. The fields of a HDLC frame are </a:t>
            </a:r>
            <a:r>
              <a:rPr lang="en-US" dirty="0" smtClean="0"/>
              <a:t>:</a:t>
            </a:r>
          </a:p>
          <a:p>
            <a:endParaRPr lang="en-US" dirty="0"/>
          </a:p>
          <a:p>
            <a:r>
              <a:rPr lang="en-US" b="1" dirty="0"/>
              <a:t>Flag</a:t>
            </a:r>
            <a:r>
              <a:rPr lang="en-US" dirty="0"/>
              <a:t> − It is an 8-bit sequence that marks the beginning and the end of the frame. The bit pattern of the flag is 01111110</a:t>
            </a:r>
            <a:r>
              <a:rPr lang="en-US" dirty="0" smtClean="0"/>
              <a:t>.</a:t>
            </a:r>
          </a:p>
          <a:p>
            <a:endParaRPr lang="en-US" dirty="0"/>
          </a:p>
          <a:p>
            <a:r>
              <a:rPr lang="en-US" b="1" dirty="0"/>
              <a:t>Address</a:t>
            </a:r>
            <a:r>
              <a:rPr lang="en-US" dirty="0"/>
              <a:t> − It contains the address of the receiver. If the frame is sent by the primary station, it contains the address(</a:t>
            </a:r>
            <a:r>
              <a:rPr lang="en-US" dirty="0" err="1"/>
              <a:t>es</a:t>
            </a:r>
            <a:r>
              <a:rPr lang="en-US" dirty="0"/>
              <a:t>) of the secondary station(s). If it is sent by the secondary station, it contains the address of the primary station. The address field may be from 1 byte to several bytes</a:t>
            </a:r>
            <a:r>
              <a:rPr lang="en-US" dirty="0" smtClean="0"/>
              <a:t>.</a:t>
            </a:r>
          </a:p>
          <a:p>
            <a:endParaRPr lang="en-US" dirty="0"/>
          </a:p>
          <a:p>
            <a:r>
              <a:rPr lang="en-US" b="1" dirty="0"/>
              <a:t>Control</a:t>
            </a:r>
            <a:r>
              <a:rPr lang="en-US" dirty="0"/>
              <a:t> − It is 1 or 2 bytes containing flow and error control information</a:t>
            </a:r>
            <a:r>
              <a:rPr lang="en-US" dirty="0" smtClean="0"/>
              <a:t>.</a:t>
            </a:r>
          </a:p>
          <a:p>
            <a:endParaRPr lang="en-US" dirty="0"/>
          </a:p>
          <a:p>
            <a:r>
              <a:rPr lang="en-US" b="1" dirty="0"/>
              <a:t>Payload</a:t>
            </a:r>
            <a:r>
              <a:rPr lang="en-US" dirty="0"/>
              <a:t> − This carries the data from the network layer. Its length may vary from one network to another</a:t>
            </a:r>
            <a:r>
              <a:rPr lang="en-US" dirty="0" smtClean="0"/>
              <a:t>.</a:t>
            </a:r>
          </a:p>
          <a:p>
            <a:endParaRPr lang="en-US" dirty="0"/>
          </a:p>
          <a:p>
            <a:r>
              <a:rPr lang="en-US" b="1" dirty="0"/>
              <a:t>FCS</a:t>
            </a:r>
            <a:r>
              <a:rPr lang="en-US" dirty="0"/>
              <a:t> − It is a 2 byte or 4 bytes frame check sequence for error detection. The standard code used is CRC (cyclic redundancy code)</a:t>
            </a:r>
          </a:p>
          <a:p>
            <a:endParaRPr lang="en-IN" dirty="0"/>
          </a:p>
        </p:txBody>
      </p:sp>
      <p:pic>
        <p:nvPicPr>
          <p:cNvPr id="4" name="Picture 2" descr="https://www.tutorialspoint.com/assets/questions/media/15399/hdlc_frame.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5486400"/>
            <a:ext cx="6248400" cy="11906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6318678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HDLC protocol </a:t>
            </a:r>
          </a:p>
        </p:txBody>
      </p:sp>
      <p:sp>
        <p:nvSpPr>
          <p:cNvPr id="3" name="Content Placeholder 2"/>
          <p:cNvSpPr>
            <a:spLocks noGrp="1"/>
          </p:cNvSpPr>
          <p:nvPr>
            <p:ph idx="1"/>
          </p:nvPr>
        </p:nvSpPr>
        <p:spPr/>
        <p:txBody>
          <a:bodyPr>
            <a:normAutofit fontScale="55000" lnSpcReduction="20000"/>
          </a:bodyPr>
          <a:lstStyle/>
          <a:p>
            <a:pPr marL="0" indent="0">
              <a:buNone/>
            </a:pPr>
            <a:r>
              <a:rPr lang="en-US" b="1" dirty="0"/>
              <a:t>Types of HDLC </a:t>
            </a:r>
            <a:r>
              <a:rPr lang="en-US" b="1" dirty="0" smtClean="0"/>
              <a:t>Frames:</a:t>
            </a:r>
          </a:p>
          <a:p>
            <a:pPr marL="0" indent="0">
              <a:buNone/>
            </a:pPr>
            <a:endParaRPr lang="en-US" b="1" dirty="0"/>
          </a:p>
          <a:p>
            <a:pPr marL="0" indent="0">
              <a:buNone/>
            </a:pPr>
            <a:r>
              <a:rPr lang="en-US" dirty="0"/>
              <a:t>There are three types of HDLC frames. The type of frame is determined by the control field of the frame </a:t>
            </a:r>
            <a:endParaRPr lang="en-US" dirty="0" smtClean="0"/>
          </a:p>
          <a:p>
            <a:pPr marL="0" indent="0">
              <a:buNone/>
            </a:pPr>
            <a:endParaRPr lang="en-US" dirty="0"/>
          </a:p>
          <a:p>
            <a:r>
              <a:rPr lang="en-US" b="1" dirty="0"/>
              <a:t>I-frame</a:t>
            </a:r>
            <a:r>
              <a:rPr lang="en-US" dirty="0"/>
              <a:t> </a:t>
            </a:r>
            <a:r>
              <a:rPr lang="en-US" dirty="0" smtClean="0"/>
              <a:t>: </a:t>
            </a:r>
            <a:r>
              <a:rPr lang="en-US" dirty="0"/>
              <a:t>I-frames or Information frames carry user data from the network layer. They also include flow and error control information that is piggybacked on user data. The first bit of control field of I-frame is 0</a:t>
            </a:r>
            <a:r>
              <a:rPr lang="en-US" dirty="0" smtClean="0"/>
              <a:t>.</a:t>
            </a:r>
          </a:p>
          <a:p>
            <a:endParaRPr lang="en-US" dirty="0"/>
          </a:p>
          <a:p>
            <a:r>
              <a:rPr lang="en-US" b="1" dirty="0"/>
              <a:t>S-frame</a:t>
            </a:r>
            <a:r>
              <a:rPr lang="en-US" dirty="0"/>
              <a:t> </a:t>
            </a:r>
            <a:r>
              <a:rPr lang="en-US" dirty="0" smtClean="0"/>
              <a:t>: </a:t>
            </a:r>
            <a:r>
              <a:rPr lang="en-US" dirty="0"/>
              <a:t>S-frames or Supervisory frames do not contain information field. They are used for flow and error control when piggybacking is not required. The first two bits of control field of S-frame is 10</a:t>
            </a:r>
            <a:r>
              <a:rPr lang="en-US" dirty="0" smtClean="0"/>
              <a:t>.</a:t>
            </a:r>
          </a:p>
          <a:p>
            <a:endParaRPr lang="en-US" dirty="0"/>
          </a:p>
          <a:p>
            <a:r>
              <a:rPr lang="en-US" b="1" dirty="0"/>
              <a:t>U-frame</a:t>
            </a:r>
            <a:r>
              <a:rPr lang="en-US" dirty="0"/>
              <a:t> </a:t>
            </a:r>
            <a:r>
              <a:rPr lang="en-US" dirty="0" smtClean="0"/>
              <a:t>: U-frames </a:t>
            </a:r>
            <a:r>
              <a:rPr lang="en-US" dirty="0"/>
              <a:t>or Un-numbered frames are used for myriad miscellaneous functions, like link management. It may contain an information field, if required. The first two bits of control field of U-frame is 11.</a:t>
            </a:r>
          </a:p>
          <a:p>
            <a:endParaRPr lang="en-IN" dirty="0"/>
          </a:p>
        </p:txBody>
      </p:sp>
    </p:spTree>
    <p:extLst>
      <p:ext uri="{BB962C8B-B14F-4D97-AF65-F5344CB8AC3E}">
        <p14:creationId xmlns:p14="http://schemas.microsoft.com/office/powerpoint/2010/main" val="3676978479"/>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HDLC protocol </a:t>
            </a:r>
          </a:p>
        </p:txBody>
      </p:sp>
      <p:pic>
        <p:nvPicPr>
          <p:cNvPr id="7170" name="Picture 2" descr="https://www.tutorialspoint.com/assets/questions/media/15399/hdlc_frame2.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0200" y="1676400"/>
            <a:ext cx="5619750" cy="4772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052691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P2P Protocol</a:t>
            </a:r>
          </a:p>
        </p:txBody>
      </p:sp>
      <p:sp>
        <p:nvSpPr>
          <p:cNvPr id="3" name="Content Placeholder 2"/>
          <p:cNvSpPr>
            <a:spLocks noGrp="1"/>
          </p:cNvSpPr>
          <p:nvPr>
            <p:ph idx="1"/>
          </p:nvPr>
        </p:nvSpPr>
        <p:spPr/>
        <p:txBody>
          <a:bodyPr>
            <a:normAutofit fontScale="47500" lnSpcReduction="20000"/>
          </a:bodyPr>
          <a:lstStyle/>
          <a:p>
            <a:r>
              <a:rPr lang="en-US" b="1" dirty="0"/>
              <a:t>PPP</a:t>
            </a:r>
            <a:r>
              <a:rPr lang="en-US" dirty="0"/>
              <a:t>(Point-To-Point) protocol is a protocol used in the data link layer. The </a:t>
            </a:r>
            <a:r>
              <a:rPr lang="en-US" b="1" dirty="0"/>
              <a:t>PPP</a:t>
            </a:r>
            <a:r>
              <a:rPr lang="en-US" dirty="0"/>
              <a:t> protocol is mainly used to establish a direct connection between two nodes</a:t>
            </a:r>
            <a:r>
              <a:rPr lang="en-US" dirty="0" smtClean="0"/>
              <a:t>.</a:t>
            </a:r>
          </a:p>
          <a:p>
            <a:endParaRPr lang="en-US" dirty="0"/>
          </a:p>
          <a:p>
            <a:r>
              <a:rPr lang="en-US" dirty="0"/>
              <a:t>The Point-To-Point protocol mainly provides connections over multiple links</a:t>
            </a:r>
            <a:r>
              <a:rPr lang="en-US" dirty="0" smtClean="0"/>
              <a:t>.</a:t>
            </a:r>
          </a:p>
          <a:p>
            <a:endParaRPr lang="en-US" dirty="0"/>
          </a:p>
          <a:p>
            <a:r>
              <a:rPr lang="en-US" dirty="0"/>
              <a:t>This protocol defines how two devices can authenticate with each other</a:t>
            </a:r>
            <a:r>
              <a:rPr lang="en-US" dirty="0" smtClean="0"/>
              <a:t>.</a:t>
            </a:r>
          </a:p>
          <a:p>
            <a:endParaRPr lang="en-US" dirty="0"/>
          </a:p>
          <a:p>
            <a:r>
              <a:rPr lang="en-US" dirty="0"/>
              <a:t>PPP protocol also defines the format of the frames that are to be exchanged between the devices</a:t>
            </a:r>
            <a:r>
              <a:rPr lang="en-US" dirty="0" smtClean="0"/>
              <a:t>.</a:t>
            </a:r>
          </a:p>
          <a:p>
            <a:endParaRPr lang="en-US" dirty="0"/>
          </a:p>
          <a:p>
            <a:r>
              <a:rPr lang="en-US" dirty="0"/>
              <a:t>This protocol also defines how the data of the network layer are encapsulated in the data link frame</a:t>
            </a:r>
            <a:r>
              <a:rPr lang="en-US" dirty="0" smtClean="0"/>
              <a:t>.</a:t>
            </a:r>
          </a:p>
          <a:p>
            <a:endParaRPr lang="en-US" dirty="0"/>
          </a:p>
          <a:p>
            <a:r>
              <a:rPr lang="en-US" dirty="0"/>
              <a:t>The PPP protocol defines how the two devices can negotiate the establishment of the link and then can exchange the data</a:t>
            </a:r>
            <a:r>
              <a:rPr lang="en-US" dirty="0" smtClean="0"/>
              <a:t>.</a:t>
            </a:r>
          </a:p>
          <a:p>
            <a:endParaRPr lang="en-US" dirty="0"/>
          </a:p>
          <a:p>
            <a:r>
              <a:rPr lang="en-US" dirty="0"/>
              <a:t>This protocol provides multiple services of the network layer and also supports various network-layer protocols</a:t>
            </a:r>
            <a:r>
              <a:rPr lang="en-US" dirty="0" smtClean="0"/>
              <a:t>.</a:t>
            </a:r>
          </a:p>
          <a:p>
            <a:endParaRPr lang="en-US" dirty="0"/>
          </a:p>
          <a:p>
            <a:endParaRPr lang="en-IN" dirty="0"/>
          </a:p>
        </p:txBody>
      </p:sp>
    </p:spTree>
    <p:extLst>
      <p:ext uri="{BB962C8B-B14F-4D97-AF65-F5344CB8AC3E}">
        <p14:creationId xmlns:p14="http://schemas.microsoft.com/office/powerpoint/2010/main" val="317921295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P2P Protocol</a:t>
            </a:r>
          </a:p>
        </p:txBody>
      </p:sp>
      <p:sp>
        <p:nvSpPr>
          <p:cNvPr id="3" name="Content Placeholder 2"/>
          <p:cNvSpPr>
            <a:spLocks noGrp="1"/>
          </p:cNvSpPr>
          <p:nvPr>
            <p:ph idx="1"/>
          </p:nvPr>
        </p:nvSpPr>
        <p:spPr/>
        <p:txBody>
          <a:bodyPr>
            <a:normAutofit/>
          </a:bodyPr>
          <a:lstStyle/>
          <a:p>
            <a:pPr marL="0" indent="0">
              <a:buNone/>
            </a:pPr>
            <a:r>
              <a:rPr lang="en-US" sz="1800" b="1" dirty="0" smtClean="0"/>
              <a:t>Services </a:t>
            </a:r>
            <a:r>
              <a:rPr lang="en-US" sz="1800" b="1" dirty="0"/>
              <a:t>that are not offered by the PPP protocol are as follows</a:t>
            </a:r>
            <a:r>
              <a:rPr lang="en-US" sz="1800" b="1" dirty="0" smtClean="0"/>
              <a:t>:</a:t>
            </a:r>
          </a:p>
          <a:p>
            <a:pPr marL="0" indent="0">
              <a:buNone/>
            </a:pPr>
            <a:endParaRPr lang="en-US" sz="1800" dirty="0"/>
          </a:p>
          <a:p>
            <a:r>
              <a:rPr lang="en-US" sz="1800" dirty="0"/>
              <a:t>This protocol does not provide a flow control mechanism. Because when using this protocol the sender can send any number of frames to the receiver one after the other without even thinking about overwhelming the receiver</a:t>
            </a:r>
            <a:r>
              <a:rPr lang="en-US" sz="1800" dirty="0" smtClean="0"/>
              <a:t>.</a:t>
            </a:r>
          </a:p>
          <a:p>
            <a:endParaRPr lang="en-US" sz="1800" dirty="0"/>
          </a:p>
          <a:p>
            <a:r>
              <a:rPr lang="en-US" sz="1800" dirty="0"/>
              <a:t>This protocol does not provide any mechanism for addressing in order to handle the frames in the multipoint configuration</a:t>
            </a:r>
            <a:r>
              <a:rPr lang="en-US" sz="1800" dirty="0" smtClean="0"/>
              <a:t>.</a:t>
            </a:r>
          </a:p>
          <a:p>
            <a:endParaRPr lang="en-US" sz="1800" dirty="0"/>
          </a:p>
          <a:p>
            <a:r>
              <a:rPr lang="en-US" sz="1800" dirty="0"/>
              <a:t>The PPP protocol provides a very simple mechanism for error control. There is a CRC field that detects the errors. In case if there is a corrupted frame then it is discarded silently.</a:t>
            </a:r>
          </a:p>
          <a:p>
            <a:endParaRPr lang="en-IN" dirty="0"/>
          </a:p>
        </p:txBody>
      </p:sp>
    </p:spTree>
    <p:extLst>
      <p:ext uri="{BB962C8B-B14F-4D97-AF65-F5344CB8AC3E}">
        <p14:creationId xmlns:p14="http://schemas.microsoft.com/office/powerpoint/2010/main" val="196789618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P2P Protocol</a:t>
            </a:r>
          </a:p>
        </p:txBody>
      </p:sp>
      <p:sp>
        <p:nvSpPr>
          <p:cNvPr id="3" name="Content Placeholder 2"/>
          <p:cNvSpPr>
            <a:spLocks noGrp="1"/>
          </p:cNvSpPr>
          <p:nvPr>
            <p:ph idx="1"/>
          </p:nvPr>
        </p:nvSpPr>
        <p:spPr/>
        <p:txBody>
          <a:bodyPr/>
          <a:lstStyle/>
          <a:p>
            <a:pPr marL="0" indent="0" algn="ctr">
              <a:buNone/>
            </a:pPr>
            <a:r>
              <a:rPr lang="en-IN" sz="1800" b="1" dirty="0"/>
              <a:t>PPP Frame Format</a:t>
            </a:r>
          </a:p>
          <a:p>
            <a:pPr marL="0" indent="0">
              <a:buNone/>
            </a:pPr>
            <a:endParaRPr lang="en-IN" dirty="0"/>
          </a:p>
        </p:txBody>
      </p:sp>
      <p:pic>
        <p:nvPicPr>
          <p:cNvPr id="9219" name="Picture 3" descr="C:\Users\iims.faculty\Desktop\Untitled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290763"/>
            <a:ext cx="7620000" cy="22764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8784007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sz="3200" dirty="0"/>
              <a:t>P2P Protocol</a:t>
            </a:r>
          </a:p>
        </p:txBody>
      </p:sp>
      <p:sp>
        <p:nvSpPr>
          <p:cNvPr id="3" name="Content Placeholder 2"/>
          <p:cNvSpPr>
            <a:spLocks noGrp="1"/>
          </p:cNvSpPr>
          <p:nvPr>
            <p:ph idx="1"/>
          </p:nvPr>
        </p:nvSpPr>
        <p:spPr/>
        <p:txBody>
          <a:bodyPr>
            <a:noAutofit/>
          </a:bodyPr>
          <a:lstStyle/>
          <a:p>
            <a:pPr marL="0" indent="0">
              <a:buNone/>
            </a:pPr>
            <a:r>
              <a:rPr lang="en-US" sz="1200" b="1" dirty="0"/>
              <a:t>1. Flag</a:t>
            </a:r>
          </a:p>
          <a:p>
            <a:r>
              <a:rPr lang="en-US" sz="1200" dirty="0"/>
              <a:t>The PPP frame mainly starts and ends with a 1-byte flag field that has the bit pattern: 01111110. It is important to note that this pattern is the same as the flag pattern used in HDLC. But there is a difference too and that is PPP is a byte-oriented protocol whereas the HDLC is a bit-oriented protocol</a:t>
            </a:r>
            <a:r>
              <a:rPr lang="en-US" sz="1200" dirty="0" smtClean="0"/>
              <a:t>.</a:t>
            </a:r>
          </a:p>
          <a:p>
            <a:endParaRPr lang="en-US" sz="1200" dirty="0"/>
          </a:p>
          <a:p>
            <a:pPr marL="0" indent="0">
              <a:buNone/>
            </a:pPr>
            <a:r>
              <a:rPr lang="en-US" sz="1200" b="1" dirty="0"/>
              <a:t>2. Address</a:t>
            </a:r>
          </a:p>
          <a:p>
            <a:r>
              <a:rPr lang="en-US" sz="1200" dirty="0"/>
              <a:t>The value of this field in PPP protocol is constant and it is set to 11111111 which is a broadcast address. The two parties can negotiate and can omit this byte</a:t>
            </a:r>
            <a:r>
              <a:rPr lang="en-US" sz="1200" dirty="0" smtClean="0"/>
              <a:t>.</a:t>
            </a:r>
          </a:p>
          <a:p>
            <a:endParaRPr lang="en-US" sz="1200" dirty="0"/>
          </a:p>
          <a:p>
            <a:pPr marL="0" indent="0">
              <a:buNone/>
            </a:pPr>
            <a:r>
              <a:rPr lang="en-US" sz="1200" b="1" dirty="0"/>
              <a:t>3. Control</a:t>
            </a:r>
          </a:p>
          <a:p>
            <a:r>
              <a:rPr lang="en-US" sz="1200" dirty="0"/>
              <a:t>The value of this field is also a constant value of 11000000. We have already told you that PPP does not provide any flow control and also error control is limited to error detection. The two parties can negotiate and can omit this </a:t>
            </a:r>
            <a:r>
              <a:rPr lang="en-US" sz="1200" dirty="0" smtClean="0"/>
              <a:t>byte.</a:t>
            </a:r>
          </a:p>
          <a:p>
            <a:endParaRPr lang="en-US" sz="1200" dirty="0" smtClean="0"/>
          </a:p>
          <a:p>
            <a:pPr marL="0" indent="0">
              <a:buNone/>
            </a:pPr>
            <a:r>
              <a:rPr lang="en-US" sz="1200" b="1" dirty="0" smtClean="0"/>
              <a:t>4. Protocol</a:t>
            </a:r>
          </a:p>
          <a:p>
            <a:r>
              <a:rPr lang="en-US" sz="1200" dirty="0" smtClean="0"/>
              <a:t>This </a:t>
            </a:r>
            <a:r>
              <a:rPr lang="en-US" sz="1200" dirty="0"/>
              <a:t>field defines what is being carried in the data field. It can either be user information or other information. By default, this field is 2 bytes long</a:t>
            </a:r>
            <a:r>
              <a:rPr lang="en-US" sz="1200" dirty="0" smtClean="0"/>
              <a:t>.</a:t>
            </a:r>
          </a:p>
          <a:p>
            <a:endParaRPr lang="en-US" sz="1200" dirty="0"/>
          </a:p>
          <a:p>
            <a:pPr marL="0" indent="0">
              <a:buNone/>
            </a:pPr>
            <a:r>
              <a:rPr lang="en-US" sz="1200" b="1" dirty="0"/>
              <a:t>5. Payload field</a:t>
            </a:r>
          </a:p>
          <a:p>
            <a:r>
              <a:rPr lang="en-US" sz="1200" dirty="0"/>
              <a:t>This field carries the data from the network layer. The maximum length of this field is 1500 bytes. This can also be negotiated between the endpoints of communication</a:t>
            </a:r>
            <a:r>
              <a:rPr lang="en-US" sz="1200" dirty="0" smtClean="0"/>
              <a:t>.</a:t>
            </a:r>
          </a:p>
          <a:p>
            <a:pPr marL="0" indent="0">
              <a:buNone/>
            </a:pPr>
            <a:endParaRPr lang="en-US" sz="1200" dirty="0"/>
          </a:p>
          <a:p>
            <a:pPr marL="0" indent="0">
              <a:buNone/>
            </a:pPr>
            <a:r>
              <a:rPr lang="en-US" sz="1200" b="1" dirty="0"/>
              <a:t>6. FCS</a:t>
            </a:r>
          </a:p>
          <a:p>
            <a:r>
              <a:rPr lang="en-US" sz="1200" dirty="0"/>
              <a:t>It is simply a 2-byte or 4-byte standard CRC(Cyclic redundancy check</a:t>
            </a:r>
            <a:r>
              <a:rPr lang="en-US" sz="1200" dirty="0" smtClean="0"/>
              <a:t>).</a:t>
            </a:r>
            <a:endParaRPr lang="en-US" sz="1200" dirty="0"/>
          </a:p>
        </p:txBody>
      </p:sp>
    </p:spTree>
    <p:extLst>
      <p:ext uri="{BB962C8B-B14F-4D97-AF65-F5344CB8AC3E}">
        <p14:creationId xmlns:p14="http://schemas.microsoft.com/office/powerpoint/2010/main" val="343949251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1327</TotalTime>
  <Words>3136</Words>
  <Application>Microsoft Office PowerPoint</Application>
  <PresentationFormat>On-screen Show (4:3)</PresentationFormat>
  <Paragraphs>528</Paragraphs>
  <Slides>70</Slides>
  <Notes>0</Notes>
  <HiddenSlides>0</HiddenSlides>
  <MMClips>0</MMClips>
  <ScaleCrop>false</ScaleCrop>
  <HeadingPairs>
    <vt:vector size="4" baseType="variant">
      <vt:variant>
        <vt:lpstr>Theme</vt:lpstr>
      </vt:variant>
      <vt:variant>
        <vt:i4>1</vt:i4>
      </vt:variant>
      <vt:variant>
        <vt:lpstr>Slide Titles</vt:lpstr>
      </vt:variant>
      <vt:variant>
        <vt:i4>70</vt:i4>
      </vt:variant>
    </vt:vector>
  </HeadingPairs>
  <TitlesOfParts>
    <vt:vector size="71" baseType="lpstr">
      <vt:lpstr>Office Theme</vt:lpstr>
      <vt:lpstr>Link Layer Communication</vt:lpstr>
      <vt:lpstr>Link Layer Communication</vt:lpstr>
      <vt:lpstr>Link Layer Communication</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Error detection and correction techniques</vt:lpstr>
      <vt:lpstr>Examples</vt:lpstr>
      <vt:lpstr>Examples</vt:lpstr>
      <vt:lpstr>Examples</vt:lpstr>
      <vt:lpstr>Framing</vt:lpstr>
      <vt:lpstr>Framing</vt:lpstr>
      <vt:lpstr>Frame</vt:lpstr>
      <vt:lpstr>Formatting Data for Transmission</vt:lpstr>
      <vt:lpstr>Frame</vt:lpstr>
      <vt:lpstr>Transfer of frame</vt:lpstr>
      <vt:lpstr>Framing and its types</vt:lpstr>
      <vt:lpstr>Types Framing </vt:lpstr>
      <vt:lpstr>Types Framing </vt:lpstr>
      <vt:lpstr>Types Framing </vt:lpstr>
      <vt:lpstr>Types Framing </vt:lpstr>
      <vt:lpstr>Types Framing </vt:lpstr>
      <vt:lpstr>Flow and error control</vt:lpstr>
      <vt:lpstr>Flow control</vt:lpstr>
      <vt:lpstr>Flow control</vt:lpstr>
      <vt:lpstr>Flow control</vt:lpstr>
      <vt:lpstr>Flow control</vt:lpstr>
      <vt:lpstr>Flow control</vt:lpstr>
      <vt:lpstr>Flow control</vt:lpstr>
      <vt:lpstr>Flow control</vt:lpstr>
      <vt:lpstr>Flow control</vt:lpstr>
      <vt:lpstr>Error control</vt:lpstr>
      <vt:lpstr>Error control</vt:lpstr>
      <vt:lpstr>Error control</vt:lpstr>
      <vt:lpstr>Error control</vt:lpstr>
      <vt:lpstr>Error control</vt:lpstr>
      <vt:lpstr>Error control</vt:lpstr>
      <vt:lpstr>Error control</vt:lpstr>
      <vt:lpstr>Error control</vt:lpstr>
      <vt:lpstr>HDLC protocol </vt:lpstr>
      <vt:lpstr>HDLC protocol </vt:lpstr>
      <vt:lpstr>HDLC protocol </vt:lpstr>
      <vt:lpstr>HDLC protocol </vt:lpstr>
      <vt:lpstr>HDLC protocol </vt:lpstr>
      <vt:lpstr>HDLC protocol </vt:lpstr>
      <vt:lpstr>P2P Protocol</vt:lpstr>
      <vt:lpstr>P2P Protocol</vt:lpstr>
      <vt:lpstr>P2P Protocol</vt:lpstr>
      <vt:lpstr>P2P Protocol</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Layer Communication</dc:title>
  <dc:creator>IIMS Faculty</dc:creator>
  <cp:lastModifiedBy>IIMS Faculty</cp:lastModifiedBy>
  <cp:revision>268</cp:revision>
  <dcterms:created xsi:type="dcterms:W3CDTF">2006-08-16T00:00:00Z</dcterms:created>
  <dcterms:modified xsi:type="dcterms:W3CDTF">2023-02-01T11:34:41Z</dcterms:modified>
</cp:coreProperties>
</file>