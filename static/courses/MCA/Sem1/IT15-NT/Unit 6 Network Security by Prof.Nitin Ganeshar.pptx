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2" r:id="rId5"/>
    <p:sldId id="263" r:id="rId6"/>
    <p:sldId id="261" r:id="rId7"/>
    <p:sldId id="264" r:id="rId8"/>
    <p:sldId id="258" r:id="rId9"/>
    <p:sldId id="265" r:id="rId10"/>
    <p:sldId id="267" r:id="rId11"/>
    <p:sldId id="266" r:id="rId12"/>
    <p:sldId id="268" r:id="rId13"/>
    <p:sldId id="259"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Network Security</a:t>
            </a:r>
          </a:p>
        </p:txBody>
      </p:sp>
      <p:sp>
        <p:nvSpPr>
          <p:cNvPr id="3" name="Subtitle 2"/>
          <p:cNvSpPr>
            <a:spLocks noGrp="1"/>
          </p:cNvSpPr>
          <p:nvPr>
            <p:ph type="subTitle" idx="1"/>
          </p:nvPr>
        </p:nvSpPr>
        <p:spPr/>
        <p:txBody>
          <a:bodyPr/>
          <a:lstStyle/>
          <a:p>
            <a:r>
              <a:rPr lang="en-IN" dirty="0" smtClean="0"/>
              <a:t>Unit 6</a:t>
            </a:r>
            <a:endParaRPr lang="en-IN" dirty="0"/>
          </a:p>
        </p:txBody>
      </p:sp>
    </p:spTree>
    <p:extLst>
      <p:ext uri="{BB962C8B-B14F-4D97-AF65-F5344CB8AC3E}">
        <p14:creationId xmlns:p14="http://schemas.microsoft.com/office/powerpoint/2010/main" val="1543295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Network Security</a:t>
            </a:r>
          </a:p>
        </p:txBody>
      </p:sp>
      <p:sp>
        <p:nvSpPr>
          <p:cNvPr id="3" name="Content Placeholder 2"/>
          <p:cNvSpPr>
            <a:spLocks noGrp="1"/>
          </p:cNvSpPr>
          <p:nvPr>
            <p:ph idx="1"/>
          </p:nvPr>
        </p:nvSpPr>
        <p:spPr/>
        <p:txBody>
          <a:bodyPr>
            <a:normAutofit fontScale="92500" lnSpcReduction="20000"/>
          </a:bodyPr>
          <a:lstStyle/>
          <a:p>
            <a:r>
              <a:rPr lang="en-US" sz="1900" dirty="0"/>
              <a:t>Network security is the security provided to a network from </a:t>
            </a:r>
            <a:r>
              <a:rPr lang="en-US" sz="1900" b="1" dirty="0"/>
              <a:t>unauthorized access</a:t>
            </a:r>
            <a:r>
              <a:rPr lang="en-US" sz="1900" dirty="0"/>
              <a:t> and </a:t>
            </a:r>
            <a:r>
              <a:rPr lang="en-US" sz="1900" b="1" dirty="0"/>
              <a:t>risks</a:t>
            </a:r>
            <a:r>
              <a:rPr lang="en-US" sz="1900" dirty="0"/>
              <a:t>. It is the duty of network </a:t>
            </a:r>
            <a:r>
              <a:rPr lang="en-US" sz="1900" b="1" dirty="0"/>
              <a:t>administrators</a:t>
            </a:r>
            <a:r>
              <a:rPr lang="en-US" sz="1900" dirty="0"/>
              <a:t> to adopt preventive measures to protect their networks from potential security threats</a:t>
            </a:r>
            <a:r>
              <a:rPr lang="en-US" sz="1900" dirty="0" smtClean="0"/>
              <a:t>.</a:t>
            </a:r>
          </a:p>
          <a:p>
            <a:endParaRPr lang="en-US" sz="1900" dirty="0"/>
          </a:p>
          <a:p>
            <a:r>
              <a:rPr lang="en-US" sz="1900" dirty="0" smtClean="0"/>
              <a:t>The </a:t>
            </a:r>
            <a:r>
              <a:rPr lang="en-US" sz="1900" dirty="0"/>
              <a:t>most common and simple way of protecting a network resource is by assigning it a </a:t>
            </a:r>
            <a:r>
              <a:rPr lang="en-US" sz="1900" b="1" dirty="0"/>
              <a:t>unique name </a:t>
            </a:r>
            <a:r>
              <a:rPr lang="en-US" sz="1900" dirty="0"/>
              <a:t>and a corresponding </a:t>
            </a:r>
            <a:r>
              <a:rPr lang="en-US" sz="1900" b="1" dirty="0"/>
              <a:t>password</a:t>
            </a:r>
            <a:r>
              <a:rPr lang="en-US" sz="1900" dirty="0" smtClean="0"/>
              <a:t>.</a:t>
            </a:r>
          </a:p>
          <a:p>
            <a:endParaRPr lang="en-US" sz="1900" dirty="0" smtClean="0"/>
          </a:p>
          <a:p>
            <a:pPr fontAlgn="base"/>
            <a:r>
              <a:rPr lang="en-US" sz="1900" b="1" dirty="0"/>
              <a:t>Network Security</a:t>
            </a:r>
            <a:r>
              <a:rPr lang="en-US" sz="1900" dirty="0"/>
              <a:t> refers to the </a:t>
            </a:r>
            <a:r>
              <a:rPr lang="en-US" sz="1900" b="1" dirty="0"/>
              <a:t>measures</a:t>
            </a:r>
            <a:r>
              <a:rPr lang="en-US" sz="1900" dirty="0"/>
              <a:t> taken by any enterprise or organization to secure its computer network and data using both hardware and software systems. </a:t>
            </a:r>
            <a:endParaRPr lang="en-US" sz="1900" dirty="0" smtClean="0"/>
          </a:p>
          <a:p>
            <a:pPr fontAlgn="base"/>
            <a:endParaRPr lang="en-US" sz="1900" dirty="0"/>
          </a:p>
          <a:p>
            <a:pPr fontAlgn="base"/>
            <a:r>
              <a:rPr lang="en-US" sz="1900" dirty="0" smtClean="0"/>
              <a:t>This </a:t>
            </a:r>
            <a:r>
              <a:rPr lang="en-US" sz="1900" dirty="0"/>
              <a:t>aims at securing the confidentiality and accessibility of the data and network. Every company or organization that handles a large amount of data, has a degree of solutions against many </a:t>
            </a:r>
            <a:r>
              <a:rPr lang="en-US" sz="1900" b="1" dirty="0"/>
              <a:t>cyber threats</a:t>
            </a:r>
            <a:r>
              <a:rPr lang="en-US" sz="1900" dirty="0"/>
              <a:t>. </a:t>
            </a:r>
            <a:endParaRPr lang="en-US" sz="1900" dirty="0" smtClean="0"/>
          </a:p>
          <a:p>
            <a:pPr fontAlgn="base"/>
            <a:endParaRPr lang="en-US" sz="1900" dirty="0"/>
          </a:p>
          <a:p>
            <a:pPr fontAlgn="base"/>
            <a:r>
              <a:rPr lang="en-US" sz="1900" dirty="0" smtClean="0"/>
              <a:t>The </a:t>
            </a:r>
            <a:r>
              <a:rPr lang="en-US" sz="1900" dirty="0"/>
              <a:t>network security solutions protect various </a:t>
            </a:r>
            <a:r>
              <a:rPr lang="en-US" sz="1900" b="1" dirty="0"/>
              <a:t>vulnerabilities of the computer systems</a:t>
            </a:r>
            <a:r>
              <a:rPr lang="en-US" sz="1900" dirty="0"/>
              <a:t> such as: </a:t>
            </a:r>
            <a:r>
              <a:rPr lang="en-US" sz="1900" b="1" dirty="0" smtClean="0"/>
              <a:t>1</a:t>
            </a:r>
            <a:r>
              <a:rPr lang="en-US" sz="1900" b="1" dirty="0"/>
              <a:t>.</a:t>
            </a:r>
            <a:r>
              <a:rPr lang="en-US" sz="1900" dirty="0"/>
              <a:t> Users </a:t>
            </a:r>
            <a:r>
              <a:rPr lang="en-US" sz="1900" b="1" dirty="0"/>
              <a:t>2.</a:t>
            </a:r>
            <a:r>
              <a:rPr lang="en-US" sz="1900" dirty="0"/>
              <a:t> Locations </a:t>
            </a:r>
            <a:r>
              <a:rPr lang="en-US" sz="1900" b="1" dirty="0"/>
              <a:t>3.</a:t>
            </a:r>
            <a:r>
              <a:rPr lang="en-US" sz="1900" dirty="0"/>
              <a:t> Data </a:t>
            </a:r>
            <a:r>
              <a:rPr lang="en-US" sz="1900" b="1" dirty="0"/>
              <a:t>4.</a:t>
            </a:r>
            <a:r>
              <a:rPr lang="en-US" sz="1900" dirty="0"/>
              <a:t> Devices </a:t>
            </a:r>
            <a:r>
              <a:rPr lang="en-US" sz="1900" b="1" dirty="0"/>
              <a:t>5.</a:t>
            </a:r>
            <a:r>
              <a:rPr lang="en-US" sz="1900" dirty="0"/>
              <a:t> Applications </a:t>
            </a:r>
          </a:p>
          <a:p>
            <a:endParaRPr lang="en-IN" dirty="0"/>
          </a:p>
        </p:txBody>
      </p:sp>
    </p:spTree>
    <p:extLst>
      <p:ext uri="{BB962C8B-B14F-4D97-AF65-F5344CB8AC3E}">
        <p14:creationId xmlns:p14="http://schemas.microsoft.com/office/powerpoint/2010/main" val="1727990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Network Security</a:t>
            </a:r>
          </a:p>
        </p:txBody>
      </p:sp>
      <p:sp>
        <p:nvSpPr>
          <p:cNvPr id="3" name="Content Placeholder 2"/>
          <p:cNvSpPr>
            <a:spLocks noGrp="1"/>
          </p:cNvSpPr>
          <p:nvPr>
            <p:ph idx="1"/>
          </p:nvPr>
        </p:nvSpPr>
        <p:spPr/>
        <p:txBody>
          <a:bodyPr>
            <a:normAutofit/>
          </a:bodyPr>
          <a:lstStyle/>
          <a:p>
            <a:pPr fontAlgn="base"/>
            <a:r>
              <a:rPr lang="en-US" sz="1800" b="1" dirty="0"/>
              <a:t>Network Security: Working</a:t>
            </a:r>
            <a:r>
              <a:rPr lang="en-US" sz="1800" dirty="0"/>
              <a:t> </a:t>
            </a:r>
            <a:br>
              <a:rPr lang="en-US" sz="1800" dirty="0"/>
            </a:br>
            <a:r>
              <a:rPr lang="en-US" sz="1800" dirty="0"/>
              <a:t>The basic principle of network security is </a:t>
            </a:r>
            <a:r>
              <a:rPr lang="en-US" sz="1800" b="1" dirty="0"/>
              <a:t>protecting huge stored data </a:t>
            </a:r>
            <a:r>
              <a:rPr lang="en-US" sz="1800" dirty="0"/>
              <a:t>and networks in layers that ensure the bedding of rules and regulations that have to be acknowledged before performing any activity on the data. </a:t>
            </a:r>
            <a:endParaRPr lang="en-US" sz="1800" dirty="0" smtClean="0"/>
          </a:p>
          <a:p>
            <a:pPr marL="0" indent="0" fontAlgn="base">
              <a:buNone/>
            </a:pPr>
            <a:r>
              <a:rPr lang="en-US" sz="1800" dirty="0"/>
              <a:t/>
            </a:r>
            <a:br>
              <a:rPr lang="en-US" sz="1800" dirty="0"/>
            </a:br>
            <a:r>
              <a:rPr lang="en-US" sz="1800" b="1" dirty="0"/>
              <a:t>These levels are:  </a:t>
            </a:r>
          </a:p>
          <a:p>
            <a:pPr marL="0" indent="0" fontAlgn="base">
              <a:buNone/>
            </a:pPr>
            <a:r>
              <a:rPr lang="en-US" sz="1800" b="1" dirty="0" smtClean="0"/>
              <a:t>      1</a:t>
            </a:r>
            <a:r>
              <a:rPr lang="en-US" sz="1800" b="1" dirty="0"/>
              <a:t>.</a:t>
            </a:r>
            <a:r>
              <a:rPr lang="en-US" sz="1800" dirty="0"/>
              <a:t> Physical </a:t>
            </a:r>
            <a:endParaRPr lang="en-US" sz="1800" dirty="0" smtClean="0"/>
          </a:p>
          <a:p>
            <a:pPr marL="0" indent="0" fontAlgn="base">
              <a:buNone/>
            </a:pPr>
            <a:r>
              <a:rPr lang="en-US" sz="1800" b="1" dirty="0" smtClean="0"/>
              <a:t>      2</a:t>
            </a:r>
            <a:r>
              <a:rPr lang="en-US" sz="1800" b="1" dirty="0"/>
              <a:t>.</a:t>
            </a:r>
            <a:r>
              <a:rPr lang="en-US" sz="1800" dirty="0"/>
              <a:t> Technical </a:t>
            </a:r>
            <a:endParaRPr lang="en-US" sz="1800" dirty="0" smtClean="0"/>
          </a:p>
          <a:p>
            <a:pPr marL="0" indent="0" fontAlgn="base">
              <a:buNone/>
            </a:pPr>
            <a:r>
              <a:rPr lang="en-US" sz="1800" b="1" dirty="0" smtClean="0"/>
              <a:t>      3</a:t>
            </a:r>
            <a:r>
              <a:rPr lang="en-US" sz="1800" b="1" dirty="0"/>
              <a:t>.</a:t>
            </a:r>
            <a:r>
              <a:rPr lang="en-US" sz="1800" dirty="0"/>
              <a:t> Administrative </a:t>
            </a:r>
            <a:endParaRPr lang="en-US" sz="1800" dirty="0" smtClean="0"/>
          </a:p>
          <a:p>
            <a:pPr fontAlgn="base"/>
            <a:endParaRPr lang="en-US" sz="1800" dirty="0"/>
          </a:p>
          <a:p>
            <a:pPr marL="0" indent="0">
              <a:buNone/>
            </a:pPr>
            <a:endParaRPr lang="en-IN" dirty="0"/>
          </a:p>
        </p:txBody>
      </p:sp>
    </p:spTree>
    <p:extLst>
      <p:ext uri="{BB962C8B-B14F-4D97-AF65-F5344CB8AC3E}">
        <p14:creationId xmlns:p14="http://schemas.microsoft.com/office/powerpoint/2010/main" val="4042535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Network Security</a:t>
            </a:r>
          </a:p>
        </p:txBody>
      </p:sp>
      <p:sp>
        <p:nvSpPr>
          <p:cNvPr id="3" name="Content Placeholder 2"/>
          <p:cNvSpPr>
            <a:spLocks noGrp="1"/>
          </p:cNvSpPr>
          <p:nvPr>
            <p:ph idx="1"/>
          </p:nvPr>
        </p:nvSpPr>
        <p:spPr/>
        <p:txBody>
          <a:bodyPr>
            <a:normAutofit fontScale="55000" lnSpcReduction="20000"/>
          </a:bodyPr>
          <a:lstStyle/>
          <a:p>
            <a:pPr fontAlgn="base"/>
            <a:r>
              <a:rPr lang="en-US" b="1" dirty="0"/>
              <a:t>Physical Network Security:</a:t>
            </a:r>
            <a:r>
              <a:rPr lang="en-US" dirty="0"/>
              <a:t> </a:t>
            </a:r>
            <a:br>
              <a:rPr lang="en-US" dirty="0"/>
            </a:br>
            <a:r>
              <a:rPr lang="en-US" dirty="0"/>
              <a:t>This is the most basic level that includes protecting the data and network through unauthorized personnel from acquiring control over the confidentiality of the network. These include external peripherals and routers that might be used for cable connections. The same can be achieved by using devices like biometric systems. </a:t>
            </a:r>
            <a:br>
              <a:rPr lang="en-US" dirty="0"/>
            </a:br>
            <a:r>
              <a:rPr lang="en-US" dirty="0"/>
              <a:t> </a:t>
            </a:r>
          </a:p>
          <a:p>
            <a:pPr fontAlgn="base"/>
            <a:r>
              <a:rPr lang="en-US" b="1" dirty="0"/>
              <a:t>Technical Network Security:</a:t>
            </a:r>
            <a:r>
              <a:rPr lang="en-US" dirty="0"/>
              <a:t> </a:t>
            </a:r>
            <a:br>
              <a:rPr lang="en-US" dirty="0"/>
            </a:br>
            <a:r>
              <a:rPr lang="en-US" dirty="0"/>
              <a:t>It primarily focuses on protecting the </a:t>
            </a:r>
            <a:r>
              <a:rPr lang="en-US" b="1" dirty="0"/>
              <a:t>data stored in the network </a:t>
            </a:r>
            <a:r>
              <a:rPr lang="en-US" dirty="0"/>
              <a:t>or </a:t>
            </a:r>
            <a:r>
              <a:rPr lang="en-US" b="1" dirty="0"/>
              <a:t>data involved in transitions</a:t>
            </a:r>
            <a:r>
              <a:rPr lang="en-US" dirty="0"/>
              <a:t> through the network. This type serves two purposes. One is protected from unauthorized users, and the other is protection from malicious activities. </a:t>
            </a:r>
            <a:br>
              <a:rPr lang="en-US" dirty="0"/>
            </a:br>
            <a:r>
              <a:rPr lang="en-US" dirty="0"/>
              <a:t> </a:t>
            </a:r>
          </a:p>
          <a:p>
            <a:pPr fontAlgn="base"/>
            <a:r>
              <a:rPr lang="en-US" b="1" dirty="0"/>
              <a:t>Administrative Network Security:</a:t>
            </a:r>
            <a:r>
              <a:rPr lang="en-US" dirty="0"/>
              <a:t> </a:t>
            </a:r>
            <a:br>
              <a:rPr lang="en-US" dirty="0"/>
            </a:br>
            <a:r>
              <a:rPr lang="en-US" dirty="0"/>
              <a:t>This level of network security protects user behavior like how the </a:t>
            </a:r>
            <a:r>
              <a:rPr lang="en-US" b="1" dirty="0"/>
              <a:t>permission</a:t>
            </a:r>
            <a:r>
              <a:rPr lang="en-US" dirty="0"/>
              <a:t> has been granted and how the </a:t>
            </a:r>
            <a:r>
              <a:rPr lang="en-US" b="1" dirty="0"/>
              <a:t>authorization</a:t>
            </a:r>
            <a:r>
              <a:rPr lang="en-US" dirty="0"/>
              <a:t> process takes place. This also ensures the level of sophistication the network might need for protecting it through all the attacks. This level also suggests necessary amendments that have to be done to the infrastructure. </a:t>
            </a:r>
          </a:p>
          <a:p>
            <a:endParaRPr lang="en-IN" dirty="0"/>
          </a:p>
        </p:txBody>
      </p:sp>
    </p:spTree>
    <p:extLst>
      <p:ext uri="{BB962C8B-B14F-4D97-AF65-F5344CB8AC3E}">
        <p14:creationId xmlns:p14="http://schemas.microsoft.com/office/powerpoint/2010/main" val="35004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Network Security</a:t>
            </a:r>
          </a:p>
        </p:txBody>
      </p:sp>
      <p:sp>
        <p:nvSpPr>
          <p:cNvPr id="3" name="Content Placeholder 2"/>
          <p:cNvSpPr>
            <a:spLocks noGrp="1"/>
          </p:cNvSpPr>
          <p:nvPr>
            <p:ph idx="1"/>
          </p:nvPr>
        </p:nvSpPr>
        <p:spPr/>
        <p:txBody>
          <a:bodyPr>
            <a:noAutofit/>
          </a:bodyPr>
          <a:lstStyle/>
          <a:p>
            <a:pPr marL="0" indent="0" fontAlgn="base">
              <a:buNone/>
            </a:pPr>
            <a:r>
              <a:rPr lang="en-US" sz="1400" b="1" dirty="0"/>
              <a:t>Types of Network Security:</a:t>
            </a:r>
            <a:r>
              <a:rPr lang="en-US" sz="1400" dirty="0"/>
              <a:t> </a:t>
            </a:r>
            <a:br>
              <a:rPr lang="en-US" sz="1400" dirty="0"/>
            </a:br>
            <a:endParaRPr lang="en-US" sz="1400" dirty="0" smtClean="0"/>
          </a:p>
          <a:p>
            <a:pPr fontAlgn="base"/>
            <a:r>
              <a:rPr lang="en-US" sz="1400" b="1" dirty="0" smtClean="0"/>
              <a:t>Access </a:t>
            </a:r>
            <a:r>
              <a:rPr lang="en-US" sz="1400" b="1" dirty="0"/>
              <a:t>Control:</a:t>
            </a:r>
            <a:r>
              <a:rPr lang="en-US" sz="1400" dirty="0"/>
              <a:t> </a:t>
            </a:r>
            <a:br>
              <a:rPr lang="en-US" sz="1400" dirty="0"/>
            </a:br>
            <a:r>
              <a:rPr lang="en-US" sz="1400" dirty="0"/>
              <a:t>Not every person should have a complete allowance for the accessibility to the network or its data. One way to examine this is by going through each personnel’s details. This is done through Network Access Control which ensures that only a handful of authorized personnel must be able to work with the allowed amount of resources. </a:t>
            </a:r>
            <a:br>
              <a:rPr lang="en-US" sz="1400" dirty="0"/>
            </a:br>
            <a:r>
              <a:rPr lang="en-US" sz="1400" dirty="0"/>
              <a:t> </a:t>
            </a:r>
          </a:p>
          <a:p>
            <a:pPr fontAlgn="base"/>
            <a:r>
              <a:rPr lang="en-US" sz="1400" b="1" dirty="0"/>
              <a:t>Antivirus and Anti-malware Software:</a:t>
            </a:r>
            <a:r>
              <a:rPr lang="en-US" sz="1400" dirty="0"/>
              <a:t> </a:t>
            </a:r>
            <a:br>
              <a:rPr lang="en-US" sz="1400" dirty="0"/>
            </a:br>
            <a:r>
              <a:rPr lang="en-US" sz="1400" dirty="0"/>
              <a:t>This type of network security ensures that any malicious software does not enter the network and jeopardize the security of the data. The malicious software like Viruses, Trojans, and </a:t>
            </a:r>
            <a:r>
              <a:rPr lang="en-US" sz="1400" dirty="0" smtClean="0"/>
              <a:t>Worms</a:t>
            </a:r>
            <a:r>
              <a:rPr lang="en-US" sz="1400" dirty="0"/>
              <a:t> is handled by the same. This ensures that not only the entry of the malware is protected but also that the system is well equipped to fight once it has entered. </a:t>
            </a:r>
            <a:br>
              <a:rPr lang="en-US" sz="1400" dirty="0"/>
            </a:br>
            <a:r>
              <a:rPr lang="en-US" sz="1400" dirty="0"/>
              <a:t> </a:t>
            </a:r>
          </a:p>
          <a:p>
            <a:pPr fontAlgn="base"/>
            <a:r>
              <a:rPr lang="en-US" sz="1400" b="1" dirty="0"/>
              <a:t>Cloud Security:</a:t>
            </a:r>
            <a:r>
              <a:rPr lang="en-US" sz="1400" dirty="0"/>
              <a:t> </a:t>
            </a:r>
            <a:br>
              <a:rPr lang="en-US" sz="1400" dirty="0"/>
            </a:br>
            <a:r>
              <a:rPr lang="en-US" sz="1400" dirty="0"/>
              <a:t>Now a day, a lot many organizations are joining hands with cloud technology where a large amount of important data is stored over the internet. This is very vulnerable to the malpractices that few unauthorized dealers might pertain. This data must be protected and it should be ensured that this protection is not jeopardized by anything. Many businesses embrace SaaS applications for providing some of their employees the allowance of accessing the data stored over the cloud. </a:t>
            </a:r>
            <a:endParaRPr lang="en-IN" sz="1400" dirty="0"/>
          </a:p>
        </p:txBody>
      </p:sp>
    </p:spTree>
    <p:extLst>
      <p:ext uri="{BB962C8B-B14F-4D97-AF65-F5344CB8AC3E}">
        <p14:creationId xmlns:p14="http://schemas.microsoft.com/office/powerpoint/2010/main" val="2966152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Active </a:t>
            </a:r>
            <a:r>
              <a:rPr lang="en-IN" sz="3200" dirty="0" smtClean="0"/>
              <a:t>attacks</a:t>
            </a:r>
            <a:endParaRPr lang="en-IN" sz="3200" dirty="0"/>
          </a:p>
        </p:txBody>
      </p:sp>
      <p:sp>
        <p:nvSpPr>
          <p:cNvPr id="3" name="Content Placeholder 2"/>
          <p:cNvSpPr>
            <a:spLocks noGrp="1"/>
          </p:cNvSpPr>
          <p:nvPr>
            <p:ph idx="1"/>
          </p:nvPr>
        </p:nvSpPr>
        <p:spPr/>
        <p:txBody>
          <a:bodyPr>
            <a:normAutofit fontScale="47500" lnSpcReduction="20000"/>
          </a:bodyPr>
          <a:lstStyle/>
          <a:p>
            <a:r>
              <a:rPr lang="en-US" dirty="0"/>
              <a:t>An Active attack attempts to alter system resources or affect their operations. </a:t>
            </a:r>
            <a:endParaRPr lang="en-US" dirty="0" smtClean="0"/>
          </a:p>
          <a:p>
            <a:endParaRPr lang="en-US" dirty="0"/>
          </a:p>
          <a:p>
            <a:r>
              <a:rPr lang="en-US" dirty="0" smtClean="0"/>
              <a:t>Active </a:t>
            </a:r>
            <a:r>
              <a:rPr lang="en-US" dirty="0"/>
              <a:t>attacks involve some modification of the data stream or the creation of false statements.   </a:t>
            </a:r>
            <a:endParaRPr lang="en-US" dirty="0" smtClean="0"/>
          </a:p>
          <a:p>
            <a:endParaRPr lang="en-US" dirty="0"/>
          </a:p>
          <a:p>
            <a:r>
              <a:rPr lang="en-US" dirty="0" smtClean="0"/>
              <a:t>Active </a:t>
            </a:r>
            <a:r>
              <a:rPr lang="en-US" dirty="0"/>
              <a:t>attacks involve an attacker intentionally altering or destroying data, or disrupting the normal operation of a system. </a:t>
            </a:r>
            <a:endParaRPr lang="en-US" dirty="0" smtClean="0"/>
          </a:p>
          <a:p>
            <a:endParaRPr lang="en-US" dirty="0"/>
          </a:p>
          <a:p>
            <a:r>
              <a:rPr lang="en-US" b="1" dirty="0" smtClean="0"/>
              <a:t>Ex:</a:t>
            </a:r>
            <a:r>
              <a:rPr lang="en-US" dirty="0" smtClean="0"/>
              <a:t> active </a:t>
            </a:r>
            <a:r>
              <a:rPr lang="en-US" dirty="0"/>
              <a:t>attacks include denial of service (</a:t>
            </a:r>
            <a:r>
              <a:rPr lang="en-US" dirty="0" err="1"/>
              <a:t>DoS</a:t>
            </a:r>
            <a:r>
              <a:rPr lang="en-US" dirty="0"/>
              <a:t>), where an attacker floods a system with traffic in an attempt to make it unavailable to legitimate users, and malware, where an attacker installs malicious software on a system to steal or destroy data</a:t>
            </a:r>
            <a:r>
              <a:rPr lang="en-US" dirty="0" smtClean="0"/>
              <a:t>.</a:t>
            </a:r>
          </a:p>
          <a:p>
            <a:endParaRPr lang="en-US" dirty="0"/>
          </a:p>
          <a:p>
            <a:pPr marL="0" indent="0" fontAlgn="base">
              <a:buNone/>
            </a:pPr>
            <a:r>
              <a:rPr lang="en-US" b="1" dirty="0"/>
              <a:t>Types of active attacks are as follows: </a:t>
            </a:r>
            <a:endParaRPr lang="en-US" b="1" dirty="0" smtClean="0"/>
          </a:p>
          <a:p>
            <a:pPr marL="0" indent="0" fontAlgn="base">
              <a:buNone/>
            </a:pPr>
            <a:endParaRPr lang="en-US" b="1" dirty="0"/>
          </a:p>
          <a:p>
            <a:pPr fontAlgn="base"/>
            <a:r>
              <a:rPr lang="en-US" dirty="0"/>
              <a:t>Masquerade</a:t>
            </a:r>
          </a:p>
          <a:p>
            <a:pPr fontAlgn="base"/>
            <a:r>
              <a:rPr lang="en-US" dirty="0"/>
              <a:t>Modification of messages</a:t>
            </a:r>
          </a:p>
          <a:p>
            <a:pPr fontAlgn="base"/>
            <a:r>
              <a:rPr lang="en-US" dirty="0"/>
              <a:t>Repudiation</a:t>
            </a:r>
          </a:p>
          <a:p>
            <a:pPr fontAlgn="base"/>
            <a:r>
              <a:rPr lang="en-US" dirty="0"/>
              <a:t>Replay</a:t>
            </a:r>
          </a:p>
          <a:p>
            <a:pPr fontAlgn="base"/>
            <a:r>
              <a:rPr lang="en-US" dirty="0"/>
              <a:t>Denial of Service</a:t>
            </a:r>
          </a:p>
          <a:p>
            <a:pPr marL="0" indent="0">
              <a:buNone/>
            </a:pPr>
            <a:endParaRPr lang="en-IN" dirty="0"/>
          </a:p>
        </p:txBody>
      </p:sp>
    </p:spTree>
    <p:extLst>
      <p:ext uri="{BB962C8B-B14F-4D97-AF65-F5344CB8AC3E}">
        <p14:creationId xmlns:p14="http://schemas.microsoft.com/office/powerpoint/2010/main" val="2210053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Passive attacks</a:t>
            </a:r>
          </a:p>
        </p:txBody>
      </p:sp>
      <p:sp>
        <p:nvSpPr>
          <p:cNvPr id="3" name="Content Placeholder 2"/>
          <p:cNvSpPr>
            <a:spLocks noGrp="1"/>
          </p:cNvSpPr>
          <p:nvPr>
            <p:ph idx="1"/>
          </p:nvPr>
        </p:nvSpPr>
        <p:spPr/>
        <p:txBody>
          <a:bodyPr>
            <a:normAutofit fontScale="47500" lnSpcReduction="20000"/>
          </a:bodyPr>
          <a:lstStyle/>
          <a:p>
            <a:pPr fontAlgn="base"/>
            <a:r>
              <a:rPr lang="en-US" dirty="0"/>
              <a:t>A Passive attack attempts to learn or make use of information from the system but does not affect system resources. </a:t>
            </a:r>
            <a:endParaRPr lang="en-US" dirty="0" smtClean="0"/>
          </a:p>
          <a:p>
            <a:pPr fontAlgn="base"/>
            <a:endParaRPr lang="en-US" dirty="0"/>
          </a:p>
          <a:p>
            <a:pPr fontAlgn="base"/>
            <a:r>
              <a:rPr lang="en-US" dirty="0" smtClean="0"/>
              <a:t>Passive </a:t>
            </a:r>
            <a:r>
              <a:rPr lang="en-US" dirty="0"/>
              <a:t>Attacks are in the nature of </a:t>
            </a:r>
            <a:r>
              <a:rPr lang="en-US" dirty="0" smtClean="0"/>
              <a:t>eavesdropping </a:t>
            </a:r>
            <a:r>
              <a:rPr lang="en-US" dirty="0"/>
              <a:t>on or monitoring transmission. </a:t>
            </a:r>
            <a:endParaRPr lang="en-US" dirty="0" smtClean="0"/>
          </a:p>
          <a:p>
            <a:pPr fontAlgn="base"/>
            <a:endParaRPr lang="en-US" dirty="0"/>
          </a:p>
          <a:p>
            <a:pPr fontAlgn="base"/>
            <a:r>
              <a:rPr lang="en-US" dirty="0" smtClean="0"/>
              <a:t>The </a:t>
            </a:r>
            <a:r>
              <a:rPr lang="en-US" dirty="0"/>
              <a:t>goal of the opponent is to obtain information that is being transmitted. </a:t>
            </a:r>
            <a:endParaRPr lang="en-US" dirty="0" smtClean="0"/>
          </a:p>
          <a:p>
            <a:pPr fontAlgn="base"/>
            <a:endParaRPr lang="en-US" dirty="0"/>
          </a:p>
          <a:p>
            <a:pPr fontAlgn="base"/>
            <a:r>
              <a:rPr lang="en-US" dirty="0" smtClean="0"/>
              <a:t>Passive </a:t>
            </a:r>
            <a:r>
              <a:rPr lang="en-US" dirty="0"/>
              <a:t>attacks involve an attacker passively monitoring or collecting data without altering or destroying it. </a:t>
            </a:r>
            <a:endParaRPr lang="en-US" dirty="0" smtClean="0"/>
          </a:p>
          <a:p>
            <a:pPr fontAlgn="base"/>
            <a:endParaRPr lang="en-US" dirty="0"/>
          </a:p>
          <a:p>
            <a:pPr fontAlgn="base"/>
            <a:r>
              <a:rPr lang="en-US" b="1" dirty="0" smtClean="0"/>
              <a:t>Ex:</a:t>
            </a:r>
            <a:r>
              <a:rPr lang="en-US" dirty="0" smtClean="0"/>
              <a:t> Passive </a:t>
            </a:r>
            <a:r>
              <a:rPr lang="en-US" dirty="0"/>
              <a:t>attacks include </a:t>
            </a:r>
            <a:r>
              <a:rPr lang="en-US" b="1" dirty="0"/>
              <a:t>eavesdropping</a:t>
            </a:r>
            <a:r>
              <a:rPr lang="en-US" dirty="0"/>
              <a:t>, where an attacker listens in on network traffic to collect sensitive information, and sniffing, where an attacker captures and analyzes data packets to steal sensitive information</a:t>
            </a:r>
            <a:r>
              <a:rPr lang="en-US" dirty="0" smtClean="0"/>
              <a:t>.</a:t>
            </a:r>
          </a:p>
          <a:p>
            <a:pPr fontAlgn="base"/>
            <a:endParaRPr lang="en-US" dirty="0"/>
          </a:p>
          <a:p>
            <a:pPr marL="0" indent="0" fontAlgn="base">
              <a:buNone/>
            </a:pPr>
            <a:r>
              <a:rPr lang="en-US" dirty="0"/>
              <a:t> </a:t>
            </a:r>
            <a:r>
              <a:rPr lang="en-US" b="1" dirty="0"/>
              <a:t>Types of Passive attacks are as follows: </a:t>
            </a:r>
            <a:endParaRPr lang="en-US" b="1" dirty="0" smtClean="0"/>
          </a:p>
          <a:p>
            <a:pPr marL="0" indent="0" fontAlgn="base">
              <a:buNone/>
            </a:pPr>
            <a:endParaRPr lang="en-US" b="1" dirty="0"/>
          </a:p>
          <a:p>
            <a:pPr fontAlgn="base"/>
            <a:r>
              <a:rPr lang="en-US" dirty="0"/>
              <a:t>The release of message content</a:t>
            </a:r>
          </a:p>
          <a:p>
            <a:pPr fontAlgn="base"/>
            <a:r>
              <a:rPr lang="en-US" dirty="0"/>
              <a:t>Traffic analysis</a:t>
            </a:r>
          </a:p>
          <a:p>
            <a:endParaRPr lang="en-IN" dirty="0"/>
          </a:p>
        </p:txBody>
      </p:sp>
    </p:spTree>
    <p:extLst>
      <p:ext uri="{BB962C8B-B14F-4D97-AF65-F5344CB8AC3E}">
        <p14:creationId xmlns:p14="http://schemas.microsoft.com/office/powerpoint/2010/main" val="54376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Cryptography</a:t>
            </a:r>
            <a:endParaRPr lang="en-IN" sz="3200" dirty="0"/>
          </a:p>
        </p:txBody>
      </p:sp>
      <p:sp>
        <p:nvSpPr>
          <p:cNvPr id="3" name="Content Placeholder 2"/>
          <p:cNvSpPr>
            <a:spLocks noGrp="1"/>
          </p:cNvSpPr>
          <p:nvPr>
            <p:ph idx="1"/>
          </p:nvPr>
        </p:nvSpPr>
        <p:spPr/>
        <p:txBody>
          <a:bodyPr>
            <a:normAutofit fontScale="47500" lnSpcReduction="20000"/>
          </a:bodyPr>
          <a:lstStyle/>
          <a:p>
            <a:pPr fontAlgn="base"/>
            <a:r>
              <a:rPr lang="en-US" dirty="0"/>
              <a:t>Cryptography is technique of securing information and communications through use of codes so that only those person for whom the information is intended can understand it and process it</a:t>
            </a:r>
            <a:r>
              <a:rPr lang="en-US" dirty="0" smtClean="0"/>
              <a:t>.</a:t>
            </a:r>
            <a:r>
              <a:rPr lang="en-US" dirty="0"/>
              <a:t> </a:t>
            </a:r>
            <a:r>
              <a:rPr lang="en-US" dirty="0" smtClean="0"/>
              <a:t>Use to prevent </a:t>
            </a:r>
            <a:r>
              <a:rPr lang="en-US" dirty="0"/>
              <a:t>unauthorized access to information. </a:t>
            </a:r>
            <a:endParaRPr lang="en-US" dirty="0" smtClean="0"/>
          </a:p>
          <a:p>
            <a:pPr fontAlgn="base"/>
            <a:endParaRPr lang="en-US" dirty="0"/>
          </a:p>
          <a:p>
            <a:pPr fontAlgn="base"/>
            <a:r>
              <a:rPr lang="en-US" dirty="0" smtClean="0"/>
              <a:t>The </a:t>
            </a:r>
            <a:r>
              <a:rPr lang="en-US" dirty="0"/>
              <a:t>prefix “crypt” means “hidden” and suffix graphy means “writing”. </a:t>
            </a:r>
            <a:endParaRPr lang="en-US" dirty="0" smtClean="0"/>
          </a:p>
          <a:p>
            <a:pPr fontAlgn="base"/>
            <a:endParaRPr lang="en-US" dirty="0"/>
          </a:p>
          <a:p>
            <a:pPr fontAlgn="base"/>
            <a:r>
              <a:rPr lang="en-US" dirty="0" smtClean="0"/>
              <a:t>In </a:t>
            </a:r>
            <a:r>
              <a:rPr lang="en-US" dirty="0"/>
              <a:t>Cryptography the techniques which are use to protect information are obtained from mathematical concepts and a set of rule based calculations known as algorithms to convert messages in ways that make it hard to decode it. </a:t>
            </a:r>
            <a:endParaRPr lang="en-US" dirty="0" smtClean="0"/>
          </a:p>
          <a:p>
            <a:pPr fontAlgn="base"/>
            <a:endParaRPr lang="en-US" dirty="0"/>
          </a:p>
          <a:p>
            <a:pPr fontAlgn="base"/>
            <a:r>
              <a:rPr lang="en-US" dirty="0" smtClean="0"/>
              <a:t>These </a:t>
            </a:r>
            <a:r>
              <a:rPr lang="en-US" dirty="0"/>
              <a:t>algorithms are used for cryptographic key generation, digital signing, verification to protect data privacy, web browsing on internet and to protect confidential transactions such as credit card and debit card transactions</a:t>
            </a:r>
            <a:r>
              <a:rPr lang="en-US" dirty="0" smtClean="0"/>
              <a:t>.</a:t>
            </a:r>
          </a:p>
          <a:p>
            <a:pPr marL="0" indent="0" fontAlgn="base">
              <a:buNone/>
            </a:pPr>
            <a:r>
              <a:rPr lang="en-US" dirty="0"/>
              <a:t> </a:t>
            </a:r>
          </a:p>
          <a:p>
            <a:pPr fontAlgn="base"/>
            <a:r>
              <a:rPr lang="en-US" b="1" dirty="0"/>
              <a:t>Techniques used For Cryptography:</a:t>
            </a:r>
            <a:r>
              <a:rPr lang="en-US" dirty="0"/>
              <a:t> </a:t>
            </a:r>
            <a:r>
              <a:rPr lang="en-US" dirty="0" smtClean="0"/>
              <a:t> Cryptography </a:t>
            </a:r>
            <a:r>
              <a:rPr lang="en-US" dirty="0"/>
              <a:t>is often associated with the process where an ordinary plain text is converted to </a:t>
            </a:r>
            <a:r>
              <a:rPr lang="en-US" b="1" dirty="0"/>
              <a:t>cipher</a:t>
            </a:r>
            <a:r>
              <a:rPr lang="en-US" dirty="0"/>
              <a:t> text which is the text made such that intended receiver of the text can only decode it and hence this process is known as </a:t>
            </a:r>
            <a:r>
              <a:rPr lang="en-US" b="1" dirty="0"/>
              <a:t>encryption</a:t>
            </a:r>
            <a:r>
              <a:rPr lang="en-US" dirty="0"/>
              <a:t>. </a:t>
            </a:r>
            <a:endParaRPr lang="en-US" dirty="0" smtClean="0"/>
          </a:p>
          <a:p>
            <a:pPr fontAlgn="base"/>
            <a:endParaRPr lang="en-US" dirty="0"/>
          </a:p>
          <a:p>
            <a:pPr fontAlgn="base"/>
            <a:r>
              <a:rPr lang="en-US" dirty="0" smtClean="0"/>
              <a:t>The </a:t>
            </a:r>
            <a:r>
              <a:rPr lang="en-US" dirty="0"/>
              <a:t>process of conversion of cipher text to plain text this is known as </a:t>
            </a:r>
            <a:r>
              <a:rPr lang="en-US" b="1" dirty="0"/>
              <a:t>decryption</a:t>
            </a:r>
            <a:r>
              <a:rPr lang="en-US" dirty="0"/>
              <a:t>. </a:t>
            </a:r>
          </a:p>
          <a:p>
            <a:endParaRPr lang="en-IN" dirty="0"/>
          </a:p>
        </p:txBody>
      </p:sp>
    </p:spTree>
    <p:extLst>
      <p:ext uri="{BB962C8B-B14F-4D97-AF65-F5344CB8AC3E}">
        <p14:creationId xmlns:p14="http://schemas.microsoft.com/office/powerpoint/2010/main" val="2310960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Symmetric </a:t>
            </a:r>
            <a:r>
              <a:rPr lang="en-IN" sz="3200" dirty="0"/>
              <a:t>Cryptography</a:t>
            </a:r>
          </a:p>
        </p:txBody>
      </p:sp>
      <p:sp>
        <p:nvSpPr>
          <p:cNvPr id="3" name="Content Placeholder 2"/>
          <p:cNvSpPr>
            <a:spLocks noGrp="1"/>
          </p:cNvSpPr>
          <p:nvPr>
            <p:ph idx="1"/>
          </p:nvPr>
        </p:nvSpPr>
        <p:spPr/>
        <p:txBody>
          <a:bodyPr>
            <a:normAutofit fontScale="47500" lnSpcReduction="20000"/>
          </a:bodyPr>
          <a:lstStyle/>
          <a:p>
            <a:r>
              <a:rPr lang="en-US" b="1" dirty="0"/>
              <a:t>Symmetric encryption</a:t>
            </a:r>
            <a:r>
              <a:rPr lang="en-US" dirty="0"/>
              <a:t> is a form of encryption whereby the same key is used to encrypt and decrypt the message.  </a:t>
            </a:r>
            <a:endParaRPr lang="en-US" dirty="0" smtClean="0"/>
          </a:p>
          <a:p>
            <a:endParaRPr lang="en-US" dirty="0"/>
          </a:p>
          <a:p>
            <a:r>
              <a:rPr lang="en-US" dirty="0" smtClean="0"/>
              <a:t>This </a:t>
            </a:r>
            <a:r>
              <a:rPr lang="en-US" dirty="0"/>
              <a:t>is different from asymmetric or public-key encryption, which uses one key to encrypt a message and another key to decrypt the message</a:t>
            </a:r>
            <a:r>
              <a:rPr lang="en-US" dirty="0" smtClean="0"/>
              <a:t>.</a:t>
            </a:r>
          </a:p>
          <a:p>
            <a:endParaRPr lang="en-US" dirty="0"/>
          </a:p>
          <a:p>
            <a:r>
              <a:rPr lang="en-US" dirty="0"/>
              <a:t>Symmetric encryption is a kind of </a:t>
            </a:r>
            <a:r>
              <a:rPr lang="en-US" dirty="0" smtClean="0"/>
              <a:t>computerized </a:t>
            </a:r>
            <a:r>
              <a:rPr lang="en-US" dirty="0"/>
              <a:t>cryptography, which uses a particular encryption key to conceal the contents of an electronic message.  </a:t>
            </a:r>
            <a:endParaRPr lang="en-US" dirty="0" smtClean="0"/>
          </a:p>
          <a:p>
            <a:endParaRPr lang="en-US" dirty="0"/>
          </a:p>
          <a:p>
            <a:r>
              <a:rPr lang="en-US" dirty="0" smtClean="0"/>
              <a:t>Its </a:t>
            </a:r>
            <a:r>
              <a:rPr lang="en-US" dirty="0"/>
              <a:t>data conversion </a:t>
            </a:r>
            <a:r>
              <a:rPr lang="en-US" dirty="0" smtClean="0"/>
              <a:t>utilizes </a:t>
            </a:r>
            <a:r>
              <a:rPr lang="en-US" dirty="0"/>
              <a:t>a mathematical procedure along with a private key, which results in the potential failure to make sense of a message for somebody who doesn’t have the right tools to decrypt it.  </a:t>
            </a:r>
            <a:endParaRPr lang="en-US" dirty="0" smtClean="0"/>
          </a:p>
          <a:p>
            <a:endParaRPr lang="en-US" dirty="0"/>
          </a:p>
          <a:p>
            <a:r>
              <a:rPr lang="en-US" dirty="0" smtClean="0"/>
              <a:t>Symmetric </a:t>
            </a:r>
            <a:r>
              <a:rPr lang="en-US" dirty="0"/>
              <a:t>encryption is a two-way algorithm because the mathematical procedure is turned back when decrypting the message, along with using the same private key</a:t>
            </a:r>
            <a:r>
              <a:rPr lang="en-US" dirty="0" smtClean="0"/>
              <a:t>.</a:t>
            </a:r>
          </a:p>
          <a:p>
            <a:endParaRPr lang="en-US" dirty="0"/>
          </a:p>
          <a:p>
            <a:r>
              <a:rPr lang="en-US" dirty="0"/>
              <a:t>Symmetric encryption is also referred to as </a:t>
            </a:r>
            <a:r>
              <a:rPr lang="en-US" b="1" dirty="0"/>
              <a:t>private-key </a:t>
            </a:r>
            <a:r>
              <a:rPr lang="en-US" dirty="0"/>
              <a:t>encryption and </a:t>
            </a:r>
            <a:r>
              <a:rPr lang="en-US" b="1" dirty="0"/>
              <a:t>secure-key </a:t>
            </a:r>
            <a:r>
              <a:rPr lang="en-US" dirty="0"/>
              <a:t>encryption.</a:t>
            </a:r>
          </a:p>
          <a:p>
            <a:endParaRPr lang="en-IN" dirty="0"/>
          </a:p>
        </p:txBody>
      </p:sp>
    </p:spTree>
    <p:extLst>
      <p:ext uri="{BB962C8B-B14F-4D97-AF65-F5344CB8AC3E}">
        <p14:creationId xmlns:p14="http://schemas.microsoft.com/office/powerpoint/2010/main" val="803519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Symmetric Cryptography</a:t>
            </a:r>
          </a:p>
        </p:txBody>
      </p:sp>
      <p:pic>
        <p:nvPicPr>
          <p:cNvPr id="1027" name="Picture 3" descr="C:\Users\iims.faculty\Desktop\symmetri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49083"/>
            <a:ext cx="70866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750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Asymmetric </a:t>
            </a:r>
            <a:r>
              <a:rPr lang="en-IN" sz="3200" dirty="0"/>
              <a:t>Cryptography</a:t>
            </a:r>
          </a:p>
        </p:txBody>
      </p:sp>
      <p:sp>
        <p:nvSpPr>
          <p:cNvPr id="3" name="Content Placeholder 2"/>
          <p:cNvSpPr>
            <a:spLocks noGrp="1"/>
          </p:cNvSpPr>
          <p:nvPr>
            <p:ph idx="1"/>
          </p:nvPr>
        </p:nvSpPr>
        <p:spPr/>
        <p:txBody>
          <a:bodyPr>
            <a:noAutofit/>
          </a:bodyPr>
          <a:lstStyle/>
          <a:p>
            <a:r>
              <a:rPr lang="en-US" sz="1800" dirty="0" smtClean="0"/>
              <a:t>Public-key </a:t>
            </a:r>
            <a:r>
              <a:rPr lang="en-US" sz="1800" dirty="0"/>
              <a:t>encryption, a mix of a </a:t>
            </a:r>
            <a:r>
              <a:rPr lang="en-US" sz="1800" b="1" dirty="0"/>
              <a:t>private key </a:t>
            </a:r>
            <a:r>
              <a:rPr lang="en-US" sz="1800" dirty="0"/>
              <a:t>and a </a:t>
            </a:r>
            <a:r>
              <a:rPr lang="en-US" sz="1800" b="1" dirty="0"/>
              <a:t>public key</a:t>
            </a:r>
            <a:r>
              <a:rPr lang="en-US" sz="1800" dirty="0"/>
              <a:t>, utilizes two separate </a:t>
            </a:r>
            <a:r>
              <a:rPr lang="en-US" sz="1800" dirty="0" smtClean="0"/>
              <a:t>keys. </a:t>
            </a:r>
          </a:p>
          <a:p>
            <a:endParaRPr lang="en-US" sz="1800" dirty="0"/>
          </a:p>
          <a:p>
            <a:r>
              <a:rPr lang="en-US" sz="1800" dirty="0" smtClean="0"/>
              <a:t>The </a:t>
            </a:r>
            <a:r>
              <a:rPr lang="en-US" sz="1800" dirty="0"/>
              <a:t>private key must stay exclusive to its individual holders, while the public key must be made open to anybody by a library or vault that is unreservedly available. </a:t>
            </a:r>
            <a:endParaRPr lang="en-US" sz="1800" dirty="0" smtClean="0"/>
          </a:p>
          <a:p>
            <a:endParaRPr lang="en-US" sz="1800" dirty="0"/>
          </a:p>
          <a:p>
            <a:r>
              <a:rPr lang="en-US" sz="1800" dirty="0" smtClean="0"/>
              <a:t>A </a:t>
            </a:r>
            <a:r>
              <a:rPr lang="en-US" sz="1800" dirty="0"/>
              <a:t>machine may utilize the public key, given by the starting gadget, and its own private key to decode an encoded message. </a:t>
            </a:r>
            <a:endParaRPr lang="en-US" sz="1800" dirty="0" smtClean="0"/>
          </a:p>
          <a:p>
            <a:endParaRPr lang="en-US" sz="1800" dirty="0"/>
          </a:p>
          <a:p>
            <a:r>
              <a:rPr lang="en-US" sz="1800" dirty="0" smtClean="0"/>
              <a:t>While </a:t>
            </a:r>
            <a:r>
              <a:rPr lang="en-US" sz="1800" dirty="0"/>
              <a:t>a message sent starting with one gadget then onto the next would not be secure since the public key </a:t>
            </a:r>
            <a:r>
              <a:rPr lang="en-US" sz="1800" dirty="0" smtClean="0"/>
              <a:t>utilized </a:t>
            </a:r>
            <a:r>
              <a:rPr lang="en-US" sz="1800" dirty="0"/>
              <a:t>for encryption is accessible and open to everybody, without the private key, somebody who gets it won’t read it.</a:t>
            </a:r>
            <a:endParaRPr lang="en-IN" sz="1800" dirty="0"/>
          </a:p>
        </p:txBody>
      </p:sp>
    </p:spTree>
    <p:extLst>
      <p:ext uri="{BB962C8B-B14F-4D97-AF65-F5344CB8AC3E}">
        <p14:creationId xmlns:p14="http://schemas.microsoft.com/office/powerpoint/2010/main" val="1750092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Asymmetric Cryptography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2076450"/>
            <a:ext cx="714375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2478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Firewall </a:t>
            </a:r>
          </a:p>
        </p:txBody>
      </p:sp>
      <p:sp>
        <p:nvSpPr>
          <p:cNvPr id="3" name="Content Placeholder 2"/>
          <p:cNvSpPr>
            <a:spLocks noGrp="1"/>
          </p:cNvSpPr>
          <p:nvPr>
            <p:ph idx="1"/>
          </p:nvPr>
        </p:nvSpPr>
        <p:spPr/>
        <p:txBody>
          <a:bodyPr>
            <a:normAutofit fontScale="55000" lnSpcReduction="20000"/>
          </a:bodyPr>
          <a:lstStyle/>
          <a:p>
            <a:r>
              <a:rPr lang="en-US" dirty="0"/>
              <a:t>F</a:t>
            </a:r>
            <a:r>
              <a:rPr lang="en-US" dirty="0" smtClean="0"/>
              <a:t>irewall  is a tool that </a:t>
            </a:r>
            <a:r>
              <a:rPr lang="en-US" dirty="0"/>
              <a:t>prevents unauthorized access </a:t>
            </a:r>
            <a:endParaRPr lang="en-US" dirty="0" smtClean="0"/>
          </a:p>
          <a:p>
            <a:pPr marL="0" indent="0">
              <a:buNone/>
            </a:pPr>
            <a:r>
              <a:rPr lang="en-US" dirty="0" smtClean="0"/>
              <a:t>      and </a:t>
            </a:r>
            <a:r>
              <a:rPr lang="en-US" dirty="0"/>
              <a:t>keeps our computers and data safe and secure</a:t>
            </a:r>
            <a:r>
              <a:rPr lang="en-US" dirty="0" smtClean="0"/>
              <a:t>.</a:t>
            </a:r>
          </a:p>
          <a:p>
            <a:endParaRPr lang="en-US" dirty="0"/>
          </a:p>
          <a:p>
            <a:r>
              <a:rPr lang="en-US" dirty="0"/>
              <a:t>S</a:t>
            </a:r>
            <a:r>
              <a:rPr lang="en-US" dirty="0" smtClean="0"/>
              <a:t>pecial </a:t>
            </a:r>
            <a:r>
              <a:rPr lang="en-US" dirty="0"/>
              <a:t>type of network security device or a software program that monitors and filters incoming and outgoing network traffic based on a defined set of security rules. </a:t>
            </a:r>
            <a:endParaRPr lang="en-US" dirty="0" smtClean="0"/>
          </a:p>
          <a:p>
            <a:endParaRPr lang="en-US" dirty="0"/>
          </a:p>
          <a:p>
            <a:r>
              <a:rPr lang="en-US" dirty="0" smtClean="0"/>
              <a:t>It </a:t>
            </a:r>
            <a:r>
              <a:rPr lang="en-US" dirty="0"/>
              <a:t>acts as a barrier between internal private networks and external sources (such as the public Internet</a:t>
            </a:r>
            <a:r>
              <a:rPr lang="en-US" dirty="0" smtClean="0"/>
              <a:t>).</a:t>
            </a:r>
          </a:p>
          <a:p>
            <a:endParaRPr lang="en-US" dirty="0"/>
          </a:p>
          <a:p>
            <a:r>
              <a:rPr lang="en-US" dirty="0"/>
              <a:t>The primary purpose of a firewall is to allow non-threatening traffic and prevent malicious or unwanted data traffic for protecting the computer from viruses and attacks. </a:t>
            </a:r>
            <a:endParaRPr lang="en-US" dirty="0" smtClean="0"/>
          </a:p>
          <a:p>
            <a:endParaRPr lang="en-US" dirty="0"/>
          </a:p>
          <a:p>
            <a:r>
              <a:rPr lang="en-US" dirty="0" smtClean="0"/>
              <a:t>A </a:t>
            </a:r>
            <a:r>
              <a:rPr lang="en-US" dirty="0"/>
              <a:t>firewall is a cybersecurity tool that filters network traffic and helps users block malicious software from accessing the </a:t>
            </a:r>
            <a:r>
              <a:rPr lang="en-US" dirty="0" smtClean="0"/>
              <a:t>Internet</a:t>
            </a:r>
            <a:r>
              <a:rPr lang="en-US" dirty="0"/>
              <a:t> in infected computers</a:t>
            </a:r>
            <a:r>
              <a:rPr lang="en-US" dirty="0" smtClean="0"/>
              <a:t>.</a:t>
            </a:r>
          </a:p>
          <a:p>
            <a:endParaRPr lang="en-US"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685800"/>
            <a:ext cx="27051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7480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Firewall</a:t>
            </a:r>
          </a:p>
        </p:txBody>
      </p:sp>
      <p:sp>
        <p:nvSpPr>
          <p:cNvPr id="3" name="Content Placeholder 2"/>
          <p:cNvSpPr>
            <a:spLocks noGrp="1"/>
          </p:cNvSpPr>
          <p:nvPr>
            <p:ph idx="1"/>
          </p:nvPr>
        </p:nvSpPr>
        <p:spPr/>
        <p:txBody>
          <a:bodyPr>
            <a:normAutofit fontScale="55000" lnSpcReduction="20000"/>
          </a:bodyPr>
          <a:lstStyle/>
          <a:p>
            <a:pPr marL="0" indent="0" fontAlgn="base">
              <a:buNone/>
            </a:pPr>
            <a:r>
              <a:rPr lang="en-US" b="1" dirty="0"/>
              <a:t>Types of </a:t>
            </a:r>
            <a:r>
              <a:rPr lang="en-US" b="1" dirty="0" smtClean="0"/>
              <a:t>Firewall</a:t>
            </a:r>
          </a:p>
          <a:p>
            <a:pPr marL="0" indent="0" fontAlgn="base">
              <a:buNone/>
            </a:pPr>
            <a:endParaRPr lang="en-US" dirty="0"/>
          </a:p>
          <a:p>
            <a:pPr fontAlgn="base"/>
            <a:r>
              <a:rPr lang="en-US" dirty="0"/>
              <a:t>Firewalls are generally of two types: </a:t>
            </a:r>
            <a:r>
              <a:rPr lang="en-US" b="1" dirty="0"/>
              <a:t>Host-based</a:t>
            </a:r>
            <a:r>
              <a:rPr lang="en-US" dirty="0"/>
              <a:t> and </a:t>
            </a:r>
            <a:r>
              <a:rPr lang="en-US" b="1" dirty="0"/>
              <a:t>Network-based</a:t>
            </a:r>
            <a:r>
              <a:rPr lang="en-US" i="1" dirty="0" smtClean="0"/>
              <a:t>.</a:t>
            </a:r>
          </a:p>
          <a:p>
            <a:pPr fontAlgn="base"/>
            <a:endParaRPr lang="en-US" dirty="0"/>
          </a:p>
          <a:p>
            <a:pPr fontAlgn="base"/>
            <a:r>
              <a:rPr lang="en-US" b="1" dirty="0"/>
              <a:t>Host- based Firewalls : </a:t>
            </a:r>
            <a:r>
              <a:rPr lang="en-US" dirty="0"/>
              <a:t>Host-based firewall is installed on each network node which controls each incoming and outgoing packet. It is a software application or suite of applications, comes as a part of the operating system. Host-based firewalls are needed because network firewalls cannot provide protection inside a trusted network. Host firewall protects each host from attacks and unauthorized access</a:t>
            </a:r>
            <a:r>
              <a:rPr lang="en-US" dirty="0" smtClean="0"/>
              <a:t>.</a:t>
            </a:r>
          </a:p>
          <a:p>
            <a:pPr fontAlgn="base"/>
            <a:endParaRPr lang="en-US" dirty="0"/>
          </a:p>
          <a:p>
            <a:pPr fontAlgn="base"/>
            <a:r>
              <a:rPr lang="en-US" b="1" dirty="0"/>
              <a:t>Network-based Firewalls : </a:t>
            </a:r>
            <a:r>
              <a:rPr lang="en-US" dirty="0"/>
              <a:t>Network firewall function on network level. </a:t>
            </a:r>
            <a:r>
              <a:rPr lang="en-US" dirty="0" smtClean="0"/>
              <a:t>These </a:t>
            </a:r>
            <a:r>
              <a:rPr lang="en-US" dirty="0"/>
              <a:t>firewalls filter all incoming and outgoing traffic across the network. It protects the internal network by filtering the traffic using rules defined on the firewall. A Network firewall might have two or more network interface cards (NICs). A network-based firewall is usually a dedicated system with proprietary software installed.</a:t>
            </a:r>
          </a:p>
          <a:p>
            <a:endParaRPr lang="en-IN" dirty="0"/>
          </a:p>
        </p:txBody>
      </p:sp>
    </p:spTree>
    <p:extLst>
      <p:ext uri="{BB962C8B-B14F-4D97-AF65-F5344CB8AC3E}">
        <p14:creationId xmlns:p14="http://schemas.microsoft.com/office/powerpoint/2010/main" val="2386140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Firewall</a:t>
            </a:r>
            <a:endParaRPr lang="en-IN" dirty="0"/>
          </a:p>
        </p:txBody>
      </p:sp>
      <p:sp>
        <p:nvSpPr>
          <p:cNvPr id="3" name="Content Placeholder 2"/>
          <p:cNvSpPr>
            <a:spLocks noGrp="1"/>
          </p:cNvSpPr>
          <p:nvPr>
            <p:ph idx="1"/>
          </p:nvPr>
        </p:nvSpPr>
        <p:spPr/>
        <p:txBody>
          <a:bodyPr>
            <a:normAutofit/>
          </a:bodyPr>
          <a:lstStyle/>
          <a:p>
            <a:pPr marL="0" indent="0">
              <a:buNone/>
            </a:pPr>
            <a:r>
              <a:rPr lang="en-IN" sz="1800" b="1" dirty="0" smtClean="0"/>
              <a:t>Advantages</a:t>
            </a:r>
          </a:p>
          <a:p>
            <a:r>
              <a:rPr lang="en-IN" sz="1800" dirty="0" smtClean="0"/>
              <a:t>Protection </a:t>
            </a:r>
            <a:r>
              <a:rPr lang="en-IN" sz="1800" dirty="0"/>
              <a:t>from unauthorized </a:t>
            </a:r>
            <a:r>
              <a:rPr lang="en-IN" sz="1800" dirty="0" smtClean="0"/>
              <a:t>access</a:t>
            </a:r>
          </a:p>
          <a:p>
            <a:r>
              <a:rPr lang="en-US" sz="1800" dirty="0"/>
              <a:t>Prevention of </a:t>
            </a:r>
            <a:r>
              <a:rPr lang="en-US" sz="1800" dirty="0" smtClean="0"/>
              <a:t>malware </a:t>
            </a:r>
            <a:r>
              <a:rPr lang="en-US" sz="1800" dirty="0"/>
              <a:t>and other </a:t>
            </a:r>
            <a:r>
              <a:rPr lang="en-US" sz="1800" dirty="0" smtClean="0"/>
              <a:t>threats</a:t>
            </a:r>
          </a:p>
          <a:p>
            <a:r>
              <a:rPr lang="en-IN" sz="1800" dirty="0"/>
              <a:t>Control of network </a:t>
            </a:r>
            <a:r>
              <a:rPr lang="en-IN" sz="1800" dirty="0" smtClean="0"/>
              <a:t>access</a:t>
            </a:r>
          </a:p>
          <a:p>
            <a:r>
              <a:rPr lang="en-IN" sz="1800" dirty="0"/>
              <a:t>Monitoring of network </a:t>
            </a:r>
            <a:r>
              <a:rPr lang="en-IN" sz="1800" dirty="0" smtClean="0"/>
              <a:t>activity</a:t>
            </a:r>
          </a:p>
          <a:p>
            <a:endParaRPr lang="en-IN" sz="1800" dirty="0"/>
          </a:p>
          <a:p>
            <a:pPr marL="0" indent="0">
              <a:buNone/>
            </a:pPr>
            <a:r>
              <a:rPr lang="en-IN" sz="1800" b="1" dirty="0"/>
              <a:t>Disadvantages </a:t>
            </a:r>
            <a:endParaRPr lang="en-IN" sz="1800" b="1" dirty="0" smtClean="0"/>
          </a:p>
          <a:p>
            <a:r>
              <a:rPr lang="en-IN" sz="1800" dirty="0" smtClean="0"/>
              <a:t>Complexity</a:t>
            </a:r>
          </a:p>
          <a:p>
            <a:r>
              <a:rPr lang="en-IN" sz="1800" dirty="0"/>
              <a:t>Limited Visibility</a:t>
            </a:r>
            <a:endParaRPr lang="en-IN" sz="1800" dirty="0" smtClean="0"/>
          </a:p>
          <a:p>
            <a:r>
              <a:rPr lang="en-IN" sz="1800" dirty="0"/>
              <a:t>Limited </a:t>
            </a:r>
            <a:r>
              <a:rPr lang="en-IN" sz="1800" dirty="0" smtClean="0"/>
              <a:t>scalability</a:t>
            </a:r>
            <a:endParaRPr lang="en-IN" sz="1800" dirty="0"/>
          </a:p>
          <a:p>
            <a:endParaRPr lang="en-IN" dirty="0"/>
          </a:p>
        </p:txBody>
      </p:sp>
    </p:spTree>
    <p:extLst>
      <p:ext uri="{BB962C8B-B14F-4D97-AF65-F5344CB8AC3E}">
        <p14:creationId xmlns:p14="http://schemas.microsoft.com/office/powerpoint/2010/main" val="2318618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515</TotalTime>
  <Words>493</Words>
  <Application>Microsoft Office PowerPoint</Application>
  <PresentationFormat>On-screen Show (4:3)</PresentationFormat>
  <Paragraphs>122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Network Security</vt:lpstr>
      <vt:lpstr>Network Security</vt:lpstr>
      <vt:lpstr>Network Security</vt:lpstr>
      <vt:lpstr>Network Security</vt:lpstr>
      <vt:lpstr>Network Security</vt:lpstr>
      <vt:lpstr>Active attacks</vt:lpstr>
      <vt:lpstr>Passive attacks</vt:lpstr>
      <vt:lpstr>Cryptography</vt:lpstr>
      <vt:lpstr>Symmetric Cryptography</vt:lpstr>
      <vt:lpstr>Symmetric Cryptography</vt:lpstr>
      <vt:lpstr>Asymmetric Cryptography</vt:lpstr>
      <vt:lpstr>Asymmetric Cryptography</vt:lpstr>
      <vt:lpstr>Firewall </vt:lpstr>
      <vt:lpstr>Firewall</vt:lpstr>
      <vt:lpstr>Firewall</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Security</dc:title>
  <dc:creator>IIMS Faculty</dc:creator>
  <cp:lastModifiedBy>IIMS FACULTY</cp:lastModifiedBy>
  <cp:revision>75</cp:revision>
  <dcterms:created xsi:type="dcterms:W3CDTF">2006-08-16T00:00:00Z</dcterms:created>
  <dcterms:modified xsi:type="dcterms:W3CDTF">2023-11-08T09:45:58Z</dcterms:modified>
</cp:coreProperties>
</file>