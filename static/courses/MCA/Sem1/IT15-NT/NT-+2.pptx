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3"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7" r:id="rId30"/>
    <p:sldId id="288" r:id="rId31"/>
    <p:sldId id="289"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5" d="100"/>
          <a:sy n="85" d="100"/>
        </p:scale>
        <p:origin x="-708" y="-1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102959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317679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49554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667588-0BC4-4171-8B4C-F06C58F0E034}" type="datetimeFigureOut">
              <a:rPr lang="en-US" smtClean="0"/>
              <a:t>9/10/2023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325837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667588-0BC4-4171-8B4C-F06C58F0E034}" type="datetimeFigureOut">
              <a:rPr lang="en-US" smtClean="0"/>
              <a:t>9/10/2023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1895379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C667588-0BC4-4171-8B4C-F06C58F0E034}" type="datetimeFigureOut">
              <a:rPr lang="en-US" smtClean="0"/>
              <a:t>9/10/2023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152138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67588-0BC4-4171-8B4C-F06C58F0E034}" type="datetimeFigureOut">
              <a:rPr lang="en-US" smtClean="0"/>
              <a:t>9/10/2023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873282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667588-0BC4-4171-8B4C-F06C58F0E034}" type="datetimeFigureOut">
              <a:rPr lang="en-US" smtClean="0"/>
              <a:t>9/10/2023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981057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667588-0BC4-4171-8B4C-F06C58F0E034}" type="datetimeFigureOut">
              <a:rPr lang="en-US" smtClean="0"/>
              <a:t>9/10/2023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654690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667588-0BC4-4171-8B4C-F06C58F0E034}" type="datetimeFigureOut">
              <a:rPr lang="en-US" smtClean="0"/>
              <a:t>9/10/2023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661870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704917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121568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134017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C667588-0BC4-4171-8B4C-F06C58F0E034}" type="datetimeFigureOut">
              <a:rPr lang="en-US" smtClean="0"/>
              <a:t>9/10/2023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4102156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C667588-0BC4-4171-8B4C-F06C58F0E034}" type="datetimeFigureOut">
              <a:rPr lang="en-US" smtClean="0"/>
              <a:t>9/10/2023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936424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1436582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C667588-0BC4-4171-8B4C-F06C58F0E034}" type="datetimeFigureOut">
              <a:rPr lang="en-US" smtClean="0"/>
              <a:t>9/10/2023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3473545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C667588-0BC4-4171-8B4C-F06C58F0E034}" type="datetimeFigureOut">
              <a:rPr lang="en-US" smtClean="0"/>
              <a:t>9/10/2023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197FF55-5C5F-41AC-BE64-AC671D868D35}" type="slidenum">
              <a:rPr lang="en-US" smtClean="0"/>
              <a:t>‹#›</a:t>
            </a:fld>
            <a:endParaRPr lang="en-US"/>
          </a:p>
        </p:txBody>
      </p:sp>
    </p:spTree>
    <p:extLst>
      <p:ext uri="{BB962C8B-B14F-4D97-AF65-F5344CB8AC3E}">
        <p14:creationId xmlns:p14="http://schemas.microsoft.com/office/powerpoint/2010/main" val="41211415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7744" y="847493"/>
            <a:ext cx="9366636" cy="5330283"/>
          </a:xfrm>
        </p:spPr>
        <p:txBody>
          <a:bodyPr/>
          <a:lstStyle/>
          <a:p>
            <a:r>
              <a:rPr lang="en-IN" dirty="0" smtClean="0"/>
              <a:t/>
            </a:r>
            <a:br>
              <a:rPr lang="en-IN" dirty="0" smtClean="0"/>
            </a:br>
            <a:r>
              <a:rPr lang="en-IN" dirty="0" smtClean="0"/>
              <a:t> </a:t>
            </a:r>
            <a:br>
              <a:rPr lang="en-IN" dirty="0" smtClean="0"/>
            </a:br>
            <a:r>
              <a:rPr lang="en-IN" dirty="0" smtClean="0"/>
              <a:t/>
            </a:r>
            <a:br>
              <a:rPr lang="en-IN" dirty="0" smtClean="0"/>
            </a:br>
            <a:r>
              <a:rPr lang="en-IN" dirty="0" smtClean="0"/>
              <a:t> </a:t>
            </a:r>
            <a:r>
              <a:rPr lang="en-IN" dirty="0"/>
              <a:t/>
            </a:r>
            <a:br>
              <a:rPr lang="en-IN" dirty="0"/>
            </a:br>
            <a:r>
              <a:rPr lang="en-IN" dirty="0" smtClean="0"/>
              <a:t>     Course Code: </a:t>
            </a:r>
            <a:r>
              <a:rPr lang="en-IN" dirty="0"/>
              <a:t>IT-15</a:t>
            </a:r>
            <a:br>
              <a:rPr lang="en-IN" dirty="0"/>
            </a:br>
            <a:r>
              <a:rPr lang="en-IN" dirty="0" smtClean="0"/>
              <a:t>                              </a:t>
            </a:r>
            <a:r>
              <a:rPr lang="en-IN" dirty="0"/>
              <a:t/>
            </a:r>
            <a:br>
              <a:rPr lang="en-IN" dirty="0"/>
            </a:br>
            <a:r>
              <a:rPr lang="en-IN" dirty="0" smtClean="0"/>
              <a:t>   </a:t>
            </a:r>
            <a:r>
              <a:rPr lang="en-US" dirty="0" smtClean="0"/>
              <a:t>Network </a:t>
            </a:r>
            <a:r>
              <a:rPr lang="en-IN" dirty="0" smtClean="0"/>
              <a:t>Technologies</a:t>
            </a:r>
            <a:br>
              <a:rPr lang="en-IN" dirty="0" smtClean="0"/>
            </a:br>
            <a:r>
              <a:rPr lang="en-IN" dirty="0"/>
              <a:t/>
            </a:r>
            <a:br>
              <a:rPr lang="en-IN" dirty="0"/>
            </a:br>
            <a:endParaRPr lang="en-US" dirty="0"/>
          </a:p>
        </p:txBody>
      </p:sp>
    </p:spTree>
    <p:extLst>
      <p:ext uri="{BB962C8B-B14F-4D97-AF65-F5344CB8AC3E}">
        <p14:creationId xmlns:p14="http://schemas.microsoft.com/office/powerpoint/2010/main" val="1175682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Course Description</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2464" y="2328068"/>
            <a:ext cx="8911625" cy="1275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761999" y="4070184"/>
            <a:ext cx="10734907" cy="1938992"/>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Course Objectives: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1. To </a:t>
            </a:r>
            <a:r>
              <a:rPr lang="en-US" sz="2000" dirty="0">
                <a:latin typeface="Times New Roman" panose="02020603050405020304" pitchFamily="18" charset="0"/>
                <a:cs typeface="Times New Roman" panose="02020603050405020304" pitchFamily="18" charset="0"/>
              </a:rPr>
              <a:t>understand various computer networks and technologies behind networks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To study TCP/IP protocol suite, IP addressing schemes and link layer communication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To study routing concept along with Routing protocols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To study application layer protocols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5</a:t>
            </a:r>
            <a:r>
              <a:rPr lang="en-US" sz="2000" dirty="0">
                <a:latin typeface="Times New Roman" panose="02020603050405020304" pitchFamily="18" charset="0"/>
                <a:cs typeface="Times New Roman" panose="02020603050405020304" pitchFamily="18" charset="0"/>
              </a:rPr>
              <a:t>. To understand basics of cryptography and socket programming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888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Course Outcomes</a:t>
            </a:r>
            <a:endParaRPr lang="en-US" dirty="0"/>
          </a:p>
        </p:txBody>
      </p:sp>
      <p:sp>
        <p:nvSpPr>
          <p:cNvPr id="3" name="Content Placeholder 2"/>
          <p:cNvSpPr>
            <a:spLocks noGrp="1"/>
          </p:cNvSpPr>
          <p:nvPr>
            <p:ph idx="1"/>
          </p:nvPr>
        </p:nvSpPr>
        <p:spPr/>
        <p:txBody>
          <a:bodyPr/>
          <a:lstStyle/>
          <a:p>
            <a:pPr marL="0" indent="0">
              <a:buNone/>
            </a:pPr>
            <a:endParaRPr lang="en-US" b="1" dirty="0"/>
          </a:p>
          <a:p>
            <a:endParaRPr lang="en-US" dirty="0"/>
          </a:p>
        </p:txBody>
      </p:sp>
      <p:sp>
        <p:nvSpPr>
          <p:cNvPr id="4" name="Rectangle 3"/>
          <p:cNvSpPr/>
          <p:nvPr/>
        </p:nvSpPr>
        <p:spPr>
          <a:xfrm>
            <a:off x="167268" y="2649295"/>
            <a:ext cx="11920654" cy="3170099"/>
          </a:xfrm>
          <a:prstGeom prst="rect">
            <a:avLst/>
          </a:prstGeom>
        </p:spPr>
        <p:txBody>
          <a:bodyPr wrap="square">
            <a:spAutoFit/>
          </a:bodyPr>
          <a:lstStyle/>
          <a:p>
            <a:pPr>
              <a:lnSpc>
                <a:spcPct val="200000"/>
              </a:lnSpc>
            </a:pPr>
            <a:r>
              <a:rPr lang="en-US" sz="2000" dirty="0">
                <a:latin typeface="Times New Roman" panose="02020603050405020304" pitchFamily="18" charset="0"/>
                <a:cs typeface="Times New Roman" panose="02020603050405020304" pitchFamily="18" charset="0"/>
              </a:rPr>
              <a:t>CO1: Understand the basic concepts of Computer Network, and principle of layering (Understand) </a:t>
            </a:r>
            <a:endParaRPr lang="en-US" sz="2000" dirty="0" smtClean="0">
              <a:latin typeface="Times New Roman" panose="02020603050405020304" pitchFamily="18" charset="0"/>
              <a:cs typeface="Times New Roman" panose="02020603050405020304" pitchFamily="18" charset="0"/>
            </a:endParaRPr>
          </a:p>
          <a:p>
            <a:pPr>
              <a:lnSpc>
                <a:spcPct val="200000"/>
              </a:lnSpc>
            </a:pPr>
            <a:r>
              <a:rPr lang="en-US" sz="2000" dirty="0" smtClean="0">
                <a:latin typeface="Times New Roman" panose="02020603050405020304" pitchFamily="18" charset="0"/>
                <a:cs typeface="Times New Roman" panose="02020603050405020304" pitchFamily="18" charset="0"/>
              </a:rPr>
              <a:t>CO2</a:t>
            </a:r>
            <a:r>
              <a:rPr lang="en-US" sz="2000" dirty="0">
                <a:latin typeface="Times New Roman" panose="02020603050405020304" pitchFamily="18" charset="0"/>
                <a:cs typeface="Times New Roman" panose="02020603050405020304" pitchFamily="18" charset="0"/>
              </a:rPr>
              <a:t>: Apply the error detection and correction techniques used in data transmission (Apply) </a:t>
            </a:r>
            <a:endParaRPr lang="en-US" sz="2000" dirty="0" smtClean="0">
              <a:latin typeface="Times New Roman" panose="02020603050405020304" pitchFamily="18" charset="0"/>
              <a:cs typeface="Times New Roman" panose="02020603050405020304" pitchFamily="18" charset="0"/>
            </a:endParaRPr>
          </a:p>
          <a:p>
            <a:pPr>
              <a:lnSpc>
                <a:spcPct val="200000"/>
              </a:lnSpc>
            </a:pPr>
            <a:r>
              <a:rPr lang="en-US" sz="2000" dirty="0" smtClean="0">
                <a:latin typeface="Times New Roman" panose="02020603050405020304" pitchFamily="18" charset="0"/>
                <a:cs typeface="Times New Roman" panose="02020603050405020304" pitchFamily="18" charset="0"/>
              </a:rPr>
              <a:t>CO3</a:t>
            </a:r>
            <a:r>
              <a:rPr lang="en-US" sz="2000" dirty="0">
                <a:latin typeface="Times New Roman" panose="02020603050405020304" pitchFamily="18" charset="0"/>
                <a:cs typeface="Times New Roman" panose="02020603050405020304" pitchFamily="18" charset="0"/>
              </a:rPr>
              <a:t>: Apply IP addressing schemes and sub netting (Apply</a:t>
            </a:r>
            <a:r>
              <a:rPr lang="en-US" sz="2000" dirty="0" smtClean="0">
                <a:latin typeface="Times New Roman" panose="02020603050405020304" pitchFamily="18" charset="0"/>
                <a:cs typeface="Times New Roman" panose="02020603050405020304" pitchFamily="18" charset="0"/>
              </a:rPr>
              <a:t>)</a:t>
            </a:r>
          </a:p>
          <a:p>
            <a:pPr>
              <a:lnSpc>
                <a:spcPct val="20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CO4: Understand the concept of routing protocols, Application layer protocols and Network Security (Understand) CO5: Apply the socket programming basics to create a simple chat application (Apply)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30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7785" y="1070517"/>
            <a:ext cx="9400477" cy="45273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6878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561" y="635620"/>
            <a:ext cx="10337179" cy="1045012"/>
          </a:xfrm>
        </p:spPr>
        <p:txBody>
          <a:bodyPr/>
          <a:lstStyle/>
          <a:p>
            <a:r>
              <a:rPr lang="en-US" dirty="0" smtClean="0"/>
              <a:t>Ethernet Standards ZigBee</a:t>
            </a:r>
            <a:endParaRPr lang="en-US" dirty="0"/>
          </a:p>
        </p:txBody>
      </p:sp>
      <p:sp>
        <p:nvSpPr>
          <p:cNvPr id="3" name="Content Placeholder 2"/>
          <p:cNvSpPr>
            <a:spLocks noGrp="1"/>
          </p:cNvSpPr>
          <p:nvPr>
            <p:ph idx="1"/>
          </p:nvPr>
        </p:nvSpPr>
        <p:spPr>
          <a:xfrm>
            <a:off x="226906" y="2453375"/>
            <a:ext cx="11716049" cy="4138494"/>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ZigBee is a Personal Area Network task group </a:t>
            </a:r>
            <a:endParaRPr lang="en-US"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ZigBee is a technological standard created for controlling and sensing the network</a:t>
            </a:r>
            <a:r>
              <a:rPr lang="en-US" sz="2000" dirty="0" smtClean="0">
                <a:latin typeface="Times New Roman" panose="02020603050405020304" pitchFamily="18" charset="0"/>
                <a:cs typeface="Times New Roman" panose="02020603050405020304" pitchFamily="18" charset="0"/>
              </a:rPr>
              <a:t>.</a:t>
            </a:r>
          </a:p>
          <a:p>
            <a:pPr marL="0" indent="0">
              <a:lnSpc>
                <a:spcPct val="150000"/>
              </a:lnSpc>
              <a:buNone/>
            </a:pPr>
            <a:r>
              <a:rPr lang="en-US" sz="2000" dirty="0">
                <a:latin typeface="Times New Roman" panose="02020603050405020304" pitchFamily="18" charset="0"/>
                <a:cs typeface="Times New Roman" panose="02020603050405020304" pitchFamily="18" charset="0"/>
              </a:rPr>
              <a:t> ZigBee is an open, global, packet-based protocol designed to provide an easy-to-use architecture for secure, reliable, low power wireless networks. </a:t>
            </a:r>
            <a:endParaRPr lang="en-US"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sz="2000" dirty="0" smtClean="0">
                <a:latin typeface="Times New Roman" panose="02020603050405020304" pitchFamily="18" charset="0"/>
                <a:cs typeface="Times New Roman" panose="02020603050405020304" pitchFamily="18" charset="0"/>
              </a:rPr>
              <a:t>Flow </a:t>
            </a:r>
            <a:r>
              <a:rPr lang="en-US" sz="2000" dirty="0">
                <a:latin typeface="Times New Roman" panose="02020603050405020304" pitchFamily="18" charset="0"/>
                <a:cs typeface="Times New Roman" panose="02020603050405020304" pitchFamily="18" charset="0"/>
              </a:rPr>
              <a:t>or process control equipment can be place anywhere and still communicate with the rest of the system. </a:t>
            </a:r>
            <a:endParaRPr lang="en-US" sz="2000" dirty="0" smtClean="0">
              <a:latin typeface="Times New Roman" panose="02020603050405020304" pitchFamily="18" charset="0"/>
              <a:cs typeface="Times New Roman" panose="02020603050405020304" pitchFamily="18" charset="0"/>
            </a:endParaRPr>
          </a:p>
          <a:p>
            <a:pPr marL="0" indent="0">
              <a:lnSpc>
                <a:spcPct val="150000"/>
              </a:lnSpc>
              <a:buNone/>
            </a:pPr>
            <a:r>
              <a:rPr lang="en-US" sz="2000" dirty="0" smtClean="0">
                <a:latin typeface="Times New Roman" panose="02020603050405020304" pitchFamily="18" charset="0"/>
                <a:cs typeface="Times New Roman" panose="02020603050405020304" pitchFamily="18" charset="0"/>
              </a:rPr>
              <a:t>It </a:t>
            </a:r>
            <a:r>
              <a:rPr lang="en-US" sz="2000" dirty="0">
                <a:latin typeface="Times New Roman" panose="02020603050405020304" pitchFamily="18" charset="0"/>
                <a:cs typeface="Times New Roman" panose="02020603050405020304" pitchFamily="18" charset="0"/>
              </a:rPr>
              <a:t>can also be moved, since the network doesn’t care about the physical location of a sensor, pump or valve</a:t>
            </a:r>
            <a:r>
              <a:rPr lang="en-US" sz="2000" dirty="0" smtClean="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783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ZigBee Devices: </a:t>
            </a:r>
            <a:br>
              <a:rPr lang="en-IN" b="1" dirty="0"/>
            </a:br>
            <a:endParaRPr lang="en-US" dirty="0"/>
          </a:p>
        </p:txBody>
      </p:sp>
      <p:sp>
        <p:nvSpPr>
          <p:cNvPr id="3" name="Content Placeholder 2"/>
          <p:cNvSpPr>
            <a:spLocks noGrp="1"/>
          </p:cNvSpPr>
          <p:nvPr>
            <p:ph idx="1"/>
          </p:nvPr>
        </p:nvSpPr>
        <p:spPr>
          <a:xfrm>
            <a:off x="404327" y="2562557"/>
            <a:ext cx="11527478" cy="3849394"/>
          </a:xfrm>
        </p:spPr>
        <p:txBody>
          <a:bodyPr>
            <a:noAutofit/>
          </a:bodyPr>
          <a:lstStyle/>
          <a:p>
            <a:pPr fontAlgn="base"/>
            <a:r>
              <a:rPr lang="en-US" b="1" dirty="0" err="1"/>
              <a:t>Zigbee</a:t>
            </a:r>
            <a:r>
              <a:rPr lang="en-US" b="1" dirty="0"/>
              <a:t> Coordinator Device:</a:t>
            </a:r>
            <a:r>
              <a:rPr lang="en-US" dirty="0"/>
              <a:t> It communicates with routers. This device is used for connecting the devices.</a:t>
            </a:r>
          </a:p>
          <a:p>
            <a:pPr fontAlgn="base"/>
            <a:r>
              <a:rPr lang="en-US" b="1" dirty="0" err="1"/>
              <a:t>Zigbee</a:t>
            </a:r>
            <a:r>
              <a:rPr lang="en-US" b="1" dirty="0"/>
              <a:t> Router:</a:t>
            </a:r>
            <a:r>
              <a:rPr lang="en-US" dirty="0"/>
              <a:t> It is used for passing the data between devices.</a:t>
            </a:r>
          </a:p>
          <a:p>
            <a:pPr fontAlgn="base"/>
            <a:r>
              <a:rPr lang="en-US" b="1" dirty="0" err="1"/>
              <a:t>Zigbee</a:t>
            </a:r>
            <a:r>
              <a:rPr lang="en-US" b="1" dirty="0"/>
              <a:t> End Device:</a:t>
            </a:r>
            <a:r>
              <a:rPr lang="en-US" dirty="0"/>
              <a:t> It is the device that is going to be controlled.</a:t>
            </a:r>
          </a:p>
          <a:p>
            <a:pPr marL="0" indent="0">
              <a:lnSpc>
                <a:spcPct val="200000"/>
              </a:lnSpc>
              <a:buNone/>
            </a:pPr>
            <a:endParaRPr lang="en-US"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576" y="4350369"/>
            <a:ext cx="4956136" cy="22645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5930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General Characteristics of </a:t>
            </a:r>
            <a:r>
              <a:rPr lang="en-US" b="1" dirty="0" err="1"/>
              <a:t>Zigbee</a:t>
            </a:r>
            <a:r>
              <a:rPr lang="en-US" b="1" dirty="0"/>
              <a:t> Standard:</a:t>
            </a:r>
          </a:p>
        </p:txBody>
      </p:sp>
      <p:sp>
        <p:nvSpPr>
          <p:cNvPr id="3" name="TextBox 2"/>
          <p:cNvSpPr txBox="1"/>
          <p:nvPr/>
        </p:nvSpPr>
        <p:spPr>
          <a:xfrm>
            <a:off x="814039" y="2475571"/>
            <a:ext cx="10872439" cy="4062651"/>
          </a:xfrm>
          <a:prstGeom prst="rect">
            <a:avLst/>
          </a:prstGeom>
          <a:noFill/>
        </p:spPr>
        <p:txBody>
          <a:bodyPr wrap="square" rtlCol="0">
            <a:spAutoFit/>
          </a:bodyPr>
          <a:lstStyle/>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Power Consumption</a:t>
            </a:r>
          </a:p>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Data Rate (20- 250 kbps)</a:t>
            </a:r>
          </a:p>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Short-Range (75-100 meters)</a:t>
            </a:r>
          </a:p>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Network Join Time (~ 30 </a:t>
            </a:r>
            <a:r>
              <a:rPr lang="en-US" sz="2000" dirty="0" err="1">
                <a:latin typeface="Times New Roman" panose="02020603050405020304" pitchFamily="18" charset="0"/>
                <a:cs typeface="Times New Roman" panose="02020603050405020304" pitchFamily="18" charset="0"/>
              </a:rPr>
              <a:t>msec</a:t>
            </a:r>
            <a:r>
              <a:rPr lang="en-US" sz="2000" dirty="0">
                <a:latin typeface="Times New Roman" panose="02020603050405020304" pitchFamily="18" charset="0"/>
                <a:cs typeface="Times New Roman" panose="02020603050405020304" pitchFamily="18" charset="0"/>
              </a:rPr>
              <a:t>)</a:t>
            </a:r>
          </a:p>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 Small and Large Networks (up to 65000 devices (Theory); 240 devices (Practically))</a:t>
            </a:r>
          </a:p>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Cost of Products and Cheap Implementation (Open Source Protocol)</a:t>
            </a:r>
          </a:p>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Extremely low-duty cycle.</a:t>
            </a:r>
          </a:p>
          <a:p>
            <a:pPr marL="342900" indent="-342900"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3 frequency bands with 27 channels.</a:t>
            </a:r>
          </a:p>
          <a:p>
            <a:endParaRPr lang="en-IN" dirty="0"/>
          </a:p>
        </p:txBody>
      </p:sp>
    </p:spTree>
    <p:extLst>
      <p:ext uri="{BB962C8B-B14F-4D97-AF65-F5344CB8AC3E}">
        <p14:creationId xmlns:p14="http://schemas.microsoft.com/office/powerpoint/2010/main" val="419929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Wifi</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a:t>Wifi</a:t>
            </a:r>
            <a:r>
              <a:rPr lang="en-US" dirty="0"/>
              <a:t> is also known as </a:t>
            </a:r>
            <a:r>
              <a:rPr lang="en-US" b="1" dirty="0"/>
              <a:t>Wireless Fidelity</a:t>
            </a:r>
            <a:r>
              <a:rPr lang="en-US" b="1" dirty="0" smtClean="0"/>
              <a:t>.</a:t>
            </a:r>
          </a:p>
          <a:p>
            <a:r>
              <a:rPr lang="en-US" dirty="0"/>
              <a:t>Wi-Fi is </a:t>
            </a:r>
            <a:r>
              <a:rPr lang="en-US" b="1" dirty="0"/>
              <a:t>a wireless networking technology that permits to connect wirelessly</a:t>
            </a:r>
            <a:r>
              <a:rPr lang="en-US" dirty="0"/>
              <a:t> to a network or to other computer or mobile device</a:t>
            </a:r>
            <a:r>
              <a:rPr lang="en-US" dirty="0" smtClean="0"/>
              <a:t>.</a:t>
            </a:r>
          </a:p>
          <a:p>
            <a:r>
              <a:rPr lang="en-US" dirty="0"/>
              <a:t>A circular radio frequency range is used to transmit data in Wi-Fi</a:t>
            </a:r>
            <a:r>
              <a:rPr lang="en-US" dirty="0" smtClean="0"/>
              <a:t>.</a:t>
            </a:r>
          </a:p>
          <a:p>
            <a:r>
              <a:rPr lang="en-US" dirty="0" err="1"/>
              <a:t>Wifi</a:t>
            </a:r>
            <a:r>
              <a:rPr lang="en-US" dirty="0"/>
              <a:t> operates like a local area network without the use of a wire or cables</a:t>
            </a:r>
            <a:r>
              <a:rPr lang="en-US" dirty="0" smtClean="0"/>
              <a:t>.</a:t>
            </a:r>
          </a:p>
          <a:p>
            <a:r>
              <a:rPr lang="en-US" dirty="0" err="1"/>
              <a:t>WiFi</a:t>
            </a:r>
            <a:r>
              <a:rPr lang="en-US" dirty="0"/>
              <a:t> uses the </a:t>
            </a:r>
            <a:r>
              <a:rPr lang="en-US" b="1" dirty="0"/>
              <a:t>Physical Data Link Layer (PDLL)</a:t>
            </a:r>
            <a:r>
              <a:rPr lang="en-US" dirty="0"/>
              <a:t> to operate</a:t>
            </a:r>
            <a:r>
              <a:rPr lang="en-US" dirty="0" smtClean="0"/>
              <a:t>.</a:t>
            </a:r>
          </a:p>
          <a:p>
            <a:r>
              <a:rPr lang="en-US" dirty="0" smtClean="0"/>
              <a:t>because </a:t>
            </a:r>
            <a:r>
              <a:rPr lang="en-US" dirty="0"/>
              <a:t>the Wi-Fi adapter within the device is responsible for receiving the Wi-Fi signal, all modern laptops and mobile devices are competent in using both bandwidths. All devices have a </a:t>
            </a:r>
            <a:r>
              <a:rPr lang="en-US" b="1" dirty="0"/>
              <a:t>default bandwidth of 2.4 GHz</a:t>
            </a:r>
            <a:r>
              <a:rPr lang="en-US" dirty="0"/>
              <a:t>.</a:t>
            </a:r>
          </a:p>
          <a:p>
            <a:r>
              <a:rPr lang="en-US" dirty="0"/>
              <a:t/>
            </a:r>
            <a:br>
              <a:rPr lang="en-US" dirty="0"/>
            </a:br>
            <a:endParaRPr lang="en-IN" dirty="0"/>
          </a:p>
        </p:txBody>
      </p:sp>
    </p:spTree>
    <p:extLst>
      <p:ext uri="{BB962C8B-B14F-4D97-AF65-F5344CB8AC3E}">
        <p14:creationId xmlns:p14="http://schemas.microsoft.com/office/powerpoint/2010/main" val="216304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248" y="568712"/>
            <a:ext cx="10270273" cy="1111920"/>
          </a:xfrm>
        </p:spPr>
        <p:txBody>
          <a:bodyPr/>
          <a:lstStyle/>
          <a:p>
            <a:r>
              <a:rPr lang="en-US" dirty="0"/>
              <a:t>Usage and Application of </a:t>
            </a:r>
            <a:r>
              <a:rPr lang="en-US" dirty="0" err="1"/>
              <a:t>Wifi</a:t>
            </a:r>
            <a:r>
              <a:rPr lang="en-US" dirty="0"/>
              <a:t/>
            </a:r>
            <a:br>
              <a:rPr lang="en-US" dirty="0"/>
            </a:b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51102" y="2631688"/>
            <a:ext cx="7705493" cy="353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610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and Application of </a:t>
            </a:r>
            <a:r>
              <a:rPr lang="en-US" dirty="0" err="1"/>
              <a:t>Wifi</a:t>
            </a:r>
            <a:endParaRPr lang="en-US" dirty="0"/>
          </a:p>
        </p:txBody>
      </p:sp>
      <p:sp>
        <p:nvSpPr>
          <p:cNvPr id="3" name="Content Placeholder 2"/>
          <p:cNvSpPr>
            <a:spLocks noGrp="1"/>
          </p:cNvSpPr>
          <p:nvPr>
            <p:ph idx="1"/>
          </p:nvPr>
        </p:nvSpPr>
        <p:spPr>
          <a:xfrm>
            <a:off x="417975" y="2289602"/>
            <a:ext cx="11435771" cy="3999686"/>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With Wi-Fi, we can </a:t>
            </a:r>
            <a:r>
              <a:rPr lang="en-US" sz="2000" b="1" dirty="0">
                <a:latin typeface="Times New Roman" panose="02020603050405020304" pitchFamily="18" charset="0"/>
                <a:cs typeface="Times New Roman" panose="02020603050405020304" pitchFamily="18" charset="0"/>
              </a:rPr>
              <a:t>connect to the internet from any Wi-Fi-capable device</a:t>
            </a:r>
            <a:r>
              <a:rPr lang="en-US" sz="2000" dirty="0" smtClean="0">
                <a:latin typeface="Times New Roman" panose="02020603050405020304" pitchFamily="18" charset="0"/>
                <a:cs typeface="Times New Roman" panose="02020603050405020304" pitchFamily="18" charset="0"/>
              </a:rPr>
              <a:t>. Wi-Fi </a:t>
            </a:r>
            <a:r>
              <a:rPr lang="en-US" sz="2000" dirty="0">
                <a:latin typeface="Times New Roman" panose="02020603050405020304" pitchFamily="18" charset="0"/>
                <a:cs typeface="Times New Roman" panose="02020603050405020304" pitchFamily="18" charset="0"/>
              </a:rPr>
              <a:t>allows us to have wireless communication, including streaming or casting audio or video to any device</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dirty="0" smtClean="0">
                <a:latin typeface="Times New Roman" panose="02020603050405020304" pitchFamily="18" charset="0"/>
                <a:cs typeface="Times New Roman" panose="02020603050405020304" pitchFamily="18" charset="0"/>
              </a:rPr>
              <a:t>Data </a:t>
            </a:r>
            <a:r>
              <a:rPr lang="en-US" sz="2000" b="1" dirty="0">
                <a:latin typeface="Times New Roman" panose="02020603050405020304" pitchFamily="18" charset="0"/>
                <a:cs typeface="Times New Roman" panose="02020603050405020304" pitchFamily="18" charset="0"/>
              </a:rPr>
              <a:t>transfer rates are also very fast</a:t>
            </a:r>
            <a:r>
              <a:rPr lang="en-US" sz="2000" dirty="0">
                <a:latin typeface="Times New Roman" panose="02020603050405020304" pitchFamily="18" charset="0"/>
                <a:cs typeface="Times New Roman" panose="02020603050405020304" pitchFamily="18" charset="0"/>
              </a:rPr>
              <a:t> when using Wi-Fi to share files, data, etc., among two or more computer or mobile phone.</a:t>
            </a:r>
          </a:p>
          <a:p>
            <a:pPr marL="0" indent="0">
              <a:buNone/>
            </a:pPr>
            <a:r>
              <a:rPr lang="en-US" sz="2000" dirty="0">
                <a:latin typeface="Times New Roman" panose="02020603050405020304" pitchFamily="18" charset="0"/>
                <a:cs typeface="Times New Roman" panose="02020603050405020304" pitchFamily="18" charset="0"/>
              </a:rPr>
              <a:t>Another important attribute is the capability to print any document using a Wi-Fi printer.</a:t>
            </a:r>
          </a:p>
          <a:p>
            <a:pPr marL="0" indent="0">
              <a:buNone/>
            </a:pPr>
            <a:r>
              <a:rPr lang="en-US" sz="2000" b="1" dirty="0">
                <a:latin typeface="Times New Roman" panose="02020603050405020304" pitchFamily="18" charset="0"/>
                <a:cs typeface="Times New Roman" panose="02020603050405020304" pitchFamily="18" charset="0"/>
              </a:rPr>
              <a:t>Wi-Fi can also be used as a </a:t>
            </a:r>
            <a:r>
              <a:rPr lang="en-US" sz="2000" b="1" dirty="0" smtClean="0">
                <a:latin typeface="Times New Roman" panose="02020603050405020304" pitchFamily="18" charset="0"/>
                <a:cs typeface="Times New Roman" panose="02020603050405020304" pitchFamily="18" charset="0"/>
              </a:rPr>
              <a:t>HOTSPOT</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Also one can create a </a:t>
            </a:r>
            <a:r>
              <a:rPr lang="en-US" sz="2000" b="1" dirty="0">
                <a:latin typeface="Times New Roman" panose="02020603050405020304" pitchFamily="18" charset="0"/>
                <a:cs typeface="Times New Roman" panose="02020603050405020304" pitchFamily="18" charset="0"/>
              </a:rPr>
              <a:t>Point-to-Point network using Wi-Fi or WLAN technology</a:t>
            </a:r>
            <a:r>
              <a:rPr lang="en-US" sz="2000" dirty="0">
                <a:latin typeface="Times New Roman" panose="02020603050405020304" pitchFamily="18" charset="0"/>
                <a:cs typeface="Times New Roman" panose="02020603050405020304" pitchFamily="18" charset="0"/>
              </a:rPr>
              <a:t>. Two sites that are hard to reach by wire, such as two corporate office buildings, can be connected using this method.</a:t>
            </a:r>
          </a:p>
          <a:p>
            <a:pPr marL="0" indent="0">
              <a:buNone/>
            </a:pPr>
            <a:r>
              <a:rPr lang="en-US" sz="2000" b="1" dirty="0" err="1"/>
              <a:t>VoWi</a:t>
            </a:r>
            <a:r>
              <a:rPr lang="en-US" sz="2000" b="1" dirty="0"/>
              <a:t>-Fi is also </a:t>
            </a:r>
            <a:r>
              <a:rPr lang="en-US" sz="2000" b="1" dirty="0" err="1"/>
              <a:t>recognised</a:t>
            </a:r>
            <a:r>
              <a:rPr lang="en-US" sz="2000" b="1" dirty="0"/>
              <a:t> as voice-over Wi-Fi,</a:t>
            </a:r>
            <a:r>
              <a:rPr lang="en-US" sz="2000" dirty="0"/>
              <a:t> which is another useful tool.</a:t>
            </a:r>
            <a:endParaRPr lang="en-US"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4782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024" y="1974231"/>
            <a:ext cx="3601844" cy="4727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170556" y="2653990"/>
            <a:ext cx="7605132" cy="3139321"/>
          </a:xfrm>
          <a:prstGeom prst="rect">
            <a:avLst/>
          </a:prstGeom>
          <a:noFill/>
        </p:spPr>
        <p:txBody>
          <a:bodyPr wrap="square" rtlCol="0">
            <a:spAutoFit/>
          </a:bodyPr>
          <a:lstStyle/>
          <a:p>
            <a:r>
              <a:rPr lang="en-US" dirty="0"/>
              <a:t>When a frame is ready, the transmitting station checks whether the channel is idle or busy.</a:t>
            </a:r>
          </a:p>
          <a:p>
            <a:r>
              <a:rPr lang="en-US" dirty="0"/>
              <a:t>If the channel is busy, the station waits until the channel becomes idle.</a:t>
            </a:r>
          </a:p>
          <a:p>
            <a:r>
              <a:rPr lang="en-US" dirty="0"/>
              <a:t>If the channel is idle, the station starts transmitting and continually monitors the channel to detect collision.</a:t>
            </a:r>
          </a:p>
          <a:p>
            <a:r>
              <a:rPr lang="en-US" dirty="0"/>
              <a:t>If a collision is detected, the station starts the collision resolution algorithm.</a:t>
            </a:r>
          </a:p>
          <a:p>
            <a:r>
              <a:rPr lang="en-US" dirty="0"/>
              <a:t>The station resets the retransmission counters and completes frame transmission.</a:t>
            </a:r>
          </a:p>
          <a:p>
            <a:endParaRPr lang="en-IN" dirty="0"/>
          </a:p>
        </p:txBody>
      </p:sp>
    </p:spTree>
    <p:extLst>
      <p:ext uri="{BB962C8B-B14F-4D97-AF65-F5344CB8AC3E}">
        <p14:creationId xmlns:p14="http://schemas.microsoft.com/office/powerpoint/2010/main" val="3501798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 and Disadvantage of CSMA CD</a:t>
            </a:r>
          </a:p>
        </p:txBody>
      </p:sp>
      <p:sp>
        <p:nvSpPr>
          <p:cNvPr id="5" name="TextBox 4"/>
          <p:cNvSpPr txBox="1"/>
          <p:nvPr/>
        </p:nvSpPr>
        <p:spPr>
          <a:xfrm>
            <a:off x="6177776" y="2676293"/>
            <a:ext cx="5754029" cy="347787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Advantages of a </a:t>
            </a:r>
            <a:r>
              <a:rPr lang="en-IN" sz="2000" b="1" dirty="0"/>
              <a:t>CSMA CD</a:t>
            </a:r>
            <a:endParaRPr lang="en-US" sz="2000" b="1"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It is used for collision detection on a shared channel within a very short time.</a:t>
            </a:r>
          </a:p>
          <a:p>
            <a:r>
              <a:rPr lang="en-US" sz="2000" dirty="0">
                <a:latin typeface="Times New Roman" panose="02020603050405020304" pitchFamily="18" charset="0"/>
                <a:cs typeface="Times New Roman" panose="02020603050405020304" pitchFamily="18" charset="0"/>
              </a:rPr>
              <a:t>CSMA CD is better than CSMA for collision detection.</a:t>
            </a:r>
          </a:p>
          <a:p>
            <a:r>
              <a:rPr lang="en-US" sz="2000" dirty="0">
                <a:latin typeface="Times New Roman" panose="02020603050405020304" pitchFamily="18" charset="0"/>
                <a:cs typeface="Times New Roman" panose="02020603050405020304" pitchFamily="18" charset="0"/>
              </a:rPr>
              <a:t>CSMA CD is used to avoid any form of waste transmission.</a:t>
            </a:r>
          </a:p>
          <a:p>
            <a:r>
              <a:rPr lang="en-US" sz="2000" dirty="0">
                <a:latin typeface="Times New Roman" panose="02020603050405020304" pitchFamily="18" charset="0"/>
                <a:cs typeface="Times New Roman" panose="02020603050405020304" pitchFamily="18" charset="0"/>
              </a:rPr>
              <a:t>When necessary, it is used to use or share the same amount of bandwidth at each station.</a:t>
            </a:r>
          </a:p>
          <a:p>
            <a:r>
              <a:rPr lang="en-US" sz="2000" dirty="0">
                <a:latin typeface="Times New Roman" panose="02020603050405020304" pitchFamily="18" charset="0"/>
                <a:cs typeface="Times New Roman" panose="02020603050405020304" pitchFamily="18" charset="0"/>
              </a:rPr>
              <a:t>It has lower CSMA CD overhead as compared to the CSMA CA</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780585" y="2676293"/>
            <a:ext cx="5307981" cy="3877985"/>
          </a:xfrm>
          <a:prstGeom prst="rect">
            <a:avLst/>
          </a:prstGeom>
          <a:noFill/>
        </p:spPr>
        <p:txBody>
          <a:bodyPr wrap="square" rtlCol="0">
            <a:spAutoFit/>
          </a:bodyPr>
          <a:lstStyle/>
          <a:p>
            <a:r>
              <a:rPr lang="en-US" b="1" dirty="0"/>
              <a:t>Disadvantage of CSMA CD</a:t>
            </a:r>
            <a:endParaRPr lang="en-US" dirty="0"/>
          </a:p>
          <a:p>
            <a:pPr>
              <a:lnSpc>
                <a:spcPct val="150000"/>
              </a:lnSpc>
            </a:pPr>
            <a:r>
              <a:rPr lang="en-US" sz="2000" dirty="0">
                <a:latin typeface="Times New Roman" panose="02020603050405020304" pitchFamily="18" charset="0"/>
                <a:cs typeface="Times New Roman" panose="02020603050405020304" pitchFamily="18" charset="0"/>
              </a:rPr>
              <a:t>It is not suitable for long-distance networks because as the distance increases, CSMA CD' efficiency decreases.</a:t>
            </a:r>
          </a:p>
          <a:p>
            <a:pPr>
              <a:lnSpc>
                <a:spcPct val="150000"/>
              </a:lnSpc>
            </a:pPr>
            <a:r>
              <a:rPr lang="en-US" sz="2000" dirty="0">
                <a:latin typeface="Times New Roman" panose="02020603050405020304" pitchFamily="18" charset="0"/>
                <a:cs typeface="Times New Roman" panose="02020603050405020304" pitchFamily="18" charset="0"/>
              </a:rPr>
              <a:t>It can detect collision only up to 2500 meters, and beyond this range, it cannot detect collisions.</a:t>
            </a:r>
          </a:p>
          <a:p>
            <a:pPr>
              <a:lnSpc>
                <a:spcPct val="150000"/>
              </a:lnSpc>
            </a:pPr>
            <a:r>
              <a:rPr lang="en-US" sz="2000" dirty="0">
                <a:latin typeface="Times New Roman" panose="02020603050405020304" pitchFamily="18" charset="0"/>
                <a:cs typeface="Times New Roman" panose="02020603050405020304" pitchFamily="18" charset="0"/>
              </a:rPr>
              <a:t>When multiple devices are added to a CSMA CD, collision detection performance is reduced.</a:t>
            </a:r>
          </a:p>
          <a:p>
            <a:endParaRPr lang="en-IN" dirty="0"/>
          </a:p>
        </p:txBody>
      </p:sp>
    </p:spTree>
    <p:extLst>
      <p:ext uri="{BB962C8B-B14F-4D97-AF65-F5344CB8AC3E}">
        <p14:creationId xmlns:p14="http://schemas.microsoft.com/office/powerpoint/2010/main" val="3607213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595" y="412595"/>
            <a:ext cx="9926793" cy="6233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772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
            </a:r>
            <a:br>
              <a:rPr lang="en-IN" b="1" dirty="0" smtClean="0"/>
            </a:br>
            <a:r>
              <a:rPr lang="en-IN" b="1" dirty="0" smtClean="0"/>
              <a:t>What </a:t>
            </a:r>
            <a:r>
              <a:rPr lang="en-IN" b="1" dirty="0"/>
              <a:t>is VOIP?</a:t>
            </a:r>
            <a:br>
              <a:rPr lang="en-IN" b="1" dirty="0"/>
            </a:br>
            <a:endParaRPr lang="en-US" dirty="0"/>
          </a:p>
        </p:txBody>
      </p:sp>
      <p:sp>
        <p:nvSpPr>
          <p:cNvPr id="3" name="Content Placeholder 2"/>
          <p:cNvSpPr>
            <a:spLocks noGrp="1"/>
          </p:cNvSpPr>
          <p:nvPr>
            <p:ph idx="1"/>
          </p:nvPr>
        </p:nvSpPr>
        <p:spPr>
          <a:xfrm>
            <a:off x="657922" y="2644444"/>
            <a:ext cx="10792551" cy="3416300"/>
          </a:xfrm>
        </p:spPr>
        <p:txBody>
          <a:bodyPr>
            <a:normAutofit/>
          </a:bodyPr>
          <a:lstStyle/>
          <a:p>
            <a:pPr marL="0" indent="0" defTabSz="914400">
              <a:buNone/>
            </a:pPr>
            <a:r>
              <a:rPr lang="en-US" sz="2000" b="1" dirty="0">
                <a:solidFill>
                  <a:schemeClr val="tx1"/>
                </a:solidFill>
                <a:latin typeface="Times New Roman" panose="02020603050405020304" pitchFamily="18" charset="0"/>
                <a:cs typeface="Times New Roman" panose="02020603050405020304" pitchFamily="18" charset="0"/>
              </a:rPr>
              <a:t>Advantages of bus topology</a:t>
            </a:r>
          </a:p>
          <a:p>
            <a:pPr marL="0" indent="0" defTabSz="914400">
              <a:buFont typeface="Wingdings 3" charset="2"/>
              <a:buNone/>
            </a:pPr>
            <a:r>
              <a:rPr lang="en-US" sz="2400" dirty="0" smtClean="0"/>
              <a:t>1. </a:t>
            </a:r>
            <a:r>
              <a:rPr lang="en-US" sz="2000" dirty="0">
                <a:solidFill>
                  <a:schemeClr val="tx1"/>
                </a:solidFill>
                <a:latin typeface="Times New Roman" panose="02020603050405020304" pitchFamily="18" charset="0"/>
                <a:cs typeface="Times New Roman" panose="02020603050405020304" pitchFamily="18" charset="0"/>
              </a:rPr>
              <a:t>It works well when you have a small network.</a:t>
            </a:r>
          </a:p>
          <a:p>
            <a:pPr marL="0" indent="0" defTabSz="914400">
              <a:buFont typeface="Wingdings 3" charset="2"/>
              <a:buNone/>
            </a:pPr>
            <a:r>
              <a:rPr lang="en-US" sz="2000" dirty="0" smtClean="0">
                <a:solidFill>
                  <a:schemeClr val="tx1"/>
                </a:solidFill>
                <a:latin typeface="Times New Roman" panose="02020603050405020304" pitchFamily="18" charset="0"/>
                <a:cs typeface="Times New Roman" panose="02020603050405020304" pitchFamily="18" charset="0"/>
              </a:rPr>
              <a:t>2 </a:t>
            </a:r>
            <a:r>
              <a:rPr lang="en-US" sz="2000" dirty="0">
                <a:solidFill>
                  <a:schemeClr val="tx1"/>
                </a:solidFill>
                <a:latin typeface="Times New Roman" panose="02020603050405020304" pitchFamily="18" charset="0"/>
                <a:cs typeface="Times New Roman" panose="02020603050405020304" pitchFamily="18" charset="0"/>
              </a:rPr>
              <a:t>It's the easiest network topology for connecting computers or peripherals in a linear fashion.</a:t>
            </a:r>
          </a:p>
          <a:p>
            <a:pPr marL="0" indent="0" defTabSz="914400">
              <a:buFont typeface="Wingdings 3" charset="2"/>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3.It </a:t>
            </a:r>
            <a:r>
              <a:rPr lang="en-US" sz="2000" dirty="0">
                <a:solidFill>
                  <a:schemeClr val="tx1"/>
                </a:solidFill>
                <a:latin typeface="Times New Roman" panose="02020603050405020304" pitchFamily="18" charset="0"/>
                <a:cs typeface="Times New Roman" panose="02020603050405020304" pitchFamily="18" charset="0"/>
              </a:rPr>
              <a:t>requires less cable length than a star topology</a:t>
            </a:r>
          </a:p>
        </p:txBody>
      </p:sp>
    </p:spTree>
    <p:extLst>
      <p:ext uri="{BB962C8B-B14F-4D97-AF65-F5344CB8AC3E}">
        <p14:creationId xmlns:p14="http://schemas.microsoft.com/office/powerpoint/2010/main" val="4016464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RING:</a:t>
            </a:r>
            <a:endParaRPr lang="en-US" dirty="0"/>
          </a:p>
        </p:txBody>
      </p:sp>
      <p:sp>
        <p:nvSpPr>
          <p:cNvPr id="3" name="Content Placeholder 2"/>
          <p:cNvSpPr>
            <a:spLocks noGrp="1"/>
          </p:cNvSpPr>
          <p:nvPr>
            <p:ph idx="1"/>
          </p:nvPr>
        </p:nvSpPr>
        <p:spPr>
          <a:xfrm>
            <a:off x="4817328" y="2562557"/>
            <a:ext cx="6892450" cy="3905149"/>
          </a:xfrm>
        </p:spPr>
        <p:txBody>
          <a:bodyPr>
            <a:normAutofit fontScale="70000" lnSpcReduction="20000"/>
          </a:bodyPr>
          <a:lstStyle/>
          <a:p>
            <a:pPr marL="0" indent="0" algn="just">
              <a:lnSpc>
                <a:spcPct val="150000"/>
              </a:lnSpc>
              <a:buNone/>
            </a:pPr>
            <a:r>
              <a:rPr lang="en-US" sz="2600" b="1" dirty="0">
                <a:latin typeface="Times New Roman" panose="02020603050405020304" pitchFamily="18" charset="0"/>
                <a:cs typeface="Times New Roman" panose="02020603050405020304" pitchFamily="18" charset="0"/>
              </a:rPr>
              <a:t>Advantages of ring </a:t>
            </a:r>
            <a:r>
              <a:rPr lang="en-US" sz="2600" b="1" dirty="0" smtClean="0">
                <a:latin typeface="Times New Roman" panose="02020603050405020304" pitchFamily="18" charset="0"/>
                <a:cs typeface="Times New Roman" panose="02020603050405020304" pitchFamily="18" charset="0"/>
              </a:rPr>
              <a:t>topology</a:t>
            </a:r>
          </a:p>
          <a:p>
            <a:pPr algn="just">
              <a:lnSpc>
                <a:spcPct val="150000"/>
              </a:lnSpc>
            </a:pPr>
            <a:r>
              <a:rPr lang="en-US" sz="2400" dirty="0" smtClean="0"/>
              <a:t> </a:t>
            </a:r>
            <a:r>
              <a:rPr lang="en-US" sz="2900" dirty="0" smtClean="0">
                <a:latin typeface="Times New Roman" panose="02020603050405020304" pitchFamily="18" charset="0"/>
                <a:cs typeface="Times New Roman" panose="02020603050405020304" pitchFamily="18" charset="0"/>
              </a:rPr>
              <a:t>All </a:t>
            </a:r>
            <a:r>
              <a:rPr lang="en-US" sz="2900" dirty="0">
                <a:latin typeface="Times New Roman" panose="02020603050405020304" pitchFamily="18" charset="0"/>
                <a:cs typeface="Times New Roman" panose="02020603050405020304" pitchFamily="18" charset="0"/>
              </a:rPr>
              <a:t>data flows in one direction, reducing the chance of packet collisions. </a:t>
            </a:r>
            <a:endParaRPr lang="en-US" sz="2900" dirty="0" smtClean="0">
              <a:latin typeface="Times New Roman" panose="02020603050405020304" pitchFamily="18" charset="0"/>
              <a:cs typeface="Times New Roman" panose="02020603050405020304" pitchFamily="18" charset="0"/>
            </a:endParaRPr>
          </a:p>
          <a:p>
            <a:pPr algn="just">
              <a:lnSpc>
                <a:spcPct val="150000"/>
              </a:lnSpc>
            </a:pPr>
            <a:r>
              <a:rPr lang="en-US" sz="2900" dirty="0" smtClean="0">
                <a:latin typeface="Times New Roman" panose="02020603050405020304" pitchFamily="18" charset="0"/>
                <a:cs typeface="Times New Roman" panose="02020603050405020304" pitchFamily="18" charset="0"/>
              </a:rPr>
              <a:t>A </a:t>
            </a:r>
            <a:r>
              <a:rPr lang="en-US" sz="2900" dirty="0">
                <a:latin typeface="Times New Roman" panose="02020603050405020304" pitchFamily="18" charset="0"/>
                <a:cs typeface="Times New Roman" panose="02020603050405020304" pitchFamily="18" charset="0"/>
              </a:rPr>
              <a:t>network server is not needed to control network connectivity between each workstation. </a:t>
            </a:r>
            <a:endParaRPr lang="en-US" sz="2900" dirty="0" smtClean="0">
              <a:latin typeface="Times New Roman" panose="02020603050405020304" pitchFamily="18" charset="0"/>
              <a:cs typeface="Times New Roman" panose="02020603050405020304" pitchFamily="18" charset="0"/>
            </a:endParaRPr>
          </a:p>
          <a:p>
            <a:pPr algn="just">
              <a:lnSpc>
                <a:spcPct val="150000"/>
              </a:lnSpc>
            </a:pPr>
            <a:r>
              <a:rPr lang="en-US" sz="2900" dirty="0" smtClean="0">
                <a:latin typeface="Times New Roman" panose="02020603050405020304" pitchFamily="18" charset="0"/>
                <a:cs typeface="Times New Roman" panose="02020603050405020304" pitchFamily="18" charset="0"/>
              </a:rPr>
              <a:t>Data </a:t>
            </a:r>
            <a:r>
              <a:rPr lang="en-US" sz="2900" dirty="0">
                <a:latin typeface="Times New Roman" panose="02020603050405020304" pitchFamily="18" charset="0"/>
                <a:cs typeface="Times New Roman" panose="02020603050405020304" pitchFamily="18" charset="0"/>
              </a:rPr>
              <a:t>can transfer between workstations at high speeds</a:t>
            </a:r>
            <a:r>
              <a:rPr lang="en-US" sz="2900" dirty="0" smtClean="0">
                <a:latin typeface="Times New Roman" panose="02020603050405020304" pitchFamily="18" charset="0"/>
                <a:cs typeface="Times New Roman" panose="02020603050405020304" pitchFamily="18" charset="0"/>
              </a:rPr>
              <a:t>.</a:t>
            </a:r>
          </a:p>
          <a:p>
            <a:pPr algn="just">
              <a:lnSpc>
                <a:spcPct val="150000"/>
              </a:lnSpc>
            </a:pPr>
            <a:r>
              <a:rPr lang="en-US" sz="2900" dirty="0" smtClean="0">
                <a:latin typeface="Times New Roman" panose="02020603050405020304" pitchFamily="18" charset="0"/>
                <a:cs typeface="Times New Roman" panose="02020603050405020304" pitchFamily="18" charset="0"/>
              </a:rPr>
              <a:t> Additional </a:t>
            </a:r>
            <a:r>
              <a:rPr lang="en-US" sz="2900" dirty="0">
                <a:latin typeface="Times New Roman" panose="02020603050405020304" pitchFamily="18" charset="0"/>
                <a:cs typeface="Times New Roman" panose="02020603050405020304" pitchFamily="18" charset="0"/>
              </a:rPr>
              <a:t>workstations can be added without impacting performance of the network.</a:t>
            </a:r>
            <a:endParaRPr lang="en-US" sz="2900" dirty="0">
              <a:solidFill>
                <a:srgbClr val="002060"/>
              </a:solidFill>
              <a:latin typeface="Times New Roman" panose="02020603050405020304" pitchFamily="18" charset="0"/>
              <a:cs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123" y="2687328"/>
            <a:ext cx="4399389"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6312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Hybrid Topology</a:t>
            </a: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2682796"/>
            <a:ext cx="8400817" cy="3439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3829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Network based on size</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444980333"/>
              </p:ext>
            </p:extLst>
          </p:nvPr>
        </p:nvGraphicFramePr>
        <p:xfrm>
          <a:off x="735981" y="2194560"/>
          <a:ext cx="10972799" cy="4663440"/>
        </p:xfrm>
        <a:graphic>
          <a:graphicData uri="http://schemas.openxmlformats.org/drawingml/2006/table">
            <a:tbl>
              <a:tblPr firstRow="1" bandRow="1">
                <a:tableStyleId>{5C22544A-7EE6-4342-B048-85BDC9FD1C3A}</a:tableStyleId>
              </a:tblPr>
              <a:tblGrid>
                <a:gridCol w="568747"/>
                <a:gridCol w="3142643"/>
                <a:gridCol w="3428338"/>
                <a:gridCol w="3833071"/>
              </a:tblGrid>
              <a:tr h="370840">
                <a:tc>
                  <a:txBody>
                    <a:bodyPr/>
                    <a:lstStyle/>
                    <a:p>
                      <a:r>
                        <a:rPr lang="en-US" dirty="0" smtClean="0"/>
                        <a:t>Sr. No.</a:t>
                      </a:r>
                      <a:endParaRPr lang="en-IN" dirty="0"/>
                    </a:p>
                  </a:txBody>
                  <a:tcPr/>
                </a:tc>
                <a:tc>
                  <a:txBody>
                    <a:bodyPr/>
                    <a:lstStyle/>
                    <a:p>
                      <a:pPr algn="ctr"/>
                      <a:r>
                        <a:rPr lang="en-IN" dirty="0" smtClean="0"/>
                        <a:t>LAN </a:t>
                      </a:r>
                    </a:p>
                    <a:p>
                      <a:pPr algn="ctr"/>
                      <a:r>
                        <a:rPr lang="en-IN" dirty="0" smtClean="0"/>
                        <a:t>(Local Area Network)</a:t>
                      </a:r>
                      <a:endParaRPr lang="en-IN" dirty="0"/>
                    </a:p>
                  </a:txBody>
                  <a:tcPr/>
                </a:tc>
                <a:tc>
                  <a:txBody>
                    <a:bodyPr/>
                    <a:lstStyle/>
                    <a:p>
                      <a:pPr algn="ctr"/>
                      <a:r>
                        <a:rPr lang="en-IN" dirty="0" smtClean="0"/>
                        <a:t>MAN </a:t>
                      </a:r>
                    </a:p>
                    <a:p>
                      <a:pPr algn="ctr"/>
                      <a:r>
                        <a:rPr lang="en-IN" dirty="0" smtClean="0"/>
                        <a:t>(Metropolitan Area Network)</a:t>
                      </a:r>
                      <a:endParaRPr lang="en-IN" dirty="0"/>
                    </a:p>
                  </a:txBody>
                  <a:tcPr/>
                </a:tc>
                <a:tc>
                  <a:txBody>
                    <a:bodyPr/>
                    <a:lstStyle/>
                    <a:p>
                      <a:pPr algn="ctr"/>
                      <a:r>
                        <a:rPr lang="en-IN" dirty="0" smtClean="0"/>
                        <a:t>WAN</a:t>
                      </a:r>
                    </a:p>
                    <a:p>
                      <a:pPr algn="ctr"/>
                      <a:r>
                        <a:rPr lang="en-IN" dirty="0" smtClean="0"/>
                        <a:t> (Wide Area Network) </a:t>
                      </a:r>
                      <a:endParaRPr lang="en-IN" dirty="0"/>
                    </a:p>
                  </a:txBody>
                  <a:tcPr/>
                </a:tc>
              </a:tr>
              <a:tr h="370840">
                <a:tc>
                  <a:txBody>
                    <a:bodyPr/>
                    <a:lstStyle/>
                    <a:p>
                      <a:r>
                        <a:rPr lang="en-US" dirty="0" smtClean="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Group of interconnected computers within a small area.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Design to extend over a large area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Are country and worldwide network.</a:t>
                      </a:r>
                      <a:endParaRPr lang="en-IN" dirty="0">
                        <a:latin typeface="Times New Roman" panose="02020603050405020304" pitchFamily="18" charset="0"/>
                        <a:cs typeface="Times New Roman" panose="02020603050405020304" pitchFamily="18" charset="0"/>
                      </a:endParaRPr>
                    </a:p>
                  </a:txBody>
                  <a:tcPr/>
                </a:tc>
              </a:tr>
              <a:tr h="1178272">
                <a:tc>
                  <a:txBody>
                    <a:bodyPr/>
                    <a:lstStyle/>
                    <a:p>
                      <a:r>
                        <a:rPr lang="en-US" dirty="0" smtClean="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Two or more pc's can from a LAN to share files, folders, printers, applications and other devices.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Connecting number of LAN's to form larger network, so that resources can be shared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Contains multiple LAN's and MAN's.</a:t>
                      </a:r>
                      <a:endParaRPr lang="en-IN"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Due to short distances, errors and noise are minimum.</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Networks can be up to 5 to 50 km.</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Distinguished in terms of geographical range</a:t>
                      </a:r>
                      <a:endParaRPr lang="en-IN"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Data transfer rate is 10 to 100 mbps.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Data transfer rate is low compare to LAN.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Distinguished in terms of geographical range</a:t>
                      </a:r>
                      <a:endParaRPr lang="en-IN"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Uses satellites and microwave relays Data transfer rate depends upon the ISP provider and varies over the location</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933197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types</a:t>
            </a:r>
          </a:p>
        </p:txBody>
      </p:sp>
      <p:sp>
        <p:nvSpPr>
          <p:cNvPr id="3" name="Content Placeholder 2"/>
          <p:cNvSpPr>
            <a:spLocks noGrp="1"/>
          </p:cNvSpPr>
          <p:nvPr>
            <p:ph idx="1"/>
          </p:nvPr>
        </p:nvSpPr>
        <p:spPr>
          <a:xfrm>
            <a:off x="312234" y="2603500"/>
            <a:ext cx="10158761" cy="3416300"/>
          </a:xfrm>
        </p:spPr>
        <p:txBody>
          <a:bodyPr/>
          <a:lstStyle/>
          <a:p>
            <a:pPr marL="0" indent="0">
              <a:buNone/>
            </a:pPr>
            <a:r>
              <a:rPr lang="en-US" b="1" dirty="0">
                <a:latin typeface="Times New Roman" panose="02020603050405020304" pitchFamily="18" charset="0"/>
                <a:cs typeface="Times New Roman" panose="02020603050405020304" pitchFamily="18" charset="0"/>
              </a:rPr>
              <a:t>WLAN (Wireless LAN) </a:t>
            </a:r>
            <a:endParaRPr lang="en-US" b="1"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LAN that uses high frequency radio waves for communication. Provides short range connectivity with high speed data transmission.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PAN </a:t>
            </a:r>
            <a:r>
              <a:rPr lang="en-US" b="1" dirty="0">
                <a:latin typeface="Times New Roman" panose="02020603050405020304" pitchFamily="18" charset="0"/>
                <a:cs typeface="Times New Roman" panose="02020603050405020304" pitchFamily="18" charset="0"/>
              </a:rPr>
              <a:t>(Personal Area Network</a:t>
            </a:r>
            <a:r>
              <a:rPr lang="en-US" b="1" dirty="0" smtClean="0">
                <a:latin typeface="Times New Roman" panose="02020603050405020304" pitchFamily="18" charset="0"/>
                <a:cs typeface="Times New Roman" panose="02020603050405020304" pitchFamily="18" charset="0"/>
              </a:rPr>
              <a:t>)</a:t>
            </a:r>
          </a:p>
          <a:p>
            <a:pPr marL="0"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Network organized by the individual user for its personal use.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SAN </a:t>
            </a:r>
            <a:r>
              <a:rPr lang="en-US" b="1" dirty="0">
                <a:latin typeface="Times New Roman" panose="02020603050405020304" pitchFamily="18" charset="0"/>
                <a:cs typeface="Times New Roman" panose="02020603050405020304" pitchFamily="18" charset="0"/>
              </a:rPr>
              <a:t>(Storage Area Network) </a:t>
            </a:r>
            <a:endParaRPr lang="en-US" b="1"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Connects </a:t>
            </a:r>
            <a:r>
              <a:rPr lang="en-US" dirty="0">
                <a:latin typeface="Times New Roman" panose="02020603050405020304" pitchFamily="18" charset="0"/>
                <a:cs typeface="Times New Roman" panose="02020603050405020304" pitchFamily="18" charset="0"/>
              </a:rPr>
              <a:t>servers to data storage devices via fiber-optic cables.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535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INTERNET</a:t>
            </a:r>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6811" y="2714586"/>
            <a:ext cx="4562475"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413" y="2705332"/>
            <a:ext cx="5524500"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2554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Transmission medium and Classes</a:t>
            </a:r>
            <a:endParaRPr lang="en-IN" dirty="0"/>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9425" y="2633159"/>
            <a:ext cx="5248275" cy="123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9668" y="3389972"/>
            <a:ext cx="6153150" cy="2756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4538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56118" y="2603500"/>
            <a:ext cx="11574966" cy="3416300"/>
          </a:xfrm>
        </p:spPr>
        <p:txBody>
          <a:bodyPr>
            <a:normAutofit/>
          </a:bodyPr>
          <a:lstStyle/>
          <a:p>
            <a:r>
              <a:rPr lang="en-US" sz="2000" dirty="0">
                <a:latin typeface="Times New Roman" panose="02020603050405020304" pitchFamily="18" charset="0"/>
                <a:cs typeface="Times New Roman" panose="02020603050405020304" pitchFamily="18" charset="0"/>
              </a:rPr>
              <a:t>Guided Media: Guided media, which are those that provide a medium from one device to another, include twisted-pair cable, coaxial cable, and fiber-optic cable</a:t>
            </a:r>
            <a:r>
              <a:rPr lang="en-US" sz="2000" dirty="0" smtClean="0">
                <a:latin typeface="Times New Roman" panose="02020603050405020304" pitchFamily="18" charset="0"/>
                <a:cs typeface="Times New Roman" panose="02020603050405020304" pitchFamily="18" charset="0"/>
              </a:rPr>
              <a:t>.</a:t>
            </a:r>
          </a:p>
          <a:p>
            <a:pPr marL="0" indent="0">
              <a:buNone/>
            </a:pPr>
            <a:r>
              <a:rPr lang="en-IN" sz="2000" b="1" dirty="0" smtClean="0">
                <a:latin typeface="Times New Roman" panose="02020603050405020304" pitchFamily="18" charset="0"/>
                <a:cs typeface="Times New Roman" panose="02020603050405020304" pitchFamily="18" charset="0"/>
              </a:rPr>
              <a:t>Twisted-Pair </a:t>
            </a:r>
            <a:r>
              <a:rPr lang="en-IN" sz="2000" b="1" dirty="0">
                <a:latin typeface="Times New Roman" panose="02020603050405020304" pitchFamily="18" charset="0"/>
                <a:cs typeface="Times New Roman" panose="02020603050405020304" pitchFamily="18" charset="0"/>
              </a:rPr>
              <a:t>Cable</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8102" y="4199133"/>
            <a:ext cx="5829300"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0293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Unshielded Versus Shielded Twisted-Pair Cable</a:t>
            </a:r>
            <a:endParaRPr lang="en-IN" dirty="0"/>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4553" y="2729686"/>
            <a:ext cx="7245408" cy="14297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029628" y="4579578"/>
            <a:ext cx="10088137" cy="70788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Applications Twisted-pair cables are used in telephone lines to provide voice and data channels. Local-area networks, such as l0Base-T and l00Base-T, also use twisted-pair cables.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5730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Coaxial Cable</a:t>
            </a:r>
          </a:p>
        </p:txBody>
      </p:sp>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361" y="2697394"/>
            <a:ext cx="5374887" cy="3156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066263" y="2765502"/>
            <a:ext cx="5542157" cy="347787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Applications</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nSpc>
                <a:spcPct val="200000"/>
              </a:lnSpc>
            </a:pPr>
            <a:r>
              <a:rPr lang="en-US" sz="2000" dirty="0" smtClean="0">
                <a:latin typeface="Times New Roman" panose="02020603050405020304" pitchFamily="18" charset="0"/>
                <a:cs typeface="Times New Roman" panose="02020603050405020304" pitchFamily="18" charset="0"/>
              </a:rPr>
              <a:t>Coaxial </a:t>
            </a:r>
            <a:r>
              <a:rPr lang="en-US" sz="2000" dirty="0">
                <a:latin typeface="Times New Roman" panose="02020603050405020304" pitchFamily="18" charset="0"/>
                <a:cs typeface="Times New Roman" panose="02020603050405020304" pitchFamily="18" charset="0"/>
              </a:rPr>
              <a:t>cable was widely used in analog telephone networks</a:t>
            </a:r>
            <a:r>
              <a:rPr lang="en-US" sz="2000" dirty="0" smtClean="0">
                <a:latin typeface="Times New Roman" panose="02020603050405020304" pitchFamily="18" charset="0"/>
                <a:cs typeface="Times New Roman" panose="02020603050405020304" pitchFamily="18" charset="0"/>
              </a:rPr>
              <a:t>, digital </a:t>
            </a:r>
            <a:r>
              <a:rPr lang="en-US" sz="2000" dirty="0">
                <a:latin typeface="Times New Roman" panose="02020603050405020304" pitchFamily="18" charset="0"/>
                <a:cs typeface="Times New Roman" panose="02020603050405020304" pitchFamily="18" charset="0"/>
              </a:rPr>
              <a:t>telephone </a:t>
            </a:r>
            <a:r>
              <a:rPr lang="en-US" sz="2000" dirty="0" smtClean="0">
                <a:latin typeface="Times New Roman" panose="02020603050405020304" pitchFamily="18" charset="0"/>
                <a:cs typeface="Times New Roman" panose="02020603050405020304" pitchFamily="18" charset="0"/>
              </a:rPr>
              <a:t>networks</a:t>
            </a:r>
          </a:p>
          <a:p>
            <a:pPr>
              <a:lnSpc>
                <a:spcPct val="20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Cable TV networks also use coaxial cables. Another common application of coaxial cable is in traditional Ethernet LANs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8099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Fiber</a:t>
            </a:r>
            <a:r>
              <a:rPr lang="en-IN" dirty="0"/>
              <a:t>-Optic Cable</a:t>
            </a:r>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574" y="2342646"/>
            <a:ext cx="4615811" cy="904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2883" y="3316908"/>
            <a:ext cx="8224024" cy="3128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433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UNGUIDED MEDIA: WIRELESS</a:t>
            </a:r>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933" y="2288982"/>
            <a:ext cx="6115050" cy="1190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1777" y="3524832"/>
            <a:ext cx="8118086" cy="2328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971" y="5210757"/>
            <a:ext cx="5305425"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7294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Radio Waves Microwaves Infrared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5991" y="2757256"/>
            <a:ext cx="4672360" cy="3208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96" y="2676294"/>
            <a:ext cx="5940813" cy="29885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2025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r>
            <a:br>
              <a:rPr lang="en-IN" dirty="0" smtClean="0"/>
            </a:br>
            <a:r>
              <a:rPr lang="en-IN" dirty="0" smtClean="0"/>
              <a:t>Network </a:t>
            </a:r>
            <a:r>
              <a:rPr lang="en-IN" dirty="0"/>
              <a:t>Devices</a:t>
            </a:r>
            <a:r>
              <a:rPr lang="en-IN" b="1" dirty="0"/>
              <a:t/>
            </a:r>
            <a:br>
              <a:rPr lang="en-IN" b="1" dirty="0"/>
            </a:br>
            <a:endParaRPr lang="en-IN" dirty="0"/>
          </a:p>
        </p:txBody>
      </p:sp>
      <p:sp>
        <p:nvSpPr>
          <p:cNvPr id="3" name="Content Placeholder 2"/>
          <p:cNvSpPr>
            <a:spLocks noGrp="1"/>
          </p:cNvSpPr>
          <p:nvPr>
            <p:ph idx="1"/>
          </p:nvPr>
        </p:nvSpPr>
        <p:spPr>
          <a:xfrm>
            <a:off x="858644" y="2603499"/>
            <a:ext cx="10727473" cy="3719241"/>
          </a:xfrm>
        </p:spPr>
        <p:txBody>
          <a:bodyPr>
            <a:normAutofit fontScale="62500" lnSpcReduction="20000"/>
          </a:bodyPr>
          <a:lstStyle/>
          <a:p>
            <a:r>
              <a:rPr lang="en-US" sz="3200" b="1" dirty="0">
                <a:latin typeface="Times New Roman" panose="02020603050405020304" pitchFamily="18" charset="0"/>
                <a:cs typeface="Times New Roman" panose="02020603050405020304" pitchFamily="18" charset="0"/>
              </a:rPr>
              <a:t>Network Repeater –</a:t>
            </a:r>
            <a:r>
              <a:rPr lang="en-US" sz="3200" dirty="0">
                <a:latin typeface="Times New Roman" panose="02020603050405020304" pitchFamily="18" charset="0"/>
                <a:cs typeface="Times New Roman" panose="02020603050405020304" pitchFamily="18" charset="0"/>
              </a:rPr>
              <a:t> Used to generate incoming electrical, wireless or optical signals</a:t>
            </a:r>
          </a:p>
          <a:p>
            <a:r>
              <a:rPr lang="en-US" sz="3200" b="1" dirty="0">
                <a:latin typeface="Times New Roman" panose="02020603050405020304" pitchFamily="18" charset="0"/>
                <a:cs typeface="Times New Roman" panose="02020603050405020304" pitchFamily="18" charset="0"/>
              </a:rPr>
              <a:t>Network Hub –</a:t>
            </a:r>
            <a:r>
              <a:rPr lang="en-US" sz="3200" dirty="0">
                <a:latin typeface="Times New Roman" panose="02020603050405020304" pitchFamily="18" charset="0"/>
                <a:cs typeface="Times New Roman" panose="02020603050405020304" pitchFamily="18" charset="0"/>
              </a:rPr>
              <a:t> It is a small network device. It joins multiple computers together to form a single network segment. On this segment, all computers can interact with each other</a:t>
            </a:r>
          </a:p>
          <a:p>
            <a:r>
              <a:rPr lang="en-US" sz="3200" b="1" dirty="0">
                <a:latin typeface="Times New Roman" panose="02020603050405020304" pitchFamily="18" charset="0"/>
                <a:cs typeface="Times New Roman" panose="02020603050405020304" pitchFamily="18" charset="0"/>
              </a:rPr>
              <a:t>Network Switch –</a:t>
            </a:r>
            <a:r>
              <a:rPr lang="en-US" sz="3200" dirty="0">
                <a:latin typeface="Times New Roman" panose="02020603050405020304" pitchFamily="18" charset="0"/>
                <a:cs typeface="Times New Roman" panose="02020603050405020304" pitchFamily="18" charset="0"/>
              </a:rPr>
              <a:t> It is a small hardware device which joins multiple computers together with a single LAN</a:t>
            </a:r>
          </a:p>
          <a:p>
            <a:r>
              <a:rPr lang="en-US" sz="3200" b="1" dirty="0">
                <a:latin typeface="Times New Roman" panose="02020603050405020304" pitchFamily="18" charset="0"/>
                <a:cs typeface="Times New Roman" panose="02020603050405020304" pitchFamily="18" charset="0"/>
              </a:rPr>
              <a:t>Network Router –</a:t>
            </a:r>
            <a:r>
              <a:rPr lang="en-US" sz="3200" dirty="0">
                <a:latin typeface="Times New Roman" panose="02020603050405020304" pitchFamily="18" charset="0"/>
                <a:cs typeface="Times New Roman" panose="02020603050405020304" pitchFamily="18" charset="0"/>
              </a:rPr>
              <a:t> This device interfaces in multiple networks whose task is to copy packages from one network to another. It provides connectivity inside enterprises, between Enterprises and the Internet and within an ISP</a:t>
            </a:r>
          </a:p>
          <a:p>
            <a:r>
              <a:rPr lang="en-US" sz="3200" b="1" dirty="0">
                <a:latin typeface="Times New Roman" panose="02020603050405020304" pitchFamily="18" charset="0"/>
                <a:cs typeface="Times New Roman" panose="02020603050405020304" pitchFamily="18" charset="0"/>
              </a:rPr>
              <a:t>Network Bridge –</a:t>
            </a:r>
            <a:r>
              <a:rPr lang="en-US" sz="3200" dirty="0">
                <a:latin typeface="Times New Roman" panose="02020603050405020304" pitchFamily="18" charset="0"/>
                <a:cs typeface="Times New Roman" panose="02020603050405020304" pitchFamily="18" charset="0"/>
              </a:rPr>
              <a:t> It reads the outermost section of the data packet to tell where the message is going. It reduces the traffic on other network segments. </a:t>
            </a:r>
          </a:p>
          <a:p>
            <a:r>
              <a:rPr lang="en-US" sz="3200" b="1" dirty="0">
                <a:latin typeface="Times New Roman" panose="02020603050405020304" pitchFamily="18" charset="0"/>
                <a:cs typeface="Times New Roman" panose="02020603050405020304" pitchFamily="18" charset="0"/>
              </a:rPr>
              <a:t>Modem –</a:t>
            </a:r>
            <a:r>
              <a:rPr lang="en-US" sz="3200" dirty="0">
                <a:latin typeface="Times New Roman" panose="02020603050405020304" pitchFamily="18" charset="0"/>
                <a:cs typeface="Times New Roman" panose="02020603050405020304" pitchFamily="18" charset="0"/>
              </a:rPr>
              <a:t> This device converts digital signals into analog signals. It is always placed between a telephone and a computer system</a:t>
            </a:r>
          </a:p>
          <a:p>
            <a:endParaRPr lang="en-IN" dirty="0"/>
          </a:p>
        </p:txBody>
      </p:sp>
    </p:spTree>
    <p:extLst>
      <p:ext uri="{BB962C8B-B14F-4D97-AF65-F5344CB8AC3E}">
        <p14:creationId xmlns:p14="http://schemas.microsoft.com/office/powerpoint/2010/main" val="2597859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712" y="973668"/>
            <a:ext cx="9347655" cy="706964"/>
          </a:xfrm>
        </p:spPr>
        <p:txBody>
          <a:bodyPr/>
          <a:lstStyle/>
          <a:p>
            <a:r>
              <a:rPr lang="en-US" dirty="0"/>
              <a:t>Difference between Connection-Oriented and Connectionless Service</a:t>
            </a:r>
            <a:br>
              <a:rPr lang="en-US" dirty="0"/>
            </a:br>
            <a:endParaRPr lang="en-IN" dirty="0"/>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2252" y="2536787"/>
            <a:ext cx="4881530" cy="341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0673" y="2685121"/>
            <a:ext cx="6010275" cy="3581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9336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166" y="697183"/>
            <a:ext cx="9567979" cy="55698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341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791738"/>
            <a:ext cx="9378291" cy="5397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8149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39" y="529683"/>
            <a:ext cx="5324475"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3171" y="2711837"/>
            <a:ext cx="5832087" cy="348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3541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761413" cy="487142"/>
          </a:xfrm>
        </p:spPr>
        <p:txBody>
          <a:bodyPr/>
          <a:lstStyle/>
          <a:p>
            <a:r>
              <a:rPr lang="en-US" dirty="0"/>
              <a:t>Different Types of Ethernet Networks</a:t>
            </a:r>
            <a:br>
              <a:rPr lang="en-US" dirty="0"/>
            </a:br>
            <a:endParaRPr lang="en-IN" dirty="0"/>
          </a:p>
        </p:txBody>
      </p:sp>
      <p:sp>
        <p:nvSpPr>
          <p:cNvPr id="3" name="Content Placeholder 2"/>
          <p:cNvSpPr>
            <a:spLocks noGrp="1"/>
          </p:cNvSpPr>
          <p:nvPr>
            <p:ph sz="half" idx="1"/>
          </p:nvPr>
        </p:nvSpPr>
        <p:spPr>
          <a:xfrm>
            <a:off x="530486" y="2648105"/>
            <a:ext cx="5100880" cy="3416301"/>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Fast Ethernet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lgn="just">
              <a:lnSpc>
                <a:spcPct val="110000"/>
              </a:lnSpc>
              <a:buNone/>
            </a:pPr>
            <a:r>
              <a:rPr lang="en-US" sz="2300" dirty="0" smtClean="0">
                <a:latin typeface="Times New Roman" panose="02020603050405020304" pitchFamily="18" charset="0"/>
                <a:cs typeface="Times New Roman" panose="02020603050405020304" pitchFamily="18" charset="0"/>
              </a:rPr>
              <a:t>This </a:t>
            </a:r>
            <a:r>
              <a:rPr lang="en-US" sz="2300" dirty="0">
                <a:latin typeface="Times New Roman" panose="02020603050405020304" pitchFamily="18" charset="0"/>
                <a:cs typeface="Times New Roman" panose="02020603050405020304" pitchFamily="18" charset="0"/>
              </a:rPr>
              <a:t>type of Ethernet is usually supported by a twisted pair or CAT5 cable, which has the potential to transfer or receive data at around100 Mbps. </a:t>
            </a:r>
            <a:endParaRPr lang="en-US" sz="2300" dirty="0" smtClean="0">
              <a:latin typeface="Times New Roman" panose="02020603050405020304" pitchFamily="18" charset="0"/>
              <a:cs typeface="Times New Roman" panose="02020603050405020304" pitchFamily="18" charset="0"/>
            </a:endParaRPr>
          </a:p>
          <a:p>
            <a:pPr marL="0" indent="0" algn="just">
              <a:lnSpc>
                <a:spcPct val="110000"/>
              </a:lnSpc>
              <a:buNone/>
            </a:pPr>
            <a:r>
              <a:rPr lang="en-US" sz="2300" dirty="0" smtClean="0">
                <a:latin typeface="Times New Roman" panose="02020603050405020304" pitchFamily="18" charset="0"/>
                <a:cs typeface="Times New Roman" panose="02020603050405020304" pitchFamily="18" charset="0"/>
              </a:rPr>
              <a:t>They </a:t>
            </a:r>
            <a:r>
              <a:rPr lang="en-US" sz="2300" dirty="0">
                <a:latin typeface="Times New Roman" panose="02020603050405020304" pitchFamily="18" charset="0"/>
                <a:cs typeface="Times New Roman" panose="02020603050405020304" pitchFamily="18" charset="0"/>
              </a:rPr>
              <a:t>function at 100Base and 10/100Base Ethernet on the fiber side of the link if any device such as a camera, laptop, or other is connected to a network. </a:t>
            </a:r>
            <a:endParaRPr lang="en-US" sz="2300" dirty="0" smtClean="0">
              <a:latin typeface="Times New Roman" panose="02020603050405020304" pitchFamily="18" charset="0"/>
              <a:cs typeface="Times New Roman" panose="02020603050405020304" pitchFamily="18" charset="0"/>
            </a:endParaRPr>
          </a:p>
          <a:p>
            <a:pPr marL="0" indent="0" algn="just">
              <a:lnSpc>
                <a:spcPct val="110000"/>
              </a:lnSpc>
              <a:buNone/>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fiber optic cable and twisted pair cable are used by fast Ethernet to create communication. The 100BASE-TX, 100BASE-FX, and 100BASE-T4 are the three categories of Fast Ethernet</a:t>
            </a:r>
            <a:r>
              <a:rPr lang="en-US" sz="2300" dirty="0"/>
              <a:t>.</a:t>
            </a:r>
          </a:p>
          <a:p>
            <a:pPr>
              <a:lnSpc>
                <a:spcPct val="110000"/>
              </a:lnSpc>
            </a:pPr>
            <a:endParaRPr lang="en-IN" dirty="0"/>
          </a:p>
        </p:txBody>
      </p:sp>
      <p:sp>
        <p:nvSpPr>
          <p:cNvPr id="4" name="Content Placeholder 3"/>
          <p:cNvSpPr>
            <a:spLocks noGrp="1"/>
          </p:cNvSpPr>
          <p:nvPr>
            <p:ph sz="half" idx="2"/>
          </p:nvPr>
        </p:nvSpPr>
        <p:spPr>
          <a:xfrm>
            <a:off x="6208712" y="2603500"/>
            <a:ext cx="5756547" cy="3416300"/>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Gigabit Ethernet</a:t>
            </a:r>
            <a:r>
              <a:rPr lang="en-US" dirty="0"/>
              <a:t>: </a:t>
            </a:r>
            <a:endParaRPr lang="en-US" dirty="0" smtClean="0"/>
          </a:p>
          <a:p>
            <a:pPr marL="0" indent="0">
              <a:lnSpc>
                <a:spcPct val="110000"/>
              </a:lnSpc>
              <a:buNone/>
            </a:pPr>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type of Ethernet network is an upgrade from Fast Ethernet, which uses fiber optic cable and twisted pair cable to create communication. </a:t>
            </a:r>
            <a:endParaRPr lang="en-US" sz="2200" dirty="0" smtClean="0">
              <a:latin typeface="Times New Roman" panose="02020603050405020304" pitchFamily="18" charset="0"/>
              <a:cs typeface="Times New Roman" panose="02020603050405020304" pitchFamily="18" charset="0"/>
            </a:endParaRPr>
          </a:p>
          <a:p>
            <a:pPr marL="0" indent="0">
              <a:lnSpc>
                <a:spcPct val="110000"/>
              </a:lnSpc>
              <a:buNone/>
            </a:pPr>
            <a:r>
              <a:rPr lang="en-US" sz="2200" dirty="0" smtClean="0">
                <a:latin typeface="Times New Roman" panose="02020603050405020304" pitchFamily="18" charset="0"/>
                <a:cs typeface="Times New Roman" panose="02020603050405020304" pitchFamily="18" charset="0"/>
              </a:rPr>
              <a:t>It </a:t>
            </a:r>
            <a:r>
              <a:rPr lang="en-US" sz="2200" dirty="0">
                <a:latin typeface="Times New Roman" panose="02020603050405020304" pitchFamily="18" charset="0"/>
                <a:cs typeface="Times New Roman" panose="02020603050405020304" pitchFamily="18" charset="0"/>
              </a:rPr>
              <a:t>can transfer data at a rate of 1000 Mbps or 1Gbps. In modern times, gigabit Ethernet is more common. </a:t>
            </a:r>
            <a:endParaRPr lang="en-US" sz="2200" dirty="0" smtClean="0">
              <a:latin typeface="Times New Roman" panose="02020603050405020304" pitchFamily="18" charset="0"/>
              <a:cs typeface="Times New Roman" panose="02020603050405020304" pitchFamily="18" charset="0"/>
            </a:endParaRPr>
          </a:p>
          <a:p>
            <a:pPr marL="0" indent="0">
              <a:lnSpc>
                <a:spcPct val="110000"/>
              </a:lnSpc>
              <a:buNone/>
            </a:pPr>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network type also uses CAT5e or other advanced cables, which can transfer data at a rate of 10 </a:t>
            </a:r>
            <a:r>
              <a:rPr lang="en-US" sz="2200" dirty="0" err="1">
                <a:latin typeface="Times New Roman" panose="02020603050405020304" pitchFamily="18" charset="0"/>
                <a:cs typeface="Times New Roman" panose="02020603050405020304" pitchFamily="18" charset="0"/>
              </a:rPr>
              <a:t>Gbps</a:t>
            </a:r>
            <a:r>
              <a:rPr lang="en-US" sz="2200" dirty="0">
                <a:latin typeface="Times New Roman" panose="02020603050405020304" pitchFamily="18" charset="0"/>
                <a:cs typeface="Times New Roman" panose="02020603050405020304" pitchFamily="18" charset="0"/>
              </a:rPr>
              <a:t>.</a:t>
            </a:r>
          </a:p>
          <a:p>
            <a:pPr>
              <a:lnSpc>
                <a:spcPct val="16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27311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
  <TotalTime>1032</TotalTime>
  <Words>1098</Words>
  <Application>Microsoft Office PowerPoint</Application>
  <PresentationFormat>Custom</PresentationFormat>
  <Paragraphs>139</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Ion Boardroom</vt:lpstr>
      <vt:lpstr>           Course Code: IT-15                                   Network Technologies  </vt:lpstr>
      <vt:lpstr>Course Description</vt:lpstr>
      <vt:lpstr>Course Outcomes</vt:lpstr>
      <vt:lpstr>PowerPoint Presentation</vt:lpstr>
      <vt:lpstr>Ethernet Standards ZigBee</vt:lpstr>
      <vt:lpstr>Types of ZigBee Devices:  </vt:lpstr>
      <vt:lpstr>General Characteristics of Zigbee Standard:</vt:lpstr>
      <vt:lpstr>Wifi</vt:lpstr>
      <vt:lpstr>Usage and Application of Wifi </vt:lpstr>
      <vt:lpstr>Usage and Application of Wifi</vt:lpstr>
      <vt:lpstr>PowerPoint Presentation</vt:lpstr>
      <vt:lpstr>Advantage and Disadvantage of CSMA CD</vt:lpstr>
      <vt:lpstr>PowerPoint Presentation</vt:lpstr>
      <vt:lpstr> What is VOIP? </vt:lpstr>
      <vt:lpstr>RING:</vt:lpstr>
      <vt:lpstr>Hybrid Topology</vt:lpstr>
      <vt:lpstr>Types of Network based on size</vt:lpstr>
      <vt:lpstr>Other types</vt:lpstr>
      <vt:lpstr>THE INTERNET</vt:lpstr>
      <vt:lpstr>Transmission medium and Classes</vt:lpstr>
      <vt:lpstr>PowerPoint Presentation</vt:lpstr>
      <vt:lpstr>Unshielded Versus Shielded Twisted-Pair Cable</vt:lpstr>
      <vt:lpstr>Coaxial Cable</vt:lpstr>
      <vt:lpstr>Fiber-Optic Cable</vt:lpstr>
      <vt:lpstr>UNGUIDED MEDIA: WIRELESS</vt:lpstr>
      <vt:lpstr>Radio Waves Microwaves Infrared </vt:lpstr>
      <vt:lpstr> Network Devices </vt:lpstr>
      <vt:lpstr>Difference between Connection-Oriented and Connectionless Service </vt:lpstr>
      <vt:lpstr>PowerPoint Presentation</vt:lpstr>
      <vt:lpstr>PowerPoint Presentation</vt:lpstr>
      <vt:lpstr>PowerPoint Presentation</vt:lpstr>
      <vt:lpstr>Different Types of Ethernet Networks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Mathematics</dc:title>
  <dc:creator>Nisarga</dc:creator>
  <cp:lastModifiedBy>admin</cp:lastModifiedBy>
  <cp:revision>45</cp:revision>
  <dcterms:created xsi:type="dcterms:W3CDTF">2021-12-24T04:17:06Z</dcterms:created>
  <dcterms:modified xsi:type="dcterms:W3CDTF">2023-09-11T03:37:06Z</dcterms:modified>
</cp:coreProperties>
</file>