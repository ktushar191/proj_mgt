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66"/>
  </p:notesMasterIdLst>
  <p:sldIdLst>
    <p:sldId id="354" r:id="rId4"/>
    <p:sldId id="355" r:id="rId5"/>
    <p:sldId id="358" r:id="rId6"/>
    <p:sldId id="360" r:id="rId7"/>
    <p:sldId id="347" r:id="rId8"/>
    <p:sldId id="259" r:id="rId9"/>
    <p:sldId id="357" r:id="rId10"/>
    <p:sldId id="361" r:id="rId11"/>
    <p:sldId id="362" r:id="rId12"/>
    <p:sldId id="363" r:id="rId13"/>
    <p:sldId id="364" r:id="rId14"/>
    <p:sldId id="365" r:id="rId15"/>
    <p:sldId id="366" r:id="rId16"/>
    <p:sldId id="372" r:id="rId17"/>
    <p:sldId id="373" r:id="rId18"/>
    <p:sldId id="367" r:id="rId19"/>
    <p:sldId id="369" r:id="rId20"/>
    <p:sldId id="370" r:id="rId21"/>
    <p:sldId id="371" r:id="rId22"/>
    <p:sldId id="374" r:id="rId23"/>
    <p:sldId id="395" r:id="rId24"/>
    <p:sldId id="375" r:id="rId25"/>
    <p:sldId id="376" r:id="rId26"/>
    <p:sldId id="377" r:id="rId27"/>
    <p:sldId id="378" r:id="rId28"/>
    <p:sldId id="379" r:id="rId29"/>
    <p:sldId id="380" r:id="rId30"/>
    <p:sldId id="381" r:id="rId31"/>
    <p:sldId id="382" r:id="rId32"/>
    <p:sldId id="396" r:id="rId33"/>
    <p:sldId id="383" r:id="rId34"/>
    <p:sldId id="384" r:id="rId35"/>
    <p:sldId id="385" r:id="rId36"/>
    <p:sldId id="386" r:id="rId37"/>
    <p:sldId id="387" r:id="rId38"/>
    <p:sldId id="388" r:id="rId39"/>
    <p:sldId id="389" r:id="rId40"/>
    <p:sldId id="390" r:id="rId41"/>
    <p:sldId id="391" r:id="rId42"/>
    <p:sldId id="392" r:id="rId43"/>
    <p:sldId id="393" r:id="rId44"/>
    <p:sldId id="397" r:id="rId45"/>
    <p:sldId id="394" r:id="rId46"/>
    <p:sldId id="398" r:id="rId47"/>
    <p:sldId id="399" r:id="rId48"/>
    <p:sldId id="400" r:id="rId49"/>
    <p:sldId id="401" r:id="rId50"/>
    <p:sldId id="402" r:id="rId51"/>
    <p:sldId id="403" r:id="rId52"/>
    <p:sldId id="404" r:id="rId53"/>
    <p:sldId id="405" r:id="rId54"/>
    <p:sldId id="406" r:id="rId55"/>
    <p:sldId id="407" r:id="rId56"/>
    <p:sldId id="408" r:id="rId57"/>
    <p:sldId id="409" r:id="rId58"/>
    <p:sldId id="410" r:id="rId59"/>
    <p:sldId id="411" r:id="rId60"/>
    <p:sldId id="412" r:id="rId61"/>
    <p:sldId id="414" r:id="rId62"/>
    <p:sldId id="415" r:id="rId63"/>
    <p:sldId id="416" r:id="rId64"/>
    <p:sldId id="41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0" d="100"/>
          <a:sy n="70" d="100"/>
        </p:scale>
        <p:origin x="204" y="5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4/10/2024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그림 개체 틀 2">
            <a:extLst>
              <a:ext uri="{FF2B5EF4-FFF2-40B4-BE49-F238E27FC236}">
                <a16:creationId xmlns:a16="http://schemas.microsoft.com/office/drawing/2014/main" id="{7A93F2A8-E9B4-4FBC-B414-DC9803D923D9}"/>
              </a:ext>
            </a:extLst>
          </p:cNvPr>
          <p:cNvSpPr>
            <a:spLocks noGrp="1"/>
          </p:cNvSpPr>
          <p:nvPr>
            <p:ph type="pic" sz="quarter" idx="11" hasCustomPrompt="1"/>
          </p:nvPr>
        </p:nvSpPr>
        <p:spPr>
          <a:xfrm>
            <a:off x="995168" y="2560523"/>
            <a:ext cx="2160000" cy="2160000"/>
          </a:xfrm>
          <a:prstGeom prst="ellipse">
            <a:avLst/>
          </a:prstGeom>
          <a:solidFill>
            <a:schemeClr val="bg1">
              <a:lumMod val="95000"/>
            </a:schemeClr>
          </a:solidFill>
          <a:ln w="222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5" name="그림 개체 틀 2">
            <a:extLst>
              <a:ext uri="{FF2B5EF4-FFF2-40B4-BE49-F238E27FC236}">
                <a16:creationId xmlns:a16="http://schemas.microsoft.com/office/drawing/2014/main" id="{EC3D2488-3F58-407E-9BB0-8EE204A58A8A}"/>
              </a:ext>
            </a:extLst>
          </p:cNvPr>
          <p:cNvSpPr>
            <a:spLocks noGrp="1"/>
          </p:cNvSpPr>
          <p:nvPr>
            <p:ph type="pic" sz="quarter" idx="57" hasCustomPrompt="1"/>
          </p:nvPr>
        </p:nvSpPr>
        <p:spPr>
          <a:xfrm>
            <a:off x="4495312" y="2560523"/>
            <a:ext cx="2160000" cy="2160000"/>
          </a:xfrm>
          <a:prstGeom prst="ellipse">
            <a:avLst/>
          </a:prstGeom>
          <a:solidFill>
            <a:schemeClr val="bg1">
              <a:lumMod val="95000"/>
            </a:schemeClr>
          </a:solidFill>
          <a:ln w="222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6" name="그림 개체 틀 2">
            <a:extLst>
              <a:ext uri="{FF2B5EF4-FFF2-40B4-BE49-F238E27FC236}">
                <a16:creationId xmlns:a16="http://schemas.microsoft.com/office/drawing/2014/main" id="{86B69C6D-9647-4A3E-9A66-A73EE3F4286F}"/>
              </a:ext>
            </a:extLst>
          </p:cNvPr>
          <p:cNvSpPr>
            <a:spLocks noGrp="1"/>
          </p:cNvSpPr>
          <p:nvPr>
            <p:ph type="pic" sz="quarter" idx="60" hasCustomPrompt="1"/>
          </p:nvPr>
        </p:nvSpPr>
        <p:spPr>
          <a:xfrm>
            <a:off x="7995455" y="2560523"/>
            <a:ext cx="2160000" cy="2160000"/>
          </a:xfrm>
          <a:prstGeom prst="ellipse">
            <a:avLst/>
          </a:prstGeom>
          <a:solidFill>
            <a:schemeClr val="bg1">
              <a:lumMod val="95000"/>
            </a:schemeClr>
          </a:solidFill>
          <a:ln w="222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E117BCC-3032-4F8C-AA88-4892223066D6}"/>
              </a:ext>
            </a:extLst>
          </p:cNvPr>
          <p:cNvGrpSpPr/>
          <p:nvPr userDrawn="1"/>
        </p:nvGrpSpPr>
        <p:grpSpPr>
          <a:xfrm>
            <a:off x="9613650" y="2003247"/>
            <a:ext cx="2578350" cy="4052320"/>
            <a:chOff x="9508727" y="2147107"/>
            <a:chExt cx="2683273" cy="4217224"/>
          </a:xfrm>
        </p:grpSpPr>
        <p:sp>
          <p:nvSpPr>
            <p:cNvPr id="3" name="Freeform: Shape 2">
              <a:extLst>
                <a:ext uri="{FF2B5EF4-FFF2-40B4-BE49-F238E27FC236}">
                  <a16:creationId xmlns:a16="http://schemas.microsoft.com/office/drawing/2014/main" id="{D9E0B0B1-4B11-4180-BADE-DB071FCDEC5D}"/>
                </a:ext>
              </a:extLst>
            </p:cNvPr>
            <p:cNvSpPr/>
            <p:nvPr/>
          </p:nvSpPr>
          <p:spPr>
            <a:xfrm>
              <a:off x="11381596" y="5780548"/>
              <a:ext cx="810404" cy="583783"/>
            </a:xfrm>
            <a:custGeom>
              <a:avLst/>
              <a:gdLst>
                <a:gd name="connsiteX0" fmla="*/ 267669 w 810404"/>
                <a:gd name="connsiteY0" fmla="*/ 0 h 583783"/>
                <a:gd name="connsiteX1" fmla="*/ 769357 w 810404"/>
                <a:gd name="connsiteY1" fmla="*/ 0 h 583783"/>
                <a:gd name="connsiteX2" fmla="*/ 805844 w 810404"/>
                <a:gd name="connsiteY2" fmla="*/ 0 h 583783"/>
                <a:gd name="connsiteX3" fmla="*/ 810404 w 810404"/>
                <a:gd name="connsiteY3" fmla="*/ 0 h 583783"/>
                <a:gd name="connsiteX4" fmla="*/ 810404 w 810404"/>
                <a:gd name="connsiteY4" fmla="*/ 583783 h 583783"/>
                <a:gd name="connsiteX5" fmla="*/ 805844 w 810404"/>
                <a:gd name="connsiteY5" fmla="*/ 583783 h 583783"/>
                <a:gd name="connsiteX6" fmla="*/ 769357 w 810404"/>
                <a:gd name="connsiteY6" fmla="*/ 583783 h 583783"/>
                <a:gd name="connsiteX7" fmla="*/ 170371 w 810404"/>
                <a:gd name="connsiteY7" fmla="*/ 583783 h 583783"/>
                <a:gd name="connsiteX8" fmla="*/ 152128 w 810404"/>
                <a:gd name="connsiteY8" fmla="*/ 367906 h 583783"/>
                <a:gd name="connsiteX9" fmla="*/ 267669 w 810404"/>
                <a:gd name="connsiteY9" fmla="*/ 0 h 583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0404" h="583783">
                  <a:moveTo>
                    <a:pt x="267669" y="0"/>
                  </a:moveTo>
                  <a:lnTo>
                    <a:pt x="769357" y="0"/>
                  </a:lnTo>
                  <a:lnTo>
                    <a:pt x="805844" y="0"/>
                  </a:lnTo>
                  <a:lnTo>
                    <a:pt x="810404" y="0"/>
                  </a:lnTo>
                  <a:lnTo>
                    <a:pt x="810404" y="583783"/>
                  </a:lnTo>
                  <a:lnTo>
                    <a:pt x="805844" y="583783"/>
                  </a:lnTo>
                  <a:cubicBezTo>
                    <a:pt x="805844" y="583783"/>
                    <a:pt x="793682" y="583783"/>
                    <a:pt x="769357" y="583783"/>
                  </a:cubicBezTo>
                  <a:cubicBezTo>
                    <a:pt x="675101" y="583783"/>
                    <a:pt x="413614" y="583783"/>
                    <a:pt x="170371" y="583783"/>
                  </a:cubicBezTo>
                  <a:cubicBezTo>
                    <a:pt x="-133682" y="583783"/>
                    <a:pt x="39629" y="483446"/>
                    <a:pt x="152128" y="367906"/>
                  </a:cubicBezTo>
                  <a:cubicBezTo>
                    <a:pt x="264629" y="249324"/>
                    <a:pt x="267669" y="0"/>
                    <a:pt x="267669" y="0"/>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wrap="square" rtlCol="0" anchor="ctr">
              <a:noAutofit/>
            </a:bodyPr>
            <a:lstStyle/>
            <a:p>
              <a:endParaRPr lang="en-US"/>
            </a:p>
          </p:txBody>
        </p:sp>
        <p:sp>
          <p:nvSpPr>
            <p:cNvPr id="4" name="Freeform: Shape 3">
              <a:extLst>
                <a:ext uri="{FF2B5EF4-FFF2-40B4-BE49-F238E27FC236}">
                  <a16:creationId xmlns:a16="http://schemas.microsoft.com/office/drawing/2014/main" id="{1EDE72EE-879B-4FEA-A6CD-BCF46F39E4C4}"/>
                </a:ext>
              </a:extLst>
            </p:cNvPr>
            <p:cNvSpPr/>
            <p:nvPr/>
          </p:nvSpPr>
          <p:spPr>
            <a:xfrm>
              <a:off x="9508727" y="2147107"/>
              <a:ext cx="2683273" cy="3642562"/>
            </a:xfrm>
            <a:custGeom>
              <a:avLst/>
              <a:gdLst>
                <a:gd name="connsiteX0" fmla="*/ 170270 w 2683273"/>
                <a:gd name="connsiteY0" fmla="*/ 0 h 3642562"/>
                <a:gd name="connsiteX1" fmla="*/ 2645266 w 2683273"/>
                <a:gd name="connsiteY1" fmla="*/ 0 h 3642562"/>
                <a:gd name="connsiteX2" fmla="*/ 2683273 w 2683273"/>
                <a:gd name="connsiteY2" fmla="*/ 0 h 3642562"/>
                <a:gd name="connsiteX3" fmla="*/ 2683273 w 2683273"/>
                <a:gd name="connsiteY3" fmla="*/ 3642562 h 3642562"/>
                <a:gd name="connsiteX4" fmla="*/ 155068 w 2683273"/>
                <a:gd name="connsiteY4" fmla="*/ 3642562 h 3642562"/>
                <a:gd name="connsiteX5" fmla="*/ 0 w 2683273"/>
                <a:gd name="connsiteY5" fmla="*/ 3469251 h 3642562"/>
                <a:gd name="connsiteX6" fmla="*/ 0 w 2683273"/>
                <a:gd name="connsiteY6" fmla="*/ 170270 h 3642562"/>
                <a:gd name="connsiteX7" fmla="*/ 170270 w 2683273"/>
                <a:gd name="connsiteY7" fmla="*/ 0 h 364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3273" h="3642562">
                  <a:moveTo>
                    <a:pt x="170270" y="0"/>
                  </a:moveTo>
                  <a:lnTo>
                    <a:pt x="2645266" y="0"/>
                  </a:lnTo>
                  <a:lnTo>
                    <a:pt x="2683273" y="0"/>
                  </a:lnTo>
                  <a:lnTo>
                    <a:pt x="2683273" y="3642562"/>
                  </a:lnTo>
                  <a:lnTo>
                    <a:pt x="155068" y="3642562"/>
                  </a:lnTo>
                  <a:cubicBezTo>
                    <a:pt x="69933" y="3642562"/>
                    <a:pt x="0" y="3566549"/>
                    <a:pt x="0" y="3469251"/>
                  </a:cubicBezTo>
                  <a:lnTo>
                    <a:pt x="0" y="170270"/>
                  </a:lnTo>
                  <a:cubicBezTo>
                    <a:pt x="0" y="72973"/>
                    <a:pt x="82095" y="0"/>
                    <a:pt x="170270" y="0"/>
                  </a:cubicBezTo>
                  <a:close/>
                </a:path>
              </a:pathLst>
            </a:custGeom>
            <a:solidFill>
              <a:srgbClr val="999999"/>
            </a:solidFill>
            <a:ln w="9525" cap="flat">
              <a:noFill/>
              <a:prstDash val="solid"/>
              <a:miter/>
            </a:ln>
          </p:spPr>
          <p:txBody>
            <a:bodyPr wrap="square" rtlCol="0" anchor="ctr">
              <a:noAutofit/>
            </a:bodyPr>
            <a:lstStyle/>
            <a:p>
              <a:endParaRPr lang="en-US" dirty="0"/>
            </a:p>
          </p:txBody>
        </p:sp>
        <p:sp>
          <p:nvSpPr>
            <p:cNvPr id="5" name="Freeform: Shape 4">
              <a:extLst>
                <a:ext uri="{FF2B5EF4-FFF2-40B4-BE49-F238E27FC236}">
                  <a16:creationId xmlns:a16="http://schemas.microsoft.com/office/drawing/2014/main" id="{2CCB3843-05FA-4D36-8253-9E8F3AB1921C}"/>
                </a:ext>
              </a:extLst>
            </p:cNvPr>
            <p:cNvSpPr/>
            <p:nvPr/>
          </p:nvSpPr>
          <p:spPr>
            <a:xfrm>
              <a:off x="9536092" y="2177513"/>
              <a:ext cx="2655908" cy="3195604"/>
            </a:xfrm>
            <a:custGeom>
              <a:avLst/>
              <a:gdLst>
                <a:gd name="connsiteX0" fmla="*/ 170270 w 2655908"/>
                <a:gd name="connsiteY0" fmla="*/ 0 h 3195604"/>
                <a:gd name="connsiteX1" fmla="*/ 2623983 w 2655908"/>
                <a:gd name="connsiteY1" fmla="*/ 0 h 3195604"/>
                <a:gd name="connsiteX2" fmla="*/ 2655908 w 2655908"/>
                <a:gd name="connsiteY2" fmla="*/ 0 h 3195604"/>
                <a:gd name="connsiteX3" fmla="*/ 2655908 w 2655908"/>
                <a:gd name="connsiteY3" fmla="*/ 3195604 h 3195604"/>
                <a:gd name="connsiteX4" fmla="*/ 0 w 2655908"/>
                <a:gd name="connsiteY4" fmla="*/ 3195604 h 3195604"/>
                <a:gd name="connsiteX5" fmla="*/ 0 w 2655908"/>
                <a:gd name="connsiteY5" fmla="*/ 148987 h 3195604"/>
                <a:gd name="connsiteX6" fmla="*/ 170270 w 2655908"/>
                <a:gd name="connsiteY6" fmla="*/ 0 h 319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5908" h="3195604">
                  <a:moveTo>
                    <a:pt x="170270" y="0"/>
                  </a:moveTo>
                  <a:lnTo>
                    <a:pt x="2623983" y="0"/>
                  </a:lnTo>
                  <a:lnTo>
                    <a:pt x="2655908" y="0"/>
                  </a:lnTo>
                  <a:lnTo>
                    <a:pt x="2655908" y="3195604"/>
                  </a:lnTo>
                  <a:lnTo>
                    <a:pt x="0" y="3195604"/>
                  </a:lnTo>
                  <a:lnTo>
                    <a:pt x="0" y="148987"/>
                  </a:lnTo>
                  <a:cubicBezTo>
                    <a:pt x="0" y="60811"/>
                    <a:pt x="82095" y="0"/>
                    <a:pt x="170270" y="0"/>
                  </a:cubicBezTo>
                  <a:close/>
                </a:path>
              </a:pathLst>
            </a:custGeom>
            <a:solidFill>
              <a:srgbClr val="231F20"/>
            </a:solidFill>
            <a:ln w="9525" cap="flat">
              <a:noFill/>
              <a:prstDash val="solid"/>
              <a:miter/>
            </a:ln>
          </p:spPr>
          <p:txBody>
            <a:bodyPr wrap="square" rtlCol="0" anchor="ctr">
              <a:noAutofit/>
            </a:bodyPr>
            <a:lstStyle/>
            <a:p>
              <a:endParaRPr lang="en-US" dirty="0"/>
            </a:p>
          </p:txBody>
        </p:sp>
        <p:sp>
          <p:nvSpPr>
            <p:cNvPr id="6" name="Freeform: Shape 5">
              <a:extLst>
                <a:ext uri="{FF2B5EF4-FFF2-40B4-BE49-F238E27FC236}">
                  <a16:creationId xmlns:a16="http://schemas.microsoft.com/office/drawing/2014/main" id="{AB7AF8A9-20F4-42A9-9ACC-52EA430548E1}"/>
                </a:ext>
              </a:extLst>
            </p:cNvPr>
            <p:cNvSpPr/>
            <p:nvPr/>
          </p:nvSpPr>
          <p:spPr>
            <a:xfrm>
              <a:off x="11384738" y="6312642"/>
              <a:ext cx="807262" cy="48649"/>
            </a:xfrm>
            <a:custGeom>
              <a:avLst/>
              <a:gdLst>
                <a:gd name="connsiteX0" fmla="*/ 0 w 807262"/>
                <a:gd name="connsiteY0" fmla="*/ 0 h 48649"/>
                <a:gd name="connsiteX1" fmla="*/ 807262 w 807262"/>
                <a:gd name="connsiteY1" fmla="*/ 0 h 48649"/>
                <a:gd name="connsiteX2" fmla="*/ 807262 w 807262"/>
                <a:gd name="connsiteY2" fmla="*/ 48649 h 48649"/>
                <a:gd name="connsiteX3" fmla="*/ 799662 w 807262"/>
                <a:gd name="connsiteY3" fmla="*/ 48649 h 48649"/>
                <a:gd name="connsiteX4" fmla="*/ 772297 w 807262"/>
                <a:gd name="connsiteY4" fmla="*/ 48649 h 48649"/>
                <a:gd name="connsiteX5" fmla="*/ 173311 w 807262"/>
                <a:gd name="connsiteY5" fmla="*/ 48649 h 48649"/>
                <a:gd name="connsiteX6" fmla="*/ 0 w 807262"/>
                <a:gd name="connsiteY6" fmla="*/ 6081 h 48649"/>
                <a:gd name="connsiteX7" fmla="*/ 0 w 807262"/>
                <a:gd name="connsiteY7" fmla="*/ 3041 h 48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262" h="48649">
                  <a:moveTo>
                    <a:pt x="0" y="0"/>
                  </a:moveTo>
                  <a:lnTo>
                    <a:pt x="807262" y="0"/>
                  </a:lnTo>
                  <a:lnTo>
                    <a:pt x="807262" y="48649"/>
                  </a:lnTo>
                  <a:lnTo>
                    <a:pt x="799662" y="48649"/>
                  </a:lnTo>
                  <a:cubicBezTo>
                    <a:pt x="793581" y="48649"/>
                    <a:pt x="784459" y="48649"/>
                    <a:pt x="772297" y="48649"/>
                  </a:cubicBezTo>
                  <a:cubicBezTo>
                    <a:pt x="678039" y="48649"/>
                    <a:pt x="416553" y="48649"/>
                    <a:pt x="173311" y="48649"/>
                  </a:cubicBezTo>
                  <a:cubicBezTo>
                    <a:pt x="48648" y="48649"/>
                    <a:pt x="0" y="36487"/>
                    <a:pt x="0" y="6081"/>
                  </a:cubicBezTo>
                  <a:cubicBezTo>
                    <a:pt x="0" y="6081"/>
                    <a:pt x="0" y="6081"/>
                    <a:pt x="0" y="3041"/>
                  </a:cubicBezTo>
                  <a:close/>
                </a:path>
              </a:pathLst>
            </a:custGeom>
            <a:solidFill>
              <a:schemeClr val="tx1">
                <a:lumMod val="50000"/>
                <a:lumOff val="50000"/>
              </a:schemeClr>
            </a:solidFill>
            <a:ln w="9525" cap="flat">
              <a:noFill/>
              <a:prstDash val="solid"/>
              <a:miter/>
            </a:ln>
          </p:spPr>
          <p:txBody>
            <a:bodyPr wrap="square" rtlCol="0" anchor="ctr">
              <a:noAutofit/>
            </a:bodyPr>
            <a:lstStyle/>
            <a:p>
              <a:endParaRPr lang="en-US" dirty="0"/>
            </a:p>
          </p:txBody>
        </p:sp>
        <p:sp>
          <p:nvSpPr>
            <p:cNvPr id="7" name="Freeform: Shape 6">
              <a:extLst>
                <a:ext uri="{FF2B5EF4-FFF2-40B4-BE49-F238E27FC236}">
                  <a16:creationId xmlns:a16="http://schemas.microsoft.com/office/drawing/2014/main" id="{A3B04ADD-D9A0-4779-9DE8-7B053FC465FF}"/>
                </a:ext>
              </a:extLst>
            </p:cNvPr>
            <p:cNvSpPr/>
            <p:nvPr/>
          </p:nvSpPr>
          <p:spPr>
            <a:xfrm>
              <a:off x="9536092" y="5379197"/>
              <a:ext cx="2655908" cy="395270"/>
            </a:xfrm>
            <a:custGeom>
              <a:avLst/>
              <a:gdLst>
                <a:gd name="connsiteX0" fmla="*/ 0 w 2655908"/>
                <a:gd name="connsiteY0" fmla="*/ 0 h 395270"/>
                <a:gd name="connsiteX1" fmla="*/ 2655908 w 2655908"/>
                <a:gd name="connsiteY1" fmla="*/ 0 h 395270"/>
                <a:gd name="connsiteX2" fmla="*/ 2655908 w 2655908"/>
                <a:gd name="connsiteY2" fmla="*/ 395270 h 395270"/>
                <a:gd name="connsiteX3" fmla="*/ 2623983 w 2655908"/>
                <a:gd name="connsiteY3" fmla="*/ 395270 h 395270"/>
                <a:gd name="connsiteX4" fmla="*/ 170270 w 2655908"/>
                <a:gd name="connsiteY4" fmla="*/ 395270 h 395270"/>
                <a:gd name="connsiteX5" fmla="*/ 0 w 2655908"/>
                <a:gd name="connsiteY5" fmla="*/ 246284 h 39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55908" h="395270">
                  <a:moveTo>
                    <a:pt x="0" y="0"/>
                  </a:moveTo>
                  <a:lnTo>
                    <a:pt x="2655908" y="0"/>
                  </a:lnTo>
                  <a:lnTo>
                    <a:pt x="2655908" y="395270"/>
                  </a:lnTo>
                  <a:lnTo>
                    <a:pt x="2623983" y="395270"/>
                  </a:lnTo>
                  <a:lnTo>
                    <a:pt x="170270" y="395270"/>
                  </a:lnTo>
                  <a:cubicBezTo>
                    <a:pt x="82095" y="395270"/>
                    <a:pt x="0" y="322297"/>
                    <a:pt x="0" y="246284"/>
                  </a:cubicBezTo>
                  <a:close/>
                </a:path>
              </a:pathLst>
            </a:custGeom>
            <a:solidFill>
              <a:schemeClr val="bg1">
                <a:lumMod val="75000"/>
              </a:schemeClr>
            </a:solidFill>
            <a:ln w="9525"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F98221A9-6AC7-4184-B404-4D26AC76772E}"/>
                </a:ext>
              </a:extLst>
            </p:cNvPr>
            <p:cNvSpPr/>
            <p:nvPr/>
          </p:nvSpPr>
          <p:spPr>
            <a:xfrm>
              <a:off x="9711093" y="2388830"/>
              <a:ext cx="2480907" cy="2797293"/>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4C79AC-939D-4B2C-8A93-F1F58E8EDBA8}"/>
                </a:ext>
              </a:extLst>
            </p:cNvPr>
            <p:cNvSpPr/>
            <p:nvPr/>
          </p:nvSpPr>
          <p:spPr>
            <a:xfrm>
              <a:off x="10791316" y="2439610"/>
              <a:ext cx="1400684" cy="2776919"/>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0" name="Rectangle 9">
            <a:extLst>
              <a:ext uri="{FF2B5EF4-FFF2-40B4-BE49-F238E27FC236}">
                <a16:creationId xmlns:a16="http://schemas.microsoft.com/office/drawing/2014/main" id="{079717CE-5FF1-456C-B564-55798E060E3B}"/>
              </a:ext>
            </a:extLst>
          </p:cNvPr>
          <p:cNvSpPr/>
          <p:nvPr userDrawn="1"/>
        </p:nvSpPr>
        <p:spPr>
          <a:xfrm>
            <a:off x="0" y="2"/>
            <a:ext cx="12192000" cy="188044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sp>
        <p:nvSpPr>
          <p:cNvPr id="11" name="Oval 10">
            <a:extLst>
              <a:ext uri="{FF2B5EF4-FFF2-40B4-BE49-F238E27FC236}">
                <a16:creationId xmlns:a16="http://schemas.microsoft.com/office/drawing/2014/main" id="{F51B4AAB-F0BC-4BA8-8711-B6E764DC67C4}"/>
              </a:ext>
            </a:extLst>
          </p:cNvPr>
          <p:cNvSpPr/>
          <p:nvPr userDrawn="1"/>
        </p:nvSpPr>
        <p:spPr>
          <a:xfrm>
            <a:off x="5466000" y="1233032"/>
            <a:ext cx="1260000" cy="126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2" name="Oval 9">
            <a:extLst>
              <a:ext uri="{FF2B5EF4-FFF2-40B4-BE49-F238E27FC236}">
                <a16:creationId xmlns:a16="http://schemas.microsoft.com/office/drawing/2014/main" id="{13FCA882-D6A7-47A0-8F53-222F73770C2C}"/>
              </a:ext>
            </a:extLst>
          </p:cNvPr>
          <p:cNvSpPr/>
          <p:nvPr userDrawn="1"/>
        </p:nvSpPr>
        <p:spPr>
          <a:xfrm>
            <a:off x="6714751" y="3743880"/>
            <a:ext cx="2520000" cy="252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3" name="Picture Placeholder 2">
            <a:extLst>
              <a:ext uri="{FF2B5EF4-FFF2-40B4-BE49-F238E27FC236}">
                <a16:creationId xmlns:a16="http://schemas.microsoft.com/office/drawing/2014/main" id="{9DB5361C-4E28-430F-9AB8-82C47DA59C59}"/>
              </a:ext>
            </a:extLst>
          </p:cNvPr>
          <p:cNvSpPr>
            <a:spLocks noGrp="1"/>
          </p:cNvSpPr>
          <p:nvPr>
            <p:ph type="pic" idx="10" hasCustomPrompt="1"/>
          </p:nvPr>
        </p:nvSpPr>
        <p:spPr>
          <a:xfrm>
            <a:off x="9745813" y="2221239"/>
            <a:ext cx="2446188" cy="2736814"/>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grpSp>
        <p:nvGrpSpPr>
          <p:cNvPr id="14" name="Group 20">
            <a:extLst>
              <a:ext uri="{FF2B5EF4-FFF2-40B4-BE49-F238E27FC236}">
                <a16:creationId xmlns:a16="http://schemas.microsoft.com/office/drawing/2014/main" id="{354EA4D5-D4EB-4CB5-9857-49FA2B15841F}"/>
              </a:ext>
            </a:extLst>
          </p:cNvPr>
          <p:cNvGrpSpPr/>
          <p:nvPr userDrawn="1"/>
        </p:nvGrpSpPr>
        <p:grpSpPr>
          <a:xfrm>
            <a:off x="7019112" y="2341950"/>
            <a:ext cx="1890758" cy="3323854"/>
            <a:chOff x="445712" y="1449040"/>
            <a:chExt cx="2113018" cy="3924176"/>
          </a:xfrm>
        </p:grpSpPr>
        <p:sp>
          <p:nvSpPr>
            <p:cNvPr id="15" name="Rounded Rectangle 21">
              <a:extLst>
                <a:ext uri="{FF2B5EF4-FFF2-40B4-BE49-F238E27FC236}">
                  <a16:creationId xmlns:a16="http://schemas.microsoft.com/office/drawing/2014/main" id="{FBFC0138-3DDC-4D23-9F01-896D4915E925}"/>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Rectangle 22">
              <a:extLst>
                <a:ext uri="{FF2B5EF4-FFF2-40B4-BE49-F238E27FC236}">
                  <a16:creationId xmlns:a16="http://schemas.microsoft.com/office/drawing/2014/main" id="{118890BA-E4FD-42D6-8AC7-1AC8FAC00592}"/>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17" name="Group 23">
              <a:extLst>
                <a:ext uri="{FF2B5EF4-FFF2-40B4-BE49-F238E27FC236}">
                  <a16:creationId xmlns:a16="http://schemas.microsoft.com/office/drawing/2014/main" id="{2E10FAE0-0A16-4D44-B561-8BFCCF53C81B}"/>
                </a:ext>
              </a:extLst>
            </p:cNvPr>
            <p:cNvGrpSpPr/>
            <p:nvPr userDrawn="1"/>
          </p:nvGrpSpPr>
          <p:grpSpPr>
            <a:xfrm>
              <a:off x="1407705" y="5045834"/>
              <a:ext cx="211967" cy="211967"/>
              <a:chOff x="1549420" y="5712364"/>
              <a:chExt cx="312583" cy="312583"/>
            </a:xfrm>
          </p:grpSpPr>
          <p:sp>
            <p:nvSpPr>
              <p:cNvPr id="18" name="Oval 24">
                <a:extLst>
                  <a:ext uri="{FF2B5EF4-FFF2-40B4-BE49-F238E27FC236}">
                    <a16:creationId xmlns:a16="http://schemas.microsoft.com/office/drawing/2014/main" id="{9AE4CF47-5EF3-4EA4-A009-ABF2A05D1F14}"/>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9" name="Rounded Rectangle 25">
                <a:extLst>
                  <a:ext uri="{FF2B5EF4-FFF2-40B4-BE49-F238E27FC236}">
                    <a16:creationId xmlns:a16="http://schemas.microsoft.com/office/drawing/2014/main" id="{6C8A489D-2846-49A9-B94F-3D588B4AB95C}"/>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20" name="Picture Placeholder 2">
            <a:extLst>
              <a:ext uri="{FF2B5EF4-FFF2-40B4-BE49-F238E27FC236}">
                <a16:creationId xmlns:a16="http://schemas.microsoft.com/office/drawing/2014/main" id="{35D9DFBD-E320-498F-B6AB-EDE7A3C3E4A3}"/>
              </a:ext>
            </a:extLst>
          </p:cNvPr>
          <p:cNvSpPr>
            <a:spLocks noGrp="1"/>
          </p:cNvSpPr>
          <p:nvPr>
            <p:ph type="pic" idx="11" hasCustomPrompt="1"/>
          </p:nvPr>
        </p:nvSpPr>
        <p:spPr>
          <a:xfrm>
            <a:off x="7145482" y="2668904"/>
            <a:ext cx="1624041" cy="2663428"/>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21" name="Text Placeholder 9">
            <a:extLst>
              <a:ext uri="{FF2B5EF4-FFF2-40B4-BE49-F238E27FC236}">
                <a16:creationId xmlns:a16="http://schemas.microsoft.com/office/drawing/2014/main" id="{4E77E7AC-8C78-442E-888C-75CA5F39664A}"/>
              </a:ext>
            </a:extLst>
          </p:cNvPr>
          <p:cNvSpPr>
            <a:spLocks noGrp="1"/>
          </p:cNvSpPr>
          <p:nvPr>
            <p:ph type="body" sz="quarter" idx="12" hasCustomPrompt="1"/>
          </p:nvPr>
        </p:nvSpPr>
        <p:spPr>
          <a:xfrm>
            <a:off x="323529" y="339509"/>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42695E7-0C1B-46BA-A458-9D37FBA5911A}"/>
              </a:ext>
            </a:extLst>
          </p:cNvPr>
          <p:cNvSpPr>
            <a:spLocks noGrp="1"/>
          </p:cNvSpPr>
          <p:nvPr>
            <p:ph type="pic" idx="10" hasCustomPrompt="1"/>
          </p:nvPr>
        </p:nvSpPr>
        <p:spPr>
          <a:xfrm>
            <a:off x="0" y="0"/>
            <a:ext cx="4032000"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3" name="Picture Placeholder 2">
            <a:extLst>
              <a:ext uri="{FF2B5EF4-FFF2-40B4-BE49-F238E27FC236}">
                <a16:creationId xmlns:a16="http://schemas.microsoft.com/office/drawing/2014/main" id="{2A4CA258-6152-46AF-8FC9-428779C9219B}"/>
              </a:ext>
            </a:extLst>
          </p:cNvPr>
          <p:cNvSpPr>
            <a:spLocks noGrp="1"/>
          </p:cNvSpPr>
          <p:nvPr>
            <p:ph type="pic" idx="11" hasCustomPrompt="1"/>
          </p:nvPr>
        </p:nvSpPr>
        <p:spPr>
          <a:xfrm>
            <a:off x="8160000" y="0"/>
            <a:ext cx="4032000"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6D7AFB-15B6-4481-A6C1-90C4E03582BF}"/>
              </a:ext>
            </a:extLst>
          </p:cNvPr>
          <p:cNvSpPr/>
          <p:nvPr userDrawn="1"/>
        </p:nvSpPr>
        <p:spPr>
          <a:xfrm>
            <a:off x="5781047" y="260648"/>
            <a:ext cx="5952661" cy="63367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3" name="Picture Placeholder 2">
            <a:extLst>
              <a:ext uri="{FF2B5EF4-FFF2-40B4-BE49-F238E27FC236}">
                <a16:creationId xmlns:a16="http://schemas.microsoft.com/office/drawing/2014/main" id="{A2D93165-E73B-49E2-8635-02E21C046FC9}"/>
              </a:ext>
            </a:extLst>
          </p:cNvPr>
          <p:cNvSpPr>
            <a:spLocks noGrp="1"/>
          </p:cNvSpPr>
          <p:nvPr>
            <p:ph type="pic" idx="14" hasCustomPrompt="1"/>
          </p:nvPr>
        </p:nvSpPr>
        <p:spPr>
          <a:xfrm>
            <a:off x="734769" y="1196752"/>
            <a:ext cx="10849205" cy="3456384"/>
          </a:xfrm>
          <a:prstGeom prst="rect">
            <a:avLst/>
          </a:prstGeom>
          <a:solidFill>
            <a:schemeClr val="bg1">
              <a:lumMod val="95000"/>
            </a:schemeClr>
          </a:solidFill>
          <a:ln w="19050">
            <a:solidFill>
              <a:schemeClr val="bg1">
                <a:lumMod val="65000"/>
              </a:schemeClr>
            </a:solidFill>
          </a:ln>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제목 1">
            <a:extLst>
              <a:ext uri="{FF2B5EF4-FFF2-40B4-BE49-F238E27FC236}">
                <a16:creationId xmlns:a16="http://schemas.microsoft.com/office/drawing/2014/main" id="{8F51187F-8B7D-4CCE-8CAB-89F352270EAC}"/>
              </a:ext>
            </a:extLst>
          </p:cNvPr>
          <p:cNvSpPr>
            <a:spLocks noGrp="1"/>
          </p:cNvSpPr>
          <p:nvPr>
            <p:ph type="title" hasCustomPrompt="1"/>
          </p:nvPr>
        </p:nvSpPr>
        <p:spPr>
          <a:xfrm>
            <a:off x="0" y="269852"/>
            <a:ext cx="12192000" cy="710877"/>
          </a:xfrm>
          <a:prstGeom prst="rect">
            <a:avLst/>
          </a:prstGeom>
        </p:spPr>
        <p:txBody>
          <a:bodyPr anchor="ctr">
            <a:noAutofit/>
          </a:bodyPr>
          <a:lstStyle>
            <a:lvl1pPr algn="ctr">
              <a:defRPr sz="4800" b="0" baseline="0">
                <a:solidFill>
                  <a:schemeClr val="tx1">
                    <a:lumMod val="75000"/>
                    <a:lumOff val="25000"/>
                  </a:schemeClr>
                </a:solidFill>
                <a:latin typeface="Arial" pitchFamily="34" charset="0"/>
                <a:cs typeface="Arial" pitchFamily="34" charset="0"/>
              </a:defRPr>
            </a:lvl1pPr>
          </a:lstStyle>
          <a:p>
            <a:r>
              <a:rPr lang="en-US" altLang="ko-KR" dirty="0"/>
              <a:t>IMAGES AND CONTENTS</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233BDCAA-2A7E-41A1-9D44-649A2432BF22}"/>
              </a:ext>
            </a:extLst>
          </p:cNvPr>
          <p:cNvSpPr>
            <a:spLocks noGrp="1"/>
          </p:cNvSpPr>
          <p:nvPr>
            <p:ph type="pic" idx="10" hasCustomPrompt="1"/>
          </p:nvPr>
        </p:nvSpPr>
        <p:spPr>
          <a:xfrm>
            <a:off x="4092000" y="545824"/>
            <a:ext cx="8100000" cy="2736000"/>
          </a:xfrm>
          <a:prstGeom prst="rect">
            <a:avLst/>
          </a:prstGeom>
          <a:solidFill>
            <a:schemeClr val="bg1">
              <a:lumMod val="95000"/>
            </a:schemeClr>
          </a:solidFill>
        </p:spPr>
        <p:txBody>
          <a:bodyPr anchor="ctr"/>
          <a:lstStyle>
            <a:lvl1pPr marL="0" indent="0" algn="ctr">
              <a:buNone/>
              <a:defRPr sz="1200" baseline="0">
                <a:effectLst/>
                <a:latin typeface="+mn-lt"/>
                <a:ea typeface="+mj-ea"/>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a:extLst>
              <a:ext uri="{FF2B5EF4-FFF2-40B4-BE49-F238E27FC236}">
                <a16:creationId xmlns:a16="http://schemas.microsoft.com/office/drawing/2014/main" id="{A9C2840B-D2DF-4F8C-B40B-85D0E23CC558}"/>
              </a:ext>
            </a:extLst>
          </p:cNvPr>
          <p:cNvSpPr>
            <a:spLocks noGrp="1"/>
          </p:cNvSpPr>
          <p:nvPr>
            <p:ph type="pic" idx="11" hasCustomPrompt="1"/>
          </p:nvPr>
        </p:nvSpPr>
        <p:spPr>
          <a:xfrm>
            <a:off x="0" y="3575404"/>
            <a:ext cx="8100000" cy="2736000"/>
          </a:xfrm>
          <a:prstGeom prst="rect">
            <a:avLst/>
          </a:prstGeom>
          <a:solidFill>
            <a:schemeClr val="bg1">
              <a:lumMod val="95000"/>
            </a:schemeClr>
          </a:solidFill>
        </p:spPr>
        <p:txBody>
          <a:bodyPr anchor="ctr"/>
          <a:lstStyle>
            <a:lvl1pPr marL="0" indent="0" algn="ctr">
              <a:buNone/>
              <a:defRPr sz="1200" baseline="0">
                <a:effectLst/>
                <a:latin typeface="+mn-lt"/>
                <a:ea typeface="+mj-ea"/>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2" name="Graphic 14">
            <a:extLst>
              <a:ext uri="{FF2B5EF4-FFF2-40B4-BE49-F238E27FC236}">
                <a16:creationId xmlns:a16="http://schemas.microsoft.com/office/drawing/2014/main" id="{E0178A45-E1F2-4219-82A5-06E071535503}"/>
              </a:ext>
            </a:extLst>
          </p:cNvPr>
          <p:cNvGrpSpPr/>
          <p:nvPr userDrawn="1"/>
        </p:nvGrpSpPr>
        <p:grpSpPr>
          <a:xfrm>
            <a:off x="637723" y="3059055"/>
            <a:ext cx="4156177" cy="3268904"/>
            <a:chOff x="2444748" y="555045"/>
            <a:chExt cx="7282048" cy="5727454"/>
          </a:xfrm>
        </p:grpSpPr>
        <p:sp>
          <p:nvSpPr>
            <p:cNvPr id="3" name="Freeform: Shape 2">
              <a:extLst>
                <a:ext uri="{FF2B5EF4-FFF2-40B4-BE49-F238E27FC236}">
                  <a16:creationId xmlns:a16="http://schemas.microsoft.com/office/drawing/2014/main" id="{85E309B5-D35D-4C95-A09A-4E2C8B12E33E}"/>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3A4C29C0-CEE1-45B8-A0C3-402E9D4A7CCC}"/>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5" name="Freeform: Shape 4">
              <a:extLst>
                <a:ext uri="{FF2B5EF4-FFF2-40B4-BE49-F238E27FC236}">
                  <a16:creationId xmlns:a16="http://schemas.microsoft.com/office/drawing/2014/main" id="{3DAF51F6-CAE6-497C-8F0E-AC4008FDE669}"/>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ADE4362C-E294-4C51-947C-C72C712BDF94}"/>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7848B4B1-766D-4432-9FDC-F940B1A061D7}"/>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B5855D06-FC93-4234-A8B0-C678B458F671}"/>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04C8F15-E1BE-4C55-9E32-90AE37C36470}"/>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BF5B835-A302-44A2-A60F-1F12E64F4EE3}"/>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1" name="그림 개체 틀 2">
            <a:extLst>
              <a:ext uri="{FF2B5EF4-FFF2-40B4-BE49-F238E27FC236}">
                <a16:creationId xmlns:a16="http://schemas.microsoft.com/office/drawing/2014/main" id="{E32D52F7-8EF1-4FD1-9F8E-0108B46380D2}"/>
              </a:ext>
            </a:extLst>
          </p:cNvPr>
          <p:cNvSpPr>
            <a:spLocks noGrp="1"/>
          </p:cNvSpPr>
          <p:nvPr>
            <p:ph type="pic" sz="quarter" idx="14" hasCustomPrompt="1"/>
          </p:nvPr>
        </p:nvSpPr>
        <p:spPr>
          <a:xfrm>
            <a:off x="0" y="1"/>
            <a:ext cx="12192000" cy="3884023"/>
          </a:xfrm>
          <a:custGeom>
            <a:avLst/>
            <a:gdLst>
              <a:gd name="connsiteX0" fmla="*/ 0 w 9144000"/>
              <a:gd name="connsiteY0" fmla="*/ 0 h 1556792"/>
              <a:gd name="connsiteX1" fmla="*/ 9144000 w 9144000"/>
              <a:gd name="connsiteY1" fmla="*/ 0 h 1556792"/>
              <a:gd name="connsiteX2" fmla="*/ 9144000 w 9144000"/>
              <a:gd name="connsiteY2" fmla="*/ 1556792 h 1556792"/>
              <a:gd name="connsiteX3" fmla="*/ 0 w 9144000"/>
              <a:gd name="connsiteY3" fmla="*/ 1556792 h 1556792"/>
              <a:gd name="connsiteX4" fmla="*/ 0 w 9144000"/>
              <a:gd name="connsiteY4" fmla="*/ 0 h 1556792"/>
              <a:gd name="connsiteX0" fmla="*/ 0 w 9144000"/>
              <a:gd name="connsiteY0" fmla="*/ 0 h 3176042"/>
              <a:gd name="connsiteX1" fmla="*/ 9144000 w 9144000"/>
              <a:gd name="connsiteY1" fmla="*/ 0 h 3176042"/>
              <a:gd name="connsiteX2" fmla="*/ 9144000 w 9144000"/>
              <a:gd name="connsiteY2" fmla="*/ 3176042 h 3176042"/>
              <a:gd name="connsiteX3" fmla="*/ 0 w 9144000"/>
              <a:gd name="connsiteY3" fmla="*/ 1556792 h 3176042"/>
              <a:gd name="connsiteX4" fmla="*/ 0 w 9144000"/>
              <a:gd name="connsiteY4" fmla="*/ 0 h 3176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3176042">
                <a:moveTo>
                  <a:pt x="0" y="0"/>
                </a:moveTo>
                <a:lnTo>
                  <a:pt x="9144000" y="0"/>
                </a:lnTo>
                <a:lnTo>
                  <a:pt x="9144000" y="3176042"/>
                </a:lnTo>
                <a:lnTo>
                  <a:pt x="0" y="1556792"/>
                </a:lnTo>
                <a:lnTo>
                  <a:pt x="0" y="0"/>
                </a:lnTo>
                <a:close/>
              </a:path>
            </a:pathLst>
          </a:cu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2" name="그림 개체 틀 2">
            <a:extLst>
              <a:ext uri="{FF2B5EF4-FFF2-40B4-BE49-F238E27FC236}">
                <a16:creationId xmlns:a16="http://schemas.microsoft.com/office/drawing/2014/main" id="{5CF05A6B-CDF0-4EC5-9C70-296EED51DE50}"/>
              </a:ext>
            </a:extLst>
          </p:cNvPr>
          <p:cNvSpPr>
            <a:spLocks noGrp="1"/>
          </p:cNvSpPr>
          <p:nvPr>
            <p:ph type="pic" sz="quarter" idx="42" hasCustomPrompt="1"/>
          </p:nvPr>
        </p:nvSpPr>
        <p:spPr>
          <a:xfrm>
            <a:off x="767538" y="3202164"/>
            <a:ext cx="3917673" cy="225145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23B867E3-38AB-4476-8632-34EDFC59DB87}"/>
              </a:ext>
            </a:extLst>
          </p:cNvPr>
          <p:cNvSpPr>
            <a:spLocks noGrp="1"/>
          </p:cNvSpPr>
          <p:nvPr>
            <p:ph type="pic" sz="quarter" idx="43" hasCustomPrompt="1"/>
          </p:nvPr>
        </p:nvSpPr>
        <p:spPr>
          <a:xfrm>
            <a:off x="6600622" y="1305993"/>
            <a:ext cx="4334608" cy="4335090"/>
          </a:xfrm>
          <a:prstGeom prst="ellipse">
            <a:avLst/>
          </a:prstGeom>
          <a:solidFill>
            <a:schemeClr val="bg1">
              <a:lumMod val="95000"/>
            </a:schemeClr>
          </a:solidFill>
        </p:spPr>
        <p:txBody>
          <a:bodyPr anchor="ctr"/>
          <a:lstStyle>
            <a:lvl1pPr marL="0" marR="0" indent="0" algn="ctr" defTabSz="914446" rtl="0" eaLnBrk="1" fontAlgn="auto" latinLnBrk="0"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3" name="Arc 2">
            <a:extLst>
              <a:ext uri="{FF2B5EF4-FFF2-40B4-BE49-F238E27FC236}">
                <a16:creationId xmlns:a16="http://schemas.microsoft.com/office/drawing/2014/main" id="{94A74E82-B34D-4C4B-B00A-63C2E0C1481F}"/>
              </a:ext>
            </a:extLst>
          </p:cNvPr>
          <p:cNvSpPr/>
          <p:nvPr userDrawn="1"/>
        </p:nvSpPr>
        <p:spPr>
          <a:xfrm>
            <a:off x="6320628" y="1026240"/>
            <a:ext cx="4894597" cy="4894597"/>
          </a:xfrm>
          <a:prstGeom prst="arc">
            <a:avLst>
              <a:gd name="adj1" fmla="val 12493243"/>
              <a:gd name="adj2" fmla="val 8891088"/>
            </a:avLst>
          </a:prstGeom>
          <a:ln w="25400">
            <a:solidFill>
              <a:schemeClr val="accent1"/>
            </a:solidFill>
            <a:headEnd type="none"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8" r:id="rId16"/>
    <p:sldLayoutId id="2147483687" r:id="rId17"/>
    <p:sldLayoutId id="2147483671" r:id="rId18"/>
    <p:sldLayoutId id="2147483672"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www.techtarget.com/searchcio/definition/stakeholder"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www.techtarget.com/searchcio/definition/project-scope"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hyperlink" Target="https://www.shrm.org/hr-today/trends-and-forecasting/research-and-surveys/PublishingImages/Pages/Entry-Level-Applicant-Job-Skills-Survey-/Entry-Level%20Applicant%20Job%20Skills%20Survey.pdf" TargetMode="Externa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hyperlink" Target="https://pm-training.net/project-risk-management/" TargetMode="Externa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3B4C724-0776-4328-8F0A-B72DA1579537}"/>
              </a:ext>
            </a:extLst>
          </p:cNvPr>
          <p:cNvSpPr txBox="1"/>
          <p:nvPr/>
        </p:nvSpPr>
        <p:spPr>
          <a:xfrm>
            <a:off x="749030" y="1805040"/>
            <a:ext cx="6993875" cy="461665"/>
          </a:xfrm>
          <a:prstGeom prst="rect">
            <a:avLst/>
          </a:prstGeom>
          <a:noFill/>
        </p:spPr>
        <p:txBody>
          <a:bodyPr wrap="square" rtlCol="0" anchor="ctr">
            <a:spAutoFit/>
          </a:bodyPr>
          <a:lstStyle/>
          <a:p>
            <a:r>
              <a:rPr lang="en-US" sz="2400" b="1" dirty="0">
                <a:solidFill>
                  <a:srgbClr val="FFFF00"/>
                </a:solidFill>
                <a:latin typeface="+mj-lt"/>
              </a:rPr>
              <a:t>Course Code:</a:t>
            </a:r>
            <a:r>
              <a:rPr lang="en-US" sz="2400" dirty="0">
                <a:solidFill>
                  <a:schemeClr val="bg1"/>
                </a:solidFill>
                <a:latin typeface="+mj-lt"/>
              </a:rPr>
              <a:t> IT 22</a:t>
            </a:r>
          </a:p>
        </p:txBody>
      </p:sp>
      <p:sp>
        <p:nvSpPr>
          <p:cNvPr id="4" name="TextBox 3">
            <a:extLst>
              <a:ext uri="{FF2B5EF4-FFF2-40B4-BE49-F238E27FC236}">
                <a16:creationId xmlns:a16="http://schemas.microsoft.com/office/drawing/2014/main" id="{15EF84F3-8631-1827-3F90-5F74D25F837A}"/>
              </a:ext>
            </a:extLst>
          </p:cNvPr>
          <p:cNvSpPr txBox="1"/>
          <p:nvPr/>
        </p:nvSpPr>
        <p:spPr>
          <a:xfrm>
            <a:off x="749030" y="2344526"/>
            <a:ext cx="6245157" cy="1754326"/>
          </a:xfrm>
          <a:prstGeom prst="rect">
            <a:avLst/>
          </a:prstGeom>
          <a:noFill/>
        </p:spPr>
        <p:txBody>
          <a:bodyPr wrap="square">
            <a:spAutoFit/>
          </a:bodyPr>
          <a:lstStyle/>
          <a:p>
            <a:r>
              <a:rPr lang="en-US" altLang="ko-KR" sz="5400" dirty="0">
                <a:solidFill>
                  <a:schemeClr val="bg1"/>
                </a:solidFill>
                <a:latin typeface="+mj-lt"/>
                <a:cs typeface="Arial" pitchFamily="34" charset="0"/>
              </a:rPr>
              <a:t>Software Project Management</a:t>
            </a:r>
          </a:p>
        </p:txBody>
      </p:sp>
    </p:spTree>
    <p:extLst>
      <p:ext uri="{BB962C8B-B14F-4D97-AF65-F5344CB8AC3E}">
        <p14:creationId xmlns:p14="http://schemas.microsoft.com/office/powerpoint/2010/main" val="2581868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37CAE5-A935-7C13-4879-BC73BFCD71DA}"/>
              </a:ext>
            </a:extLst>
          </p:cNvPr>
          <p:cNvPicPr>
            <a:picLocks noChangeAspect="1"/>
          </p:cNvPicPr>
          <p:nvPr/>
        </p:nvPicPr>
        <p:blipFill rotWithShape="1">
          <a:blip r:embed="rId2"/>
          <a:srcRect l="6935" t="43154" r="22985" b="38494"/>
          <a:stretch/>
        </p:blipFill>
        <p:spPr>
          <a:xfrm>
            <a:off x="725240" y="2042810"/>
            <a:ext cx="11377587" cy="1937094"/>
          </a:xfrm>
          <a:prstGeom prst="rect">
            <a:avLst/>
          </a:prstGeom>
        </p:spPr>
      </p:pic>
      <p:sp>
        <p:nvSpPr>
          <p:cNvPr id="8" name="TextBox 7">
            <a:extLst>
              <a:ext uri="{FF2B5EF4-FFF2-40B4-BE49-F238E27FC236}">
                <a16:creationId xmlns:a16="http://schemas.microsoft.com/office/drawing/2014/main" id="{B9620BFF-75B9-4DC8-E6B1-12CE93890351}"/>
              </a:ext>
            </a:extLst>
          </p:cNvPr>
          <p:cNvSpPr txBox="1"/>
          <p:nvPr/>
        </p:nvSpPr>
        <p:spPr>
          <a:xfrm>
            <a:off x="0" y="908899"/>
            <a:ext cx="2645923" cy="400110"/>
          </a:xfrm>
          <a:prstGeom prst="rect">
            <a:avLst/>
          </a:prstGeom>
          <a:solidFill>
            <a:srgbClr val="00B0F0"/>
          </a:solidFill>
        </p:spPr>
        <p:txBody>
          <a:bodyPr wrap="square" rtlCol="0">
            <a:spAutoFit/>
          </a:bodyPr>
          <a:lstStyle/>
          <a:p>
            <a:r>
              <a:rPr lang="en-IN" sz="2000" b="1" dirty="0">
                <a:solidFill>
                  <a:schemeClr val="bg1"/>
                </a:solidFill>
              </a:rPr>
              <a:t>Marks Distribution:</a:t>
            </a:r>
          </a:p>
        </p:txBody>
      </p:sp>
    </p:spTree>
    <p:extLst>
      <p:ext uri="{BB962C8B-B14F-4D97-AF65-F5344CB8AC3E}">
        <p14:creationId xmlns:p14="http://schemas.microsoft.com/office/powerpoint/2010/main" val="409716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9620BFF-75B9-4DC8-E6B1-12CE93890351}"/>
              </a:ext>
            </a:extLst>
          </p:cNvPr>
          <p:cNvSpPr txBox="1"/>
          <p:nvPr/>
        </p:nvSpPr>
        <p:spPr>
          <a:xfrm>
            <a:off x="0" y="908899"/>
            <a:ext cx="2645923" cy="400110"/>
          </a:xfrm>
          <a:prstGeom prst="rect">
            <a:avLst/>
          </a:prstGeom>
          <a:solidFill>
            <a:srgbClr val="00B0F0"/>
          </a:solidFill>
        </p:spPr>
        <p:txBody>
          <a:bodyPr wrap="square" rtlCol="0">
            <a:spAutoFit/>
          </a:bodyPr>
          <a:lstStyle/>
          <a:p>
            <a:r>
              <a:rPr lang="en-IN" sz="2000" b="1" dirty="0">
                <a:solidFill>
                  <a:schemeClr val="bg1"/>
                </a:solidFill>
              </a:rPr>
              <a:t>Course Objectives:</a:t>
            </a:r>
          </a:p>
        </p:txBody>
      </p:sp>
      <p:sp>
        <p:nvSpPr>
          <p:cNvPr id="3" name="TextBox 2">
            <a:extLst>
              <a:ext uri="{FF2B5EF4-FFF2-40B4-BE49-F238E27FC236}">
                <a16:creationId xmlns:a16="http://schemas.microsoft.com/office/drawing/2014/main" id="{7D8CB6DE-A608-66A3-80A1-0A68DDF38D90}"/>
              </a:ext>
            </a:extLst>
          </p:cNvPr>
          <p:cNvSpPr txBox="1"/>
          <p:nvPr/>
        </p:nvSpPr>
        <p:spPr>
          <a:xfrm>
            <a:off x="1322961" y="1484107"/>
            <a:ext cx="8480087" cy="3679854"/>
          </a:xfrm>
          <a:prstGeom prst="rect">
            <a:avLst/>
          </a:prstGeom>
          <a:noFill/>
        </p:spPr>
        <p:txBody>
          <a:bodyPr wrap="square">
            <a:spAutoFit/>
          </a:bodyPr>
          <a:lstStyle/>
          <a:p>
            <a:pPr algn="l">
              <a:lnSpc>
                <a:spcPct val="200000"/>
              </a:lnSpc>
            </a:pPr>
            <a:r>
              <a:rPr lang="en-US" sz="2400" b="0" i="0" u="none" strike="noStrike" baseline="0" dirty="0">
                <a:latin typeface="Calibri" panose="020F0502020204030204" pitchFamily="34" charset="0"/>
              </a:rPr>
              <a:t>1. To learn process of Software Project Management.</a:t>
            </a:r>
          </a:p>
          <a:p>
            <a:pPr algn="l">
              <a:lnSpc>
                <a:spcPct val="200000"/>
              </a:lnSpc>
            </a:pPr>
            <a:r>
              <a:rPr lang="en-US" sz="2400" b="0" i="0" u="none" strike="noStrike" baseline="0" dirty="0">
                <a:latin typeface="Calibri" panose="020F0502020204030204" pitchFamily="34" charset="0"/>
              </a:rPr>
              <a:t>2. To Study role of Project Manager in Project Management.</a:t>
            </a:r>
          </a:p>
          <a:p>
            <a:pPr algn="l">
              <a:lnSpc>
                <a:spcPct val="200000"/>
              </a:lnSpc>
            </a:pPr>
            <a:r>
              <a:rPr lang="en-US" sz="2400" b="0" i="0" u="none" strike="noStrike" baseline="0" dirty="0">
                <a:latin typeface="Calibri" panose="020F0502020204030204" pitchFamily="34" charset="0"/>
              </a:rPr>
              <a:t>3. To learn Agile Project Management Framework.</a:t>
            </a:r>
          </a:p>
          <a:p>
            <a:pPr algn="l">
              <a:lnSpc>
                <a:spcPct val="200000"/>
              </a:lnSpc>
            </a:pPr>
            <a:r>
              <a:rPr lang="en-US" sz="2400" b="0" i="0" u="none" strike="noStrike" baseline="0" dirty="0">
                <a:latin typeface="Calibri" panose="020F0502020204030204" pitchFamily="34" charset="0"/>
              </a:rPr>
              <a:t>4. To study various role of Agile Team and Tools.</a:t>
            </a:r>
          </a:p>
          <a:p>
            <a:pPr algn="l">
              <a:lnSpc>
                <a:spcPct val="200000"/>
              </a:lnSpc>
            </a:pPr>
            <a:r>
              <a:rPr lang="en-US" sz="2400" b="0" i="0" u="none" strike="noStrike" baseline="0" dirty="0">
                <a:latin typeface="Calibri" panose="020F0502020204030204" pitchFamily="34" charset="0"/>
              </a:rPr>
              <a:t>5. To understand project planning and tracking.</a:t>
            </a:r>
            <a:endParaRPr lang="en-IN" sz="2400" dirty="0"/>
          </a:p>
        </p:txBody>
      </p:sp>
    </p:spTree>
    <p:extLst>
      <p:ext uri="{BB962C8B-B14F-4D97-AF65-F5344CB8AC3E}">
        <p14:creationId xmlns:p14="http://schemas.microsoft.com/office/powerpoint/2010/main" val="2496585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AD4E75-7D72-8E7C-9334-2D5CD3F2F7A8}"/>
              </a:ext>
            </a:extLst>
          </p:cNvPr>
          <p:cNvSpPr txBox="1"/>
          <p:nvPr/>
        </p:nvSpPr>
        <p:spPr>
          <a:xfrm>
            <a:off x="576362" y="1497176"/>
            <a:ext cx="11526465" cy="5157181"/>
          </a:xfrm>
          <a:prstGeom prst="rect">
            <a:avLst/>
          </a:prstGeom>
          <a:noFill/>
        </p:spPr>
        <p:txBody>
          <a:bodyPr wrap="square">
            <a:spAutoFit/>
          </a:bodyPr>
          <a:lstStyle/>
          <a:p>
            <a:pPr marL="342900" indent="-342900">
              <a:lnSpc>
                <a:spcPct val="200000"/>
              </a:lnSpc>
              <a:buAutoNum type="arabicPeriod"/>
            </a:pPr>
            <a:r>
              <a:rPr lang="en-US" sz="2400" i="0" u="none" strike="noStrike" baseline="0" dirty="0">
                <a:latin typeface="Calibri" panose="020F0502020204030204" pitchFamily="34" charset="0"/>
              </a:rPr>
              <a:t>Linear Project Management Framework</a:t>
            </a:r>
          </a:p>
          <a:p>
            <a:pPr marL="342900" indent="-342900">
              <a:lnSpc>
                <a:spcPct val="200000"/>
              </a:lnSpc>
              <a:buAutoNum type="arabicPeriod"/>
            </a:pPr>
            <a:r>
              <a:rPr lang="en-US" sz="2400" i="0" u="none" strike="noStrike" baseline="0" dirty="0">
                <a:latin typeface="Calibri,Bold"/>
              </a:rPr>
              <a:t>Linear Software Project Estimation</a:t>
            </a:r>
            <a:endParaRPr lang="en-US" sz="2400" dirty="0">
              <a:latin typeface="Calibri" panose="020F0502020204030204" pitchFamily="34" charset="0"/>
            </a:endParaRPr>
          </a:p>
          <a:p>
            <a:pPr marL="342900" indent="-342900">
              <a:lnSpc>
                <a:spcPct val="200000"/>
              </a:lnSpc>
              <a:buAutoNum type="arabicPeriod"/>
            </a:pPr>
            <a:r>
              <a:rPr lang="en-IN" sz="2400" i="0" u="none" strike="noStrike" baseline="0" dirty="0">
                <a:latin typeface="Calibri,Bold"/>
              </a:rPr>
              <a:t>Agile Project Management Framework (</a:t>
            </a:r>
            <a:r>
              <a:rPr lang="en-IN" sz="2400" b="0" i="0" dirty="0">
                <a:solidFill>
                  <a:srgbClr val="7366E9"/>
                </a:solidFill>
                <a:effectLst/>
                <a:latin typeface="aktiv-grotesk"/>
              </a:rPr>
              <a:t>Sprint planning - </a:t>
            </a:r>
            <a:r>
              <a:rPr lang="en-US" sz="2400" b="0" i="0" dirty="0">
                <a:solidFill>
                  <a:srgbClr val="161618"/>
                </a:solidFill>
                <a:effectLst/>
                <a:latin typeface="aktiv-grotesk"/>
              </a:rPr>
              <a:t>three coding tasks, two testing tasks, and one documentation , Advantages, Disadvantage)</a:t>
            </a:r>
            <a:endParaRPr lang="en-IN" sz="2400" i="0" u="none" strike="noStrike" baseline="0" dirty="0">
              <a:latin typeface="Calibri,Bold"/>
            </a:endParaRPr>
          </a:p>
          <a:p>
            <a:pPr marL="342900" indent="-342900">
              <a:lnSpc>
                <a:spcPct val="200000"/>
              </a:lnSpc>
              <a:buAutoNum type="arabicPeriod"/>
            </a:pPr>
            <a:r>
              <a:rPr lang="en-US" sz="2400" i="0" u="none" strike="noStrike" baseline="0" dirty="0">
                <a:latin typeface="Calibri,Bold"/>
              </a:rPr>
              <a:t>Agile Teams, Size and Schedule</a:t>
            </a:r>
          </a:p>
          <a:p>
            <a:pPr marL="342900" indent="-342900">
              <a:lnSpc>
                <a:spcPct val="200000"/>
              </a:lnSpc>
              <a:buAutoNum type="arabicPeriod"/>
            </a:pPr>
            <a:r>
              <a:rPr lang="en-US" sz="2400" i="0" u="none" strike="noStrike" baseline="0" dirty="0">
                <a:latin typeface="Calibri,Bold"/>
              </a:rPr>
              <a:t>Tracking Agile Project and Reports</a:t>
            </a:r>
            <a:endParaRPr lang="en-IN" sz="2400" dirty="0">
              <a:latin typeface="Calibri,Bold"/>
            </a:endParaRPr>
          </a:p>
          <a:p>
            <a:pPr marL="342900" indent="-342900">
              <a:lnSpc>
                <a:spcPct val="200000"/>
              </a:lnSpc>
              <a:buAutoNum type="arabicPeriod"/>
            </a:pPr>
            <a:r>
              <a:rPr lang="en-IN" sz="2400" i="0" u="none" strike="noStrike" baseline="0" dirty="0">
                <a:latin typeface="Calibri,Bold"/>
              </a:rPr>
              <a:t>Implementation with Agile Tools</a:t>
            </a:r>
            <a:endParaRPr lang="en-IN" sz="2400" dirty="0"/>
          </a:p>
        </p:txBody>
      </p:sp>
      <p:sp>
        <p:nvSpPr>
          <p:cNvPr id="4" name="TextBox 3">
            <a:extLst>
              <a:ext uri="{FF2B5EF4-FFF2-40B4-BE49-F238E27FC236}">
                <a16:creationId xmlns:a16="http://schemas.microsoft.com/office/drawing/2014/main" id="{6B2E0BE6-EB23-A3DC-EAAE-5C5A0C5A17A0}"/>
              </a:ext>
            </a:extLst>
          </p:cNvPr>
          <p:cNvSpPr txBox="1"/>
          <p:nvPr/>
        </p:nvSpPr>
        <p:spPr>
          <a:xfrm>
            <a:off x="1" y="891988"/>
            <a:ext cx="3015574" cy="400110"/>
          </a:xfrm>
          <a:prstGeom prst="rect">
            <a:avLst/>
          </a:prstGeom>
          <a:solidFill>
            <a:srgbClr val="00B0F0"/>
          </a:solidFill>
        </p:spPr>
        <p:txBody>
          <a:bodyPr wrap="square" rtlCol="0">
            <a:spAutoFit/>
          </a:bodyPr>
          <a:lstStyle/>
          <a:p>
            <a:r>
              <a:rPr lang="en-IN" sz="2000" b="1" dirty="0">
                <a:solidFill>
                  <a:schemeClr val="bg1"/>
                </a:solidFill>
              </a:rPr>
              <a:t>Topics to be covered:</a:t>
            </a:r>
          </a:p>
        </p:txBody>
      </p:sp>
    </p:spTree>
    <p:extLst>
      <p:ext uri="{BB962C8B-B14F-4D97-AF65-F5344CB8AC3E}">
        <p14:creationId xmlns:p14="http://schemas.microsoft.com/office/powerpoint/2010/main" val="659238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8426112" y="2733654"/>
            <a:ext cx="2719767" cy="923330"/>
          </a:xfrm>
          <a:prstGeom prst="rect">
            <a:avLst/>
          </a:prstGeom>
          <a:noFill/>
        </p:spPr>
        <p:txBody>
          <a:bodyPr wrap="square" rtlCol="0" anchor="ctr">
            <a:spAutoFit/>
          </a:bodyPr>
          <a:lstStyle/>
          <a:p>
            <a:pPr algn="r"/>
            <a:r>
              <a:rPr lang="en-US" altLang="ko-KR" sz="5400" dirty="0">
                <a:cs typeface="Arial" pitchFamily="34" charset="0"/>
              </a:rPr>
              <a:t>Topics</a:t>
            </a:r>
            <a:endParaRPr lang="ko-KR" altLang="en-US" sz="5400" dirty="0">
              <a:cs typeface="Arial" pitchFamily="34" charset="0"/>
            </a:endParaRPr>
          </a:p>
        </p:txBody>
      </p:sp>
      <p:grpSp>
        <p:nvGrpSpPr>
          <p:cNvPr id="5" name="Group 4">
            <a:extLst>
              <a:ext uri="{FF2B5EF4-FFF2-40B4-BE49-F238E27FC236}">
                <a16:creationId xmlns:a16="http://schemas.microsoft.com/office/drawing/2014/main" id="{17C092FA-D178-4441-94AF-863F91E5D912}"/>
              </a:ext>
            </a:extLst>
          </p:cNvPr>
          <p:cNvGrpSpPr/>
          <p:nvPr/>
        </p:nvGrpSpPr>
        <p:grpSpPr>
          <a:xfrm>
            <a:off x="820438" y="218299"/>
            <a:ext cx="5725848" cy="813495"/>
            <a:chOff x="5511873" y="994406"/>
            <a:chExt cx="5725848" cy="813495"/>
          </a:xfrm>
        </p:grpSpPr>
        <p:sp>
          <p:nvSpPr>
            <p:cNvPr id="7" name="Oval 6">
              <a:extLst>
                <a:ext uri="{FF2B5EF4-FFF2-40B4-BE49-F238E27FC236}">
                  <a16:creationId xmlns:a16="http://schemas.microsoft.com/office/drawing/2014/main" id="{A69585AF-56CD-4D2C-81A5-0845A599F70D}"/>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TextBox 10">
              <a:extLst>
                <a:ext uri="{FF2B5EF4-FFF2-40B4-BE49-F238E27FC236}">
                  <a16:creationId xmlns:a16="http://schemas.microsoft.com/office/drawing/2014/main" id="{165B8408-DF83-4102-9CE6-165CC54D8F30}"/>
                </a:ext>
              </a:extLst>
            </p:cNvPr>
            <p:cNvSpPr txBox="1"/>
            <p:nvPr/>
          </p:nvSpPr>
          <p:spPr>
            <a:xfrm>
              <a:off x="6575881" y="1212240"/>
              <a:ext cx="4661840" cy="369332"/>
            </a:xfrm>
            <a:prstGeom prst="rect">
              <a:avLst/>
            </a:prstGeom>
            <a:noFill/>
          </p:spPr>
          <p:txBody>
            <a:bodyPr wrap="square" lIns="108000" rIns="108000" rtlCol="0" anchor="ctr">
              <a:spAutoFit/>
            </a:bodyPr>
            <a:lstStyle/>
            <a:p>
              <a:r>
                <a:rPr lang="en-US" altLang="ko-KR" b="1" dirty="0">
                  <a:solidFill>
                    <a:schemeClr val="bg1"/>
                  </a:solidFill>
                  <a:cs typeface="Arial" pitchFamily="34" charset="0"/>
                </a:rPr>
                <a:t>Overview of Project Management</a:t>
              </a:r>
              <a:endParaRPr lang="ko-KR" altLang="en-US" b="1" dirty="0">
                <a:solidFill>
                  <a:schemeClr val="bg1"/>
                </a:solidFill>
                <a:cs typeface="Arial" pitchFamily="34" charset="0"/>
              </a:endParaRPr>
            </a:p>
          </p:txBody>
        </p:sp>
        <p:sp>
          <p:nvSpPr>
            <p:cNvPr id="9" name="TextBox 8">
              <a:extLst>
                <a:ext uri="{FF2B5EF4-FFF2-40B4-BE49-F238E27FC236}">
                  <a16:creationId xmlns:a16="http://schemas.microsoft.com/office/drawing/2014/main" id="{7AAA6D9E-C75A-4D81-8EAD-A847114B8528}"/>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01</a:t>
              </a:r>
              <a:endParaRPr lang="ko-KR" altLang="en-US" sz="3600" b="1" dirty="0">
                <a:solidFill>
                  <a:schemeClr val="bg1"/>
                </a:solidFill>
                <a:cs typeface="Arial" pitchFamily="34" charset="0"/>
              </a:endParaRPr>
            </a:p>
          </p:txBody>
        </p:sp>
      </p:grpSp>
      <p:grpSp>
        <p:nvGrpSpPr>
          <p:cNvPr id="12" name="Group 11">
            <a:extLst>
              <a:ext uri="{FF2B5EF4-FFF2-40B4-BE49-F238E27FC236}">
                <a16:creationId xmlns:a16="http://schemas.microsoft.com/office/drawing/2014/main" id="{FD49D2C0-5951-4E76-AE78-FEBD174179B9}"/>
              </a:ext>
            </a:extLst>
          </p:cNvPr>
          <p:cNvGrpSpPr/>
          <p:nvPr/>
        </p:nvGrpSpPr>
        <p:grpSpPr>
          <a:xfrm>
            <a:off x="817194" y="1420644"/>
            <a:ext cx="5725848" cy="813495"/>
            <a:chOff x="5511873" y="994406"/>
            <a:chExt cx="5725848" cy="813495"/>
          </a:xfrm>
        </p:grpSpPr>
        <p:sp>
          <p:nvSpPr>
            <p:cNvPr id="14" name="Oval 13">
              <a:extLst>
                <a:ext uri="{FF2B5EF4-FFF2-40B4-BE49-F238E27FC236}">
                  <a16:creationId xmlns:a16="http://schemas.microsoft.com/office/drawing/2014/main" id="{B3B07BD2-F092-4366-9E18-05201737AD7F}"/>
                </a:ext>
              </a:extLst>
            </p:cNvPr>
            <p:cNvSpPr/>
            <p:nvPr/>
          </p:nvSpPr>
          <p:spPr>
            <a:xfrm>
              <a:off x="5595679" y="994406"/>
              <a:ext cx="813495" cy="8134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TextBox 17">
              <a:extLst>
                <a:ext uri="{FF2B5EF4-FFF2-40B4-BE49-F238E27FC236}">
                  <a16:creationId xmlns:a16="http://schemas.microsoft.com/office/drawing/2014/main" id="{0BA65369-09F1-438D-BA4F-EB6DB36C23ED}"/>
                </a:ext>
              </a:extLst>
            </p:cNvPr>
            <p:cNvSpPr txBox="1"/>
            <p:nvPr/>
          </p:nvSpPr>
          <p:spPr>
            <a:xfrm>
              <a:off x="6575881" y="1179233"/>
              <a:ext cx="4661840" cy="369332"/>
            </a:xfrm>
            <a:prstGeom prst="rect">
              <a:avLst/>
            </a:prstGeom>
            <a:noFill/>
          </p:spPr>
          <p:txBody>
            <a:bodyPr wrap="square" lIns="108000" rIns="108000" rtlCol="0" anchor="ctr">
              <a:spAutoFit/>
            </a:bodyPr>
            <a:lstStyle/>
            <a:p>
              <a:r>
                <a:rPr lang="en-US" altLang="ko-KR" b="1" dirty="0">
                  <a:solidFill>
                    <a:schemeClr val="bg1"/>
                  </a:solidFill>
                  <a:cs typeface="Arial" pitchFamily="34" charset="0"/>
                </a:rPr>
                <a:t>Project Management Life Cycle</a:t>
              </a:r>
              <a:endParaRPr lang="ko-KR" altLang="en-US" b="1" dirty="0">
                <a:solidFill>
                  <a:schemeClr val="bg1"/>
                </a:solidFill>
                <a:cs typeface="Arial" pitchFamily="34" charset="0"/>
              </a:endParaRPr>
            </a:p>
          </p:txBody>
        </p:sp>
        <p:sp>
          <p:nvSpPr>
            <p:cNvPr id="16" name="TextBox 15">
              <a:extLst>
                <a:ext uri="{FF2B5EF4-FFF2-40B4-BE49-F238E27FC236}">
                  <a16:creationId xmlns:a16="http://schemas.microsoft.com/office/drawing/2014/main" id="{E47AA6F6-09CD-4C59-86C0-A96973D2185A}"/>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grpSp>
        <p:nvGrpSpPr>
          <p:cNvPr id="19" name="Group 18">
            <a:extLst>
              <a:ext uri="{FF2B5EF4-FFF2-40B4-BE49-F238E27FC236}">
                <a16:creationId xmlns:a16="http://schemas.microsoft.com/office/drawing/2014/main" id="{724DF2F2-F6FA-4A1B-9581-10F070613814}"/>
              </a:ext>
            </a:extLst>
          </p:cNvPr>
          <p:cNvGrpSpPr/>
          <p:nvPr/>
        </p:nvGrpSpPr>
        <p:grpSpPr>
          <a:xfrm>
            <a:off x="820438" y="2617880"/>
            <a:ext cx="5725848" cy="813495"/>
            <a:chOff x="5511873" y="994406"/>
            <a:chExt cx="5725848" cy="813495"/>
          </a:xfrm>
        </p:grpSpPr>
        <p:sp>
          <p:nvSpPr>
            <p:cNvPr id="21" name="Oval 20">
              <a:extLst>
                <a:ext uri="{FF2B5EF4-FFF2-40B4-BE49-F238E27FC236}">
                  <a16:creationId xmlns:a16="http://schemas.microsoft.com/office/drawing/2014/main" id="{039D01F5-D1E6-410C-AFB4-BCFE46173AC9}"/>
                </a:ext>
              </a:extLst>
            </p:cNvPr>
            <p:cNvSpPr/>
            <p:nvPr/>
          </p:nvSpPr>
          <p:spPr>
            <a:xfrm>
              <a:off x="5595679" y="994406"/>
              <a:ext cx="813495" cy="8134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TextBox 24">
              <a:extLst>
                <a:ext uri="{FF2B5EF4-FFF2-40B4-BE49-F238E27FC236}">
                  <a16:creationId xmlns:a16="http://schemas.microsoft.com/office/drawing/2014/main" id="{83F348DA-2905-40BE-BD83-B536C04DE678}"/>
                </a:ext>
              </a:extLst>
            </p:cNvPr>
            <p:cNvSpPr txBox="1"/>
            <p:nvPr/>
          </p:nvSpPr>
          <p:spPr>
            <a:xfrm>
              <a:off x="6575881" y="1202513"/>
              <a:ext cx="4661840" cy="369332"/>
            </a:xfrm>
            <a:prstGeom prst="rect">
              <a:avLst/>
            </a:prstGeom>
            <a:noFill/>
          </p:spPr>
          <p:txBody>
            <a:bodyPr wrap="square" lIns="108000" rIns="108000" rtlCol="0" anchor="ctr">
              <a:spAutoFit/>
            </a:bodyPr>
            <a:lstStyle/>
            <a:p>
              <a:r>
                <a:rPr lang="en-US" altLang="ko-KR" b="1" dirty="0">
                  <a:solidFill>
                    <a:schemeClr val="bg1"/>
                  </a:solidFill>
                  <a:cs typeface="Arial" pitchFamily="34" charset="0"/>
                </a:rPr>
                <a:t>Project Management Process</a:t>
              </a:r>
              <a:endParaRPr lang="ko-KR" altLang="en-US" b="1" dirty="0">
                <a:solidFill>
                  <a:schemeClr val="bg1"/>
                </a:solidFill>
                <a:cs typeface="Arial" pitchFamily="34" charset="0"/>
              </a:endParaRPr>
            </a:p>
          </p:txBody>
        </p:sp>
        <p:sp>
          <p:nvSpPr>
            <p:cNvPr id="23" name="TextBox 22">
              <a:extLst>
                <a:ext uri="{FF2B5EF4-FFF2-40B4-BE49-F238E27FC236}">
                  <a16:creationId xmlns:a16="http://schemas.microsoft.com/office/drawing/2014/main" id="{8DEF2864-50F1-4B9C-BFFD-B4F94CC5EAE5}"/>
                </a:ext>
              </a:extLst>
            </p:cNvPr>
            <p:cNvSpPr txBox="1"/>
            <p:nvPr/>
          </p:nvSpPr>
          <p:spPr>
            <a:xfrm>
              <a:off x="5511873" y="1077988"/>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grpSp>
        <p:nvGrpSpPr>
          <p:cNvPr id="26" name="Group 25">
            <a:extLst>
              <a:ext uri="{FF2B5EF4-FFF2-40B4-BE49-F238E27FC236}">
                <a16:creationId xmlns:a16="http://schemas.microsoft.com/office/drawing/2014/main" id="{88398774-F9B7-4311-A387-F603766698E5}"/>
              </a:ext>
            </a:extLst>
          </p:cNvPr>
          <p:cNvGrpSpPr/>
          <p:nvPr/>
        </p:nvGrpSpPr>
        <p:grpSpPr>
          <a:xfrm>
            <a:off x="820438" y="3893682"/>
            <a:ext cx="5725848" cy="813495"/>
            <a:chOff x="5511873" y="994406"/>
            <a:chExt cx="5725848" cy="813495"/>
          </a:xfrm>
        </p:grpSpPr>
        <p:sp>
          <p:nvSpPr>
            <p:cNvPr id="28" name="Oval 27">
              <a:extLst>
                <a:ext uri="{FF2B5EF4-FFF2-40B4-BE49-F238E27FC236}">
                  <a16:creationId xmlns:a16="http://schemas.microsoft.com/office/drawing/2014/main" id="{42E575C3-5541-406A-AAE7-306C1BBAC6FA}"/>
                </a:ext>
              </a:extLst>
            </p:cNvPr>
            <p:cNvSpPr/>
            <p:nvPr/>
          </p:nvSpPr>
          <p:spPr>
            <a:xfrm>
              <a:off x="5595679" y="994406"/>
              <a:ext cx="813495" cy="8134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 name="TextBox 31">
              <a:extLst>
                <a:ext uri="{FF2B5EF4-FFF2-40B4-BE49-F238E27FC236}">
                  <a16:creationId xmlns:a16="http://schemas.microsoft.com/office/drawing/2014/main" id="{BB9EE704-D571-4F52-BB80-F58D2EAE0D7A}"/>
                </a:ext>
              </a:extLst>
            </p:cNvPr>
            <p:cNvSpPr txBox="1"/>
            <p:nvPr/>
          </p:nvSpPr>
          <p:spPr>
            <a:xfrm>
              <a:off x="6575881" y="1212241"/>
              <a:ext cx="4661840" cy="369332"/>
            </a:xfrm>
            <a:prstGeom prst="rect">
              <a:avLst/>
            </a:prstGeom>
            <a:noFill/>
          </p:spPr>
          <p:txBody>
            <a:bodyPr wrap="square" lIns="108000" rIns="108000" rtlCol="0" anchor="ctr">
              <a:spAutoFit/>
            </a:bodyPr>
            <a:lstStyle/>
            <a:p>
              <a:r>
                <a:rPr lang="en-US" altLang="ko-KR" b="1" dirty="0">
                  <a:solidFill>
                    <a:schemeClr val="bg1"/>
                  </a:solidFill>
                  <a:cs typeface="Arial" pitchFamily="34" charset="0"/>
                </a:rPr>
                <a:t>Role of Project Manager</a:t>
              </a:r>
              <a:endParaRPr lang="ko-KR" altLang="en-US" b="1" dirty="0">
                <a:solidFill>
                  <a:schemeClr val="bg1"/>
                </a:solidFill>
                <a:cs typeface="Arial" pitchFamily="34" charset="0"/>
              </a:endParaRPr>
            </a:p>
          </p:txBody>
        </p:sp>
        <p:sp>
          <p:nvSpPr>
            <p:cNvPr id="30" name="TextBox 29">
              <a:extLst>
                <a:ext uri="{FF2B5EF4-FFF2-40B4-BE49-F238E27FC236}">
                  <a16:creationId xmlns:a16="http://schemas.microsoft.com/office/drawing/2014/main" id="{F8F217D7-453F-46F3-99B1-D9AD935C8BC0}"/>
                </a:ext>
              </a:extLst>
            </p:cNvPr>
            <p:cNvSpPr txBox="1"/>
            <p:nvPr/>
          </p:nvSpPr>
          <p:spPr>
            <a:xfrm>
              <a:off x="5511873" y="1077988"/>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grpSp>
        <p:nvGrpSpPr>
          <p:cNvPr id="2" name="Group 1">
            <a:extLst>
              <a:ext uri="{FF2B5EF4-FFF2-40B4-BE49-F238E27FC236}">
                <a16:creationId xmlns:a16="http://schemas.microsoft.com/office/drawing/2014/main" id="{D335F560-A3CF-71A2-6A8A-54535F54E3C3}"/>
              </a:ext>
            </a:extLst>
          </p:cNvPr>
          <p:cNvGrpSpPr/>
          <p:nvPr/>
        </p:nvGrpSpPr>
        <p:grpSpPr>
          <a:xfrm>
            <a:off x="817194" y="5192465"/>
            <a:ext cx="5725848" cy="813495"/>
            <a:chOff x="5511873" y="994406"/>
            <a:chExt cx="5725848" cy="813495"/>
          </a:xfrm>
        </p:grpSpPr>
        <p:sp>
          <p:nvSpPr>
            <p:cNvPr id="3" name="Oval 2">
              <a:extLst>
                <a:ext uri="{FF2B5EF4-FFF2-40B4-BE49-F238E27FC236}">
                  <a16:creationId xmlns:a16="http://schemas.microsoft.com/office/drawing/2014/main" id="{819AD626-20E2-9B95-31B7-89122F2CE484}"/>
                </a:ext>
              </a:extLst>
            </p:cNvPr>
            <p:cNvSpPr/>
            <p:nvPr/>
          </p:nvSpPr>
          <p:spPr>
            <a:xfrm>
              <a:off x="5595679" y="994406"/>
              <a:ext cx="813495" cy="8134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Box 5">
              <a:extLst>
                <a:ext uri="{FF2B5EF4-FFF2-40B4-BE49-F238E27FC236}">
                  <a16:creationId xmlns:a16="http://schemas.microsoft.com/office/drawing/2014/main" id="{6E17651F-FA52-54F2-FF2A-79EC39F7408E}"/>
                </a:ext>
              </a:extLst>
            </p:cNvPr>
            <p:cNvSpPr txBox="1"/>
            <p:nvPr/>
          </p:nvSpPr>
          <p:spPr>
            <a:xfrm>
              <a:off x="6575881" y="1202513"/>
              <a:ext cx="4661840" cy="369332"/>
            </a:xfrm>
            <a:prstGeom prst="rect">
              <a:avLst/>
            </a:prstGeom>
            <a:noFill/>
          </p:spPr>
          <p:txBody>
            <a:bodyPr wrap="square" lIns="108000" rIns="108000" rtlCol="0" anchor="ctr">
              <a:spAutoFit/>
            </a:bodyPr>
            <a:lstStyle/>
            <a:p>
              <a:r>
                <a:rPr lang="en-US" altLang="ko-KR" b="1" dirty="0">
                  <a:solidFill>
                    <a:schemeClr val="bg1"/>
                  </a:solidFill>
                  <a:cs typeface="Arial" pitchFamily="34" charset="0"/>
                </a:rPr>
                <a:t>Project Management Process</a:t>
              </a:r>
              <a:endParaRPr lang="ko-KR" altLang="en-US" b="1" dirty="0">
                <a:solidFill>
                  <a:schemeClr val="bg1"/>
                </a:solidFill>
                <a:cs typeface="Arial" pitchFamily="34" charset="0"/>
              </a:endParaRPr>
            </a:p>
          </p:txBody>
        </p:sp>
        <p:sp>
          <p:nvSpPr>
            <p:cNvPr id="13" name="TextBox 12">
              <a:extLst>
                <a:ext uri="{FF2B5EF4-FFF2-40B4-BE49-F238E27FC236}">
                  <a16:creationId xmlns:a16="http://schemas.microsoft.com/office/drawing/2014/main" id="{F58819DE-CCC1-FB3A-EA87-CD00AFD45C71}"/>
                </a:ext>
              </a:extLst>
            </p:cNvPr>
            <p:cNvSpPr txBox="1"/>
            <p:nvPr/>
          </p:nvSpPr>
          <p:spPr>
            <a:xfrm>
              <a:off x="5511873" y="1077988"/>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Tree>
    <p:extLst>
      <p:ext uri="{BB962C8B-B14F-4D97-AF65-F5344CB8AC3E}">
        <p14:creationId xmlns:p14="http://schemas.microsoft.com/office/powerpoint/2010/main" val="3148822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3">
            <a:extLst>
              <a:ext uri="{FF2B5EF4-FFF2-40B4-BE49-F238E27FC236}">
                <a16:creationId xmlns:a16="http://schemas.microsoft.com/office/drawing/2014/main" id="{02BDE2BE-87F9-4DD0-0B53-77CBA1355E4E}"/>
              </a:ext>
            </a:extLst>
          </p:cNvPr>
          <p:cNvSpPr txBox="1"/>
          <p:nvPr/>
        </p:nvSpPr>
        <p:spPr>
          <a:xfrm>
            <a:off x="-435" y="1050744"/>
            <a:ext cx="1945967" cy="369332"/>
          </a:xfrm>
          <a:prstGeom prst="rect">
            <a:avLst/>
          </a:prstGeom>
          <a:solidFill>
            <a:srgbClr val="00B0F0"/>
          </a:solidFill>
        </p:spPr>
        <p:txBody>
          <a:bodyPr wrap="square">
            <a:spAutoFit/>
          </a:bodyPr>
          <a:lstStyle/>
          <a:p>
            <a:pPr algn="l"/>
            <a:r>
              <a:rPr lang="en-IN" dirty="0">
                <a:solidFill>
                  <a:schemeClr val="bg1"/>
                </a:solidFill>
                <a:latin typeface="Heebo" pitchFamily="2" charset="-79"/>
                <a:cs typeface="Heebo" pitchFamily="2" charset="-79"/>
              </a:rPr>
              <a:t>What is</a:t>
            </a:r>
            <a:r>
              <a:rPr lang="en-IN" b="0" i="0" dirty="0">
                <a:solidFill>
                  <a:schemeClr val="bg1"/>
                </a:solidFill>
                <a:effectLst/>
                <a:latin typeface="Heebo" pitchFamily="2" charset="-79"/>
                <a:cs typeface="Heebo" pitchFamily="2" charset="-79"/>
              </a:rPr>
              <a:t> Project:</a:t>
            </a:r>
          </a:p>
        </p:txBody>
      </p:sp>
      <p:pic>
        <p:nvPicPr>
          <p:cNvPr id="1026" name="Picture 2" descr="Prehistoric female hunter discovery upends gender role assumptions">
            <a:extLst>
              <a:ext uri="{FF2B5EF4-FFF2-40B4-BE49-F238E27FC236}">
                <a16:creationId xmlns:a16="http://schemas.microsoft.com/office/drawing/2014/main" id="{FAC1D9E2-6C18-B120-67E1-B0EAF1FD4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84106"/>
            <a:ext cx="4513634" cy="39773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eat Wall of China | Definition, History, Length, Map, Location, &amp; Facts |  Britannica">
            <a:extLst>
              <a:ext uri="{FF2B5EF4-FFF2-40B4-BE49-F238E27FC236}">
                <a16:creationId xmlns:a16="http://schemas.microsoft.com/office/drawing/2014/main" id="{63559A26-AA43-ED00-FD25-7787201C4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3285" y="775173"/>
            <a:ext cx="6352162" cy="26538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elebrate the 50th Anniversary of NASA's Apollo Moon Landing with  Educational Resources and Projects for Kids - Teachable Moments | NASA/JPL  Edu">
            <a:extLst>
              <a:ext uri="{FF2B5EF4-FFF2-40B4-BE49-F238E27FC236}">
                <a16:creationId xmlns:a16="http://schemas.microsoft.com/office/drawing/2014/main" id="{09493512-FAC0-E3CF-F6F3-29A2EFE4A6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6323" y="3536609"/>
            <a:ext cx="6349123" cy="321281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BD2FCB82-8869-3FBA-453B-93263F8323C4}"/>
              </a:ext>
            </a:extLst>
          </p:cNvPr>
          <p:cNvGrpSpPr/>
          <p:nvPr/>
        </p:nvGrpSpPr>
        <p:grpSpPr>
          <a:xfrm>
            <a:off x="-210697" y="-180545"/>
            <a:ext cx="6193206" cy="813495"/>
            <a:chOff x="5511873" y="994406"/>
            <a:chExt cx="6193206" cy="813495"/>
          </a:xfrm>
        </p:grpSpPr>
        <p:sp>
          <p:nvSpPr>
            <p:cNvPr id="5" name="Oval 4">
              <a:extLst>
                <a:ext uri="{FF2B5EF4-FFF2-40B4-BE49-F238E27FC236}">
                  <a16:creationId xmlns:a16="http://schemas.microsoft.com/office/drawing/2014/main" id="{9497F046-6560-2EFD-D34D-34BED7BD7955}"/>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Box 5">
              <a:extLst>
                <a:ext uri="{FF2B5EF4-FFF2-40B4-BE49-F238E27FC236}">
                  <a16:creationId xmlns:a16="http://schemas.microsoft.com/office/drawing/2014/main" id="{8005655B-BD9E-0FFA-9435-0B07CBEEAF8A}"/>
                </a:ext>
              </a:extLst>
            </p:cNvPr>
            <p:cNvSpPr txBox="1"/>
            <p:nvPr/>
          </p:nvSpPr>
          <p:spPr>
            <a:xfrm>
              <a:off x="6575881" y="1212240"/>
              <a:ext cx="5129198" cy="369332"/>
            </a:xfrm>
            <a:prstGeom prst="rect">
              <a:avLst/>
            </a:prstGeom>
            <a:noFill/>
          </p:spPr>
          <p:txBody>
            <a:bodyPr wrap="square" lIns="108000" rIns="108000" rtlCol="0" anchor="ctr">
              <a:spAutoFit/>
            </a:bodyPr>
            <a:lstStyle/>
            <a:p>
              <a:r>
                <a:rPr lang="en-US" altLang="ko-KR" b="1" dirty="0">
                  <a:solidFill>
                    <a:srgbClr val="C00000"/>
                  </a:solidFill>
                  <a:cs typeface="Arial" pitchFamily="34" charset="0"/>
                </a:rPr>
                <a:t>OVERVIEW OF PROJECT MANAGEMENT</a:t>
              </a:r>
              <a:endParaRPr lang="ko-KR" altLang="en-US" b="1" dirty="0">
                <a:solidFill>
                  <a:srgbClr val="C00000"/>
                </a:solidFill>
                <a:cs typeface="Arial" pitchFamily="34" charset="0"/>
              </a:endParaRPr>
            </a:p>
          </p:txBody>
        </p:sp>
        <p:sp>
          <p:nvSpPr>
            <p:cNvPr id="7" name="TextBox 6">
              <a:extLst>
                <a:ext uri="{FF2B5EF4-FFF2-40B4-BE49-F238E27FC236}">
                  <a16:creationId xmlns:a16="http://schemas.microsoft.com/office/drawing/2014/main" id="{4886709E-C353-E386-C417-E7486E91DD3A}"/>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01</a:t>
              </a:r>
              <a:endParaRPr lang="ko-KR" altLang="en-US" sz="3600" b="1" dirty="0">
                <a:solidFill>
                  <a:schemeClr val="bg1"/>
                </a:solidFill>
                <a:cs typeface="Arial" pitchFamily="34" charset="0"/>
              </a:endParaRPr>
            </a:p>
          </p:txBody>
        </p:sp>
      </p:grpSp>
    </p:spTree>
    <p:extLst>
      <p:ext uri="{BB962C8B-B14F-4D97-AF65-F5344CB8AC3E}">
        <p14:creationId xmlns:p14="http://schemas.microsoft.com/office/powerpoint/2010/main" val="3979649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6193206" cy="813495"/>
            <a:chOff x="5511873" y="994406"/>
            <a:chExt cx="6193206"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575881" y="1212240"/>
              <a:ext cx="5129198" cy="369332"/>
            </a:xfrm>
            <a:prstGeom prst="rect">
              <a:avLst/>
            </a:prstGeom>
            <a:noFill/>
          </p:spPr>
          <p:txBody>
            <a:bodyPr wrap="square" lIns="108000" rIns="108000" rtlCol="0" anchor="ctr">
              <a:spAutoFit/>
            </a:bodyPr>
            <a:lstStyle/>
            <a:p>
              <a:r>
                <a:rPr lang="en-US" altLang="ko-KR" b="1" dirty="0">
                  <a:solidFill>
                    <a:srgbClr val="C00000"/>
                  </a:solidFill>
                  <a:cs typeface="Arial" pitchFamily="34" charset="0"/>
                </a:rPr>
                <a:t>OVERVIEW OF PROJECT MANAGEMENT</a:t>
              </a:r>
              <a:endParaRPr lang="ko-KR" altLang="en-US" b="1" dirty="0">
                <a:solidFill>
                  <a:srgbClr val="C00000"/>
                </a:solidFill>
                <a:cs typeface="Arial" pitchFamily="34" charset="0"/>
              </a:endParaRP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01</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B5B9A64-8AF7-CE26-ED42-449367C70BFE}"/>
              </a:ext>
            </a:extLst>
          </p:cNvPr>
          <p:cNvSpPr txBox="1"/>
          <p:nvPr/>
        </p:nvSpPr>
        <p:spPr>
          <a:xfrm>
            <a:off x="204281" y="1255428"/>
            <a:ext cx="11653736" cy="4524315"/>
          </a:xfrm>
          <a:prstGeom prst="rect">
            <a:avLst/>
          </a:prstGeom>
          <a:noFill/>
        </p:spPr>
        <p:txBody>
          <a:bodyPr wrap="square">
            <a:spAutoFit/>
          </a:bodyPr>
          <a:lstStyle/>
          <a:p>
            <a:pPr marL="285750" indent="-285750" algn="just">
              <a:buFont typeface="Arial" panose="020B0604020202020204" pitchFamily="34" charset="0"/>
              <a:buChar char="•"/>
            </a:pPr>
            <a:r>
              <a:rPr lang="en-US" sz="3600" b="0" i="0" dirty="0">
                <a:effectLst/>
                <a:latin typeface="Mulish"/>
              </a:rPr>
              <a:t>Project management</a:t>
            </a:r>
            <a:r>
              <a:rPr lang="en-US" sz="3600" b="1" i="0" dirty="0">
                <a:effectLst/>
                <a:latin typeface="Mulish"/>
              </a:rPr>
              <a:t> is the process of coordinating a team and its resources to successfully execute a specific task from start to finish.</a:t>
            </a:r>
          </a:p>
          <a:p>
            <a:pPr marL="285750" indent="-285750" algn="just">
              <a:buFont typeface="Arial" panose="020B0604020202020204" pitchFamily="34" charset="0"/>
              <a:buChar char="•"/>
            </a:pPr>
            <a:endParaRPr lang="en-US" sz="3600" b="1" i="0" dirty="0">
              <a:effectLst/>
              <a:latin typeface="Mulish"/>
            </a:endParaRPr>
          </a:p>
          <a:p>
            <a:pPr marL="285750" indent="-285750" algn="just">
              <a:buFont typeface="Arial" panose="020B0604020202020204" pitchFamily="34" charset="0"/>
              <a:buChar char="•"/>
            </a:pPr>
            <a:r>
              <a:rPr lang="en-US" sz="3600" b="0" i="0" dirty="0">
                <a:effectLst/>
                <a:latin typeface="Mulish"/>
              </a:rPr>
              <a:t>It includes planning the activities, measuring the progress, allocating resources, identifying constraints and completing the task.</a:t>
            </a:r>
          </a:p>
          <a:p>
            <a:pPr marL="285750" indent="-285750" algn="just">
              <a:buFont typeface="Arial" panose="020B0604020202020204" pitchFamily="34" charset="0"/>
              <a:buChar char="•"/>
            </a:pPr>
            <a:endParaRPr lang="en-IN" sz="3600" dirty="0"/>
          </a:p>
        </p:txBody>
      </p:sp>
    </p:spTree>
    <p:extLst>
      <p:ext uri="{BB962C8B-B14F-4D97-AF65-F5344CB8AC3E}">
        <p14:creationId xmlns:p14="http://schemas.microsoft.com/office/powerpoint/2010/main" val="2693093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endParaRPr lang="ko-KR" altLang="en-US" b="1" dirty="0">
                <a:solidFill>
                  <a:srgbClr val="C00000"/>
                </a:solidFill>
                <a:cs typeface="Arial" pitchFamily="34" charset="0"/>
              </a:endParaRP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7F489BAC-39BE-C1A4-456C-1929DD456B89}"/>
              </a:ext>
            </a:extLst>
          </p:cNvPr>
          <p:cNvSpPr txBox="1"/>
          <p:nvPr/>
        </p:nvSpPr>
        <p:spPr>
          <a:xfrm>
            <a:off x="584006" y="1590461"/>
            <a:ext cx="11023987" cy="2951705"/>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sz="2400" b="0" i="0" dirty="0">
                <a:solidFill>
                  <a:srgbClr val="000000"/>
                </a:solidFill>
                <a:effectLst/>
                <a:latin typeface="Nunito" pitchFamily="2" charset="0"/>
              </a:rPr>
              <a:t>The Project Management Life Cycle is a set of tasks that must be completed in order for a project's goals or targets to be met. </a:t>
            </a:r>
            <a:endParaRPr lang="en-US" sz="2400" dirty="0">
              <a:solidFill>
                <a:srgbClr val="000000"/>
              </a:solidFill>
              <a:latin typeface="Nunito" pitchFamily="2" charset="0"/>
            </a:endParaRPr>
          </a:p>
          <a:p>
            <a:pPr marL="285750" indent="-285750" algn="just">
              <a:lnSpc>
                <a:spcPct val="200000"/>
              </a:lnSpc>
              <a:buFont typeface="Arial" panose="020B0604020202020204" pitchFamily="34" charset="0"/>
              <a:buChar char="•"/>
            </a:pPr>
            <a:r>
              <a:rPr lang="en-US" sz="2400" b="0" i="0" dirty="0">
                <a:solidFill>
                  <a:srgbClr val="000000"/>
                </a:solidFill>
                <a:effectLst/>
                <a:latin typeface="Nunito" pitchFamily="2" charset="0"/>
              </a:rPr>
              <a:t>It's a structure that outlines the steps involved in turning an idea into a reality.</a:t>
            </a:r>
            <a:endParaRPr lang="en-IN" sz="2400" dirty="0"/>
          </a:p>
        </p:txBody>
      </p:sp>
    </p:spTree>
    <p:extLst>
      <p:ext uri="{BB962C8B-B14F-4D97-AF65-F5344CB8AC3E}">
        <p14:creationId xmlns:p14="http://schemas.microsoft.com/office/powerpoint/2010/main" val="3628275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2A318552-B317-70E0-1BCD-02F678EAF461}"/>
              </a:ext>
            </a:extLst>
          </p:cNvPr>
          <p:cNvSpPr txBox="1"/>
          <p:nvPr/>
        </p:nvSpPr>
        <p:spPr>
          <a:xfrm>
            <a:off x="3855266" y="982731"/>
            <a:ext cx="4354879"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
        <p:nvSpPr>
          <p:cNvPr id="6" name="TextBox 5">
            <a:extLst>
              <a:ext uri="{FF2B5EF4-FFF2-40B4-BE49-F238E27FC236}">
                <a16:creationId xmlns:a16="http://schemas.microsoft.com/office/drawing/2014/main" id="{ACEC5D28-7163-621C-6B6B-517E865F7594}"/>
              </a:ext>
            </a:extLst>
          </p:cNvPr>
          <p:cNvSpPr txBox="1"/>
          <p:nvPr/>
        </p:nvSpPr>
        <p:spPr>
          <a:xfrm>
            <a:off x="3852153" y="2159699"/>
            <a:ext cx="4354879" cy="369332"/>
          </a:xfrm>
          <a:prstGeom prst="rect">
            <a:avLst/>
          </a:prstGeom>
          <a:solidFill>
            <a:srgbClr val="00B050"/>
          </a:solidFill>
        </p:spPr>
        <p:txBody>
          <a:bodyPr wrap="square">
            <a:spAutoFit/>
          </a:bodyPr>
          <a:lstStyle>
            <a:defPPr>
              <a:defRPr lang="en-US"/>
            </a:defPPr>
            <a:lvl1pPr>
              <a:defRPr b="1" i="0">
                <a:solidFill>
                  <a:schemeClr val="bg1"/>
                </a:solidFill>
                <a:effectLst/>
                <a:latin typeface="Nunito" pitchFamily="2" charset="0"/>
              </a:defRPr>
            </a:lvl1pPr>
          </a:lstStyle>
          <a:p>
            <a:r>
              <a:rPr lang="en-IN" dirty="0"/>
              <a:t>Phase-2: Project planning</a:t>
            </a:r>
          </a:p>
        </p:txBody>
      </p:sp>
      <p:sp>
        <p:nvSpPr>
          <p:cNvPr id="8" name="TextBox 7">
            <a:extLst>
              <a:ext uri="{FF2B5EF4-FFF2-40B4-BE49-F238E27FC236}">
                <a16:creationId xmlns:a16="http://schemas.microsoft.com/office/drawing/2014/main" id="{6BF85B48-320C-D53B-C16A-B610CD0228F9}"/>
              </a:ext>
            </a:extLst>
          </p:cNvPr>
          <p:cNvSpPr txBox="1"/>
          <p:nvPr/>
        </p:nvSpPr>
        <p:spPr>
          <a:xfrm>
            <a:off x="3852153" y="3379305"/>
            <a:ext cx="4354879" cy="369332"/>
          </a:xfrm>
          <a:prstGeom prst="rect">
            <a:avLst/>
          </a:prstGeom>
          <a:solidFill>
            <a:srgbClr val="00B050"/>
          </a:solidFill>
        </p:spPr>
        <p:txBody>
          <a:bodyPr wrap="square">
            <a:spAutoFit/>
          </a:bodyPr>
          <a:lstStyle>
            <a:defPPr>
              <a:defRPr lang="en-US"/>
            </a:defPPr>
            <a:lvl1pPr>
              <a:defRPr b="1" i="0">
                <a:solidFill>
                  <a:schemeClr val="bg1"/>
                </a:solidFill>
                <a:effectLst/>
                <a:latin typeface="Nunito" pitchFamily="2" charset="0"/>
              </a:defRPr>
            </a:lvl1pPr>
          </a:lstStyle>
          <a:p>
            <a:r>
              <a:rPr lang="en-IN" dirty="0"/>
              <a:t>Phase-3: Project execution</a:t>
            </a:r>
          </a:p>
        </p:txBody>
      </p:sp>
      <p:sp>
        <p:nvSpPr>
          <p:cNvPr id="10" name="TextBox 9">
            <a:extLst>
              <a:ext uri="{FF2B5EF4-FFF2-40B4-BE49-F238E27FC236}">
                <a16:creationId xmlns:a16="http://schemas.microsoft.com/office/drawing/2014/main" id="{DDE3E28B-AD87-F30A-9786-0B2173FB52F2}"/>
              </a:ext>
            </a:extLst>
          </p:cNvPr>
          <p:cNvSpPr txBox="1"/>
          <p:nvPr/>
        </p:nvSpPr>
        <p:spPr>
          <a:xfrm>
            <a:off x="3852153" y="4569621"/>
            <a:ext cx="4357992" cy="369332"/>
          </a:xfrm>
          <a:prstGeom prst="rect">
            <a:avLst/>
          </a:prstGeom>
          <a:solidFill>
            <a:srgbClr val="00B050"/>
          </a:solidFill>
        </p:spPr>
        <p:txBody>
          <a:bodyPr wrap="square">
            <a:spAutoFit/>
          </a:bodyPr>
          <a:lstStyle>
            <a:defPPr>
              <a:defRPr lang="en-US"/>
            </a:defPPr>
            <a:lvl1pPr>
              <a:defRPr b="1" i="0">
                <a:solidFill>
                  <a:schemeClr val="bg1"/>
                </a:solidFill>
                <a:effectLst/>
                <a:latin typeface="Nunito" pitchFamily="2" charset="0"/>
              </a:defRPr>
            </a:lvl1pPr>
          </a:lstStyle>
          <a:p>
            <a:r>
              <a:rPr lang="en-US" dirty="0"/>
              <a:t>Phase-4: Task Monitoring and Control</a:t>
            </a:r>
            <a:endParaRPr lang="en-IN" dirty="0"/>
          </a:p>
        </p:txBody>
      </p:sp>
      <p:sp>
        <p:nvSpPr>
          <p:cNvPr id="12" name="TextBox 11">
            <a:extLst>
              <a:ext uri="{FF2B5EF4-FFF2-40B4-BE49-F238E27FC236}">
                <a16:creationId xmlns:a16="http://schemas.microsoft.com/office/drawing/2014/main" id="{5801A539-E282-39CF-8C8B-65FCAF1A1A25}"/>
              </a:ext>
            </a:extLst>
          </p:cNvPr>
          <p:cNvSpPr txBox="1"/>
          <p:nvPr/>
        </p:nvSpPr>
        <p:spPr>
          <a:xfrm>
            <a:off x="3852153" y="5769876"/>
            <a:ext cx="4354879" cy="369332"/>
          </a:xfrm>
          <a:prstGeom prst="rect">
            <a:avLst/>
          </a:prstGeom>
          <a:solidFill>
            <a:srgbClr val="00B050"/>
          </a:solidFill>
        </p:spPr>
        <p:txBody>
          <a:bodyPr wrap="square">
            <a:spAutoFit/>
          </a:bodyPr>
          <a:lstStyle>
            <a:defPPr>
              <a:defRPr lang="en-US"/>
            </a:defPPr>
            <a:lvl1pPr>
              <a:defRPr b="1" i="0">
                <a:solidFill>
                  <a:schemeClr val="bg1"/>
                </a:solidFill>
                <a:effectLst/>
                <a:latin typeface="Nunito" pitchFamily="2" charset="0"/>
              </a:defRPr>
            </a:lvl1pPr>
          </a:lstStyle>
          <a:p>
            <a:r>
              <a:rPr lang="en-IN" dirty="0"/>
              <a:t>Phase-5: Project Closure</a:t>
            </a:r>
          </a:p>
        </p:txBody>
      </p:sp>
      <p:cxnSp>
        <p:nvCxnSpPr>
          <p:cNvPr id="14" name="Straight Arrow Connector 13">
            <a:extLst>
              <a:ext uri="{FF2B5EF4-FFF2-40B4-BE49-F238E27FC236}">
                <a16:creationId xmlns:a16="http://schemas.microsoft.com/office/drawing/2014/main" id="{C6E5AF47-7072-4C10-851E-340907157BAA}"/>
              </a:ext>
            </a:extLst>
          </p:cNvPr>
          <p:cNvCxnSpPr>
            <a:stCxn id="3" idx="2"/>
            <a:endCxn id="6" idx="0"/>
          </p:cNvCxnSpPr>
          <p:nvPr/>
        </p:nvCxnSpPr>
        <p:spPr>
          <a:xfrm flipH="1">
            <a:off x="6029593" y="1352063"/>
            <a:ext cx="3113" cy="807636"/>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9B597AD-1BC3-E348-FAA2-865F96B41DB8}"/>
              </a:ext>
            </a:extLst>
          </p:cNvPr>
          <p:cNvCxnSpPr/>
          <p:nvPr/>
        </p:nvCxnSpPr>
        <p:spPr>
          <a:xfrm flipH="1">
            <a:off x="6026479" y="2544854"/>
            <a:ext cx="3113" cy="807636"/>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5B71A22-6462-DC36-758D-56DB0DFA292F}"/>
              </a:ext>
            </a:extLst>
          </p:cNvPr>
          <p:cNvCxnSpPr/>
          <p:nvPr/>
        </p:nvCxnSpPr>
        <p:spPr>
          <a:xfrm flipH="1">
            <a:off x="6032908" y="3750704"/>
            <a:ext cx="3113" cy="807636"/>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DE6B3C-1CA1-6C13-B15F-07E6F37CDC13}"/>
              </a:ext>
            </a:extLst>
          </p:cNvPr>
          <p:cNvCxnSpPr/>
          <p:nvPr/>
        </p:nvCxnSpPr>
        <p:spPr>
          <a:xfrm flipH="1">
            <a:off x="6042847" y="4953338"/>
            <a:ext cx="3113" cy="807636"/>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Project manager looking at screen with chart showing scheduling and planning showing tasks and deadlines with the Baldrige Framework overview on top.">
            <a:extLst>
              <a:ext uri="{FF2B5EF4-FFF2-40B4-BE49-F238E27FC236}">
                <a16:creationId xmlns:a16="http://schemas.microsoft.com/office/drawing/2014/main" id="{A39C4384-BA63-D7A4-A09D-67708DA8A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66830"/>
            <a:ext cx="3365770" cy="21036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EEDE547-1E49-4895-B102-E1A54C9BD2AC}"/>
              </a:ext>
            </a:extLst>
          </p:cNvPr>
          <p:cNvPicPr>
            <a:picLocks noChangeAspect="1"/>
          </p:cNvPicPr>
          <p:nvPr/>
        </p:nvPicPr>
        <p:blipFill rotWithShape="1">
          <a:blip r:embed="rId3"/>
          <a:srcRect l="11272" t="19715" r="41431" b="25816"/>
          <a:stretch/>
        </p:blipFill>
        <p:spPr>
          <a:xfrm>
            <a:off x="8933622" y="2166830"/>
            <a:ext cx="3258378" cy="2110737"/>
          </a:xfrm>
          <a:prstGeom prst="rect">
            <a:avLst/>
          </a:prstGeom>
        </p:spPr>
      </p:pic>
    </p:spTree>
    <p:extLst>
      <p:ext uri="{BB962C8B-B14F-4D97-AF65-F5344CB8AC3E}">
        <p14:creationId xmlns:p14="http://schemas.microsoft.com/office/powerpoint/2010/main" val="1510520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2A318552-B317-70E0-1BCD-02F678EAF461}"/>
              </a:ext>
            </a:extLst>
          </p:cNvPr>
          <p:cNvSpPr txBox="1"/>
          <p:nvPr/>
        </p:nvSpPr>
        <p:spPr>
          <a:xfrm>
            <a:off x="1" y="753599"/>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
        <p:nvSpPr>
          <p:cNvPr id="4" name="TextBox 3">
            <a:extLst>
              <a:ext uri="{FF2B5EF4-FFF2-40B4-BE49-F238E27FC236}">
                <a16:creationId xmlns:a16="http://schemas.microsoft.com/office/drawing/2014/main" id="{BCA95FB7-503D-B7AC-46E6-854ADFFB14EE}"/>
              </a:ext>
            </a:extLst>
          </p:cNvPr>
          <p:cNvSpPr txBox="1"/>
          <p:nvPr/>
        </p:nvSpPr>
        <p:spPr>
          <a:xfrm>
            <a:off x="447261" y="1313559"/>
            <a:ext cx="10167730" cy="3693319"/>
          </a:xfrm>
          <a:prstGeom prst="rect">
            <a:avLst/>
          </a:prstGeom>
          <a:noFill/>
        </p:spPr>
        <p:txBody>
          <a:bodyPr wrap="square">
            <a:spAutoFit/>
          </a:bodyPr>
          <a:lstStyle/>
          <a:p>
            <a:pPr marL="342900" indent="-342900">
              <a:lnSpc>
                <a:spcPct val="200000"/>
              </a:lnSpc>
              <a:buFont typeface="+mj-lt"/>
              <a:buAutoNum type="arabicPeriod"/>
            </a:pPr>
            <a:r>
              <a:rPr lang="en-US" sz="2400" b="0" i="0" dirty="0">
                <a:solidFill>
                  <a:srgbClr val="000000"/>
                </a:solidFill>
                <a:effectLst/>
                <a:latin typeface="Nunito" pitchFamily="2" charset="0"/>
              </a:rPr>
              <a:t>The steps are necessary to begin a new project are defined in the initiation phase.</a:t>
            </a:r>
          </a:p>
          <a:p>
            <a:pPr marL="342900" indent="-342900" algn="just">
              <a:lnSpc>
                <a:spcPct val="200000"/>
              </a:lnSpc>
              <a:buFont typeface="+mj-lt"/>
              <a:buAutoNum type="arabicPeriod"/>
            </a:pPr>
            <a:r>
              <a:rPr lang="en-US" sz="2400" b="0" i="0" dirty="0">
                <a:solidFill>
                  <a:srgbClr val="000000"/>
                </a:solidFill>
                <a:effectLst/>
                <a:latin typeface="Nunito" pitchFamily="2" charset="0"/>
              </a:rPr>
              <a:t>This phase is mostly made up of two primary activities.</a:t>
            </a:r>
          </a:p>
          <a:p>
            <a:pPr lvl="1" algn="just">
              <a:lnSpc>
                <a:spcPct val="200000"/>
              </a:lnSpc>
              <a:buFont typeface="Arial" panose="020B0604020202020204" pitchFamily="34" charset="0"/>
              <a:buChar char="•"/>
            </a:pPr>
            <a:r>
              <a:rPr lang="en-US" sz="2400" b="0" i="0" dirty="0">
                <a:solidFill>
                  <a:srgbClr val="000000"/>
                </a:solidFill>
                <a:effectLst/>
                <a:latin typeface="Nunito" pitchFamily="2" charset="0"/>
              </a:rPr>
              <a:t>Make a </a:t>
            </a:r>
            <a:r>
              <a:rPr lang="en-US" sz="2400" b="0" i="0" u="sng" dirty="0">
                <a:solidFill>
                  <a:srgbClr val="000000"/>
                </a:solidFill>
                <a:effectLst/>
                <a:latin typeface="Nunito" pitchFamily="2" charset="0"/>
              </a:rPr>
              <a:t>Project Charter</a:t>
            </a:r>
            <a:r>
              <a:rPr lang="en-US" sz="2400" b="0" i="0" dirty="0">
                <a:solidFill>
                  <a:srgbClr val="000000"/>
                </a:solidFill>
                <a:effectLst/>
                <a:latin typeface="Nunito" pitchFamily="2" charset="0"/>
              </a:rPr>
              <a:t> and stick to it till completion.</a:t>
            </a:r>
          </a:p>
          <a:p>
            <a:pPr lvl="1" algn="just">
              <a:lnSpc>
                <a:spcPct val="200000"/>
              </a:lnSpc>
              <a:buFont typeface="Arial" panose="020B0604020202020204" pitchFamily="34" charset="0"/>
              <a:buChar char="•"/>
            </a:pPr>
            <a:r>
              <a:rPr lang="en-US" sz="2400" b="0" i="0" dirty="0">
                <a:solidFill>
                  <a:srgbClr val="000000"/>
                </a:solidFill>
                <a:effectLst/>
                <a:latin typeface="Nunito" pitchFamily="2" charset="0"/>
              </a:rPr>
              <a:t>Stakeholders should be identified.</a:t>
            </a:r>
            <a:endParaRPr lang="en-US" sz="2400" dirty="0">
              <a:solidFill>
                <a:srgbClr val="000000"/>
              </a:solidFill>
              <a:latin typeface="Nunito" pitchFamily="2" charset="0"/>
            </a:endParaRPr>
          </a:p>
        </p:txBody>
      </p:sp>
    </p:spTree>
    <p:extLst>
      <p:ext uri="{BB962C8B-B14F-4D97-AF65-F5344CB8AC3E}">
        <p14:creationId xmlns:p14="http://schemas.microsoft.com/office/powerpoint/2010/main" val="3260531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2A318552-B317-70E0-1BCD-02F678EAF461}"/>
              </a:ext>
            </a:extLst>
          </p:cNvPr>
          <p:cNvSpPr txBox="1"/>
          <p:nvPr/>
        </p:nvSpPr>
        <p:spPr>
          <a:xfrm>
            <a:off x="1" y="753599"/>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
        <p:nvSpPr>
          <p:cNvPr id="5" name="TextBox 4">
            <a:extLst>
              <a:ext uri="{FF2B5EF4-FFF2-40B4-BE49-F238E27FC236}">
                <a16:creationId xmlns:a16="http://schemas.microsoft.com/office/drawing/2014/main" id="{A4F2143E-240A-F67A-60F8-9200E13E1BD8}"/>
              </a:ext>
            </a:extLst>
          </p:cNvPr>
          <p:cNvSpPr txBox="1"/>
          <p:nvPr/>
        </p:nvSpPr>
        <p:spPr>
          <a:xfrm>
            <a:off x="77822" y="1313559"/>
            <a:ext cx="11527276" cy="8865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0" i="0" dirty="0">
                <a:solidFill>
                  <a:srgbClr val="000000"/>
                </a:solidFill>
                <a:effectLst/>
                <a:latin typeface="Nunito" pitchFamily="2" charset="0"/>
              </a:rPr>
              <a:t>In the Project Charter and Stakeholder Register, all project-related information is recorded. The project is formally authorized after the project charter is approved.</a:t>
            </a:r>
            <a:endParaRPr lang="en-IN" dirty="0"/>
          </a:p>
        </p:txBody>
      </p:sp>
      <p:sp>
        <p:nvSpPr>
          <p:cNvPr id="7" name="TextBox 6">
            <a:extLst>
              <a:ext uri="{FF2B5EF4-FFF2-40B4-BE49-F238E27FC236}">
                <a16:creationId xmlns:a16="http://schemas.microsoft.com/office/drawing/2014/main" id="{B5E16DAB-EE8C-DE9C-B770-987CB52DFA5F}"/>
              </a:ext>
            </a:extLst>
          </p:cNvPr>
          <p:cNvSpPr txBox="1"/>
          <p:nvPr/>
        </p:nvSpPr>
        <p:spPr>
          <a:xfrm>
            <a:off x="-2" y="2385392"/>
            <a:ext cx="3379304" cy="369332"/>
          </a:xfrm>
          <a:prstGeom prst="rect">
            <a:avLst/>
          </a:prstGeom>
          <a:solidFill>
            <a:srgbClr val="00B0F0"/>
          </a:solidFill>
        </p:spPr>
        <p:txBody>
          <a:bodyPr wrap="square">
            <a:spAutoFit/>
          </a:bodyPr>
          <a:lstStyle/>
          <a:p>
            <a:pPr algn="l"/>
            <a:r>
              <a:rPr lang="en-IN" b="1" i="0" dirty="0">
                <a:solidFill>
                  <a:schemeClr val="bg1"/>
                </a:solidFill>
                <a:effectLst/>
                <a:latin typeface="Heebo" pitchFamily="2" charset="-79"/>
                <a:cs typeface="Heebo" pitchFamily="2" charset="-79"/>
              </a:rPr>
              <a:t>Project Charter :</a:t>
            </a:r>
          </a:p>
        </p:txBody>
      </p:sp>
      <p:sp>
        <p:nvSpPr>
          <p:cNvPr id="9" name="TextBox 8">
            <a:extLst>
              <a:ext uri="{FF2B5EF4-FFF2-40B4-BE49-F238E27FC236}">
                <a16:creationId xmlns:a16="http://schemas.microsoft.com/office/drawing/2014/main" id="{63916A8E-7B63-0C4F-29F5-200BA202D565}"/>
              </a:ext>
            </a:extLst>
          </p:cNvPr>
          <p:cNvSpPr txBox="1"/>
          <p:nvPr/>
        </p:nvSpPr>
        <p:spPr>
          <a:xfrm>
            <a:off x="350195" y="2843033"/>
            <a:ext cx="10953647" cy="2964017"/>
          </a:xfrm>
          <a:prstGeom prst="rect">
            <a:avLst/>
          </a:prstGeom>
          <a:noFill/>
        </p:spPr>
        <p:txBody>
          <a:bodyPr wrap="square">
            <a:spAutoFit/>
          </a:bodyPr>
          <a:lstStyle>
            <a:defPPr>
              <a:defRPr lang="en-US"/>
            </a:defPPr>
            <a:lvl1pPr marL="285750" indent="-285750">
              <a:lnSpc>
                <a:spcPct val="150000"/>
              </a:lnSpc>
              <a:buFont typeface="Arial" panose="020B0604020202020204" pitchFamily="34" charset="0"/>
              <a:buChar char="•"/>
              <a:defRPr b="0" i="0">
                <a:solidFill>
                  <a:srgbClr val="000000"/>
                </a:solidFill>
                <a:effectLst/>
                <a:latin typeface="Nunito" pitchFamily="2" charset="0"/>
              </a:defRPr>
            </a:lvl1pPr>
          </a:lstStyle>
          <a:p>
            <a:pPr algn="just"/>
            <a:r>
              <a:rPr lang="en-US" dirty="0"/>
              <a:t>A project charter document describes a project to create a shared understanding of its goals, objectives and resource requirements before the project is scoped out in detail.</a:t>
            </a:r>
          </a:p>
          <a:p>
            <a:pPr algn="just"/>
            <a:r>
              <a:rPr lang="en-US" dirty="0"/>
              <a:t>The project charter helps project managers explain to participants and </a:t>
            </a:r>
            <a:r>
              <a:rPr lang="en-US" dirty="0">
                <a:hlinkClick r:id="rId2">
                  <a:extLst>
                    <a:ext uri="{A12FA001-AC4F-418D-AE19-62706E023703}">
                      <ahyp:hlinkClr xmlns:ahyp="http://schemas.microsoft.com/office/drawing/2018/hyperlinkcolor" val="tx"/>
                    </a:ext>
                  </a:extLst>
                </a:hlinkClick>
              </a:rPr>
              <a:t>stakeholders</a:t>
            </a:r>
            <a:r>
              <a:rPr lang="en-US" dirty="0"/>
              <a:t> the scope of a project, project objectives, who will participate in the project, along with other details such as possible risks.</a:t>
            </a:r>
          </a:p>
          <a:p>
            <a:pPr algn="just"/>
            <a:r>
              <a:rPr lang="en-US" dirty="0"/>
              <a:t>In a large organization, the charter may be a multipage document, but in smaller organizations, it may just be a few paragraphs with bulleted items.</a:t>
            </a:r>
            <a:endParaRPr lang="en-IN" dirty="0"/>
          </a:p>
        </p:txBody>
      </p:sp>
    </p:spTree>
    <p:extLst>
      <p:ext uri="{BB962C8B-B14F-4D97-AF65-F5344CB8AC3E}">
        <p14:creationId xmlns:p14="http://schemas.microsoft.com/office/powerpoint/2010/main" val="1880107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7" name="TextBox 6">
            <a:extLst>
              <a:ext uri="{FF2B5EF4-FFF2-40B4-BE49-F238E27FC236}">
                <a16:creationId xmlns:a16="http://schemas.microsoft.com/office/drawing/2014/main" id="{B5E16DAB-EE8C-DE9C-B770-987CB52DFA5F}"/>
              </a:ext>
            </a:extLst>
          </p:cNvPr>
          <p:cNvSpPr txBox="1"/>
          <p:nvPr/>
        </p:nvSpPr>
        <p:spPr>
          <a:xfrm>
            <a:off x="0" y="755395"/>
            <a:ext cx="3379304" cy="369332"/>
          </a:xfrm>
          <a:prstGeom prst="rect">
            <a:avLst/>
          </a:prstGeom>
          <a:solidFill>
            <a:srgbClr val="00B0F0"/>
          </a:solidFill>
        </p:spPr>
        <p:txBody>
          <a:bodyPr wrap="square">
            <a:spAutoFit/>
          </a:bodyPr>
          <a:lstStyle/>
          <a:p>
            <a:pPr algn="l"/>
            <a:r>
              <a:rPr lang="en-IN" b="1" i="0" dirty="0">
                <a:solidFill>
                  <a:schemeClr val="bg1"/>
                </a:solidFill>
                <a:effectLst/>
                <a:latin typeface="Heebo" pitchFamily="2" charset="-79"/>
                <a:cs typeface="Heebo" pitchFamily="2" charset="-79"/>
              </a:rPr>
              <a:t>Project Charter :</a:t>
            </a:r>
          </a:p>
        </p:txBody>
      </p:sp>
      <p:sp>
        <p:nvSpPr>
          <p:cNvPr id="4" name="TextBox 3">
            <a:extLst>
              <a:ext uri="{FF2B5EF4-FFF2-40B4-BE49-F238E27FC236}">
                <a16:creationId xmlns:a16="http://schemas.microsoft.com/office/drawing/2014/main" id="{F37257E5-65A7-4359-445C-3A7A7AA51251}"/>
              </a:ext>
            </a:extLst>
          </p:cNvPr>
          <p:cNvSpPr txBox="1"/>
          <p:nvPr/>
        </p:nvSpPr>
        <p:spPr>
          <a:xfrm>
            <a:off x="0" y="2013793"/>
            <a:ext cx="6245156" cy="369332"/>
          </a:xfrm>
          <a:prstGeom prst="rect">
            <a:avLst/>
          </a:prstGeom>
          <a:noFill/>
        </p:spPr>
        <p:txBody>
          <a:bodyPr wrap="square">
            <a:spAutoFit/>
          </a:bodyPr>
          <a:lstStyle/>
          <a:p>
            <a:pPr marL="285750" indent="-285750" algn="l">
              <a:buFont typeface="Arial" panose="020B0604020202020204" pitchFamily="34" charset="0"/>
              <a:buChar char="•"/>
            </a:pPr>
            <a:r>
              <a:rPr lang="en-US" b="1" dirty="0">
                <a:solidFill>
                  <a:srgbClr val="000000"/>
                </a:solidFill>
                <a:latin typeface="Nunito" pitchFamily="2" charset="0"/>
              </a:rPr>
              <a:t>What should a project charter include?</a:t>
            </a:r>
          </a:p>
        </p:txBody>
      </p:sp>
      <p:sp>
        <p:nvSpPr>
          <p:cNvPr id="8" name="TextBox 7">
            <a:extLst>
              <a:ext uri="{FF2B5EF4-FFF2-40B4-BE49-F238E27FC236}">
                <a16:creationId xmlns:a16="http://schemas.microsoft.com/office/drawing/2014/main" id="{0D836D71-8B9C-1E88-F4B7-ECCE75BE1DF1}"/>
              </a:ext>
            </a:extLst>
          </p:cNvPr>
          <p:cNvSpPr txBox="1"/>
          <p:nvPr/>
        </p:nvSpPr>
        <p:spPr>
          <a:xfrm>
            <a:off x="350196" y="2476820"/>
            <a:ext cx="10282136" cy="369332"/>
          </a:xfrm>
          <a:prstGeom prst="rect">
            <a:avLst/>
          </a:prstGeom>
          <a:noFill/>
        </p:spPr>
        <p:txBody>
          <a:bodyPr wrap="square">
            <a:spAutoFit/>
          </a:bodyPr>
          <a:lstStyle/>
          <a:p>
            <a:r>
              <a:rPr lang="en-US" dirty="0">
                <a:solidFill>
                  <a:srgbClr val="000000"/>
                </a:solidFill>
                <a:latin typeface="Nunito" pitchFamily="2" charset="0"/>
              </a:rPr>
              <a:t>Project charter templates often include the following parts of the project:</a:t>
            </a:r>
            <a:endParaRPr lang="en-IN" dirty="0">
              <a:solidFill>
                <a:srgbClr val="000000"/>
              </a:solidFill>
              <a:latin typeface="Nunito" pitchFamily="2" charset="0"/>
            </a:endParaRPr>
          </a:p>
        </p:txBody>
      </p:sp>
      <p:sp>
        <p:nvSpPr>
          <p:cNvPr id="11" name="TextBox 10">
            <a:extLst>
              <a:ext uri="{FF2B5EF4-FFF2-40B4-BE49-F238E27FC236}">
                <a16:creationId xmlns:a16="http://schemas.microsoft.com/office/drawing/2014/main" id="{EB70A045-8694-10D3-4408-92AC1B9C02AA}"/>
              </a:ext>
            </a:extLst>
          </p:cNvPr>
          <p:cNvSpPr txBox="1"/>
          <p:nvPr/>
        </p:nvSpPr>
        <p:spPr>
          <a:xfrm>
            <a:off x="350196" y="3041386"/>
            <a:ext cx="10863871" cy="3347070"/>
          </a:xfrm>
          <a:prstGeom prst="rect">
            <a:avLst/>
          </a:prstGeom>
          <a:noFill/>
        </p:spPr>
        <p:txBody>
          <a:bodyPr wrap="square">
            <a:spAutoFit/>
          </a:bodyPr>
          <a:lstStyle/>
          <a:p>
            <a:pPr algn="just">
              <a:lnSpc>
                <a:spcPct val="200000"/>
              </a:lnSpc>
              <a:buFont typeface="Arial" panose="020B0604020202020204" pitchFamily="34" charset="0"/>
              <a:buChar char="•"/>
            </a:pPr>
            <a:r>
              <a:rPr lang="en-US" b="1" dirty="0">
                <a:solidFill>
                  <a:srgbClr val="000000"/>
                </a:solidFill>
                <a:latin typeface="Nunito" pitchFamily="2" charset="0"/>
              </a:rPr>
              <a:t>Project goal. </a:t>
            </a:r>
            <a:r>
              <a:rPr lang="en-US" dirty="0">
                <a:solidFill>
                  <a:srgbClr val="000000"/>
                </a:solidFill>
                <a:latin typeface="Nunito" pitchFamily="2" charset="0"/>
              </a:rPr>
              <a:t>This documents the reasons for undertaking the project in clear, concise language. This should determine the </a:t>
            </a:r>
            <a:r>
              <a:rPr lang="en-US" dirty="0">
                <a:solidFill>
                  <a:srgbClr val="000000"/>
                </a:solidFill>
                <a:latin typeface="Nunito" pitchFamily="2" charset="0"/>
                <a:hlinkClick r:id="rId2">
                  <a:extLst>
                    <a:ext uri="{A12FA001-AC4F-418D-AE19-62706E023703}">
                      <ahyp:hlinkClr xmlns:ahyp="http://schemas.microsoft.com/office/drawing/2018/hyperlinkcolor" val="tx"/>
                    </a:ext>
                  </a:extLst>
                </a:hlinkClick>
              </a:rPr>
              <a:t>project's scope</a:t>
            </a:r>
            <a:r>
              <a:rPr lang="en-US" dirty="0">
                <a:solidFill>
                  <a:srgbClr val="000000"/>
                </a:solidFill>
                <a:latin typeface="Nunito" pitchFamily="2" charset="0"/>
              </a:rPr>
              <a:t>.</a:t>
            </a:r>
          </a:p>
          <a:p>
            <a:pPr algn="just">
              <a:lnSpc>
                <a:spcPct val="200000"/>
              </a:lnSpc>
              <a:buFont typeface="Arial" panose="020B0604020202020204" pitchFamily="34" charset="0"/>
              <a:buChar char="•"/>
            </a:pPr>
            <a:r>
              <a:rPr lang="en-US" b="1" dirty="0">
                <a:solidFill>
                  <a:srgbClr val="000000"/>
                </a:solidFill>
                <a:latin typeface="Nunito" pitchFamily="2" charset="0"/>
              </a:rPr>
              <a:t>Project participants. </a:t>
            </a:r>
            <a:r>
              <a:rPr lang="en-US" dirty="0">
                <a:solidFill>
                  <a:srgbClr val="000000"/>
                </a:solidFill>
                <a:latin typeface="Nunito" pitchFamily="2" charset="0"/>
              </a:rPr>
              <a:t>This identifies who will be involved in the project and clearly states their roles.</a:t>
            </a:r>
          </a:p>
          <a:p>
            <a:pPr algn="just">
              <a:lnSpc>
                <a:spcPct val="200000"/>
              </a:lnSpc>
              <a:buFont typeface="Arial" panose="020B0604020202020204" pitchFamily="34" charset="0"/>
              <a:buChar char="•"/>
            </a:pPr>
            <a:r>
              <a:rPr lang="en-US" b="1" dirty="0">
                <a:solidFill>
                  <a:srgbClr val="000000"/>
                </a:solidFill>
                <a:latin typeface="Nunito" pitchFamily="2" charset="0"/>
              </a:rPr>
              <a:t>Stakeholders. </a:t>
            </a:r>
            <a:r>
              <a:rPr lang="en-US" dirty="0">
                <a:solidFill>
                  <a:srgbClr val="000000"/>
                </a:solidFill>
                <a:latin typeface="Nunito" pitchFamily="2" charset="0"/>
              </a:rPr>
              <a:t>This identifies project sponsors or other people who will be directly affected by the project and need to know about its progress.</a:t>
            </a:r>
          </a:p>
          <a:p>
            <a:pPr algn="just">
              <a:lnSpc>
                <a:spcPct val="200000"/>
              </a:lnSpc>
              <a:buFont typeface="Arial" panose="020B0604020202020204" pitchFamily="34" charset="0"/>
              <a:buChar char="•"/>
            </a:pPr>
            <a:r>
              <a:rPr lang="en-US" b="1" dirty="0">
                <a:solidFill>
                  <a:srgbClr val="000000"/>
                </a:solidFill>
                <a:latin typeface="Nunito" pitchFamily="2" charset="0"/>
              </a:rPr>
              <a:t>Requirements. </a:t>
            </a:r>
            <a:r>
              <a:rPr lang="en-US" dirty="0">
                <a:solidFill>
                  <a:srgbClr val="000000"/>
                </a:solidFill>
                <a:latin typeface="Nunito" pitchFamily="2" charset="0"/>
              </a:rPr>
              <a:t>This identifies the resources required for the project's objectives to be achieved.</a:t>
            </a:r>
          </a:p>
        </p:txBody>
      </p:sp>
      <p:sp>
        <p:nvSpPr>
          <p:cNvPr id="13" name="TextBox 12">
            <a:extLst>
              <a:ext uri="{FF2B5EF4-FFF2-40B4-BE49-F238E27FC236}">
                <a16:creationId xmlns:a16="http://schemas.microsoft.com/office/drawing/2014/main" id="{B415DB06-9B7A-B044-0674-962AE92AE7BD}"/>
              </a:ext>
            </a:extLst>
          </p:cNvPr>
          <p:cNvSpPr txBox="1"/>
          <p:nvPr/>
        </p:nvSpPr>
        <p:spPr>
          <a:xfrm>
            <a:off x="0" y="1337350"/>
            <a:ext cx="12192000" cy="369332"/>
          </a:xfrm>
          <a:prstGeom prst="rect">
            <a:avLst/>
          </a:prstGeom>
          <a:solidFill>
            <a:schemeClr val="accent1"/>
          </a:solidFill>
        </p:spPr>
        <p:txBody>
          <a:bodyPr wrap="square">
            <a:spAutoFit/>
          </a:bodyPr>
          <a:lstStyle/>
          <a:p>
            <a:pPr algn="ctr"/>
            <a:r>
              <a:rPr lang="en-US" b="0" i="1" dirty="0">
                <a:solidFill>
                  <a:schemeClr val="bg1"/>
                </a:solidFill>
                <a:effectLst/>
                <a:latin typeface="Arial" panose="020B0604020202020204" pitchFamily="34" charset="0"/>
              </a:rPr>
              <a:t>The project manager should create the project charter at the beginning of the project.</a:t>
            </a:r>
            <a:endParaRPr lang="en-IN" i="1" dirty="0">
              <a:solidFill>
                <a:schemeClr val="bg1"/>
              </a:solidFill>
            </a:endParaRPr>
          </a:p>
        </p:txBody>
      </p:sp>
      <p:sp>
        <p:nvSpPr>
          <p:cNvPr id="2" name="TextBox 1">
            <a:extLst>
              <a:ext uri="{FF2B5EF4-FFF2-40B4-BE49-F238E27FC236}">
                <a16:creationId xmlns:a16="http://schemas.microsoft.com/office/drawing/2014/main" id="{D4C66B46-394B-41C3-C007-B7FA79440898}"/>
              </a:ext>
            </a:extLst>
          </p:cNvPr>
          <p:cNvSpPr txBox="1"/>
          <p:nvPr/>
        </p:nvSpPr>
        <p:spPr>
          <a:xfrm>
            <a:off x="8812696" y="6486410"/>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Tree>
    <p:extLst>
      <p:ext uri="{BB962C8B-B14F-4D97-AF65-F5344CB8AC3E}">
        <p14:creationId xmlns:p14="http://schemas.microsoft.com/office/powerpoint/2010/main" val="3384383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7" name="TextBox 6">
            <a:extLst>
              <a:ext uri="{FF2B5EF4-FFF2-40B4-BE49-F238E27FC236}">
                <a16:creationId xmlns:a16="http://schemas.microsoft.com/office/drawing/2014/main" id="{B5E16DAB-EE8C-DE9C-B770-987CB52DFA5F}"/>
              </a:ext>
            </a:extLst>
          </p:cNvPr>
          <p:cNvSpPr txBox="1"/>
          <p:nvPr/>
        </p:nvSpPr>
        <p:spPr>
          <a:xfrm>
            <a:off x="0" y="755395"/>
            <a:ext cx="3379304" cy="369332"/>
          </a:xfrm>
          <a:prstGeom prst="rect">
            <a:avLst/>
          </a:prstGeom>
          <a:solidFill>
            <a:srgbClr val="00B0F0"/>
          </a:solidFill>
        </p:spPr>
        <p:txBody>
          <a:bodyPr wrap="square">
            <a:spAutoFit/>
          </a:bodyPr>
          <a:lstStyle/>
          <a:p>
            <a:pPr algn="l"/>
            <a:r>
              <a:rPr lang="en-IN" b="1" i="0" dirty="0">
                <a:solidFill>
                  <a:schemeClr val="bg1"/>
                </a:solidFill>
                <a:effectLst/>
                <a:latin typeface="Heebo" pitchFamily="2" charset="-79"/>
                <a:cs typeface="Heebo" pitchFamily="2" charset="-79"/>
              </a:rPr>
              <a:t>Project Charter :</a:t>
            </a:r>
          </a:p>
        </p:txBody>
      </p:sp>
      <p:sp>
        <p:nvSpPr>
          <p:cNvPr id="11" name="TextBox 10">
            <a:extLst>
              <a:ext uri="{FF2B5EF4-FFF2-40B4-BE49-F238E27FC236}">
                <a16:creationId xmlns:a16="http://schemas.microsoft.com/office/drawing/2014/main" id="{EB70A045-8694-10D3-4408-92AC1B9C02AA}"/>
              </a:ext>
            </a:extLst>
          </p:cNvPr>
          <p:cNvSpPr txBox="1"/>
          <p:nvPr/>
        </p:nvSpPr>
        <p:spPr>
          <a:xfrm>
            <a:off x="279856" y="1960934"/>
            <a:ext cx="10863871" cy="3901068"/>
          </a:xfrm>
          <a:prstGeom prst="rect">
            <a:avLst/>
          </a:prstGeom>
          <a:noFill/>
        </p:spPr>
        <p:txBody>
          <a:bodyPr wrap="square">
            <a:spAutoFit/>
          </a:bodyPr>
          <a:lstStyle/>
          <a:p>
            <a:pPr algn="just">
              <a:lnSpc>
                <a:spcPct val="200000"/>
              </a:lnSpc>
              <a:buFont typeface="Arial" panose="020B0604020202020204" pitchFamily="34" charset="0"/>
              <a:buChar char="•"/>
            </a:pPr>
            <a:r>
              <a:rPr lang="en-US" b="1" dirty="0">
                <a:solidFill>
                  <a:srgbClr val="000000"/>
                </a:solidFill>
                <a:latin typeface="Nunito" pitchFamily="2" charset="0"/>
              </a:rPr>
              <a:t>Implementation milestones: </a:t>
            </a:r>
            <a:r>
              <a:rPr lang="en-US" dirty="0">
                <a:solidFill>
                  <a:srgbClr val="000000"/>
                </a:solidFill>
                <a:latin typeface="Nunito" pitchFamily="2" charset="0"/>
              </a:rPr>
              <a:t>This identifies the start and ideal completion dates, as well as dates for other potentially important checkpoints, like a project schedule.</a:t>
            </a:r>
          </a:p>
          <a:p>
            <a:pPr algn="just">
              <a:lnSpc>
                <a:spcPct val="200000"/>
              </a:lnSpc>
              <a:buFont typeface="Arial" panose="020B0604020202020204" pitchFamily="34" charset="0"/>
              <a:buChar char="•"/>
            </a:pPr>
            <a:r>
              <a:rPr lang="en-US" b="1" dirty="0">
                <a:solidFill>
                  <a:srgbClr val="000000"/>
                </a:solidFill>
                <a:latin typeface="Nunito" pitchFamily="2" charset="0"/>
              </a:rPr>
              <a:t>Communication: </a:t>
            </a:r>
            <a:r>
              <a:rPr lang="en-US" dirty="0">
                <a:solidFill>
                  <a:srgbClr val="000000"/>
                </a:solidFill>
                <a:latin typeface="Nunito" pitchFamily="2" charset="0"/>
              </a:rPr>
              <a:t>This specifies how the project manager will communicate with project owners, participants and key stakeholders throughout the project.</a:t>
            </a:r>
          </a:p>
          <a:p>
            <a:pPr algn="just">
              <a:lnSpc>
                <a:spcPct val="200000"/>
              </a:lnSpc>
              <a:buFont typeface="Arial" panose="020B0604020202020204" pitchFamily="34" charset="0"/>
              <a:buChar char="•"/>
            </a:pPr>
            <a:r>
              <a:rPr lang="en-US" b="1" dirty="0">
                <a:solidFill>
                  <a:srgbClr val="000000"/>
                </a:solidFill>
                <a:latin typeface="Nunito" pitchFamily="2" charset="0"/>
              </a:rPr>
              <a:t>Deliverables: </a:t>
            </a:r>
            <a:r>
              <a:rPr lang="en-US" dirty="0">
                <a:solidFill>
                  <a:srgbClr val="000000"/>
                </a:solidFill>
                <a:latin typeface="Nunito" pitchFamily="2" charset="0"/>
              </a:rPr>
              <a:t>This documents what specific products, processes or services the project provides upon completion.</a:t>
            </a:r>
          </a:p>
          <a:p>
            <a:pPr algn="just">
              <a:lnSpc>
                <a:spcPct val="200000"/>
              </a:lnSpc>
              <a:buFont typeface="Arial" panose="020B0604020202020204" pitchFamily="34" charset="0"/>
              <a:buChar char="•"/>
            </a:pPr>
            <a:r>
              <a:rPr lang="en-US" b="1" dirty="0">
                <a:solidFill>
                  <a:srgbClr val="000000"/>
                </a:solidFill>
                <a:latin typeface="Nunito" pitchFamily="2" charset="0"/>
              </a:rPr>
              <a:t>Cost: </a:t>
            </a:r>
            <a:r>
              <a:rPr lang="en-US" dirty="0">
                <a:solidFill>
                  <a:srgbClr val="000000"/>
                </a:solidFill>
                <a:latin typeface="Nunito" pitchFamily="2" charset="0"/>
              </a:rPr>
              <a:t>This identifies a general overview of the project budget.</a:t>
            </a:r>
          </a:p>
        </p:txBody>
      </p:sp>
      <p:sp>
        <p:nvSpPr>
          <p:cNvPr id="2" name="TextBox 1">
            <a:extLst>
              <a:ext uri="{FF2B5EF4-FFF2-40B4-BE49-F238E27FC236}">
                <a16:creationId xmlns:a16="http://schemas.microsoft.com/office/drawing/2014/main" id="{F7F3B3D7-17CF-E523-94ED-AB74E3331778}"/>
              </a:ext>
            </a:extLst>
          </p:cNvPr>
          <p:cNvSpPr txBox="1"/>
          <p:nvPr/>
        </p:nvSpPr>
        <p:spPr>
          <a:xfrm>
            <a:off x="0" y="1400943"/>
            <a:ext cx="6245156" cy="369332"/>
          </a:xfrm>
          <a:prstGeom prst="rect">
            <a:avLst/>
          </a:prstGeom>
          <a:noFill/>
        </p:spPr>
        <p:txBody>
          <a:bodyPr wrap="square">
            <a:spAutoFit/>
          </a:bodyPr>
          <a:lstStyle/>
          <a:p>
            <a:pPr marL="285750" indent="-285750" algn="l">
              <a:buFont typeface="Arial" panose="020B0604020202020204" pitchFamily="34" charset="0"/>
              <a:buChar char="•"/>
            </a:pPr>
            <a:r>
              <a:rPr lang="en-US" b="1" dirty="0">
                <a:solidFill>
                  <a:srgbClr val="000000"/>
                </a:solidFill>
                <a:latin typeface="Nunito" pitchFamily="2" charset="0"/>
              </a:rPr>
              <a:t>What should a project charter include?</a:t>
            </a:r>
          </a:p>
        </p:txBody>
      </p:sp>
      <p:sp>
        <p:nvSpPr>
          <p:cNvPr id="3" name="TextBox 2">
            <a:extLst>
              <a:ext uri="{FF2B5EF4-FFF2-40B4-BE49-F238E27FC236}">
                <a16:creationId xmlns:a16="http://schemas.microsoft.com/office/drawing/2014/main" id="{74740E8A-8C04-3044-2C92-11228BE84B58}"/>
              </a:ext>
            </a:extLst>
          </p:cNvPr>
          <p:cNvSpPr txBox="1"/>
          <p:nvPr/>
        </p:nvSpPr>
        <p:spPr>
          <a:xfrm>
            <a:off x="8812696" y="6486410"/>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Tree>
    <p:extLst>
      <p:ext uri="{BB962C8B-B14F-4D97-AF65-F5344CB8AC3E}">
        <p14:creationId xmlns:p14="http://schemas.microsoft.com/office/powerpoint/2010/main" val="2552869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7" name="TextBox 6">
            <a:extLst>
              <a:ext uri="{FF2B5EF4-FFF2-40B4-BE49-F238E27FC236}">
                <a16:creationId xmlns:a16="http://schemas.microsoft.com/office/drawing/2014/main" id="{B5E16DAB-EE8C-DE9C-B770-987CB52DFA5F}"/>
              </a:ext>
            </a:extLst>
          </p:cNvPr>
          <p:cNvSpPr txBox="1"/>
          <p:nvPr/>
        </p:nvSpPr>
        <p:spPr>
          <a:xfrm>
            <a:off x="0" y="755395"/>
            <a:ext cx="3379304" cy="369332"/>
          </a:xfrm>
          <a:prstGeom prst="rect">
            <a:avLst/>
          </a:prstGeom>
          <a:solidFill>
            <a:srgbClr val="00B0F0"/>
          </a:solidFill>
        </p:spPr>
        <p:txBody>
          <a:bodyPr wrap="square">
            <a:spAutoFit/>
          </a:bodyPr>
          <a:lstStyle/>
          <a:p>
            <a:pPr algn="l"/>
            <a:r>
              <a:rPr lang="en-IN" b="1" i="0" dirty="0">
                <a:solidFill>
                  <a:schemeClr val="bg1"/>
                </a:solidFill>
                <a:effectLst/>
                <a:latin typeface="Heebo" pitchFamily="2" charset="-79"/>
                <a:cs typeface="Heebo" pitchFamily="2" charset="-79"/>
              </a:rPr>
              <a:t>Project Charter :</a:t>
            </a:r>
          </a:p>
        </p:txBody>
      </p:sp>
      <p:sp>
        <p:nvSpPr>
          <p:cNvPr id="3" name="TextBox 2">
            <a:extLst>
              <a:ext uri="{FF2B5EF4-FFF2-40B4-BE49-F238E27FC236}">
                <a16:creationId xmlns:a16="http://schemas.microsoft.com/office/drawing/2014/main" id="{74740E8A-8C04-3044-2C92-11228BE84B58}"/>
              </a:ext>
            </a:extLst>
          </p:cNvPr>
          <p:cNvSpPr txBox="1"/>
          <p:nvPr/>
        </p:nvSpPr>
        <p:spPr>
          <a:xfrm>
            <a:off x="8812696" y="6486410"/>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
        <p:nvSpPr>
          <p:cNvPr id="5" name="TextBox 4">
            <a:extLst>
              <a:ext uri="{FF2B5EF4-FFF2-40B4-BE49-F238E27FC236}">
                <a16:creationId xmlns:a16="http://schemas.microsoft.com/office/drawing/2014/main" id="{02BB12AC-776C-C10F-CA45-58E9C913BED5}"/>
              </a:ext>
            </a:extLst>
          </p:cNvPr>
          <p:cNvSpPr txBox="1"/>
          <p:nvPr/>
        </p:nvSpPr>
        <p:spPr>
          <a:xfrm>
            <a:off x="457201" y="1473501"/>
            <a:ext cx="8025318" cy="4455066"/>
          </a:xfrm>
          <a:prstGeom prst="rect">
            <a:avLst/>
          </a:prstGeom>
          <a:noFill/>
        </p:spPr>
        <p:txBody>
          <a:bodyPr wrap="square">
            <a:spAutoFit/>
          </a:bodyPr>
          <a:lstStyle/>
          <a:p>
            <a:pPr algn="just">
              <a:lnSpc>
                <a:spcPct val="200000"/>
              </a:lnSpc>
            </a:pPr>
            <a:r>
              <a:rPr lang="en-US" b="0" i="0" dirty="0">
                <a:solidFill>
                  <a:srgbClr val="000000"/>
                </a:solidFill>
                <a:effectLst/>
                <a:latin typeface="Nunito" pitchFamily="2" charset="0"/>
              </a:rPr>
              <a:t>The project's primary parts are defined in the Project Charter.</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Aims of the project</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Problem statements and project restrictions</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Appoint a project manager.</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List of stakeholders</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Schedule and budget at a high level</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Milestones</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Approvals</a:t>
            </a:r>
          </a:p>
        </p:txBody>
      </p:sp>
    </p:spTree>
    <p:extLst>
      <p:ext uri="{BB962C8B-B14F-4D97-AF65-F5344CB8AC3E}">
        <p14:creationId xmlns:p14="http://schemas.microsoft.com/office/powerpoint/2010/main" val="1531238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7" name="TextBox 6">
            <a:extLst>
              <a:ext uri="{FF2B5EF4-FFF2-40B4-BE49-F238E27FC236}">
                <a16:creationId xmlns:a16="http://schemas.microsoft.com/office/drawing/2014/main" id="{B5E16DAB-EE8C-DE9C-B770-987CB52DFA5F}"/>
              </a:ext>
            </a:extLst>
          </p:cNvPr>
          <p:cNvSpPr txBox="1"/>
          <p:nvPr/>
        </p:nvSpPr>
        <p:spPr>
          <a:xfrm>
            <a:off x="0" y="755395"/>
            <a:ext cx="3379304" cy="369332"/>
          </a:xfrm>
          <a:prstGeom prst="rect">
            <a:avLst/>
          </a:prstGeom>
          <a:solidFill>
            <a:srgbClr val="00B0F0"/>
          </a:solidFill>
        </p:spPr>
        <p:txBody>
          <a:bodyPr wrap="square">
            <a:spAutoFit/>
          </a:bodyPr>
          <a:lstStyle/>
          <a:p>
            <a:pPr algn="l"/>
            <a:r>
              <a:rPr lang="en-IN" b="1" i="0" dirty="0">
                <a:solidFill>
                  <a:schemeClr val="bg1"/>
                </a:solidFill>
                <a:effectLst/>
                <a:latin typeface="Heebo" pitchFamily="2" charset="-79"/>
                <a:cs typeface="Heebo" pitchFamily="2" charset="-79"/>
              </a:rPr>
              <a:t>Project Charter :</a:t>
            </a:r>
          </a:p>
        </p:txBody>
      </p:sp>
      <p:sp>
        <p:nvSpPr>
          <p:cNvPr id="3" name="TextBox 2">
            <a:extLst>
              <a:ext uri="{FF2B5EF4-FFF2-40B4-BE49-F238E27FC236}">
                <a16:creationId xmlns:a16="http://schemas.microsoft.com/office/drawing/2014/main" id="{74740E8A-8C04-3044-2C92-11228BE84B58}"/>
              </a:ext>
            </a:extLst>
          </p:cNvPr>
          <p:cNvSpPr txBox="1"/>
          <p:nvPr/>
        </p:nvSpPr>
        <p:spPr>
          <a:xfrm>
            <a:off x="8812696" y="6486410"/>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
        <p:nvSpPr>
          <p:cNvPr id="4" name="TextBox 3">
            <a:extLst>
              <a:ext uri="{FF2B5EF4-FFF2-40B4-BE49-F238E27FC236}">
                <a16:creationId xmlns:a16="http://schemas.microsoft.com/office/drawing/2014/main" id="{536D2A5D-5075-F536-2946-CE17E9091380}"/>
              </a:ext>
            </a:extLst>
          </p:cNvPr>
          <p:cNvSpPr txBox="1"/>
          <p:nvPr/>
        </p:nvSpPr>
        <p:spPr>
          <a:xfrm>
            <a:off x="428016" y="1458280"/>
            <a:ext cx="11118715" cy="4455066"/>
          </a:xfrm>
          <a:prstGeom prst="rect">
            <a:avLst/>
          </a:prstGeom>
          <a:noFill/>
        </p:spPr>
        <p:txBody>
          <a:bodyPr wrap="square">
            <a:spAutoFit/>
          </a:bodyPr>
          <a:lstStyle/>
          <a:p>
            <a:pPr algn="l">
              <a:lnSpc>
                <a:spcPct val="200000"/>
              </a:lnSpc>
            </a:pPr>
            <a:r>
              <a:rPr lang="en-US" b="1" i="0" dirty="0">
                <a:solidFill>
                  <a:srgbClr val="000000"/>
                </a:solidFill>
                <a:effectLst/>
                <a:latin typeface="Heebo" pitchFamily="2" charset="-79"/>
                <a:cs typeface="Heebo" pitchFamily="2" charset="-79"/>
              </a:rPr>
              <a:t>Stakeholder Identification</a:t>
            </a:r>
          </a:p>
          <a:p>
            <a:pPr algn="just">
              <a:lnSpc>
                <a:spcPct val="200000"/>
              </a:lnSpc>
            </a:pPr>
            <a:r>
              <a:rPr lang="en-US" b="0" i="0" dirty="0">
                <a:solidFill>
                  <a:srgbClr val="000000"/>
                </a:solidFill>
                <a:effectLst/>
                <a:latin typeface="Nunito" pitchFamily="2" charset="0"/>
              </a:rPr>
              <a:t>A stakeholder may have an impact on the project's success or failure. A Stakeholder Register is used to record information about the stakeholder. The stakeholder registration will include details such as</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Stakeholder types</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Stakeholder expectations</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Project Participation ( Business Analyst, Tech architect, Client PM)</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Affirmation (Director, Business Lead, etc.)</a:t>
            </a:r>
          </a:p>
          <a:p>
            <a:pPr algn="just">
              <a:lnSpc>
                <a:spcPct val="200000"/>
              </a:lnSpc>
              <a:buFont typeface="Arial" panose="020B0604020202020204" pitchFamily="34" charset="0"/>
              <a:buChar char="•"/>
            </a:pPr>
            <a:r>
              <a:rPr lang="en-US" b="0" i="0" dirty="0">
                <a:solidFill>
                  <a:srgbClr val="000000"/>
                </a:solidFill>
                <a:effectLst/>
                <a:latin typeface="Nunito" pitchFamily="2" charset="0"/>
              </a:rPr>
              <a:t>Communication frequency (weekly/monthly)</a:t>
            </a:r>
          </a:p>
        </p:txBody>
      </p:sp>
    </p:spTree>
    <p:extLst>
      <p:ext uri="{BB962C8B-B14F-4D97-AF65-F5344CB8AC3E}">
        <p14:creationId xmlns:p14="http://schemas.microsoft.com/office/powerpoint/2010/main" val="921966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7" name="TextBox 6">
            <a:extLst>
              <a:ext uri="{FF2B5EF4-FFF2-40B4-BE49-F238E27FC236}">
                <a16:creationId xmlns:a16="http://schemas.microsoft.com/office/drawing/2014/main" id="{B5E16DAB-EE8C-DE9C-B770-987CB52DFA5F}"/>
              </a:ext>
            </a:extLst>
          </p:cNvPr>
          <p:cNvSpPr txBox="1"/>
          <p:nvPr/>
        </p:nvSpPr>
        <p:spPr>
          <a:xfrm>
            <a:off x="0" y="755395"/>
            <a:ext cx="3379304" cy="369332"/>
          </a:xfrm>
          <a:prstGeom prst="rect">
            <a:avLst/>
          </a:prstGeom>
          <a:solidFill>
            <a:srgbClr val="00B0F0"/>
          </a:solidFill>
        </p:spPr>
        <p:txBody>
          <a:bodyPr wrap="square">
            <a:spAutoFit/>
          </a:bodyPr>
          <a:lstStyle/>
          <a:p>
            <a:pPr algn="l"/>
            <a:r>
              <a:rPr lang="en-IN" b="1" i="0" dirty="0">
                <a:solidFill>
                  <a:schemeClr val="bg1"/>
                </a:solidFill>
                <a:effectLst/>
                <a:latin typeface="Heebo" pitchFamily="2" charset="-79"/>
                <a:cs typeface="Heebo" pitchFamily="2" charset="-79"/>
              </a:rPr>
              <a:t>Tips to create Project Charter :</a:t>
            </a:r>
          </a:p>
        </p:txBody>
      </p:sp>
      <p:sp>
        <p:nvSpPr>
          <p:cNvPr id="11" name="TextBox 10">
            <a:extLst>
              <a:ext uri="{FF2B5EF4-FFF2-40B4-BE49-F238E27FC236}">
                <a16:creationId xmlns:a16="http://schemas.microsoft.com/office/drawing/2014/main" id="{EB70A045-8694-10D3-4408-92AC1B9C02AA}"/>
              </a:ext>
            </a:extLst>
          </p:cNvPr>
          <p:cNvSpPr txBox="1"/>
          <p:nvPr/>
        </p:nvSpPr>
        <p:spPr>
          <a:xfrm>
            <a:off x="279856" y="1770275"/>
            <a:ext cx="10863871" cy="5009064"/>
          </a:xfrm>
          <a:prstGeom prst="rect">
            <a:avLst/>
          </a:prstGeom>
          <a:noFill/>
        </p:spPr>
        <p:txBody>
          <a:bodyPr wrap="square">
            <a:spAutoFit/>
          </a:bodyPr>
          <a:lstStyle/>
          <a:p>
            <a:pPr indent="-285750" algn="just">
              <a:lnSpc>
                <a:spcPct val="200000"/>
              </a:lnSpc>
              <a:buFont typeface="Arial" panose="020B0604020202020204" pitchFamily="34" charset="0"/>
              <a:buChar char="•"/>
            </a:pPr>
            <a:r>
              <a:rPr lang="en-US" b="1" dirty="0">
                <a:solidFill>
                  <a:srgbClr val="000000"/>
                </a:solidFill>
                <a:latin typeface="Nunito" pitchFamily="2" charset="0"/>
              </a:rPr>
              <a:t>Keep it short: </a:t>
            </a:r>
            <a:r>
              <a:rPr lang="en-US" dirty="0">
                <a:solidFill>
                  <a:srgbClr val="000000"/>
                </a:solidFill>
                <a:latin typeface="Nunito" pitchFamily="2" charset="0"/>
              </a:rPr>
              <a:t>Each section of the charter can be just a few sentences. The project charter should be a high-level overview of a project and not an in-depth breakdown.</a:t>
            </a:r>
          </a:p>
          <a:p>
            <a:pPr indent="-285750" algn="just">
              <a:lnSpc>
                <a:spcPct val="200000"/>
              </a:lnSpc>
              <a:buFont typeface="Arial" panose="020B0604020202020204" pitchFamily="34" charset="0"/>
              <a:buChar char="•"/>
            </a:pPr>
            <a:r>
              <a:rPr lang="en-US" b="1" dirty="0">
                <a:solidFill>
                  <a:srgbClr val="000000"/>
                </a:solidFill>
                <a:latin typeface="Nunito" pitchFamily="2" charset="0"/>
              </a:rPr>
              <a:t>Seek team insights: </a:t>
            </a:r>
            <a:r>
              <a:rPr lang="en-US" dirty="0">
                <a:solidFill>
                  <a:srgbClr val="000000"/>
                </a:solidFill>
                <a:latin typeface="Nunito" pitchFamily="2" charset="0"/>
              </a:rPr>
              <a:t>Communicating to the project team members should aid in creating realistic goals and milestones and identifying possible project risks.</a:t>
            </a:r>
          </a:p>
          <a:p>
            <a:pPr indent="-285750" algn="just">
              <a:lnSpc>
                <a:spcPct val="200000"/>
              </a:lnSpc>
              <a:buFont typeface="Arial" panose="020B0604020202020204" pitchFamily="34" charset="0"/>
              <a:buChar char="•"/>
            </a:pPr>
            <a:r>
              <a:rPr lang="en-US" b="1" dirty="0">
                <a:solidFill>
                  <a:srgbClr val="000000"/>
                </a:solidFill>
                <a:latin typeface="Nunito" pitchFamily="2" charset="0"/>
              </a:rPr>
              <a:t>Create and use a charter template: </a:t>
            </a:r>
            <a:r>
              <a:rPr lang="en-US" dirty="0">
                <a:solidFill>
                  <a:srgbClr val="000000"/>
                </a:solidFill>
                <a:latin typeface="Nunito" pitchFamily="2" charset="0"/>
              </a:rPr>
              <a:t>A charter template helps keep the charter clear and concise and can be used to create future project charters.</a:t>
            </a:r>
          </a:p>
          <a:p>
            <a:pPr indent="-285750" algn="just">
              <a:lnSpc>
                <a:spcPct val="200000"/>
              </a:lnSpc>
              <a:buFont typeface="Arial" panose="020B0604020202020204" pitchFamily="34" charset="0"/>
              <a:buChar char="•"/>
            </a:pPr>
            <a:r>
              <a:rPr lang="en-US" b="1" dirty="0">
                <a:solidFill>
                  <a:srgbClr val="000000"/>
                </a:solidFill>
                <a:latin typeface="Nunito" pitchFamily="2" charset="0"/>
              </a:rPr>
              <a:t>Create an implementation plan: </a:t>
            </a:r>
            <a:r>
              <a:rPr lang="en-US" dirty="0">
                <a:solidFill>
                  <a:srgbClr val="000000"/>
                </a:solidFill>
                <a:latin typeface="Nunito" pitchFamily="2" charset="0"/>
              </a:rPr>
              <a:t>After organizing the charter, project managers should begin planning how to implement it. This includes talking to project members and stakeholders and gathering and collecting funds and resources.</a:t>
            </a:r>
          </a:p>
        </p:txBody>
      </p:sp>
      <p:sp>
        <p:nvSpPr>
          <p:cNvPr id="2" name="TextBox 1">
            <a:extLst>
              <a:ext uri="{FF2B5EF4-FFF2-40B4-BE49-F238E27FC236}">
                <a16:creationId xmlns:a16="http://schemas.microsoft.com/office/drawing/2014/main" id="{F7F3B3D7-17CF-E523-94ED-AB74E3331778}"/>
              </a:ext>
            </a:extLst>
          </p:cNvPr>
          <p:cNvSpPr txBox="1"/>
          <p:nvPr/>
        </p:nvSpPr>
        <p:spPr>
          <a:xfrm>
            <a:off x="-1" y="1400943"/>
            <a:ext cx="9912485" cy="369332"/>
          </a:xfrm>
          <a:prstGeom prst="rect">
            <a:avLst/>
          </a:prstGeom>
          <a:noFill/>
        </p:spPr>
        <p:txBody>
          <a:bodyPr wrap="square">
            <a:spAutoFit/>
          </a:bodyPr>
          <a:lstStyle/>
          <a:p>
            <a:pPr marL="285750" indent="-285750" algn="l">
              <a:buFont typeface="Arial" panose="020B0604020202020204" pitchFamily="34" charset="0"/>
              <a:buChar char="•"/>
            </a:pPr>
            <a:r>
              <a:rPr lang="en-US" b="1" i="0" dirty="0">
                <a:effectLst/>
                <a:latin typeface="Arial" panose="020B0604020202020204" pitchFamily="34" charset="0"/>
              </a:rPr>
              <a:t>To successfully create a project charter, project managers should do the following:</a:t>
            </a:r>
            <a:endParaRPr lang="en-US" b="1" dirty="0">
              <a:latin typeface="Nunito" pitchFamily="2" charset="0"/>
            </a:endParaRPr>
          </a:p>
        </p:txBody>
      </p:sp>
      <p:sp>
        <p:nvSpPr>
          <p:cNvPr id="3" name="TextBox 2">
            <a:extLst>
              <a:ext uri="{FF2B5EF4-FFF2-40B4-BE49-F238E27FC236}">
                <a16:creationId xmlns:a16="http://schemas.microsoft.com/office/drawing/2014/main" id="{7EE3FAE9-FC7B-B1E4-8D63-50D88EAD2D88}"/>
              </a:ext>
            </a:extLst>
          </p:cNvPr>
          <p:cNvSpPr txBox="1"/>
          <p:nvPr/>
        </p:nvSpPr>
        <p:spPr>
          <a:xfrm>
            <a:off x="8812696" y="6486410"/>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1 − Project Initiation:</a:t>
            </a:r>
            <a:endParaRPr lang="en-IN" dirty="0">
              <a:solidFill>
                <a:schemeClr val="bg1"/>
              </a:solidFill>
            </a:endParaRPr>
          </a:p>
        </p:txBody>
      </p:sp>
    </p:spTree>
    <p:extLst>
      <p:ext uri="{BB962C8B-B14F-4D97-AF65-F5344CB8AC3E}">
        <p14:creationId xmlns:p14="http://schemas.microsoft.com/office/powerpoint/2010/main" val="2532845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2" name="TextBox 1">
            <a:extLst>
              <a:ext uri="{FF2B5EF4-FFF2-40B4-BE49-F238E27FC236}">
                <a16:creationId xmlns:a16="http://schemas.microsoft.com/office/drawing/2014/main" id="{36EDC553-99E2-C52A-E5DE-B37623F5C785}"/>
              </a:ext>
            </a:extLst>
          </p:cNvPr>
          <p:cNvSpPr txBox="1"/>
          <p:nvPr/>
        </p:nvSpPr>
        <p:spPr>
          <a:xfrm>
            <a:off x="1" y="753599"/>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2 − Project Planning:</a:t>
            </a:r>
            <a:endParaRPr lang="en-IN" dirty="0">
              <a:solidFill>
                <a:schemeClr val="bg1"/>
              </a:solidFill>
            </a:endParaRPr>
          </a:p>
        </p:txBody>
      </p:sp>
      <p:sp>
        <p:nvSpPr>
          <p:cNvPr id="5" name="TextBox 4">
            <a:extLst>
              <a:ext uri="{FF2B5EF4-FFF2-40B4-BE49-F238E27FC236}">
                <a16:creationId xmlns:a16="http://schemas.microsoft.com/office/drawing/2014/main" id="{234FE989-A0A1-8829-DD19-F42E5B5ED377}"/>
              </a:ext>
            </a:extLst>
          </p:cNvPr>
          <p:cNvSpPr txBox="1"/>
          <p:nvPr/>
        </p:nvSpPr>
        <p:spPr>
          <a:xfrm>
            <a:off x="0" y="1527569"/>
            <a:ext cx="12192000" cy="338554"/>
          </a:xfrm>
          <a:prstGeom prst="rect">
            <a:avLst/>
          </a:prstGeom>
          <a:solidFill>
            <a:schemeClr val="accent1"/>
          </a:solidFill>
        </p:spPr>
        <p:txBody>
          <a:bodyPr wrap="square">
            <a:spAutoFit/>
          </a:bodyPr>
          <a:lstStyle>
            <a:defPPr>
              <a:defRPr lang="en-US"/>
            </a:defPPr>
            <a:lvl1pPr algn="ctr">
              <a:defRPr b="0" i="1">
                <a:solidFill>
                  <a:schemeClr val="bg1"/>
                </a:solidFill>
                <a:effectLst/>
                <a:latin typeface="Arial" panose="020B0604020202020204" pitchFamily="34" charset="0"/>
              </a:defRPr>
            </a:lvl1pPr>
          </a:lstStyle>
          <a:p>
            <a:r>
              <a:rPr lang="en-US" sz="1600"/>
              <a:t>Incorporates each segment related to the execution of the venture including the expenses, dangers, assets, and timetables</a:t>
            </a:r>
            <a:endParaRPr lang="en-IN" sz="1600" dirty="0"/>
          </a:p>
        </p:txBody>
      </p:sp>
      <p:sp>
        <p:nvSpPr>
          <p:cNvPr id="7" name="TextBox 6">
            <a:extLst>
              <a:ext uri="{FF2B5EF4-FFF2-40B4-BE49-F238E27FC236}">
                <a16:creationId xmlns:a16="http://schemas.microsoft.com/office/drawing/2014/main" id="{938AF5B3-0951-32DE-FE3F-F37EF70D11F8}"/>
              </a:ext>
            </a:extLst>
          </p:cNvPr>
          <p:cNvSpPr txBox="1"/>
          <p:nvPr/>
        </p:nvSpPr>
        <p:spPr>
          <a:xfrm>
            <a:off x="256727" y="2029869"/>
            <a:ext cx="6245156" cy="2556982"/>
          </a:xfrm>
          <a:prstGeom prst="rect">
            <a:avLst/>
          </a:prstGeom>
          <a:noFill/>
        </p:spPr>
        <p:txBody>
          <a:bodyPr wrap="square">
            <a:spAutoFit/>
          </a:bodyPr>
          <a:lstStyle/>
          <a:p>
            <a:pPr marL="457200" indent="-457200">
              <a:lnSpc>
                <a:spcPct val="200000"/>
              </a:lnSpc>
              <a:buFont typeface="Arial" panose="020B0604020202020204" pitchFamily="34" charset="0"/>
              <a:buChar char="•"/>
            </a:pPr>
            <a:r>
              <a:rPr lang="en-IN" sz="2800" i="0" dirty="0">
                <a:effectLst/>
                <a:latin typeface="urw-din"/>
              </a:rPr>
              <a:t>Make Task List</a:t>
            </a:r>
          </a:p>
          <a:p>
            <a:pPr marL="457200" indent="-457200">
              <a:lnSpc>
                <a:spcPct val="200000"/>
              </a:lnSpc>
              <a:buFont typeface="Arial" panose="020B0604020202020204" pitchFamily="34" charset="0"/>
              <a:buChar char="•"/>
            </a:pPr>
            <a:r>
              <a:rPr lang="en-IN" sz="2800" i="0" dirty="0">
                <a:effectLst/>
                <a:latin typeface="urw-din"/>
              </a:rPr>
              <a:t>Make a Budget </a:t>
            </a:r>
            <a:endParaRPr lang="en-IN" sz="2800" dirty="0">
              <a:latin typeface="urw-din"/>
            </a:endParaRPr>
          </a:p>
          <a:p>
            <a:pPr marL="457200" indent="-457200">
              <a:lnSpc>
                <a:spcPct val="200000"/>
              </a:lnSpc>
              <a:buFont typeface="Arial" panose="020B0604020202020204" pitchFamily="34" charset="0"/>
              <a:buChar char="•"/>
            </a:pPr>
            <a:r>
              <a:rPr lang="en-IN" sz="2800" i="0" dirty="0">
                <a:effectLst/>
                <a:latin typeface="urw-din"/>
              </a:rPr>
              <a:t>Make a Project Schedule</a:t>
            </a:r>
          </a:p>
        </p:txBody>
      </p:sp>
    </p:spTree>
    <p:extLst>
      <p:ext uri="{BB962C8B-B14F-4D97-AF65-F5344CB8AC3E}">
        <p14:creationId xmlns:p14="http://schemas.microsoft.com/office/powerpoint/2010/main" val="269948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2" name="TextBox 1">
            <a:extLst>
              <a:ext uri="{FF2B5EF4-FFF2-40B4-BE49-F238E27FC236}">
                <a16:creationId xmlns:a16="http://schemas.microsoft.com/office/drawing/2014/main" id="{36EDC553-99E2-C52A-E5DE-B37623F5C785}"/>
              </a:ext>
            </a:extLst>
          </p:cNvPr>
          <p:cNvSpPr txBox="1"/>
          <p:nvPr/>
        </p:nvSpPr>
        <p:spPr>
          <a:xfrm>
            <a:off x="1" y="753599"/>
            <a:ext cx="3379304"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3 − Project Execution:</a:t>
            </a:r>
            <a:endParaRPr lang="en-IN" dirty="0">
              <a:solidFill>
                <a:schemeClr val="bg1"/>
              </a:solidFill>
            </a:endParaRPr>
          </a:p>
        </p:txBody>
      </p:sp>
      <p:sp>
        <p:nvSpPr>
          <p:cNvPr id="7" name="TextBox 6">
            <a:extLst>
              <a:ext uri="{FF2B5EF4-FFF2-40B4-BE49-F238E27FC236}">
                <a16:creationId xmlns:a16="http://schemas.microsoft.com/office/drawing/2014/main" id="{938AF5B3-0951-32DE-FE3F-F37EF70D11F8}"/>
              </a:ext>
            </a:extLst>
          </p:cNvPr>
          <p:cNvSpPr txBox="1"/>
          <p:nvPr/>
        </p:nvSpPr>
        <p:spPr>
          <a:xfrm>
            <a:off x="470736" y="1313559"/>
            <a:ext cx="6245156" cy="4280531"/>
          </a:xfrm>
          <a:prstGeom prst="rect">
            <a:avLst/>
          </a:prstGeom>
          <a:noFill/>
        </p:spPr>
        <p:txBody>
          <a:bodyPr wrap="square">
            <a:spAutoFit/>
          </a:bodyPr>
          <a:lstStyle/>
          <a:p>
            <a:pPr marL="457200" indent="-457200">
              <a:lnSpc>
                <a:spcPct val="200000"/>
              </a:lnSpc>
              <a:buFont typeface="Arial" panose="020B0604020202020204" pitchFamily="34" charset="0"/>
              <a:buChar char="•"/>
            </a:pPr>
            <a:r>
              <a:rPr lang="en-IN" sz="2800" i="0" dirty="0">
                <a:solidFill>
                  <a:srgbClr val="273239"/>
                </a:solidFill>
                <a:effectLst/>
                <a:latin typeface="urw-din"/>
              </a:rPr>
              <a:t>Assignment Management</a:t>
            </a:r>
          </a:p>
          <a:p>
            <a:pPr marL="457200" indent="-457200">
              <a:lnSpc>
                <a:spcPct val="200000"/>
              </a:lnSpc>
              <a:buFont typeface="Arial" panose="020B0604020202020204" pitchFamily="34" charset="0"/>
              <a:buChar char="•"/>
            </a:pPr>
            <a:r>
              <a:rPr lang="en-IN" sz="2800" i="0" dirty="0">
                <a:effectLst/>
                <a:latin typeface="urw-din"/>
              </a:rPr>
              <a:t>Time Table Management</a:t>
            </a:r>
            <a:endParaRPr lang="en-IN" sz="2800" dirty="0">
              <a:latin typeface="urw-din"/>
            </a:endParaRPr>
          </a:p>
          <a:p>
            <a:pPr marL="457200" indent="-457200">
              <a:lnSpc>
                <a:spcPct val="200000"/>
              </a:lnSpc>
              <a:buFont typeface="Arial" panose="020B0604020202020204" pitchFamily="34" charset="0"/>
              <a:buChar char="•"/>
            </a:pPr>
            <a:r>
              <a:rPr lang="en-IN" sz="2800" i="0" dirty="0">
                <a:solidFill>
                  <a:srgbClr val="273239"/>
                </a:solidFill>
                <a:effectLst/>
                <a:latin typeface="urw-din"/>
              </a:rPr>
              <a:t>Cost Management</a:t>
            </a:r>
            <a:endParaRPr lang="en-IN" sz="2800" i="0" dirty="0">
              <a:effectLst/>
              <a:latin typeface="urw-din"/>
            </a:endParaRPr>
          </a:p>
          <a:p>
            <a:pPr marL="457200" indent="-457200">
              <a:lnSpc>
                <a:spcPct val="200000"/>
              </a:lnSpc>
              <a:buFont typeface="Arial" panose="020B0604020202020204" pitchFamily="34" charset="0"/>
              <a:buChar char="•"/>
            </a:pPr>
            <a:r>
              <a:rPr lang="en-IN" sz="2800" i="0" dirty="0">
                <a:solidFill>
                  <a:srgbClr val="273239"/>
                </a:solidFill>
                <a:effectLst/>
                <a:latin typeface="urw-din"/>
              </a:rPr>
              <a:t>Quality Management</a:t>
            </a:r>
          </a:p>
          <a:p>
            <a:pPr marL="457200" indent="-457200">
              <a:lnSpc>
                <a:spcPct val="200000"/>
              </a:lnSpc>
              <a:buFont typeface="Arial" panose="020B0604020202020204" pitchFamily="34" charset="0"/>
              <a:buChar char="•"/>
            </a:pPr>
            <a:endParaRPr lang="en-IN" sz="2800" dirty="0">
              <a:latin typeface="urw-din"/>
            </a:endParaRPr>
          </a:p>
        </p:txBody>
      </p:sp>
    </p:spTree>
    <p:extLst>
      <p:ext uri="{BB962C8B-B14F-4D97-AF65-F5344CB8AC3E}">
        <p14:creationId xmlns:p14="http://schemas.microsoft.com/office/powerpoint/2010/main" val="3943482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2" name="TextBox 1">
            <a:extLst>
              <a:ext uri="{FF2B5EF4-FFF2-40B4-BE49-F238E27FC236}">
                <a16:creationId xmlns:a16="http://schemas.microsoft.com/office/drawing/2014/main" id="{36EDC553-99E2-C52A-E5DE-B37623F5C785}"/>
              </a:ext>
            </a:extLst>
          </p:cNvPr>
          <p:cNvSpPr txBox="1"/>
          <p:nvPr/>
        </p:nvSpPr>
        <p:spPr>
          <a:xfrm>
            <a:off x="1" y="753599"/>
            <a:ext cx="4464995"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4 − Task Monitoring and Control:</a:t>
            </a:r>
            <a:endParaRPr lang="en-IN" dirty="0">
              <a:solidFill>
                <a:schemeClr val="bg1"/>
              </a:solidFill>
            </a:endParaRPr>
          </a:p>
        </p:txBody>
      </p:sp>
      <p:sp>
        <p:nvSpPr>
          <p:cNvPr id="4" name="TextBox 3">
            <a:extLst>
              <a:ext uri="{FF2B5EF4-FFF2-40B4-BE49-F238E27FC236}">
                <a16:creationId xmlns:a16="http://schemas.microsoft.com/office/drawing/2014/main" id="{B99D398B-0E4C-A154-9C03-E0BEE66A07EA}"/>
              </a:ext>
            </a:extLst>
          </p:cNvPr>
          <p:cNvSpPr txBox="1"/>
          <p:nvPr/>
        </p:nvSpPr>
        <p:spPr>
          <a:xfrm>
            <a:off x="389106" y="1469909"/>
            <a:ext cx="11215992" cy="4141262"/>
          </a:xfrm>
          <a:prstGeom prst="rect">
            <a:avLst/>
          </a:prstGeom>
          <a:noFill/>
        </p:spPr>
        <p:txBody>
          <a:bodyPr wrap="square">
            <a:spAutoFit/>
          </a:bodyPr>
          <a:lstStyle/>
          <a:p>
            <a:pPr marL="342900" indent="-342900">
              <a:lnSpc>
                <a:spcPct val="250000"/>
              </a:lnSpc>
              <a:buFont typeface="+mj-lt"/>
              <a:buAutoNum type="arabicPeriod"/>
            </a:pPr>
            <a:r>
              <a:rPr lang="en-US" b="0" i="0" dirty="0">
                <a:solidFill>
                  <a:srgbClr val="273239"/>
                </a:solidFill>
                <a:effectLst/>
                <a:latin typeface="Nunito" pitchFamily="2" charset="0"/>
              </a:rPr>
              <a:t>The fourth stage is project monitoring and control, which happens simultaneously as the execution period of the venture.</a:t>
            </a:r>
          </a:p>
          <a:p>
            <a:pPr marL="342900" indent="-342900">
              <a:lnSpc>
                <a:spcPct val="250000"/>
              </a:lnSpc>
              <a:buFont typeface="+mj-lt"/>
              <a:buAutoNum type="arabicPeriod"/>
            </a:pPr>
            <a:r>
              <a:rPr lang="en-US" b="0" i="0" dirty="0">
                <a:solidFill>
                  <a:srgbClr val="273239"/>
                </a:solidFill>
                <a:effectLst/>
                <a:latin typeface="Nunito" pitchFamily="2" charset="0"/>
              </a:rPr>
              <a:t>It includes observing the advancement and execution of the undertaking to guarantee sure that it stays on time and inside the spending plan</a:t>
            </a:r>
            <a:endParaRPr lang="en-US" dirty="0">
              <a:solidFill>
                <a:srgbClr val="273239"/>
              </a:solidFill>
              <a:latin typeface="Nunito" pitchFamily="2" charset="0"/>
            </a:endParaRPr>
          </a:p>
          <a:p>
            <a:pPr marL="342900" indent="-342900">
              <a:lnSpc>
                <a:spcPct val="250000"/>
              </a:lnSpc>
              <a:buFont typeface="+mj-lt"/>
              <a:buAutoNum type="arabicPeriod"/>
            </a:pPr>
            <a:r>
              <a:rPr lang="en-US" b="0" i="0" dirty="0">
                <a:solidFill>
                  <a:srgbClr val="273239"/>
                </a:solidFill>
                <a:effectLst/>
                <a:latin typeface="Nunito" pitchFamily="2" charset="0"/>
              </a:rPr>
              <a:t>Quality control systems are applied to ensure quality affirmation.</a:t>
            </a:r>
          </a:p>
          <a:p>
            <a:pPr marL="342900" indent="-342900">
              <a:lnSpc>
                <a:spcPct val="250000"/>
              </a:lnSpc>
              <a:buFont typeface="+mj-lt"/>
              <a:buAutoNum type="arabicPeriod"/>
            </a:pPr>
            <a:r>
              <a:rPr lang="en-US" b="0" i="0" dirty="0">
                <a:solidFill>
                  <a:srgbClr val="273239"/>
                </a:solidFill>
                <a:effectLst/>
                <a:latin typeface="Nunito" pitchFamily="2" charset="0"/>
              </a:rPr>
              <a:t>The greatest issues in an undertaking are commonly identified with time and cost.</a:t>
            </a:r>
            <a:endParaRPr lang="en-IN" dirty="0"/>
          </a:p>
        </p:txBody>
      </p:sp>
    </p:spTree>
    <p:extLst>
      <p:ext uri="{BB962C8B-B14F-4D97-AF65-F5344CB8AC3E}">
        <p14:creationId xmlns:p14="http://schemas.microsoft.com/office/powerpoint/2010/main" val="1827106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LIFE CYCLE-</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02</a:t>
              </a:r>
              <a:endParaRPr lang="ko-KR" altLang="en-US" sz="3600" b="1" dirty="0">
                <a:solidFill>
                  <a:schemeClr val="bg1"/>
                </a:solidFill>
                <a:cs typeface="Arial" pitchFamily="34" charset="0"/>
              </a:endParaRPr>
            </a:p>
          </p:txBody>
        </p:sp>
      </p:grpSp>
      <p:sp>
        <p:nvSpPr>
          <p:cNvPr id="2" name="TextBox 1">
            <a:extLst>
              <a:ext uri="{FF2B5EF4-FFF2-40B4-BE49-F238E27FC236}">
                <a16:creationId xmlns:a16="http://schemas.microsoft.com/office/drawing/2014/main" id="{36EDC553-99E2-C52A-E5DE-B37623F5C785}"/>
              </a:ext>
            </a:extLst>
          </p:cNvPr>
          <p:cNvSpPr txBox="1"/>
          <p:nvPr/>
        </p:nvSpPr>
        <p:spPr>
          <a:xfrm>
            <a:off x="2" y="753599"/>
            <a:ext cx="3239310" cy="369332"/>
          </a:xfrm>
          <a:prstGeom prst="rect">
            <a:avLst/>
          </a:prstGeom>
          <a:solidFill>
            <a:srgbClr val="00B050"/>
          </a:solidFill>
        </p:spPr>
        <p:txBody>
          <a:bodyPr wrap="square">
            <a:spAutoFit/>
          </a:bodyPr>
          <a:lstStyle/>
          <a:p>
            <a:r>
              <a:rPr lang="en-IN" b="1" i="0" dirty="0">
                <a:solidFill>
                  <a:schemeClr val="bg1"/>
                </a:solidFill>
                <a:effectLst/>
                <a:latin typeface="Nunito" pitchFamily="2" charset="0"/>
              </a:rPr>
              <a:t>Phase 5 − Project Closure:</a:t>
            </a:r>
            <a:endParaRPr lang="en-IN" dirty="0">
              <a:solidFill>
                <a:schemeClr val="bg1"/>
              </a:solidFill>
            </a:endParaRPr>
          </a:p>
        </p:txBody>
      </p:sp>
      <p:sp>
        <p:nvSpPr>
          <p:cNvPr id="4" name="TextBox 3">
            <a:extLst>
              <a:ext uri="{FF2B5EF4-FFF2-40B4-BE49-F238E27FC236}">
                <a16:creationId xmlns:a16="http://schemas.microsoft.com/office/drawing/2014/main" id="{B99D398B-0E4C-A154-9C03-E0BEE66A07EA}"/>
              </a:ext>
            </a:extLst>
          </p:cNvPr>
          <p:cNvSpPr txBox="1"/>
          <p:nvPr/>
        </p:nvSpPr>
        <p:spPr>
          <a:xfrm>
            <a:off x="389106" y="1469909"/>
            <a:ext cx="11215992" cy="2741776"/>
          </a:xfrm>
          <a:prstGeom prst="rect">
            <a:avLst/>
          </a:prstGeom>
          <a:noFill/>
        </p:spPr>
        <p:txBody>
          <a:bodyPr wrap="square">
            <a:spAutoFit/>
          </a:bodyPr>
          <a:lstStyle/>
          <a:p>
            <a:pPr marL="342900" indent="-342900">
              <a:lnSpc>
                <a:spcPct val="250000"/>
              </a:lnSpc>
              <a:buFont typeface="+mj-lt"/>
              <a:buAutoNum type="arabicPeriod"/>
            </a:pPr>
            <a:r>
              <a:rPr lang="en-US" b="0" i="0" dirty="0">
                <a:solidFill>
                  <a:srgbClr val="273239"/>
                </a:solidFill>
                <a:effectLst/>
                <a:latin typeface="Nunito" pitchFamily="2" charset="0"/>
              </a:rPr>
              <a:t>The fifth stage is project conclusion, in which the last expectations are introduced to the customer or partner.</a:t>
            </a:r>
          </a:p>
          <a:p>
            <a:pPr marL="342900" indent="-342900">
              <a:lnSpc>
                <a:spcPct val="250000"/>
              </a:lnSpc>
              <a:buFont typeface="+mj-lt"/>
              <a:buAutoNum type="arabicPeriod"/>
            </a:pPr>
            <a:r>
              <a:rPr lang="en-US" b="0" i="0">
                <a:solidFill>
                  <a:srgbClr val="273239"/>
                </a:solidFill>
                <a:effectLst/>
                <a:latin typeface="Nunito" pitchFamily="2" charset="0"/>
              </a:rPr>
              <a:t>When affirmed, assets are delivered, documentation is finished and everything is approved.</a:t>
            </a:r>
            <a:endParaRPr lang="en-US">
              <a:solidFill>
                <a:srgbClr val="273239"/>
              </a:solidFill>
              <a:latin typeface="Nunito" pitchFamily="2" charset="0"/>
            </a:endParaRPr>
          </a:p>
          <a:p>
            <a:pPr marL="342900" indent="-342900">
              <a:lnSpc>
                <a:spcPct val="250000"/>
              </a:lnSpc>
              <a:buFont typeface="+mj-lt"/>
              <a:buAutoNum type="arabicPeriod"/>
            </a:pPr>
            <a:endParaRPr lang="en-IN" dirty="0"/>
          </a:p>
        </p:txBody>
      </p:sp>
    </p:spTree>
    <p:extLst>
      <p:ext uri="{BB962C8B-B14F-4D97-AF65-F5344CB8AC3E}">
        <p14:creationId xmlns:p14="http://schemas.microsoft.com/office/powerpoint/2010/main" val="51903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5E229E-92AE-CE9B-73A8-C43943F16CF6}"/>
              </a:ext>
            </a:extLst>
          </p:cNvPr>
          <p:cNvSpPr txBox="1"/>
          <p:nvPr/>
        </p:nvSpPr>
        <p:spPr>
          <a:xfrm>
            <a:off x="2483390" y="2905780"/>
            <a:ext cx="7225219" cy="523220"/>
          </a:xfrm>
          <a:prstGeom prst="rect">
            <a:avLst/>
          </a:prstGeom>
          <a:noFill/>
        </p:spPr>
        <p:txBody>
          <a:bodyPr wrap="square">
            <a:spAutoFit/>
          </a:bodyPr>
          <a:lstStyle/>
          <a:p>
            <a:r>
              <a:rPr lang="en-US" sz="2800" b="1" dirty="0">
                <a:solidFill>
                  <a:srgbClr val="C00000"/>
                </a:solidFill>
                <a:cs typeface="Arial" pitchFamily="34" charset="0"/>
              </a:rPr>
              <a:t>1.3 PROJECT MANAGEMENT PROCESS</a:t>
            </a:r>
            <a:endParaRPr lang="en-IN" sz="2800" dirty="0"/>
          </a:p>
        </p:txBody>
      </p:sp>
    </p:spTree>
    <p:extLst>
      <p:ext uri="{BB962C8B-B14F-4D97-AF65-F5344CB8AC3E}">
        <p14:creationId xmlns:p14="http://schemas.microsoft.com/office/powerpoint/2010/main" val="983543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5" name="TextBox 4">
            <a:extLst>
              <a:ext uri="{FF2B5EF4-FFF2-40B4-BE49-F238E27FC236}">
                <a16:creationId xmlns:a16="http://schemas.microsoft.com/office/drawing/2014/main" id="{90E68CC3-827D-B3BA-C9CF-D08126411500}"/>
              </a:ext>
            </a:extLst>
          </p:cNvPr>
          <p:cNvSpPr txBox="1"/>
          <p:nvPr/>
        </p:nvSpPr>
        <p:spPr>
          <a:xfrm>
            <a:off x="618509" y="1137484"/>
            <a:ext cx="9527439" cy="369332"/>
          </a:xfrm>
          <a:prstGeom prst="rect">
            <a:avLst/>
          </a:prstGeom>
          <a:noFill/>
        </p:spPr>
        <p:txBody>
          <a:bodyPr wrap="square">
            <a:spAutoFit/>
          </a:bodyPr>
          <a:lstStyle/>
          <a:p>
            <a:pPr algn="l" fontAlgn="base"/>
            <a:r>
              <a:rPr lang="en-US" b="1" i="0" dirty="0">
                <a:solidFill>
                  <a:srgbClr val="273239"/>
                </a:solidFill>
                <a:effectLst/>
                <a:latin typeface="Nunito" pitchFamily="2" charset="0"/>
              </a:rPr>
              <a:t>The Project Management Process consists of the following 4 stages:</a:t>
            </a:r>
            <a:r>
              <a:rPr lang="en-US" b="0" i="0" dirty="0">
                <a:solidFill>
                  <a:srgbClr val="273239"/>
                </a:solidFill>
                <a:effectLst/>
                <a:latin typeface="Nunito" pitchFamily="2" charset="0"/>
              </a:rPr>
              <a:t> </a:t>
            </a:r>
          </a:p>
        </p:txBody>
      </p:sp>
      <p:sp>
        <p:nvSpPr>
          <p:cNvPr id="7" name="TextBox 6">
            <a:extLst>
              <a:ext uri="{FF2B5EF4-FFF2-40B4-BE49-F238E27FC236}">
                <a16:creationId xmlns:a16="http://schemas.microsoft.com/office/drawing/2014/main" id="{92D036E1-F080-9E3B-5A44-F7233E777262}"/>
              </a:ext>
            </a:extLst>
          </p:cNvPr>
          <p:cNvSpPr txBox="1"/>
          <p:nvPr/>
        </p:nvSpPr>
        <p:spPr>
          <a:xfrm>
            <a:off x="686603" y="1733145"/>
            <a:ext cx="6245156" cy="2239074"/>
          </a:xfrm>
          <a:prstGeom prst="rect">
            <a:avLst/>
          </a:prstGeom>
          <a:noFill/>
        </p:spPr>
        <p:txBody>
          <a:bodyPr wrap="square">
            <a:spAutoFit/>
          </a:bodyPr>
          <a:lstStyle/>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Feasibility study</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Project Planning</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Project Execution</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Project Termination</a:t>
            </a:r>
          </a:p>
        </p:txBody>
      </p:sp>
      <p:pic>
        <p:nvPicPr>
          <p:cNvPr id="1026" name="Picture 2" descr="Project Management Process">
            <a:extLst>
              <a:ext uri="{FF2B5EF4-FFF2-40B4-BE49-F238E27FC236}">
                <a16:creationId xmlns:a16="http://schemas.microsoft.com/office/drawing/2014/main" id="{ABA7BEC6-C5CF-0A8C-4A2B-67DE64CE2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8282" y="2011350"/>
            <a:ext cx="1666875" cy="37338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55F49F-8028-FFE8-AD18-CB68F8A24CB8}"/>
              </a:ext>
            </a:extLst>
          </p:cNvPr>
          <p:cNvSpPr txBox="1"/>
          <p:nvPr/>
        </p:nvSpPr>
        <p:spPr>
          <a:xfrm>
            <a:off x="7811311" y="2011350"/>
            <a:ext cx="6245156" cy="369332"/>
          </a:xfrm>
          <a:prstGeom prst="rect">
            <a:avLst/>
          </a:prstGeom>
          <a:noFill/>
        </p:spPr>
        <p:txBody>
          <a:bodyPr wrap="square">
            <a:spAutoFit/>
          </a:bodyPr>
          <a:lstStyle/>
          <a:p>
            <a:r>
              <a:rPr lang="en-IN" b="1" i="0">
                <a:solidFill>
                  <a:srgbClr val="273239"/>
                </a:solidFill>
                <a:effectLst/>
                <a:latin typeface="Nunito" pitchFamily="2" charset="0"/>
              </a:rPr>
              <a:t>Technical Feasibility –</a:t>
            </a:r>
            <a:r>
              <a:rPr lang="en-IN" b="0" i="0">
                <a:solidFill>
                  <a:srgbClr val="273239"/>
                </a:solidFill>
                <a:effectLst/>
                <a:latin typeface="Nunito" pitchFamily="2" charset="0"/>
              </a:rPr>
              <a:t> </a:t>
            </a:r>
            <a:endParaRPr lang="en-IN" dirty="0"/>
          </a:p>
        </p:txBody>
      </p:sp>
      <p:sp>
        <p:nvSpPr>
          <p:cNvPr id="9" name="TextBox 8">
            <a:extLst>
              <a:ext uri="{FF2B5EF4-FFF2-40B4-BE49-F238E27FC236}">
                <a16:creationId xmlns:a16="http://schemas.microsoft.com/office/drawing/2014/main" id="{90B725E6-3D96-65B2-73CE-D339F256565E}"/>
              </a:ext>
            </a:extLst>
          </p:cNvPr>
          <p:cNvSpPr txBox="1"/>
          <p:nvPr/>
        </p:nvSpPr>
        <p:spPr>
          <a:xfrm>
            <a:off x="7811311" y="2700550"/>
            <a:ext cx="7154692" cy="369332"/>
          </a:xfrm>
          <a:prstGeom prst="rect">
            <a:avLst/>
          </a:prstGeom>
          <a:noFill/>
        </p:spPr>
        <p:txBody>
          <a:bodyPr wrap="square">
            <a:spAutoFit/>
          </a:bodyPr>
          <a:lstStyle/>
          <a:p>
            <a:r>
              <a:rPr lang="en-IN" b="1" i="0" dirty="0">
                <a:solidFill>
                  <a:srgbClr val="273239"/>
                </a:solidFill>
                <a:effectLst/>
                <a:latin typeface="Nunito" pitchFamily="2" charset="0"/>
              </a:rPr>
              <a:t>Operational Feasibility </a:t>
            </a:r>
            <a:endParaRPr lang="en-IN" dirty="0"/>
          </a:p>
        </p:txBody>
      </p:sp>
      <p:sp>
        <p:nvSpPr>
          <p:cNvPr id="11" name="TextBox 10">
            <a:extLst>
              <a:ext uri="{FF2B5EF4-FFF2-40B4-BE49-F238E27FC236}">
                <a16:creationId xmlns:a16="http://schemas.microsoft.com/office/drawing/2014/main" id="{CB413B3A-2868-622C-04D6-AF36723D8877}"/>
              </a:ext>
            </a:extLst>
          </p:cNvPr>
          <p:cNvSpPr txBox="1"/>
          <p:nvPr/>
        </p:nvSpPr>
        <p:spPr>
          <a:xfrm>
            <a:off x="7811311" y="3322149"/>
            <a:ext cx="7608404" cy="369332"/>
          </a:xfrm>
          <a:prstGeom prst="rect">
            <a:avLst/>
          </a:prstGeom>
          <a:noFill/>
        </p:spPr>
        <p:txBody>
          <a:bodyPr wrap="square">
            <a:spAutoFit/>
          </a:bodyPr>
          <a:lstStyle/>
          <a:p>
            <a:r>
              <a:rPr lang="en-IN" b="1" i="0" dirty="0">
                <a:solidFill>
                  <a:srgbClr val="273239"/>
                </a:solidFill>
                <a:effectLst/>
                <a:latin typeface="Nunito" pitchFamily="2" charset="0"/>
              </a:rPr>
              <a:t>Economic Feasibility</a:t>
            </a:r>
            <a:endParaRPr lang="en-IN" dirty="0"/>
          </a:p>
        </p:txBody>
      </p:sp>
      <p:sp>
        <p:nvSpPr>
          <p:cNvPr id="13" name="TextBox 12">
            <a:extLst>
              <a:ext uri="{FF2B5EF4-FFF2-40B4-BE49-F238E27FC236}">
                <a16:creationId xmlns:a16="http://schemas.microsoft.com/office/drawing/2014/main" id="{74C3D810-4C70-8F78-F3B7-ADAB591596AB}"/>
              </a:ext>
            </a:extLst>
          </p:cNvPr>
          <p:cNvSpPr txBox="1"/>
          <p:nvPr/>
        </p:nvSpPr>
        <p:spPr>
          <a:xfrm>
            <a:off x="7811311" y="4063002"/>
            <a:ext cx="7832034" cy="369332"/>
          </a:xfrm>
          <a:prstGeom prst="rect">
            <a:avLst/>
          </a:prstGeom>
          <a:noFill/>
        </p:spPr>
        <p:txBody>
          <a:bodyPr wrap="square">
            <a:spAutoFit/>
          </a:bodyPr>
          <a:lstStyle/>
          <a:p>
            <a:r>
              <a:rPr lang="en-IN" b="1" i="0" dirty="0">
                <a:solidFill>
                  <a:srgbClr val="273239"/>
                </a:solidFill>
                <a:effectLst/>
                <a:latin typeface="Nunito" pitchFamily="2" charset="0"/>
              </a:rPr>
              <a:t>Legal Feasibility</a:t>
            </a:r>
            <a:endParaRPr lang="en-IN" dirty="0"/>
          </a:p>
        </p:txBody>
      </p:sp>
    </p:spTree>
    <p:extLst>
      <p:ext uri="{BB962C8B-B14F-4D97-AF65-F5344CB8AC3E}">
        <p14:creationId xmlns:p14="http://schemas.microsoft.com/office/powerpoint/2010/main" val="4061206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11BB11C7-A703-3BC6-77B2-CD85DA42BF6D}"/>
              </a:ext>
            </a:extLst>
          </p:cNvPr>
          <p:cNvSpPr txBox="1"/>
          <p:nvPr/>
        </p:nvSpPr>
        <p:spPr>
          <a:xfrm>
            <a:off x="466928" y="989193"/>
            <a:ext cx="10661514" cy="4992392"/>
          </a:xfrm>
          <a:prstGeom prst="rect">
            <a:avLst/>
          </a:prstGeom>
          <a:noFill/>
        </p:spPr>
        <p:txBody>
          <a:bodyPr wrap="square">
            <a:spAutoFit/>
          </a:bodyPr>
          <a:lstStyle/>
          <a:p>
            <a:pPr algn="just" fontAlgn="base">
              <a:lnSpc>
                <a:spcPct val="200000"/>
              </a:lnSpc>
            </a:pPr>
            <a:r>
              <a:rPr lang="en-US" b="1" i="0" dirty="0">
                <a:solidFill>
                  <a:srgbClr val="273239"/>
                </a:solidFill>
                <a:effectLst/>
                <a:latin typeface="Nunito" pitchFamily="2" charset="0"/>
              </a:rPr>
              <a:t>Feasibility Study:</a:t>
            </a:r>
            <a:r>
              <a:rPr lang="en-US" b="0" i="0" dirty="0">
                <a:solidFill>
                  <a:srgbClr val="273239"/>
                </a:solidFill>
                <a:effectLst/>
                <a:latin typeface="Nunito" pitchFamily="2" charset="0"/>
              </a:rPr>
              <a:t> A feasibility study explores system requirements to determine project feasibility. There are several fields of feasibility study including economic feasibility, operational feasibility, and technical feasibility. The goal is to determine whether the system can be implemented or not. The process of feasibility study takes as input the required details as specified by the user and other domain-specific details. The output of this process simply tells whether the project should be undertaken or not and if yes, what would the constraints be. Additionally, all the risks and their potential effects on the projects are also evaluated before a decision to start the project is taken. </a:t>
            </a:r>
          </a:p>
          <a:p>
            <a:pPr>
              <a:lnSpc>
                <a:spcPct val="200000"/>
              </a:lnSpc>
            </a:pPr>
            <a:br>
              <a:rPr lang="en-US" b="0" i="0" dirty="0">
                <a:solidFill>
                  <a:srgbClr val="273239"/>
                </a:solidFill>
                <a:effectLst/>
                <a:latin typeface="Nunito" pitchFamily="2" charset="0"/>
              </a:rPr>
            </a:br>
            <a:endParaRPr lang="en-IN" dirty="0"/>
          </a:p>
        </p:txBody>
      </p:sp>
    </p:spTree>
    <p:extLst>
      <p:ext uri="{BB962C8B-B14F-4D97-AF65-F5344CB8AC3E}">
        <p14:creationId xmlns:p14="http://schemas.microsoft.com/office/powerpoint/2010/main" val="1599767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46C4DC4B-6D41-AFD9-62AA-611700C64B78}"/>
              </a:ext>
            </a:extLst>
          </p:cNvPr>
          <p:cNvSpPr txBox="1"/>
          <p:nvPr/>
        </p:nvSpPr>
        <p:spPr>
          <a:xfrm>
            <a:off x="686604" y="239805"/>
            <a:ext cx="10548843" cy="6671057"/>
          </a:xfrm>
          <a:prstGeom prst="rect">
            <a:avLst/>
          </a:prstGeom>
          <a:noFill/>
        </p:spPr>
        <p:txBody>
          <a:bodyPr wrap="square">
            <a:spAutoFit/>
          </a:bodyPr>
          <a:lstStyle/>
          <a:p>
            <a:pPr algn="l" fontAlgn="base">
              <a:lnSpc>
                <a:spcPct val="200000"/>
              </a:lnSpc>
            </a:pPr>
            <a:r>
              <a:rPr lang="en-US" b="1" i="0" dirty="0">
                <a:solidFill>
                  <a:srgbClr val="273239"/>
                </a:solidFill>
                <a:effectLst/>
                <a:latin typeface="Nunito" pitchFamily="2" charset="0"/>
              </a:rPr>
              <a:t>Project Planning: </a:t>
            </a:r>
            <a:r>
              <a:rPr lang="en-US" b="0" i="0" dirty="0">
                <a:solidFill>
                  <a:srgbClr val="273239"/>
                </a:solidFill>
                <a:effectLst/>
                <a:latin typeface="Nunito" pitchFamily="2" charset="0"/>
              </a:rPr>
              <a:t>A detailed plan stating a stepwise strategy to achieve the listed objectives is an integral part of any project. Planning consists of the following activities: </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Set objectives or goals</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Develop strategies</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Develop project policies</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Determine courses of action</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Making planning decisions</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Set procedures and rules for the project</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Develop a software project plan</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Prepare budget</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Conduct risk management</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Document software project plans</a:t>
            </a:r>
          </a:p>
        </p:txBody>
      </p:sp>
    </p:spTree>
    <p:extLst>
      <p:ext uri="{BB962C8B-B14F-4D97-AF65-F5344CB8AC3E}">
        <p14:creationId xmlns:p14="http://schemas.microsoft.com/office/powerpoint/2010/main" val="2970252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42447094-C571-890C-C27B-D92BF46F6350}"/>
              </a:ext>
            </a:extLst>
          </p:cNvPr>
          <p:cNvSpPr txBox="1"/>
          <p:nvPr/>
        </p:nvSpPr>
        <p:spPr>
          <a:xfrm>
            <a:off x="389105" y="885217"/>
            <a:ext cx="10914737" cy="3448765"/>
          </a:xfrm>
          <a:prstGeom prst="rect">
            <a:avLst/>
          </a:prstGeom>
          <a:noFill/>
        </p:spPr>
        <p:txBody>
          <a:bodyPr wrap="square">
            <a:spAutoFit/>
          </a:bodyPr>
          <a:lstStyle/>
          <a:p>
            <a:pPr algn="just">
              <a:lnSpc>
                <a:spcPct val="250000"/>
              </a:lnSpc>
            </a:pPr>
            <a:r>
              <a:rPr lang="en-US" b="1" i="0" dirty="0">
                <a:solidFill>
                  <a:srgbClr val="273239"/>
                </a:solidFill>
                <a:effectLst/>
                <a:latin typeface="Nunito" pitchFamily="2" charset="0"/>
              </a:rPr>
              <a:t>Project Execution: </a:t>
            </a:r>
            <a:r>
              <a:rPr lang="en-US" b="0" i="0" dirty="0">
                <a:solidFill>
                  <a:srgbClr val="273239"/>
                </a:solidFill>
                <a:effectLst/>
                <a:latin typeface="Nunito" pitchFamily="2" charset="0"/>
              </a:rPr>
              <a:t>A project is executed by choosing an appropriate software development lifecycle model(SDLC). It includes a number of steps including requirements analysis, design, coding, testing and implementation, testing, delivery, and maintenance. There are a number of factors that need to be considered while doing so including the size of the system, the nature of the project, time and budget constraints, domain requirements, etc. An inappropriate SDLC can lead to the failure of the project. </a:t>
            </a:r>
            <a:endParaRPr lang="en-IN" dirty="0"/>
          </a:p>
        </p:txBody>
      </p:sp>
    </p:spTree>
    <p:extLst>
      <p:ext uri="{BB962C8B-B14F-4D97-AF65-F5344CB8AC3E}">
        <p14:creationId xmlns:p14="http://schemas.microsoft.com/office/powerpoint/2010/main" val="167448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8A2B893A-A6AD-14B7-832B-25ECFFD469C1}"/>
              </a:ext>
            </a:extLst>
          </p:cNvPr>
          <p:cNvSpPr txBox="1"/>
          <p:nvPr/>
        </p:nvSpPr>
        <p:spPr>
          <a:xfrm>
            <a:off x="519613" y="527270"/>
            <a:ext cx="10700425" cy="2756267"/>
          </a:xfrm>
          <a:prstGeom prst="rect">
            <a:avLst/>
          </a:prstGeom>
          <a:noFill/>
        </p:spPr>
        <p:txBody>
          <a:bodyPr wrap="square">
            <a:spAutoFit/>
          </a:bodyPr>
          <a:lstStyle/>
          <a:p>
            <a:pPr algn="just">
              <a:lnSpc>
                <a:spcPct val="250000"/>
              </a:lnSpc>
            </a:pPr>
            <a:r>
              <a:rPr lang="en-US" b="1" i="0" dirty="0">
                <a:solidFill>
                  <a:srgbClr val="273239"/>
                </a:solidFill>
                <a:effectLst/>
                <a:latin typeface="Nunito" pitchFamily="2" charset="0"/>
              </a:rPr>
              <a:t>Project Termination: </a:t>
            </a:r>
            <a:r>
              <a:rPr lang="en-US" b="0" i="0" dirty="0">
                <a:solidFill>
                  <a:srgbClr val="273239"/>
                </a:solidFill>
                <a:effectLst/>
                <a:latin typeface="Nunito" pitchFamily="2" charset="0"/>
              </a:rPr>
              <a:t>There can be several reasons for the termination of a project. Though expecting a project to terminate after successful completion is conventional, at times, a project may also terminate without completion. Projects have to be closed down when the requirements are not fulfilled according to given time and cost constraints. </a:t>
            </a:r>
            <a:endParaRPr lang="en-IN" dirty="0"/>
          </a:p>
        </p:txBody>
      </p:sp>
      <p:sp>
        <p:nvSpPr>
          <p:cNvPr id="6" name="TextBox 5">
            <a:extLst>
              <a:ext uri="{FF2B5EF4-FFF2-40B4-BE49-F238E27FC236}">
                <a16:creationId xmlns:a16="http://schemas.microsoft.com/office/drawing/2014/main" id="{2838C414-3402-9B6F-40FE-11BA708341CF}"/>
              </a:ext>
            </a:extLst>
          </p:cNvPr>
          <p:cNvSpPr txBox="1"/>
          <p:nvPr/>
        </p:nvSpPr>
        <p:spPr>
          <a:xfrm>
            <a:off x="519613" y="3283537"/>
            <a:ext cx="10248906" cy="3347070"/>
          </a:xfrm>
          <a:prstGeom prst="rect">
            <a:avLst/>
          </a:prstGeom>
          <a:noFill/>
        </p:spPr>
        <p:txBody>
          <a:bodyPr wrap="square">
            <a:spAutoFit/>
          </a:bodyPr>
          <a:lstStyle/>
          <a:p>
            <a:pPr algn="just" fontAlgn="base">
              <a:lnSpc>
                <a:spcPct val="200000"/>
              </a:lnSpc>
            </a:pPr>
            <a:r>
              <a:rPr lang="en-US" b="1" i="0" dirty="0">
                <a:solidFill>
                  <a:srgbClr val="273239"/>
                </a:solidFill>
                <a:effectLst/>
                <a:latin typeface="Nunito" pitchFamily="2" charset="0"/>
              </a:rPr>
              <a:t>Some of the reasons for failure include: </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Fast-changing technology</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Project running out of time</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Organizational politics</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Too much change in customer requirements</a:t>
            </a:r>
          </a:p>
          <a:p>
            <a:pPr algn="just" fontAlgn="base">
              <a:lnSpc>
                <a:spcPct val="200000"/>
              </a:lnSpc>
              <a:buFont typeface="Arial" panose="020B0604020202020204" pitchFamily="34" charset="0"/>
              <a:buChar char="•"/>
            </a:pPr>
            <a:r>
              <a:rPr lang="en-US" b="0" i="0" dirty="0">
                <a:solidFill>
                  <a:srgbClr val="273239"/>
                </a:solidFill>
                <a:effectLst/>
                <a:latin typeface="Nunito" pitchFamily="2" charset="0"/>
              </a:rPr>
              <a:t>Project exceeding budget or funds</a:t>
            </a:r>
          </a:p>
        </p:txBody>
      </p:sp>
    </p:spTree>
    <p:extLst>
      <p:ext uri="{BB962C8B-B14F-4D97-AF65-F5344CB8AC3E}">
        <p14:creationId xmlns:p14="http://schemas.microsoft.com/office/powerpoint/2010/main" val="2004720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B94FFE4C-CA6C-4FC2-77FC-428BC3F44D76}"/>
              </a:ext>
            </a:extLst>
          </p:cNvPr>
          <p:cNvSpPr txBox="1"/>
          <p:nvPr/>
        </p:nvSpPr>
        <p:spPr>
          <a:xfrm>
            <a:off x="535324" y="1770434"/>
            <a:ext cx="10768519" cy="4143442"/>
          </a:xfrm>
          <a:prstGeom prst="rect">
            <a:avLst/>
          </a:prstGeom>
          <a:noFill/>
        </p:spPr>
        <p:txBody>
          <a:bodyPr wrap="square">
            <a:spAutoFit/>
          </a:bodyPr>
          <a:lstStyle/>
          <a:p>
            <a:pPr algn="just" fontAlgn="base">
              <a:lnSpc>
                <a:spcPct val="250000"/>
              </a:lnSpc>
            </a:pPr>
            <a:r>
              <a:rPr lang="en-US" b="0" i="0" dirty="0">
                <a:solidFill>
                  <a:srgbClr val="273239"/>
                </a:solidFill>
                <a:effectLst/>
                <a:latin typeface="Nunito" pitchFamily="2" charset="0"/>
              </a:rPr>
              <a:t>Once the project is terminated, a post-performance analysis is done. Also, a final report is published describing the experiences, lessons learned, and recommendations for handling future projects.</a:t>
            </a:r>
          </a:p>
          <a:p>
            <a:pPr algn="just" fontAlgn="base">
              <a:lnSpc>
                <a:spcPct val="250000"/>
              </a:lnSpc>
            </a:pPr>
            <a:r>
              <a:rPr lang="en-US" b="0" i="0" dirty="0">
                <a:solidFill>
                  <a:srgbClr val="273239"/>
                </a:solidFill>
                <a:effectLst/>
                <a:latin typeface="Nunito" pitchFamily="2" charset="0"/>
              </a:rPr>
              <a:t>Project management is a systematic approach to planning, organizing, and controlling the resources required to achieve specific project goals and objectives. The project management process involves a set of activities that are performed to plan, execute, and close a project. The project management process can be divided into several phases, each of which has a specific purpose and set of tasks.</a:t>
            </a:r>
          </a:p>
        </p:txBody>
      </p:sp>
      <p:sp>
        <p:nvSpPr>
          <p:cNvPr id="4" name="TextBox 3">
            <a:extLst>
              <a:ext uri="{FF2B5EF4-FFF2-40B4-BE49-F238E27FC236}">
                <a16:creationId xmlns:a16="http://schemas.microsoft.com/office/drawing/2014/main" id="{399DA08B-9443-AB30-2921-2AC5D6B641AB}"/>
              </a:ext>
            </a:extLst>
          </p:cNvPr>
          <p:cNvSpPr txBox="1"/>
          <p:nvPr/>
        </p:nvSpPr>
        <p:spPr>
          <a:xfrm>
            <a:off x="535324" y="1244752"/>
            <a:ext cx="6245156" cy="369332"/>
          </a:xfrm>
          <a:prstGeom prst="rect">
            <a:avLst/>
          </a:prstGeom>
          <a:noFill/>
        </p:spPr>
        <p:txBody>
          <a:bodyPr wrap="square">
            <a:spAutoFit/>
          </a:bodyPr>
          <a:lstStyle/>
          <a:p>
            <a:r>
              <a:rPr lang="en-US" b="1" i="0" dirty="0">
                <a:solidFill>
                  <a:srgbClr val="273239"/>
                </a:solidFill>
                <a:effectLst/>
                <a:latin typeface="Nunito" pitchFamily="2" charset="0"/>
              </a:rPr>
              <a:t>Project Termination</a:t>
            </a:r>
            <a:endParaRPr lang="en-IN" dirty="0"/>
          </a:p>
        </p:txBody>
      </p:sp>
    </p:spTree>
    <p:extLst>
      <p:ext uri="{BB962C8B-B14F-4D97-AF65-F5344CB8AC3E}">
        <p14:creationId xmlns:p14="http://schemas.microsoft.com/office/powerpoint/2010/main" val="3826171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5" name="TextBox 4">
            <a:extLst>
              <a:ext uri="{FF2B5EF4-FFF2-40B4-BE49-F238E27FC236}">
                <a16:creationId xmlns:a16="http://schemas.microsoft.com/office/drawing/2014/main" id="{715C3324-E480-9919-98C2-E4D5D9D4794F}"/>
              </a:ext>
            </a:extLst>
          </p:cNvPr>
          <p:cNvSpPr txBox="1"/>
          <p:nvPr/>
        </p:nvSpPr>
        <p:spPr>
          <a:xfrm>
            <a:off x="279856" y="753599"/>
            <a:ext cx="11510067" cy="5874685"/>
          </a:xfrm>
          <a:prstGeom prst="rect">
            <a:avLst/>
          </a:prstGeom>
          <a:noFill/>
        </p:spPr>
        <p:txBody>
          <a:bodyPr wrap="square">
            <a:spAutoFit/>
          </a:bodyPr>
          <a:lstStyle/>
          <a:p>
            <a:pPr algn="just" fontAlgn="base">
              <a:lnSpc>
                <a:spcPct val="150000"/>
              </a:lnSpc>
            </a:pPr>
            <a:r>
              <a:rPr lang="en-US" b="1" i="0" dirty="0">
                <a:solidFill>
                  <a:srgbClr val="273239"/>
                </a:solidFill>
                <a:effectLst/>
                <a:latin typeface="Nunito" pitchFamily="2" charset="0"/>
              </a:rPr>
              <a:t>The main phases of the project management process are:</a:t>
            </a:r>
          </a:p>
          <a:p>
            <a:pPr algn="just" fontAlgn="base">
              <a:lnSpc>
                <a:spcPct val="150000"/>
              </a:lnSpc>
              <a:buFont typeface="+mj-lt"/>
              <a:buAutoNum type="arabicPeriod"/>
            </a:pPr>
            <a:r>
              <a:rPr lang="en-US" b="1" i="0" dirty="0">
                <a:solidFill>
                  <a:srgbClr val="273239"/>
                </a:solidFill>
                <a:effectLst/>
                <a:latin typeface="Nunito" pitchFamily="2" charset="0"/>
              </a:rPr>
              <a:t>Initiation</a:t>
            </a:r>
            <a:r>
              <a:rPr lang="en-US" b="0" i="0" dirty="0">
                <a:solidFill>
                  <a:srgbClr val="273239"/>
                </a:solidFill>
                <a:effectLst/>
                <a:latin typeface="Nunito" pitchFamily="2" charset="0"/>
              </a:rPr>
              <a:t>: This phase involves defining the project, identifying the stakeholders, and establishing the project’s goals and objectives.</a:t>
            </a:r>
          </a:p>
          <a:p>
            <a:pPr algn="just" fontAlgn="base">
              <a:lnSpc>
                <a:spcPct val="150000"/>
              </a:lnSpc>
              <a:buFont typeface="+mj-lt"/>
              <a:buAutoNum type="arabicPeriod"/>
            </a:pPr>
            <a:r>
              <a:rPr lang="en-US" b="1" i="0" dirty="0">
                <a:solidFill>
                  <a:srgbClr val="273239"/>
                </a:solidFill>
                <a:effectLst/>
                <a:latin typeface="Nunito" pitchFamily="2" charset="0"/>
              </a:rPr>
              <a:t>Planning</a:t>
            </a:r>
            <a:r>
              <a:rPr lang="en-US" b="0" i="0" dirty="0">
                <a:solidFill>
                  <a:srgbClr val="273239"/>
                </a:solidFill>
                <a:effectLst/>
                <a:latin typeface="Nunito" pitchFamily="2" charset="0"/>
              </a:rPr>
              <a:t>: In this phase, the project manager defines the scope of the project, develops a detailed project plan, and identifies the resources required to complete the project.</a:t>
            </a:r>
          </a:p>
          <a:p>
            <a:pPr algn="just" fontAlgn="base">
              <a:lnSpc>
                <a:spcPct val="150000"/>
              </a:lnSpc>
              <a:buFont typeface="+mj-lt"/>
              <a:buAutoNum type="arabicPeriod"/>
            </a:pPr>
            <a:r>
              <a:rPr lang="en-US" b="1" i="0" dirty="0">
                <a:solidFill>
                  <a:srgbClr val="273239"/>
                </a:solidFill>
                <a:effectLst/>
                <a:latin typeface="Nunito" pitchFamily="2" charset="0"/>
              </a:rPr>
              <a:t>Execution</a:t>
            </a:r>
            <a:r>
              <a:rPr lang="en-US" b="0" i="0" dirty="0">
                <a:solidFill>
                  <a:srgbClr val="273239"/>
                </a:solidFill>
                <a:effectLst/>
                <a:latin typeface="Nunito" pitchFamily="2" charset="0"/>
              </a:rPr>
              <a:t>: This phase involves the actual implementation of the project, including the allocation of resources, the execution of tasks, and the monitoring and control of project progress.</a:t>
            </a:r>
          </a:p>
          <a:p>
            <a:pPr algn="just" fontAlgn="base">
              <a:lnSpc>
                <a:spcPct val="150000"/>
              </a:lnSpc>
              <a:buFont typeface="+mj-lt"/>
              <a:buAutoNum type="arabicPeriod"/>
            </a:pPr>
            <a:r>
              <a:rPr lang="en-US" b="1" i="0" dirty="0">
                <a:solidFill>
                  <a:srgbClr val="273239"/>
                </a:solidFill>
                <a:effectLst/>
                <a:latin typeface="Nunito" pitchFamily="2" charset="0"/>
              </a:rPr>
              <a:t>Monitoring and Control</a:t>
            </a:r>
            <a:r>
              <a:rPr lang="en-US" b="0" i="0" dirty="0">
                <a:solidFill>
                  <a:srgbClr val="273239"/>
                </a:solidFill>
                <a:effectLst/>
                <a:latin typeface="Nunito" pitchFamily="2" charset="0"/>
              </a:rPr>
              <a:t>: This phase involves tracking the project’s progress, comparing actual results to the project plan, and making changes to the project as necessary.</a:t>
            </a:r>
          </a:p>
          <a:p>
            <a:pPr algn="just" fontAlgn="base">
              <a:lnSpc>
                <a:spcPct val="150000"/>
              </a:lnSpc>
              <a:buFont typeface="+mj-lt"/>
              <a:buAutoNum type="arabicPeriod"/>
            </a:pPr>
            <a:r>
              <a:rPr lang="en-US" b="1" i="0" dirty="0">
                <a:solidFill>
                  <a:srgbClr val="273239"/>
                </a:solidFill>
                <a:effectLst/>
                <a:latin typeface="Nunito" pitchFamily="2" charset="0"/>
              </a:rPr>
              <a:t>Closing</a:t>
            </a:r>
            <a:r>
              <a:rPr lang="en-US" b="0" i="0" dirty="0">
                <a:solidFill>
                  <a:srgbClr val="273239"/>
                </a:solidFill>
                <a:effectLst/>
                <a:latin typeface="Nunito" pitchFamily="2" charset="0"/>
              </a:rPr>
              <a:t>: This phase involves completing the project, documenting the results, and closing out any open issues.</a:t>
            </a:r>
          </a:p>
          <a:p>
            <a:pPr algn="just" fontAlgn="base">
              <a:lnSpc>
                <a:spcPct val="150000"/>
              </a:lnSpc>
              <a:buFont typeface="+mj-lt"/>
              <a:buAutoNum type="arabicPeriod"/>
            </a:pPr>
            <a:r>
              <a:rPr lang="en-US" b="0" i="0" dirty="0">
                <a:solidFill>
                  <a:srgbClr val="273239"/>
                </a:solidFill>
                <a:effectLst/>
                <a:latin typeface="Nunito" pitchFamily="2" charset="0"/>
              </a:rPr>
              <a:t>Effective project management requires a clear understanding of the project management process and the skills necessary to apply it effectively. The project manager must have the ability to plan and execute projects, manage resources, communicate effectively, and handle risks and issues.</a:t>
            </a:r>
          </a:p>
        </p:txBody>
      </p:sp>
    </p:spTree>
    <p:extLst>
      <p:ext uri="{BB962C8B-B14F-4D97-AF65-F5344CB8AC3E}">
        <p14:creationId xmlns:p14="http://schemas.microsoft.com/office/powerpoint/2010/main" val="412972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PROJECT MANAGEMENT PROCESS-</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03</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B05FF79E-BF0B-665F-F5A6-028319997040}"/>
              </a:ext>
            </a:extLst>
          </p:cNvPr>
          <p:cNvSpPr txBox="1"/>
          <p:nvPr/>
        </p:nvSpPr>
        <p:spPr>
          <a:xfrm>
            <a:off x="686604" y="562971"/>
            <a:ext cx="10701044" cy="6117059"/>
          </a:xfrm>
          <a:prstGeom prst="rect">
            <a:avLst/>
          </a:prstGeom>
          <a:noFill/>
        </p:spPr>
        <p:txBody>
          <a:bodyPr wrap="square">
            <a:spAutoFit/>
          </a:bodyPr>
          <a:lstStyle/>
          <a:p>
            <a:pPr algn="l" fontAlgn="base">
              <a:lnSpc>
                <a:spcPct val="200000"/>
              </a:lnSpc>
            </a:pPr>
            <a:r>
              <a:rPr lang="en-US" b="1" i="0" dirty="0">
                <a:solidFill>
                  <a:srgbClr val="273239"/>
                </a:solidFill>
                <a:effectLst/>
                <a:latin typeface="Nunito" pitchFamily="2" charset="0"/>
              </a:rPr>
              <a:t>Advantages of the project management process:</a:t>
            </a:r>
          </a:p>
          <a:p>
            <a:pPr algn="l" fontAlgn="base">
              <a:lnSpc>
                <a:spcPct val="200000"/>
              </a:lnSpc>
              <a:buFont typeface="+mj-lt"/>
              <a:buAutoNum type="arabicPeriod"/>
            </a:pPr>
            <a:r>
              <a:rPr lang="en-US" b="0" i="0" dirty="0">
                <a:solidFill>
                  <a:srgbClr val="273239"/>
                </a:solidFill>
                <a:effectLst/>
                <a:latin typeface="Nunito" pitchFamily="2" charset="0"/>
              </a:rPr>
              <a:t>Provides a structured approach to managing projects.</a:t>
            </a:r>
          </a:p>
          <a:p>
            <a:pPr algn="l" fontAlgn="base">
              <a:lnSpc>
                <a:spcPct val="200000"/>
              </a:lnSpc>
              <a:buFont typeface="+mj-lt"/>
              <a:buAutoNum type="arabicPeriod"/>
            </a:pPr>
            <a:r>
              <a:rPr lang="en-US" b="0" i="0" dirty="0">
                <a:solidFill>
                  <a:srgbClr val="273239"/>
                </a:solidFill>
                <a:effectLst/>
                <a:latin typeface="Nunito" pitchFamily="2" charset="0"/>
              </a:rPr>
              <a:t>Helps to define project objectives and requirements.</a:t>
            </a:r>
          </a:p>
          <a:p>
            <a:pPr algn="l" fontAlgn="base">
              <a:lnSpc>
                <a:spcPct val="200000"/>
              </a:lnSpc>
              <a:buFont typeface="+mj-lt"/>
              <a:buAutoNum type="arabicPeriod"/>
            </a:pPr>
            <a:r>
              <a:rPr lang="en-US" b="0" i="0" dirty="0">
                <a:solidFill>
                  <a:srgbClr val="273239"/>
                </a:solidFill>
                <a:effectLst/>
                <a:latin typeface="Nunito" pitchFamily="2" charset="0"/>
              </a:rPr>
              <a:t>Facilitates effective communication and collaboration among team members.</a:t>
            </a:r>
          </a:p>
          <a:p>
            <a:pPr algn="l" fontAlgn="base">
              <a:lnSpc>
                <a:spcPct val="200000"/>
              </a:lnSpc>
              <a:buFont typeface="+mj-lt"/>
              <a:buAutoNum type="arabicPeriod"/>
            </a:pPr>
            <a:r>
              <a:rPr lang="en-US" b="0" i="0" dirty="0">
                <a:solidFill>
                  <a:srgbClr val="273239"/>
                </a:solidFill>
                <a:effectLst/>
                <a:latin typeface="Nunito" pitchFamily="2" charset="0"/>
              </a:rPr>
              <a:t>Helps to manage project risks and issues.</a:t>
            </a:r>
          </a:p>
          <a:p>
            <a:pPr algn="l" fontAlgn="base">
              <a:lnSpc>
                <a:spcPct val="200000"/>
              </a:lnSpc>
              <a:buFont typeface="+mj-lt"/>
              <a:buAutoNum type="arabicPeriod"/>
            </a:pPr>
            <a:r>
              <a:rPr lang="en-US" b="0" i="0" dirty="0">
                <a:solidFill>
                  <a:srgbClr val="273239"/>
                </a:solidFill>
                <a:effectLst/>
                <a:latin typeface="Nunito" pitchFamily="2" charset="0"/>
              </a:rPr>
              <a:t>Ensures that the project is delivered on time and within budget.</a:t>
            </a:r>
          </a:p>
          <a:p>
            <a:pPr algn="l" fontAlgn="base">
              <a:lnSpc>
                <a:spcPct val="200000"/>
              </a:lnSpc>
            </a:pPr>
            <a:r>
              <a:rPr lang="en-US" b="1" i="0" dirty="0">
                <a:solidFill>
                  <a:srgbClr val="273239"/>
                </a:solidFill>
                <a:effectLst/>
                <a:latin typeface="Nunito" pitchFamily="2" charset="0"/>
              </a:rPr>
              <a:t>Disadvantages of the project management process:</a:t>
            </a:r>
          </a:p>
          <a:p>
            <a:pPr algn="l" fontAlgn="base">
              <a:lnSpc>
                <a:spcPct val="200000"/>
              </a:lnSpc>
              <a:buFont typeface="+mj-lt"/>
              <a:buAutoNum type="arabicPeriod"/>
            </a:pPr>
            <a:r>
              <a:rPr lang="en-US" b="0" i="0" dirty="0">
                <a:solidFill>
                  <a:srgbClr val="273239"/>
                </a:solidFill>
                <a:effectLst/>
                <a:latin typeface="Nunito" pitchFamily="2" charset="0"/>
              </a:rPr>
              <a:t>Can be time-consuming and bureaucratic</a:t>
            </a:r>
          </a:p>
          <a:p>
            <a:pPr algn="l" fontAlgn="base">
              <a:lnSpc>
                <a:spcPct val="200000"/>
              </a:lnSpc>
              <a:buFont typeface="+mj-lt"/>
              <a:buAutoNum type="arabicPeriod"/>
            </a:pPr>
            <a:r>
              <a:rPr lang="en-US" b="0" i="0" dirty="0">
                <a:solidFill>
                  <a:srgbClr val="273239"/>
                </a:solidFill>
                <a:effectLst/>
                <a:latin typeface="Nunito" pitchFamily="2" charset="0"/>
              </a:rPr>
              <a:t>May be inflexible and less adaptable to changes</a:t>
            </a:r>
          </a:p>
          <a:p>
            <a:pPr algn="l" fontAlgn="base">
              <a:lnSpc>
                <a:spcPct val="200000"/>
              </a:lnSpc>
              <a:buFont typeface="+mj-lt"/>
              <a:buAutoNum type="arabicPeriod"/>
            </a:pPr>
            <a:r>
              <a:rPr lang="en-US" b="0" i="0" dirty="0">
                <a:solidFill>
                  <a:srgbClr val="273239"/>
                </a:solidFill>
                <a:effectLst/>
                <a:latin typeface="Nunito" pitchFamily="2" charset="0"/>
              </a:rPr>
              <a:t>Requires a skilled project manager to implement effectively</a:t>
            </a:r>
          </a:p>
          <a:p>
            <a:pPr algn="l" fontAlgn="base">
              <a:lnSpc>
                <a:spcPct val="200000"/>
              </a:lnSpc>
              <a:buFont typeface="+mj-lt"/>
              <a:buAutoNum type="arabicPeriod"/>
            </a:pPr>
            <a:r>
              <a:rPr lang="en-US" b="0" i="0" dirty="0">
                <a:solidFill>
                  <a:srgbClr val="273239"/>
                </a:solidFill>
                <a:effectLst/>
                <a:latin typeface="Nunito" pitchFamily="2" charset="0"/>
              </a:rPr>
              <a:t>May not be suitable for small or simple projects.</a:t>
            </a:r>
          </a:p>
        </p:txBody>
      </p:sp>
    </p:spTree>
    <p:extLst>
      <p:ext uri="{BB962C8B-B14F-4D97-AF65-F5344CB8AC3E}">
        <p14:creationId xmlns:p14="http://schemas.microsoft.com/office/powerpoint/2010/main" val="2416987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5E229E-92AE-CE9B-73A8-C43943F16CF6}"/>
              </a:ext>
            </a:extLst>
          </p:cNvPr>
          <p:cNvSpPr txBox="1"/>
          <p:nvPr/>
        </p:nvSpPr>
        <p:spPr>
          <a:xfrm>
            <a:off x="3048811" y="2905780"/>
            <a:ext cx="6094378" cy="523220"/>
          </a:xfrm>
          <a:prstGeom prst="rect">
            <a:avLst/>
          </a:prstGeom>
          <a:noFill/>
        </p:spPr>
        <p:txBody>
          <a:bodyPr wrap="square">
            <a:spAutoFit/>
          </a:bodyPr>
          <a:lstStyle/>
          <a:p>
            <a:r>
              <a:rPr lang="en-US" sz="2800" b="1" dirty="0">
                <a:solidFill>
                  <a:srgbClr val="C00000"/>
                </a:solidFill>
                <a:cs typeface="Arial" pitchFamily="34" charset="0"/>
              </a:rPr>
              <a:t>1.4 ROLE OF PROJECT MANAGER</a:t>
            </a:r>
            <a:endParaRPr lang="en-IN" sz="2800" dirty="0"/>
          </a:p>
        </p:txBody>
      </p:sp>
    </p:spTree>
    <p:extLst>
      <p:ext uri="{BB962C8B-B14F-4D97-AF65-F5344CB8AC3E}">
        <p14:creationId xmlns:p14="http://schemas.microsoft.com/office/powerpoint/2010/main" val="34844210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BCC6A165-E329-A3B2-88DB-F6419023F081}"/>
              </a:ext>
            </a:extLst>
          </p:cNvPr>
          <p:cNvSpPr txBox="1"/>
          <p:nvPr/>
        </p:nvSpPr>
        <p:spPr>
          <a:xfrm>
            <a:off x="279856" y="660156"/>
            <a:ext cx="11023987" cy="6117059"/>
          </a:xfrm>
          <a:prstGeom prst="rect">
            <a:avLst/>
          </a:prstGeom>
          <a:noFill/>
        </p:spPr>
        <p:txBody>
          <a:bodyPr wrap="square">
            <a:spAutoFit/>
          </a:bodyPr>
          <a:lstStyle/>
          <a:p>
            <a:pPr algn="just" fontAlgn="base">
              <a:lnSpc>
                <a:spcPct val="200000"/>
              </a:lnSpc>
            </a:pPr>
            <a:r>
              <a:rPr lang="en-US" b="0" i="0" dirty="0">
                <a:solidFill>
                  <a:srgbClr val="273239"/>
                </a:solidFill>
                <a:effectLst/>
                <a:latin typeface="Nunito" pitchFamily="2" charset="0"/>
              </a:rPr>
              <a:t>A software project manager is the most important person inside a team who takes the overall responsibilities to manage the software projects and play an important role in the successful completion of the projects. A project manager has to face many difficult situations to accomplish these works. In fact, the job responsibilities of a project manager range from invisible activities like building up team morale to highly visible customer presentations. Most of the managers take responsibility for writing the project proposal, project cost estimation, scheduling, project staffing, software process tailoring, project monitoring and control, software configuration management, risk management, managerial report writing and presentation and interfacing with clients. The task of a project manager are classified into two major types:</a:t>
            </a:r>
          </a:p>
          <a:p>
            <a:pPr algn="just" fontAlgn="base">
              <a:lnSpc>
                <a:spcPct val="200000"/>
              </a:lnSpc>
              <a:buFont typeface="+mj-lt"/>
              <a:buAutoNum type="arabicPeriod"/>
            </a:pPr>
            <a:r>
              <a:rPr lang="en-US" b="0" i="0" dirty="0">
                <a:solidFill>
                  <a:srgbClr val="273239"/>
                </a:solidFill>
                <a:effectLst/>
                <a:latin typeface="Nunito" pitchFamily="2" charset="0"/>
              </a:rPr>
              <a:t>Project planning</a:t>
            </a:r>
          </a:p>
          <a:p>
            <a:pPr algn="just" fontAlgn="base">
              <a:lnSpc>
                <a:spcPct val="200000"/>
              </a:lnSpc>
              <a:buFont typeface="+mj-lt"/>
              <a:buAutoNum type="arabicPeriod"/>
            </a:pPr>
            <a:r>
              <a:rPr lang="en-US" b="0" i="0" dirty="0">
                <a:solidFill>
                  <a:srgbClr val="273239"/>
                </a:solidFill>
                <a:effectLst/>
                <a:latin typeface="Nunito" pitchFamily="2" charset="0"/>
              </a:rPr>
              <a:t>Project monitoring and control</a:t>
            </a:r>
          </a:p>
        </p:txBody>
      </p:sp>
    </p:spTree>
    <p:extLst>
      <p:ext uri="{BB962C8B-B14F-4D97-AF65-F5344CB8AC3E}">
        <p14:creationId xmlns:p14="http://schemas.microsoft.com/office/powerpoint/2010/main" val="1282225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CBE8EBE3-1A64-6D47-7F21-4198904AFB96}"/>
              </a:ext>
            </a:extLst>
          </p:cNvPr>
          <p:cNvSpPr txBox="1"/>
          <p:nvPr/>
        </p:nvSpPr>
        <p:spPr>
          <a:xfrm>
            <a:off x="89172" y="700551"/>
            <a:ext cx="6245156" cy="369332"/>
          </a:xfrm>
          <a:prstGeom prst="rect">
            <a:avLst/>
          </a:prstGeom>
          <a:noFill/>
        </p:spPr>
        <p:txBody>
          <a:bodyPr wrap="square">
            <a:spAutoFit/>
          </a:bodyPr>
          <a:lstStyle/>
          <a:p>
            <a:r>
              <a:rPr lang="en-IN" b="1" i="0" dirty="0">
                <a:solidFill>
                  <a:srgbClr val="273239"/>
                </a:solidFill>
                <a:effectLst/>
                <a:latin typeface="Nunito" pitchFamily="2" charset="0"/>
              </a:rPr>
              <a:t>Project Planning</a:t>
            </a:r>
            <a:endParaRPr lang="en-IN" dirty="0"/>
          </a:p>
        </p:txBody>
      </p:sp>
      <p:sp>
        <p:nvSpPr>
          <p:cNvPr id="6" name="TextBox 5">
            <a:extLst>
              <a:ext uri="{FF2B5EF4-FFF2-40B4-BE49-F238E27FC236}">
                <a16:creationId xmlns:a16="http://schemas.microsoft.com/office/drawing/2014/main" id="{E1817333-C5A5-49B4-E317-EA9602D71224}"/>
              </a:ext>
            </a:extLst>
          </p:cNvPr>
          <p:cNvSpPr txBox="1"/>
          <p:nvPr/>
        </p:nvSpPr>
        <p:spPr>
          <a:xfrm>
            <a:off x="279855" y="1363813"/>
            <a:ext cx="11247421" cy="4452886"/>
          </a:xfrm>
          <a:prstGeom prst="rect">
            <a:avLst/>
          </a:prstGeom>
          <a:noFill/>
        </p:spPr>
        <p:txBody>
          <a:bodyPr wrap="square">
            <a:spAutoFit/>
          </a:bodyPr>
          <a:lstStyle/>
          <a:p>
            <a:pPr algn="just">
              <a:lnSpc>
                <a:spcPct val="200000"/>
              </a:lnSpc>
            </a:pPr>
            <a:r>
              <a:rPr lang="en-US" b="0" i="0" dirty="0">
                <a:solidFill>
                  <a:srgbClr val="273239"/>
                </a:solidFill>
                <a:effectLst/>
                <a:latin typeface="Nunito" pitchFamily="2" charset="0"/>
              </a:rPr>
              <a:t>Project planning is undertaken immediately after the feasibility study phase and before the starting of the requirement analysis and specification phase. </a:t>
            </a:r>
          </a:p>
          <a:p>
            <a:pPr algn="just">
              <a:lnSpc>
                <a:spcPct val="200000"/>
              </a:lnSpc>
            </a:pPr>
            <a:r>
              <a:rPr lang="en-US" b="0" i="0" dirty="0">
                <a:solidFill>
                  <a:srgbClr val="273239"/>
                </a:solidFill>
                <a:effectLst/>
                <a:latin typeface="Nunito" pitchFamily="2" charset="0"/>
              </a:rPr>
              <a:t>Project planning is completed before any development phase starts. </a:t>
            </a:r>
          </a:p>
          <a:p>
            <a:pPr algn="just">
              <a:lnSpc>
                <a:spcPct val="200000"/>
              </a:lnSpc>
            </a:pPr>
            <a:r>
              <a:rPr lang="en-US" b="0" i="0" dirty="0">
                <a:solidFill>
                  <a:srgbClr val="273239"/>
                </a:solidFill>
                <a:effectLst/>
                <a:latin typeface="Nunito" pitchFamily="2" charset="0"/>
              </a:rPr>
              <a:t>Project planning is done with most care and attention. </a:t>
            </a:r>
          </a:p>
          <a:p>
            <a:pPr algn="just">
              <a:lnSpc>
                <a:spcPct val="200000"/>
              </a:lnSpc>
            </a:pPr>
            <a:r>
              <a:rPr lang="en-US" b="0" i="0" dirty="0">
                <a:solidFill>
                  <a:srgbClr val="273239"/>
                </a:solidFill>
                <a:effectLst/>
                <a:latin typeface="Nunito" pitchFamily="2" charset="0"/>
              </a:rPr>
              <a:t>A wrong estimation can result in schedule slippage. Schedule delay can cause customer dissatisfaction, which may lead to a project failure. </a:t>
            </a:r>
          </a:p>
          <a:p>
            <a:pPr algn="just">
              <a:lnSpc>
                <a:spcPct val="200000"/>
              </a:lnSpc>
            </a:pPr>
            <a:r>
              <a:rPr lang="en-US" b="0" i="0" dirty="0">
                <a:solidFill>
                  <a:srgbClr val="273239"/>
                </a:solidFill>
                <a:effectLst/>
                <a:latin typeface="Nunito" pitchFamily="2" charset="0"/>
              </a:rPr>
              <a:t>For effective project planning, in addition to a very good knowledge of various estimation techniques, past experience is also very important. </a:t>
            </a:r>
            <a:endParaRPr lang="en-IN" dirty="0"/>
          </a:p>
        </p:txBody>
      </p:sp>
    </p:spTree>
    <p:extLst>
      <p:ext uri="{BB962C8B-B14F-4D97-AF65-F5344CB8AC3E}">
        <p14:creationId xmlns:p14="http://schemas.microsoft.com/office/powerpoint/2010/main" val="3705093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CBE8EBE3-1A64-6D47-7F21-4198904AFB96}"/>
              </a:ext>
            </a:extLst>
          </p:cNvPr>
          <p:cNvSpPr txBox="1"/>
          <p:nvPr/>
        </p:nvSpPr>
        <p:spPr>
          <a:xfrm>
            <a:off x="89172" y="651844"/>
            <a:ext cx="6245156" cy="369332"/>
          </a:xfrm>
          <a:prstGeom prst="rect">
            <a:avLst/>
          </a:prstGeom>
          <a:noFill/>
        </p:spPr>
        <p:txBody>
          <a:bodyPr wrap="square">
            <a:spAutoFit/>
          </a:bodyPr>
          <a:lstStyle/>
          <a:p>
            <a:r>
              <a:rPr lang="en-IN" b="1" i="0" dirty="0">
                <a:solidFill>
                  <a:srgbClr val="273239"/>
                </a:solidFill>
                <a:effectLst/>
                <a:latin typeface="Nunito" pitchFamily="2" charset="0"/>
              </a:rPr>
              <a:t>Project Planning</a:t>
            </a:r>
            <a:endParaRPr lang="en-IN" dirty="0"/>
          </a:p>
        </p:txBody>
      </p:sp>
      <p:sp>
        <p:nvSpPr>
          <p:cNvPr id="4" name="TextBox 3">
            <a:extLst>
              <a:ext uri="{FF2B5EF4-FFF2-40B4-BE49-F238E27FC236}">
                <a16:creationId xmlns:a16="http://schemas.microsoft.com/office/drawing/2014/main" id="{40373174-1F6C-6F1F-6F27-2DEE3A9E19AF}"/>
              </a:ext>
            </a:extLst>
          </p:cNvPr>
          <p:cNvSpPr txBox="1"/>
          <p:nvPr/>
        </p:nvSpPr>
        <p:spPr>
          <a:xfrm>
            <a:off x="89172" y="885217"/>
            <a:ext cx="11720207" cy="7520007"/>
          </a:xfrm>
          <a:prstGeom prst="rect">
            <a:avLst/>
          </a:prstGeom>
          <a:noFill/>
        </p:spPr>
        <p:txBody>
          <a:bodyPr wrap="square">
            <a:spAutoFit/>
          </a:bodyPr>
          <a:lstStyle/>
          <a:p>
            <a:pPr>
              <a:lnSpc>
                <a:spcPct val="150000"/>
              </a:lnSpc>
            </a:pPr>
            <a:r>
              <a:rPr lang="en-US" b="0" i="0" dirty="0">
                <a:solidFill>
                  <a:srgbClr val="273239"/>
                </a:solidFill>
                <a:effectLst/>
                <a:latin typeface="Nunito" pitchFamily="2" charset="0"/>
              </a:rPr>
              <a:t>During the project planning the project manager performs the following activities:</a:t>
            </a:r>
          </a:p>
          <a:p>
            <a:pPr>
              <a:lnSpc>
                <a:spcPct val="150000"/>
              </a:lnSpc>
            </a:pPr>
            <a:endParaRPr lang="en-US" dirty="0">
              <a:solidFill>
                <a:srgbClr val="273239"/>
              </a:solidFill>
              <a:latin typeface="Nunito" pitchFamily="2" charset="0"/>
            </a:endParaRPr>
          </a:p>
          <a:p>
            <a:pPr algn="l" fontAlgn="base">
              <a:lnSpc>
                <a:spcPct val="150000"/>
              </a:lnSpc>
            </a:pPr>
            <a:r>
              <a:rPr lang="en-US" b="1" i="0" dirty="0">
                <a:solidFill>
                  <a:srgbClr val="273239"/>
                </a:solidFill>
                <a:effectLst/>
                <a:latin typeface="Nunito" pitchFamily="2" charset="0"/>
              </a:rPr>
              <a:t>1. Project Estimation:</a:t>
            </a:r>
            <a:r>
              <a:rPr lang="en-US" b="0" i="0" dirty="0">
                <a:solidFill>
                  <a:srgbClr val="273239"/>
                </a:solidFill>
                <a:effectLst/>
                <a:latin typeface="Nunito" pitchFamily="2" charset="0"/>
              </a:rPr>
              <a:t> Project Size Estimation is the most important parameter based on which all other estimations like cost, duration and effort are made.</a:t>
            </a:r>
          </a:p>
          <a:p>
            <a:pPr algn="l" fontAlgn="base">
              <a:lnSpc>
                <a:spcPct val="150000"/>
              </a:lnSpc>
              <a:buFont typeface="Arial" panose="020B0604020202020204" pitchFamily="34" charset="0"/>
              <a:buChar char="•"/>
            </a:pPr>
            <a:r>
              <a:rPr lang="en-US" b="1" i="0" dirty="0">
                <a:solidFill>
                  <a:srgbClr val="273239"/>
                </a:solidFill>
                <a:effectLst/>
                <a:latin typeface="Nunito" pitchFamily="2" charset="0"/>
              </a:rPr>
              <a:t>Cost Estimation:</a:t>
            </a:r>
            <a:r>
              <a:rPr lang="en-US" b="0" i="0" dirty="0">
                <a:solidFill>
                  <a:srgbClr val="273239"/>
                </a:solidFill>
                <a:effectLst/>
                <a:latin typeface="Nunito" pitchFamily="2" charset="0"/>
              </a:rPr>
              <a:t> Total expenses to develop the software product is estimated.</a:t>
            </a:r>
          </a:p>
          <a:p>
            <a:pPr algn="l" fontAlgn="base">
              <a:lnSpc>
                <a:spcPct val="150000"/>
              </a:lnSpc>
              <a:buFont typeface="Arial" panose="020B0604020202020204" pitchFamily="34" charset="0"/>
              <a:buChar char="•"/>
            </a:pPr>
            <a:r>
              <a:rPr lang="en-US" b="1" i="0" dirty="0">
                <a:solidFill>
                  <a:srgbClr val="273239"/>
                </a:solidFill>
                <a:effectLst/>
                <a:latin typeface="Nunito" pitchFamily="2" charset="0"/>
              </a:rPr>
              <a:t>Time Estimation:</a:t>
            </a:r>
            <a:r>
              <a:rPr lang="en-US" b="0" i="0" dirty="0">
                <a:solidFill>
                  <a:srgbClr val="273239"/>
                </a:solidFill>
                <a:effectLst/>
                <a:latin typeface="Nunito" pitchFamily="2" charset="0"/>
              </a:rPr>
              <a:t> The total time required to complete the project.</a:t>
            </a:r>
          </a:p>
          <a:p>
            <a:pPr algn="l" fontAlgn="base">
              <a:lnSpc>
                <a:spcPct val="150000"/>
              </a:lnSpc>
              <a:buFont typeface="Arial" panose="020B0604020202020204" pitchFamily="34" charset="0"/>
              <a:buChar char="•"/>
            </a:pPr>
            <a:r>
              <a:rPr lang="en-US" b="1" i="0" dirty="0">
                <a:solidFill>
                  <a:srgbClr val="273239"/>
                </a:solidFill>
                <a:effectLst/>
                <a:latin typeface="Nunito" pitchFamily="2" charset="0"/>
              </a:rPr>
              <a:t>Effort Estimation:</a:t>
            </a:r>
            <a:r>
              <a:rPr lang="en-US" b="0" i="0" dirty="0">
                <a:solidFill>
                  <a:srgbClr val="273239"/>
                </a:solidFill>
                <a:effectLst/>
                <a:latin typeface="Nunito" pitchFamily="2" charset="0"/>
              </a:rPr>
              <a:t> The effort needed to complete the project is estimated.</a:t>
            </a:r>
          </a:p>
          <a:p>
            <a:pPr algn="l" fontAlgn="base">
              <a:lnSpc>
                <a:spcPct val="150000"/>
              </a:lnSpc>
              <a:buFont typeface="Arial" panose="020B0604020202020204" pitchFamily="34" charset="0"/>
              <a:buChar char="•"/>
            </a:pPr>
            <a:endParaRPr lang="en-US" dirty="0">
              <a:solidFill>
                <a:srgbClr val="273239"/>
              </a:solidFill>
              <a:latin typeface="Nunito" pitchFamily="2" charset="0"/>
            </a:endParaRPr>
          </a:p>
          <a:p>
            <a:pPr algn="l" fontAlgn="base">
              <a:lnSpc>
                <a:spcPct val="150000"/>
              </a:lnSpc>
            </a:pPr>
            <a:r>
              <a:rPr lang="en-US" b="0" i="0" dirty="0">
                <a:solidFill>
                  <a:srgbClr val="273239"/>
                </a:solidFill>
                <a:effectLst/>
                <a:latin typeface="Nunito" pitchFamily="2" charset="0"/>
              </a:rPr>
              <a:t>2. </a:t>
            </a:r>
            <a:r>
              <a:rPr lang="en-US" b="1" i="0" dirty="0">
                <a:solidFill>
                  <a:srgbClr val="273239"/>
                </a:solidFill>
                <a:effectLst/>
                <a:latin typeface="Nunito" pitchFamily="2" charset="0"/>
              </a:rPr>
              <a:t>Scheduling:</a:t>
            </a:r>
            <a:r>
              <a:rPr lang="en-US" b="0" i="0" dirty="0">
                <a:solidFill>
                  <a:srgbClr val="273239"/>
                </a:solidFill>
                <a:effectLst/>
                <a:latin typeface="Nunito" pitchFamily="2" charset="0"/>
              </a:rPr>
              <a:t> After completion of estimation of all the project parameters, scheduling for manpower and other resources are done</a:t>
            </a:r>
          </a:p>
          <a:p>
            <a:pPr algn="l" fontAlgn="base">
              <a:lnSpc>
                <a:spcPct val="150000"/>
              </a:lnSpc>
            </a:pPr>
            <a:endParaRPr lang="en-US" dirty="0">
              <a:solidFill>
                <a:srgbClr val="273239"/>
              </a:solidFill>
              <a:latin typeface="Nunito" pitchFamily="2" charset="0"/>
            </a:endParaRPr>
          </a:p>
          <a:p>
            <a:pPr fontAlgn="base">
              <a:lnSpc>
                <a:spcPct val="150000"/>
              </a:lnSpc>
            </a:pPr>
            <a:r>
              <a:rPr lang="en-US" b="1" i="0" dirty="0">
                <a:solidFill>
                  <a:srgbClr val="273239"/>
                </a:solidFill>
                <a:effectLst/>
                <a:latin typeface="Nunito" pitchFamily="2" charset="0"/>
              </a:rPr>
              <a:t>3. Risk Management:</a:t>
            </a:r>
            <a:r>
              <a:rPr lang="en-US" b="0" i="0" dirty="0">
                <a:solidFill>
                  <a:srgbClr val="273239"/>
                </a:solidFill>
                <a:effectLst/>
                <a:latin typeface="Nunito" pitchFamily="2" charset="0"/>
              </a:rPr>
              <a:t> The project manager should identify the unanticipated risks that may occur during project development risk, analysis the damage might cause these risks and take risk reduction plan to cope up with these risks.</a:t>
            </a:r>
          </a:p>
          <a:p>
            <a:pPr fontAlgn="base">
              <a:lnSpc>
                <a:spcPct val="150000"/>
              </a:lnSpc>
            </a:pPr>
            <a:endParaRPr lang="en-US" dirty="0">
              <a:solidFill>
                <a:srgbClr val="273239"/>
              </a:solidFill>
              <a:latin typeface="Nunito" pitchFamily="2" charset="0"/>
            </a:endParaRPr>
          </a:p>
          <a:p>
            <a:pPr fontAlgn="base">
              <a:lnSpc>
                <a:spcPct val="150000"/>
              </a:lnSpc>
            </a:pPr>
            <a:r>
              <a:rPr lang="en-US" b="1" i="0" dirty="0">
                <a:solidFill>
                  <a:srgbClr val="273239"/>
                </a:solidFill>
                <a:effectLst/>
                <a:latin typeface="Nunito" pitchFamily="2" charset="0"/>
              </a:rPr>
              <a:t>4. Miscellaneous plans:</a:t>
            </a:r>
            <a:r>
              <a:rPr lang="en-US" b="0" i="0" dirty="0">
                <a:solidFill>
                  <a:srgbClr val="273239"/>
                </a:solidFill>
                <a:effectLst/>
                <a:latin typeface="Nunito" pitchFamily="2" charset="0"/>
              </a:rPr>
              <a:t> This includes making several other plans such as quality assurance plan, configuration management plan, etc.</a:t>
            </a:r>
          </a:p>
          <a:p>
            <a:pPr>
              <a:lnSpc>
                <a:spcPct val="150000"/>
              </a:lnSpc>
            </a:pPr>
            <a:endParaRPr lang="en-IN" dirty="0"/>
          </a:p>
        </p:txBody>
      </p:sp>
    </p:spTree>
    <p:extLst>
      <p:ext uri="{BB962C8B-B14F-4D97-AF65-F5344CB8AC3E}">
        <p14:creationId xmlns:p14="http://schemas.microsoft.com/office/powerpoint/2010/main" val="128202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CBE8EBE3-1A64-6D47-7F21-4198904AFB96}"/>
              </a:ext>
            </a:extLst>
          </p:cNvPr>
          <p:cNvSpPr txBox="1"/>
          <p:nvPr/>
        </p:nvSpPr>
        <p:spPr>
          <a:xfrm>
            <a:off x="89172" y="700551"/>
            <a:ext cx="6245156" cy="369332"/>
          </a:xfrm>
          <a:prstGeom prst="rect">
            <a:avLst/>
          </a:prstGeom>
          <a:noFill/>
        </p:spPr>
        <p:txBody>
          <a:bodyPr wrap="square">
            <a:spAutoFit/>
          </a:bodyPr>
          <a:lstStyle/>
          <a:p>
            <a:r>
              <a:rPr lang="en-IN" b="1" i="0" dirty="0">
                <a:solidFill>
                  <a:srgbClr val="273239"/>
                </a:solidFill>
                <a:effectLst/>
                <a:latin typeface="Nunito" pitchFamily="2" charset="0"/>
              </a:rPr>
              <a:t>Project Monitoring and Control</a:t>
            </a:r>
            <a:endParaRPr lang="en-IN" dirty="0"/>
          </a:p>
        </p:txBody>
      </p:sp>
      <p:sp>
        <p:nvSpPr>
          <p:cNvPr id="5" name="TextBox 4">
            <a:extLst>
              <a:ext uri="{FF2B5EF4-FFF2-40B4-BE49-F238E27FC236}">
                <a16:creationId xmlns:a16="http://schemas.microsoft.com/office/drawing/2014/main" id="{33742543-D2DF-2717-CEEA-E9BD57D756D6}"/>
              </a:ext>
            </a:extLst>
          </p:cNvPr>
          <p:cNvSpPr txBox="1"/>
          <p:nvPr/>
        </p:nvSpPr>
        <p:spPr>
          <a:xfrm>
            <a:off x="89172" y="1207463"/>
            <a:ext cx="11749390" cy="5632311"/>
          </a:xfrm>
          <a:prstGeom prst="rect">
            <a:avLst/>
          </a:prstGeom>
          <a:noFill/>
        </p:spPr>
        <p:txBody>
          <a:bodyPr wrap="square">
            <a:spAutoFit/>
          </a:bodyPr>
          <a:lstStyle/>
          <a:p>
            <a:pPr algn="just"/>
            <a:r>
              <a:rPr lang="en-US" b="0" i="0" dirty="0">
                <a:solidFill>
                  <a:srgbClr val="273239"/>
                </a:solidFill>
                <a:effectLst/>
                <a:latin typeface="Nunito" pitchFamily="2" charset="0"/>
              </a:rPr>
              <a:t>Project monitoring and control activities are undertaken once the development activities start. The main focus of project monitoring and control activities is to ensure that the software development proceeds as per plan. This includes checking whether the project is going on as per plan or not. If any problem created then the project manager must take necessary action to solve the problem.</a:t>
            </a:r>
          </a:p>
          <a:p>
            <a:pPr algn="l" fontAlgn="base">
              <a:buFont typeface="Arial" panose="020B0604020202020204" pitchFamily="34" charset="0"/>
              <a:buChar char="•"/>
            </a:pPr>
            <a:r>
              <a:rPr lang="en-US" b="1" i="0" dirty="0">
                <a:solidFill>
                  <a:srgbClr val="273239"/>
                </a:solidFill>
                <a:effectLst/>
                <a:latin typeface="Nunito" pitchFamily="2" charset="0"/>
              </a:rPr>
              <a:t>Lead the team:</a:t>
            </a:r>
            <a:r>
              <a:rPr lang="en-US" b="0" i="0" dirty="0">
                <a:solidFill>
                  <a:srgbClr val="273239"/>
                </a:solidFill>
                <a:effectLst/>
                <a:latin typeface="Nunito" pitchFamily="2" charset="0"/>
              </a:rPr>
              <a:t> The project manager must be a good leader who makes a team of different members of various skills and can complete their individual task.</a:t>
            </a:r>
          </a:p>
          <a:p>
            <a:pPr algn="l" fontAlgn="base">
              <a:buFont typeface="Arial" panose="020B0604020202020204" pitchFamily="34" charset="0"/>
              <a:buChar char="•"/>
            </a:pPr>
            <a:r>
              <a:rPr lang="en-US" b="1" i="0" dirty="0">
                <a:solidFill>
                  <a:srgbClr val="273239"/>
                </a:solidFill>
                <a:effectLst/>
                <a:latin typeface="Nunito" pitchFamily="2" charset="0"/>
              </a:rPr>
              <a:t>Motivate the team-member:</a:t>
            </a:r>
            <a:r>
              <a:rPr lang="en-US" b="0" i="0" dirty="0">
                <a:solidFill>
                  <a:srgbClr val="273239"/>
                </a:solidFill>
                <a:effectLst/>
                <a:latin typeface="Nunito" pitchFamily="2" charset="0"/>
              </a:rPr>
              <a:t> One of the key roles of a software project manager is to encourage team member to work properly for the successful completion of the project.</a:t>
            </a:r>
          </a:p>
          <a:p>
            <a:pPr algn="l" fontAlgn="base">
              <a:buFont typeface="Arial" panose="020B0604020202020204" pitchFamily="34" charset="0"/>
              <a:buChar char="•"/>
            </a:pPr>
            <a:r>
              <a:rPr lang="en-US" b="1" i="0" dirty="0">
                <a:solidFill>
                  <a:srgbClr val="273239"/>
                </a:solidFill>
                <a:effectLst/>
                <a:latin typeface="Nunito" pitchFamily="2" charset="0"/>
              </a:rPr>
              <a:t>Tracking the progress:</a:t>
            </a:r>
            <a:r>
              <a:rPr lang="en-US" b="0" i="0" dirty="0">
                <a:solidFill>
                  <a:srgbClr val="273239"/>
                </a:solidFill>
                <a:effectLst/>
                <a:latin typeface="Nunito" pitchFamily="2" charset="0"/>
              </a:rPr>
              <a:t> The project manager should keep an eye on the progress of the project. A project manager must track whether the project is going as per plan or not. If any problem arises, then take necessary action to solve the problem. Moreover, check whether the product is developed by maintaining correct coding standards or not.</a:t>
            </a:r>
          </a:p>
          <a:p>
            <a:pPr algn="l" fontAlgn="base">
              <a:buFont typeface="Arial" panose="020B0604020202020204" pitchFamily="34" charset="0"/>
              <a:buChar char="•"/>
            </a:pPr>
            <a:r>
              <a:rPr lang="en-US" b="1" i="0" dirty="0">
                <a:solidFill>
                  <a:srgbClr val="273239"/>
                </a:solidFill>
                <a:effectLst/>
                <a:latin typeface="Nunito" pitchFamily="2" charset="0"/>
              </a:rPr>
              <a:t>Liaison:</a:t>
            </a:r>
            <a:r>
              <a:rPr lang="en-US" b="0" i="0" dirty="0">
                <a:solidFill>
                  <a:srgbClr val="273239"/>
                </a:solidFill>
                <a:effectLst/>
                <a:latin typeface="Nunito" pitchFamily="2" charset="0"/>
              </a:rPr>
              <a:t> Project manager is the link between the development team and the customer. Project manager analysis the customer requirements and convey it to the development team and keep telling the progress of the project to the customer. Moreover, the project manager checks whether the project is fulfilling the customer requirements or not.</a:t>
            </a:r>
          </a:p>
          <a:p>
            <a:pPr algn="l" fontAlgn="base">
              <a:buFont typeface="Arial" panose="020B0604020202020204" pitchFamily="34" charset="0"/>
              <a:buChar char="•"/>
            </a:pPr>
            <a:r>
              <a:rPr lang="en-US" b="1" i="0" dirty="0">
                <a:solidFill>
                  <a:srgbClr val="273239"/>
                </a:solidFill>
                <a:effectLst/>
                <a:latin typeface="Nunito" pitchFamily="2" charset="0"/>
              </a:rPr>
              <a:t>Documenting project report:</a:t>
            </a:r>
            <a:r>
              <a:rPr lang="en-US" b="0" i="0" dirty="0">
                <a:solidFill>
                  <a:srgbClr val="273239"/>
                </a:solidFill>
                <a:effectLst/>
                <a:latin typeface="Nunito" pitchFamily="2" charset="0"/>
              </a:rPr>
              <a:t> The project manager prepares the documentation of the project for future purpose. The reports contain detailed features of the product and various techniques. These reports help to maintain and enhance the quality of the project in the future.</a:t>
            </a:r>
          </a:p>
          <a:p>
            <a:pPr algn="just"/>
            <a:endParaRPr lang="en-IN" dirty="0"/>
          </a:p>
        </p:txBody>
      </p:sp>
    </p:spTree>
    <p:extLst>
      <p:ext uri="{BB962C8B-B14F-4D97-AF65-F5344CB8AC3E}">
        <p14:creationId xmlns:p14="http://schemas.microsoft.com/office/powerpoint/2010/main" val="2865468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CBE8EBE3-1A64-6D47-7F21-4198904AFB96}"/>
              </a:ext>
            </a:extLst>
          </p:cNvPr>
          <p:cNvSpPr txBox="1"/>
          <p:nvPr/>
        </p:nvSpPr>
        <p:spPr>
          <a:xfrm>
            <a:off x="89172" y="700551"/>
            <a:ext cx="6245156" cy="369332"/>
          </a:xfrm>
          <a:prstGeom prst="rect">
            <a:avLst/>
          </a:prstGeom>
          <a:noFill/>
        </p:spPr>
        <p:txBody>
          <a:bodyPr wrap="square">
            <a:spAutoFit/>
          </a:bodyPr>
          <a:lstStyle/>
          <a:p>
            <a:r>
              <a:rPr lang="en-IN" b="1" i="0" dirty="0">
                <a:solidFill>
                  <a:srgbClr val="273239"/>
                </a:solidFill>
                <a:effectLst/>
                <a:latin typeface="Nunito" pitchFamily="2" charset="0"/>
              </a:rPr>
              <a:t>Project Monitoring and Control</a:t>
            </a:r>
            <a:endParaRPr lang="en-IN" dirty="0"/>
          </a:p>
        </p:txBody>
      </p:sp>
      <p:sp>
        <p:nvSpPr>
          <p:cNvPr id="4" name="TextBox 3">
            <a:extLst>
              <a:ext uri="{FF2B5EF4-FFF2-40B4-BE49-F238E27FC236}">
                <a16:creationId xmlns:a16="http://schemas.microsoft.com/office/drawing/2014/main" id="{EF335DC3-0B19-286E-6C9F-ED94DF33D82D}"/>
              </a:ext>
            </a:extLst>
          </p:cNvPr>
          <p:cNvSpPr txBox="1"/>
          <p:nvPr/>
        </p:nvSpPr>
        <p:spPr>
          <a:xfrm>
            <a:off x="89172" y="1207463"/>
            <a:ext cx="11506198" cy="5459187"/>
          </a:xfrm>
          <a:prstGeom prst="rect">
            <a:avLst/>
          </a:prstGeom>
          <a:noFill/>
        </p:spPr>
        <p:txBody>
          <a:bodyPr wrap="square">
            <a:spAutoFit/>
          </a:bodyPr>
          <a:lstStyle/>
          <a:p>
            <a:pPr algn="just" fontAlgn="base">
              <a:lnSpc>
                <a:spcPct val="150000"/>
              </a:lnSpc>
            </a:pPr>
            <a:r>
              <a:rPr lang="en-US" b="1" i="0" dirty="0">
                <a:solidFill>
                  <a:srgbClr val="273239"/>
                </a:solidFill>
                <a:effectLst/>
                <a:latin typeface="Nunito" pitchFamily="2" charset="0"/>
              </a:rPr>
              <a:t>Necessary skills of software project manager:</a:t>
            </a:r>
            <a:r>
              <a:rPr lang="en-US" b="0" i="0" dirty="0">
                <a:solidFill>
                  <a:srgbClr val="273239"/>
                </a:solidFill>
                <a:effectLst/>
                <a:latin typeface="Nunito" pitchFamily="2" charset="0"/>
              </a:rPr>
              <a:t> A good theoretical knowledge of various project management technique is needed to become a successful project manager, but only theoretical knowledge is not enough. Moreover, a project manager must have good decision-making abilities, good communication skills and the ability to control the team members with keeping a good rapport with them and the ability to get the work done by them. Some skills such as tracking and controlling the progress of the project, customer interaction, good knowledge of estimation techniques and previous experience are needed.</a:t>
            </a:r>
          </a:p>
          <a:p>
            <a:pPr algn="just" fontAlgn="base">
              <a:lnSpc>
                <a:spcPct val="150000"/>
              </a:lnSpc>
            </a:pPr>
            <a:r>
              <a:rPr lang="en-US" b="0" i="0" dirty="0">
                <a:solidFill>
                  <a:srgbClr val="273239"/>
                </a:solidFill>
                <a:effectLst/>
                <a:latin typeface="Nunito" pitchFamily="2" charset="0"/>
              </a:rPr>
              <a:t>Skills that are the most important to become a successful project manager are given below:</a:t>
            </a:r>
          </a:p>
          <a:p>
            <a:pPr marL="742950" lvl="1" indent="-285750" algn="just" fontAlgn="base">
              <a:lnSpc>
                <a:spcPct val="150000"/>
              </a:lnSpc>
              <a:buFont typeface="Arial" panose="020B0604020202020204" pitchFamily="34" charset="0"/>
              <a:buChar char="•"/>
            </a:pPr>
            <a:r>
              <a:rPr lang="en-US" b="0" i="0" dirty="0">
                <a:solidFill>
                  <a:srgbClr val="273239"/>
                </a:solidFill>
                <a:effectLst/>
                <a:latin typeface="Nunito" pitchFamily="2" charset="0"/>
              </a:rPr>
              <a:t>Knowledge of project estimation techniques</a:t>
            </a:r>
          </a:p>
          <a:p>
            <a:pPr marL="742950" lvl="1" indent="-285750" algn="just" fontAlgn="base">
              <a:lnSpc>
                <a:spcPct val="150000"/>
              </a:lnSpc>
              <a:buFont typeface="Arial" panose="020B0604020202020204" pitchFamily="34" charset="0"/>
              <a:buChar char="•"/>
            </a:pPr>
            <a:r>
              <a:rPr lang="en-US" b="0" i="0" dirty="0">
                <a:solidFill>
                  <a:srgbClr val="273239"/>
                </a:solidFill>
                <a:effectLst/>
                <a:latin typeface="Nunito" pitchFamily="2" charset="0"/>
              </a:rPr>
              <a:t>Good decision-making abilities at the right time</a:t>
            </a:r>
          </a:p>
          <a:p>
            <a:pPr marL="742950" lvl="1" indent="-285750" algn="just" fontAlgn="base">
              <a:lnSpc>
                <a:spcPct val="150000"/>
              </a:lnSpc>
              <a:buFont typeface="Arial" panose="020B0604020202020204" pitchFamily="34" charset="0"/>
              <a:buChar char="•"/>
            </a:pPr>
            <a:r>
              <a:rPr lang="en-US" b="0" i="0" dirty="0">
                <a:solidFill>
                  <a:srgbClr val="273239"/>
                </a:solidFill>
                <a:effectLst/>
                <a:latin typeface="Nunito" pitchFamily="2" charset="0"/>
              </a:rPr>
              <a:t>Previous experience of managing a similar type of projects</a:t>
            </a:r>
          </a:p>
          <a:p>
            <a:pPr marL="742950" lvl="1" indent="-285750" algn="just" fontAlgn="base">
              <a:lnSpc>
                <a:spcPct val="150000"/>
              </a:lnSpc>
              <a:buFont typeface="Arial" panose="020B0604020202020204" pitchFamily="34" charset="0"/>
              <a:buChar char="•"/>
            </a:pPr>
            <a:r>
              <a:rPr lang="en-US" b="0" i="0" dirty="0">
                <a:solidFill>
                  <a:srgbClr val="273239"/>
                </a:solidFill>
                <a:effectLst/>
                <a:latin typeface="Nunito" pitchFamily="2" charset="0"/>
              </a:rPr>
              <a:t>Good communication skill to meet the customer satisfaction</a:t>
            </a:r>
          </a:p>
          <a:p>
            <a:pPr marL="742950" lvl="1" indent="-285750" algn="just" fontAlgn="base">
              <a:lnSpc>
                <a:spcPct val="150000"/>
              </a:lnSpc>
              <a:buFont typeface="Arial" panose="020B0604020202020204" pitchFamily="34" charset="0"/>
              <a:buChar char="•"/>
            </a:pPr>
            <a:r>
              <a:rPr lang="en-US" b="0" i="0" dirty="0">
                <a:solidFill>
                  <a:srgbClr val="273239"/>
                </a:solidFill>
                <a:effectLst/>
                <a:latin typeface="Nunito" pitchFamily="2" charset="0"/>
              </a:rPr>
              <a:t>A project manager must encourage all the team members to successfully develop the product</a:t>
            </a:r>
          </a:p>
          <a:p>
            <a:pPr marL="742950" lvl="1" indent="-285750" algn="just" fontAlgn="base">
              <a:lnSpc>
                <a:spcPct val="150000"/>
              </a:lnSpc>
              <a:buFont typeface="Arial" panose="020B0604020202020204" pitchFamily="34" charset="0"/>
              <a:buChar char="•"/>
            </a:pPr>
            <a:r>
              <a:rPr lang="en-US" b="0" i="0" dirty="0">
                <a:solidFill>
                  <a:srgbClr val="273239"/>
                </a:solidFill>
                <a:effectLst/>
                <a:latin typeface="Nunito" pitchFamily="2" charset="0"/>
              </a:rPr>
              <a:t>He must know the various type of risks that may occur and the solution for these problems</a:t>
            </a:r>
          </a:p>
        </p:txBody>
      </p:sp>
    </p:spTree>
    <p:extLst>
      <p:ext uri="{BB962C8B-B14F-4D97-AF65-F5344CB8AC3E}">
        <p14:creationId xmlns:p14="http://schemas.microsoft.com/office/powerpoint/2010/main" val="592692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5" name="TextBox 4">
            <a:extLst>
              <a:ext uri="{FF2B5EF4-FFF2-40B4-BE49-F238E27FC236}">
                <a16:creationId xmlns:a16="http://schemas.microsoft.com/office/drawing/2014/main" id="{4DC44901-2AD9-D138-27CA-169475B707C3}"/>
              </a:ext>
            </a:extLst>
          </p:cNvPr>
          <p:cNvSpPr txBox="1"/>
          <p:nvPr/>
        </p:nvSpPr>
        <p:spPr>
          <a:xfrm>
            <a:off x="496113" y="1419282"/>
            <a:ext cx="6245156" cy="5032147"/>
          </a:xfrm>
          <a:prstGeom prst="rect">
            <a:avLst/>
          </a:prstGeom>
          <a:noFill/>
        </p:spPr>
        <p:txBody>
          <a:bodyPr wrap="square">
            <a:spAutoFit/>
          </a:bodyPr>
          <a:lstStyle/>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Budget forecasting</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Budget management</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Business strategy development</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Defining the scope of work</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Document sharing</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Gantt chart and timeline development</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Progress measurement</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Progress reporting</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Quality control</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Staffing </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Strategic oversight</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Vendor management</a:t>
            </a:r>
          </a:p>
        </p:txBody>
      </p:sp>
      <p:sp>
        <p:nvSpPr>
          <p:cNvPr id="6" name="TextBox 5">
            <a:extLst>
              <a:ext uri="{FF2B5EF4-FFF2-40B4-BE49-F238E27FC236}">
                <a16:creationId xmlns:a16="http://schemas.microsoft.com/office/drawing/2014/main" id="{656B625E-FBA7-7EFF-163E-1BA584625D0A}"/>
              </a:ext>
            </a:extLst>
          </p:cNvPr>
          <p:cNvSpPr txBox="1"/>
          <p:nvPr/>
        </p:nvSpPr>
        <p:spPr>
          <a:xfrm flipH="1">
            <a:off x="496113" y="841450"/>
            <a:ext cx="1355064" cy="369332"/>
          </a:xfrm>
          <a:prstGeom prst="rect">
            <a:avLst/>
          </a:prstGeom>
          <a:noFill/>
        </p:spPr>
        <p:txBody>
          <a:bodyPr wrap="square" rtlCol="0">
            <a:spAutoFit/>
          </a:bodyPr>
          <a:lstStyle/>
          <a:p>
            <a:r>
              <a:rPr lang="en-IN" b="1" dirty="0"/>
              <a:t>In Short</a:t>
            </a:r>
          </a:p>
        </p:txBody>
      </p:sp>
    </p:spTree>
    <p:extLst>
      <p:ext uri="{BB962C8B-B14F-4D97-AF65-F5344CB8AC3E}">
        <p14:creationId xmlns:p14="http://schemas.microsoft.com/office/powerpoint/2010/main" val="806531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9AC8DF1C-64CA-BCB5-BFD0-0E14B2FAA194}"/>
              </a:ext>
            </a:extLst>
          </p:cNvPr>
          <p:cNvSpPr txBox="1"/>
          <p:nvPr/>
        </p:nvSpPr>
        <p:spPr>
          <a:xfrm>
            <a:off x="389106" y="1268983"/>
            <a:ext cx="11147897" cy="5032147"/>
          </a:xfrm>
          <a:prstGeom prst="rect">
            <a:avLst/>
          </a:prstGeom>
          <a:noFill/>
        </p:spPr>
        <p:txBody>
          <a:bodyPr wrap="square">
            <a:spAutoFit/>
          </a:bodyPr>
          <a:lstStyle/>
          <a:p>
            <a:pPr algn="l">
              <a:lnSpc>
                <a:spcPct val="150000"/>
              </a:lnSpc>
            </a:pPr>
            <a:r>
              <a:rPr lang="en-US" b="1" i="0" dirty="0">
                <a:solidFill>
                  <a:srgbClr val="272C37"/>
                </a:solidFill>
                <a:effectLst/>
                <a:latin typeface="Roboto" panose="02000000000000000000" pitchFamily="2" charset="0"/>
              </a:rPr>
              <a:t>Role 1: Team and Timeline Management</a:t>
            </a:r>
          </a:p>
          <a:p>
            <a:pPr algn="l">
              <a:lnSpc>
                <a:spcPct val="150000"/>
              </a:lnSpc>
            </a:pPr>
            <a:r>
              <a:rPr lang="en-US" b="0" i="0" dirty="0">
                <a:solidFill>
                  <a:srgbClr val="51565E"/>
                </a:solidFill>
                <a:effectLst/>
                <a:latin typeface="Roboto" panose="02000000000000000000" pitchFamily="2" charset="0"/>
              </a:rPr>
              <a:t>The role of a project manager is uniquely positioned with visibility into the multiple functions or task-forces of a team. For example, in launching a mobile application, the project manager may work with:</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Web developers</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Content developers</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Graphic designers</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Marketing teams</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Social media community managers</a:t>
            </a:r>
          </a:p>
          <a:p>
            <a:pPr algn="l">
              <a:lnSpc>
                <a:spcPct val="150000"/>
              </a:lnSpc>
              <a:buFont typeface="Arial" panose="020B0604020202020204" pitchFamily="34" charset="0"/>
              <a:buChar char="•"/>
            </a:pPr>
            <a:r>
              <a:rPr lang="en-US" b="0" i="0" dirty="0">
                <a:solidFill>
                  <a:srgbClr val="51565E"/>
                </a:solidFill>
                <a:effectLst/>
                <a:latin typeface="Roboto" panose="02000000000000000000" pitchFamily="2" charset="0"/>
              </a:rPr>
              <a:t>And many others!</a:t>
            </a:r>
          </a:p>
          <a:p>
            <a:pPr algn="l">
              <a:lnSpc>
                <a:spcPct val="150000"/>
              </a:lnSpc>
            </a:pPr>
            <a:r>
              <a:rPr lang="en-US" b="0" i="0" dirty="0">
                <a:solidFill>
                  <a:srgbClr val="51565E"/>
                </a:solidFill>
                <a:effectLst/>
                <a:latin typeface="Roboto" panose="02000000000000000000" pitchFamily="2" charset="0"/>
              </a:rPr>
              <a:t>However, each of these functions may not speak to one another or have full line-of-sight into the project deliverable. As a project manager, it’s your role to manage relationships with each of these teams, report progress to the project owner, and share information across functions. </a:t>
            </a:r>
          </a:p>
        </p:txBody>
      </p:sp>
    </p:spTree>
    <p:extLst>
      <p:ext uri="{BB962C8B-B14F-4D97-AF65-F5344CB8AC3E}">
        <p14:creationId xmlns:p14="http://schemas.microsoft.com/office/powerpoint/2010/main" val="401377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FA9E0562-C651-F6E6-1E1F-157B983DA9BB}"/>
              </a:ext>
            </a:extLst>
          </p:cNvPr>
          <p:cNvSpPr txBox="1"/>
          <p:nvPr/>
        </p:nvSpPr>
        <p:spPr>
          <a:xfrm>
            <a:off x="432057" y="346938"/>
            <a:ext cx="10955591" cy="6659515"/>
          </a:xfrm>
          <a:prstGeom prst="rect">
            <a:avLst/>
          </a:prstGeom>
          <a:noFill/>
        </p:spPr>
        <p:txBody>
          <a:bodyPr wrap="square">
            <a:spAutoFit/>
          </a:bodyPr>
          <a:lstStyle/>
          <a:p>
            <a:pPr algn="just">
              <a:lnSpc>
                <a:spcPct val="200000"/>
              </a:lnSpc>
            </a:pPr>
            <a:r>
              <a:rPr lang="en-US" b="1" i="0" dirty="0">
                <a:effectLst/>
                <a:latin typeface="Roboto" panose="02000000000000000000" pitchFamily="2" charset="0"/>
              </a:rPr>
              <a:t>Role 2: Team Organization</a:t>
            </a:r>
          </a:p>
          <a:p>
            <a:pPr algn="just">
              <a:lnSpc>
                <a:spcPct val="200000"/>
              </a:lnSpc>
            </a:pPr>
            <a:r>
              <a:rPr lang="en-US" b="0" i="0" dirty="0">
                <a:effectLst/>
                <a:latin typeface="Roboto" panose="02000000000000000000" pitchFamily="2" charset="0"/>
              </a:rPr>
              <a:t>An essential role of a project manager is to organize teams to deliver on an outcome. This means understanding the various team functions, structuring them in a way that’s efficient, and communicating program progress and expectations in a timely manner. None of this can be done without being organized. </a:t>
            </a:r>
          </a:p>
          <a:p>
            <a:pPr algn="just">
              <a:lnSpc>
                <a:spcPct val="200000"/>
              </a:lnSpc>
            </a:pPr>
            <a:r>
              <a:rPr lang="en-US" b="0" i="0" dirty="0">
                <a:effectLst/>
                <a:latin typeface="Roboto" panose="02000000000000000000" pitchFamily="2" charset="0"/>
              </a:rPr>
              <a:t>Look around your personal area. Are there piles of paper or clutter on your desk or counters? Do you have a “to-do” list that seems only to get longer? These are signs of poor organization. And, if you can’t organize your own life, why would someone hire you to organize theirs? By getting organized personally, organizing teams in a project manager role will improve dramatically.</a:t>
            </a:r>
          </a:p>
          <a:p>
            <a:pPr algn="just">
              <a:lnSpc>
                <a:spcPct val="200000"/>
              </a:lnSpc>
            </a:pPr>
            <a:r>
              <a:rPr lang="en-US" b="0" i="0" dirty="0">
                <a:effectLst/>
                <a:latin typeface="Roboto" panose="02000000000000000000" pitchFamily="2" charset="0"/>
              </a:rPr>
              <a:t>As a project manager, it’s your role to work seamlessly across teams to structure timelines, outline deliverables, and hold vendor or client teams accountable. New software helps make this easier, but it’s imperative that the project manager bring organization to a diverse group to streamline project activities.</a:t>
            </a:r>
          </a:p>
        </p:txBody>
      </p:sp>
    </p:spTree>
    <p:extLst>
      <p:ext uri="{BB962C8B-B14F-4D97-AF65-F5344CB8AC3E}">
        <p14:creationId xmlns:p14="http://schemas.microsoft.com/office/powerpoint/2010/main" val="2981091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ED911D66-C2E1-AF55-6FDF-6AA38F7B2E8E}"/>
              </a:ext>
            </a:extLst>
          </p:cNvPr>
          <p:cNvSpPr txBox="1"/>
          <p:nvPr/>
        </p:nvSpPr>
        <p:spPr>
          <a:xfrm>
            <a:off x="496110" y="1095719"/>
            <a:ext cx="10885251" cy="4442498"/>
          </a:xfrm>
          <a:prstGeom prst="rect">
            <a:avLst/>
          </a:prstGeom>
          <a:noFill/>
        </p:spPr>
        <p:txBody>
          <a:bodyPr wrap="square">
            <a:spAutoFit/>
          </a:bodyPr>
          <a:lstStyle/>
          <a:p>
            <a:pPr algn="just">
              <a:lnSpc>
                <a:spcPct val="200000"/>
              </a:lnSpc>
            </a:pPr>
            <a:r>
              <a:rPr lang="en-IN" b="1" i="0" dirty="0">
                <a:solidFill>
                  <a:srgbClr val="272C37"/>
                </a:solidFill>
                <a:effectLst/>
                <a:latin typeface="Roboto" panose="02000000000000000000" pitchFamily="2" charset="0"/>
              </a:rPr>
              <a:t>Role 3: Technology Integration</a:t>
            </a:r>
          </a:p>
          <a:p>
            <a:pPr algn="just">
              <a:lnSpc>
                <a:spcPct val="200000"/>
              </a:lnSpc>
            </a:pPr>
            <a:endParaRPr lang="en-US" b="0" i="0" dirty="0">
              <a:solidFill>
                <a:srgbClr val="51565E"/>
              </a:solidFill>
              <a:effectLst/>
              <a:latin typeface="Roboto" panose="02000000000000000000" pitchFamily="2" charset="0"/>
            </a:endParaRPr>
          </a:p>
          <a:p>
            <a:pPr algn="just">
              <a:lnSpc>
                <a:spcPct val="200000"/>
              </a:lnSpc>
            </a:pPr>
            <a:r>
              <a:rPr lang="en-US" b="0" i="0" dirty="0">
                <a:effectLst/>
                <a:latin typeface="Roboto" panose="02000000000000000000" pitchFamily="2" charset="0"/>
              </a:rPr>
              <a:t>In this digital age, it’s important as a project manager to leverage existing technology to enhance workstream transparency, share information, synthesize data, and alert internal and external stakeholders to programmatic updates. When it comes to technology, we know that file sharing, time tracking, email integration, and budget management are among the top most used and requested features in project management software. In the project manager role, you must understand these digital platforms, own management of these systems, and synthesize data inputs to make decisions for your team. </a:t>
            </a:r>
            <a:endParaRPr lang="en-IN" dirty="0"/>
          </a:p>
        </p:txBody>
      </p:sp>
    </p:spTree>
    <p:extLst>
      <p:ext uri="{BB962C8B-B14F-4D97-AF65-F5344CB8AC3E}">
        <p14:creationId xmlns:p14="http://schemas.microsoft.com/office/powerpoint/2010/main" val="2423924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ED911D66-C2E1-AF55-6FDF-6AA38F7B2E8E}"/>
              </a:ext>
            </a:extLst>
          </p:cNvPr>
          <p:cNvSpPr txBox="1"/>
          <p:nvPr/>
        </p:nvSpPr>
        <p:spPr>
          <a:xfrm>
            <a:off x="496110" y="1095719"/>
            <a:ext cx="10885251" cy="3888500"/>
          </a:xfrm>
          <a:prstGeom prst="rect">
            <a:avLst/>
          </a:prstGeom>
          <a:noFill/>
        </p:spPr>
        <p:txBody>
          <a:bodyPr wrap="square">
            <a:spAutoFit/>
          </a:bodyPr>
          <a:lstStyle/>
          <a:p>
            <a:pPr algn="just">
              <a:lnSpc>
                <a:spcPct val="200000"/>
              </a:lnSpc>
            </a:pPr>
            <a:r>
              <a:rPr lang="en-IN" b="1" i="0" dirty="0">
                <a:solidFill>
                  <a:srgbClr val="272C37"/>
                </a:solidFill>
                <a:effectLst/>
                <a:latin typeface="Roboto" panose="02000000000000000000" pitchFamily="2" charset="0"/>
              </a:rPr>
              <a:t>Role 4: Leadership</a:t>
            </a:r>
          </a:p>
          <a:p>
            <a:pPr algn="just">
              <a:lnSpc>
                <a:spcPct val="200000"/>
              </a:lnSpc>
            </a:pPr>
            <a:endParaRPr lang="en-US" b="0" i="0" dirty="0">
              <a:solidFill>
                <a:srgbClr val="51565E"/>
              </a:solidFill>
              <a:effectLst/>
              <a:latin typeface="Roboto" panose="02000000000000000000" pitchFamily="2" charset="0"/>
            </a:endParaRPr>
          </a:p>
          <a:p>
            <a:pPr algn="just">
              <a:lnSpc>
                <a:spcPct val="200000"/>
              </a:lnSpc>
            </a:pPr>
            <a:r>
              <a:rPr lang="en-US" b="0" i="0" dirty="0">
                <a:effectLst/>
                <a:latin typeface="Roboto" panose="02000000000000000000" pitchFamily="2" charset="0"/>
              </a:rPr>
              <a:t>Teamwork, conflict resolution, and adaptability are often difficult to teach but are increasing in importance for project managers. Research from the </a:t>
            </a:r>
            <a:r>
              <a:rPr lang="en-US" b="0" i="0" u="none" strike="noStrike" dirty="0">
                <a:effectLst/>
                <a:latin typeface="Roboto" panose="02000000000000000000" pitchFamily="2" charset="0"/>
                <a:hlinkClick r:id="rId2" tooltip="Society for Human Resource Management">
                  <a:extLst>
                    <a:ext uri="{A12FA001-AC4F-418D-AE19-62706E023703}">
                      <ahyp:hlinkClr xmlns:ahyp="http://schemas.microsoft.com/office/drawing/2018/hyperlinkcolor" val="tx"/>
                    </a:ext>
                  </a:extLst>
                </a:hlinkClick>
              </a:rPr>
              <a:t>Society for Human Resource Management</a:t>
            </a:r>
            <a:r>
              <a:rPr lang="en-US" b="0" i="0" dirty="0">
                <a:effectLst/>
                <a:latin typeface="Roboto" panose="02000000000000000000" pitchFamily="2" charset="0"/>
              </a:rPr>
              <a:t> found that employers care more about soft skills than they do technical abilities like reading comprehension and mathematics. Even more, in the Project Management Institute's 2018 survey, 51% of respondents said that soft skills are more important today than they were just five years ago.</a:t>
            </a:r>
            <a:endParaRPr lang="en-IN" dirty="0"/>
          </a:p>
        </p:txBody>
      </p:sp>
    </p:spTree>
    <p:extLst>
      <p:ext uri="{BB962C8B-B14F-4D97-AF65-F5344CB8AC3E}">
        <p14:creationId xmlns:p14="http://schemas.microsoft.com/office/powerpoint/2010/main" val="226208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US" b="1" dirty="0">
                  <a:solidFill>
                    <a:srgbClr val="C00000"/>
                  </a:solidFill>
                  <a:cs typeface="Arial" pitchFamily="34" charset="0"/>
                </a:rPr>
                <a:t>ROLE OF PROJECT MANAGER-</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04</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5EDB1127-6E25-59CD-FCB4-FF6993735CC0}"/>
              </a:ext>
            </a:extLst>
          </p:cNvPr>
          <p:cNvSpPr txBox="1"/>
          <p:nvPr/>
        </p:nvSpPr>
        <p:spPr>
          <a:xfrm>
            <a:off x="279856" y="730135"/>
            <a:ext cx="11665710" cy="5032147"/>
          </a:xfrm>
          <a:prstGeom prst="rect">
            <a:avLst/>
          </a:prstGeom>
          <a:noFill/>
        </p:spPr>
        <p:txBody>
          <a:bodyPr wrap="square">
            <a:spAutoFit/>
          </a:bodyPr>
          <a:lstStyle/>
          <a:p>
            <a:pPr algn="just">
              <a:lnSpc>
                <a:spcPct val="150000"/>
              </a:lnSpc>
            </a:pPr>
            <a:r>
              <a:rPr lang="en-US" b="1" i="0" dirty="0">
                <a:solidFill>
                  <a:srgbClr val="272C37"/>
                </a:solidFill>
                <a:effectLst/>
                <a:latin typeface="Roboto" panose="02000000000000000000" pitchFamily="2" charset="0"/>
              </a:rPr>
              <a:t>Role 5: Performance Tracking and Measurement</a:t>
            </a:r>
          </a:p>
          <a:p>
            <a:pPr algn="just">
              <a:lnSpc>
                <a:spcPct val="150000"/>
              </a:lnSpc>
            </a:pPr>
            <a:r>
              <a:rPr lang="en-US" b="0" i="0" dirty="0">
                <a:effectLst/>
                <a:latin typeface="Roboto" panose="02000000000000000000" pitchFamily="2" charset="0"/>
              </a:rPr>
              <a:t>No project is considered a success without the proper measurement tools to showcase strategic alignment and return on investment. Project managers are often the individuals working across teams to support the identification of key performance indicators and own the reports shared with business executives to justify program progress. </a:t>
            </a:r>
          </a:p>
          <a:p>
            <a:pPr algn="just">
              <a:lnSpc>
                <a:spcPct val="150000"/>
              </a:lnSpc>
            </a:pPr>
            <a:r>
              <a:rPr lang="en-US" b="0" i="0" dirty="0">
                <a:effectLst/>
                <a:latin typeface="Roboto" panose="02000000000000000000" pitchFamily="2" charset="0"/>
              </a:rPr>
              <a:t>In the project manager role, it’s important to understand the value of click-through rates, conversion rates, open rates, shares and likes, and more. But as a project manager, you must take the data one step further, interpreting the numbers and reports to share what they may mean. For example, if last month your </a:t>
            </a:r>
            <a:r>
              <a:rPr lang="en-US" b="1" i="0" dirty="0">
                <a:effectLst/>
                <a:latin typeface="Roboto" panose="02000000000000000000" pitchFamily="2" charset="0"/>
              </a:rPr>
              <a:t>project’s email open rate was 10%, </a:t>
            </a:r>
            <a:r>
              <a:rPr lang="en-US" b="0" i="0" dirty="0">
                <a:effectLst/>
                <a:latin typeface="Roboto" panose="02000000000000000000" pitchFamily="2" charset="0"/>
              </a:rPr>
              <a:t>but two months ago it was only five percent, the report you share with executives should outline what caused the jump – was it new subject line testing? Was video content shared versus static text? These findings are what influence strategy as the project continues, in addition to providing a rationale for programmatic changes that may be needed.</a:t>
            </a:r>
          </a:p>
        </p:txBody>
      </p:sp>
    </p:spTree>
    <p:extLst>
      <p:ext uri="{BB962C8B-B14F-4D97-AF65-F5344CB8AC3E}">
        <p14:creationId xmlns:p14="http://schemas.microsoft.com/office/powerpoint/2010/main" val="1127329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5E229E-92AE-CE9B-73A8-C43943F16CF6}"/>
              </a:ext>
            </a:extLst>
          </p:cNvPr>
          <p:cNvSpPr txBox="1"/>
          <p:nvPr/>
        </p:nvSpPr>
        <p:spPr>
          <a:xfrm>
            <a:off x="3048811" y="2905780"/>
            <a:ext cx="6094378" cy="523220"/>
          </a:xfrm>
          <a:prstGeom prst="rect">
            <a:avLst/>
          </a:prstGeom>
          <a:noFill/>
        </p:spPr>
        <p:txBody>
          <a:bodyPr wrap="square">
            <a:spAutoFit/>
          </a:bodyPr>
          <a:lstStyle/>
          <a:p>
            <a:r>
              <a:rPr lang="en-US" sz="2800" b="1" dirty="0">
                <a:solidFill>
                  <a:srgbClr val="C00000"/>
                </a:solidFill>
                <a:cs typeface="Arial" pitchFamily="34" charset="0"/>
              </a:rPr>
              <a:t>1.5 QUALITY METRICS</a:t>
            </a:r>
            <a:endParaRPr lang="en-IN" sz="2800" dirty="0"/>
          </a:p>
        </p:txBody>
      </p:sp>
    </p:spTree>
    <p:extLst>
      <p:ext uri="{BB962C8B-B14F-4D97-AF65-F5344CB8AC3E}">
        <p14:creationId xmlns:p14="http://schemas.microsoft.com/office/powerpoint/2010/main" val="33090105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630C03EB-896E-FC0F-8A1F-4490B214C08F}"/>
              </a:ext>
            </a:extLst>
          </p:cNvPr>
          <p:cNvSpPr txBox="1"/>
          <p:nvPr/>
        </p:nvSpPr>
        <p:spPr>
          <a:xfrm>
            <a:off x="584006" y="1162854"/>
            <a:ext cx="11023987" cy="3690177"/>
          </a:xfrm>
          <a:prstGeom prst="rect">
            <a:avLst/>
          </a:prstGeom>
          <a:noFill/>
        </p:spPr>
        <p:txBody>
          <a:bodyPr wrap="square">
            <a:spAutoFit/>
          </a:bodyPr>
          <a:lstStyle/>
          <a:p>
            <a:pPr algn="just">
              <a:lnSpc>
                <a:spcPct val="200000"/>
              </a:lnSpc>
            </a:pPr>
            <a:r>
              <a:rPr lang="en-US" sz="2000" b="0" i="0" dirty="0">
                <a:effectLst/>
                <a:latin typeface="Arial" panose="020B0604020202020204" pitchFamily="34" charset="0"/>
              </a:rPr>
              <a:t>In project management, quality metrics are used to measure the success of a project in meeting its goals. There are a variety of quality metrics.</a:t>
            </a:r>
          </a:p>
          <a:p>
            <a:pPr algn="just">
              <a:lnSpc>
                <a:spcPct val="200000"/>
              </a:lnSpc>
            </a:pPr>
            <a:endParaRPr lang="en-US" sz="2000" dirty="0">
              <a:latin typeface="Arial" panose="020B0604020202020204" pitchFamily="34" charset="0"/>
            </a:endParaRPr>
          </a:p>
          <a:p>
            <a:pPr algn="just">
              <a:lnSpc>
                <a:spcPct val="200000"/>
              </a:lnSpc>
            </a:pPr>
            <a:r>
              <a:rPr lang="en-US" sz="2000" b="0" i="0" dirty="0">
                <a:effectLst/>
                <a:latin typeface="Arial" panose="020B0604020202020204" pitchFamily="34" charset="0"/>
              </a:rPr>
              <a:t>Some common quality metrics include customer satisfaction, cycle time, failure rate, quality control, defect density and more.  Each metric measures something different, but all are important in ensuring the success of your project </a:t>
            </a:r>
            <a:endParaRPr lang="en-IN" sz="2000" dirty="0"/>
          </a:p>
        </p:txBody>
      </p:sp>
    </p:spTree>
    <p:extLst>
      <p:ext uri="{BB962C8B-B14F-4D97-AF65-F5344CB8AC3E}">
        <p14:creationId xmlns:p14="http://schemas.microsoft.com/office/powerpoint/2010/main" val="935173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736F845B-788A-7FC5-5102-47B512E65477}"/>
              </a:ext>
            </a:extLst>
          </p:cNvPr>
          <p:cNvSpPr txBox="1"/>
          <p:nvPr/>
        </p:nvSpPr>
        <p:spPr>
          <a:xfrm>
            <a:off x="279856" y="700551"/>
            <a:ext cx="6245156" cy="369332"/>
          </a:xfrm>
          <a:prstGeom prst="rect">
            <a:avLst/>
          </a:prstGeom>
          <a:noFill/>
        </p:spPr>
        <p:txBody>
          <a:bodyPr wrap="square">
            <a:spAutoFit/>
          </a:bodyPr>
          <a:lstStyle/>
          <a:p>
            <a:pPr algn="l" fontAlgn="base"/>
            <a:r>
              <a:rPr lang="en-IN" b="1" i="0" dirty="0">
                <a:solidFill>
                  <a:srgbClr val="545454"/>
                </a:solidFill>
                <a:effectLst/>
                <a:latin typeface="Arial" panose="020B0604020202020204" pitchFamily="34" charset="0"/>
              </a:rPr>
              <a:t>What are quality metrics?</a:t>
            </a:r>
          </a:p>
        </p:txBody>
      </p:sp>
      <p:sp>
        <p:nvSpPr>
          <p:cNvPr id="6" name="TextBox 5">
            <a:extLst>
              <a:ext uri="{FF2B5EF4-FFF2-40B4-BE49-F238E27FC236}">
                <a16:creationId xmlns:a16="http://schemas.microsoft.com/office/drawing/2014/main" id="{638351D7-B2BB-7008-692A-3EDF782604A0}"/>
              </a:ext>
            </a:extLst>
          </p:cNvPr>
          <p:cNvSpPr txBox="1"/>
          <p:nvPr/>
        </p:nvSpPr>
        <p:spPr>
          <a:xfrm>
            <a:off x="279856" y="2072629"/>
            <a:ext cx="11023987" cy="2430152"/>
          </a:xfrm>
          <a:prstGeom prst="rect">
            <a:avLst/>
          </a:prstGeom>
          <a:noFill/>
        </p:spPr>
        <p:txBody>
          <a:bodyPr wrap="square">
            <a:spAutoFit/>
          </a:bodyPr>
          <a:lstStyle/>
          <a:p>
            <a:pPr algn="just">
              <a:lnSpc>
                <a:spcPct val="300000"/>
              </a:lnSpc>
            </a:pPr>
            <a:r>
              <a:rPr lang="en-US" b="0" i="0" dirty="0">
                <a:effectLst/>
                <a:latin typeface="Arial" panose="020B0604020202020204" pitchFamily="34" charset="0"/>
              </a:rPr>
              <a:t>Quality metrics are a vital part of project management. By tracking and measuring the quality of your project, you can identify potential problems and risks, and take the necessary actions to </a:t>
            </a:r>
            <a:r>
              <a:rPr lang="en-US" b="0" i="0" u="none" strike="noStrike" dirty="0">
                <a:effectLst/>
                <a:latin typeface="Arial" panose="020B0604020202020204" pitchFamily="34" charset="0"/>
                <a:hlinkClick r:id="rId2">
                  <a:extLst>
                    <a:ext uri="{A12FA001-AC4F-418D-AE19-62706E023703}">
                      <ahyp:hlinkClr xmlns:ahyp="http://schemas.microsoft.com/office/drawing/2018/hyperlinkcolor" val="tx"/>
                    </a:ext>
                  </a:extLst>
                </a:hlinkClick>
              </a:rPr>
              <a:t>reduce risks</a:t>
            </a:r>
            <a:r>
              <a:rPr lang="en-US" b="0" i="0" dirty="0">
                <a:effectLst/>
                <a:latin typeface="Arial" panose="020B0604020202020204" pitchFamily="34" charset="0"/>
              </a:rPr>
              <a:t> while it can massively help to avoid costly delays or errors.</a:t>
            </a:r>
            <a:endParaRPr lang="en-IN" dirty="0"/>
          </a:p>
        </p:txBody>
      </p:sp>
    </p:spTree>
    <p:extLst>
      <p:ext uri="{BB962C8B-B14F-4D97-AF65-F5344CB8AC3E}">
        <p14:creationId xmlns:p14="http://schemas.microsoft.com/office/powerpoint/2010/main" val="509685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686604" y="754160"/>
            <a:ext cx="6257131" cy="6756209"/>
          </a:xfrm>
          <a:prstGeom prst="rect">
            <a:avLst/>
          </a:prstGeom>
          <a:noFill/>
        </p:spPr>
        <p:txBody>
          <a:bodyPr wrap="square">
            <a:spAutoFit/>
          </a:bodyPr>
          <a:lstStyle/>
          <a:p>
            <a:pPr marL="342900" indent="-342900" algn="l" fontAlgn="base">
              <a:lnSpc>
                <a:spcPct val="250000"/>
              </a:lnSpc>
              <a:buAutoNum type="arabicPeriod"/>
            </a:pPr>
            <a:r>
              <a:rPr lang="en-IN" sz="1600" i="0" dirty="0">
                <a:effectLst/>
                <a:latin typeface="Arial" panose="020B0604020202020204" pitchFamily="34" charset="0"/>
              </a:rPr>
              <a:t>Schedule Performance Index</a:t>
            </a:r>
          </a:p>
          <a:p>
            <a:pPr marL="342900" indent="-342900" fontAlgn="base">
              <a:lnSpc>
                <a:spcPct val="250000"/>
              </a:lnSpc>
              <a:buFontTx/>
              <a:buAutoNum type="arabicPeriod"/>
            </a:pPr>
            <a:r>
              <a:rPr lang="en-IN" sz="1600" i="0" dirty="0">
                <a:effectLst/>
                <a:latin typeface="Arial" panose="020B0604020202020204" pitchFamily="34" charset="0"/>
              </a:rPr>
              <a:t>Productivity</a:t>
            </a:r>
          </a:p>
          <a:p>
            <a:pPr marL="342900" indent="-342900" fontAlgn="base">
              <a:lnSpc>
                <a:spcPct val="250000"/>
              </a:lnSpc>
              <a:buFontTx/>
              <a:buAutoNum type="arabicPeriod"/>
            </a:pPr>
            <a:r>
              <a:rPr lang="en-IN" sz="1600" dirty="0">
                <a:latin typeface="Arial" panose="020B0604020202020204" pitchFamily="34" charset="0"/>
              </a:rPr>
              <a:t>Customer Satisfaction</a:t>
            </a:r>
          </a:p>
          <a:p>
            <a:pPr marL="342900" indent="-342900" fontAlgn="base">
              <a:lnSpc>
                <a:spcPct val="250000"/>
              </a:lnSpc>
              <a:buFontTx/>
              <a:buAutoNum type="arabicPeriod"/>
            </a:pPr>
            <a:r>
              <a:rPr lang="en-IN" sz="1600" i="0" dirty="0">
                <a:effectLst/>
                <a:latin typeface="Arial" panose="020B0604020202020204" pitchFamily="34" charset="0"/>
              </a:rPr>
              <a:t>Cycle Time</a:t>
            </a:r>
          </a:p>
          <a:p>
            <a:pPr marL="342900" indent="-342900" fontAlgn="base">
              <a:lnSpc>
                <a:spcPct val="250000"/>
              </a:lnSpc>
              <a:buFontTx/>
              <a:buAutoNum type="arabicPeriod"/>
            </a:pPr>
            <a:r>
              <a:rPr lang="en-IN" sz="1600" dirty="0">
                <a:latin typeface="Arial" panose="020B0604020202020204" pitchFamily="34" charset="0"/>
              </a:rPr>
              <a:t>Cost Control</a:t>
            </a:r>
          </a:p>
          <a:p>
            <a:pPr marL="342900" indent="-342900" fontAlgn="base">
              <a:lnSpc>
                <a:spcPct val="250000"/>
              </a:lnSpc>
              <a:buFontTx/>
              <a:buAutoNum type="arabicPeriod"/>
            </a:pPr>
            <a:r>
              <a:rPr lang="en-IN" sz="1600" i="0" dirty="0">
                <a:effectLst/>
                <a:latin typeface="Arial" panose="020B0604020202020204" pitchFamily="34" charset="0"/>
              </a:rPr>
              <a:t>On-Time Performance</a:t>
            </a:r>
          </a:p>
          <a:p>
            <a:pPr marL="342900" indent="-342900" fontAlgn="base">
              <a:lnSpc>
                <a:spcPct val="250000"/>
              </a:lnSpc>
              <a:buFontTx/>
              <a:buAutoNum type="arabicPeriod"/>
            </a:pPr>
            <a:r>
              <a:rPr lang="en-IN" sz="1600" dirty="0">
                <a:latin typeface="Arial" panose="020B0604020202020204" pitchFamily="34" charset="0"/>
              </a:rPr>
              <a:t>Failure Rate</a:t>
            </a:r>
          </a:p>
          <a:p>
            <a:pPr marL="342900" indent="-342900" fontAlgn="base">
              <a:lnSpc>
                <a:spcPct val="250000"/>
              </a:lnSpc>
              <a:buFontTx/>
              <a:buAutoNum type="arabicPeriod"/>
            </a:pPr>
            <a:r>
              <a:rPr lang="en-IN" sz="1600" i="0" dirty="0">
                <a:effectLst/>
                <a:latin typeface="Arial" panose="020B0604020202020204" pitchFamily="34" charset="0"/>
              </a:rPr>
              <a:t>Defect Frequency</a:t>
            </a:r>
          </a:p>
          <a:p>
            <a:pPr marL="342900" indent="-342900" fontAlgn="base">
              <a:lnSpc>
                <a:spcPct val="250000"/>
              </a:lnSpc>
              <a:buFontTx/>
              <a:buAutoNum type="arabicPeriod"/>
            </a:pPr>
            <a:r>
              <a:rPr lang="en-IN" sz="1600" dirty="0">
                <a:latin typeface="Arial" panose="020B0604020202020204" pitchFamily="34" charset="0"/>
              </a:rPr>
              <a:t>Quality Control</a:t>
            </a:r>
            <a:endParaRPr lang="en-IN" sz="1600" i="0" dirty="0">
              <a:effectLst/>
              <a:latin typeface="Arial" panose="020B0604020202020204" pitchFamily="34" charset="0"/>
            </a:endParaRPr>
          </a:p>
          <a:p>
            <a:pPr algn="l" fontAlgn="base">
              <a:lnSpc>
                <a:spcPct val="250000"/>
              </a:lnSpc>
            </a:pPr>
            <a:endParaRPr lang="en-IN" sz="1600" i="0" dirty="0">
              <a:effectLst/>
              <a:latin typeface="Arial" panose="020B0604020202020204" pitchFamily="34" charset="0"/>
            </a:endParaRPr>
          </a:p>
          <a:p>
            <a:pPr marL="342900" indent="-342900" algn="l" fontAlgn="base">
              <a:lnSpc>
                <a:spcPct val="250000"/>
              </a:lnSpc>
              <a:buAutoNum type="arabicPeriod"/>
            </a:pPr>
            <a:endParaRPr lang="en-IN" sz="1600" i="0" dirty="0">
              <a:effectLst/>
              <a:latin typeface="Arial" panose="020B0604020202020204" pitchFamily="34" charset="0"/>
            </a:endParaRPr>
          </a:p>
        </p:txBody>
      </p:sp>
    </p:spTree>
    <p:extLst>
      <p:ext uri="{BB962C8B-B14F-4D97-AF65-F5344CB8AC3E}">
        <p14:creationId xmlns:p14="http://schemas.microsoft.com/office/powerpoint/2010/main" val="27906842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marL="342900" indent="-342900" algn="l" fontAlgn="base">
              <a:buAutoNum type="arabicPeriod"/>
            </a:pPr>
            <a:r>
              <a:rPr lang="en-IN" sz="1600" b="1" i="0" dirty="0">
                <a:solidFill>
                  <a:srgbClr val="545454"/>
                </a:solidFill>
                <a:effectLst/>
                <a:latin typeface="Arial" panose="020B0604020202020204" pitchFamily="34" charset="0"/>
              </a:rPr>
              <a:t>Schedule Performance Index (SPI) :</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4819268"/>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en-US" b="0" i="0" dirty="0">
                <a:solidFill>
                  <a:srgbClr val="545454"/>
                </a:solidFill>
                <a:effectLst/>
                <a:latin typeface="Arial" panose="020B0604020202020204" pitchFamily="34" charset="0"/>
              </a:rPr>
              <a:t>The is a project management tool that is used to measure the progress of a project against its schedule. The SPI is calculated by dividing the </a:t>
            </a:r>
            <a:r>
              <a:rPr lang="en-US" b="1" i="0" dirty="0">
                <a:solidFill>
                  <a:srgbClr val="545454"/>
                </a:solidFill>
                <a:effectLst/>
                <a:latin typeface="Arial" panose="020B0604020202020204" pitchFamily="34" charset="0"/>
              </a:rPr>
              <a:t>earned value (EV) </a:t>
            </a:r>
            <a:r>
              <a:rPr lang="en-US" b="0" i="0" dirty="0">
                <a:solidFill>
                  <a:srgbClr val="545454"/>
                </a:solidFill>
                <a:effectLst/>
                <a:latin typeface="Arial" panose="020B0604020202020204" pitchFamily="34" charset="0"/>
              </a:rPr>
              <a:t>of a project by the </a:t>
            </a:r>
            <a:r>
              <a:rPr lang="en-US" b="1" i="0" dirty="0">
                <a:solidFill>
                  <a:srgbClr val="545454"/>
                </a:solidFill>
                <a:effectLst/>
                <a:latin typeface="Arial" panose="020B0604020202020204" pitchFamily="34" charset="0"/>
              </a:rPr>
              <a:t>planned value (PV)</a:t>
            </a:r>
            <a:r>
              <a:rPr lang="en-US" b="0" i="0" dirty="0">
                <a:solidFill>
                  <a:srgbClr val="545454"/>
                </a:solidFill>
                <a:effectLst/>
                <a:latin typeface="Arial" panose="020B0604020202020204" pitchFamily="34" charset="0"/>
              </a:rPr>
              <a:t> of the project. The resulting number is then multiplied by 100 to get a percentage. </a:t>
            </a:r>
          </a:p>
          <a:p>
            <a:pPr marL="285750" indent="-285750" algn="just">
              <a:lnSpc>
                <a:spcPct val="250000"/>
              </a:lnSpc>
              <a:buFont typeface="Arial" panose="020B0604020202020204" pitchFamily="34" charset="0"/>
              <a:buChar char="•"/>
            </a:pPr>
            <a:endParaRPr lang="en-US" b="0" i="0" dirty="0">
              <a:solidFill>
                <a:srgbClr val="545454"/>
              </a:solidFill>
              <a:effectLst/>
              <a:latin typeface="Arial" panose="020B0604020202020204" pitchFamily="34" charset="0"/>
            </a:endParaRPr>
          </a:p>
          <a:p>
            <a:pPr marL="285750" indent="-285750" algn="just">
              <a:lnSpc>
                <a:spcPct val="250000"/>
              </a:lnSpc>
              <a:buFont typeface="Arial" panose="020B0604020202020204" pitchFamily="34" charset="0"/>
              <a:buChar char="•"/>
            </a:pPr>
            <a:r>
              <a:rPr lang="en-US" b="0" i="0" dirty="0">
                <a:solidFill>
                  <a:srgbClr val="545454"/>
                </a:solidFill>
                <a:effectLst/>
                <a:latin typeface="Arial" panose="020B0604020202020204" pitchFamily="34" charset="0"/>
              </a:rPr>
              <a:t>The SPI can be used to assess the health of a project and to identify potential problems. A low SPI indicates that a project is falling behind schedule, while a high SPI indicates that a project is ahead of schedule. The SPI can also be used to compare the progress of different projects.</a:t>
            </a:r>
            <a:endParaRPr lang="en-IN" dirty="0"/>
          </a:p>
        </p:txBody>
      </p:sp>
    </p:spTree>
    <p:extLst>
      <p:ext uri="{BB962C8B-B14F-4D97-AF65-F5344CB8AC3E}">
        <p14:creationId xmlns:p14="http://schemas.microsoft.com/office/powerpoint/2010/main" val="3117155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marL="342900" indent="-342900" algn="l" fontAlgn="base">
              <a:buAutoNum type="arabicPeriod"/>
            </a:pPr>
            <a:r>
              <a:rPr lang="en-IN" sz="1600" b="1" i="0" dirty="0">
                <a:solidFill>
                  <a:srgbClr val="545454"/>
                </a:solidFill>
                <a:effectLst/>
                <a:latin typeface="Arial" panose="020B0604020202020204" pitchFamily="34" charset="0"/>
              </a:rPr>
              <a:t>Schedule Performance Index</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5" name="TextBox 4">
            <a:extLst>
              <a:ext uri="{FF2B5EF4-FFF2-40B4-BE49-F238E27FC236}">
                <a16:creationId xmlns:a16="http://schemas.microsoft.com/office/drawing/2014/main" id="{5D22DF6E-E22F-22C3-876A-673191147BC3}"/>
              </a:ext>
            </a:extLst>
          </p:cNvPr>
          <p:cNvSpPr txBox="1"/>
          <p:nvPr/>
        </p:nvSpPr>
        <p:spPr>
          <a:xfrm>
            <a:off x="3425758" y="1120469"/>
            <a:ext cx="5340484" cy="338554"/>
          </a:xfrm>
          <a:prstGeom prst="rect">
            <a:avLst/>
          </a:prstGeom>
          <a:solidFill>
            <a:schemeClr val="accent1"/>
          </a:solidFill>
        </p:spPr>
        <p:txBody>
          <a:bodyPr wrap="square">
            <a:spAutoFit/>
          </a:bodyPr>
          <a:lstStyle/>
          <a:p>
            <a:pPr algn="ctr" fontAlgn="base"/>
            <a:r>
              <a:rPr lang="en-US" sz="1600" b="1" i="0" dirty="0">
                <a:solidFill>
                  <a:schemeClr val="bg1"/>
                </a:solidFill>
                <a:effectLst/>
                <a:latin typeface="Arial" panose="020B0604020202020204" pitchFamily="34" charset="0"/>
              </a:rPr>
              <a:t>How to calculate the Schedule Performance Index</a:t>
            </a:r>
          </a:p>
        </p:txBody>
      </p:sp>
      <p:sp>
        <p:nvSpPr>
          <p:cNvPr id="8" name="TextBox 7">
            <a:extLst>
              <a:ext uri="{FF2B5EF4-FFF2-40B4-BE49-F238E27FC236}">
                <a16:creationId xmlns:a16="http://schemas.microsoft.com/office/drawing/2014/main" id="{9DC836CA-C325-5CDC-C5A1-6FA0734EE0DC}"/>
              </a:ext>
            </a:extLst>
          </p:cNvPr>
          <p:cNvSpPr txBox="1"/>
          <p:nvPr/>
        </p:nvSpPr>
        <p:spPr>
          <a:xfrm>
            <a:off x="290544" y="1529002"/>
            <a:ext cx="11412791" cy="2949525"/>
          </a:xfrm>
          <a:prstGeom prst="rect">
            <a:avLst/>
          </a:prstGeom>
          <a:noFill/>
        </p:spPr>
        <p:txBody>
          <a:bodyPr wrap="square">
            <a:spAutoFit/>
          </a:bodyPr>
          <a:lstStyle/>
          <a:p>
            <a:pPr algn="l" fontAlgn="base">
              <a:lnSpc>
                <a:spcPct val="150000"/>
              </a:lnSpc>
            </a:pPr>
            <a:r>
              <a:rPr lang="en-US" b="1" i="0" dirty="0">
                <a:solidFill>
                  <a:srgbClr val="545454"/>
                </a:solidFill>
                <a:effectLst/>
                <a:latin typeface="Arial" panose="020B0604020202020204" pitchFamily="34" charset="0"/>
              </a:rPr>
              <a:t>Calculate the Earned Value (EV)</a:t>
            </a:r>
          </a:p>
          <a:p>
            <a:pPr algn="l" fontAlgn="base">
              <a:lnSpc>
                <a:spcPct val="150000"/>
              </a:lnSpc>
            </a:pPr>
            <a:r>
              <a:rPr lang="en-US" b="0" i="0" dirty="0">
                <a:solidFill>
                  <a:srgbClr val="545454"/>
                </a:solidFill>
                <a:effectLst/>
                <a:latin typeface="Arial" panose="020B0604020202020204" pitchFamily="34" charset="0"/>
              </a:rPr>
              <a:t>Earned Value refers to the completed work. It is often referred to as the Budgeted Cost of Work Performed (BCWP). It is calculated using the project’s budget.</a:t>
            </a:r>
          </a:p>
          <a:p>
            <a:pPr algn="ctr" fontAlgn="base">
              <a:lnSpc>
                <a:spcPct val="150000"/>
              </a:lnSpc>
            </a:pPr>
            <a:r>
              <a:rPr lang="en-US" b="1" i="0" dirty="0">
                <a:solidFill>
                  <a:srgbClr val="545454"/>
                </a:solidFill>
                <a:effectLst/>
                <a:latin typeface="Arial" panose="020B0604020202020204" pitchFamily="34" charset="0"/>
              </a:rPr>
              <a:t>EV = Actual percentage of completion * Budget at completion (BAC)</a:t>
            </a:r>
          </a:p>
          <a:p>
            <a:pPr algn="l" fontAlgn="base">
              <a:lnSpc>
                <a:spcPct val="150000"/>
              </a:lnSpc>
            </a:pPr>
            <a:r>
              <a:rPr lang="en-US" b="1" i="0" dirty="0">
                <a:solidFill>
                  <a:srgbClr val="545454"/>
                </a:solidFill>
                <a:effectLst/>
                <a:latin typeface="Arial" panose="020B0604020202020204" pitchFamily="34" charset="0"/>
              </a:rPr>
              <a:t>Calculate the Planned Value (PV)</a:t>
            </a:r>
          </a:p>
          <a:p>
            <a:pPr algn="l" fontAlgn="base">
              <a:lnSpc>
                <a:spcPct val="150000"/>
              </a:lnSpc>
            </a:pPr>
            <a:r>
              <a:rPr lang="en-US" b="0" i="0" dirty="0">
                <a:solidFill>
                  <a:srgbClr val="545454"/>
                </a:solidFill>
                <a:effectLst/>
                <a:latin typeface="Arial" panose="020B0604020202020204" pitchFamily="34" charset="0"/>
              </a:rPr>
              <a:t>Planned value is the work to be completed in the given time. </a:t>
            </a:r>
          </a:p>
          <a:p>
            <a:pPr algn="ctr" fontAlgn="base">
              <a:lnSpc>
                <a:spcPct val="150000"/>
              </a:lnSpc>
            </a:pPr>
            <a:r>
              <a:rPr lang="en-US" b="1" i="0" dirty="0">
                <a:solidFill>
                  <a:srgbClr val="545454"/>
                </a:solidFill>
                <a:effectLst/>
                <a:latin typeface="Arial" panose="020B0604020202020204" pitchFamily="34" charset="0"/>
              </a:rPr>
              <a:t>PV = Planned Value = (Planned % Complete) X (BAC)</a:t>
            </a:r>
          </a:p>
        </p:txBody>
      </p:sp>
      <p:pic>
        <p:nvPicPr>
          <p:cNvPr id="11" name="Picture 10">
            <a:extLst>
              <a:ext uri="{FF2B5EF4-FFF2-40B4-BE49-F238E27FC236}">
                <a16:creationId xmlns:a16="http://schemas.microsoft.com/office/drawing/2014/main" id="{C7556D51-631D-BB02-5FB5-ED6788DEBD9D}"/>
              </a:ext>
            </a:extLst>
          </p:cNvPr>
          <p:cNvPicPr>
            <a:picLocks noChangeAspect="1"/>
          </p:cNvPicPr>
          <p:nvPr/>
        </p:nvPicPr>
        <p:blipFill rotWithShape="1">
          <a:blip r:embed="rId2"/>
          <a:srcRect l="32074" t="31684" r="23803" b="56737"/>
          <a:stretch/>
        </p:blipFill>
        <p:spPr>
          <a:xfrm>
            <a:off x="2295726" y="5336938"/>
            <a:ext cx="6653158" cy="982089"/>
          </a:xfrm>
          <a:prstGeom prst="rect">
            <a:avLst/>
          </a:prstGeom>
        </p:spPr>
      </p:pic>
      <p:sp>
        <p:nvSpPr>
          <p:cNvPr id="13" name="TextBox 12">
            <a:extLst>
              <a:ext uri="{FF2B5EF4-FFF2-40B4-BE49-F238E27FC236}">
                <a16:creationId xmlns:a16="http://schemas.microsoft.com/office/drawing/2014/main" id="{DC801C41-EE56-B82E-04D9-F721FD3F573A}"/>
              </a:ext>
            </a:extLst>
          </p:cNvPr>
          <p:cNvSpPr txBox="1"/>
          <p:nvPr/>
        </p:nvSpPr>
        <p:spPr>
          <a:xfrm>
            <a:off x="3508691" y="4868569"/>
            <a:ext cx="5174617" cy="338554"/>
          </a:xfrm>
          <a:prstGeom prst="rect">
            <a:avLst/>
          </a:prstGeom>
          <a:solidFill>
            <a:schemeClr val="accent1"/>
          </a:solidFill>
        </p:spPr>
        <p:txBody>
          <a:bodyPr wrap="square">
            <a:spAutoFit/>
          </a:bodyPr>
          <a:lstStyle/>
          <a:p>
            <a:pPr algn="l" fontAlgn="base"/>
            <a:r>
              <a:rPr lang="en-US" sz="1600" b="1" i="0" dirty="0">
                <a:solidFill>
                  <a:schemeClr val="bg1"/>
                </a:solidFill>
                <a:effectLst/>
                <a:latin typeface="Arial" panose="020B0604020202020204" pitchFamily="34" charset="0"/>
              </a:rPr>
              <a:t>Calculate the Schedule Performance Index (SPI)</a:t>
            </a:r>
            <a:endParaRPr lang="en-IN" sz="1600" dirty="0">
              <a:solidFill>
                <a:schemeClr val="bg1"/>
              </a:solidFill>
            </a:endParaRPr>
          </a:p>
        </p:txBody>
      </p:sp>
    </p:spTree>
    <p:extLst>
      <p:ext uri="{BB962C8B-B14F-4D97-AF65-F5344CB8AC3E}">
        <p14:creationId xmlns:p14="http://schemas.microsoft.com/office/powerpoint/2010/main" val="2395736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4" name="TextBox 3">
            <a:extLst>
              <a:ext uri="{FF2B5EF4-FFF2-40B4-BE49-F238E27FC236}">
                <a16:creationId xmlns:a16="http://schemas.microsoft.com/office/drawing/2014/main" id="{976D077F-4746-C7F4-B132-E967ABDA7700}"/>
              </a:ext>
            </a:extLst>
          </p:cNvPr>
          <p:cNvSpPr txBox="1"/>
          <p:nvPr/>
        </p:nvSpPr>
        <p:spPr>
          <a:xfrm>
            <a:off x="2973422" y="700551"/>
            <a:ext cx="5518825" cy="369332"/>
          </a:xfrm>
          <a:prstGeom prst="rect">
            <a:avLst/>
          </a:prstGeom>
          <a:solidFill>
            <a:schemeClr val="accent1"/>
          </a:solidFill>
        </p:spPr>
        <p:txBody>
          <a:bodyPr wrap="square">
            <a:spAutoFit/>
          </a:bodyPr>
          <a:lstStyle/>
          <a:p>
            <a:pPr algn="l" fontAlgn="base"/>
            <a:r>
              <a:rPr lang="en-US" b="1" i="0" dirty="0">
                <a:solidFill>
                  <a:schemeClr val="bg1"/>
                </a:solidFill>
                <a:effectLst/>
                <a:latin typeface="Arial" panose="020B0604020202020204" pitchFamily="34" charset="0"/>
              </a:rPr>
              <a:t>Calculate Schedule Performance Index Example</a:t>
            </a:r>
          </a:p>
        </p:txBody>
      </p:sp>
      <p:sp>
        <p:nvSpPr>
          <p:cNvPr id="7" name="TextBox 6">
            <a:extLst>
              <a:ext uri="{FF2B5EF4-FFF2-40B4-BE49-F238E27FC236}">
                <a16:creationId xmlns:a16="http://schemas.microsoft.com/office/drawing/2014/main" id="{53F94FE3-25DE-9D0C-7ED7-3A34F6A7DCCD}"/>
              </a:ext>
            </a:extLst>
          </p:cNvPr>
          <p:cNvSpPr txBox="1"/>
          <p:nvPr/>
        </p:nvSpPr>
        <p:spPr>
          <a:xfrm>
            <a:off x="574234" y="1148502"/>
            <a:ext cx="10729609" cy="1668405"/>
          </a:xfrm>
          <a:prstGeom prst="rect">
            <a:avLst/>
          </a:prstGeom>
          <a:noFill/>
        </p:spPr>
        <p:txBody>
          <a:bodyPr wrap="square">
            <a:spAutoFit/>
          </a:bodyPr>
          <a:lstStyle/>
          <a:p>
            <a:pPr algn="just">
              <a:lnSpc>
                <a:spcPct val="200000"/>
              </a:lnSpc>
            </a:pPr>
            <a:r>
              <a:rPr lang="en-US" b="0" i="0" dirty="0">
                <a:solidFill>
                  <a:srgbClr val="545454"/>
                </a:solidFill>
                <a:effectLst/>
                <a:latin typeface="Arial" panose="020B0604020202020204" pitchFamily="34" charset="0"/>
              </a:rPr>
              <a:t>SPI Example – Imagine this, you are a project manager whose </a:t>
            </a:r>
            <a:r>
              <a:rPr lang="en-US" b="1" i="0" dirty="0">
                <a:solidFill>
                  <a:srgbClr val="545454"/>
                </a:solidFill>
                <a:effectLst/>
                <a:latin typeface="Arial" panose="020B0604020202020204" pitchFamily="34" charset="0"/>
              </a:rPr>
              <a:t>budget is $40,000</a:t>
            </a:r>
            <a:r>
              <a:rPr lang="en-US" b="0" i="0" dirty="0">
                <a:solidFill>
                  <a:srgbClr val="545454"/>
                </a:solidFill>
                <a:effectLst/>
                <a:latin typeface="Arial" panose="020B0604020202020204" pitchFamily="34" charset="0"/>
              </a:rPr>
              <a:t> for a new computer program in the Software Development Company you work for. As time goes by,  </a:t>
            </a:r>
            <a:r>
              <a:rPr lang="en-US" b="1" i="0" dirty="0">
                <a:solidFill>
                  <a:srgbClr val="545454"/>
                </a:solidFill>
                <a:effectLst/>
                <a:latin typeface="Arial" panose="020B0604020202020204" pitchFamily="34" charset="0"/>
              </a:rPr>
              <a:t>20% of the work is completed, but it is against your 35% initial plan </a:t>
            </a:r>
            <a:r>
              <a:rPr lang="en-US" b="0" i="0" dirty="0">
                <a:solidFill>
                  <a:srgbClr val="545454"/>
                </a:solidFill>
                <a:effectLst/>
                <a:latin typeface="Arial" panose="020B0604020202020204" pitchFamily="34" charset="0"/>
              </a:rPr>
              <a:t>and you have spent $25,000 already.</a:t>
            </a:r>
            <a:endParaRPr lang="en-IN" dirty="0"/>
          </a:p>
        </p:txBody>
      </p:sp>
      <p:sp>
        <p:nvSpPr>
          <p:cNvPr id="10" name="TextBox 9">
            <a:extLst>
              <a:ext uri="{FF2B5EF4-FFF2-40B4-BE49-F238E27FC236}">
                <a16:creationId xmlns:a16="http://schemas.microsoft.com/office/drawing/2014/main" id="{2936B7B5-634B-CCAC-B8B6-8674D31D7C14}"/>
              </a:ext>
            </a:extLst>
          </p:cNvPr>
          <p:cNvSpPr txBox="1"/>
          <p:nvPr/>
        </p:nvSpPr>
        <p:spPr>
          <a:xfrm>
            <a:off x="574234" y="3033106"/>
            <a:ext cx="6245156" cy="369332"/>
          </a:xfrm>
          <a:prstGeom prst="rect">
            <a:avLst/>
          </a:prstGeom>
          <a:noFill/>
        </p:spPr>
        <p:txBody>
          <a:bodyPr wrap="square">
            <a:spAutoFit/>
          </a:bodyPr>
          <a:lstStyle/>
          <a:p>
            <a:r>
              <a:rPr lang="en-IN" b="0" i="0" dirty="0">
                <a:solidFill>
                  <a:srgbClr val="545454"/>
                </a:solidFill>
                <a:effectLst/>
                <a:latin typeface="Arial" panose="020B0604020202020204" pitchFamily="34" charset="0"/>
              </a:rPr>
              <a:t>Project Budget = $40,000</a:t>
            </a:r>
            <a:endParaRPr lang="en-IN" dirty="0"/>
          </a:p>
        </p:txBody>
      </p:sp>
      <p:sp>
        <p:nvSpPr>
          <p:cNvPr id="14" name="TextBox 13">
            <a:extLst>
              <a:ext uri="{FF2B5EF4-FFF2-40B4-BE49-F238E27FC236}">
                <a16:creationId xmlns:a16="http://schemas.microsoft.com/office/drawing/2014/main" id="{A5B98990-5FF4-F72B-B9DC-739DF20CFB79}"/>
              </a:ext>
            </a:extLst>
          </p:cNvPr>
          <p:cNvSpPr txBox="1"/>
          <p:nvPr/>
        </p:nvSpPr>
        <p:spPr>
          <a:xfrm>
            <a:off x="2509077" y="3787011"/>
            <a:ext cx="7173846" cy="2222403"/>
          </a:xfrm>
          <a:prstGeom prst="rect">
            <a:avLst/>
          </a:prstGeom>
          <a:solidFill>
            <a:schemeClr val="bg1">
              <a:lumMod val="95000"/>
            </a:schemeClr>
          </a:solidFill>
        </p:spPr>
        <p:txBody>
          <a:bodyPr wrap="square">
            <a:spAutoFit/>
          </a:bodyPr>
          <a:lstStyle/>
          <a:p>
            <a:pPr algn="ctr" fontAlgn="base">
              <a:lnSpc>
                <a:spcPct val="200000"/>
              </a:lnSpc>
            </a:pPr>
            <a:r>
              <a:rPr lang="en-US" b="0" i="0" dirty="0">
                <a:effectLst/>
                <a:latin typeface="Arial" panose="020B0604020202020204" pitchFamily="34" charset="0"/>
              </a:rPr>
              <a:t>Earned Value (EV) = 20% of $ 40,000 = $8000</a:t>
            </a:r>
          </a:p>
          <a:p>
            <a:pPr algn="ctr" fontAlgn="base">
              <a:lnSpc>
                <a:spcPct val="200000"/>
              </a:lnSpc>
            </a:pPr>
            <a:r>
              <a:rPr lang="en-US" b="0" i="0" dirty="0">
                <a:effectLst/>
                <a:latin typeface="Arial" panose="020B0604020202020204" pitchFamily="34" charset="0"/>
              </a:rPr>
              <a:t>Planned Value (PV) = 35% of $ 40,000 = $14,000</a:t>
            </a:r>
          </a:p>
          <a:p>
            <a:pPr algn="ctr" fontAlgn="base">
              <a:lnSpc>
                <a:spcPct val="200000"/>
              </a:lnSpc>
            </a:pPr>
            <a:r>
              <a:rPr lang="en-US" b="0" i="0" dirty="0">
                <a:effectLst/>
                <a:latin typeface="Arial" panose="020B0604020202020204" pitchFamily="34" charset="0"/>
              </a:rPr>
              <a:t>Schedule Performance Index (SPI) = 8000/14000</a:t>
            </a:r>
          </a:p>
          <a:p>
            <a:pPr algn="ctr" fontAlgn="base">
              <a:lnSpc>
                <a:spcPct val="200000"/>
              </a:lnSpc>
            </a:pPr>
            <a:r>
              <a:rPr lang="en-US" b="0" i="0" dirty="0">
                <a:effectLst/>
                <a:latin typeface="Arial" panose="020B0604020202020204" pitchFamily="34" charset="0"/>
              </a:rPr>
              <a:t>Therefore, The Schedule Performance Index (SPI) = 0.57</a:t>
            </a:r>
          </a:p>
        </p:txBody>
      </p:sp>
      <p:sp>
        <p:nvSpPr>
          <p:cNvPr id="16" name="TextBox 15">
            <a:extLst>
              <a:ext uri="{FF2B5EF4-FFF2-40B4-BE49-F238E27FC236}">
                <a16:creationId xmlns:a16="http://schemas.microsoft.com/office/drawing/2014/main" id="{B449580B-7CA8-B412-998B-70091B44B8A8}"/>
              </a:ext>
            </a:extLst>
          </p:cNvPr>
          <p:cNvSpPr txBox="1"/>
          <p:nvPr/>
        </p:nvSpPr>
        <p:spPr>
          <a:xfrm>
            <a:off x="2090787" y="6393987"/>
            <a:ext cx="8010425" cy="369332"/>
          </a:xfrm>
          <a:prstGeom prst="rect">
            <a:avLst/>
          </a:prstGeom>
          <a:noFill/>
        </p:spPr>
        <p:txBody>
          <a:bodyPr wrap="square">
            <a:spAutoFit/>
          </a:bodyPr>
          <a:lstStyle/>
          <a:p>
            <a:pPr algn="ctr"/>
            <a:r>
              <a:rPr lang="en-US" b="1" i="1" dirty="0">
                <a:solidFill>
                  <a:srgbClr val="545454"/>
                </a:solidFill>
                <a:effectLst/>
                <a:latin typeface="Arial" panose="020B0604020202020204" pitchFamily="34" charset="0"/>
              </a:rPr>
              <a:t>And as 0.57 is less than 1, that means the project is behind schedule.</a:t>
            </a:r>
            <a:endParaRPr lang="en-IN" b="1" i="1" dirty="0"/>
          </a:p>
        </p:txBody>
      </p:sp>
    </p:spTree>
    <p:extLst>
      <p:ext uri="{BB962C8B-B14F-4D97-AF65-F5344CB8AC3E}">
        <p14:creationId xmlns:p14="http://schemas.microsoft.com/office/powerpoint/2010/main" val="40465716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algn="l" fontAlgn="base"/>
            <a:r>
              <a:rPr lang="en-IN" sz="1600" b="1" i="0" dirty="0">
                <a:solidFill>
                  <a:srgbClr val="545454"/>
                </a:solidFill>
                <a:effectLst/>
                <a:latin typeface="Arial" panose="020B0604020202020204" pitchFamily="34" charset="0"/>
              </a:rPr>
              <a:t>2. Productivity</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4819268"/>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en-US" b="1" i="0" dirty="0">
                <a:effectLst/>
                <a:latin typeface="Arial" panose="020B0604020202020204" pitchFamily="34" charset="0"/>
              </a:rPr>
              <a:t>Productivity is a measure of how efficiently resources are used to produce a desired output. </a:t>
            </a:r>
            <a:r>
              <a:rPr lang="en-US" b="0" i="0" dirty="0">
                <a:effectLst/>
                <a:latin typeface="Arial" panose="020B0604020202020204" pitchFamily="34" charset="0"/>
              </a:rPr>
              <a:t>In project management, productivity is often used to measure the progress of a project or to compare the efficiency of different project management methods.</a:t>
            </a:r>
          </a:p>
          <a:p>
            <a:pPr marL="285750" indent="-285750" algn="just">
              <a:lnSpc>
                <a:spcPct val="250000"/>
              </a:lnSpc>
              <a:buFont typeface="Arial" panose="020B0604020202020204" pitchFamily="34" charset="0"/>
              <a:buChar char="•"/>
            </a:pPr>
            <a:r>
              <a:rPr lang="en-US" b="0" i="0" dirty="0">
                <a:effectLst/>
                <a:latin typeface="Arial" panose="020B0604020202020204" pitchFamily="34" charset="0"/>
              </a:rPr>
              <a:t>There are a number of different productivity metrics that can be used, but the </a:t>
            </a:r>
            <a:r>
              <a:rPr lang="en-US" b="1" i="0" dirty="0">
                <a:effectLst/>
                <a:latin typeface="Arial" panose="020B0604020202020204" pitchFamily="34" charset="0"/>
              </a:rPr>
              <a:t>most common one is output per unit of time. This metric compares the amount of work produced in a given period of time (usually an hour) to the amount of time that was actually worked</a:t>
            </a:r>
            <a:r>
              <a:rPr lang="en-US" b="0" i="0" dirty="0">
                <a:effectLst/>
                <a:latin typeface="Arial" panose="020B0604020202020204" pitchFamily="34" charset="0"/>
              </a:rPr>
              <a:t>.</a:t>
            </a:r>
          </a:p>
          <a:p>
            <a:pPr marL="285750" indent="-285750" algn="just">
              <a:lnSpc>
                <a:spcPct val="250000"/>
              </a:lnSpc>
              <a:buFont typeface="Arial" panose="020B0604020202020204" pitchFamily="34" charset="0"/>
              <a:buChar char="•"/>
            </a:pPr>
            <a:endParaRPr lang="en-IN" dirty="0"/>
          </a:p>
        </p:txBody>
      </p:sp>
    </p:spTree>
    <p:extLst>
      <p:ext uri="{BB962C8B-B14F-4D97-AF65-F5344CB8AC3E}">
        <p14:creationId xmlns:p14="http://schemas.microsoft.com/office/powerpoint/2010/main" val="22305740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algn="l" fontAlgn="base"/>
            <a:r>
              <a:rPr lang="en-IN" sz="1600" b="1" i="0" dirty="0">
                <a:solidFill>
                  <a:srgbClr val="545454"/>
                </a:solidFill>
                <a:effectLst/>
                <a:latin typeface="Arial" panose="020B0604020202020204" pitchFamily="34" charset="0"/>
              </a:rPr>
              <a:t>3. Customer Satisfaction</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6204263"/>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en-US" b="0" i="0" dirty="0">
                <a:effectLst/>
                <a:latin typeface="Arial" panose="020B0604020202020204" pitchFamily="34" charset="0"/>
              </a:rPr>
              <a:t>Customer satisfaction surveys are a common quality metric used to gauge how well a project is meeting the needs of its users. </a:t>
            </a:r>
          </a:p>
          <a:p>
            <a:pPr marL="285750" indent="-285750" algn="just">
              <a:lnSpc>
                <a:spcPct val="250000"/>
              </a:lnSpc>
              <a:buFont typeface="Arial" panose="020B0604020202020204" pitchFamily="34" charset="0"/>
              <a:buChar char="•"/>
            </a:pPr>
            <a:r>
              <a:rPr lang="en-US" b="0" i="0" dirty="0">
                <a:effectLst/>
                <a:latin typeface="Arial" panose="020B0604020202020204" pitchFamily="34" charset="0"/>
              </a:rPr>
              <a:t>It  can be used in project management to gauge whether or not a project is meeting the needs of its customers. If its score is low, it may indicate that the project is not meeting customer expectations and needs to be improved. Conversely, a high Customer Satisfaction score can show that the project is successfully meeting customer needs and can be considered a success.</a:t>
            </a:r>
            <a:endParaRPr lang="en-US" dirty="0">
              <a:latin typeface="Arial" panose="020B0604020202020204" pitchFamily="34" charset="0"/>
            </a:endParaRPr>
          </a:p>
          <a:p>
            <a:pPr marL="285750" indent="-285750" algn="just">
              <a:lnSpc>
                <a:spcPct val="250000"/>
              </a:lnSpc>
              <a:buFont typeface="Arial" panose="020B0604020202020204" pitchFamily="34" charset="0"/>
              <a:buChar char="•"/>
            </a:pPr>
            <a:r>
              <a:rPr lang="en-US" b="0" i="0" dirty="0">
                <a:effectLst/>
                <a:latin typeface="Arial" panose="020B0604020202020204" pitchFamily="34" charset="0"/>
              </a:rPr>
              <a:t>It can be calculated by surveying customers and asking them to rate their level of satisfaction on a scale of 1 to 5 (1 being very unsatisfied, 5 being very satisfied). </a:t>
            </a:r>
            <a:r>
              <a:rPr lang="en-US" b="1" i="0" dirty="0">
                <a:effectLst/>
                <a:latin typeface="Arial" panose="020B0604020202020204" pitchFamily="34" charset="0"/>
              </a:rPr>
              <a:t>(Likert Scale Technique)</a:t>
            </a:r>
          </a:p>
          <a:p>
            <a:pPr marL="285750" indent="-285750" algn="just">
              <a:lnSpc>
                <a:spcPct val="250000"/>
              </a:lnSpc>
              <a:buFont typeface="Arial" panose="020B0604020202020204" pitchFamily="34" charset="0"/>
              <a:buChar char="•"/>
            </a:pPr>
            <a:endParaRPr lang="en-IN" dirty="0"/>
          </a:p>
        </p:txBody>
      </p:sp>
    </p:spTree>
    <p:extLst>
      <p:ext uri="{BB962C8B-B14F-4D97-AF65-F5344CB8AC3E}">
        <p14:creationId xmlns:p14="http://schemas.microsoft.com/office/powerpoint/2010/main" val="34330104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fontAlgn="base"/>
            <a:r>
              <a:rPr lang="en-IN" sz="1600" b="1" i="0" dirty="0">
                <a:solidFill>
                  <a:srgbClr val="545454"/>
                </a:solidFill>
                <a:effectLst/>
                <a:latin typeface="Arial" panose="020B0604020202020204" pitchFamily="34" charset="0"/>
              </a:rPr>
              <a:t>4. Cycle Time :</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4819268"/>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en-US" b="0" i="0" u="none" strike="noStrike" dirty="0">
                <a:effectLst/>
                <a:latin typeface="Arial" panose="020B0604020202020204" pitchFamily="34" charset="0"/>
              </a:rPr>
              <a:t>Cycle time</a:t>
            </a:r>
            <a:r>
              <a:rPr lang="en-US" b="0" i="0" dirty="0">
                <a:effectLst/>
                <a:latin typeface="Arial" panose="020B0604020202020204" pitchFamily="34" charset="0"/>
              </a:rPr>
              <a:t> is the metric used in agile project management </a:t>
            </a:r>
            <a:r>
              <a:rPr lang="en-US" b="1" i="0" dirty="0">
                <a:effectLst/>
                <a:latin typeface="Arial" panose="020B0604020202020204" pitchFamily="34" charset="0"/>
              </a:rPr>
              <a:t>to measure the amount of time it takes to complete a task.</a:t>
            </a:r>
            <a:r>
              <a:rPr lang="en-US" b="0" i="0" dirty="0">
                <a:effectLst/>
                <a:latin typeface="Arial" panose="020B0604020202020204" pitchFamily="34" charset="0"/>
              </a:rPr>
              <a:t> This metric is used to help agile teams optimize their workflow and improve their efficiency.</a:t>
            </a:r>
          </a:p>
          <a:p>
            <a:pPr marL="285750" indent="-285750" algn="just">
              <a:lnSpc>
                <a:spcPct val="250000"/>
              </a:lnSpc>
              <a:buFont typeface="Arial" panose="020B0604020202020204" pitchFamily="34" charset="0"/>
              <a:buChar char="•"/>
            </a:pPr>
            <a:r>
              <a:rPr lang="en-US" b="1" i="0" dirty="0">
                <a:effectLst/>
                <a:latin typeface="Arial" panose="020B0604020202020204" pitchFamily="34" charset="0"/>
              </a:rPr>
              <a:t>Cycle time can be used to measure the amount of time it takes to complete a sprint</a:t>
            </a:r>
            <a:r>
              <a:rPr lang="en-US" b="0" i="0" dirty="0">
                <a:effectLst/>
                <a:latin typeface="Arial" panose="020B0604020202020204" pitchFamily="34" charset="0"/>
              </a:rPr>
              <a:t>, or it can be used to measure the amount of time it takes to complete a specific task. Also, it is often used to identify areas of improvement in the project management process.</a:t>
            </a:r>
            <a:endParaRPr lang="en-US" dirty="0">
              <a:latin typeface="Arial" panose="020B0604020202020204" pitchFamily="34" charset="0"/>
            </a:endParaRPr>
          </a:p>
          <a:p>
            <a:pPr marL="285750" indent="-285750" algn="just">
              <a:lnSpc>
                <a:spcPct val="250000"/>
              </a:lnSpc>
              <a:buFont typeface="Arial" panose="020B0604020202020204" pitchFamily="34" charset="0"/>
              <a:buChar char="•"/>
            </a:pPr>
            <a:endParaRPr lang="en-IN" dirty="0"/>
          </a:p>
        </p:txBody>
      </p:sp>
    </p:spTree>
    <p:extLst>
      <p:ext uri="{BB962C8B-B14F-4D97-AF65-F5344CB8AC3E}">
        <p14:creationId xmlns:p14="http://schemas.microsoft.com/office/powerpoint/2010/main" val="2746003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fontAlgn="base"/>
            <a:r>
              <a:rPr lang="en-IN" sz="1600" b="1" i="0" dirty="0">
                <a:solidFill>
                  <a:srgbClr val="545454"/>
                </a:solidFill>
                <a:effectLst/>
                <a:latin typeface="Arial" panose="020B0604020202020204" pitchFamily="34" charset="0"/>
              </a:rPr>
              <a:t>5. Cost Control:</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6204263"/>
          </a:xfrm>
          <a:prstGeom prst="rect">
            <a:avLst/>
          </a:prstGeom>
          <a:noFill/>
        </p:spPr>
        <p:txBody>
          <a:bodyPr wrap="square">
            <a:spAutoFit/>
          </a:bodyPr>
          <a:lstStyle/>
          <a:p>
            <a:pPr marL="285750" indent="-285750" algn="just">
              <a:lnSpc>
                <a:spcPct val="250000"/>
              </a:lnSpc>
              <a:buFont typeface="Arial" panose="020B0604020202020204" pitchFamily="34" charset="0"/>
              <a:buChar char="•"/>
            </a:pPr>
            <a:r>
              <a:rPr lang="en-US" b="0" i="0" dirty="0">
                <a:effectLst/>
                <a:latin typeface="Arial" panose="020B0604020202020204" pitchFamily="34" charset="0"/>
              </a:rPr>
              <a:t>The cost control metric is a valuable tool that can be used to monitor and control the costs of a project in order to keep a project on track.  </a:t>
            </a:r>
          </a:p>
          <a:p>
            <a:pPr marL="285750" indent="-285750" algn="just">
              <a:lnSpc>
                <a:spcPct val="250000"/>
              </a:lnSpc>
              <a:buFont typeface="Arial" panose="020B0604020202020204" pitchFamily="34" charset="0"/>
              <a:buChar char="•"/>
            </a:pPr>
            <a:r>
              <a:rPr lang="en-US" b="1" i="0" dirty="0">
                <a:effectLst/>
                <a:latin typeface="Arial" panose="020B0604020202020204" pitchFamily="34" charset="0"/>
              </a:rPr>
              <a:t>This can be done on a monthly or even weekly basis</a:t>
            </a:r>
            <a:r>
              <a:rPr lang="en-US" b="0" i="0" dirty="0">
                <a:effectLst/>
                <a:latin typeface="Arial" panose="020B0604020202020204" pitchFamily="34" charset="0"/>
              </a:rPr>
              <a:t>. By tracking the cost control metric, you can quickly see if the project is on track to stay within its budget.</a:t>
            </a:r>
          </a:p>
          <a:p>
            <a:pPr marL="285750" indent="-285750" algn="just">
              <a:lnSpc>
                <a:spcPct val="250000"/>
              </a:lnSpc>
              <a:buFont typeface="Arial" panose="020B0604020202020204" pitchFamily="34" charset="0"/>
              <a:buChar char="•"/>
            </a:pPr>
            <a:r>
              <a:rPr lang="en-US" b="0" i="0" dirty="0">
                <a:effectLst/>
                <a:latin typeface="Arial" panose="020B0604020202020204" pitchFamily="34" charset="0"/>
              </a:rPr>
              <a:t>One example of cost control in project management can be when creating a project budget, monitoring project spending, and using earned value management techniques. By using these and other cost control measures, project managers can help to ensure that their projects stay on track and on budget.</a:t>
            </a:r>
            <a:endParaRPr lang="en-US" dirty="0">
              <a:latin typeface="Arial" panose="020B0604020202020204" pitchFamily="34" charset="0"/>
            </a:endParaRPr>
          </a:p>
          <a:p>
            <a:pPr marL="285750" indent="-285750" algn="just">
              <a:lnSpc>
                <a:spcPct val="250000"/>
              </a:lnSpc>
              <a:buFont typeface="Arial" panose="020B0604020202020204" pitchFamily="34" charset="0"/>
              <a:buChar char="•"/>
            </a:pPr>
            <a:endParaRPr lang="en-IN" dirty="0"/>
          </a:p>
        </p:txBody>
      </p:sp>
    </p:spTree>
    <p:extLst>
      <p:ext uri="{BB962C8B-B14F-4D97-AF65-F5344CB8AC3E}">
        <p14:creationId xmlns:p14="http://schemas.microsoft.com/office/powerpoint/2010/main" val="22194948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fontAlgn="base"/>
            <a:r>
              <a:rPr lang="en-IN" sz="1600" b="1" i="0" dirty="0">
                <a:solidFill>
                  <a:srgbClr val="545454"/>
                </a:solidFill>
                <a:effectLst/>
                <a:latin typeface="Arial" panose="020B0604020202020204" pitchFamily="34" charset="0"/>
              </a:rPr>
              <a:t>6. On-Time Performance:</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5546390"/>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effectLst/>
                <a:latin typeface="Arial" panose="020B0604020202020204" pitchFamily="34" charset="0"/>
              </a:rPr>
              <a:t>The On-Time performance metric is a measure of how well a project is delivering its planned outputs on time. This metric is a valuable tool for project managers as it allows them to track the progress of their project and identify any potential risks of delays.</a:t>
            </a:r>
          </a:p>
          <a:p>
            <a:pPr marL="285750" indent="-285750" algn="just">
              <a:lnSpc>
                <a:spcPct val="200000"/>
              </a:lnSpc>
              <a:buFont typeface="Arial" panose="020B0604020202020204" pitchFamily="34" charset="0"/>
              <a:buChar char="•"/>
            </a:pPr>
            <a:r>
              <a:rPr lang="en-US" b="0" i="0" dirty="0">
                <a:effectLst/>
                <a:latin typeface="Arial" panose="020B0604020202020204" pitchFamily="34" charset="0"/>
              </a:rPr>
              <a:t>To use the ON-TIME performance metric, project managers should first identify the total number of planned outputs for their project. </a:t>
            </a:r>
            <a:r>
              <a:rPr lang="en-US" b="1" i="0" dirty="0">
                <a:effectLst/>
                <a:latin typeface="Arial" panose="020B0604020202020204" pitchFamily="34" charset="0"/>
              </a:rPr>
              <a:t>They should then track the number of outputs that are delivered on time and divide this by the total number of planned outputs</a:t>
            </a:r>
            <a:r>
              <a:rPr lang="en-US" b="0" i="0" dirty="0">
                <a:effectLst/>
                <a:latin typeface="Arial" panose="020B0604020202020204" pitchFamily="34" charset="0"/>
              </a:rPr>
              <a:t>. The resulting number will give the project manager an indication of how well their project is performing in terms of on-time delivery.</a:t>
            </a:r>
          </a:p>
          <a:p>
            <a:pPr marL="285750" indent="-285750" algn="just">
              <a:lnSpc>
                <a:spcPct val="200000"/>
              </a:lnSpc>
              <a:buFont typeface="Arial" panose="020B0604020202020204" pitchFamily="34" charset="0"/>
              <a:buChar char="•"/>
            </a:pPr>
            <a:endParaRPr lang="en-US" dirty="0">
              <a:latin typeface="Arial" panose="020B0604020202020204" pitchFamily="34" charset="0"/>
            </a:endParaRPr>
          </a:p>
          <a:p>
            <a:pPr marL="285750" indent="-285750" algn="just">
              <a:lnSpc>
                <a:spcPct val="200000"/>
              </a:lnSpc>
              <a:buFont typeface="Arial" panose="020B0604020202020204" pitchFamily="34" charset="0"/>
              <a:buChar char="•"/>
            </a:pPr>
            <a:endParaRPr lang="en-IN" dirty="0"/>
          </a:p>
        </p:txBody>
      </p:sp>
    </p:spTree>
    <p:extLst>
      <p:ext uri="{BB962C8B-B14F-4D97-AF65-F5344CB8AC3E}">
        <p14:creationId xmlns:p14="http://schemas.microsoft.com/office/powerpoint/2010/main" val="6237514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fontAlgn="base"/>
            <a:r>
              <a:rPr lang="en-IN" sz="1600" b="1" i="0" dirty="0">
                <a:solidFill>
                  <a:srgbClr val="545454"/>
                </a:solidFill>
                <a:effectLst/>
                <a:latin typeface="Arial" panose="020B0604020202020204" pitchFamily="34" charset="0"/>
              </a:rPr>
              <a:t>7. </a:t>
            </a:r>
            <a:r>
              <a:rPr lang="en-IN" sz="1600" b="1" dirty="0">
                <a:solidFill>
                  <a:srgbClr val="545454"/>
                </a:solidFill>
                <a:latin typeface="Arial" panose="020B0604020202020204" pitchFamily="34" charset="0"/>
              </a:rPr>
              <a:t>Failure Rate</a:t>
            </a:r>
            <a:r>
              <a:rPr lang="en-IN" sz="1600" b="1" i="0" dirty="0">
                <a:solidFill>
                  <a:srgbClr val="545454"/>
                </a:solidFill>
                <a:effectLst/>
                <a:latin typeface="Arial" panose="020B0604020202020204" pitchFamily="34" charset="0"/>
              </a:rPr>
              <a:t>:</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3330399"/>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effectLst/>
                <a:latin typeface="Arial" panose="020B0604020202020204" pitchFamily="34" charset="0"/>
              </a:rPr>
              <a:t>The </a:t>
            </a:r>
            <a:r>
              <a:rPr lang="en-US" b="0" i="0" u="none" strike="noStrike" dirty="0">
                <a:effectLst/>
                <a:latin typeface="Arial" panose="020B0604020202020204" pitchFamily="34" charset="0"/>
              </a:rPr>
              <a:t>failure rate</a:t>
            </a:r>
            <a:r>
              <a:rPr lang="en-US" b="0" i="0" dirty="0">
                <a:effectLst/>
                <a:latin typeface="Arial" panose="020B0604020202020204" pitchFamily="34" charset="0"/>
              </a:rPr>
              <a:t> is a metric used to measure the number of failures in a given process or system. It is typically expressed as a percentage or a ratio, and it can be used to track the performance of a process or system over time.</a:t>
            </a:r>
          </a:p>
          <a:p>
            <a:pPr marL="285750" indent="-285750" algn="just">
              <a:lnSpc>
                <a:spcPct val="200000"/>
              </a:lnSpc>
              <a:buFont typeface="Arial" panose="020B0604020202020204" pitchFamily="34" charset="0"/>
              <a:buChar char="•"/>
            </a:pPr>
            <a:r>
              <a:rPr lang="en-US" b="0" i="0" dirty="0">
                <a:effectLst/>
                <a:latin typeface="Arial" panose="020B0604020202020204" pitchFamily="34" charset="0"/>
              </a:rPr>
              <a:t>The failure rate can be used in project management to help identify potential problems and mitigate risks</a:t>
            </a:r>
            <a:r>
              <a:rPr lang="en-US" b="1" i="0" dirty="0">
                <a:effectLst/>
                <a:latin typeface="Arial" panose="020B0604020202020204" pitchFamily="34" charset="0"/>
              </a:rPr>
              <a:t>. It can also help you to understand the root causes of failures and identify opportunities for improvement.</a:t>
            </a:r>
            <a:endParaRPr lang="en-IN" b="1" dirty="0"/>
          </a:p>
        </p:txBody>
      </p:sp>
    </p:spTree>
    <p:extLst>
      <p:ext uri="{BB962C8B-B14F-4D97-AF65-F5344CB8AC3E}">
        <p14:creationId xmlns:p14="http://schemas.microsoft.com/office/powerpoint/2010/main" val="3172093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fontAlgn="base"/>
            <a:r>
              <a:rPr lang="en-IN" sz="1600" b="1" i="0" dirty="0">
                <a:solidFill>
                  <a:srgbClr val="545454"/>
                </a:solidFill>
                <a:effectLst/>
                <a:latin typeface="Arial" panose="020B0604020202020204" pitchFamily="34" charset="0"/>
              </a:rPr>
              <a:t>8. Defect Frequency:</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4992392"/>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1" i="0" dirty="0">
                <a:effectLst/>
                <a:latin typeface="Arial" panose="020B0604020202020204" pitchFamily="34" charset="0"/>
              </a:rPr>
              <a:t>The defect frequency metric is a measure of the number of defects per unit of time</a:t>
            </a:r>
            <a:r>
              <a:rPr lang="en-US" b="0" i="0" dirty="0">
                <a:effectLst/>
                <a:latin typeface="Arial" panose="020B0604020202020204" pitchFamily="34" charset="0"/>
              </a:rPr>
              <a:t>. It is often used in project management to track the progress of a project and to identify areas where improvements need to be made.</a:t>
            </a:r>
          </a:p>
          <a:p>
            <a:pPr marL="285750" indent="-285750" algn="just">
              <a:lnSpc>
                <a:spcPct val="200000"/>
              </a:lnSpc>
              <a:buFont typeface="Arial" panose="020B0604020202020204" pitchFamily="34" charset="0"/>
              <a:buChar char="•"/>
            </a:pPr>
            <a:r>
              <a:rPr lang="en-US" b="0" i="0" dirty="0">
                <a:effectLst/>
                <a:latin typeface="Arial" panose="020B0604020202020204" pitchFamily="34" charset="0"/>
              </a:rPr>
              <a:t>To calculate the defect frequency metric, you first need to identify the total number of defects for a given period of time. This can be done by looking at the project’s bug tracker or by conducting a review of the project’s code. Once you have the total number of defects, you can then calculate the defect frequency by dividing the total number of defects by the total project duration.</a:t>
            </a:r>
            <a:endParaRPr lang="en-US" dirty="0">
              <a:latin typeface="Arial" panose="020B0604020202020204" pitchFamily="34" charset="0"/>
            </a:endParaRPr>
          </a:p>
          <a:p>
            <a:pPr marL="285750" indent="-285750" algn="just">
              <a:lnSpc>
                <a:spcPct val="200000"/>
              </a:lnSpc>
              <a:buFont typeface="Arial" panose="020B0604020202020204" pitchFamily="34" charset="0"/>
              <a:buChar char="•"/>
            </a:pPr>
            <a:r>
              <a:rPr lang="en-US" b="0" i="0" dirty="0">
                <a:effectLst/>
                <a:latin typeface="Arial" panose="020B0604020202020204" pitchFamily="34" charset="0"/>
              </a:rPr>
              <a:t>For example, if a product has 100 defects, and there are 1,000 units of that product, the defect frequency would be 100/1,000.</a:t>
            </a:r>
            <a:endParaRPr lang="en-IN" dirty="0"/>
          </a:p>
        </p:txBody>
      </p:sp>
    </p:spTree>
    <p:extLst>
      <p:ext uri="{BB962C8B-B14F-4D97-AF65-F5344CB8AC3E}">
        <p14:creationId xmlns:p14="http://schemas.microsoft.com/office/powerpoint/2010/main" val="20219549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C6002191-5E6B-CA6F-0EBE-04A85B863C0D}"/>
              </a:ext>
            </a:extLst>
          </p:cNvPr>
          <p:cNvGrpSpPr/>
          <p:nvPr/>
        </p:nvGrpSpPr>
        <p:grpSpPr>
          <a:xfrm>
            <a:off x="-210697" y="-180545"/>
            <a:ext cx="7555080" cy="813495"/>
            <a:chOff x="5511873" y="994406"/>
            <a:chExt cx="7555080" cy="813495"/>
          </a:xfrm>
        </p:grpSpPr>
        <p:sp>
          <p:nvSpPr>
            <p:cNvPr id="50" name="Oval 49">
              <a:extLst>
                <a:ext uri="{FF2B5EF4-FFF2-40B4-BE49-F238E27FC236}">
                  <a16:creationId xmlns:a16="http://schemas.microsoft.com/office/drawing/2014/main" id="{24235529-E35F-FB7A-0664-050E2669F440}"/>
                </a:ext>
              </a:extLst>
            </p:cNvPr>
            <p:cNvSpPr/>
            <p:nvPr/>
          </p:nvSpPr>
          <p:spPr>
            <a:xfrm>
              <a:off x="5595679" y="994406"/>
              <a:ext cx="813495" cy="813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1" name="TextBox 50">
              <a:extLst>
                <a:ext uri="{FF2B5EF4-FFF2-40B4-BE49-F238E27FC236}">
                  <a16:creationId xmlns:a16="http://schemas.microsoft.com/office/drawing/2014/main" id="{A0851DB5-BDE9-6DB5-08F7-EE79D7DA6F41}"/>
                </a:ext>
              </a:extLst>
            </p:cNvPr>
            <p:cNvSpPr txBox="1"/>
            <p:nvPr/>
          </p:nvSpPr>
          <p:spPr>
            <a:xfrm>
              <a:off x="6498057" y="1212240"/>
              <a:ext cx="6568896" cy="369332"/>
            </a:xfrm>
            <a:prstGeom prst="rect">
              <a:avLst/>
            </a:prstGeom>
            <a:noFill/>
          </p:spPr>
          <p:txBody>
            <a:bodyPr wrap="square" lIns="108000" rIns="108000" rtlCol="0" anchor="ctr">
              <a:spAutoFit/>
            </a:bodyPr>
            <a:lstStyle/>
            <a:p>
              <a:r>
                <a:rPr lang="en-IN" b="1" dirty="0">
                  <a:solidFill>
                    <a:srgbClr val="C00000"/>
                  </a:solidFill>
                  <a:cs typeface="Arial" pitchFamily="34" charset="0"/>
                </a:rPr>
                <a:t>1.5 QUALITY METRICS</a:t>
              </a:r>
              <a:r>
                <a:rPr lang="en-US" b="1" dirty="0">
                  <a:solidFill>
                    <a:srgbClr val="C00000"/>
                  </a:solidFill>
                  <a:cs typeface="Arial" pitchFamily="34" charset="0"/>
                </a:rPr>
                <a:t>-</a:t>
              </a:r>
            </a:p>
          </p:txBody>
        </p:sp>
        <p:sp>
          <p:nvSpPr>
            <p:cNvPr id="52" name="TextBox 51">
              <a:extLst>
                <a:ext uri="{FF2B5EF4-FFF2-40B4-BE49-F238E27FC236}">
                  <a16:creationId xmlns:a16="http://schemas.microsoft.com/office/drawing/2014/main" id="{0694D927-9934-E09C-DA02-0A43A794D570}"/>
                </a:ext>
              </a:extLst>
            </p:cNvPr>
            <p:cNvSpPr txBox="1"/>
            <p:nvPr/>
          </p:nvSpPr>
          <p:spPr>
            <a:xfrm>
              <a:off x="5511873" y="1091591"/>
              <a:ext cx="981106" cy="646331"/>
            </a:xfrm>
            <a:prstGeom prst="rect">
              <a:avLst/>
            </a:prstGeom>
            <a:noFill/>
          </p:spPr>
          <p:txBody>
            <a:bodyPr wrap="square" lIns="108000" rIns="108000" rtlCol="0" anchor="ctr">
              <a:spAutoFit/>
            </a:bodyPr>
            <a:lstStyle/>
            <a:p>
              <a:pPr algn="ctr"/>
              <a:r>
                <a:rPr lang="en-US" altLang="ko-KR" sz="3600" b="1" dirty="0">
                  <a:solidFill>
                    <a:schemeClr val="bg1"/>
                  </a:solidFill>
                  <a:cs typeface="Arial" pitchFamily="34" charset="0"/>
                </a:rPr>
                <a:t>05</a:t>
              </a:r>
              <a:endParaRPr lang="ko-KR" altLang="en-US" sz="3600" b="1" dirty="0">
                <a:solidFill>
                  <a:schemeClr val="bg1"/>
                </a:solidFill>
                <a:cs typeface="Arial" pitchFamily="34" charset="0"/>
              </a:endParaRPr>
            </a:p>
          </p:txBody>
        </p:sp>
      </p:grpSp>
      <p:sp>
        <p:nvSpPr>
          <p:cNvPr id="3" name="TextBox 2">
            <a:extLst>
              <a:ext uri="{FF2B5EF4-FFF2-40B4-BE49-F238E27FC236}">
                <a16:creationId xmlns:a16="http://schemas.microsoft.com/office/drawing/2014/main" id="{77C2DA13-63EA-4CB7-3A5A-4239042D8438}"/>
              </a:ext>
            </a:extLst>
          </p:cNvPr>
          <p:cNvSpPr txBox="1"/>
          <p:nvPr/>
        </p:nvSpPr>
        <p:spPr>
          <a:xfrm>
            <a:off x="89172" y="753599"/>
            <a:ext cx="6257131" cy="584775"/>
          </a:xfrm>
          <a:prstGeom prst="rect">
            <a:avLst/>
          </a:prstGeom>
          <a:noFill/>
        </p:spPr>
        <p:txBody>
          <a:bodyPr wrap="square">
            <a:spAutoFit/>
          </a:bodyPr>
          <a:lstStyle/>
          <a:p>
            <a:pPr fontAlgn="base"/>
            <a:r>
              <a:rPr lang="en-IN" sz="1600" b="1" i="0" dirty="0">
                <a:solidFill>
                  <a:srgbClr val="545454"/>
                </a:solidFill>
                <a:effectLst/>
                <a:latin typeface="Arial" panose="020B0604020202020204" pitchFamily="34" charset="0"/>
              </a:rPr>
              <a:t>9. Quality Control:</a:t>
            </a:r>
          </a:p>
          <a:p>
            <a:pPr marL="342900" indent="-342900" algn="l" fontAlgn="base">
              <a:buAutoNum type="arabicPeriod"/>
            </a:pPr>
            <a:endParaRPr lang="en-IN" sz="1600" b="1" i="0" dirty="0">
              <a:solidFill>
                <a:srgbClr val="545454"/>
              </a:solidFill>
              <a:effectLst/>
              <a:latin typeface="Arial" panose="020B0604020202020204" pitchFamily="34" charset="0"/>
            </a:endParaRPr>
          </a:p>
        </p:txBody>
      </p:sp>
      <p:sp>
        <p:nvSpPr>
          <p:cNvPr id="4" name="TextBox 3">
            <a:extLst>
              <a:ext uri="{FF2B5EF4-FFF2-40B4-BE49-F238E27FC236}">
                <a16:creationId xmlns:a16="http://schemas.microsoft.com/office/drawing/2014/main" id="{7553F251-75C2-C2CA-96E9-021E775A8F74}"/>
              </a:ext>
            </a:extLst>
          </p:cNvPr>
          <p:cNvSpPr txBox="1"/>
          <p:nvPr/>
        </p:nvSpPr>
        <p:spPr>
          <a:xfrm>
            <a:off x="466928" y="1211356"/>
            <a:ext cx="10680969" cy="2776401"/>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effectLst/>
                <a:latin typeface="Arial" panose="020B0604020202020204" pitchFamily="34" charset="0"/>
              </a:rPr>
              <a:t>This is way general in terms of Quality, as there are many different quality control metrics that can be used to measure a project’s quality. Some common metrics include the number of defects, the number of customer complaints, and the cost of quality. Quality control metrics can be used to assess the quality of a project at any stage of development. Project Management includes project charter. </a:t>
            </a:r>
            <a:endParaRPr lang="en-IN" dirty="0"/>
          </a:p>
        </p:txBody>
      </p:sp>
    </p:spTree>
    <p:extLst>
      <p:ext uri="{BB962C8B-B14F-4D97-AF65-F5344CB8AC3E}">
        <p14:creationId xmlns:p14="http://schemas.microsoft.com/office/powerpoint/2010/main" val="37208447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27A607-76C4-E50A-21D7-0DB3C7B00E0B}"/>
              </a:ext>
            </a:extLst>
          </p:cNvPr>
          <p:cNvSpPr txBox="1"/>
          <p:nvPr/>
        </p:nvSpPr>
        <p:spPr>
          <a:xfrm>
            <a:off x="89172" y="86232"/>
            <a:ext cx="6118698" cy="400110"/>
          </a:xfrm>
          <a:prstGeom prst="rect">
            <a:avLst/>
          </a:prstGeom>
          <a:noFill/>
        </p:spPr>
        <p:txBody>
          <a:bodyPr wrap="square">
            <a:spAutoFit/>
          </a:bodyPr>
          <a:lstStyle/>
          <a:p>
            <a:r>
              <a:rPr lang="en-IN" sz="2000" b="1" i="0" u="none" strike="noStrike" baseline="0" dirty="0">
                <a:solidFill>
                  <a:srgbClr val="FF0000"/>
                </a:solidFill>
                <a:latin typeface="Calibri" panose="020F0502020204030204" pitchFamily="34" charset="0"/>
              </a:rPr>
              <a:t>Risk Management Process</a:t>
            </a:r>
            <a:endParaRPr lang="en-IN" sz="2000" b="1" dirty="0">
              <a:solidFill>
                <a:srgbClr val="FF0000"/>
              </a:solidFill>
            </a:endParaRPr>
          </a:p>
        </p:txBody>
      </p:sp>
      <p:sp>
        <p:nvSpPr>
          <p:cNvPr id="6" name="TextBox 5">
            <a:extLst>
              <a:ext uri="{FF2B5EF4-FFF2-40B4-BE49-F238E27FC236}">
                <a16:creationId xmlns:a16="http://schemas.microsoft.com/office/drawing/2014/main" id="{ECDECF73-31B3-A6CF-24C5-C3D60B925366}"/>
              </a:ext>
            </a:extLst>
          </p:cNvPr>
          <p:cNvSpPr txBox="1"/>
          <p:nvPr/>
        </p:nvSpPr>
        <p:spPr>
          <a:xfrm>
            <a:off x="160507" y="586611"/>
            <a:ext cx="11230582" cy="886525"/>
          </a:xfrm>
          <a:prstGeom prst="rect">
            <a:avLst/>
          </a:prstGeom>
          <a:noFill/>
        </p:spPr>
        <p:txBody>
          <a:bodyPr wrap="square">
            <a:spAutoFit/>
          </a:bodyPr>
          <a:lstStyle/>
          <a:p>
            <a:pPr algn="just">
              <a:lnSpc>
                <a:spcPct val="150000"/>
              </a:lnSpc>
            </a:pPr>
            <a:r>
              <a:rPr lang="en-US" b="0" i="0" dirty="0">
                <a:solidFill>
                  <a:srgbClr val="000000"/>
                </a:solidFill>
                <a:effectLst/>
                <a:latin typeface="Nunito" pitchFamily="2" charset="0"/>
              </a:rPr>
              <a:t>Managers can plan their strategy based on four steps of risk management which prevails in an organization. Following are the steps to manage risks effectively in an organization:</a:t>
            </a:r>
            <a:endParaRPr lang="en-IN" dirty="0"/>
          </a:p>
        </p:txBody>
      </p:sp>
      <p:sp>
        <p:nvSpPr>
          <p:cNvPr id="8" name="TextBox 7">
            <a:extLst>
              <a:ext uri="{FF2B5EF4-FFF2-40B4-BE49-F238E27FC236}">
                <a16:creationId xmlns:a16="http://schemas.microsoft.com/office/drawing/2014/main" id="{4671036E-F7BA-7D02-113C-32B599FCF34A}"/>
              </a:ext>
            </a:extLst>
          </p:cNvPr>
          <p:cNvSpPr txBox="1"/>
          <p:nvPr/>
        </p:nvSpPr>
        <p:spPr>
          <a:xfrm>
            <a:off x="967903" y="1758231"/>
            <a:ext cx="7621620" cy="2776401"/>
          </a:xfrm>
          <a:prstGeom prst="rect">
            <a:avLst/>
          </a:prstGeom>
          <a:noFill/>
        </p:spPr>
        <p:txBody>
          <a:bodyPr wrap="square">
            <a:spAutoFit/>
          </a:bodyPr>
          <a:lstStyle/>
          <a:p>
            <a:pPr marL="342900" indent="-342900" algn="l">
              <a:lnSpc>
                <a:spcPct val="200000"/>
              </a:lnSpc>
              <a:buFont typeface="+mj-lt"/>
              <a:buAutoNum type="arabicPeriod"/>
            </a:pPr>
            <a:r>
              <a:rPr lang="en-IN" sz="1800" b="0" i="0" u="none" strike="noStrike" baseline="0" dirty="0">
                <a:latin typeface="Calibri" panose="020F0502020204030204" pitchFamily="34" charset="0"/>
              </a:rPr>
              <a:t>Risk Identification</a:t>
            </a:r>
          </a:p>
          <a:p>
            <a:pPr marL="342900" indent="-342900" algn="l">
              <a:lnSpc>
                <a:spcPct val="200000"/>
              </a:lnSpc>
              <a:buFont typeface="+mj-lt"/>
              <a:buAutoNum type="arabicPeriod"/>
            </a:pPr>
            <a:r>
              <a:rPr lang="en-IN" sz="1800" b="0" i="0" u="none" strike="noStrike" baseline="0" dirty="0">
                <a:latin typeface="Calibri" panose="020F0502020204030204" pitchFamily="34" charset="0"/>
              </a:rPr>
              <a:t>Risk Analysis</a:t>
            </a:r>
          </a:p>
          <a:p>
            <a:pPr marL="342900" indent="-342900" algn="l">
              <a:lnSpc>
                <a:spcPct val="200000"/>
              </a:lnSpc>
              <a:buFont typeface="+mj-lt"/>
              <a:buAutoNum type="arabicPeriod"/>
            </a:pPr>
            <a:r>
              <a:rPr lang="en-IN" sz="1800" b="0" i="0" u="none" strike="noStrike" baseline="0" dirty="0">
                <a:latin typeface="Calibri" panose="020F0502020204030204" pitchFamily="34" charset="0"/>
              </a:rPr>
              <a:t>Risk Mitigation (</a:t>
            </a:r>
            <a:r>
              <a:rPr lang="en-US" b="0" i="0" dirty="0">
                <a:solidFill>
                  <a:srgbClr val="202124"/>
                </a:solidFill>
                <a:effectLst/>
                <a:latin typeface="arial" panose="020B0604020202020204" pitchFamily="34" charset="0"/>
              </a:rPr>
              <a:t>the action of reducing the severity)</a:t>
            </a:r>
            <a:endParaRPr lang="en-IN" sz="1800" b="0" i="0" u="none" strike="noStrike" baseline="0" dirty="0">
              <a:latin typeface="Calibri" panose="020F0502020204030204" pitchFamily="34" charset="0"/>
            </a:endParaRPr>
          </a:p>
          <a:p>
            <a:pPr marL="342900" indent="-342900">
              <a:lnSpc>
                <a:spcPct val="200000"/>
              </a:lnSpc>
              <a:buFont typeface="+mj-lt"/>
              <a:buAutoNum type="arabicPeriod"/>
            </a:pPr>
            <a:r>
              <a:rPr lang="en-IN" sz="1800" b="0" i="0" u="none" strike="noStrike" baseline="0" dirty="0">
                <a:latin typeface="Calibri" panose="020F0502020204030204" pitchFamily="34" charset="0"/>
              </a:rPr>
              <a:t>RMMM </a:t>
            </a:r>
            <a:r>
              <a:rPr lang="en-IN" sz="1800" i="0" u="none" strike="noStrike" baseline="0" dirty="0">
                <a:latin typeface="Calibri" panose="020F0502020204030204" pitchFamily="34" charset="0"/>
              </a:rPr>
              <a:t>(</a:t>
            </a:r>
            <a:r>
              <a:rPr lang="en-US" dirty="0">
                <a:solidFill>
                  <a:srgbClr val="1A0DAB"/>
                </a:solidFill>
                <a:latin typeface="arial" panose="020B0604020202020204" pitchFamily="34" charset="0"/>
              </a:rPr>
              <a:t>Risk Mitigation, Monitoring, and Management)</a:t>
            </a:r>
          </a:p>
          <a:p>
            <a:pPr algn="l">
              <a:lnSpc>
                <a:spcPct val="200000"/>
              </a:lnSpc>
            </a:pPr>
            <a:endParaRPr lang="en-IN" dirty="0"/>
          </a:p>
        </p:txBody>
      </p:sp>
      <p:sp>
        <p:nvSpPr>
          <p:cNvPr id="3" name="TextBox 2">
            <a:extLst>
              <a:ext uri="{FF2B5EF4-FFF2-40B4-BE49-F238E27FC236}">
                <a16:creationId xmlns:a16="http://schemas.microsoft.com/office/drawing/2014/main" id="{032A9DEF-1118-1895-C5BF-9491D3172718}"/>
              </a:ext>
            </a:extLst>
          </p:cNvPr>
          <p:cNvSpPr txBox="1"/>
          <p:nvPr/>
        </p:nvSpPr>
        <p:spPr>
          <a:xfrm>
            <a:off x="267511" y="4664811"/>
            <a:ext cx="11036332" cy="646331"/>
          </a:xfrm>
          <a:prstGeom prst="rect">
            <a:avLst/>
          </a:prstGeom>
          <a:noFill/>
        </p:spPr>
        <p:txBody>
          <a:bodyPr wrap="square">
            <a:spAutoFit/>
          </a:bodyPr>
          <a:lstStyle/>
          <a:p>
            <a:r>
              <a:rPr lang="en-US" b="0" i="0" dirty="0">
                <a:effectLst/>
                <a:latin typeface="Nunito" pitchFamily="2" charset="0"/>
              </a:rPr>
              <a:t>Project risks concern various sorts of monetary funds, schedules, personnel, resource, and customer-related issues. a vital project risk is schedule slippage.</a:t>
            </a:r>
            <a:endParaRPr lang="en-IN" dirty="0"/>
          </a:p>
        </p:txBody>
      </p:sp>
      <p:sp>
        <p:nvSpPr>
          <p:cNvPr id="7" name="TextBox 6">
            <a:extLst>
              <a:ext uri="{FF2B5EF4-FFF2-40B4-BE49-F238E27FC236}">
                <a16:creationId xmlns:a16="http://schemas.microsoft.com/office/drawing/2014/main" id="{35F0696F-C0AA-764B-9AA4-040EF7C09039}"/>
              </a:ext>
            </a:extLst>
          </p:cNvPr>
          <p:cNvSpPr txBox="1"/>
          <p:nvPr/>
        </p:nvSpPr>
        <p:spPr>
          <a:xfrm>
            <a:off x="1434830" y="5756622"/>
            <a:ext cx="8681935" cy="369332"/>
          </a:xfrm>
          <a:prstGeom prst="rect">
            <a:avLst/>
          </a:prstGeom>
          <a:solidFill>
            <a:srgbClr val="FFC000"/>
          </a:solidFill>
        </p:spPr>
        <p:txBody>
          <a:bodyPr wrap="square">
            <a:spAutoFit/>
          </a:bodyPr>
          <a:lstStyle/>
          <a:p>
            <a:pPr algn="ctr" fontAlgn="base"/>
            <a:r>
              <a:rPr lang="en-US" b="1" i="0" dirty="0">
                <a:solidFill>
                  <a:srgbClr val="444444"/>
                </a:solidFill>
                <a:effectLst/>
                <a:latin typeface="Titillium"/>
              </a:rPr>
              <a:t>Risk = Potential Negative Event + Impact + Probability of Occurrence</a:t>
            </a:r>
          </a:p>
        </p:txBody>
      </p:sp>
    </p:spTree>
    <p:extLst>
      <p:ext uri="{BB962C8B-B14F-4D97-AF65-F5344CB8AC3E}">
        <p14:creationId xmlns:p14="http://schemas.microsoft.com/office/powerpoint/2010/main" val="21467902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27A607-76C4-E50A-21D7-0DB3C7B00E0B}"/>
              </a:ext>
            </a:extLst>
          </p:cNvPr>
          <p:cNvSpPr txBox="1"/>
          <p:nvPr/>
        </p:nvSpPr>
        <p:spPr>
          <a:xfrm>
            <a:off x="89172" y="86232"/>
            <a:ext cx="6118698" cy="400110"/>
          </a:xfrm>
          <a:prstGeom prst="rect">
            <a:avLst/>
          </a:prstGeom>
          <a:noFill/>
        </p:spPr>
        <p:txBody>
          <a:bodyPr wrap="square">
            <a:spAutoFit/>
          </a:bodyPr>
          <a:lstStyle/>
          <a:p>
            <a:r>
              <a:rPr lang="en-IN" sz="2000" b="1" i="0" u="none" strike="noStrike" baseline="0" dirty="0">
                <a:solidFill>
                  <a:srgbClr val="FF0000"/>
                </a:solidFill>
                <a:latin typeface="Calibri" panose="020F0502020204030204" pitchFamily="34" charset="0"/>
              </a:rPr>
              <a:t>Risk Management Process</a:t>
            </a:r>
            <a:endParaRPr lang="en-IN" sz="2000" b="1" dirty="0">
              <a:solidFill>
                <a:srgbClr val="FF0000"/>
              </a:solidFill>
            </a:endParaRPr>
          </a:p>
        </p:txBody>
      </p:sp>
      <p:sp>
        <p:nvSpPr>
          <p:cNvPr id="8" name="TextBox 7">
            <a:extLst>
              <a:ext uri="{FF2B5EF4-FFF2-40B4-BE49-F238E27FC236}">
                <a16:creationId xmlns:a16="http://schemas.microsoft.com/office/drawing/2014/main" id="{4671036E-F7BA-7D02-113C-32B599FCF34A}"/>
              </a:ext>
            </a:extLst>
          </p:cNvPr>
          <p:cNvSpPr txBox="1"/>
          <p:nvPr/>
        </p:nvSpPr>
        <p:spPr>
          <a:xfrm>
            <a:off x="189690" y="639550"/>
            <a:ext cx="6118698" cy="621709"/>
          </a:xfrm>
          <a:prstGeom prst="rect">
            <a:avLst/>
          </a:prstGeom>
          <a:noFill/>
        </p:spPr>
        <p:txBody>
          <a:bodyPr wrap="square">
            <a:spAutoFit/>
          </a:bodyPr>
          <a:lstStyle/>
          <a:p>
            <a:pPr marL="342900" indent="-342900" algn="l">
              <a:lnSpc>
                <a:spcPct val="200000"/>
              </a:lnSpc>
              <a:buFont typeface="+mj-lt"/>
              <a:buAutoNum type="arabicPeriod"/>
            </a:pPr>
            <a:r>
              <a:rPr lang="en-IN" sz="2000" b="1" i="0" u="none" strike="noStrike" baseline="0" dirty="0">
                <a:latin typeface="Calibri" panose="020F0502020204030204" pitchFamily="34" charset="0"/>
              </a:rPr>
              <a:t>Risk Identification :</a:t>
            </a:r>
          </a:p>
        </p:txBody>
      </p:sp>
      <p:sp>
        <p:nvSpPr>
          <p:cNvPr id="3" name="TextBox 2">
            <a:extLst>
              <a:ext uri="{FF2B5EF4-FFF2-40B4-BE49-F238E27FC236}">
                <a16:creationId xmlns:a16="http://schemas.microsoft.com/office/drawing/2014/main" id="{9FA04383-FACF-0B28-8901-5653DE2A6CB6}"/>
              </a:ext>
            </a:extLst>
          </p:cNvPr>
          <p:cNvSpPr txBox="1"/>
          <p:nvPr/>
        </p:nvSpPr>
        <p:spPr>
          <a:xfrm>
            <a:off x="539884" y="1261259"/>
            <a:ext cx="11016575" cy="4455066"/>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0" i="0" dirty="0">
                <a:solidFill>
                  <a:srgbClr val="000000"/>
                </a:solidFill>
                <a:effectLst/>
                <a:latin typeface="Nunito" pitchFamily="2" charset="0"/>
              </a:rPr>
              <a:t>Managers face many difficulties when it comes to identifying and naming the risks that occur when undertaking projects. It's important to understand that risks pertaining to the project can only be handled by the project manager and other stakeholders of the project.</a:t>
            </a:r>
          </a:p>
          <a:p>
            <a:pPr marL="285750" indent="-285750" algn="just">
              <a:lnSpc>
                <a:spcPct val="200000"/>
              </a:lnSpc>
              <a:buFont typeface="Arial" panose="020B0604020202020204" pitchFamily="34" charset="0"/>
              <a:buChar char="•"/>
            </a:pPr>
            <a:r>
              <a:rPr lang="en-US" b="0" i="0" dirty="0">
                <a:solidFill>
                  <a:srgbClr val="000000"/>
                </a:solidFill>
                <a:effectLst/>
                <a:latin typeface="Nunito" pitchFamily="2" charset="0"/>
              </a:rPr>
              <a:t>Risks, such as operational or business risks will be handled by the relevant teams. The risks that often impact a project are </a:t>
            </a:r>
            <a:r>
              <a:rPr lang="en-US" b="1" i="0" dirty="0">
                <a:solidFill>
                  <a:srgbClr val="000000"/>
                </a:solidFill>
                <a:effectLst/>
                <a:latin typeface="Nunito" pitchFamily="2" charset="0"/>
              </a:rPr>
              <a:t>supplier risk, resource risk and budget risk</a:t>
            </a:r>
            <a:r>
              <a:rPr lang="en-US" b="0" i="0" dirty="0">
                <a:solidFill>
                  <a:srgbClr val="000000"/>
                </a:solidFill>
                <a:effectLst/>
                <a:latin typeface="Nunito" pitchFamily="2" charset="0"/>
              </a:rPr>
              <a:t>. Supplier risk would refer to risks that can occur in case the supplier is not meeting the timeline to supply the resources required.</a:t>
            </a:r>
          </a:p>
          <a:p>
            <a:pPr marL="285750" indent="-285750" algn="just">
              <a:lnSpc>
                <a:spcPct val="200000"/>
              </a:lnSpc>
              <a:buFont typeface="Arial" panose="020B0604020202020204" pitchFamily="34" charset="0"/>
              <a:buChar char="•"/>
            </a:pPr>
            <a:r>
              <a:rPr lang="en-US" b="0" i="0" dirty="0">
                <a:solidFill>
                  <a:srgbClr val="000000"/>
                </a:solidFill>
                <a:effectLst/>
                <a:latin typeface="Nunito" pitchFamily="2" charset="0"/>
              </a:rPr>
              <a:t>Resource risk occurs when the human resource used in the project is not enough or not skilled enough. </a:t>
            </a:r>
            <a:r>
              <a:rPr lang="en-US" b="1" i="0" dirty="0">
                <a:solidFill>
                  <a:srgbClr val="000000"/>
                </a:solidFill>
                <a:effectLst/>
                <a:latin typeface="Nunito" pitchFamily="2" charset="0"/>
              </a:rPr>
              <a:t>Budget risk would refer to risks that can occur if the costs are more than what was budgeted</a:t>
            </a:r>
            <a:r>
              <a:rPr lang="en-US" b="0" i="0" dirty="0">
                <a:solidFill>
                  <a:srgbClr val="000000"/>
                </a:solidFill>
                <a:effectLst/>
                <a:latin typeface="Nunito" pitchFamily="2" charset="0"/>
              </a:rPr>
              <a:t>.</a:t>
            </a:r>
          </a:p>
        </p:txBody>
      </p:sp>
    </p:spTree>
    <p:extLst>
      <p:ext uri="{BB962C8B-B14F-4D97-AF65-F5344CB8AC3E}">
        <p14:creationId xmlns:p14="http://schemas.microsoft.com/office/powerpoint/2010/main" val="4740403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27A607-76C4-E50A-21D7-0DB3C7B00E0B}"/>
              </a:ext>
            </a:extLst>
          </p:cNvPr>
          <p:cNvSpPr txBox="1"/>
          <p:nvPr/>
        </p:nvSpPr>
        <p:spPr>
          <a:xfrm>
            <a:off x="89172" y="86232"/>
            <a:ext cx="6118698" cy="400110"/>
          </a:xfrm>
          <a:prstGeom prst="rect">
            <a:avLst/>
          </a:prstGeom>
          <a:noFill/>
        </p:spPr>
        <p:txBody>
          <a:bodyPr wrap="square">
            <a:spAutoFit/>
          </a:bodyPr>
          <a:lstStyle/>
          <a:p>
            <a:r>
              <a:rPr lang="en-IN" sz="2000" b="1" i="0" u="none" strike="noStrike" baseline="0" dirty="0">
                <a:solidFill>
                  <a:srgbClr val="FF0000"/>
                </a:solidFill>
                <a:latin typeface="Calibri" panose="020F0502020204030204" pitchFamily="34" charset="0"/>
              </a:rPr>
              <a:t>Risk Management Process</a:t>
            </a:r>
            <a:endParaRPr lang="en-IN" sz="2000" b="1" dirty="0">
              <a:solidFill>
                <a:srgbClr val="FF0000"/>
              </a:solidFill>
            </a:endParaRPr>
          </a:p>
        </p:txBody>
      </p:sp>
      <p:sp>
        <p:nvSpPr>
          <p:cNvPr id="8" name="TextBox 7">
            <a:extLst>
              <a:ext uri="{FF2B5EF4-FFF2-40B4-BE49-F238E27FC236}">
                <a16:creationId xmlns:a16="http://schemas.microsoft.com/office/drawing/2014/main" id="{4671036E-F7BA-7D02-113C-32B599FCF34A}"/>
              </a:ext>
            </a:extLst>
          </p:cNvPr>
          <p:cNvSpPr txBox="1"/>
          <p:nvPr/>
        </p:nvSpPr>
        <p:spPr>
          <a:xfrm>
            <a:off x="189690" y="639550"/>
            <a:ext cx="6118698" cy="621709"/>
          </a:xfrm>
          <a:prstGeom prst="rect">
            <a:avLst/>
          </a:prstGeom>
          <a:noFill/>
        </p:spPr>
        <p:txBody>
          <a:bodyPr wrap="square">
            <a:spAutoFit/>
          </a:bodyPr>
          <a:lstStyle/>
          <a:p>
            <a:pPr algn="l">
              <a:lnSpc>
                <a:spcPct val="200000"/>
              </a:lnSpc>
            </a:pPr>
            <a:r>
              <a:rPr lang="en-IN" sz="2000" b="1" i="0" u="none" strike="noStrike" baseline="0" dirty="0">
                <a:latin typeface="Calibri" panose="020F0502020204030204" pitchFamily="34" charset="0"/>
              </a:rPr>
              <a:t>2.   Risk Analysis :</a:t>
            </a:r>
          </a:p>
        </p:txBody>
      </p:sp>
      <p:sp>
        <p:nvSpPr>
          <p:cNvPr id="3" name="TextBox 2">
            <a:extLst>
              <a:ext uri="{FF2B5EF4-FFF2-40B4-BE49-F238E27FC236}">
                <a16:creationId xmlns:a16="http://schemas.microsoft.com/office/drawing/2014/main" id="{9FA04383-FACF-0B28-8901-5653DE2A6CB6}"/>
              </a:ext>
            </a:extLst>
          </p:cNvPr>
          <p:cNvSpPr txBox="1"/>
          <p:nvPr/>
        </p:nvSpPr>
        <p:spPr>
          <a:xfrm>
            <a:off x="539884" y="1261259"/>
            <a:ext cx="11016575" cy="3901068"/>
          </a:xfrm>
          <a:prstGeom prst="rect">
            <a:avLst/>
          </a:prstGeom>
          <a:noFill/>
        </p:spPr>
        <p:txBody>
          <a:bodyPr wrap="square">
            <a:spAutoFit/>
          </a:bodyPr>
          <a:lstStyle/>
          <a:p>
            <a:pPr marL="285750" indent="-285750" algn="just">
              <a:lnSpc>
                <a:spcPct val="200000"/>
              </a:lnSpc>
              <a:buFont typeface="Arial" panose="020B0604020202020204" pitchFamily="34" charset="0"/>
              <a:buChar char="•"/>
            </a:pPr>
            <a:r>
              <a:rPr lang="en-US" b="1" i="0" dirty="0">
                <a:solidFill>
                  <a:srgbClr val="222222"/>
                </a:solidFill>
                <a:effectLst/>
                <a:latin typeface="Source Sans Pro" panose="020B0503030403020204" pitchFamily="34" charset="0"/>
              </a:rPr>
              <a:t>It is the process of prioritizing risks for further analysis of project risk or action by combining and assessing their probability of occurrence and impact</a:t>
            </a:r>
            <a:r>
              <a:rPr lang="en-US" b="0" i="0" dirty="0">
                <a:solidFill>
                  <a:srgbClr val="222222"/>
                </a:solidFill>
                <a:effectLst/>
                <a:latin typeface="Source Sans Pro" panose="020B0503030403020204" pitchFamily="34" charset="0"/>
              </a:rPr>
              <a:t>. It helps managers to lessen the uncertainty level and concentrate on high priority risks.</a:t>
            </a:r>
          </a:p>
          <a:p>
            <a:pPr marL="285750" indent="-285750"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The inputs for qualitative Project Risk Analysis and Management includes</a:t>
            </a:r>
          </a:p>
          <a:p>
            <a:pPr marL="1200150" lvl="2" indent="-285750">
              <a:lnSpc>
                <a:spcPct val="150000"/>
              </a:lnSpc>
              <a:buFont typeface="Wingdings" panose="05000000000000000000" pitchFamily="2" charset="2"/>
              <a:buChar char="q"/>
            </a:pPr>
            <a:r>
              <a:rPr lang="en-US" b="0" i="0" dirty="0">
                <a:solidFill>
                  <a:srgbClr val="222222"/>
                </a:solidFill>
                <a:effectLst/>
                <a:latin typeface="Source Sans Pro" panose="020B0503030403020204" pitchFamily="34" charset="0"/>
              </a:rPr>
              <a:t>Risk management plan</a:t>
            </a:r>
          </a:p>
          <a:p>
            <a:pPr marL="1200150" lvl="2" indent="-285750">
              <a:lnSpc>
                <a:spcPct val="150000"/>
              </a:lnSpc>
              <a:buFont typeface="Wingdings" panose="05000000000000000000" pitchFamily="2" charset="2"/>
              <a:buChar char="q"/>
            </a:pPr>
            <a:r>
              <a:rPr lang="en-US" b="0" i="0" dirty="0">
                <a:solidFill>
                  <a:srgbClr val="222222"/>
                </a:solidFill>
                <a:effectLst/>
                <a:latin typeface="Source Sans Pro" panose="020B0503030403020204" pitchFamily="34" charset="0"/>
              </a:rPr>
              <a:t>Risk register</a:t>
            </a:r>
          </a:p>
          <a:p>
            <a:pPr marL="1200150" lvl="2" indent="-285750">
              <a:lnSpc>
                <a:spcPct val="150000"/>
              </a:lnSpc>
              <a:buFont typeface="Wingdings" panose="05000000000000000000" pitchFamily="2" charset="2"/>
              <a:buChar char="q"/>
            </a:pPr>
            <a:r>
              <a:rPr lang="en-US" b="0" i="0" dirty="0">
                <a:solidFill>
                  <a:srgbClr val="222222"/>
                </a:solidFill>
                <a:effectLst/>
                <a:latin typeface="Source Sans Pro" panose="020B0503030403020204" pitchFamily="34" charset="0"/>
              </a:rPr>
              <a:t>Enterprise environmental factors</a:t>
            </a:r>
          </a:p>
          <a:p>
            <a:pPr marL="285750" indent="-285750" algn="just">
              <a:lnSpc>
                <a:spcPct val="200000"/>
              </a:lnSpc>
              <a:buFont typeface="Arial" panose="020B0604020202020204" pitchFamily="34" charset="0"/>
              <a:buChar char="•"/>
            </a:pPr>
            <a:endParaRPr lang="en-US" b="0" i="0" dirty="0">
              <a:solidFill>
                <a:srgbClr val="000000"/>
              </a:solidFill>
              <a:effectLst/>
              <a:latin typeface="Nunito" pitchFamily="2" charset="0"/>
            </a:endParaRPr>
          </a:p>
        </p:txBody>
      </p:sp>
      <p:sp>
        <p:nvSpPr>
          <p:cNvPr id="5" name="TextBox 4">
            <a:extLst>
              <a:ext uri="{FF2B5EF4-FFF2-40B4-BE49-F238E27FC236}">
                <a16:creationId xmlns:a16="http://schemas.microsoft.com/office/drawing/2014/main" id="{967FEBE9-8422-5600-91DB-4820AFF1B4D1}"/>
              </a:ext>
            </a:extLst>
          </p:cNvPr>
          <p:cNvSpPr txBox="1"/>
          <p:nvPr/>
        </p:nvSpPr>
        <p:spPr>
          <a:xfrm>
            <a:off x="539884" y="4741955"/>
            <a:ext cx="11016574" cy="1709571"/>
          </a:xfrm>
          <a:prstGeom prst="rect">
            <a:avLst/>
          </a:prstGeom>
          <a:noFill/>
        </p:spPr>
        <p:txBody>
          <a:bodyPr wrap="square">
            <a:spAutoFit/>
          </a:bodyPr>
          <a:lstStyle/>
          <a:p>
            <a:pPr algn="just">
              <a:lnSpc>
                <a:spcPct val="150000"/>
              </a:lnSpc>
            </a:pPr>
            <a:r>
              <a:rPr lang="en-US" b="0" i="0" dirty="0">
                <a:effectLst/>
                <a:latin typeface="Titillium"/>
              </a:rPr>
              <a:t>The goal of risk analysis management is to identify and estimate the value of potential threats and then choose what approaches to apply to respond to identified risks. Risk analysis management consists of three coherent activities: 1) Identify threats, 2) Assess probability of their occurrence, and 3) Estimate their impact on the project in terms of working hours.</a:t>
            </a:r>
            <a:endParaRPr lang="en-IN" dirty="0"/>
          </a:p>
        </p:txBody>
      </p:sp>
    </p:spTree>
    <p:extLst>
      <p:ext uri="{BB962C8B-B14F-4D97-AF65-F5344CB8AC3E}">
        <p14:creationId xmlns:p14="http://schemas.microsoft.com/office/powerpoint/2010/main" val="11451011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27A607-76C4-E50A-21D7-0DB3C7B00E0B}"/>
              </a:ext>
            </a:extLst>
          </p:cNvPr>
          <p:cNvSpPr txBox="1"/>
          <p:nvPr/>
        </p:nvSpPr>
        <p:spPr>
          <a:xfrm>
            <a:off x="89172" y="86232"/>
            <a:ext cx="6118698" cy="400110"/>
          </a:xfrm>
          <a:prstGeom prst="rect">
            <a:avLst/>
          </a:prstGeom>
          <a:noFill/>
        </p:spPr>
        <p:txBody>
          <a:bodyPr wrap="square">
            <a:spAutoFit/>
          </a:bodyPr>
          <a:lstStyle/>
          <a:p>
            <a:r>
              <a:rPr lang="en-IN" sz="2000" b="1" i="0" u="none" strike="noStrike" baseline="0" dirty="0">
                <a:solidFill>
                  <a:srgbClr val="FF0000"/>
                </a:solidFill>
                <a:latin typeface="Calibri" panose="020F0502020204030204" pitchFamily="34" charset="0"/>
              </a:rPr>
              <a:t>Risk Management Process</a:t>
            </a:r>
            <a:endParaRPr lang="en-IN" sz="2000" b="1" dirty="0">
              <a:solidFill>
                <a:srgbClr val="FF0000"/>
              </a:solidFill>
            </a:endParaRPr>
          </a:p>
        </p:txBody>
      </p:sp>
      <p:sp>
        <p:nvSpPr>
          <p:cNvPr id="8" name="TextBox 7">
            <a:extLst>
              <a:ext uri="{FF2B5EF4-FFF2-40B4-BE49-F238E27FC236}">
                <a16:creationId xmlns:a16="http://schemas.microsoft.com/office/drawing/2014/main" id="{4671036E-F7BA-7D02-113C-32B599FCF34A}"/>
              </a:ext>
            </a:extLst>
          </p:cNvPr>
          <p:cNvSpPr txBox="1"/>
          <p:nvPr/>
        </p:nvSpPr>
        <p:spPr>
          <a:xfrm>
            <a:off x="160507" y="575356"/>
            <a:ext cx="7115782" cy="619721"/>
          </a:xfrm>
          <a:prstGeom prst="rect">
            <a:avLst/>
          </a:prstGeom>
          <a:noFill/>
        </p:spPr>
        <p:txBody>
          <a:bodyPr wrap="square">
            <a:spAutoFit/>
          </a:bodyPr>
          <a:lstStyle/>
          <a:p>
            <a:pPr>
              <a:lnSpc>
                <a:spcPct val="200000"/>
              </a:lnSpc>
            </a:pPr>
            <a:r>
              <a:rPr lang="en-IN" sz="2000" b="1" i="0" u="none" strike="noStrike" baseline="0" dirty="0">
                <a:latin typeface="Calibri" panose="020F0502020204030204" pitchFamily="34" charset="0"/>
              </a:rPr>
              <a:t>3. Risk Mitigation (</a:t>
            </a:r>
            <a:r>
              <a:rPr lang="en-US" sz="2000" b="1" i="0" dirty="0">
                <a:solidFill>
                  <a:srgbClr val="202124"/>
                </a:solidFill>
                <a:effectLst/>
                <a:latin typeface="arial" panose="020B0604020202020204" pitchFamily="34" charset="0"/>
              </a:rPr>
              <a:t>the action of reducing the severity)</a:t>
            </a:r>
            <a:r>
              <a:rPr lang="en-IN" sz="2000" b="1" i="0" u="none" strike="noStrike" baseline="0" dirty="0">
                <a:latin typeface="Calibri" panose="020F0502020204030204" pitchFamily="34" charset="0"/>
              </a:rPr>
              <a:t> :</a:t>
            </a:r>
          </a:p>
        </p:txBody>
      </p:sp>
      <p:sp>
        <p:nvSpPr>
          <p:cNvPr id="3" name="TextBox 2">
            <a:extLst>
              <a:ext uri="{FF2B5EF4-FFF2-40B4-BE49-F238E27FC236}">
                <a16:creationId xmlns:a16="http://schemas.microsoft.com/office/drawing/2014/main" id="{9DD2F4CD-FA31-38F1-C2ED-307EDB21A5E6}"/>
              </a:ext>
            </a:extLst>
          </p:cNvPr>
          <p:cNvSpPr txBox="1"/>
          <p:nvPr/>
        </p:nvSpPr>
        <p:spPr>
          <a:xfrm>
            <a:off x="346293" y="1294939"/>
            <a:ext cx="11357042" cy="5563061"/>
          </a:xfrm>
          <a:prstGeom prst="rect">
            <a:avLst/>
          </a:prstGeom>
          <a:noFill/>
        </p:spPr>
        <p:txBody>
          <a:bodyPr wrap="square">
            <a:spAutoFit/>
          </a:bodyPr>
          <a:lstStyle/>
          <a:p>
            <a:pPr algn="just" fontAlgn="base">
              <a:lnSpc>
                <a:spcPct val="200000"/>
              </a:lnSpc>
            </a:pPr>
            <a:r>
              <a:rPr lang="en-US" b="0" i="0" dirty="0">
                <a:effectLst/>
                <a:latin typeface="Nunito" pitchFamily="2" charset="0"/>
              </a:rPr>
              <a:t>Following are measures and steps to be taken for mitigating risks: </a:t>
            </a:r>
            <a:br>
              <a:rPr lang="en-US" b="0" i="0" dirty="0">
                <a:effectLst/>
                <a:latin typeface="Nunito" pitchFamily="2" charset="0"/>
              </a:rPr>
            </a:br>
            <a:r>
              <a:rPr lang="en-US" b="0" i="0" dirty="0">
                <a:effectLst/>
                <a:latin typeface="Nunito" pitchFamily="2" charset="0"/>
              </a:rPr>
              <a:t> Communicate with concerned staff to find probable risks.</a:t>
            </a:r>
          </a:p>
          <a:p>
            <a:pPr algn="just" fontAlgn="base">
              <a:lnSpc>
                <a:spcPct val="200000"/>
              </a:lnSpc>
              <a:buFont typeface="Arial" panose="020B0604020202020204" pitchFamily="34" charset="0"/>
              <a:buChar char="•"/>
            </a:pPr>
            <a:r>
              <a:rPr lang="en-US" b="0" i="0" dirty="0">
                <a:effectLst/>
                <a:latin typeface="Nunito" pitchFamily="2" charset="0"/>
              </a:rPr>
              <a:t>Identify and eliminate all those causes and issues that can create risk before the beginning of project work.</a:t>
            </a:r>
          </a:p>
          <a:p>
            <a:pPr algn="just" fontAlgn="base">
              <a:lnSpc>
                <a:spcPct val="200000"/>
              </a:lnSpc>
              <a:buFont typeface="Arial" panose="020B0604020202020204" pitchFamily="34" charset="0"/>
              <a:buChar char="•"/>
            </a:pPr>
            <a:r>
              <a:rPr lang="en-US" b="0" i="0" dirty="0">
                <a:effectLst/>
                <a:latin typeface="Nunito" pitchFamily="2" charset="0"/>
              </a:rPr>
              <a:t>Develop policy in an organization that will help to continue the project even though some staff leaves the organization.</a:t>
            </a:r>
          </a:p>
          <a:p>
            <a:pPr algn="just" fontAlgn="base">
              <a:lnSpc>
                <a:spcPct val="200000"/>
              </a:lnSpc>
              <a:buFont typeface="Arial" panose="020B0604020202020204" pitchFamily="34" charset="0"/>
              <a:buChar char="•"/>
            </a:pPr>
            <a:r>
              <a:rPr lang="en-US" b="0" i="0" dirty="0">
                <a:effectLst/>
                <a:latin typeface="Nunito" pitchFamily="2" charset="0"/>
              </a:rPr>
              <a:t>Maintain corresponding documents in a timely manner. This documentation should be strictly followed as per standards set by the organization.</a:t>
            </a:r>
          </a:p>
          <a:p>
            <a:pPr algn="just" fontAlgn="base">
              <a:lnSpc>
                <a:spcPct val="200000"/>
              </a:lnSpc>
              <a:buFont typeface="Arial" panose="020B0604020202020204" pitchFamily="34" charset="0"/>
              <a:buChar char="•"/>
            </a:pPr>
            <a:r>
              <a:rPr lang="en-US" b="0" i="0" dirty="0">
                <a:effectLst/>
                <a:latin typeface="Nunito" pitchFamily="2" charset="0"/>
              </a:rPr>
              <a:t>Conduct timely reviews in order to speed up work.</a:t>
            </a:r>
          </a:p>
          <a:p>
            <a:pPr algn="just" fontAlgn="base">
              <a:lnSpc>
                <a:spcPct val="200000"/>
              </a:lnSpc>
              <a:buFont typeface="Arial" panose="020B0604020202020204" pitchFamily="34" charset="0"/>
              <a:buChar char="•"/>
            </a:pPr>
            <a:r>
              <a:rPr lang="en-US" b="0" i="0" dirty="0">
                <a:effectLst/>
                <a:latin typeface="Nunito" pitchFamily="2" charset="0"/>
              </a:rPr>
              <a:t>For conducting every critical activity during software development, provide additional staff is required.</a:t>
            </a:r>
          </a:p>
          <a:p>
            <a:pPr algn="just" fontAlgn="base">
              <a:lnSpc>
                <a:spcPct val="200000"/>
              </a:lnSpc>
              <a:buFont typeface="Arial" panose="020B0604020202020204" pitchFamily="34" charset="0"/>
              <a:buChar char="•"/>
            </a:pPr>
            <a:endParaRPr lang="en-US" b="0" i="0" dirty="0">
              <a:effectLst/>
              <a:latin typeface="Nunito" pitchFamily="2" charset="0"/>
            </a:endParaRPr>
          </a:p>
        </p:txBody>
      </p:sp>
    </p:spTree>
    <p:extLst>
      <p:ext uri="{BB962C8B-B14F-4D97-AF65-F5344CB8AC3E}">
        <p14:creationId xmlns:p14="http://schemas.microsoft.com/office/powerpoint/2010/main" val="23912445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27A607-76C4-E50A-21D7-0DB3C7B00E0B}"/>
              </a:ext>
            </a:extLst>
          </p:cNvPr>
          <p:cNvSpPr txBox="1"/>
          <p:nvPr/>
        </p:nvSpPr>
        <p:spPr>
          <a:xfrm>
            <a:off x="89172" y="86232"/>
            <a:ext cx="6118698" cy="400110"/>
          </a:xfrm>
          <a:prstGeom prst="rect">
            <a:avLst/>
          </a:prstGeom>
          <a:noFill/>
        </p:spPr>
        <p:txBody>
          <a:bodyPr wrap="square">
            <a:spAutoFit/>
          </a:bodyPr>
          <a:lstStyle/>
          <a:p>
            <a:r>
              <a:rPr lang="en-IN" sz="2000" b="1" i="0" u="none" strike="noStrike" baseline="0" dirty="0">
                <a:solidFill>
                  <a:srgbClr val="FF0000"/>
                </a:solidFill>
                <a:latin typeface="Calibri" panose="020F0502020204030204" pitchFamily="34" charset="0"/>
              </a:rPr>
              <a:t>Risk Management Process</a:t>
            </a:r>
            <a:endParaRPr lang="en-IN" sz="2000" b="1" dirty="0">
              <a:solidFill>
                <a:srgbClr val="FF0000"/>
              </a:solidFill>
            </a:endParaRPr>
          </a:p>
        </p:txBody>
      </p:sp>
      <p:sp>
        <p:nvSpPr>
          <p:cNvPr id="8" name="TextBox 7">
            <a:extLst>
              <a:ext uri="{FF2B5EF4-FFF2-40B4-BE49-F238E27FC236}">
                <a16:creationId xmlns:a16="http://schemas.microsoft.com/office/drawing/2014/main" id="{4671036E-F7BA-7D02-113C-32B599FCF34A}"/>
              </a:ext>
            </a:extLst>
          </p:cNvPr>
          <p:cNvSpPr txBox="1"/>
          <p:nvPr/>
        </p:nvSpPr>
        <p:spPr>
          <a:xfrm>
            <a:off x="160507" y="575356"/>
            <a:ext cx="7115782" cy="619721"/>
          </a:xfrm>
          <a:prstGeom prst="rect">
            <a:avLst/>
          </a:prstGeom>
          <a:noFill/>
        </p:spPr>
        <p:txBody>
          <a:bodyPr wrap="square">
            <a:spAutoFit/>
          </a:bodyPr>
          <a:lstStyle/>
          <a:p>
            <a:pPr>
              <a:lnSpc>
                <a:spcPct val="200000"/>
              </a:lnSpc>
            </a:pPr>
            <a:r>
              <a:rPr lang="en-IN" sz="2000" b="1" i="0" u="none" strike="noStrike" baseline="0" dirty="0">
                <a:latin typeface="Calibri" panose="020F0502020204030204" pitchFamily="34" charset="0"/>
              </a:rPr>
              <a:t>4. RMMM (</a:t>
            </a:r>
            <a:r>
              <a:rPr lang="en-US" sz="2000" b="1" dirty="0">
                <a:solidFill>
                  <a:srgbClr val="1A0DAB"/>
                </a:solidFill>
                <a:latin typeface="arial" panose="020B0604020202020204" pitchFamily="34" charset="0"/>
              </a:rPr>
              <a:t>Risk Mitigation, Monitoring, and Management)</a:t>
            </a:r>
            <a:r>
              <a:rPr lang="en-IN" sz="2000" b="1" dirty="0">
                <a:solidFill>
                  <a:srgbClr val="1A0DAB"/>
                </a:solidFill>
                <a:latin typeface="Calibri" panose="020F0502020204030204" pitchFamily="34" charset="0"/>
              </a:rPr>
              <a:t> :</a:t>
            </a:r>
            <a:endParaRPr lang="en-US" sz="2000" b="1" dirty="0">
              <a:solidFill>
                <a:srgbClr val="1A0DAB"/>
              </a:solidFill>
              <a:latin typeface="arial" panose="020B0604020202020204" pitchFamily="34" charset="0"/>
            </a:endParaRPr>
          </a:p>
        </p:txBody>
      </p:sp>
      <p:sp>
        <p:nvSpPr>
          <p:cNvPr id="3" name="TextBox 2">
            <a:extLst>
              <a:ext uri="{FF2B5EF4-FFF2-40B4-BE49-F238E27FC236}">
                <a16:creationId xmlns:a16="http://schemas.microsoft.com/office/drawing/2014/main" id="{970C9C2F-69C9-5FAD-746B-45DE64DAB7D3}"/>
              </a:ext>
            </a:extLst>
          </p:cNvPr>
          <p:cNvSpPr txBox="1"/>
          <p:nvPr/>
        </p:nvSpPr>
        <p:spPr>
          <a:xfrm>
            <a:off x="530157" y="1355574"/>
            <a:ext cx="10977664" cy="2966197"/>
          </a:xfrm>
          <a:prstGeom prst="rect">
            <a:avLst/>
          </a:prstGeom>
          <a:noFill/>
        </p:spPr>
        <p:txBody>
          <a:bodyPr wrap="square">
            <a:spAutoFit/>
          </a:bodyPr>
          <a:lstStyle/>
          <a:p>
            <a:pPr algn="l" fontAlgn="base">
              <a:lnSpc>
                <a:spcPct val="150000"/>
              </a:lnSpc>
            </a:pPr>
            <a:r>
              <a:rPr lang="en-US" b="1" i="0" dirty="0">
                <a:solidFill>
                  <a:srgbClr val="273239"/>
                </a:solidFill>
                <a:effectLst/>
                <a:latin typeface="Nunito" pitchFamily="2" charset="0"/>
              </a:rPr>
              <a:t>Risk Mitigation :</a:t>
            </a:r>
            <a:r>
              <a:rPr lang="en-US" b="0" i="0" dirty="0">
                <a:solidFill>
                  <a:srgbClr val="273239"/>
                </a:solidFill>
                <a:effectLst/>
                <a:latin typeface="Nunito" pitchFamily="2" charset="0"/>
              </a:rPr>
              <a:t> </a:t>
            </a:r>
            <a:br>
              <a:rPr lang="en-US" b="0" i="0" dirty="0">
                <a:solidFill>
                  <a:srgbClr val="273239"/>
                </a:solidFill>
                <a:effectLst/>
                <a:latin typeface="Nunito" pitchFamily="2" charset="0"/>
              </a:rPr>
            </a:br>
            <a:r>
              <a:rPr lang="en-US" b="0" i="0" dirty="0">
                <a:solidFill>
                  <a:srgbClr val="273239"/>
                </a:solidFill>
                <a:effectLst/>
                <a:latin typeface="Nunito" pitchFamily="2" charset="0"/>
              </a:rPr>
              <a:t>It is an activity used to avoid problems (Risk Avoidance). </a:t>
            </a:r>
            <a:br>
              <a:rPr lang="en-US" b="0" i="0" dirty="0">
                <a:solidFill>
                  <a:srgbClr val="273239"/>
                </a:solidFill>
                <a:effectLst/>
                <a:latin typeface="Nunito" pitchFamily="2" charset="0"/>
              </a:rPr>
            </a:br>
            <a:r>
              <a:rPr lang="en-US" b="0" i="0" dirty="0">
                <a:solidFill>
                  <a:srgbClr val="273239"/>
                </a:solidFill>
                <a:effectLst/>
                <a:latin typeface="Nunito" pitchFamily="2" charset="0"/>
              </a:rPr>
              <a:t>Steps for mitigating the risks as follows. </a:t>
            </a:r>
          </a:p>
          <a:p>
            <a:pPr algn="l" fontAlgn="base">
              <a:lnSpc>
                <a:spcPct val="150000"/>
              </a:lnSpc>
              <a:buFont typeface="+mj-lt"/>
              <a:buAutoNum type="arabicPeriod"/>
            </a:pPr>
            <a:r>
              <a:rPr lang="en-US" b="0" i="0" dirty="0">
                <a:solidFill>
                  <a:srgbClr val="273239"/>
                </a:solidFill>
                <a:effectLst/>
                <a:latin typeface="Nunito" pitchFamily="2" charset="0"/>
              </a:rPr>
              <a:t>Finding out the risk. </a:t>
            </a:r>
          </a:p>
          <a:p>
            <a:pPr algn="l" fontAlgn="base">
              <a:lnSpc>
                <a:spcPct val="150000"/>
              </a:lnSpc>
              <a:buFont typeface="+mj-lt"/>
              <a:buAutoNum type="arabicPeriod"/>
            </a:pPr>
            <a:r>
              <a:rPr lang="en-US" b="0" i="0" dirty="0">
                <a:solidFill>
                  <a:srgbClr val="273239"/>
                </a:solidFill>
                <a:effectLst/>
                <a:latin typeface="Nunito" pitchFamily="2" charset="0"/>
              </a:rPr>
              <a:t>Removing causes that are the reason for risk creation. </a:t>
            </a:r>
          </a:p>
          <a:p>
            <a:pPr algn="l" fontAlgn="base">
              <a:lnSpc>
                <a:spcPct val="150000"/>
              </a:lnSpc>
              <a:buFont typeface="+mj-lt"/>
              <a:buAutoNum type="arabicPeriod"/>
            </a:pPr>
            <a:r>
              <a:rPr lang="en-US" b="0" i="0" dirty="0">
                <a:solidFill>
                  <a:srgbClr val="273239"/>
                </a:solidFill>
                <a:effectLst/>
                <a:latin typeface="Nunito" pitchFamily="2" charset="0"/>
              </a:rPr>
              <a:t>Controlling the corresponding documents from time to time. </a:t>
            </a:r>
          </a:p>
          <a:p>
            <a:pPr algn="l" fontAlgn="base">
              <a:lnSpc>
                <a:spcPct val="150000"/>
              </a:lnSpc>
              <a:buFont typeface="+mj-lt"/>
              <a:buAutoNum type="arabicPeriod"/>
            </a:pPr>
            <a:r>
              <a:rPr lang="en-US" b="0" i="0" dirty="0">
                <a:solidFill>
                  <a:srgbClr val="273239"/>
                </a:solidFill>
                <a:effectLst/>
                <a:latin typeface="Nunito" pitchFamily="2" charset="0"/>
              </a:rPr>
              <a:t>Conducting timely reviews to speed up the work.</a:t>
            </a:r>
          </a:p>
        </p:txBody>
      </p:sp>
      <p:sp>
        <p:nvSpPr>
          <p:cNvPr id="6" name="TextBox 5">
            <a:extLst>
              <a:ext uri="{FF2B5EF4-FFF2-40B4-BE49-F238E27FC236}">
                <a16:creationId xmlns:a16="http://schemas.microsoft.com/office/drawing/2014/main" id="{A51ADD5F-B236-8CE7-13E4-F32C28C679FD}"/>
              </a:ext>
            </a:extLst>
          </p:cNvPr>
          <p:cNvSpPr txBox="1"/>
          <p:nvPr/>
        </p:nvSpPr>
        <p:spPr>
          <a:xfrm>
            <a:off x="530157" y="4435916"/>
            <a:ext cx="10644794" cy="2133020"/>
          </a:xfrm>
          <a:prstGeom prst="rect">
            <a:avLst/>
          </a:prstGeom>
          <a:noFill/>
        </p:spPr>
        <p:txBody>
          <a:bodyPr wrap="square">
            <a:spAutoFit/>
          </a:bodyPr>
          <a:lstStyle/>
          <a:p>
            <a:pPr>
              <a:lnSpc>
                <a:spcPct val="150000"/>
              </a:lnSpc>
            </a:pPr>
            <a:r>
              <a:rPr lang="en-IN" b="1" i="0" dirty="0">
                <a:solidFill>
                  <a:srgbClr val="273239"/>
                </a:solidFill>
                <a:effectLst/>
                <a:latin typeface="Nunito" pitchFamily="2" charset="0"/>
              </a:rPr>
              <a:t>Risk Monitoring :</a:t>
            </a:r>
          </a:p>
          <a:p>
            <a:pPr algn="l" fontAlgn="base">
              <a:lnSpc>
                <a:spcPct val="150000"/>
              </a:lnSpc>
              <a:buFont typeface="+mj-lt"/>
              <a:buAutoNum type="arabicPeriod"/>
            </a:pPr>
            <a:r>
              <a:rPr lang="en-US" b="0" i="0" dirty="0">
                <a:solidFill>
                  <a:srgbClr val="273239"/>
                </a:solidFill>
                <a:effectLst/>
                <a:latin typeface="Nunito" pitchFamily="2" charset="0"/>
              </a:rPr>
              <a:t>To check if predicted risks occur or not. </a:t>
            </a:r>
          </a:p>
          <a:p>
            <a:pPr algn="l" fontAlgn="base">
              <a:lnSpc>
                <a:spcPct val="150000"/>
              </a:lnSpc>
              <a:buFont typeface="+mj-lt"/>
              <a:buAutoNum type="arabicPeriod"/>
            </a:pPr>
            <a:r>
              <a:rPr lang="en-US" b="0" i="0" dirty="0">
                <a:solidFill>
                  <a:srgbClr val="273239"/>
                </a:solidFill>
                <a:effectLst/>
                <a:latin typeface="Nunito" pitchFamily="2" charset="0"/>
              </a:rPr>
              <a:t>To ensure proper application of risk aversion steps defined for risk. </a:t>
            </a:r>
          </a:p>
          <a:p>
            <a:pPr algn="l" fontAlgn="base">
              <a:lnSpc>
                <a:spcPct val="150000"/>
              </a:lnSpc>
              <a:buFont typeface="+mj-lt"/>
              <a:buAutoNum type="arabicPeriod"/>
            </a:pPr>
            <a:r>
              <a:rPr lang="en-US" b="0" i="0" dirty="0">
                <a:solidFill>
                  <a:srgbClr val="273239"/>
                </a:solidFill>
                <a:effectLst/>
                <a:latin typeface="Nunito" pitchFamily="2" charset="0"/>
              </a:rPr>
              <a:t>To collect data for future risk analysis. </a:t>
            </a:r>
          </a:p>
          <a:p>
            <a:pPr algn="l" fontAlgn="base">
              <a:lnSpc>
                <a:spcPct val="150000"/>
              </a:lnSpc>
              <a:buFont typeface="+mj-lt"/>
              <a:buAutoNum type="arabicPeriod"/>
            </a:pPr>
            <a:r>
              <a:rPr lang="en-US" b="0" i="0" dirty="0">
                <a:solidFill>
                  <a:srgbClr val="273239"/>
                </a:solidFill>
                <a:effectLst/>
                <a:latin typeface="Nunito" pitchFamily="2" charset="0"/>
              </a:rPr>
              <a:t>To allocate what problems are caused by which risks throughout the project.</a:t>
            </a:r>
            <a:r>
              <a:rPr lang="en-IN" b="0" i="0" dirty="0">
                <a:solidFill>
                  <a:srgbClr val="273239"/>
                </a:solidFill>
                <a:effectLst/>
                <a:latin typeface="Nunito" pitchFamily="2" charset="0"/>
              </a:rPr>
              <a:t> </a:t>
            </a:r>
            <a:endParaRPr lang="en-IN" dirty="0"/>
          </a:p>
        </p:txBody>
      </p:sp>
    </p:spTree>
    <p:extLst>
      <p:ext uri="{BB962C8B-B14F-4D97-AF65-F5344CB8AC3E}">
        <p14:creationId xmlns:p14="http://schemas.microsoft.com/office/powerpoint/2010/main" val="23382162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27A607-76C4-E50A-21D7-0DB3C7B00E0B}"/>
              </a:ext>
            </a:extLst>
          </p:cNvPr>
          <p:cNvSpPr txBox="1"/>
          <p:nvPr/>
        </p:nvSpPr>
        <p:spPr>
          <a:xfrm>
            <a:off x="89172" y="86232"/>
            <a:ext cx="6118698" cy="400110"/>
          </a:xfrm>
          <a:prstGeom prst="rect">
            <a:avLst/>
          </a:prstGeom>
          <a:noFill/>
        </p:spPr>
        <p:txBody>
          <a:bodyPr wrap="square">
            <a:spAutoFit/>
          </a:bodyPr>
          <a:lstStyle/>
          <a:p>
            <a:r>
              <a:rPr lang="en-IN" sz="2000" b="1" i="0" u="none" strike="noStrike" baseline="0" dirty="0">
                <a:solidFill>
                  <a:srgbClr val="FF0000"/>
                </a:solidFill>
                <a:latin typeface="Calibri" panose="020F0502020204030204" pitchFamily="34" charset="0"/>
              </a:rPr>
              <a:t>Risk Management Process</a:t>
            </a:r>
            <a:endParaRPr lang="en-IN" sz="2000" b="1" dirty="0">
              <a:solidFill>
                <a:srgbClr val="FF0000"/>
              </a:solidFill>
            </a:endParaRPr>
          </a:p>
        </p:txBody>
      </p:sp>
      <p:sp>
        <p:nvSpPr>
          <p:cNvPr id="8" name="TextBox 7">
            <a:extLst>
              <a:ext uri="{FF2B5EF4-FFF2-40B4-BE49-F238E27FC236}">
                <a16:creationId xmlns:a16="http://schemas.microsoft.com/office/drawing/2014/main" id="{4671036E-F7BA-7D02-113C-32B599FCF34A}"/>
              </a:ext>
            </a:extLst>
          </p:cNvPr>
          <p:cNvSpPr txBox="1"/>
          <p:nvPr/>
        </p:nvSpPr>
        <p:spPr>
          <a:xfrm>
            <a:off x="160507" y="575356"/>
            <a:ext cx="7115782" cy="619721"/>
          </a:xfrm>
          <a:prstGeom prst="rect">
            <a:avLst/>
          </a:prstGeom>
          <a:noFill/>
        </p:spPr>
        <p:txBody>
          <a:bodyPr wrap="square">
            <a:spAutoFit/>
          </a:bodyPr>
          <a:lstStyle/>
          <a:p>
            <a:pPr>
              <a:lnSpc>
                <a:spcPct val="200000"/>
              </a:lnSpc>
            </a:pPr>
            <a:r>
              <a:rPr lang="en-IN" sz="2000" b="1" i="0" u="none" strike="noStrike" baseline="0" dirty="0">
                <a:latin typeface="Calibri" panose="020F0502020204030204" pitchFamily="34" charset="0"/>
              </a:rPr>
              <a:t>4. RMMM (</a:t>
            </a:r>
            <a:r>
              <a:rPr lang="en-US" sz="2000" b="1" dirty="0">
                <a:solidFill>
                  <a:srgbClr val="1A0DAB"/>
                </a:solidFill>
                <a:latin typeface="arial" panose="020B0604020202020204" pitchFamily="34" charset="0"/>
              </a:rPr>
              <a:t>Risk Mitigation, Monitoring, and Management)</a:t>
            </a:r>
            <a:r>
              <a:rPr lang="en-IN" sz="2000" b="1" dirty="0">
                <a:solidFill>
                  <a:srgbClr val="1A0DAB"/>
                </a:solidFill>
                <a:latin typeface="Calibri" panose="020F0502020204030204" pitchFamily="34" charset="0"/>
              </a:rPr>
              <a:t> :</a:t>
            </a:r>
            <a:endParaRPr lang="en-US" sz="2000" b="1" dirty="0">
              <a:solidFill>
                <a:srgbClr val="1A0DAB"/>
              </a:solidFill>
              <a:latin typeface="arial" panose="020B0604020202020204" pitchFamily="34" charset="0"/>
            </a:endParaRPr>
          </a:p>
        </p:txBody>
      </p:sp>
      <p:sp>
        <p:nvSpPr>
          <p:cNvPr id="5" name="TextBox 4">
            <a:extLst>
              <a:ext uri="{FF2B5EF4-FFF2-40B4-BE49-F238E27FC236}">
                <a16:creationId xmlns:a16="http://schemas.microsoft.com/office/drawing/2014/main" id="{6092FA14-13AD-C76C-688D-59914A6E2D42}"/>
              </a:ext>
            </a:extLst>
          </p:cNvPr>
          <p:cNvSpPr txBox="1"/>
          <p:nvPr/>
        </p:nvSpPr>
        <p:spPr>
          <a:xfrm>
            <a:off x="403697" y="1484825"/>
            <a:ext cx="10900145" cy="3898888"/>
          </a:xfrm>
          <a:prstGeom prst="rect">
            <a:avLst/>
          </a:prstGeom>
          <a:noFill/>
        </p:spPr>
        <p:txBody>
          <a:bodyPr wrap="square">
            <a:spAutoFit/>
          </a:bodyPr>
          <a:lstStyle/>
          <a:p>
            <a:pPr algn="just">
              <a:lnSpc>
                <a:spcPct val="200000"/>
              </a:lnSpc>
            </a:pPr>
            <a:r>
              <a:rPr lang="en-US" b="1" i="0" dirty="0">
                <a:solidFill>
                  <a:srgbClr val="273239"/>
                </a:solidFill>
                <a:effectLst/>
                <a:latin typeface="Nunito" pitchFamily="2" charset="0"/>
              </a:rPr>
              <a:t>Risk Management and planning :</a:t>
            </a:r>
            <a:r>
              <a:rPr lang="en-US" b="0" i="0" dirty="0">
                <a:solidFill>
                  <a:srgbClr val="273239"/>
                </a:solidFill>
                <a:effectLst/>
                <a:latin typeface="Nunito" pitchFamily="2" charset="0"/>
              </a:rPr>
              <a:t> </a:t>
            </a:r>
            <a:br>
              <a:rPr lang="en-US" dirty="0"/>
            </a:br>
            <a:r>
              <a:rPr lang="en-US" b="0" i="0" dirty="0">
                <a:solidFill>
                  <a:srgbClr val="273239"/>
                </a:solidFill>
                <a:effectLst/>
                <a:latin typeface="Nunito" pitchFamily="2" charset="0"/>
              </a:rPr>
              <a:t>It assumes that the mitigation activity failed and the risk is a reality. This task is done by Project manager when risk becomes reality and causes severe problems. If the project manager effectively uses project mitigation to remove risks successfully then it is easier to manage the risks. This shows that the response that will be taken for each risk by a manager. </a:t>
            </a:r>
            <a:r>
              <a:rPr lang="en-US" b="1" i="0" dirty="0">
                <a:solidFill>
                  <a:srgbClr val="273239"/>
                </a:solidFill>
                <a:effectLst/>
                <a:latin typeface="Nunito" pitchFamily="2" charset="0"/>
              </a:rPr>
              <a:t>The main objective of the risk management plan is the risk register. This risk register describes and focuses on the predicted threats to a software project.</a:t>
            </a:r>
            <a:endParaRPr lang="en-IN" b="1" dirty="0"/>
          </a:p>
        </p:txBody>
      </p:sp>
    </p:spTree>
    <p:extLst>
      <p:ext uri="{BB962C8B-B14F-4D97-AF65-F5344CB8AC3E}">
        <p14:creationId xmlns:p14="http://schemas.microsoft.com/office/powerpoint/2010/main" val="2677143287"/>
      </p:ext>
    </p:extLst>
  </p:cSld>
  <p:clrMapOvr>
    <a:masterClrMapping/>
  </p:clrMapOvr>
</p:sld>
</file>

<file path=ppt/theme/theme1.xml><?xml version="1.0" encoding="utf-8"?>
<a:theme xmlns:a="http://schemas.openxmlformats.org/drawingml/2006/main" name="Cover and End Slide Master">
  <a:themeElements>
    <a:clrScheme name="Custom 12">
      <a:dk1>
        <a:sysClr val="windowText" lastClr="000000"/>
      </a:dk1>
      <a:lt1>
        <a:sysClr val="window" lastClr="FFFFFF"/>
      </a:lt1>
      <a:dk2>
        <a:srgbClr val="44546A"/>
      </a:dk2>
      <a:lt2>
        <a:srgbClr val="E7E6E6"/>
      </a:lt2>
      <a:accent1>
        <a:srgbClr val="EC5D62"/>
      </a:accent1>
      <a:accent2>
        <a:srgbClr val="EDBE44"/>
      </a:accent2>
      <a:accent3>
        <a:srgbClr val="82B135"/>
      </a:accent3>
      <a:accent4>
        <a:srgbClr val="2781AB"/>
      </a:accent4>
      <a:accent5>
        <a:srgbClr val="634E85"/>
      </a:accent5>
      <a:accent6>
        <a:srgbClr val="4C5053"/>
      </a:accent6>
      <a:hlink>
        <a:srgbClr val="FFFFFF"/>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Custom 12">
      <a:dk1>
        <a:sysClr val="windowText" lastClr="000000"/>
      </a:dk1>
      <a:lt1>
        <a:sysClr val="window" lastClr="FFFFFF"/>
      </a:lt1>
      <a:dk2>
        <a:srgbClr val="44546A"/>
      </a:dk2>
      <a:lt2>
        <a:srgbClr val="E7E6E6"/>
      </a:lt2>
      <a:accent1>
        <a:srgbClr val="EC5D62"/>
      </a:accent1>
      <a:accent2>
        <a:srgbClr val="EDBE44"/>
      </a:accent2>
      <a:accent3>
        <a:srgbClr val="82B135"/>
      </a:accent3>
      <a:accent4>
        <a:srgbClr val="2781AB"/>
      </a:accent4>
      <a:accent5>
        <a:srgbClr val="634E85"/>
      </a:accent5>
      <a:accent6>
        <a:srgbClr val="4C5053"/>
      </a:accent6>
      <a:hlink>
        <a:srgbClr val="FFFFFF"/>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11113</TotalTime>
  <Words>5808</Words>
  <Application>Microsoft Office PowerPoint</Application>
  <PresentationFormat>Widescreen</PresentationFormat>
  <Paragraphs>437</Paragraphs>
  <Slides>62</Slides>
  <Notes>0</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62</vt:i4>
      </vt:variant>
    </vt:vector>
  </HeadingPairs>
  <TitlesOfParts>
    <vt:vector size="78" baseType="lpstr">
      <vt:lpstr>aktiv-grotesk</vt:lpstr>
      <vt:lpstr>Arial</vt:lpstr>
      <vt:lpstr>Arial</vt:lpstr>
      <vt:lpstr>Calibri</vt:lpstr>
      <vt:lpstr>Calibri,Bold</vt:lpstr>
      <vt:lpstr>Heebo</vt:lpstr>
      <vt:lpstr>Mulish</vt:lpstr>
      <vt:lpstr>Nunito</vt:lpstr>
      <vt:lpstr>Roboto</vt:lpstr>
      <vt:lpstr>Source Sans Pro</vt:lpstr>
      <vt:lpstr>Titillium</vt:lpstr>
      <vt:lpstr>urw-din</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IIMS STUDENT</cp:lastModifiedBy>
  <cp:revision>127</cp:revision>
  <dcterms:created xsi:type="dcterms:W3CDTF">2020-01-20T05:08:25Z</dcterms:created>
  <dcterms:modified xsi:type="dcterms:W3CDTF">2024-04-10T09:22:47Z</dcterms:modified>
</cp:coreProperties>
</file>