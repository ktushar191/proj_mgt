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Lst>
  <p:notesMasterIdLst>
    <p:notesMasterId r:id="rId16"/>
  </p:notesMasterIdLst>
  <p:sldIdLst>
    <p:sldId id="354" r:id="rId4"/>
    <p:sldId id="357" r:id="rId5"/>
    <p:sldId id="378" r:id="rId6"/>
    <p:sldId id="379" r:id="rId7"/>
    <p:sldId id="380" r:id="rId8"/>
    <p:sldId id="381" r:id="rId9"/>
    <p:sldId id="382" r:id="rId10"/>
    <p:sldId id="383" r:id="rId11"/>
    <p:sldId id="385" r:id="rId12"/>
    <p:sldId id="384" r:id="rId13"/>
    <p:sldId id="377" r:id="rId14"/>
    <p:sldId id="38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9" d="100"/>
          <a:sy n="79" d="100"/>
        </p:scale>
        <p:origin x="773" y="8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4/4/2024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그림 개체 틀 2">
            <a:extLst>
              <a:ext uri="{FF2B5EF4-FFF2-40B4-BE49-F238E27FC236}">
                <a16:creationId xmlns:a16="http://schemas.microsoft.com/office/drawing/2014/main" id="{7A93F2A8-E9B4-4FBC-B414-DC9803D923D9}"/>
              </a:ext>
            </a:extLst>
          </p:cNvPr>
          <p:cNvSpPr>
            <a:spLocks noGrp="1"/>
          </p:cNvSpPr>
          <p:nvPr>
            <p:ph type="pic" sz="quarter" idx="11" hasCustomPrompt="1"/>
          </p:nvPr>
        </p:nvSpPr>
        <p:spPr>
          <a:xfrm>
            <a:off x="995168" y="2560523"/>
            <a:ext cx="2160000" cy="2160000"/>
          </a:xfrm>
          <a:prstGeom prst="ellipse">
            <a:avLst/>
          </a:prstGeom>
          <a:solidFill>
            <a:schemeClr val="bg1">
              <a:lumMod val="95000"/>
            </a:schemeClr>
          </a:solidFill>
          <a:ln w="222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5" name="그림 개체 틀 2">
            <a:extLst>
              <a:ext uri="{FF2B5EF4-FFF2-40B4-BE49-F238E27FC236}">
                <a16:creationId xmlns:a16="http://schemas.microsoft.com/office/drawing/2014/main" id="{EC3D2488-3F58-407E-9BB0-8EE204A58A8A}"/>
              </a:ext>
            </a:extLst>
          </p:cNvPr>
          <p:cNvSpPr>
            <a:spLocks noGrp="1"/>
          </p:cNvSpPr>
          <p:nvPr>
            <p:ph type="pic" sz="quarter" idx="57" hasCustomPrompt="1"/>
          </p:nvPr>
        </p:nvSpPr>
        <p:spPr>
          <a:xfrm>
            <a:off x="4495312" y="2560523"/>
            <a:ext cx="2160000" cy="2160000"/>
          </a:xfrm>
          <a:prstGeom prst="ellipse">
            <a:avLst/>
          </a:prstGeom>
          <a:solidFill>
            <a:schemeClr val="bg1">
              <a:lumMod val="95000"/>
            </a:schemeClr>
          </a:solidFill>
          <a:ln w="222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6" name="그림 개체 틀 2">
            <a:extLst>
              <a:ext uri="{FF2B5EF4-FFF2-40B4-BE49-F238E27FC236}">
                <a16:creationId xmlns:a16="http://schemas.microsoft.com/office/drawing/2014/main" id="{86B69C6D-9647-4A3E-9A66-A73EE3F4286F}"/>
              </a:ext>
            </a:extLst>
          </p:cNvPr>
          <p:cNvSpPr>
            <a:spLocks noGrp="1"/>
          </p:cNvSpPr>
          <p:nvPr>
            <p:ph type="pic" sz="quarter" idx="60" hasCustomPrompt="1"/>
          </p:nvPr>
        </p:nvSpPr>
        <p:spPr>
          <a:xfrm>
            <a:off x="7995455" y="2560523"/>
            <a:ext cx="2160000" cy="2160000"/>
          </a:xfrm>
          <a:prstGeom prst="ellipse">
            <a:avLst/>
          </a:prstGeom>
          <a:solidFill>
            <a:schemeClr val="bg1">
              <a:lumMod val="95000"/>
            </a:schemeClr>
          </a:solidFill>
          <a:ln w="222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E117BCC-3032-4F8C-AA88-4892223066D6}"/>
              </a:ext>
            </a:extLst>
          </p:cNvPr>
          <p:cNvGrpSpPr/>
          <p:nvPr userDrawn="1"/>
        </p:nvGrpSpPr>
        <p:grpSpPr>
          <a:xfrm>
            <a:off x="9613650" y="2003247"/>
            <a:ext cx="2578350" cy="4052320"/>
            <a:chOff x="9508727" y="2147107"/>
            <a:chExt cx="2683273" cy="4217224"/>
          </a:xfrm>
        </p:grpSpPr>
        <p:sp>
          <p:nvSpPr>
            <p:cNvPr id="3" name="Freeform: Shape 2">
              <a:extLst>
                <a:ext uri="{FF2B5EF4-FFF2-40B4-BE49-F238E27FC236}">
                  <a16:creationId xmlns:a16="http://schemas.microsoft.com/office/drawing/2014/main" id="{D9E0B0B1-4B11-4180-BADE-DB071FCDEC5D}"/>
                </a:ext>
              </a:extLst>
            </p:cNvPr>
            <p:cNvSpPr/>
            <p:nvPr/>
          </p:nvSpPr>
          <p:spPr>
            <a:xfrm>
              <a:off x="11381596" y="5780548"/>
              <a:ext cx="810404" cy="583783"/>
            </a:xfrm>
            <a:custGeom>
              <a:avLst/>
              <a:gdLst>
                <a:gd name="connsiteX0" fmla="*/ 267669 w 810404"/>
                <a:gd name="connsiteY0" fmla="*/ 0 h 583783"/>
                <a:gd name="connsiteX1" fmla="*/ 769357 w 810404"/>
                <a:gd name="connsiteY1" fmla="*/ 0 h 583783"/>
                <a:gd name="connsiteX2" fmla="*/ 805844 w 810404"/>
                <a:gd name="connsiteY2" fmla="*/ 0 h 583783"/>
                <a:gd name="connsiteX3" fmla="*/ 810404 w 810404"/>
                <a:gd name="connsiteY3" fmla="*/ 0 h 583783"/>
                <a:gd name="connsiteX4" fmla="*/ 810404 w 810404"/>
                <a:gd name="connsiteY4" fmla="*/ 583783 h 583783"/>
                <a:gd name="connsiteX5" fmla="*/ 805844 w 810404"/>
                <a:gd name="connsiteY5" fmla="*/ 583783 h 583783"/>
                <a:gd name="connsiteX6" fmla="*/ 769357 w 810404"/>
                <a:gd name="connsiteY6" fmla="*/ 583783 h 583783"/>
                <a:gd name="connsiteX7" fmla="*/ 170371 w 810404"/>
                <a:gd name="connsiteY7" fmla="*/ 583783 h 583783"/>
                <a:gd name="connsiteX8" fmla="*/ 152128 w 810404"/>
                <a:gd name="connsiteY8" fmla="*/ 367906 h 583783"/>
                <a:gd name="connsiteX9" fmla="*/ 267669 w 810404"/>
                <a:gd name="connsiteY9" fmla="*/ 0 h 583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0404" h="583783">
                  <a:moveTo>
                    <a:pt x="267669" y="0"/>
                  </a:moveTo>
                  <a:lnTo>
                    <a:pt x="769357" y="0"/>
                  </a:lnTo>
                  <a:lnTo>
                    <a:pt x="805844" y="0"/>
                  </a:lnTo>
                  <a:lnTo>
                    <a:pt x="810404" y="0"/>
                  </a:lnTo>
                  <a:lnTo>
                    <a:pt x="810404" y="583783"/>
                  </a:lnTo>
                  <a:lnTo>
                    <a:pt x="805844" y="583783"/>
                  </a:lnTo>
                  <a:cubicBezTo>
                    <a:pt x="805844" y="583783"/>
                    <a:pt x="793682" y="583783"/>
                    <a:pt x="769357" y="583783"/>
                  </a:cubicBezTo>
                  <a:cubicBezTo>
                    <a:pt x="675101" y="583783"/>
                    <a:pt x="413614" y="583783"/>
                    <a:pt x="170371" y="583783"/>
                  </a:cubicBezTo>
                  <a:cubicBezTo>
                    <a:pt x="-133682" y="583783"/>
                    <a:pt x="39629" y="483446"/>
                    <a:pt x="152128" y="367906"/>
                  </a:cubicBezTo>
                  <a:cubicBezTo>
                    <a:pt x="264629" y="249324"/>
                    <a:pt x="267669" y="0"/>
                    <a:pt x="267669" y="0"/>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wrap="square" rtlCol="0" anchor="ctr">
              <a:noAutofit/>
            </a:bodyPr>
            <a:lstStyle/>
            <a:p>
              <a:endParaRPr lang="en-US"/>
            </a:p>
          </p:txBody>
        </p:sp>
        <p:sp>
          <p:nvSpPr>
            <p:cNvPr id="4" name="Freeform: Shape 3">
              <a:extLst>
                <a:ext uri="{FF2B5EF4-FFF2-40B4-BE49-F238E27FC236}">
                  <a16:creationId xmlns:a16="http://schemas.microsoft.com/office/drawing/2014/main" id="{1EDE72EE-879B-4FEA-A6CD-BCF46F39E4C4}"/>
                </a:ext>
              </a:extLst>
            </p:cNvPr>
            <p:cNvSpPr/>
            <p:nvPr/>
          </p:nvSpPr>
          <p:spPr>
            <a:xfrm>
              <a:off x="9508727" y="2147107"/>
              <a:ext cx="2683273" cy="3642562"/>
            </a:xfrm>
            <a:custGeom>
              <a:avLst/>
              <a:gdLst>
                <a:gd name="connsiteX0" fmla="*/ 170270 w 2683273"/>
                <a:gd name="connsiteY0" fmla="*/ 0 h 3642562"/>
                <a:gd name="connsiteX1" fmla="*/ 2645266 w 2683273"/>
                <a:gd name="connsiteY1" fmla="*/ 0 h 3642562"/>
                <a:gd name="connsiteX2" fmla="*/ 2683273 w 2683273"/>
                <a:gd name="connsiteY2" fmla="*/ 0 h 3642562"/>
                <a:gd name="connsiteX3" fmla="*/ 2683273 w 2683273"/>
                <a:gd name="connsiteY3" fmla="*/ 3642562 h 3642562"/>
                <a:gd name="connsiteX4" fmla="*/ 155068 w 2683273"/>
                <a:gd name="connsiteY4" fmla="*/ 3642562 h 3642562"/>
                <a:gd name="connsiteX5" fmla="*/ 0 w 2683273"/>
                <a:gd name="connsiteY5" fmla="*/ 3469251 h 3642562"/>
                <a:gd name="connsiteX6" fmla="*/ 0 w 2683273"/>
                <a:gd name="connsiteY6" fmla="*/ 170270 h 3642562"/>
                <a:gd name="connsiteX7" fmla="*/ 170270 w 2683273"/>
                <a:gd name="connsiteY7" fmla="*/ 0 h 364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83273" h="3642562">
                  <a:moveTo>
                    <a:pt x="170270" y="0"/>
                  </a:moveTo>
                  <a:lnTo>
                    <a:pt x="2645266" y="0"/>
                  </a:lnTo>
                  <a:lnTo>
                    <a:pt x="2683273" y="0"/>
                  </a:lnTo>
                  <a:lnTo>
                    <a:pt x="2683273" y="3642562"/>
                  </a:lnTo>
                  <a:lnTo>
                    <a:pt x="155068" y="3642562"/>
                  </a:lnTo>
                  <a:cubicBezTo>
                    <a:pt x="69933" y="3642562"/>
                    <a:pt x="0" y="3566549"/>
                    <a:pt x="0" y="3469251"/>
                  </a:cubicBezTo>
                  <a:lnTo>
                    <a:pt x="0" y="170270"/>
                  </a:lnTo>
                  <a:cubicBezTo>
                    <a:pt x="0" y="72973"/>
                    <a:pt x="82095" y="0"/>
                    <a:pt x="170270" y="0"/>
                  </a:cubicBezTo>
                  <a:close/>
                </a:path>
              </a:pathLst>
            </a:custGeom>
            <a:solidFill>
              <a:srgbClr val="999999"/>
            </a:solidFill>
            <a:ln w="9525" cap="flat">
              <a:noFill/>
              <a:prstDash val="solid"/>
              <a:miter/>
            </a:ln>
          </p:spPr>
          <p:txBody>
            <a:bodyPr wrap="square" rtlCol="0" anchor="ctr">
              <a:noAutofit/>
            </a:bodyPr>
            <a:lstStyle/>
            <a:p>
              <a:endParaRPr lang="en-US" dirty="0"/>
            </a:p>
          </p:txBody>
        </p:sp>
        <p:sp>
          <p:nvSpPr>
            <p:cNvPr id="5" name="Freeform: Shape 4">
              <a:extLst>
                <a:ext uri="{FF2B5EF4-FFF2-40B4-BE49-F238E27FC236}">
                  <a16:creationId xmlns:a16="http://schemas.microsoft.com/office/drawing/2014/main" id="{2CCB3843-05FA-4D36-8253-9E8F3AB1921C}"/>
                </a:ext>
              </a:extLst>
            </p:cNvPr>
            <p:cNvSpPr/>
            <p:nvPr/>
          </p:nvSpPr>
          <p:spPr>
            <a:xfrm>
              <a:off x="9536092" y="2177513"/>
              <a:ext cx="2655908" cy="3195604"/>
            </a:xfrm>
            <a:custGeom>
              <a:avLst/>
              <a:gdLst>
                <a:gd name="connsiteX0" fmla="*/ 170270 w 2655908"/>
                <a:gd name="connsiteY0" fmla="*/ 0 h 3195604"/>
                <a:gd name="connsiteX1" fmla="*/ 2623983 w 2655908"/>
                <a:gd name="connsiteY1" fmla="*/ 0 h 3195604"/>
                <a:gd name="connsiteX2" fmla="*/ 2655908 w 2655908"/>
                <a:gd name="connsiteY2" fmla="*/ 0 h 3195604"/>
                <a:gd name="connsiteX3" fmla="*/ 2655908 w 2655908"/>
                <a:gd name="connsiteY3" fmla="*/ 3195604 h 3195604"/>
                <a:gd name="connsiteX4" fmla="*/ 0 w 2655908"/>
                <a:gd name="connsiteY4" fmla="*/ 3195604 h 3195604"/>
                <a:gd name="connsiteX5" fmla="*/ 0 w 2655908"/>
                <a:gd name="connsiteY5" fmla="*/ 148987 h 3195604"/>
                <a:gd name="connsiteX6" fmla="*/ 170270 w 2655908"/>
                <a:gd name="connsiteY6" fmla="*/ 0 h 319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5908" h="3195604">
                  <a:moveTo>
                    <a:pt x="170270" y="0"/>
                  </a:moveTo>
                  <a:lnTo>
                    <a:pt x="2623983" y="0"/>
                  </a:lnTo>
                  <a:lnTo>
                    <a:pt x="2655908" y="0"/>
                  </a:lnTo>
                  <a:lnTo>
                    <a:pt x="2655908" y="3195604"/>
                  </a:lnTo>
                  <a:lnTo>
                    <a:pt x="0" y="3195604"/>
                  </a:lnTo>
                  <a:lnTo>
                    <a:pt x="0" y="148987"/>
                  </a:lnTo>
                  <a:cubicBezTo>
                    <a:pt x="0" y="60811"/>
                    <a:pt x="82095" y="0"/>
                    <a:pt x="170270" y="0"/>
                  </a:cubicBezTo>
                  <a:close/>
                </a:path>
              </a:pathLst>
            </a:custGeom>
            <a:solidFill>
              <a:srgbClr val="231F20"/>
            </a:solidFill>
            <a:ln w="9525" cap="flat">
              <a:noFill/>
              <a:prstDash val="solid"/>
              <a:miter/>
            </a:ln>
          </p:spPr>
          <p:txBody>
            <a:bodyPr wrap="square" rtlCol="0" anchor="ctr">
              <a:noAutofit/>
            </a:bodyPr>
            <a:lstStyle/>
            <a:p>
              <a:endParaRPr lang="en-US" dirty="0"/>
            </a:p>
          </p:txBody>
        </p:sp>
        <p:sp>
          <p:nvSpPr>
            <p:cNvPr id="6" name="Freeform: Shape 5">
              <a:extLst>
                <a:ext uri="{FF2B5EF4-FFF2-40B4-BE49-F238E27FC236}">
                  <a16:creationId xmlns:a16="http://schemas.microsoft.com/office/drawing/2014/main" id="{AB7AF8A9-20F4-42A9-9ACC-52EA430548E1}"/>
                </a:ext>
              </a:extLst>
            </p:cNvPr>
            <p:cNvSpPr/>
            <p:nvPr/>
          </p:nvSpPr>
          <p:spPr>
            <a:xfrm>
              <a:off x="11384738" y="6312642"/>
              <a:ext cx="807262" cy="48649"/>
            </a:xfrm>
            <a:custGeom>
              <a:avLst/>
              <a:gdLst>
                <a:gd name="connsiteX0" fmla="*/ 0 w 807262"/>
                <a:gd name="connsiteY0" fmla="*/ 0 h 48649"/>
                <a:gd name="connsiteX1" fmla="*/ 807262 w 807262"/>
                <a:gd name="connsiteY1" fmla="*/ 0 h 48649"/>
                <a:gd name="connsiteX2" fmla="*/ 807262 w 807262"/>
                <a:gd name="connsiteY2" fmla="*/ 48649 h 48649"/>
                <a:gd name="connsiteX3" fmla="*/ 799662 w 807262"/>
                <a:gd name="connsiteY3" fmla="*/ 48649 h 48649"/>
                <a:gd name="connsiteX4" fmla="*/ 772297 w 807262"/>
                <a:gd name="connsiteY4" fmla="*/ 48649 h 48649"/>
                <a:gd name="connsiteX5" fmla="*/ 173311 w 807262"/>
                <a:gd name="connsiteY5" fmla="*/ 48649 h 48649"/>
                <a:gd name="connsiteX6" fmla="*/ 0 w 807262"/>
                <a:gd name="connsiteY6" fmla="*/ 6081 h 48649"/>
                <a:gd name="connsiteX7" fmla="*/ 0 w 807262"/>
                <a:gd name="connsiteY7" fmla="*/ 3041 h 48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262" h="48649">
                  <a:moveTo>
                    <a:pt x="0" y="0"/>
                  </a:moveTo>
                  <a:lnTo>
                    <a:pt x="807262" y="0"/>
                  </a:lnTo>
                  <a:lnTo>
                    <a:pt x="807262" y="48649"/>
                  </a:lnTo>
                  <a:lnTo>
                    <a:pt x="799662" y="48649"/>
                  </a:lnTo>
                  <a:cubicBezTo>
                    <a:pt x="793581" y="48649"/>
                    <a:pt x="784459" y="48649"/>
                    <a:pt x="772297" y="48649"/>
                  </a:cubicBezTo>
                  <a:cubicBezTo>
                    <a:pt x="678039" y="48649"/>
                    <a:pt x="416553" y="48649"/>
                    <a:pt x="173311" y="48649"/>
                  </a:cubicBezTo>
                  <a:cubicBezTo>
                    <a:pt x="48648" y="48649"/>
                    <a:pt x="0" y="36487"/>
                    <a:pt x="0" y="6081"/>
                  </a:cubicBezTo>
                  <a:cubicBezTo>
                    <a:pt x="0" y="6081"/>
                    <a:pt x="0" y="6081"/>
                    <a:pt x="0" y="3041"/>
                  </a:cubicBezTo>
                  <a:close/>
                </a:path>
              </a:pathLst>
            </a:custGeom>
            <a:solidFill>
              <a:schemeClr val="tx1">
                <a:lumMod val="50000"/>
                <a:lumOff val="50000"/>
              </a:schemeClr>
            </a:solidFill>
            <a:ln w="9525" cap="flat">
              <a:noFill/>
              <a:prstDash val="solid"/>
              <a:miter/>
            </a:ln>
          </p:spPr>
          <p:txBody>
            <a:bodyPr wrap="square" rtlCol="0" anchor="ctr">
              <a:noAutofit/>
            </a:bodyPr>
            <a:lstStyle/>
            <a:p>
              <a:endParaRPr lang="en-US" dirty="0"/>
            </a:p>
          </p:txBody>
        </p:sp>
        <p:sp>
          <p:nvSpPr>
            <p:cNvPr id="7" name="Freeform: Shape 6">
              <a:extLst>
                <a:ext uri="{FF2B5EF4-FFF2-40B4-BE49-F238E27FC236}">
                  <a16:creationId xmlns:a16="http://schemas.microsoft.com/office/drawing/2014/main" id="{A3B04ADD-D9A0-4779-9DE8-7B053FC465FF}"/>
                </a:ext>
              </a:extLst>
            </p:cNvPr>
            <p:cNvSpPr/>
            <p:nvPr/>
          </p:nvSpPr>
          <p:spPr>
            <a:xfrm>
              <a:off x="9536092" y="5379197"/>
              <a:ext cx="2655908" cy="395270"/>
            </a:xfrm>
            <a:custGeom>
              <a:avLst/>
              <a:gdLst>
                <a:gd name="connsiteX0" fmla="*/ 0 w 2655908"/>
                <a:gd name="connsiteY0" fmla="*/ 0 h 395270"/>
                <a:gd name="connsiteX1" fmla="*/ 2655908 w 2655908"/>
                <a:gd name="connsiteY1" fmla="*/ 0 h 395270"/>
                <a:gd name="connsiteX2" fmla="*/ 2655908 w 2655908"/>
                <a:gd name="connsiteY2" fmla="*/ 395270 h 395270"/>
                <a:gd name="connsiteX3" fmla="*/ 2623983 w 2655908"/>
                <a:gd name="connsiteY3" fmla="*/ 395270 h 395270"/>
                <a:gd name="connsiteX4" fmla="*/ 170270 w 2655908"/>
                <a:gd name="connsiteY4" fmla="*/ 395270 h 395270"/>
                <a:gd name="connsiteX5" fmla="*/ 0 w 2655908"/>
                <a:gd name="connsiteY5" fmla="*/ 246284 h 39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55908" h="395270">
                  <a:moveTo>
                    <a:pt x="0" y="0"/>
                  </a:moveTo>
                  <a:lnTo>
                    <a:pt x="2655908" y="0"/>
                  </a:lnTo>
                  <a:lnTo>
                    <a:pt x="2655908" y="395270"/>
                  </a:lnTo>
                  <a:lnTo>
                    <a:pt x="2623983" y="395270"/>
                  </a:lnTo>
                  <a:lnTo>
                    <a:pt x="170270" y="395270"/>
                  </a:lnTo>
                  <a:cubicBezTo>
                    <a:pt x="82095" y="395270"/>
                    <a:pt x="0" y="322297"/>
                    <a:pt x="0" y="246284"/>
                  </a:cubicBezTo>
                  <a:close/>
                </a:path>
              </a:pathLst>
            </a:custGeom>
            <a:solidFill>
              <a:schemeClr val="bg1">
                <a:lumMod val="75000"/>
              </a:schemeClr>
            </a:solidFill>
            <a:ln w="9525" cap="flat">
              <a:noFill/>
              <a:prstDash val="solid"/>
              <a:miter/>
            </a:ln>
          </p:spPr>
          <p:txBody>
            <a:bodyPr wrap="square" rtlCol="0" anchor="ctr">
              <a:noAutofit/>
            </a:bodyPr>
            <a:lstStyle/>
            <a:p>
              <a:endParaRPr lang="en-US"/>
            </a:p>
          </p:txBody>
        </p:sp>
        <p:sp>
          <p:nvSpPr>
            <p:cNvPr id="8" name="Freeform: Shape 7">
              <a:extLst>
                <a:ext uri="{FF2B5EF4-FFF2-40B4-BE49-F238E27FC236}">
                  <a16:creationId xmlns:a16="http://schemas.microsoft.com/office/drawing/2014/main" id="{F98221A9-6AC7-4184-B404-4D26AC76772E}"/>
                </a:ext>
              </a:extLst>
            </p:cNvPr>
            <p:cNvSpPr/>
            <p:nvPr/>
          </p:nvSpPr>
          <p:spPr>
            <a:xfrm>
              <a:off x="9711093" y="2388830"/>
              <a:ext cx="2480907" cy="2797293"/>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4C79AC-939D-4B2C-8A93-F1F58E8EDBA8}"/>
                </a:ext>
              </a:extLst>
            </p:cNvPr>
            <p:cNvSpPr/>
            <p:nvPr/>
          </p:nvSpPr>
          <p:spPr>
            <a:xfrm>
              <a:off x="10791316" y="2439610"/>
              <a:ext cx="1400684" cy="2776919"/>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0" name="Rectangle 9">
            <a:extLst>
              <a:ext uri="{FF2B5EF4-FFF2-40B4-BE49-F238E27FC236}">
                <a16:creationId xmlns:a16="http://schemas.microsoft.com/office/drawing/2014/main" id="{079717CE-5FF1-456C-B564-55798E060E3B}"/>
              </a:ext>
            </a:extLst>
          </p:cNvPr>
          <p:cNvSpPr/>
          <p:nvPr userDrawn="1"/>
        </p:nvSpPr>
        <p:spPr>
          <a:xfrm>
            <a:off x="0" y="2"/>
            <a:ext cx="12192000" cy="188044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endParaRPr>
          </a:p>
        </p:txBody>
      </p:sp>
      <p:sp>
        <p:nvSpPr>
          <p:cNvPr id="11" name="Oval 10">
            <a:extLst>
              <a:ext uri="{FF2B5EF4-FFF2-40B4-BE49-F238E27FC236}">
                <a16:creationId xmlns:a16="http://schemas.microsoft.com/office/drawing/2014/main" id="{F51B4AAB-F0BC-4BA8-8711-B6E764DC67C4}"/>
              </a:ext>
            </a:extLst>
          </p:cNvPr>
          <p:cNvSpPr/>
          <p:nvPr userDrawn="1"/>
        </p:nvSpPr>
        <p:spPr>
          <a:xfrm>
            <a:off x="5466000" y="1233032"/>
            <a:ext cx="1260000" cy="12600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2" name="Oval 9">
            <a:extLst>
              <a:ext uri="{FF2B5EF4-FFF2-40B4-BE49-F238E27FC236}">
                <a16:creationId xmlns:a16="http://schemas.microsoft.com/office/drawing/2014/main" id="{13FCA882-D6A7-47A0-8F53-222F73770C2C}"/>
              </a:ext>
            </a:extLst>
          </p:cNvPr>
          <p:cNvSpPr/>
          <p:nvPr userDrawn="1"/>
        </p:nvSpPr>
        <p:spPr>
          <a:xfrm>
            <a:off x="6714751" y="3743880"/>
            <a:ext cx="2520000" cy="252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3" name="Picture Placeholder 2">
            <a:extLst>
              <a:ext uri="{FF2B5EF4-FFF2-40B4-BE49-F238E27FC236}">
                <a16:creationId xmlns:a16="http://schemas.microsoft.com/office/drawing/2014/main" id="{9DB5361C-4E28-430F-9AB8-82C47DA59C59}"/>
              </a:ext>
            </a:extLst>
          </p:cNvPr>
          <p:cNvSpPr>
            <a:spLocks noGrp="1"/>
          </p:cNvSpPr>
          <p:nvPr>
            <p:ph type="pic" idx="10" hasCustomPrompt="1"/>
          </p:nvPr>
        </p:nvSpPr>
        <p:spPr>
          <a:xfrm>
            <a:off x="9745813" y="2221239"/>
            <a:ext cx="2446188" cy="2736814"/>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grpSp>
        <p:nvGrpSpPr>
          <p:cNvPr id="14" name="Group 20">
            <a:extLst>
              <a:ext uri="{FF2B5EF4-FFF2-40B4-BE49-F238E27FC236}">
                <a16:creationId xmlns:a16="http://schemas.microsoft.com/office/drawing/2014/main" id="{354EA4D5-D4EB-4CB5-9857-49FA2B15841F}"/>
              </a:ext>
            </a:extLst>
          </p:cNvPr>
          <p:cNvGrpSpPr/>
          <p:nvPr userDrawn="1"/>
        </p:nvGrpSpPr>
        <p:grpSpPr>
          <a:xfrm>
            <a:off x="7019112" y="2341950"/>
            <a:ext cx="1890758" cy="3323854"/>
            <a:chOff x="445712" y="1449040"/>
            <a:chExt cx="2113018" cy="3924176"/>
          </a:xfrm>
        </p:grpSpPr>
        <p:sp>
          <p:nvSpPr>
            <p:cNvPr id="15" name="Rounded Rectangle 21">
              <a:extLst>
                <a:ext uri="{FF2B5EF4-FFF2-40B4-BE49-F238E27FC236}">
                  <a16:creationId xmlns:a16="http://schemas.microsoft.com/office/drawing/2014/main" id="{FBFC0138-3DDC-4D23-9F01-896D4915E925}"/>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Rectangle 22">
              <a:extLst>
                <a:ext uri="{FF2B5EF4-FFF2-40B4-BE49-F238E27FC236}">
                  <a16:creationId xmlns:a16="http://schemas.microsoft.com/office/drawing/2014/main" id="{118890BA-E4FD-42D6-8AC7-1AC8FAC00592}"/>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17" name="Group 23">
              <a:extLst>
                <a:ext uri="{FF2B5EF4-FFF2-40B4-BE49-F238E27FC236}">
                  <a16:creationId xmlns:a16="http://schemas.microsoft.com/office/drawing/2014/main" id="{2E10FAE0-0A16-4D44-B561-8BFCCF53C81B}"/>
                </a:ext>
              </a:extLst>
            </p:cNvPr>
            <p:cNvGrpSpPr/>
            <p:nvPr userDrawn="1"/>
          </p:nvGrpSpPr>
          <p:grpSpPr>
            <a:xfrm>
              <a:off x="1407705" y="5045834"/>
              <a:ext cx="211967" cy="211967"/>
              <a:chOff x="1549420" y="5712364"/>
              <a:chExt cx="312583" cy="312583"/>
            </a:xfrm>
          </p:grpSpPr>
          <p:sp>
            <p:nvSpPr>
              <p:cNvPr id="18" name="Oval 24">
                <a:extLst>
                  <a:ext uri="{FF2B5EF4-FFF2-40B4-BE49-F238E27FC236}">
                    <a16:creationId xmlns:a16="http://schemas.microsoft.com/office/drawing/2014/main" id="{9AE4CF47-5EF3-4EA4-A009-ABF2A05D1F14}"/>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9" name="Rounded Rectangle 25">
                <a:extLst>
                  <a:ext uri="{FF2B5EF4-FFF2-40B4-BE49-F238E27FC236}">
                    <a16:creationId xmlns:a16="http://schemas.microsoft.com/office/drawing/2014/main" id="{6C8A489D-2846-49A9-B94F-3D588B4AB95C}"/>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grpSp>
      <p:sp>
        <p:nvSpPr>
          <p:cNvPr id="20" name="Picture Placeholder 2">
            <a:extLst>
              <a:ext uri="{FF2B5EF4-FFF2-40B4-BE49-F238E27FC236}">
                <a16:creationId xmlns:a16="http://schemas.microsoft.com/office/drawing/2014/main" id="{35D9DFBD-E320-498F-B6AB-EDE7A3C3E4A3}"/>
              </a:ext>
            </a:extLst>
          </p:cNvPr>
          <p:cNvSpPr>
            <a:spLocks noGrp="1"/>
          </p:cNvSpPr>
          <p:nvPr>
            <p:ph type="pic" idx="11" hasCustomPrompt="1"/>
          </p:nvPr>
        </p:nvSpPr>
        <p:spPr>
          <a:xfrm>
            <a:off x="7145482" y="2668904"/>
            <a:ext cx="1624041" cy="2663428"/>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21" name="Text Placeholder 9">
            <a:extLst>
              <a:ext uri="{FF2B5EF4-FFF2-40B4-BE49-F238E27FC236}">
                <a16:creationId xmlns:a16="http://schemas.microsoft.com/office/drawing/2014/main" id="{4E77E7AC-8C78-442E-888C-75CA5F39664A}"/>
              </a:ext>
            </a:extLst>
          </p:cNvPr>
          <p:cNvSpPr>
            <a:spLocks noGrp="1"/>
          </p:cNvSpPr>
          <p:nvPr>
            <p:ph type="body" sz="quarter" idx="12"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42695E7-0C1B-46BA-A458-9D37FBA5911A}"/>
              </a:ext>
            </a:extLst>
          </p:cNvPr>
          <p:cNvSpPr>
            <a:spLocks noGrp="1"/>
          </p:cNvSpPr>
          <p:nvPr>
            <p:ph type="pic" idx="10" hasCustomPrompt="1"/>
          </p:nvPr>
        </p:nvSpPr>
        <p:spPr>
          <a:xfrm>
            <a:off x="0" y="0"/>
            <a:ext cx="4032000" cy="6858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3" name="Picture Placeholder 2">
            <a:extLst>
              <a:ext uri="{FF2B5EF4-FFF2-40B4-BE49-F238E27FC236}">
                <a16:creationId xmlns:a16="http://schemas.microsoft.com/office/drawing/2014/main" id="{2A4CA258-6152-46AF-8FC9-428779C9219B}"/>
              </a:ext>
            </a:extLst>
          </p:cNvPr>
          <p:cNvSpPr>
            <a:spLocks noGrp="1"/>
          </p:cNvSpPr>
          <p:nvPr>
            <p:ph type="pic" idx="11" hasCustomPrompt="1"/>
          </p:nvPr>
        </p:nvSpPr>
        <p:spPr>
          <a:xfrm>
            <a:off x="8160000" y="0"/>
            <a:ext cx="4032000" cy="6858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6D7AFB-15B6-4481-A6C1-90C4E03582BF}"/>
              </a:ext>
            </a:extLst>
          </p:cNvPr>
          <p:cNvSpPr/>
          <p:nvPr userDrawn="1"/>
        </p:nvSpPr>
        <p:spPr>
          <a:xfrm>
            <a:off x="5781047" y="260648"/>
            <a:ext cx="5952661" cy="633670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3" name="Picture Placeholder 2">
            <a:extLst>
              <a:ext uri="{FF2B5EF4-FFF2-40B4-BE49-F238E27FC236}">
                <a16:creationId xmlns:a16="http://schemas.microsoft.com/office/drawing/2014/main" id="{A2D93165-E73B-49E2-8635-02E21C046FC9}"/>
              </a:ext>
            </a:extLst>
          </p:cNvPr>
          <p:cNvSpPr>
            <a:spLocks noGrp="1"/>
          </p:cNvSpPr>
          <p:nvPr>
            <p:ph type="pic" idx="14" hasCustomPrompt="1"/>
          </p:nvPr>
        </p:nvSpPr>
        <p:spPr>
          <a:xfrm>
            <a:off x="734769" y="1196752"/>
            <a:ext cx="10849205" cy="3456384"/>
          </a:xfrm>
          <a:prstGeom prst="rect">
            <a:avLst/>
          </a:prstGeom>
          <a:solidFill>
            <a:schemeClr val="bg1">
              <a:lumMod val="95000"/>
            </a:schemeClr>
          </a:solidFill>
          <a:ln w="19050">
            <a:solidFill>
              <a:schemeClr val="bg1">
                <a:lumMod val="65000"/>
              </a:schemeClr>
            </a:solidFill>
          </a:ln>
        </p:spPr>
        <p:txBody>
          <a:bodyPr anchor="ct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 name="제목 1">
            <a:extLst>
              <a:ext uri="{FF2B5EF4-FFF2-40B4-BE49-F238E27FC236}">
                <a16:creationId xmlns:a16="http://schemas.microsoft.com/office/drawing/2014/main" id="{8F51187F-8B7D-4CCE-8CAB-89F352270EAC}"/>
              </a:ext>
            </a:extLst>
          </p:cNvPr>
          <p:cNvSpPr>
            <a:spLocks noGrp="1"/>
          </p:cNvSpPr>
          <p:nvPr>
            <p:ph type="title" hasCustomPrompt="1"/>
          </p:nvPr>
        </p:nvSpPr>
        <p:spPr>
          <a:xfrm>
            <a:off x="0" y="269852"/>
            <a:ext cx="12192000" cy="710877"/>
          </a:xfrm>
          <a:prstGeom prst="rect">
            <a:avLst/>
          </a:prstGeom>
        </p:spPr>
        <p:txBody>
          <a:bodyPr anchor="ctr">
            <a:noAutofit/>
          </a:bodyPr>
          <a:lstStyle>
            <a:lvl1pPr algn="ctr">
              <a:defRPr sz="4800" b="0" baseline="0">
                <a:solidFill>
                  <a:schemeClr val="tx1">
                    <a:lumMod val="75000"/>
                    <a:lumOff val="25000"/>
                  </a:schemeClr>
                </a:solidFill>
                <a:latin typeface="Arial" pitchFamily="34" charset="0"/>
                <a:cs typeface="Arial" pitchFamily="34" charset="0"/>
              </a:defRPr>
            </a:lvl1pPr>
          </a:lstStyle>
          <a:p>
            <a:r>
              <a:rPr lang="en-US" altLang="ko-KR" dirty="0"/>
              <a:t>IMAGES AND CONTENTS</a:t>
            </a:r>
            <a:endParaRPr lang="ko-KR" altLang="en-US" dirty="0"/>
          </a:p>
        </p:txBody>
      </p:sp>
    </p:spTree>
    <p:extLst>
      <p:ext uri="{BB962C8B-B14F-4D97-AF65-F5344CB8AC3E}">
        <p14:creationId xmlns:p14="http://schemas.microsoft.com/office/powerpoint/2010/main" val="2445283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233BDCAA-2A7E-41A1-9D44-649A2432BF22}"/>
              </a:ext>
            </a:extLst>
          </p:cNvPr>
          <p:cNvSpPr>
            <a:spLocks noGrp="1"/>
          </p:cNvSpPr>
          <p:nvPr>
            <p:ph type="pic" idx="10" hasCustomPrompt="1"/>
          </p:nvPr>
        </p:nvSpPr>
        <p:spPr>
          <a:xfrm>
            <a:off x="4092000" y="545824"/>
            <a:ext cx="8100000" cy="2736000"/>
          </a:xfrm>
          <a:prstGeom prst="rect">
            <a:avLst/>
          </a:prstGeom>
          <a:solidFill>
            <a:schemeClr val="bg1">
              <a:lumMod val="95000"/>
            </a:schemeClr>
          </a:solidFill>
        </p:spPr>
        <p:txBody>
          <a:bodyPr anchor="ctr"/>
          <a:lstStyle>
            <a:lvl1pPr marL="0" indent="0" algn="ctr">
              <a:buNone/>
              <a:defRPr sz="1200" baseline="0">
                <a:effectLst/>
                <a:latin typeface="+mn-lt"/>
                <a:ea typeface="+mj-ea"/>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Picture Placeholder 2">
            <a:extLst>
              <a:ext uri="{FF2B5EF4-FFF2-40B4-BE49-F238E27FC236}">
                <a16:creationId xmlns:a16="http://schemas.microsoft.com/office/drawing/2014/main" id="{A9C2840B-D2DF-4F8C-B40B-85D0E23CC558}"/>
              </a:ext>
            </a:extLst>
          </p:cNvPr>
          <p:cNvSpPr>
            <a:spLocks noGrp="1"/>
          </p:cNvSpPr>
          <p:nvPr>
            <p:ph type="pic" idx="11" hasCustomPrompt="1"/>
          </p:nvPr>
        </p:nvSpPr>
        <p:spPr>
          <a:xfrm>
            <a:off x="0" y="3575404"/>
            <a:ext cx="8100000" cy="2736000"/>
          </a:xfrm>
          <a:prstGeom prst="rect">
            <a:avLst/>
          </a:prstGeom>
          <a:solidFill>
            <a:schemeClr val="bg1">
              <a:lumMod val="95000"/>
            </a:schemeClr>
          </a:solidFill>
        </p:spPr>
        <p:txBody>
          <a:bodyPr anchor="ctr"/>
          <a:lstStyle>
            <a:lvl1pPr marL="0" indent="0" algn="ctr">
              <a:buNone/>
              <a:defRPr sz="1200" baseline="0">
                <a:effectLst/>
                <a:latin typeface="+mn-lt"/>
                <a:ea typeface="+mj-ea"/>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grpSp>
        <p:nvGrpSpPr>
          <p:cNvPr id="2" name="Graphic 14">
            <a:extLst>
              <a:ext uri="{FF2B5EF4-FFF2-40B4-BE49-F238E27FC236}">
                <a16:creationId xmlns:a16="http://schemas.microsoft.com/office/drawing/2014/main" id="{E0178A45-E1F2-4219-82A5-06E071535503}"/>
              </a:ext>
            </a:extLst>
          </p:cNvPr>
          <p:cNvGrpSpPr/>
          <p:nvPr userDrawn="1"/>
        </p:nvGrpSpPr>
        <p:grpSpPr>
          <a:xfrm>
            <a:off x="637723" y="3059055"/>
            <a:ext cx="4156177" cy="3268904"/>
            <a:chOff x="2444748" y="555045"/>
            <a:chExt cx="7282048" cy="5727454"/>
          </a:xfrm>
        </p:grpSpPr>
        <p:sp>
          <p:nvSpPr>
            <p:cNvPr id="3" name="Freeform: Shape 2">
              <a:extLst>
                <a:ext uri="{FF2B5EF4-FFF2-40B4-BE49-F238E27FC236}">
                  <a16:creationId xmlns:a16="http://schemas.microsoft.com/office/drawing/2014/main" id="{85E309B5-D35D-4C95-A09A-4E2C8B12E33E}"/>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4" name="Freeform: Shape 3">
              <a:extLst>
                <a:ext uri="{FF2B5EF4-FFF2-40B4-BE49-F238E27FC236}">
                  <a16:creationId xmlns:a16="http://schemas.microsoft.com/office/drawing/2014/main" id="{3A4C29C0-CEE1-45B8-A0C3-402E9D4A7CCC}"/>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5" name="Freeform: Shape 4">
              <a:extLst>
                <a:ext uri="{FF2B5EF4-FFF2-40B4-BE49-F238E27FC236}">
                  <a16:creationId xmlns:a16="http://schemas.microsoft.com/office/drawing/2014/main" id="{3DAF51F6-CAE6-497C-8F0E-AC4008FDE669}"/>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ADE4362C-E294-4C51-947C-C72C712BDF94}"/>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7848B4B1-766D-4432-9FDC-F940B1A061D7}"/>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B5855D06-FC93-4234-A8B0-C678B458F671}"/>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04C8F15-E1BE-4C55-9E32-90AE37C36470}"/>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BF5B835-A302-44A2-A60F-1F12E64F4EE3}"/>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1" name="그림 개체 틀 2">
            <a:extLst>
              <a:ext uri="{FF2B5EF4-FFF2-40B4-BE49-F238E27FC236}">
                <a16:creationId xmlns:a16="http://schemas.microsoft.com/office/drawing/2014/main" id="{E32D52F7-8EF1-4FD1-9F8E-0108B46380D2}"/>
              </a:ext>
            </a:extLst>
          </p:cNvPr>
          <p:cNvSpPr>
            <a:spLocks noGrp="1"/>
          </p:cNvSpPr>
          <p:nvPr>
            <p:ph type="pic" sz="quarter" idx="14" hasCustomPrompt="1"/>
          </p:nvPr>
        </p:nvSpPr>
        <p:spPr>
          <a:xfrm>
            <a:off x="0" y="1"/>
            <a:ext cx="12192000" cy="3884023"/>
          </a:xfrm>
          <a:custGeom>
            <a:avLst/>
            <a:gdLst>
              <a:gd name="connsiteX0" fmla="*/ 0 w 9144000"/>
              <a:gd name="connsiteY0" fmla="*/ 0 h 1556792"/>
              <a:gd name="connsiteX1" fmla="*/ 9144000 w 9144000"/>
              <a:gd name="connsiteY1" fmla="*/ 0 h 1556792"/>
              <a:gd name="connsiteX2" fmla="*/ 9144000 w 9144000"/>
              <a:gd name="connsiteY2" fmla="*/ 1556792 h 1556792"/>
              <a:gd name="connsiteX3" fmla="*/ 0 w 9144000"/>
              <a:gd name="connsiteY3" fmla="*/ 1556792 h 1556792"/>
              <a:gd name="connsiteX4" fmla="*/ 0 w 9144000"/>
              <a:gd name="connsiteY4" fmla="*/ 0 h 1556792"/>
              <a:gd name="connsiteX0" fmla="*/ 0 w 9144000"/>
              <a:gd name="connsiteY0" fmla="*/ 0 h 3176042"/>
              <a:gd name="connsiteX1" fmla="*/ 9144000 w 9144000"/>
              <a:gd name="connsiteY1" fmla="*/ 0 h 3176042"/>
              <a:gd name="connsiteX2" fmla="*/ 9144000 w 9144000"/>
              <a:gd name="connsiteY2" fmla="*/ 3176042 h 3176042"/>
              <a:gd name="connsiteX3" fmla="*/ 0 w 9144000"/>
              <a:gd name="connsiteY3" fmla="*/ 1556792 h 3176042"/>
              <a:gd name="connsiteX4" fmla="*/ 0 w 9144000"/>
              <a:gd name="connsiteY4" fmla="*/ 0 h 3176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3176042">
                <a:moveTo>
                  <a:pt x="0" y="0"/>
                </a:moveTo>
                <a:lnTo>
                  <a:pt x="9144000" y="0"/>
                </a:lnTo>
                <a:lnTo>
                  <a:pt x="9144000" y="3176042"/>
                </a:lnTo>
                <a:lnTo>
                  <a:pt x="0" y="1556792"/>
                </a:lnTo>
                <a:lnTo>
                  <a:pt x="0" y="0"/>
                </a:lnTo>
                <a:close/>
              </a:path>
            </a:pathLst>
          </a:cu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12" name="그림 개체 틀 2">
            <a:extLst>
              <a:ext uri="{FF2B5EF4-FFF2-40B4-BE49-F238E27FC236}">
                <a16:creationId xmlns:a16="http://schemas.microsoft.com/office/drawing/2014/main" id="{5CF05A6B-CDF0-4EC5-9C70-296EED51DE50}"/>
              </a:ext>
            </a:extLst>
          </p:cNvPr>
          <p:cNvSpPr>
            <a:spLocks noGrp="1"/>
          </p:cNvSpPr>
          <p:nvPr>
            <p:ph type="pic" sz="quarter" idx="42" hasCustomPrompt="1"/>
          </p:nvPr>
        </p:nvSpPr>
        <p:spPr>
          <a:xfrm>
            <a:off x="767538" y="3202164"/>
            <a:ext cx="3917673" cy="225145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750974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23B867E3-38AB-4476-8632-34EDFC59DB87}"/>
              </a:ext>
            </a:extLst>
          </p:cNvPr>
          <p:cNvSpPr>
            <a:spLocks noGrp="1"/>
          </p:cNvSpPr>
          <p:nvPr>
            <p:ph type="pic" sz="quarter" idx="43" hasCustomPrompt="1"/>
          </p:nvPr>
        </p:nvSpPr>
        <p:spPr>
          <a:xfrm>
            <a:off x="6600622" y="1305993"/>
            <a:ext cx="4334608" cy="4335090"/>
          </a:xfrm>
          <a:prstGeom prst="ellipse">
            <a:avLst/>
          </a:prstGeom>
          <a:solidFill>
            <a:schemeClr val="bg1">
              <a:lumMod val="95000"/>
            </a:schemeClr>
          </a:solidFill>
        </p:spPr>
        <p:txBody>
          <a:bodyPr anchor="ctr"/>
          <a:lstStyle>
            <a:lvl1pPr marL="0" marR="0" indent="0" algn="ctr" defTabSz="914446" rtl="0" eaLnBrk="1" fontAlgn="auto" latinLnBrk="0"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3" name="Arc 2">
            <a:extLst>
              <a:ext uri="{FF2B5EF4-FFF2-40B4-BE49-F238E27FC236}">
                <a16:creationId xmlns:a16="http://schemas.microsoft.com/office/drawing/2014/main" id="{94A74E82-B34D-4C4B-B00A-63C2E0C1481F}"/>
              </a:ext>
            </a:extLst>
          </p:cNvPr>
          <p:cNvSpPr/>
          <p:nvPr userDrawn="1"/>
        </p:nvSpPr>
        <p:spPr>
          <a:xfrm>
            <a:off x="6320628" y="1026240"/>
            <a:ext cx="4894597" cy="4894597"/>
          </a:xfrm>
          <a:prstGeom prst="arc">
            <a:avLst>
              <a:gd name="adj1" fmla="val 12493243"/>
              <a:gd name="adj2" fmla="val 8891088"/>
            </a:avLst>
          </a:prstGeom>
          <a:ln w="25400">
            <a:solidFill>
              <a:schemeClr val="accent1"/>
            </a:solidFill>
            <a:headEnd type="none"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649280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9" r:id="rId15"/>
    <p:sldLayoutId id="2147483688" r:id="rId16"/>
    <p:sldLayoutId id="2147483687" r:id="rId17"/>
    <p:sldLayoutId id="2147483671" r:id="rId18"/>
    <p:sldLayoutId id="2147483672"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3B4C724-0776-4328-8F0A-B72DA1579537}"/>
              </a:ext>
            </a:extLst>
          </p:cNvPr>
          <p:cNvSpPr txBox="1"/>
          <p:nvPr/>
        </p:nvSpPr>
        <p:spPr>
          <a:xfrm>
            <a:off x="749030" y="1805040"/>
            <a:ext cx="6993875" cy="461665"/>
          </a:xfrm>
          <a:prstGeom prst="rect">
            <a:avLst/>
          </a:prstGeom>
          <a:noFill/>
        </p:spPr>
        <p:txBody>
          <a:bodyPr wrap="square" rtlCol="0" anchor="ctr">
            <a:spAutoFit/>
          </a:bodyPr>
          <a:lstStyle/>
          <a:p>
            <a:r>
              <a:rPr lang="en-US" sz="2400" b="1" dirty="0">
                <a:solidFill>
                  <a:srgbClr val="FFFF00"/>
                </a:solidFill>
                <a:latin typeface="+mj-lt"/>
              </a:rPr>
              <a:t>Chapter 06:</a:t>
            </a:r>
            <a:endParaRPr lang="en-US" sz="2400" dirty="0">
              <a:solidFill>
                <a:schemeClr val="bg1"/>
              </a:solidFill>
              <a:latin typeface="+mj-lt"/>
            </a:endParaRPr>
          </a:p>
        </p:txBody>
      </p:sp>
      <p:sp>
        <p:nvSpPr>
          <p:cNvPr id="4" name="TextBox 3">
            <a:extLst>
              <a:ext uri="{FF2B5EF4-FFF2-40B4-BE49-F238E27FC236}">
                <a16:creationId xmlns:a16="http://schemas.microsoft.com/office/drawing/2014/main" id="{15EF84F3-8631-1827-3F90-5F74D25F837A}"/>
              </a:ext>
            </a:extLst>
          </p:cNvPr>
          <p:cNvSpPr txBox="1"/>
          <p:nvPr/>
        </p:nvSpPr>
        <p:spPr>
          <a:xfrm>
            <a:off x="749030" y="2344526"/>
            <a:ext cx="6245157" cy="1754326"/>
          </a:xfrm>
          <a:prstGeom prst="rect">
            <a:avLst/>
          </a:prstGeom>
          <a:noFill/>
        </p:spPr>
        <p:txBody>
          <a:bodyPr wrap="square">
            <a:spAutoFit/>
          </a:bodyPr>
          <a:lstStyle/>
          <a:p>
            <a:r>
              <a:rPr lang="en-US" sz="5400" dirty="0">
                <a:solidFill>
                  <a:schemeClr val="bg1"/>
                </a:solidFill>
                <a:latin typeface="+mj-lt"/>
                <a:cs typeface="Arial" pitchFamily="34" charset="0"/>
              </a:rPr>
              <a:t>Implementation with Agile Tools</a:t>
            </a:r>
            <a:endParaRPr lang="en-US" altLang="ko-KR" sz="5400" dirty="0">
              <a:solidFill>
                <a:schemeClr val="bg1"/>
              </a:solidFill>
              <a:latin typeface="+mj-lt"/>
              <a:cs typeface="Arial" pitchFamily="34" charset="0"/>
            </a:endParaRPr>
          </a:p>
        </p:txBody>
      </p:sp>
    </p:spTree>
    <p:extLst>
      <p:ext uri="{BB962C8B-B14F-4D97-AF65-F5344CB8AC3E}">
        <p14:creationId xmlns:p14="http://schemas.microsoft.com/office/powerpoint/2010/main" val="2581868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236545-7638-E584-C0BB-11A4E2F2A702}"/>
              </a:ext>
            </a:extLst>
          </p:cNvPr>
          <p:cNvSpPr txBox="1"/>
          <p:nvPr/>
        </p:nvSpPr>
        <p:spPr>
          <a:xfrm>
            <a:off x="0" y="-49297"/>
            <a:ext cx="6118698" cy="369332"/>
          </a:xfrm>
          <a:prstGeom prst="rect">
            <a:avLst/>
          </a:prstGeom>
          <a:solidFill>
            <a:srgbClr val="00B0F0"/>
          </a:solidFill>
        </p:spPr>
        <p:txBody>
          <a:bodyPr wrap="square">
            <a:spAutoFit/>
          </a:bodyPr>
          <a:lstStyle/>
          <a:p>
            <a:r>
              <a:rPr lang="en-IN" sz="1800" b="1" i="0" u="none" strike="noStrike" baseline="0" dirty="0">
                <a:solidFill>
                  <a:schemeClr val="bg1"/>
                </a:solidFill>
                <a:latin typeface="Calibri" panose="020F0502020204030204" pitchFamily="34" charset="0"/>
              </a:rPr>
              <a:t>6.1 </a:t>
            </a:r>
            <a:r>
              <a:rPr lang="en-US" sz="1800" b="1" i="0" u="none" strike="noStrike" baseline="0" dirty="0">
                <a:solidFill>
                  <a:schemeClr val="bg1"/>
                </a:solidFill>
                <a:latin typeface="Calibri" panose="020F0502020204030204" pitchFamily="34" charset="0"/>
              </a:rPr>
              <a:t>Introduction to Agile Tools :</a:t>
            </a:r>
            <a:endParaRPr lang="en-IN" b="1" dirty="0">
              <a:solidFill>
                <a:schemeClr val="bg1"/>
              </a:solidFill>
            </a:endParaRPr>
          </a:p>
        </p:txBody>
      </p:sp>
      <p:pic>
        <p:nvPicPr>
          <p:cNvPr id="7" name="Picture 6">
            <a:extLst>
              <a:ext uri="{FF2B5EF4-FFF2-40B4-BE49-F238E27FC236}">
                <a16:creationId xmlns:a16="http://schemas.microsoft.com/office/drawing/2014/main" id="{68819F1A-2C86-BCE5-E784-B9DA76106EAD}"/>
              </a:ext>
            </a:extLst>
          </p:cNvPr>
          <p:cNvPicPr>
            <a:picLocks noChangeAspect="1"/>
          </p:cNvPicPr>
          <p:nvPr/>
        </p:nvPicPr>
        <p:blipFill>
          <a:blip r:embed="rId2"/>
          <a:stretch>
            <a:fillRect/>
          </a:stretch>
        </p:blipFill>
        <p:spPr>
          <a:xfrm>
            <a:off x="1748416" y="1061323"/>
            <a:ext cx="8695167" cy="4735354"/>
          </a:xfrm>
          <a:prstGeom prst="rect">
            <a:avLst/>
          </a:prstGeom>
        </p:spPr>
      </p:pic>
    </p:spTree>
    <p:extLst>
      <p:ext uri="{BB962C8B-B14F-4D97-AF65-F5344CB8AC3E}">
        <p14:creationId xmlns:p14="http://schemas.microsoft.com/office/powerpoint/2010/main" val="2693093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236545-7638-E584-C0BB-11A4E2F2A702}"/>
              </a:ext>
            </a:extLst>
          </p:cNvPr>
          <p:cNvSpPr txBox="1"/>
          <p:nvPr/>
        </p:nvSpPr>
        <p:spPr>
          <a:xfrm>
            <a:off x="0" y="-49297"/>
            <a:ext cx="6118698" cy="369332"/>
          </a:xfrm>
          <a:prstGeom prst="rect">
            <a:avLst/>
          </a:prstGeom>
          <a:solidFill>
            <a:srgbClr val="00B0F0"/>
          </a:solidFill>
        </p:spPr>
        <p:txBody>
          <a:bodyPr wrap="square">
            <a:spAutoFit/>
          </a:bodyPr>
          <a:lstStyle/>
          <a:p>
            <a:r>
              <a:rPr lang="en-IN" sz="1800" b="1" i="0" u="none" strike="noStrike" baseline="0" dirty="0">
                <a:solidFill>
                  <a:schemeClr val="bg1"/>
                </a:solidFill>
                <a:latin typeface="Calibri" panose="020F0502020204030204" pitchFamily="34" charset="0"/>
              </a:rPr>
              <a:t>6.1 </a:t>
            </a:r>
            <a:r>
              <a:rPr lang="en-US" sz="1800" b="1" i="0" u="none" strike="noStrike" baseline="0" dirty="0">
                <a:solidFill>
                  <a:schemeClr val="bg1"/>
                </a:solidFill>
                <a:latin typeface="Calibri" panose="020F0502020204030204" pitchFamily="34" charset="0"/>
              </a:rPr>
              <a:t>Introduction to Agile Tools :</a:t>
            </a:r>
            <a:endParaRPr lang="en-IN" b="1" dirty="0">
              <a:solidFill>
                <a:schemeClr val="bg1"/>
              </a:solidFill>
            </a:endParaRPr>
          </a:p>
        </p:txBody>
      </p:sp>
      <p:sp>
        <p:nvSpPr>
          <p:cNvPr id="3" name="TextBox 2">
            <a:extLst>
              <a:ext uri="{FF2B5EF4-FFF2-40B4-BE49-F238E27FC236}">
                <a16:creationId xmlns:a16="http://schemas.microsoft.com/office/drawing/2014/main" id="{0F8D51FF-AE72-FD61-DF45-F34563875683}"/>
              </a:ext>
            </a:extLst>
          </p:cNvPr>
          <p:cNvSpPr txBox="1"/>
          <p:nvPr/>
        </p:nvSpPr>
        <p:spPr>
          <a:xfrm>
            <a:off x="320202" y="846705"/>
            <a:ext cx="11551595" cy="4524315"/>
          </a:xfrm>
          <a:prstGeom prst="rect">
            <a:avLst/>
          </a:prstGeom>
          <a:noFill/>
        </p:spPr>
        <p:txBody>
          <a:bodyPr wrap="square">
            <a:spAutoFit/>
          </a:bodyPr>
          <a:lstStyle/>
          <a:p>
            <a:pPr>
              <a:lnSpc>
                <a:spcPct val="150000"/>
              </a:lnSpc>
            </a:pPr>
            <a:r>
              <a:rPr lang="en-US" b="0" i="0" dirty="0">
                <a:solidFill>
                  <a:srgbClr val="273239"/>
                </a:solidFill>
                <a:effectLst/>
                <a:latin typeface="-apple-system"/>
              </a:rPr>
              <a:t>Agile tools are </a:t>
            </a:r>
            <a:r>
              <a:rPr lang="en-US" b="1" i="0" u="none" strike="noStrike" dirty="0">
                <a:solidFill>
                  <a:srgbClr val="E93F33"/>
                </a:solidFill>
                <a:effectLst/>
                <a:latin typeface="-apple-system"/>
              </a:rPr>
              <a:t>Project Management Tools</a:t>
            </a:r>
            <a:r>
              <a:rPr lang="en-US" b="0" i="0" dirty="0">
                <a:solidFill>
                  <a:srgbClr val="273239"/>
                </a:solidFill>
                <a:effectLst/>
                <a:latin typeface="-apple-system"/>
              </a:rPr>
              <a:t> designed to support agile methodology: Scrum, Kanban, </a:t>
            </a:r>
            <a:r>
              <a:rPr lang="en-US" b="0" i="0" dirty="0" err="1">
                <a:solidFill>
                  <a:srgbClr val="273239"/>
                </a:solidFill>
                <a:effectLst/>
                <a:latin typeface="-apple-system"/>
              </a:rPr>
              <a:t>Scrumban</a:t>
            </a:r>
            <a:r>
              <a:rPr lang="en-US" b="0" i="0" dirty="0">
                <a:solidFill>
                  <a:srgbClr val="273239"/>
                </a:solidFill>
                <a:effectLst/>
                <a:latin typeface="-apple-system"/>
              </a:rPr>
              <a:t>, or other agile hybrid methods. </a:t>
            </a:r>
          </a:p>
          <a:p>
            <a:pPr>
              <a:lnSpc>
                <a:spcPct val="150000"/>
              </a:lnSpc>
            </a:pPr>
            <a:r>
              <a:rPr lang="en-US" b="0" i="0" dirty="0">
                <a:solidFill>
                  <a:srgbClr val="273239"/>
                </a:solidFill>
                <a:effectLst/>
                <a:latin typeface="-apple-system"/>
              </a:rPr>
              <a:t>The following features of agile tools may </a:t>
            </a:r>
            <a:r>
              <a:rPr lang="en-US" dirty="0">
                <a:solidFill>
                  <a:srgbClr val="273239"/>
                </a:solidFill>
                <a:latin typeface="-apple-system"/>
              </a:rPr>
              <a:t>help the project manager </a:t>
            </a:r>
            <a:r>
              <a:rPr lang="en-US" b="0" i="0" dirty="0">
                <a:solidFill>
                  <a:srgbClr val="273239"/>
                </a:solidFill>
                <a:effectLst/>
                <a:latin typeface="-apple-system"/>
              </a:rPr>
              <a:t>and team members to consider the right one for their business purpose.</a:t>
            </a:r>
          </a:p>
          <a:p>
            <a:pPr lvl="1">
              <a:lnSpc>
                <a:spcPct val="150000"/>
              </a:lnSpc>
              <a:buFont typeface="Arial" panose="020B0604020202020204" pitchFamily="34" charset="0"/>
              <a:buChar char="•"/>
            </a:pPr>
            <a:r>
              <a:rPr lang="en-US" dirty="0">
                <a:latin typeface="-apple-system"/>
              </a:rPr>
              <a:t>Team Collaboration and Communication – The agile tool facilitates collaboration and communication among team members.</a:t>
            </a:r>
          </a:p>
          <a:p>
            <a:pPr lvl="1">
              <a:lnSpc>
                <a:spcPct val="150000"/>
              </a:lnSpc>
              <a:buFont typeface="Arial" panose="020B0604020202020204" pitchFamily="34" charset="0"/>
              <a:buChar char="•"/>
            </a:pPr>
            <a:r>
              <a:rPr lang="en-US" dirty="0">
                <a:latin typeface="-apple-system"/>
              </a:rPr>
              <a:t>Data Storage – An agile tool stores content in a single database, enabling cross-project reporting and analysis.</a:t>
            </a:r>
          </a:p>
          <a:p>
            <a:pPr lvl="1">
              <a:lnSpc>
                <a:spcPct val="150000"/>
              </a:lnSpc>
              <a:buFont typeface="Arial" panose="020B0604020202020204" pitchFamily="34" charset="0"/>
              <a:buChar char="•"/>
            </a:pPr>
            <a:r>
              <a:rPr lang="en-US" dirty="0">
                <a:latin typeface="-apple-system"/>
              </a:rPr>
              <a:t>Reporting and Analytics – The agile tools help analyze the performance and, based on their project manager, can make a report for future business success.</a:t>
            </a:r>
          </a:p>
          <a:p>
            <a:pPr marL="0" lvl="1">
              <a:lnSpc>
                <a:spcPct val="150000"/>
              </a:lnSpc>
            </a:pPr>
            <a:endParaRPr lang="en-US" dirty="0">
              <a:latin typeface="-apple-system"/>
            </a:endParaRPr>
          </a:p>
          <a:p>
            <a:endParaRPr lang="en-IN" dirty="0"/>
          </a:p>
        </p:txBody>
      </p:sp>
    </p:spTree>
    <p:extLst>
      <p:ext uri="{BB962C8B-B14F-4D97-AF65-F5344CB8AC3E}">
        <p14:creationId xmlns:p14="http://schemas.microsoft.com/office/powerpoint/2010/main" val="3022926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236545-7638-E584-C0BB-11A4E2F2A702}"/>
              </a:ext>
            </a:extLst>
          </p:cNvPr>
          <p:cNvSpPr txBox="1"/>
          <p:nvPr/>
        </p:nvSpPr>
        <p:spPr>
          <a:xfrm>
            <a:off x="0" y="-49297"/>
            <a:ext cx="6118698" cy="369332"/>
          </a:xfrm>
          <a:prstGeom prst="rect">
            <a:avLst/>
          </a:prstGeom>
          <a:solidFill>
            <a:srgbClr val="00B0F0"/>
          </a:solidFill>
        </p:spPr>
        <p:txBody>
          <a:bodyPr wrap="square">
            <a:spAutoFit/>
          </a:bodyPr>
          <a:lstStyle/>
          <a:p>
            <a:r>
              <a:rPr lang="en-IN" sz="1800" b="1" i="0" u="none" strike="noStrike" baseline="0" dirty="0">
                <a:solidFill>
                  <a:schemeClr val="bg1"/>
                </a:solidFill>
                <a:latin typeface="Calibri" panose="020F0502020204030204" pitchFamily="34" charset="0"/>
              </a:rPr>
              <a:t>6.1 </a:t>
            </a:r>
            <a:r>
              <a:rPr lang="en-US" sz="1800" b="1" i="0" u="none" strike="noStrike" baseline="0" dirty="0">
                <a:solidFill>
                  <a:schemeClr val="bg1"/>
                </a:solidFill>
                <a:latin typeface="Calibri" panose="020F0502020204030204" pitchFamily="34" charset="0"/>
              </a:rPr>
              <a:t>Introduction to Agile Tools :</a:t>
            </a:r>
            <a:endParaRPr lang="en-IN" b="1" dirty="0">
              <a:solidFill>
                <a:schemeClr val="bg1"/>
              </a:solidFill>
            </a:endParaRPr>
          </a:p>
        </p:txBody>
      </p:sp>
      <p:sp>
        <p:nvSpPr>
          <p:cNvPr id="7" name="TextBox 6">
            <a:extLst>
              <a:ext uri="{FF2B5EF4-FFF2-40B4-BE49-F238E27FC236}">
                <a16:creationId xmlns:a16="http://schemas.microsoft.com/office/drawing/2014/main" id="{116EEF0C-9586-979E-E5A0-B2EC46A7ED4F}"/>
              </a:ext>
            </a:extLst>
          </p:cNvPr>
          <p:cNvSpPr txBox="1"/>
          <p:nvPr/>
        </p:nvSpPr>
        <p:spPr>
          <a:xfrm>
            <a:off x="-22696" y="320035"/>
            <a:ext cx="6118696" cy="369332"/>
          </a:xfrm>
          <a:prstGeom prst="rect">
            <a:avLst/>
          </a:prstGeom>
          <a:noFill/>
        </p:spPr>
        <p:txBody>
          <a:bodyPr wrap="square">
            <a:spAutoFit/>
          </a:bodyPr>
          <a:lstStyle/>
          <a:p>
            <a:pPr algn="l" fontAlgn="base"/>
            <a:r>
              <a:rPr lang="en-US" b="1" i="0" dirty="0">
                <a:solidFill>
                  <a:srgbClr val="253858"/>
                </a:solidFill>
                <a:effectLst/>
                <a:latin typeface="Charlie Display"/>
              </a:rPr>
              <a:t>What is a Kanban Board?</a:t>
            </a:r>
          </a:p>
        </p:txBody>
      </p:sp>
      <p:sp>
        <p:nvSpPr>
          <p:cNvPr id="9" name="TextBox 8">
            <a:extLst>
              <a:ext uri="{FF2B5EF4-FFF2-40B4-BE49-F238E27FC236}">
                <a16:creationId xmlns:a16="http://schemas.microsoft.com/office/drawing/2014/main" id="{E111574A-07B8-3E4E-4DC7-AEDD41A913A5}"/>
              </a:ext>
            </a:extLst>
          </p:cNvPr>
          <p:cNvSpPr txBox="1"/>
          <p:nvPr/>
        </p:nvSpPr>
        <p:spPr>
          <a:xfrm>
            <a:off x="885217" y="1284929"/>
            <a:ext cx="5311302" cy="4446730"/>
          </a:xfrm>
          <a:prstGeom prst="rect">
            <a:avLst/>
          </a:prstGeom>
          <a:noFill/>
        </p:spPr>
        <p:txBody>
          <a:bodyPr wrap="square">
            <a:spAutoFit/>
          </a:bodyPr>
          <a:lstStyle/>
          <a:p>
            <a:pPr algn="just">
              <a:lnSpc>
                <a:spcPct val="200000"/>
              </a:lnSpc>
            </a:pPr>
            <a:r>
              <a:rPr lang="en-US" b="0" i="0" dirty="0">
                <a:solidFill>
                  <a:srgbClr val="091E42"/>
                </a:solidFill>
                <a:effectLst/>
                <a:latin typeface="Charlie Text"/>
              </a:rPr>
              <a:t>A kanban board is an agile project management tool designed to help visualize work, limit work-in-progress, and maximize efficiency (or flow). It can help both </a:t>
            </a:r>
            <a:r>
              <a:rPr lang="en-US" b="0" i="0" u="sng" dirty="0">
                <a:solidFill>
                  <a:srgbClr val="0052CC"/>
                </a:solidFill>
                <a:effectLst/>
                <a:latin typeface="Charlie Text"/>
              </a:rPr>
              <a:t>agile</a:t>
            </a:r>
            <a:r>
              <a:rPr lang="en-US" b="0" i="0" dirty="0">
                <a:solidFill>
                  <a:srgbClr val="091E42"/>
                </a:solidFill>
                <a:effectLst/>
                <a:latin typeface="Charlie Text"/>
              </a:rPr>
              <a:t> and </a:t>
            </a:r>
            <a:r>
              <a:rPr lang="en-US" b="0" i="0" u="sng" dirty="0">
                <a:solidFill>
                  <a:srgbClr val="0052CC"/>
                </a:solidFill>
                <a:effectLst/>
                <a:latin typeface="Charlie Text"/>
              </a:rPr>
              <a:t>DevOps</a:t>
            </a:r>
            <a:r>
              <a:rPr lang="en-US" b="0" i="0" dirty="0">
                <a:solidFill>
                  <a:srgbClr val="091E42"/>
                </a:solidFill>
                <a:effectLst/>
                <a:latin typeface="Charlie Text"/>
              </a:rPr>
              <a:t> teams establish order in their daily work. Kanban boards use cards, columns, and continuous improvement to help technology and service teams commit to the right amount of work, and get it done.</a:t>
            </a:r>
          </a:p>
        </p:txBody>
      </p:sp>
      <p:sp>
        <p:nvSpPr>
          <p:cNvPr id="12" name="Oval 11">
            <a:extLst>
              <a:ext uri="{FF2B5EF4-FFF2-40B4-BE49-F238E27FC236}">
                <a16:creationId xmlns:a16="http://schemas.microsoft.com/office/drawing/2014/main" id="{BDB7BE3A-2ED9-63D0-3148-5C1515A9EB9F}"/>
              </a:ext>
            </a:extLst>
          </p:cNvPr>
          <p:cNvSpPr/>
          <p:nvPr/>
        </p:nvSpPr>
        <p:spPr>
          <a:xfrm>
            <a:off x="7091464" y="1567626"/>
            <a:ext cx="4215319" cy="3881336"/>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i="0" u="none" strike="noStrike" dirty="0">
                <a:solidFill>
                  <a:schemeClr val="bg1"/>
                </a:solidFill>
                <a:effectLst/>
                <a:latin typeface="Charlie Text"/>
              </a:rPr>
              <a:t>"Kanban" is the Japanese word for "visual signal."</a:t>
            </a:r>
            <a:endParaRPr lang="en-IN" sz="2800" b="1" dirty="0">
              <a:solidFill>
                <a:schemeClr val="bg1"/>
              </a:solidFill>
            </a:endParaRPr>
          </a:p>
        </p:txBody>
      </p:sp>
    </p:spTree>
    <p:extLst>
      <p:ext uri="{BB962C8B-B14F-4D97-AF65-F5344CB8AC3E}">
        <p14:creationId xmlns:p14="http://schemas.microsoft.com/office/powerpoint/2010/main" val="2096566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236545-7638-E584-C0BB-11A4E2F2A702}"/>
              </a:ext>
            </a:extLst>
          </p:cNvPr>
          <p:cNvSpPr txBox="1"/>
          <p:nvPr/>
        </p:nvSpPr>
        <p:spPr>
          <a:xfrm>
            <a:off x="0" y="-49297"/>
            <a:ext cx="6118698" cy="369332"/>
          </a:xfrm>
          <a:prstGeom prst="rect">
            <a:avLst/>
          </a:prstGeom>
          <a:solidFill>
            <a:srgbClr val="00B0F0"/>
          </a:solidFill>
        </p:spPr>
        <p:txBody>
          <a:bodyPr wrap="square">
            <a:spAutoFit/>
          </a:bodyPr>
          <a:lstStyle/>
          <a:p>
            <a:r>
              <a:rPr lang="en-IN" sz="1800" b="1" i="0" u="none" strike="noStrike" baseline="0" dirty="0">
                <a:solidFill>
                  <a:schemeClr val="bg1"/>
                </a:solidFill>
                <a:latin typeface="Calibri" panose="020F0502020204030204" pitchFamily="34" charset="0"/>
              </a:rPr>
              <a:t>6.1 </a:t>
            </a:r>
            <a:r>
              <a:rPr lang="en-US" sz="1800" b="1" i="0" u="none" strike="noStrike" baseline="0" dirty="0">
                <a:solidFill>
                  <a:schemeClr val="bg1"/>
                </a:solidFill>
                <a:latin typeface="Calibri" panose="020F0502020204030204" pitchFamily="34" charset="0"/>
              </a:rPr>
              <a:t>Introduction to Agile Tools :</a:t>
            </a:r>
            <a:endParaRPr lang="en-IN" b="1" dirty="0">
              <a:solidFill>
                <a:schemeClr val="bg1"/>
              </a:solidFill>
            </a:endParaRPr>
          </a:p>
        </p:txBody>
      </p:sp>
      <p:sp>
        <p:nvSpPr>
          <p:cNvPr id="7" name="TextBox 6">
            <a:extLst>
              <a:ext uri="{FF2B5EF4-FFF2-40B4-BE49-F238E27FC236}">
                <a16:creationId xmlns:a16="http://schemas.microsoft.com/office/drawing/2014/main" id="{116EEF0C-9586-979E-E5A0-B2EC46A7ED4F}"/>
              </a:ext>
            </a:extLst>
          </p:cNvPr>
          <p:cNvSpPr txBox="1"/>
          <p:nvPr/>
        </p:nvSpPr>
        <p:spPr>
          <a:xfrm>
            <a:off x="-22696" y="290852"/>
            <a:ext cx="6118696" cy="369332"/>
          </a:xfrm>
          <a:prstGeom prst="rect">
            <a:avLst/>
          </a:prstGeom>
          <a:noFill/>
        </p:spPr>
        <p:txBody>
          <a:bodyPr wrap="square">
            <a:spAutoFit/>
          </a:bodyPr>
          <a:lstStyle/>
          <a:p>
            <a:pPr algn="l" fontAlgn="base"/>
            <a:r>
              <a:rPr lang="en-US" b="1" i="0" dirty="0">
                <a:solidFill>
                  <a:srgbClr val="FF0000"/>
                </a:solidFill>
                <a:effectLst/>
                <a:latin typeface="Charlie Display"/>
              </a:rPr>
              <a:t>Elements of Kanban Board?</a:t>
            </a:r>
          </a:p>
        </p:txBody>
      </p:sp>
      <p:sp>
        <p:nvSpPr>
          <p:cNvPr id="3" name="TextBox 2">
            <a:extLst>
              <a:ext uri="{FF2B5EF4-FFF2-40B4-BE49-F238E27FC236}">
                <a16:creationId xmlns:a16="http://schemas.microsoft.com/office/drawing/2014/main" id="{1CEB1F24-D961-CCE5-AE98-F8D065053A04}"/>
              </a:ext>
            </a:extLst>
          </p:cNvPr>
          <p:cNvSpPr txBox="1"/>
          <p:nvPr/>
        </p:nvSpPr>
        <p:spPr>
          <a:xfrm>
            <a:off x="0" y="768883"/>
            <a:ext cx="11702374" cy="646331"/>
          </a:xfrm>
          <a:prstGeom prst="rect">
            <a:avLst/>
          </a:prstGeom>
          <a:noFill/>
        </p:spPr>
        <p:txBody>
          <a:bodyPr wrap="square">
            <a:spAutoFit/>
          </a:bodyPr>
          <a:lstStyle/>
          <a:p>
            <a:r>
              <a:rPr lang="en-US" b="0" i="0" dirty="0">
                <a:solidFill>
                  <a:srgbClr val="091E42"/>
                </a:solidFill>
                <a:effectLst/>
                <a:latin typeface="Charlie Text"/>
              </a:rPr>
              <a:t>Kanban boards can be broken down into five components: Visual signals, columns, work-in-progress limits, a commitment point, and a delivery point.</a:t>
            </a:r>
            <a:endParaRPr lang="en-IN" dirty="0"/>
          </a:p>
        </p:txBody>
      </p:sp>
      <p:pic>
        <p:nvPicPr>
          <p:cNvPr id="6" name="Picture 5">
            <a:extLst>
              <a:ext uri="{FF2B5EF4-FFF2-40B4-BE49-F238E27FC236}">
                <a16:creationId xmlns:a16="http://schemas.microsoft.com/office/drawing/2014/main" id="{DED3EC09-41AE-136F-BFE7-4D0A651C3030}"/>
              </a:ext>
            </a:extLst>
          </p:cNvPr>
          <p:cNvPicPr>
            <a:picLocks noChangeAspect="1"/>
          </p:cNvPicPr>
          <p:nvPr/>
        </p:nvPicPr>
        <p:blipFill>
          <a:blip r:embed="rId2"/>
          <a:stretch>
            <a:fillRect/>
          </a:stretch>
        </p:blipFill>
        <p:spPr>
          <a:xfrm>
            <a:off x="2867228" y="1494730"/>
            <a:ext cx="6502940" cy="4865642"/>
          </a:xfrm>
          <a:prstGeom prst="rect">
            <a:avLst/>
          </a:prstGeom>
        </p:spPr>
      </p:pic>
    </p:spTree>
    <p:extLst>
      <p:ext uri="{BB962C8B-B14F-4D97-AF65-F5344CB8AC3E}">
        <p14:creationId xmlns:p14="http://schemas.microsoft.com/office/powerpoint/2010/main" val="2500369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236545-7638-E584-C0BB-11A4E2F2A702}"/>
              </a:ext>
            </a:extLst>
          </p:cNvPr>
          <p:cNvSpPr txBox="1"/>
          <p:nvPr/>
        </p:nvSpPr>
        <p:spPr>
          <a:xfrm>
            <a:off x="0" y="-49297"/>
            <a:ext cx="6118698" cy="369332"/>
          </a:xfrm>
          <a:prstGeom prst="rect">
            <a:avLst/>
          </a:prstGeom>
          <a:solidFill>
            <a:srgbClr val="00B0F0"/>
          </a:solidFill>
        </p:spPr>
        <p:txBody>
          <a:bodyPr wrap="square">
            <a:spAutoFit/>
          </a:bodyPr>
          <a:lstStyle/>
          <a:p>
            <a:r>
              <a:rPr lang="en-IN" sz="1800" b="1" i="0" u="none" strike="noStrike" baseline="0" dirty="0">
                <a:solidFill>
                  <a:schemeClr val="bg1"/>
                </a:solidFill>
                <a:latin typeface="Calibri" panose="020F0502020204030204" pitchFamily="34" charset="0"/>
              </a:rPr>
              <a:t>6.1 </a:t>
            </a:r>
            <a:r>
              <a:rPr lang="en-US" sz="1800" b="1" i="0" u="none" strike="noStrike" baseline="0" dirty="0">
                <a:solidFill>
                  <a:schemeClr val="bg1"/>
                </a:solidFill>
                <a:latin typeface="Calibri" panose="020F0502020204030204" pitchFamily="34" charset="0"/>
              </a:rPr>
              <a:t>Introduction to Agile Tools :</a:t>
            </a:r>
            <a:endParaRPr lang="en-IN" b="1" dirty="0">
              <a:solidFill>
                <a:schemeClr val="bg1"/>
              </a:solidFill>
            </a:endParaRPr>
          </a:p>
        </p:txBody>
      </p:sp>
      <p:sp>
        <p:nvSpPr>
          <p:cNvPr id="7" name="TextBox 6">
            <a:extLst>
              <a:ext uri="{FF2B5EF4-FFF2-40B4-BE49-F238E27FC236}">
                <a16:creationId xmlns:a16="http://schemas.microsoft.com/office/drawing/2014/main" id="{116EEF0C-9586-979E-E5A0-B2EC46A7ED4F}"/>
              </a:ext>
            </a:extLst>
          </p:cNvPr>
          <p:cNvSpPr txBox="1"/>
          <p:nvPr/>
        </p:nvSpPr>
        <p:spPr>
          <a:xfrm>
            <a:off x="-22696" y="320035"/>
            <a:ext cx="6118696" cy="369332"/>
          </a:xfrm>
          <a:prstGeom prst="rect">
            <a:avLst/>
          </a:prstGeom>
          <a:noFill/>
        </p:spPr>
        <p:txBody>
          <a:bodyPr wrap="square">
            <a:spAutoFit/>
          </a:bodyPr>
          <a:lstStyle/>
          <a:p>
            <a:pPr algn="l" fontAlgn="base"/>
            <a:r>
              <a:rPr lang="en-US" b="1" i="0" dirty="0">
                <a:solidFill>
                  <a:srgbClr val="FF0000"/>
                </a:solidFill>
                <a:effectLst/>
                <a:latin typeface="Charlie Display"/>
              </a:rPr>
              <a:t>Elements of Kanban Board?</a:t>
            </a:r>
          </a:p>
        </p:txBody>
      </p:sp>
      <p:sp>
        <p:nvSpPr>
          <p:cNvPr id="9" name="TextBox 8">
            <a:extLst>
              <a:ext uri="{FF2B5EF4-FFF2-40B4-BE49-F238E27FC236}">
                <a16:creationId xmlns:a16="http://schemas.microsoft.com/office/drawing/2014/main" id="{896AF2C4-3E9B-2218-422E-D1325AE02868}"/>
              </a:ext>
            </a:extLst>
          </p:cNvPr>
          <p:cNvSpPr txBox="1"/>
          <p:nvPr/>
        </p:nvSpPr>
        <p:spPr>
          <a:xfrm>
            <a:off x="0" y="574810"/>
            <a:ext cx="11799651" cy="6697346"/>
          </a:xfrm>
          <a:prstGeom prst="rect">
            <a:avLst/>
          </a:prstGeom>
          <a:noFill/>
        </p:spPr>
        <p:txBody>
          <a:bodyPr wrap="square">
            <a:spAutoFit/>
          </a:bodyPr>
          <a:lstStyle/>
          <a:p>
            <a:pPr algn="just" fontAlgn="base">
              <a:lnSpc>
                <a:spcPct val="150000"/>
              </a:lnSpc>
              <a:buFont typeface="+mj-lt"/>
              <a:buAutoNum type="arabicPeriod"/>
            </a:pPr>
            <a:r>
              <a:rPr lang="en-US" b="1" i="0" dirty="0">
                <a:solidFill>
                  <a:srgbClr val="091E42"/>
                </a:solidFill>
                <a:effectLst/>
                <a:latin typeface="Charlie Text"/>
              </a:rPr>
              <a:t>Visual Signals</a:t>
            </a:r>
            <a:r>
              <a:rPr lang="en-US" b="0" i="0" dirty="0">
                <a:solidFill>
                  <a:srgbClr val="091E42"/>
                </a:solidFill>
                <a:effectLst/>
                <a:latin typeface="Charlie Text"/>
              </a:rPr>
              <a:t> — One of the first things you’ll notice about a kanban board are the </a:t>
            </a:r>
            <a:r>
              <a:rPr lang="en-US" b="1" i="0" dirty="0">
                <a:solidFill>
                  <a:srgbClr val="091E42"/>
                </a:solidFill>
                <a:effectLst/>
                <a:latin typeface="Charlie Text"/>
              </a:rPr>
              <a:t>visual cards </a:t>
            </a:r>
            <a:r>
              <a:rPr lang="en-US" b="0" i="0" dirty="0">
                <a:solidFill>
                  <a:srgbClr val="091E42"/>
                </a:solidFill>
                <a:effectLst/>
                <a:latin typeface="Charlie Text"/>
              </a:rPr>
              <a:t>(stickies, tickets, or otherwise). Kanban teams write all of their projects and work items onto cards, usually one per card. For agile teams, each card could encapsulate one</a:t>
            </a:r>
            <a:r>
              <a:rPr lang="en-US" i="0" dirty="0">
                <a:solidFill>
                  <a:srgbClr val="0052CC"/>
                </a:solidFill>
                <a:effectLst/>
                <a:latin typeface="Charlie Text"/>
              </a:rPr>
              <a:t> user story</a:t>
            </a:r>
            <a:r>
              <a:rPr lang="en-US" b="0" i="0" dirty="0">
                <a:solidFill>
                  <a:srgbClr val="091E42"/>
                </a:solidFill>
                <a:effectLst/>
                <a:latin typeface="Charlie Text"/>
              </a:rPr>
              <a:t>. Once on the board, these visual signals help teammates and stakeholders quickly understand what the team is working on.</a:t>
            </a:r>
          </a:p>
          <a:p>
            <a:pPr algn="just" fontAlgn="base">
              <a:lnSpc>
                <a:spcPct val="150000"/>
              </a:lnSpc>
              <a:buFont typeface="+mj-lt"/>
              <a:buAutoNum type="arabicPeriod"/>
            </a:pPr>
            <a:r>
              <a:rPr lang="en-US" b="1" i="0" dirty="0">
                <a:solidFill>
                  <a:srgbClr val="091E42"/>
                </a:solidFill>
                <a:effectLst/>
                <a:latin typeface="Charlie Text"/>
              </a:rPr>
              <a:t>Columns</a:t>
            </a:r>
            <a:r>
              <a:rPr lang="en-US" b="0" i="0" dirty="0">
                <a:solidFill>
                  <a:srgbClr val="091E42"/>
                </a:solidFill>
                <a:effectLst/>
                <a:latin typeface="Charlie Text"/>
              </a:rPr>
              <a:t> — Another hallmark of the kanban board are the columns. </a:t>
            </a:r>
            <a:r>
              <a:rPr lang="en-US" b="1" i="0" dirty="0">
                <a:solidFill>
                  <a:srgbClr val="091E42"/>
                </a:solidFill>
                <a:effectLst/>
                <a:latin typeface="Charlie Text"/>
              </a:rPr>
              <a:t>Each column represents a specific activity </a:t>
            </a:r>
            <a:r>
              <a:rPr lang="en-US" b="0" i="0" dirty="0">
                <a:solidFill>
                  <a:srgbClr val="091E42"/>
                </a:solidFill>
                <a:effectLst/>
                <a:latin typeface="Charlie Text"/>
              </a:rPr>
              <a:t>that together compose a “workflow”. Cards flow through the workflow until completion. </a:t>
            </a:r>
            <a:r>
              <a:rPr lang="en-US" b="1" i="0" dirty="0">
                <a:solidFill>
                  <a:srgbClr val="0052CC"/>
                </a:solidFill>
                <a:effectLst/>
                <a:latin typeface="Charlie Text"/>
              </a:rPr>
              <a:t>Workflows</a:t>
            </a:r>
            <a:r>
              <a:rPr lang="en-US" b="1" i="0" dirty="0">
                <a:solidFill>
                  <a:srgbClr val="091E42"/>
                </a:solidFill>
                <a:effectLst/>
                <a:latin typeface="Charlie Text"/>
              </a:rPr>
              <a:t> can be as simple as “To Do,” “In Progress,” “Complete,” or much more complex.</a:t>
            </a:r>
          </a:p>
          <a:p>
            <a:pPr algn="just" fontAlgn="base">
              <a:lnSpc>
                <a:spcPct val="150000"/>
              </a:lnSpc>
              <a:buFont typeface="+mj-lt"/>
              <a:buAutoNum type="arabicPeriod"/>
            </a:pPr>
            <a:r>
              <a:rPr lang="en-US" b="1" i="0" dirty="0">
                <a:solidFill>
                  <a:srgbClr val="091E42"/>
                </a:solidFill>
                <a:effectLst/>
                <a:latin typeface="Charlie Text"/>
              </a:rPr>
              <a:t>Work In Progress (WIP) Limits</a:t>
            </a:r>
            <a:r>
              <a:rPr lang="en-US" b="0" i="0" dirty="0">
                <a:solidFill>
                  <a:srgbClr val="091E42"/>
                </a:solidFill>
                <a:effectLst/>
                <a:latin typeface="Charlie Text"/>
              </a:rPr>
              <a:t> — WIP limits are the maximum number of cards that can be in one column at any given time. </a:t>
            </a:r>
            <a:r>
              <a:rPr lang="en-US" b="1" i="0" dirty="0">
                <a:solidFill>
                  <a:srgbClr val="091E42"/>
                </a:solidFill>
                <a:effectLst/>
                <a:latin typeface="Charlie Text"/>
              </a:rPr>
              <a:t>A column with a WIP limit of three cannot have more than three cards in it</a:t>
            </a:r>
            <a:r>
              <a:rPr lang="en-US" b="0" i="0" dirty="0">
                <a:solidFill>
                  <a:srgbClr val="091E42"/>
                </a:solidFill>
                <a:effectLst/>
                <a:latin typeface="Charlie Text"/>
              </a:rPr>
              <a:t>. When the column is “maxed-out” the team needs to swarm on those cards and move them forward before new cards can move into that stage of the workflow. These WIP limits are critical for exposing bottlenecks in the workflow and maximizing flow. WIP limits give you an early warning sign that you committed to too much work.</a:t>
            </a:r>
          </a:p>
          <a:p>
            <a:pPr algn="just" fontAlgn="base">
              <a:lnSpc>
                <a:spcPct val="150000"/>
              </a:lnSpc>
              <a:buFont typeface="+mj-lt"/>
              <a:buAutoNum type="arabicPeriod"/>
            </a:pPr>
            <a:r>
              <a:rPr lang="en-US" b="1" i="0" dirty="0">
                <a:solidFill>
                  <a:srgbClr val="091E42"/>
                </a:solidFill>
                <a:effectLst/>
                <a:latin typeface="Charlie Text"/>
              </a:rPr>
              <a:t>Commitment point</a:t>
            </a:r>
            <a:r>
              <a:rPr lang="en-US" b="0" i="0" dirty="0">
                <a:solidFill>
                  <a:srgbClr val="091E42"/>
                </a:solidFill>
                <a:effectLst/>
                <a:latin typeface="Charlie Text"/>
              </a:rPr>
              <a:t> — Kanban teams often have a backlog for their board. This is where customers and teammates put ideas for projects that the team can pick up when they are ready. </a:t>
            </a:r>
            <a:r>
              <a:rPr lang="en-US" b="1" i="0" dirty="0">
                <a:solidFill>
                  <a:srgbClr val="091E42"/>
                </a:solidFill>
                <a:effectLst/>
                <a:latin typeface="Charlie Text"/>
              </a:rPr>
              <a:t>The commitment point is the moment when an idea is picked up by the team and work starts on the project.</a:t>
            </a:r>
          </a:p>
          <a:p>
            <a:pPr algn="just" fontAlgn="base">
              <a:lnSpc>
                <a:spcPct val="150000"/>
              </a:lnSpc>
              <a:buFont typeface="+mj-lt"/>
              <a:buAutoNum type="arabicPeriod"/>
            </a:pPr>
            <a:endParaRPr lang="en-US" b="0" i="0" dirty="0">
              <a:solidFill>
                <a:srgbClr val="091E42"/>
              </a:solidFill>
              <a:effectLst/>
              <a:latin typeface="Charlie Text"/>
            </a:endParaRPr>
          </a:p>
        </p:txBody>
      </p:sp>
    </p:spTree>
    <p:extLst>
      <p:ext uri="{BB962C8B-B14F-4D97-AF65-F5344CB8AC3E}">
        <p14:creationId xmlns:p14="http://schemas.microsoft.com/office/powerpoint/2010/main" val="1490526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236545-7638-E584-C0BB-11A4E2F2A702}"/>
              </a:ext>
            </a:extLst>
          </p:cNvPr>
          <p:cNvSpPr txBox="1"/>
          <p:nvPr/>
        </p:nvSpPr>
        <p:spPr>
          <a:xfrm>
            <a:off x="0" y="-49297"/>
            <a:ext cx="6118698" cy="369332"/>
          </a:xfrm>
          <a:prstGeom prst="rect">
            <a:avLst/>
          </a:prstGeom>
          <a:solidFill>
            <a:srgbClr val="00B0F0"/>
          </a:solidFill>
        </p:spPr>
        <p:txBody>
          <a:bodyPr wrap="square">
            <a:spAutoFit/>
          </a:bodyPr>
          <a:lstStyle/>
          <a:p>
            <a:r>
              <a:rPr lang="en-IN" sz="1800" b="1" i="0" u="none" strike="noStrike" baseline="0" dirty="0">
                <a:solidFill>
                  <a:schemeClr val="bg1"/>
                </a:solidFill>
                <a:latin typeface="Calibri" panose="020F0502020204030204" pitchFamily="34" charset="0"/>
              </a:rPr>
              <a:t>6.1 </a:t>
            </a:r>
            <a:r>
              <a:rPr lang="en-US" sz="1800" b="1" i="0" u="none" strike="noStrike" baseline="0" dirty="0">
                <a:solidFill>
                  <a:schemeClr val="bg1"/>
                </a:solidFill>
                <a:latin typeface="Calibri" panose="020F0502020204030204" pitchFamily="34" charset="0"/>
              </a:rPr>
              <a:t>Introduction to Agile Tools :</a:t>
            </a:r>
            <a:endParaRPr lang="en-IN" b="1" dirty="0">
              <a:solidFill>
                <a:schemeClr val="bg1"/>
              </a:solidFill>
            </a:endParaRPr>
          </a:p>
        </p:txBody>
      </p:sp>
      <p:sp>
        <p:nvSpPr>
          <p:cNvPr id="7" name="TextBox 6">
            <a:extLst>
              <a:ext uri="{FF2B5EF4-FFF2-40B4-BE49-F238E27FC236}">
                <a16:creationId xmlns:a16="http://schemas.microsoft.com/office/drawing/2014/main" id="{116EEF0C-9586-979E-E5A0-B2EC46A7ED4F}"/>
              </a:ext>
            </a:extLst>
          </p:cNvPr>
          <p:cNvSpPr txBox="1"/>
          <p:nvPr/>
        </p:nvSpPr>
        <p:spPr>
          <a:xfrm>
            <a:off x="-22696" y="320035"/>
            <a:ext cx="6118696" cy="369332"/>
          </a:xfrm>
          <a:prstGeom prst="rect">
            <a:avLst/>
          </a:prstGeom>
          <a:noFill/>
        </p:spPr>
        <p:txBody>
          <a:bodyPr wrap="square">
            <a:spAutoFit/>
          </a:bodyPr>
          <a:lstStyle/>
          <a:p>
            <a:pPr algn="l" fontAlgn="base"/>
            <a:r>
              <a:rPr lang="en-US" b="1" i="0" dirty="0">
                <a:solidFill>
                  <a:srgbClr val="FF0000"/>
                </a:solidFill>
                <a:effectLst/>
                <a:latin typeface="Charlie Display"/>
              </a:rPr>
              <a:t>Elements of Kanban Board?</a:t>
            </a:r>
          </a:p>
        </p:txBody>
      </p:sp>
      <p:sp>
        <p:nvSpPr>
          <p:cNvPr id="6" name="TextBox 5">
            <a:extLst>
              <a:ext uri="{FF2B5EF4-FFF2-40B4-BE49-F238E27FC236}">
                <a16:creationId xmlns:a16="http://schemas.microsoft.com/office/drawing/2014/main" id="{FE8CDEE5-EFD3-36E1-3D85-A73E5DADF9B5}"/>
              </a:ext>
            </a:extLst>
          </p:cNvPr>
          <p:cNvSpPr txBox="1"/>
          <p:nvPr/>
        </p:nvSpPr>
        <p:spPr>
          <a:xfrm>
            <a:off x="0" y="769363"/>
            <a:ext cx="11887200" cy="1711366"/>
          </a:xfrm>
          <a:prstGeom prst="rect">
            <a:avLst/>
          </a:prstGeom>
          <a:noFill/>
        </p:spPr>
        <p:txBody>
          <a:bodyPr wrap="square">
            <a:spAutoFit/>
          </a:bodyPr>
          <a:lstStyle/>
          <a:p>
            <a:pPr algn="just" fontAlgn="base">
              <a:lnSpc>
                <a:spcPct val="150000"/>
              </a:lnSpc>
            </a:pPr>
            <a:r>
              <a:rPr lang="en-US" b="1" i="0" dirty="0">
                <a:solidFill>
                  <a:srgbClr val="091E42"/>
                </a:solidFill>
                <a:effectLst/>
                <a:latin typeface="Charlie Text"/>
              </a:rPr>
              <a:t>5. Delivery point</a:t>
            </a:r>
            <a:r>
              <a:rPr lang="en-US" b="0" i="0" dirty="0">
                <a:solidFill>
                  <a:srgbClr val="091E42"/>
                </a:solidFill>
                <a:effectLst/>
                <a:latin typeface="Charlie Text"/>
              </a:rPr>
              <a:t> — </a:t>
            </a:r>
            <a:r>
              <a:rPr lang="en-US" b="1" i="0" dirty="0">
                <a:solidFill>
                  <a:srgbClr val="091E42"/>
                </a:solidFill>
                <a:effectLst/>
                <a:latin typeface="Charlie Text"/>
              </a:rPr>
              <a:t>The delivery point is the end of a kanban team’s workflow</a:t>
            </a:r>
            <a:r>
              <a:rPr lang="en-US" b="0" i="0" dirty="0">
                <a:solidFill>
                  <a:srgbClr val="091E42"/>
                </a:solidFill>
                <a:effectLst/>
                <a:latin typeface="Charlie Text"/>
              </a:rPr>
              <a:t>. For most teams, the delivery point is when the product or service is in the hands of the customer. The team’s goal is to take cards from the commitment point to the delivery point as fast as possible. The elapsed time between the two is the called Lead Time. Kanban teams are continuously improving to decrease their lead time as much as possible.  </a:t>
            </a:r>
          </a:p>
        </p:txBody>
      </p:sp>
      <p:pic>
        <p:nvPicPr>
          <p:cNvPr id="10" name="Picture 9">
            <a:extLst>
              <a:ext uri="{FF2B5EF4-FFF2-40B4-BE49-F238E27FC236}">
                <a16:creationId xmlns:a16="http://schemas.microsoft.com/office/drawing/2014/main" id="{F07E6C61-84C6-ADCC-0467-A6ABB6B3E3EF}"/>
              </a:ext>
            </a:extLst>
          </p:cNvPr>
          <p:cNvPicPr>
            <a:picLocks noChangeAspect="1"/>
          </p:cNvPicPr>
          <p:nvPr/>
        </p:nvPicPr>
        <p:blipFill>
          <a:blip r:embed="rId2"/>
          <a:stretch>
            <a:fillRect/>
          </a:stretch>
        </p:blipFill>
        <p:spPr>
          <a:xfrm>
            <a:off x="2336582" y="2646099"/>
            <a:ext cx="7518836" cy="3734255"/>
          </a:xfrm>
          <a:prstGeom prst="rect">
            <a:avLst/>
          </a:prstGeom>
        </p:spPr>
      </p:pic>
    </p:spTree>
    <p:extLst>
      <p:ext uri="{BB962C8B-B14F-4D97-AF65-F5344CB8AC3E}">
        <p14:creationId xmlns:p14="http://schemas.microsoft.com/office/powerpoint/2010/main" val="3771795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236545-7638-E584-C0BB-11A4E2F2A702}"/>
              </a:ext>
            </a:extLst>
          </p:cNvPr>
          <p:cNvSpPr txBox="1"/>
          <p:nvPr/>
        </p:nvSpPr>
        <p:spPr>
          <a:xfrm>
            <a:off x="0" y="-656"/>
            <a:ext cx="2441643" cy="369332"/>
          </a:xfrm>
          <a:prstGeom prst="rect">
            <a:avLst/>
          </a:prstGeom>
          <a:solidFill>
            <a:srgbClr val="00B0F0"/>
          </a:solidFill>
        </p:spPr>
        <p:txBody>
          <a:bodyPr wrap="square">
            <a:spAutoFit/>
          </a:bodyPr>
          <a:lstStyle/>
          <a:p>
            <a:r>
              <a:rPr lang="en-IN" sz="1800" b="1" i="0" u="none" strike="noStrike" baseline="0" dirty="0">
                <a:solidFill>
                  <a:schemeClr val="bg1"/>
                </a:solidFill>
                <a:latin typeface="Calibri" panose="020F0502020204030204" pitchFamily="34" charset="0"/>
              </a:rPr>
              <a:t>6.2 Hands on GitHub</a:t>
            </a:r>
            <a:r>
              <a:rPr lang="en-US" sz="1800" b="1" i="0" u="none" strike="noStrike" baseline="0" dirty="0">
                <a:solidFill>
                  <a:schemeClr val="bg1"/>
                </a:solidFill>
                <a:latin typeface="Calibri" panose="020F0502020204030204" pitchFamily="34" charset="0"/>
              </a:rPr>
              <a:t> :</a:t>
            </a:r>
            <a:endParaRPr lang="en-IN" b="1" dirty="0">
              <a:solidFill>
                <a:schemeClr val="bg1"/>
              </a:solidFill>
            </a:endParaRPr>
          </a:p>
        </p:txBody>
      </p:sp>
      <p:sp>
        <p:nvSpPr>
          <p:cNvPr id="3" name="TextBox 2">
            <a:extLst>
              <a:ext uri="{FF2B5EF4-FFF2-40B4-BE49-F238E27FC236}">
                <a16:creationId xmlns:a16="http://schemas.microsoft.com/office/drawing/2014/main" id="{2113EA05-DA21-6B62-586F-7419954A0110}"/>
              </a:ext>
            </a:extLst>
          </p:cNvPr>
          <p:cNvSpPr txBox="1"/>
          <p:nvPr/>
        </p:nvSpPr>
        <p:spPr>
          <a:xfrm>
            <a:off x="2" y="413585"/>
            <a:ext cx="6118696" cy="369332"/>
          </a:xfrm>
          <a:prstGeom prst="rect">
            <a:avLst/>
          </a:prstGeom>
          <a:noFill/>
        </p:spPr>
        <p:txBody>
          <a:bodyPr wrap="square">
            <a:spAutoFit/>
          </a:bodyPr>
          <a:lstStyle/>
          <a:p>
            <a:r>
              <a:rPr lang="en-US" sz="1800" b="1" i="0" u="none" strike="noStrike" baseline="0" dirty="0">
                <a:solidFill>
                  <a:srgbClr val="FF0000"/>
                </a:solidFill>
                <a:latin typeface="Calibri" panose="020F0502020204030204" pitchFamily="34" charset="0"/>
              </a:rPr>
              <a:t>6.2.1 Create Project using Kanban</a:t>
            </a:r>
            <a:endParaRPr lang="en-IN" b="1" dirty="0">
              <a:solidFill>
                <a:srgbClr val="FF0000"/>
              </a:solidFill>
            </a:endParaRPr>
          </a:p>
        </p:txBody>
      </p:sp>
      <p:sp>
        <p:nvSpPr>
          <p:cNvPr id="11" name="TextBox 10">
            <a:extLst>
              <a:ext uri="{FF2B5EF4-FFF2-40B4-BE49-F238E27FC236}">
                <a16:creationId xmlns:a16="http://schemas.microsoft.com/office/drawing/2014/main" id="{78135644-EE58-876D-AD74-6C12236CDD58}"/>
              </a:ext>
            </a:extLst>
          </p:cNvPr>
          <p:cNvSpPr txBox="1"/>
          <p:nvPr/>
        </p:nvSpPr>
        <p:spPr>
          <a:xfrm>
            <a:off x="3460615" y="3575074"/>
            <a:ext cx="5316166" cy="369332"/>
          </a:xfrm>
          <a:prstGeom prst="rect">
            <a:avLst/>
          </a:prstGeom>
          <a:solidFill>
            <a:schemeClr val="tx1">
              <a:lumMod val="75000"/>
              <a:lumOff val="25000"/>
            </a:schemeClr>
          </a:solidFill>
        </p:spPr>
        <p:txBody>
          <a:bodyPr wrap="square">
            <a:spAutoFit/>
          </a:bodyPr>
          <a:lstStyle/>
          <a:p>
            <a:r>
              <a:rPr lang="en-IN" dirty="0">
                <a:solidFill>
                  <a:schemeClr val="bg1"/>
                </a:solidFill>
              </a:rPr>
              <a:t>https://www.youtube.com/watch?v=7MDWfAsrrtw</a:t>
            </a:r>
          </a:p>
        </p:txBody>
      </p:sp>
      <p:sp>
        <p:nvSpPr>
          <p:cNvPr id="12" name="TextBox 11">
            <a:extLst>
              <a:ext uri="{FF2B5EF4-FFF2-40B4-BE49-F238E27FC236}">
                <a16:creationId xmlns:a16="http://schemas.microsoft.com/office/drawing/2014/main" id="{94F223D8-B63B-2E65-C255-89E6FD66C017}"/>
              </a:ext>
            </a:extLst>
          </p:cNvPr>
          <p:cNvSpPr txBox="1"/>
          <p:nvPr/>
        </p:nvSpPr>
        <p:spPr>
          <a:xfrm>
            <a:off x="2441643" y="3059668"/>
            <a:ext cx="8122595" cy="369332"/>
          </a:xfrm>
          <a:prstGeom prst="rect">
            <a:avLst/>
          </a:prstGeom>
          <a:noFill/>
        </p:spPr>
        <p:txBody>
          <a:bodyPr wrap="square" rtlCol="0">
            <a:spAutoFit/>
          </a:bodyPr>
          <a:lstStyle/>
          <a:p>
            <a:r>
              <a:rPr lang="en-IN" dirty="0">
                <a:solidFill>
                  <a:srgbClr val="0070C0"/>
                </a:solidFill>
              </a:rPr>
              <a:t>Refer below link to see tutorial on how to create project using Kanban</a:t>
            </a:r>
          </a:p>
        </p:txBody>
      </p:sp>
      <p:sp>
        <p:nvSpPr>
          <p:cNvPr id="5" name="TextBox 4">
            <a:extLst>
              <a:ext uri="{FF2B5EF4-FFF2-40B4-BE49-F238E27FC236}">
                <a16:creationId xmlns:a16="http://schemas.microsoft.com/office/drawing/2014/main" id="{AAF54928-6C2C-452C-D27A-322F7EA5F04F}"/>
              </a:ext>
            </a:extLst>
          </p:cNvPr>
          <p:cNvSpPr txBox="1"/>
          <p:nvPr/>
        </p:nvSpPr>
        <p:spPr>
          <a:xfrm>
            <a:off x="3460615" y="4270602"/>
            <a:ext cx="6118696" cy="369332"/>
          </a:xfrm>
          <a:prstGeom prst="rect">
            <a:avLst/>
          </a:prstGeom>
          <a:noFill/>
        </p:spPr>
        <p:txBody>
          <a:bodyPr wrap="square">
            <a:spAutoFit/>
          </a:bodyPr>
          <a:lstStyle/>
          <a:p>
            <a:r>
              <a:rPr lang="en-IN" dirty="0"/>
              <a:t>https://www.youtube.com/watch?v=suJBmpECJAY</a:t>
            </a:r>
          </a:p>
        </p:txBody>
      </p:sp>
    </p:spTree>
    <p:extLst>
      <p:ext uri="{BB962C8B-B14F-4D97-AF65-F5344CB8AC3E}">
        <p14:creationId xmlns:p14="http://schemas.microsoft.com/office/powerpoint/2010/main" val="4217854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236545-7638-E584-C0BB-11A4E2F2A702}"/>
              </a:ext>
            </a:extLst>
          </p:cNvPr>
          <p:cNvSpPr txBox="1"/>
          <p:nvPr/>
        </p:nvSpPr>
        <p:spPr>
          <a:xfrm>
            <a:off x="0" y="-656"/>
            <a:ext cx="2441643" cy="369332"/>
          </a:xfrm>
          <a:prstGeom prst="rect">
            <a:avLst/>
          </a:prstGeom>
          <a:solidFill>
            <a:srgbClr val="00B0F0"/>
          </a:solidFill>
        </p:spPr>
        <p:txBody>
          <a:bodyPr wrap="square">
            <a:spAutoFit/>
          </a:bodyPr>
          <a:lstStyle/>
          <a:p>
            <a:r>
              <a:rPr lang="en-IN" sz="1800" b="1" i="0" u="none" strike="noStrike" baseline="0" dirty="0">
                <a:solidFill>
                  <a:schemeClr val="bg1"/>
                </a:solidFill>
                <a:latin typeface="Calibri" panose="020F0502020204030204" pitchFamily="34" charset="0"/>
              </a:rPr>
              <a:t>6.2 Hands on GitHub</a:t>
            </a:r>
            <a:r>
              <a:rPr lang="en-US" sz="1800" b="1" i="0" u="none" strike="noStrike" baseline="0" dirty="0">
                <a:solidFill>
                  <a:schemeClr val="bg1"/>
                </a:solidFill>
                <a:latin typeface="Calibri" panose="020F0502020204030204" pitchFamily="34" charset="0"/>
              </a:rPr>
              <a:t> :</a:t>
            </a:r>
            <a:endParaRPr lang="en-IN" b="1" dirty="0">
              <a:solidFill>
                <a:schemeClr val="bg1"/>
              </a:solidFill>
            </a:endParaRPr>
          </a:p>
        </p:txBody>
      </p:sp>
      <p:sp>
        <p:nvSpPr>
          <p:cNvPr id="3" name="TextBox 2">
            <a:extLst>
              <a:ext uri="{FF2B5EF4-FFF2-40B4-BE49-F238E27FC236}">
                <a16:creationId xmlns:a16="http://schemas.microsoft.com/office/drawing/2014/main" id="{2113EA05-DA21-6B62-586F-7419954A0110}"/>
              </a:ext>
            </a:extLst>
          </p:cNvPr>
          <p:cNvSpPr txBox="1"/>
          <p:nvPr/>
        </p:nvSpPr>
        <p:spPr>
          <a:xfrm>
            <a:off x="2" y="413585"/>
            <a:ext cx="6118696" cy="369332"/>
          </a:xfrm>
          <a:prstGeom prst="rect">
            <a:avLst/>
          </a:prstGeom>
          <a:noFill/>
        </p:spPr>
        <p:txBody>
          <a:bodyPr wrap="square">
            <a:spAutoFit/>
          </a:bodyPr>
          <a:lstStyle/>
          <a:p>
            <a:r>
              <a:rPr lang="en-US" sz="1800" b="1" i="0" u="none" strike="noStrike" baseline="0" dirty="0">
                <a:solidFill>
                  <a:srgbClr val="FF0000"/>
                </a:solidFill>
                <a:latin typeface="Calibri" panose="020F0502020204030204" pitchFamily="34" charset="0"/>
              </a:rPr>
              <a:t>6.2.1 Create Project using Kanban</a:t>
            </a:r>
            <a:endParaRPr lang="en-IN" b="1" dirty="0">
              <a:solidFill>
                <a:srgbClr val="FF0000"/>
              </a:solidFill>
            </a:endParaRPr>
          </a:p>
        </p:txBody>
      </p:sp>
      <p:sp>
        <p:nvSpPr>
          <p:cNvPr id="6" name="TextBox 5">
            <a:extLst>
              <a:ext uri="{FF2B5EF4-FFF2-40B4-BE49-F238E27FC236}">
                <a16:creationId xmlns:a16="http://schemas.microsoft.com/office/drawing/2014/main" id="{FF8140AD-B363-900F-2A67-9FFB2ECF607F}"/>
              </a:ext>
            </a:extLst>
          </p:cNvPr>
          <p:cNvSpPr txBox="1"/>
          <p:nvPr/>
        </p:nvSpPr>
        <p:spPr>
          <a:xfrm>
            <a:off x="3010711" y="3229742"/>
            <a:ext cx="6118696" cy="369332"/>
          </a:xfrm>
          <a:prstGeom prst="rect">
            <a:avLst/>
          </a:prstGeom>
          <a:noFill/>
        </p:spPr>
        <p:txBody>
          <a:bodyPr wrap="square">
            <a:spAutoFit/>
          </a:bodyPr>
          <a:lstStyle/>
          <a:p>
            <a:r>
              <a:rPr lang="en-IN" dirty="0"/>
              <a:t>https://www.youtube.com/watch?v=m8ZxTHSKSKE</a:t>
            </a:r>
          </a:p>
        </p:txBody>
      </p:sp>
      <p:sp>
        <p:nvSpPr>
          <p:cNvPr id="10" name="TextBox 9">
            <a:extLst>
              <a:ext uri="{FF2B5EF4-FFF2-40B4-BE49-F238E27FC236}">
                <a16:creationId xmlns:a16="http://schemas.microsoft.com/office/drawing/2014/main" id="{2A468453-561A-5482-4249-3685F5E8F12D}"/>
              </a:ext>
            </a:extLst>
          </p:cNvPr>
          <p:cNvSpPr txBox="1"/>
          <p:nvPr/>
        </p:nvSpPr>
        <p:spPr>
          <a:xfrm>
            <a:off x="1838527" y="2089294"/>
            <a:ext cx="9241277" cy="369332"/>
          </a:xfrm>
          <a:prstGeom prst="rect">
            <a:avLst/>
          </a:prstGeom>
          <a:noFill/>
        </p:spPr>
        <p:txBody>
          <a:bodyPr wrap="square">
            <a:spAutoFit/>
          </a:bodyPr>
          <a:lstStyle/>
          <a:p>
            <a:pPr algn="l"/>
            <a:r>
              <a:rPr lang="en-US" b="1" i="0" dirty="0">
                <a:effectLst/>
                <a:latin typeface="Roboto" panose="02000000000000000000" pitchFamily="2" charset="0"/>
              </a:rPr>
              <a:t>Creating a Product Backlog of User Stories for Agile Development using GitHub</a:t>
            </a:r>
          </a:p>
        </p:txBody>
      </p:sp>
    </p:spTree>
    <p:extLst>
      <p:ext uri="{BB962C8B-B14F-4D97-AF65-F5344CB8AC3E}">
        <p14:creationId xmlns:p14="http://schemas.microsoft.com/office/powerpoint/2010/main" val="2170975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236545-7638-E584-C0BB-11A4E2F2A702}"/>
              </a:ext>
            </a:extLst>
          </p:cNvPr>
          <p:cNvSpPr txBox="1"/>
          <p:nvPr/>
        </p:nvSpPr>
        <p:spPr>
          <a:xfrm>
            <a:off x="0" y="-656"/>
            <a:ext cx="2441643" cy="369332"/>
          </a:xfrm>
          <a:prstGeom prst="rect">
            <a:avLst/>
          </a:prstGeom>
          <a:solidFill>
            <a:srgbClr val="00B0F0"/>
          </a:solidFill>
        </p:spPr>
        <p:txBody>
          <a:bodyPr wrap="square">
            <a:spAutoFit/>
          </a:bodyPr>
          <a:lstStyle/>
          <a:p>
            <a:r>
              <a:rPr lang="en-IN" sz="1800" b="1" i="0" u="none" strike="noStrike" baseline="0" dirty="0">
                <a:solidFill>
                  <a:schemeClr val="bg1"/>
                </a:solidFill>
                <a:latin typeface="Calibri" panose="020F0502020204030204" pitchFamily="34" charset="0"/>
              </a:rPr>
              <a:t>6.2 Hands on GitHub</a:t>
            </a:r>
            <a:r>
              <a:rPr lang="en-US" sz="1800" b="1" i="0" u="none" strike="noStrike" baseline="0" dirty="0">
                <a:solidFill>
                  <a:schemeClr val="bg1"/>
                </a:solidFill>
                <a:latin typeface="Calibri" panose="020F0502020204030204" pitchFamily="34" charset="0"/>
              </a:rPr>
              <a:t> :</a:t>
            </a:r>
            <a:endParaRPr lang="en-IN" b="1" dirty="0">
              <a:solidFill>
                <a:schemeClr val="bg1"/>
              </a:solidFill>
            </a:endParaRPr>
          </a:p>
        </p:txBody>
      </p:sp>
      <p:sp>
        <p:nvSpPr>
          <p:cNvPr id="3" name="TextBox 2">
            <a:extLst>
              <a:ext uri="{FF2B5EF4-FFF2-40B4-BE49-F238E27FC236}">
                <a16:creationId xmlns:a16="http://schemas.microsoft.com/office/drawing/2014/main" id="{2113EA05-DA21-6B62-586F-7419954A0110}"/>
              </a:ext>
            </a:extLst>
          </p:cNvPr>
          <p:cNvSpPr txBox="1"/>
          <p:nvPr/>
        </p:nvSpPr>
        <p:spPr>
          <a:xfrm>
            <a:off x="2" y="413585"/>
            <a:ext cx="6118696" cy="369332"/>
          </a:xfrm>
          <a:prstGeom prst="rect">
            <a:avLst/>
          </a:prstGeom>
          <a:noFill/>
        </p:spPr>
        <p:txBody>
          <a:bodyPr wrap="square">
            <a:spAutoFit/>
          </a:bodyPr>
          <a:lstStyle/>
          <a:p>
            <a:r>
              <a:rPr lang="en-IN" sz="1800" b="1" i="0" u="none" strike="noStrike" baseline="0" dirty="0">
                <a:solidFill>
                  <a:srgbClr val="FF0000"/>
                </a:solidFill>
                <a:latin typeface="Calibri" panose="020F0502020204030204" pitchFamily="34" charset="0"/>
              </a:rPr>
              <a:t>Hands on GitHub</a:t>
            </a:r>
            <a:endParaRPr lang="en-IN" b="1" dirty="0">
              <a:solidFill>
                <a:srgbClr val="FF0000"/>
              </a:solidFill>
            </a:endParaRPr>
          </a:p>
        </p:txBody>
      </p:sp>
      <p:sp>
        <p:nvSpPr>
          <p:cNvPr id="11" name="TextBox 10">
            <a:extLst>
              <a:ext uri="{FF2B5EF4-FFF2-40B4-BE49-F238E27FC236}">
                <a16:creationId xmlns:a16="http://schemas.microsoft.com/office/drawing/2014/main" id="{78135644-EE58-876D-AD74-6C12236CDD58}"/>
              </a:ext>
            </a:extLst>
          </p:cNvPr>
          <p:cNvSpPr txBox="1"/>
          <p:nvPr/>
        </p:nvSpPr>
        <p:spPr>
          <a:xfrm>
            <a:off x="3460615" y="3575074"/>
            <a:ext cx="5316166" cy="369332"/>
          </a:xfrm>
          <a:prstGeom prst="rect">
            <a:avLst/>
          </a:prstGeom>
          <a:solidFill>
            <a:schemeClr val="tx1">
              <a:lumMod val="75000"/>
              <a:lumOff val="25000"/>
            </a:schemeClr>
          </a:solidFill>
        </p:spPr>
        <p:txBody>
          <a:bodyPr wrap="square">
            <a:spAutoFit/>
          </a:bodyPr>
          <a:lstStyle/>
          <a:p>
            <a:r>
              <a:rPr lang="en-IN" dirty="0">
                <a:solidFill>
                  <a:schemeClr val="bg1"/>
                </a:solidFill>
              </a:rPr>
              <a:t>https://www.youtube.com/watch?v=Ez8F0nW6S-w</a:t>
            </a:r>
          </a:p>
        </p:txBody>
      </p:sp>
    </p:spTree>
    <p:extLst>
      <p:ext uri="{BB962C8B-B14F-4D97-AF65-F5344CB8AC3E}">
        <p14:creationId xmlns:p14="http://schemas.microsoft.com/office/powerpoint/2010/main" val="98482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0ADCD8-E2CB-86BF-1C0F-A2BF5265107C}"/>
              </a:ext>
            </a:extLst>
          </p:cNvPr>
          <p:cNvSpPr txBox="1"/>
          <p:nvPr/>
        </p:nvSpPr>
        <p:spPr>
          <a:xfrm>
            <a:off x="119164" y="121756"/>
            <a:ext cx="6094378" cy="523220"/>
          </a:xfrm>
          <a:prstGeom prst="rect">
            <a:avLst/>
          </a:prstGeom>
          <a:noFill/>
        </p:spPr>
        <p:txBody>
          <a:bodyPr wrap="square">
            <a:spAutoFit/>
          </a:bodyPr>
          <a:lstStyle/>
          <a:p>
            <a:pPr algn="l" fontAlgn="base"/>
            <a:r>
              <a:rPr lang="en-IN" sz="2800" b="1" i="0" dirty="0">
                <a:solidFill>
                  <a:srgbClr val="253858"/>
                </a:solidFill>
                <a:effectLst/>
                <a:latin typeface="Charlie Display"/>
              </a:rPr>
              <a:t>What is Git?</a:t>
            </a:r>
          </a:p>
        </p:txBody>
      </p:sp>
      <p:sp>
        <p:nvSpPr>
          <p:cNvPr id="5" name="TextBox 4">
            <a:extLst>
              <a:ext uri="{FF2B5EF4-FFF2-40B4-BE49-F238E27FC236}">
                <a16:creationId xmlns:a16="http://schemas.microsoft.com/office/drawing/2014/main" id="{3CD6EFF3-4059-0F85-216A-F2B16D9C45E8}"/>
              </a:ext>
            </a:extLst>
          </p:cNvPr>
          <p:cNvSpPr txBox="1"/>
          <p:nvPr/>
        </p:nvSpPr>
        <p:spPr>
          <a:xfrm>
            <a:off x="119164" y="747117"/>
            <a:ext cx="11651304" cy="923330"/>
          </a:xfrm>
          <a:prstGeom prst="rect">
            <a:avLst/>
          </a:prstGeom>
          <a:noFill/>
        </p:spPr>
        <p:txBody>
          <a:bodyPr wrap="square">
            <a:spAutoFit/>
          </a:bodyPr>
          <a:lstStyle/>
          <a:p>
            <a:pPr algn="just"/>
            <a:r>
              <a:rPr lang="en-US" b="0" i="0" dirty="0">
                <a:effectLst/>
                <a:latin typeface="Charlie Display"/>
              </a:rPr>
              <a:t>By far, the most widely used modern version control system in the world today is Git. Git is a mature, actively maintained open source project originally developed in 2005 by Linus Torvalds, the famous creator of the Linux operating system kernel.</a:t>
            </a:r>
            <a:endParaRPr lang="en-IN" dirty="0"/>
          </a:p>
        </p:txBody>
      </p:sp>
      <p:sp>
        <p:nvSpPr>
          <p:cNvPr id="7" name="TextBox 6">
            <a:extLst>
              <a:ext uri="{FF2B5EF4-FFF2-40B4-BE49-F238E27FC236}">
                <a16:creationId xmlns:a16="http://schemas.microsoft.com/office/drawing/2014/main" id="{CC7E9AC2-56CA-3CF9-AACE-BEAD9A54FFD3}"/>
              </a:ext>
            </a:extLst>
          </p:cNvPr>
          <p:cNvSpPr txBox="1"/>
          <p:nvPr/>
        </p:nvSpPr>
        <p:spPr>
          <a:xfrm>
            <a:off x="119163" y="1772588"/>
            <a:ext cx="11651303" cy="923330"/>
          </a:xfrm>
          <a:prstGeom prst="rect">
            <a:avLst/>
          </a:prstGeom>
          <a:noFill/>
        </p:spPr>
        <p:txBody>
          <a:bodyPr wrap="square">
            <a:spAutoFit/>
          </a:bodyPr>
          <a:lstStyle/>
          <a:p>
            <a:pPr algn="just"/>
            <a:r>
              <a:rPr lang="en-US" b="0" i="0" dirty="0">
                <a:solidFill>
                  <a:srgbClr val="091E42"/>
                </a:solidFill>
                <a:effectLst/>
                <a:latin typeface="Charlie Text"/>
              </a:rPr>
              <a:t>A staggering number of software projects rely on Git for version control, including commercial projects as well as open source. Developers who have worked with Git are well represented in the pool of available software development talent and it works well on a wide range of operating systems and IDEs (Integrated Development Environments).</a:t>
            </a:r>
            <a:endParaRPr lang="en-IN" dirty="0"/>
          </a:p>
        </p:txBody>
      </p:sp>
      <p:sp>
        <p:nvSpPr>
          <p:cNvPr id="9" name="TextBox 8">
            <a:extLst>
              <a:ext uri="{FF2B5EF4-FFF2-40B4-BE49-F238E27FC236}">
                <a16:creationId xmlns:a16="http://schemas.microsoft.com/office/drawing/2014/main" id="{3B846BF0-6DA1-9957-72A5-1765FDB9277C}"/>
              </a:ext>
            </a:extLst>
          </p:cNvPr>
          <p:cNvSpPr txBox="1"/>
          <p:nvPr/>
        </p:nvSpPr>
        <p:spPr>
          <a:xfrm>
            <a:off x="119162" y="2816159"/>
            <a:ext cx="11651303" cy="2308324"/>
          </a:xfrm>
          <a:prstGeom prst="rect">
            <a:avLst/>
          </a:prstGeom>
          <a:noFill/>
        </p:spPr>
        <p:txBody>
          <a:bodyPr wrap="square">
            <a:spAutoFit/>
          </a:bodyPr>
          <a:lstStyle/>
          <a:p>
            <a:pPr algn="just"/>
            <a:r>
              <a:rPr lang="en-US" b="0" i="0" dirty="0">
                <a:solidFill>
                  <a:srgbClr val="091E42"/>
                </a:solidFill>
                <a:effectLst/>
                <a:latin typeface="Charlie Text"/>
              </a:rPr>
              <a:t>For example, say a developer, Alice, makes changes to source code, adding a feature for the upcoming 2.0 release, then commits those changes with descriptive messages. She then works on a second feature and commits those changes too. Naturally these are stored as separate pieces of work in the version history. Alice then switches to the version 1.3 branch of the same software to fix a bug that affects only that older version. The purpose of this is to enable Alice's team to ship a bug fix release, version 1.3.1, before version 2.0 is ready. Alice can then return to the 2.0 branch to continue working on new features for 2.0 and all of this can occur without any network access and is therefore fast and reliable. She could even do it on an airplane. When she is ready to send all of the individually committed changes to the remote repository, Alice can "push" them in one command.</a:t>
            </a:r>
            <a:endParaRPr lang="en-IN" dirty="0"/>
          </a:p>
        </p:txBody>
      </p:sp>
    </p:spTree>
    <p:extLst>
      <p:ext uri="{BB962C8B-B14F-4D97-AF65-F5344CB8AC3E}">
        <p14:creationId xmlns:p14="http://schemas.microsoft.com/office/powerpoint/2010/main" val="1012155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0ADCD8-E2CB-86BF-1C0F-A2BF5265107C}"/>
              </a:ext>
            </a:extLst>
          </p:cNvPr>
          <p:cNvSpPr txBox="1"/>
          <p:nvPr/>
        </p:nvSpPr>
        <p:spPr>
          <a:xfrm>
            <a:off x="119164" y="121756"/>
            <a:ext cx="6094378" cy="523220"/>
          </a:xfrm>
          <a:prstGeom prst="rect">
            <a:avLst/>
          </a:prstGeom>
          <a:noFill/>
        </p:spPr>
        <p:txBody>
          <a:bodyPr wrap="square">
            <a:spAutoFit/>
          </a:bodyPr>
          <a:lstStyle/>
          <a:p>
            <a:pPr algn="l" fontAlgn="base"/>
            <a:r>
              <a:rPr lang="en-IN" sz="2800" b="1" i="0" dirty="0">
                <a:solidFill>
                  <a:srgbClr val="253858"/>
                </a:solidFill>
                <a:effectLst/>
                <a:latin typeface="Charlie Display"/>
              </a:rPr>
              <a:t>Security in Git</a:t>
            </a:r>
          </a:p>
        </p:txBody>
      </p:sp>
      <p:sp>
        <p:nvSpPr>
          <p:cNvPr id="4" name="TextBox 3">
            <a:extLst>
              <a:ext uri="{FF2B5EF4-FFF2-40B4-BE49-F238E27FC236}">
                <a16:creationId xmlns:a16="http://schemas.microsoft.com/office/drawing/2014/main" id="{41DDC3E0-AA98-1130-4D0A-AD2E9442F938}"/>
              </a:ext>
            </a:extLst>
          </p:cNvPr>
          <p:cNvSpPr txBox="1"/>
          <p:nvPr/>
        </p:nvSpPr>
        <p:spPr>
          <a:xfrm>
            <a:off x="257782" y="986162"/>
            <a:ext cx="11678056" cy="1477328"/>
          </a:xfrm>
          <a:prstGeom prst="rect">
            <a:avLst/>
          </a:prstGeom>
          <a:noFill/>
        </p:spPr>
        <p:txBody>
          <a:bodyPr wrap="square">
            <a:spAutoFit/>
          </a:bodyPr>
          <a:lstStyle/>
          <a:p>
            <a:pPr algn="just" fontAlgn="base"/>
            <a:r>
              <a:rPr lang="en-US" b="0" i="0" dirty="0">
                <a:effectLst/>
                <a:latin typeface="Charlie Text"/>
              </a:rPr>
              <a:t>Git has been designed with the integrity of managed source code as a top priority. The content of the files as well as the true relationships between files and directories, versions, tags and commits, all of these objects in the Git repository are secured with a cryptographically secure hashing algorithm called SHA1. This protects the code and the change history against both accidental and malicious change and ensures that the history is fully traceable.</a:t>
            </a:r>
          </a:p>
          <a:p>
            <a:pPr algn="just" fontAlgn="base"/>
            <a:r>
              <a:rPr lang="en-US" b="0" i="0" dirty="0">
                <a:effectLst/>
                <a:latin typeface="Charlie Text"/>
              </a:rPr>
              <a:t>With Git, you can be sure you have an authentic content history of your source code.</a:t>
            </a:r>
          </a:p>
        </p:txBody>
      </p:sp>
    </p:spTree>
    <p:extLst>
      <p:ext uri="{BB962C8B-B14F-4D97-AF65-F5344CB8AC3E}">
        <p14:creationId xmlns:p14="http://schemas.microsoft.com/office/powerpoint/2010/main" val="3618529718"/>
      </p:ext>
    </p:extLst>
  </p:cSld>
  <p:clrMapOvr>
    <a:masterClrMapping/>
  </p:clrMapOvr>
</p:sld>
</file>

<file path=ppt/theme/theme1.xml><?xml version="1.0" encoding="utf-8"?>
<a:theme xmlns:a="http://schemas.openxmlformats.org/drawingml/2006/main" name="Cover and End Slide Master">
  <a:themeElements>
    <a:clrScheme name="Custom 12">
      <a:dk1>
        <a:sysClr val="windowText" lastClr="000000"/>
      </a:dk1>
      <a:lt1>
        <a:sysClr val="window" lastClr="FFFFFF"/>
      </a:lt1>
      <a:dk2>
        <a:srgbClr val="44546A"/>
      </a:dk2>
      <a:lt2>
        <a:srgbClr val="E7E6E6"/>
      </a:lt2>
      <a:accent1>
        <a:srgbClr val="EC5D62"/>
      </a:accent1>
      <a:accent2>
        <a:srgbClr val="EDBE44"/>
      </a:accent2>
      <a:accent3>
        <a:srgbClr val="82B135"/>
      </a:accent3>
      <a:accent4>
        <a:srgbClr val="2781AB"/>
      </a:accent4>
      <a:accent5>
        <a:srgbClr val="634E85"/>
      </a:accent5>
      <a:accent6>
        <a:srgbClr val="4C5053"/>
      </a:accent6>
      <a:hlink>
        <a:srgbClr val="FFFFFF"/>
      </a:hlink>
      <a:folHlink>
        <a:srgbClr val="262626"/>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Custom 12">
      <a:dk1>
        <a:sysClr val="windowText" lastClr="000000"/>
      </a:dk1>
      <a:lt1>
        <a:sysClr val="window" lastClr="FFFFFF"/>
      </a:lt1>
      <a:dk2>
        <a:srgbClr val="44546A"/>
      </a:dk2>
      <a:lt2>
        <a:srgbClr val="E7E6E6"/>
      </a:lt2>
      <a:accent1>
        <a:srgbClr val="EC5D62"/>
      </a:accent1>
      <a:accent2>
        <a:srgbClr val="EDBE44"/>
      </a:accent2>
      <a:accent3>
        <a:srgbClr val="82B135"/>
      </a:accent3>
      <a:accent4>
        <a:srgbClr val="2781AB"/>
      </a:accent4>
      <a:accent5>
        <a:srgbClr val="634E85"/>
      </a:accent5>
      <a:accent6>
        <a:srgbClr val="4C5053"/>
      </a:accent6>
      <a:hlink>
        <a:srgbClr val="FFFFFF"/>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17650</TotalTime>
  <Words>1151</Words>
  <Application>Microsoft Office PowerPoint</Application>
  <PresentationFormat>Widescreen</PresentationFormat>
  <Paragraphs>44</Paragraphs>
  <Slides>12</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12</vt:i4>
      </vt:variant>
    </vt:vector>
  </HeadingPairs>
  <TitlesOfParts>
    <vt:vector size="21" baseType="lpstr">
      <vt:lpstr>-apple-system</vt:lpstr>
      <vt:lpstr>Arial</vt:lpstr>
      <vt:lpstr>Calibri</vt:lpstr>
      <vt:lpstr>Charlie Display</vt:lpstr>
      <vt:lpstr>Charlie Text</vt:lpstr>
      <vt:lpstr>Roboto</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Arjun Sathe</cp:lastModifiedBy>
  <cp:revision>320</cp:revision>
  <dcterms:created xsi:type="dcterms:W3CDTF">2020-01-20T05:08:25Z</dcterms:created>
  <dcterms:modified xsi:type="dcterms:W3CDTF">2024-04-04T06:26:45Z</dcterms:modified>
</cp:coreProperties>
</file>