
<file path=[Content_Types].xml><?xml version="1.0" encoding="utf-8"?>
<Types xmlns="http://schemas.openxmlformats.org/package/2006/content-types">
  <Default Extension="bin" ContentType="application/vnd.openxmlformats-officedocument.oleObject"/>
  <Default Extension="png" ContentType="image/png"/>
  <Default Extension="emf" ContentType="image/x-emf"/>
  <Default Extension="wmf" ContentType="image/x-wmf"/>
  <Default Extension="jpeg" ContentType="image/jpeg"/>
  <Default Extension="rels" ContentType="application/vnd.openxmlformats-package.relationships+xml"/>
  <Default Extension="xml" ContentType="application/xml"/>
  <Default Extension="vml" ContentType="application/vnd.openxmlformats-officedocument.vmlDrawi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5"/>
  </p:notesMasterIdLst>
  <p:sldIdLst>
    <p:sldId id="284" r:id="rId2"/>
    <p:sldId id="256" r:id="rId3"/>
    <p:sldId id="291" r:id="rId4"/>
    <p:sldId id="289" r:id="rId5"/>
    <p:sldId id="337" r:id="rId6"/>
    <p:sldId id="338" r:id="rId7"/>
    <p:sldId id="365" r:id="rId8"/>
    <p:sldId id="339" r:id="rId9"/>
    <p:sldId id="342" r:id="rId10"/>
    <p:sldId id="343" r:id="rId11"/>
    <p:sldId id="344" r:id="rId12"/>
    <p:sldId id="345" r:id="rId13"/>
    <p:sldId id="346" r:id="rId14"/>
    <p:sldId id="347" r:id="rId15"/>
    <p:sldId id="348" r:id="rId16"/>
    <p:sldId id="369" r:id="rId17"/>
    <p:sldId id="370" r:id="rId18"/>
    <p:sldId id="340" r:id="rId19"/>
    <p:sldId id="341" r:id="rId20"/>
    <p:sldId id="371" r:id="rId21"/>
    <p:sldId id="373" r:id="rId22"/>
    <p:sldId id="375" r:id="rId23"/>
    <p:sldId id="376" r:id="rId24"/>
    <p:sldId id="377" r:id="rId25"/>
    <p:sldId id="380" r:id="rId26"/>
    <p:sldId id="378" r:id="rId27"/>
    <p:sldId id="379" r:id="rId28"/>
    <p:sldId id="307" r:id="rId29"/>
    <p:sldId id="308" r:id="rId30"/>
    <p:sldId id="309" r:id="rId31"/>
    <p:sldId id="368" r:id="rId32"/>
    <p:sldId id="366" r:id="rId33"/>
    <p:sldId id="367" r:id="rId3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458" autoAdjust="0"/>
    <p:restoredTop sz="94660"/>
  </p:normalViewPr>
  <p:slideViewPr>
    <p:cSldViewPr snapToGrid="0">
      <p:cViewPr varScale="1">
        <p:scale>
          <a:sx n="115" d="100"/>
          <a:sy n="115" d="100"/>
        </p:scale>
        <p:origin x="348"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notesMaster" Target="notesMasters/notesMaster1.xml"/><Relationship Id="rId8" Type="http://schemas.openxmlformats.org/officeDocument/2006/relationships/slide" Target="slides/slide7.xml"/><Relationship Id="rId3" Type="http://schemas.openxmlformats.org/officeDocument/2006/relationships/slide" Target="slides/slide2.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6AF3709-DF09-455D-B582-49849941D540}" type="datetimeFigureOut">
              <a:rPr lang="en-IN" smtClean="0"/>
              <a:t>14-10-2024</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C5C6F29-3F35-4484-8CB7-310D51409C8B}" type="slidenum">
              <a:rPr lang="en-IN" smtClean="0"/>
              <a:t>‹#›</a:t>
            </a:fld>
            <a:endParaRPr lang="en-IN"/>
          </a:p>
        </p:txBody>
      </p:sp>
    </p:spTree>
    <p:extLst>
      <p:ext uri="{BB962C8B-B14F-4D97-AF65-F5344CB8AC3E}">
        <p14:creationId xmlns:p14="http://schemas.microsoft.com/office/powerpoint/2010/main" val="41033791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38432935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533734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257149941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D1AD5580-B5D0-4543-8D6B-340F1A3E12B7}" type="datetimeFigureOut">
              <a:rPr lang="en-IN" smtClean="0"/>
              <a:t>14-10-2024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386281187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D1AD5580-B5D0-4543-8D6B-340F1A3E12B7}" type="datetimeFigureOut">
              <a:rPr lang="en-IN" smtClean="0"/>
              <a:t>14-10-2024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11671806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D1AD5580-B5D0-4543-8D6B-340F1A3E12B7}" type="datetimeFigureOut">
              <a:rPr lang="en-IN" smtClean="0"/>
              <a:t>14-10-2024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53162374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1AD5580-B5D0-4543-8D6B-340F1A3E12B7}" type="datetimeFigureOut">
              <a:rPr lang="en-IN" smtClean="0"/>
              <a:t>14-10-2024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427932349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D1AD5580-B5D0-4543-8D6B-340F1A3E12B7}" type="datetimeFigureOut">
              <a:rPr lang="en-IN" smtClean="0"/>
              <a:t>14-10-2024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39400666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Edit Master text styles</a:t>
            </a:r>
          </a:p>
        </p:txBody>
      </p:sp>
      <p:sp>
        <p:nvSpPr>
          <p:cNvPr id="5" name="Date Placeholder 4"/>
          <p:cNvSpPr>
            <a:spLocks noGrp="1"/>
          </p:cNvSpPr>
          <p:nvPr>
            <p:ph type="dt" sz="half" idx="10"/>
          </p:nvPr>
        </p:nvSpPr>
        <p:spPr/>
        <p:txBody>
          <a:bodyPr/>
          <a:lstStyle/>
          <a:p>
            <a:fld id="{D1AD5580-B5D0-4543-8D6B-340F1A3E12B7}" type="datetimeFigureOut">
              <a:rPr lang="en-IN" smtClean="0"/>
              <a:t>14-10-2024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17495881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4184456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342238126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62356395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2221617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26623357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146607338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D1AD5580-B5D0-4543-8D6B-340F1A3E12B7}" type="datetimeFigureOut">
              <a:rPr lang="en-IN" smtClean="0"/>
              <a:t>14-10-2024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D2B2E225-B298-45E1-8A77-348886A44533}" type="slidenum">
              <a:rPr lang="en-IN" smtClean="0"/>
              <a:t>‹#›</a:t>
            </a:fld>
            <a:endParaRPr lang="en-IN"/>
          </a:p>
        </p:txBody>
      </p:sp>
    </p:spTree>
    <p:extLst>
      <p:ext uri="{BB962C8B-B14F-4D97-AF65-F5344CB8AC3E}">
        <p14:creationId xmlns:p14="http://schemas.microsoft.com/office/powerpoint/2010/main" val="174665491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D1AD5580-B5D0-4543-8D6B-340F1A3E12B7}" type="datetimeFigureOut">
              <a:rPr lang="en-IN" smtClean="0"/>
              <a:t>14-10-2024</a:t>
            </a:fld>
            <a:endParaRPr lang="en-IN"/>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2B2E225-B298-45E1-8A77-348886A44533}" type="slidenum">
              <a:rPr lang="en-IN" smtClean="0"/>
              <a:t>‹#›</a:t>
            </a:fld>
            <a:endParaRPr lang="en-IN"/>
          </a:p>
        </p:txBody>
      </p:sp>
    </p:spTree>
    <p:extLst>
      <p:ext uri="{BB962C8B-B14F-4D97-AF65-F5344CB8AC3E}">
        <p14:creationId xmlns:p14="http://schemas.microsoft.com/office/powerpoint/2010/main" val="234992151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1.em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2.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www.geeksforgeeks.org/software-as-a-service-saas/" TargetMode="External"/><Relationship Id="rId2" Type="http://schemas.openxmlformats.org/officeDocument/2006/relationships/hyperlink" Target="https://www.geeksforgeeks.org/difference-between-iaas-paas-and-saas/"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hyperlink" Target="https://portal.aws.amazon.com/billing/signup?refid=ha_awssm-evergreen-1st-visit&amp;redirect_url=https://aws.amazon.com/registration-confirmation#/start/email" TargetMode="External"/><Relationship Id="rId2" Type="http://schemas.openxmlformats.org/officeDocument/2006/relationships/hyperlink" Target="https://aws.amazon.com/" TargetMode="Externa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2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92479" y="424094"/>
            <a:ext cx="9144000" cy="2387600"/>
          </a:xfrm>
        </p:spPr>
        <p:txBody>
          <a:bodyPr>
            <a:normAutofit/>
          </a:bodyPr>
          <a:lstStyle/>
          <a:p>
            <a:pPr algn="ctr"/>
            <a:r>
              <a:rPr lang="en-US" sz="3600" b="1" dirty="0" smtClean="0"/>
              <a:t>Unit 1</a:t>
            </a:r>
            <a:endParaRPr lang="en-IN" sz="3600" b="1" dirty="0"/>
          </a:p>
        </p:txBody>
      </p:sp>
      <p:sp>
        <p:nvSpPr>
          <p:cNvPr id="3" name="Subtitle 2"/>
          <p:cNvSpPr>
            <a:spLocks noGrp="1"/>
          </p:cNvSpPr>
          <p:nvPr>
            <p:ph type="subTitle" idx="1"/>
          </p:nvPr>
        </p:nvSpPr>
        <p:spPr>
          <a:xfrm>
            <a:off x="792479" y="3111586"/>
            <a:ext cx="9144000" cy="1655762"/>
          </a:xfrm>
        </p:spPr>
        <p:txBody>
          <a:bodyPr>
            <a:normAutofit/>
          </a:bodyPr>
          <a:lstStyle/>
          <a:p>
            <a:pPr algn="ctr"/>
            <a:r>
              <a:rPr lang="en-IN" sz="3200" dirty="0"/>
              <a:t>Introduction to Cloud </a:t>
            </a:r>
            <a:endParaRPr lang="en-IN" sz="3200" b="1" dirty="0"/>
          </a:p>
        </p:txBody>
      </p:sp>
    </p:spTree>
    <p:extLst>
      <p:ext uri="{BB962C8B-B14F-4D97-AF65-F5344CB8AC3E}">
        <p14:creationId xmlns:p14="http://schemas.microsoft.com/office/powerpoint/2010/main" val="33127843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842357" y="1039236"/>
            <a:ext cx="9144000" cy="423804"/>
          </a:xfrm>
        </p:spPr>
        <p:txBody>
          <a:bodyPr>
            <a:normAutofit fontScale="90000"/>
          </a:bodyPr>
          <a:lstStyle/>
          <a:p>
            <a:pPr algn="ctr"/>
            <a:r>
              <a:rPr lang="en-IN" sz="2800" dirty="0" smtClean="0"/>
              <a:t>Introduction to Cloud </a:t>
            </a:r>
            <a:endParaRPr lang="en-IN" sz="2800" dirty="0"/>
          </a:p>
        </p:txBody>
      </p:sp>
      <p:sp>
        <p:nvSpPr>
          <p:cNvPr id="3" name="Subtitle 2"/>
          <p:cNvSpPr>
            <a:spLocks noGrp="1"/>
          </p:cNvSpPr>
          <p:nvPr>
            <p:ph type="subTitle" idx="1"/>
          </p:nvPr>
        </p:nvSpPr>
        <p:spPr>
          <a:xfrm>
            <a:off x="767541" y="1720735"/>
            <a:ext cx="9144000" cy="4322618"/>
          </a:xfrm>
        </p:spPr>
        <p:txBody>
          <a:bodyPr/>
          <a:lstStyle/>
          <a:p>
            <a:pPr algn="l"/>
            <a:r>
              <a:rPr lang="en-US" dirty="0" smtClean="0">
                <a:solidFill>
                  <a:schemeClr val="tx1"/>
                </a:solidFill>
              </a:rPr>
              <a:t>Cloud Computing  </a:t>
            </a:r>
          </a:p>
          <a:p>
            <a:pPr algn="just"/>
            <a:r>
              <a:rPr lang="en-US" dirty="0" smtClean="0">
                <a:solidFill>
                  <a:schemeClr val="tx1"/>
                </a:solidFill>
              </a:rPr>
              <a:t>Cloud </a:t>
            </a:r>
            <a:r>
              <a:rPr lang="en-US" dirty="0">
                <a:solidFill>
                  <a:schemeClr val="tx1"/>
                </a:solidFill>
              </a:rPr>
              <a:t>computing delivers services over the internet using remote servers, offering scalability and accessibility. Traditional computing relies on local servers, requiring upfront hardware investments and maintenance. The key distinction lies in where and how services are hosted, impacting flexibility, cost-effectiveness, and ease of access.</a:t>
            </a:r>
            <a:endParaRPr lang="en-US" b="1" dirty="0" smtClean="0">
              <a:solidFill>
                <a:schemeClr val="tx1"/>
              </a:solidFill>
            </a:endParaRPr>
          </a:p>
          <a:p>
            <a:pPr algn="just"/>
            <a:endParaRPr lang="en-US" b="1" dirty="0" smtClean="0">
              <a:solidFill>
                <a:schemeClr val="tx1"/>
              </a:solidFill>
            </a:endParaRPr>
          </a:p>
          <a:p>
            <a:pPr algn="just"/>
            <a:r>
              <a:rPr lang="en-US" b="1" dirty="0" smtClean="0">
                <a:solidFill>
                  <a:schemeClr val="tx1"/>
                </a:solidFill>
              </a:rPr>
              <a:t>Storing and accessing of data and computing services over the internet</a:t>
            </a:r>
            <a:r>
              <a:rPr lang="en-US" dirty="0" smtClean="0">
                <a:solidFill>
                  <a:schemeClr val="tx1"/>
                </a:solidFill>
              </a:rPr>
              <a:t>.</a:t>
            </a:r>
          </a:p>
          <a:p>
            <a:pPr algn="just"/>
            <a:r>
              <a:rPr lang="en-US" dirty="0" smtClean="0">
                <a:solidFill>
                  <a:schemeClr val="tx1"/>
                </a:solidFill>
              </a:rPr>
              <a:t>Cloud computing is the delivery of computing services—including servers, storage, databases, networking, software, analytics, and intelligence—over the Internet (“the cloud”) to offer faster innovation, flexible resources, and economies of scale.</a:t>
            </a:r>
          </a:p>
          <a:p>
            <a:endParaRPr lang="en-IN" dirty="0"/>
          </a:p>
        </p:txBody>
      </p:sp>
    </p:spTree>
    <p:extLst>
      <p:ext uri="{BB962C8B-B14F-4D97-AF65-F5344CB8AC3E}">
        <p14:creationId xmlns:p14="http://schemas.microsoft.com/office/powerpoint/2010/main" val="13187924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112520" y="696883"/>
            <a:ext cx="7649095" cy="5221778"/>
          </a:xfrm>
          <a:prstGeom prst="rect">
            <a:avLst/>
          </a:prstGeom>
        </p:spPr>
      </p:pic>
      <p:sp>
        <p:nvSpPr>
          <p:cNvPr id="3" name="Date Placeholder 2"/>
          <p:cNvSpPr>
            <a:spLocks noGrp="1"/>
          </p:cNvSpPr>
          <p:nvPr>
            <p:ph type="dt" sz="half" idx="10"/>
          </p:nvPr>
        </p:nvSpPr>
        <p:spPr/>
        <p:txBody>
          <a:bodyPr/>
          <a:lstStyle/>
          <a:p>
            <a:fld id="{9934FC7E-90C7-4DD1-B519-89F0DE65BD8B}" type="datetime1">
              <a:rPr lang="en-US" smtClean="0"/>
              <a:t>10/14/2024</a:t>
            </a:fld>
            <a:endParaRPr lang="en-IN"/>
          </a:p>
        </p:txBody>
      </p:sp>
    </p:spTree>
    <p:extLst>
      <p:ext uri="{BB962C8B-B14F-4D97-AF65-F5344CB8AC3E}">
        <p14:creationId xmlns:p14="http://schemas.microsoft.com/office/powerpoint/2010/main" val="295994584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Object 3"/>
          <p:cNvGraphicFramePr>
            <a:graphicFrameLocks noChangeAspect="1"/>
          </p:cNvGraphicFramePr>
          <p:nvPr>
            <p:extLst>
              <p:ext uri="{D42A27DB-BD31-4B8C-83A1-F6EECF244321}">
                <p14:modId xmlns:p14="http://schemas.microsoft.com/office/powerpoint/2010/main" val="1313112637"/>
              </p:ext>
            </p:extLst>
          </p:nvPr>
        </p:nvGraphicFramePr>
        <p:xfrm>
          <a:off x="516775" y="720436"/>
          <a:ext cx="8585661" cy="5007450"/>
        </p:xfrm>
        <a:graphic>
          <a:graphicData uri="http://schemas.openxmlformats.org/presentationml/2006/ole">
            <mc:AlternateContent xmlns:mc="http://schemas.openxmlformats.org/markup-compatibility/2006">
              <mc:Choice xmlns:v="urn:schemas-microsoft-com:vml" Requires="v">
                <p:oleObj spid="_x0000_s1039" name="Bitmap Image" r:id="rId3" imgW="10848960" imgH="5429160" progId="PBrush">
                  <p:embed/>
                </p:oleObj>
              </mc:Choice>
              <mc:Fallback>
                <p:oleObj name="Bitmap Image" r:id="rId3" imgW="10848960" imgH="5429160" progId="PBrush">
                  <p:embed/>
                  <p:pic>
                    <p:nvPicPr>
                      <p:cNvPr id="4" name="Object 3"/>
                      <p:cNvPicPr/>
                      <p:nvPr/>
                    </p:nvPicPr>
                    <p:blipFill>
                      <a:blip r:embed="rId4"/>
                      <a:stretch>
                        <a:fillRect/>
                      </a:stretch>
                    </p:blipFill>
                    <p:spPr>
                      <a:xfrm>
                        <a:off x="516775" y="720436"/>
                        <a:ext cx="8585661" cy="5007450"/>
                      </a:xfrm>
                      <a:prstGeom prst="rect">
                        <a:avLst/>
                      </a:prstGeom>
                    </p:spPr>
                  </p:pic>
                </p:oleObj>
              </mc:Fallback>
            </mc:AlternateContent>
          </a:graphicData>
        </a:graphic>
      </p:graphicFrame>
      <p:sp>
        <p:nvSpPr>
          <p:cNvPr id="3" name="Date Placeholder 2"/>
          <p:cNvSpPr>
            <a:spLocks noGrp="1"/>
          </p:cNvSpPr>
          <p:nvPr>
            <p:ph type="dt" sz="half" idx="10"/>
          </p:nvPr>
        </p:nvSpPr>
        <p:spPr/>
        <p:txBody>
          <a:bodyPr/>
          <a:lstStyle/>
          <a:p>
            <a:fld id="{C57F1E7C-CCC7-41F2-AA5E-FEF6DD6EB502}" type="datetime1">
              <a:rPr lang="en-US" smtClean="0"/>
              <a:t>10/14/2024</a:t>
            </a:fld>
            <a:endParaRPr lang="en-IN"/>
          </a:p>
        </p:txBody>
      </p:sp>
    </p:spTree>
    <p:extLst>
      <p:ext uri="{BB962C8B-B14F-4D97-AF65-F5344CB8AC3E}">
        <p14:creationId xmlns:p14="http://schemas.microsoft.com/office/powerpoint/2010/main" val="212062112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3595245035"/>
              </p:ext>
            </p:extLst>
          </p:nvPr>
        </p:nvGraphicFramePr>
        <p:xfrm>
          <a:off x="844118" y="539605"/>
          <a:ext cx="8596311" cy="5928360"/>
        </p:xfrm>
        <a:graphic>
          <a:graphicData uri="http://schemas.openxmlformats.org/drawingml/2006/table">
            <a:tbl>
              <a:tblPr firstRow="1" bandRow="1">
                <a:tableStyleId>{5C22544A-7EE6-4342-B048-85BDC9FD1C3A}</a:tableStyleId>
              </a:tblPr>
              <a:tblGrid>
                <a:gridCol w="2865437">
                  <a:extLst>
                    <a:ext uri="{9D8B030D-6E8A-4147-A177-3AD203B41FA5}">
                      <a16:colId xmlns:a16="http://schemas.microsoft.com/office/drawing/2014/main" val="3999121006"/>
                    </a:ext>
                  </a:extLst>
                </a:gridCol>
                <a:gridCol w="2865437">
                  <a:extLst>
                    <a:ext uri="{9D8B030D-6E8A-4147-A177-3AD203B41FA5}">
                      <a16:colId xmlns:a16="http://schemas.microsoft.com/office/drawing/2014/main" val="3702521959"/>
                    </a:ext>
                  </a:extLst>
                </a:gridCol>
                <a:gridCol w="2865437">
                  <a:extLst>
                    <a:ext uri="{9D8B030D-6E8A-4147-A177-3AD203B41FA5}">
                      <a16:colId xmlns:a16="http://schemas.microsoft.com/office/drawing/2014/main" val="526913754"/>
                    </a:ext>
                  </a:extLst>
                </a:gridCol>
              </a:tblGrid>
              <a:tr h="370840">
                <a:tc>
                  <a:txBody>
                    <a:bodyPr/>
                    <a:lstStyle/>
                    <a:p>
                      <a:pPr algn="ctr" rtl="0" fontAlgn="base"/>
                      <a:r>
                        <a:rPr lang="en-IN" sz="1400" b="1" dirty="0">
                          <a:effectLst/>
                        </a:rPr>
                        <a:t>Aspect</a:t>
                      </a:r>
                    </a:p>
                  </a:txBody>
                  <a:tcPr marL="38100" marR="38100" marT="95250" marB="95250" anchor="ctr"/>
                </a:tc>
                <a:tc>
                  <a:txBody>
                    <a:bodyPr/>
                    <a:lstStyle/>
                    <a:p>
                      <a:pPr algn="ctr" rtl="0" fontAlgn="base"/>
                      <a:r>
                        <a:rPr lang="en-IN" sz="1400" b="1" dirty="0">
                          <a:effectLst/>
                        </a:rPr>
                        <a:t>Cloud Computing</a:t>
                      </a:r>
                    </a:p>
                  </a:txBody>
                  <a:tcPr marL="95250" marR="95250" marT="95250" marB="95250" anchor="ctr"/>
                </a:tc>
                <a:tc>
                  <a:txBody>
                    <a:bodyPr/>
                    <a:lstStyle/>
                    <a:p>
                      <a:pPr algn="ctr" rtl="0" fontAlgn="base"/>
                      <a:r>
                        <a:rPr lang="en-IN" sz="1400" b="1" dirty="0">
                          <a:effectLst/>
                        </a:rPr>
                        <a:t>Traditional Computing </a:t>
                      </a:r>
                    </a:p>
                  </a:txBody>
                  <a:tcPr marL="95250" marR="95250" marT="95250" marB="95250" anchor="ctr"/>
                </a:tc>
                <a:extLst>
                  <a:ext uri="{0D108BD9-81ED-4DB2-BD59-A6C34878D82A}">
                    <a16:rowId xmlns:a16="http://schemas.microsoft.com/office/drawing/2014/main" val="3793580908"/>
                  </a:ext>
                </a:extLst>
              </a:tr>
              <a:tr h="370840">
                <a:tc>
                  <a:txBody>
                    <a:bodyPr/>
                    <a:lstStyle/>
                    <a:p>
                      <a:pPr algn="ctr" rtl="0" fontAlgn="base"/>
                      <a:r>
                        <a:rPr lang="en-IN" b="1" dirty="0">
                          <a:effectLst/>
                        </a:rPr>
                        <a:t>Definition</a:t>
                      </a:r>
                    </a:p>
                  </a:txBody>
                  <a:tcPr marL="38100" marR="38100" marT="93164" marB="93164" anchor="ctr"/>
                </a:tc>
                <a:tc>
                  <a:txBody>
                    <a:bodyPr/>
                    <a:lstStyle/>
                    <a:p>
                      <a:pPr algn="ctr" fontAlgn="ctr"/>
                      <a:r>
                        <a:rPr lang="en-US" sz="1250" b="0">
                          <a:effectLst/>
                        </a:rPr>
                        <a:t>Cloud Computing refers to delivery of different services such as data and programs through internet on different servers.</a:t>
                      </a:r>
                    </a:p>
                  </a:txBody>
                  <a:tcPr marL="95250" marR="95250" marT="133350" marB="133350" anchor="ctr"/>
                </a:tc>
                <a:tc>
                  <a:txBody>
                    <a:bodyPr/>
                    <a:lstStyle/>
                    <a:p>
                      <a:pPr algn="ctr" fontAlgn="ctr"/>
                      <a:r>
                        <a:rPr lang="en-US" sz="1250" b="0">
                          <a:effectLst/>
                        </a:rPr>
                        <a:t>Traditional Computing refers to delivery of different services on local server. </a:t>
                      </a:r>
                    </a:p>
                  </a:txBody>
                  <a:tcPr marL="95250" marR="95250" marT="133350" marB="133350" anchor="ctr"/>
                </a:tc>
                <a:extLst>
                  <a:ext uri="{0D108BD9-81ED-4DB2-BD59-A6C34878D82A}">
                    <a16:rowId xmlns:a16="http://schemas.microsoft.com/office/drawing/2014/main" val="3298224874"/>
                  </a:ext>
                </a:extLst>
              </a:tr>
              <a:tr h="370840">
                <a:tc>
                  <a:txBody>
                    <a:bodyPr/>
                    <a:lstStyle/>
                    <a:p>
                      <a:pPr algn="ctr" rtl="0" fontAlgn="base"/>
                      <a:r>
                        <a:rPr lang="en-IN" b="1">
                          <a:effectLst/>
                        </a:rPr>
                        <a:t>Infrastructure Location</a:t>
                      </a:r>
                    </a:p>
                  </a:txBody>
                  <a:tcPr marL="38100" marR="38100" marT="93164" marB="93164" anchor="ctr"/>
                </a:tc>
                <a:tc>
                  <a:txBody>
                    <a:bodyPr/>
                    <a:lstStyle/>
                    <a:p>
                      <a:pPr algn="ctr" fontAlgn="ctr"/>
                      <a:r>
                        <a:rPr lang="en-US" sz="1250" b="0">
                          <a:effectLst/>
                        </a:rPr>
                        <a:t>Cloud Computing takes place on third-party servers that is hosted by third-party hosting companies.  </a:t>
                      </a:r>
                    </a:p>
                  </a:txBody>
                  <a:tcPr marL="95250" marR="95250" marT="133350" marB="133350" anchor="ctr"/>
                </a:tc>
                <a:tc>
                  <a:txBody>
                    <a:bodyPr/>
                    <a:lstStyle/>
                    <a:p>
                      <a:pPr algn="ctr" fontAlgn="ctr"/>
                      <a:r>
                        <a:rPr lang="en-US" sz="1250" b="0">
                          <a:effectLst/>
                        </a:rPr>
                        <a:t>Traditional Computing takes place on physical hard drives and website servers.  </a:t>
                      </a:r>
                    </a:p>
                  </a:txBody>
                  <a:tcPr marL="95250" marR="95250" marT="133350" marB="133350" anchor="ctr"/>
                </a:tc>
                <a:extLst>
                  <a:ext uri="{0D108BD9-81ED-4DB2-BD59-A6C34878D82A}">
                    <a16:rowId xmlns:a16="http://schemas.microsoft.com/office/drawing/2014/main" val="1066659367"/>
                  </a:ext>
                </a:extLst>
              </a:tr>
              <a:tr h="370840">
                <a:tc>
                  <a:txBody>
                    <a:bodyPr/>
                    <a:lstStyle/>
                    <a:p>
                      <a:pPr algn="ctr" rtl="0" fontAlgn="base"/>
                      <a:r>
                        <a:rPr lang="en-IN" b="1">
                          <a:effectLst/>
                        </a:rPr>
                        <a:t>Data Accessibility</a:t>
                      </a:r>
                    </a:p>
                  </a:txBody>
                  <a:tcPr marL="38100" marR="38100" marT="93164" marB="93164" anchor="ctr"/>
                </a:tc>
                <a:tc>
                  <a:txBody>
                    <a:bodyPr/>
                    <a:lstStyle/>
                    <a:p>
                      <a:pPr algn="ctr" fontAlgn="ctr"/>
                      <a:r>
                        <a:rPr lang="en-US" sz="1250" b="0">
                          <a:effectLst/>
                        </a:rPr>
                        <a:t>Cloud Computing is ability to access data anywhere at any time by user.  </a:t>
                      </a:r>
                    </a:p>
                  </a:txBody>
                  <a:tcPr marL="95250" marR="95250" marT="133350" marB="133350" anchor="ctr"/>
                </a:tc>
                <a:tc>
                  <a:txBody>
                    <a:bodyPr/>
                    <a:lstStyle/>
                    <a:p>
                      <a:pPr algn="ctr" fontAlgn="ctr"/>
                      <a:r>
                        <a:rPr lang="en-US" sz="1250" b="0">
                          <a:effectLst/>
                        </a:rPr>
                        <a:t>User can access data only on system in which data is stored.  </a:t>
                      </a:r>
                    </a:p>
                  </a:txBody>
                  <a:tcPr marL="95250" marR="95250" marT="133350" marB="133350" anchor="ctr"/>
                </a:tc>
                <a:extLst>
                  <a:ext uri="{0D108BD9-81ED-4DB2-BD59-A6C34878D82A}">
                    <a16:rowId xmlns:a16="http://schemas.microsoft.com/office/drawing/2014/main" val="244783871"/>
                  </a:ext>
                </a:extLst>
              </a:tr>
              <a:tr h="370840">
                <a:tc>
                  <a:txBody>
                    <a:bodyPr/>
                    <a:lstStyle/>
                    <a:p>
                      <a:pPr algn="ctr" rtl="0" fontAlgn="base"/>
                      <a:r>
                        <a:rPr lang="en-IN" b="1">
                          <a:effectLst/>
                        </a:rPr>
                        <a:t>Cost Effectiveness</a:t>
                      </a:r>
                    </a:p>
                  </a:txBody>
                  <a:tcPr marL="38100" marR="38100" marT="93164" marB="93164" anchor="ctr"/>
                </a:tc>
                <a:tc>
                  <a:txBody>
                    <a:bodyPr/>
                    <a:lstStyle/>
                    <a:p>
                      <a:pPr algn="ctr" fontAlgn="ctr"/>
                      <a:r>
                        <a:rPr lang="en-US" sz="1250" b="0">
                          <a:effectLst/>
                        </a:rPr>
                        <a:t>Cloud Computing is more cost effective as compared to tradition computing as operation and maintenance of server is shared among several parties that in turn reduce cost of public services. </a:t>
                      </a:r>
                    </a:p>
                  </a:txBody>
                  <a:tcPr marL="95250" marR="95250" marT="133350" marB="133350" anchor="ctr"/>
                </a:tc>
                <a:tc>
                  <a:txBody>
                    <a:bodyPr/>
                    <a:lstStyle/>
                    <a:p>
                      <a:pPr algn="ctr" fontAlgn="ctr"/>
                      <a:r>
                        <a:rPr lang="en-US" sz="1250" b="0">
                          <a:effectLst/>
                        </a:rPr>
                        <a:t>Traditional Computing is less cost effective as compared to cloud computing because one has to buy expensive equipment’s to operate and maintain server.  </a:t>
                      </a:r>
                    </a:p>
                  </a:txBody>
                  <a:tcPr marL="95250" marR="95250" marT="133350" marB="133350" anchor="ctr"/>
                </a:tc>
                <a:extLst>
                  <a:ext uri="{0D108BD9-81ED-4DB2-BD59-A6C34878D82A}">
                    <a16:rowId xmlns:a16="http://schemas.microsoft.com/office/drawing/2014/main" val="2490327291"/>
                  </a:ext>
                </a:extLst>
              </a:tr>
              <a:tr h="370840">
                <a:tc>
                  <a:txBody>
                    <a:bodyPr/>
                    <a:lstStyle/>
                    <a:p>
                      <a:pPr algn="ctr" rtl="0" fontAlgn="base"/>
                      <a:r>
                        <a:rPr lang="en-IN" b="1">
                          <a:effectLst/>
                        </a:rPr>
                        <a:t>User-Friendliness</a:t>
                      </a:r>
                    </a:p>
                  </a:txBody>
                  <a:tcPr marL="38100" marR="38100" marT="93164" marB="93164" anchor="ctr"/>
                </a:tc>
                <a:tc>
                  <a:txBody>
                    <a:bodyPr/>
                    <a:lstStyle/>
                    <a:p>
                      <a:pPr algn="ctr" fontAlgn="ctr"/>
                      <a:r>
                        <a:rPr lang="en-US" sz="1250" b="0">
                          <a:effectLst/>
                        </a:rPr>
                        <a:t>Cloud Computing is more user-friendly as compared to traditional computing because user can have access to data anytime anywhere using internet. </a:t>
                      </a:r>
                    </a:p>
                  </a:txBody>
                  <a:tcPr marL="95250" marR="95250" marT="133350" marB="133350" anchor="ctr"/>
                </a:tc>
                <a:tc>
                  <a:txBody>
                    <a:bodyPr/>
                    <a:lstStyle/>
                    <a:p>
                      <a:pPr algn="ctr" fontAlgn="ctr"/>
                      <a:r>
                        <a:rPr lang="en-US" sz="1250" b="0" dirty="0">
                          <a:effectLst/>
                        </a:rPr>
                        <a:t>Traditional Computing is less user-friendly as compared to cloud computing because data cannot be accessed anywhere and if user has to access data in another system, then he need to save it in external storage medium.  </a:t>
                      </a:r>
                    </a:p>
                  </a:txBody>
                  <a:tcPr marL="95250" marR="95250" marT="133350" marB="133350" anchor="ctr"/>
                </a:tc>
                <a:extLst>
                  <a:ext uri="{0D108BD9-81ED-4DB2-BD59-A6C34878D82A}">
                    <a16:rowId xmlns:a16="http://schemas.microsoft.com/office/drawing/2014/main" val="1755274959"/>
                  </a:ext>
                </a:extLst>
              </a:tr>
            </a:tbl>
          </a:graphicData>
        </a:graphic>
      </p:graphicFrame>
    </p:spTree>
    <p:extLst>
      <p:ext uri="{BB962C8B-B14F-4D97-AF65-F5344CB8AC3E}">
        <p14:creationId xmlns:p14="http://schemas.microsoft.com/office/powerpoint/2010/main" val="1919780206"/>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627319801"/>
              </p:ext>
            </p:extLst>
          </p:nvPr>
        </p:nvGraphicFramePr>
        <p:xfrm>
          <a:off x="636300" y="614421"/>
          <a:ext cx="8596311" cy="5737860"/>
        </p:xfrm>
        <a:graphic>
          <a:graphicData uri="http://schemas.openxmlformats.org/drawingml/2006/table">
            <a:tbl>
              <a:tblPr firstRow="1" bandRow="1">
                <a:tableStyleId>{5C22544A-7EE6-4342-B048-85BDC9FD1C3A}</a:tableStyleId>
              </a:tblPr>
              <a:tblGrid>
                <a:gridCol w="2813482">
                  <a:extLst>
                    <a:ext uri="{9D8B030D-6E8A-4147-A177-3AD203B41FA5}">
                      <a16:colId xmlns:a16="http://schemas.microsoft.com/office/drawing/2014/main" val="2286080434"/>
                    </a:ext>
                  </a:extLst>
                </a:gridCol>
                <a:gridCol w="2917392">
                  <a:extLst>
                    <a:ext uri="{9D8B030D-6E8A-4147-A177-3AD203B41FA5}">
                      <a16:colId xmlns:a16="http://schemas.microsoft.com/office/drawing/2014/main" val="1571232658"/>
                    </a:ext>
                  </a:extLst>
                </a:gridCol>
                <a:gridCol w="2865437">
                  <a:extLst>
                    <a:ext uri="{9D8B030D-6E8A-4147-A177-3AD203B41FA5}">
                      <a16:colId xmlns:a16="http://schemas.microsoft.com/office/drawing/2014/main" val="3848114231"/>
                    </a:ext>
                  </a:extLst>
                </a:gridCol>
              </a:tblGrid>
              <a:tr h="370840">
                <a:tc>
                  <a:txBody>
                    <a:bodyPr/>
                    <a:lstStyle/>
                    <a:p>
                      <a:pPr algn="ctr" rtl="0" fontAlgn="base"/>
                      <a:r>
                        <a:rPr lang="en-IN" sz="1400" b="1" dirty="0">
                          <a:effectLst/>
                        </a:rPr>
                        <a:t>Aspect</a:t>
                      </a:r>
                    </a:p>
                  </a:txBody>
                  <a:tcPr marL="38100" marR="38100" marT="95250" marB="95250" anchor="ctr"/>
                </a:tc>
                <a:tc>
                  <a:txBody>
                    <a:bodyPr/>
                    <a:lstStyle/>
                    <a:p>
                      <a:pPr algn="ctr" rtl="0" fontAlgn="base"/>
                      <a:r>
                        <a:rPr lang="en-IN" sz="1400" b="1" dirty="0">
                          <a:effectLst/>
                        </a:rPr>
                        <a:t>Cloud Computing</a:t>
                      </a:r>
                    </a:p>
                  </a:txBody>
                  <a:tcPr marL="95250" marR="95250" marT="95250" marB="95250" anchor="ctr"/>
                </a:tc>
                <a:tc>
                  <a:txBody>
                    <a:bodyPr/>
                    <a:lstStyle/>
                    <a:p>
                      <a:pPr algn="ctr" rtl="0" fontAlgn="base"/>
                      <a:r>
                        <a:rPr lang="en-IN" sz="1400" b="1" dirty="0">
                          <a:effectLst/>
                        </a:rPr>
                        <a:t>Traditional Computing </a:t>
                      </a:r>
                    </a:p>
                  </a:txBody>
                  <a:tcPr marL="95250" marR="95250" marT="95250" marB="95250" anchor="ctr"/>
                </a:tc>
                <a:extLst>
                  <a:ext uri="{0D108BD9-81ED-4DB2-BD59-A6C34878D82A}">
                    <a16:rowId xmlns:a16="http://schemas.microsoft.com/office/drawing/2014/main" val="3883688122"/>
                  </a:ext>
                </a:extLst>
              </a:tr>
              <a:tr h="370840">
                <a:tc>
                  <a:txBody>
                    <a:bodyPr/>
                    <a:lstStyle/>
                    <a:p>
                      <a:pPr algn="ctr" rtl="0" fontAlgn="base"/>
                      <a:r>
                        <a:rPr lang="en-IN" b="1" dirty="0">
                          <a:effectLst/>
                        </a:rPr>
                        <a:t>Internet Dependency</a:t>
                      </a:r>
                    </a:p>
                  </a:txBody>
                  <a:tcPr marL="38100" marR="38100" marT="93164" marB="93164" anchor="ctr"/>
                </a:tc>
                <a:tc>
                  <a:txBody>
                    <a:bodyPr/>
                    <a:lstStyle/>
                    <a:p>
                      <a:pPr algn="ctr" fontAlgn="ctr"/>
                      <a:r>
                        <a:rPr lang="en-US" sz="1250" b="0" dirty="0">
                          <a:effectLst/>
                        </a:rPr>
                        <a:t>Cloud Computing requires fast, reliable and stable internet connection to access information anywhere at any time.</a:t>
                      </a:r>
                    </a:p>
                  </a:txBody>
                  <a:tcPr marL="95250" marR="95250" marT="133350" marB="133350" anchor="ctr"/>
                </a:tc>
                <a:tc>
                  <a:txBody>
                    <a:bodyPr/>
                    <a:lstStyle/>
                    <a:p>
                      <a:pPr algn="ctr" fontAlgn="ctr"/>
                      <a:r>
                        <a:rPr lang="en-US" sz="1250" b="0" dirty="0">
                          <a:effectLst/>
                        </a:rPr>
                        <a:t>Traditional Computing does not require any internet connection to access data or information.  </a:t>
                      </a:r>
                    </a:p>
                  </a:txBody>
                  <a:tcPr marL="95250" marR="95250" marT="133350" marB="133350" anchor="ctr"/>
                </a:tc>
                <a:extLst>
                  <a:ext uri="{0D108BD9-81ED-4DB2-BD59-A6C34878D82A}">
                    <a16:rowId xmlns:a16="http://schemas.microsoft.com/office/drawing/2014/main" val="4271252184"/>
                  </a:ext>
                </a:extLst>
              </a:tr>
              <a:tr h="370840">
                <a:tc>
                  <a:txBody>
                    <a:bodyPr/>
                    <a:lstStyle/>
                    <a:p>
                      <a:pPr algn="ctr" rtl="0" fontAlgn="base"/>
                      <a:r>
                        <a:rPr lang="en-IN" b="1" dirty="0">
                          <a:effectLst/>
                        </a:rPr>
                        <a:t>Storage and Computing Power</a:t>
                      </a:r>
                    </a:p>
                  </a:txBody>
                  <a:tcPr marL="38100" marR="38100" marT="93164" marB="93164" anchor="ctr"/>
                </a:tc>
                <a:tc>
                  <a:txBody>
                    <a:bodyPr/>
                    <a:lstStyle/>
                    <a:p>
                      <a:pPr algn="ctr" fontAlgn="ctr"/>
                      <a:r>
                        <a:rPr lang="en-US" sz="1250" b="0" dirty="0">
                          <a:effectLst/>
                        </a:rPr>
                        <a:t>Cloud Computing provides more storage space and servers as well as more computing power so that applications and software run must faster and effectively.  </a:t>
                      </a:r>
                    </a:p>
                  </a:txBody>
                  <a:tcPr marL="95250" marR="95250" marT="133350" marB="133350" anchor="ctr"/>
                </a:tc>
                <a:tc>
                  <a:txBody>
                    <a:bodyPr/>
                    <a:lstStyle/>
                    <a:p>
                      <a:pPr algn="ctr" fontAlgn="ctr"/>
                      <a:r>
                        <a:rPr lang="en-US" sz="1250" b="0" dirty="0">
                          <a:effectLst/>
                        </a:rPr>
                        <a:t>Traditional Computing provides less storage as compared to cloud computing.  </a:t>
                      </a:r>
                    </a:p>
                  </a:txBody>
                  <a:tcPr marL="95250" marR="95250" marT="133350" marB="133350" anchor="ctr"/>
                </a:tc>
                <a:extLst>
                  <a:ext uri="{0D108BD9-81ED-4DB2-BD59-A6C34878D82A}">
                    <a16:rowId xmlns:a16="http://schemas.microsoft.com/office/drawing/2014/main" val="2104950749"/>
                  </a:ext>
                </a:extLst>
              </a:tr>
              <a:tr h="370840">
                <a:tc>
                  <a:txBody>
                    <a:bodyPr/>
                    <a:lstStyle/>
                    <a:p>
                      <a:pPr algn="ctr" rtl="0" fontAlgn="base"/>
                      <a:r>
                        <a:rPr lang="en-IN" b="1" dirty="0">
                          <a:effectLst/>
                        </a:rPr>
                        <a:t>Scalability and Elasticity</a:t>
                      </a:r>
                    </a:p>
                  </a:txBody>
                  <a:tcPr marL="38100" marR="38100" marT="93164" marB="93164" anchor="ctr"/>
                </a:tc>
                <a:tc>
                  <a:txBody>
                    <a:bodyPr/>
                    <a:lstStyle/>
                    <a:p>
                      <a:pPr algn="ctr" fontAlgn="ctr"/>
                      <a:r>
                        <a:rPr lang="en-US" sz="1250" b="0" dirty="0">
                          <a:effectLst/>
                        </a:rPr>
                        <a:t>Cloud Computing also provides scalability and elasticity i.e., one can increase or decrease storage capacity, server resources, etc., according to business needs.  </a:t>
                      </a:r>
                    </a:p>
                  </a:txBody>
                  <a:tcPr marL="95250" marR="95250" marT="133350" marB="133350" anchor="ctr"/>
                </a:tc>
                <a:tc>
                  <a:txBody>
                    <a:bodyPr/>
                    <a:lstStyle/>
                    <a:p>
                      <a:pPr algn="ctr" fontAlgn="ctr"/>
                      <a:r>
                        <a:rPr lang="en-US" sz="1250" b="0" dirty="0">
                          <a:effectLst/>
                        </a:rPr>
                        <a:t>Traditional Computing does not provide any scalability and elasticity.  </a:t>
                      </a:r>
                    </a:p>
                  </a:txBody>
                  <a:tcPr marL="95250" marR="95250" marT="133350" marB="133350" anchor="ctr"/>
                </a:tc>
                <a:extLst>
                  <a:ext uri="{0D108BD9-81ED-4DB2-BD59-A6C34878D82A}">
                    <a16:rowId xmlns:a16="http://schemas.microsoft.com/office/drawing/2014/main" val="1372010217"/>
                  </a:ext>
                </a:extLst>
              </a:tr>
              <a:tr h="370840">
                <a:tc>
                  <a:txBody>
                    <a:bodyPr/>
                    <a:lstStyle/>
                    <a:p>
                      <a:pPr algn="ctr" rtl="0" fontAlgn="base"/>
                      <a:r>
                        <a:rPr lang="en-IN" b="1">
                          <a:effectLst/>
                        </a:rPr>
                        <a:t>Maintenance and Support</a:t>
                      </a:r>
                    </a:p>
                  </a:txBody>
                  <a:tcPr marL="38100" marR="38100" marT="93164" marB="93164" anchor="ctr"/>
                </a:tc>
                <a:tc>
                  <a:txBody>
                    <a:bodyPr/>
                    <a:lstStyle/>
                    <a:p>
                      <a:pPr algn="ctr" fontAlgn="ctr"/>
                      <a:r>
                        <a:rPr lang="en-US" sz="1250" b="0">
                          <a:effectLst/>
                        </a:rPr>
                        <a:t>Cloud service is served by provider’s support team.  </a:t>
                      </a:r>
                    </a:p>
                  </a:txBody>
                  <a:tcPr marL="95250" marR="95250" marT="133350" marB="133350" anchor="ctr"/>
                </a:tc>
                <a:tc>
                  <a:txBody>
                    <a:bodyPr/>
                    <a:lstStyle/>
                    <a:p>
                      <a:pPr algn="ctr" fontAlgn="ctr"/>
                      <a:r>
                        <a:rPr lang="en-US" sz="1250" b="0" dirty="0">
                          <a:effectLst/>
                        </a:rPr>
                        <a:t>Traditional Computing requires own team to maintain and monitor system that will need a lot of time and efforts.  </a:t>
                      </a:r>
                    </a:p>
                  </a:txBody>
                  <a:tcPr marL="95250" marR="95250" marT="133350" marB="133350" anchor="ctr"/>
                </a:tc>
                <a:extLst>
                  <a:ext uri="{0D108BD9-81ED-4DB2-BD59-A6C34878D82A}">
                    <a16:rowId xmlns:a16="http://schemas.microsoft.com/office/drawing/2014/main" val="4116289954"/>
                  </a:ext>
                </a:extLst>
              </a:tr>
              <a:tr h="370840">
                <a:tc>
                  <a:txBody>
                    <a:bodyPr/>
                    <a:lstStyle/>
                    <a:p>
                      <a:pPr algn="ctr" rtl="0" fontAlgn="base"/>
                      <a:r>
                        <a:rPr lang="en-IN" b="1">
                          <a:effectLst/>
                        </a:rPr>
                        <a:t>Software Delivery Model</a:t>
                      </a:r>
                    </a:p>
                  </a:txBody>
                  <a:tcPr marL="38100" marR="38100" marT="93164" marB="93164" anchor="ctr"/>
                </a:tc>
                <a:tc>
                  <a:txBody>
                    <a:bodyPr/>
                    <a:lstStyle/>
                    <a:p>
                      <a:pPr algn="ctr" fontAlgn="ctr"/>
                      <a:r>
                        <a:rPr lang="en-US" sz="1250" b="0">
                          <a:effectLst/>
                        </a:rPr>
                        <a:t>Software is offered as an on-demand service (SaaS) that can be accessed through subscription service.  </a:t>
                      </a:r>
                    </a:p>
                  </a:txBody>
                  <a:tcPr marL="95250" marR="95250" marT="133350" marB="133350" anchor="ctr"/>
                </a:tc>
                <a:tc>
                  <a:txBody>
                    <a:bodyPr/>
                    <a:lstStyle/>
                    <a:p>
                      <a:pPr algn="ctr" fontAlgn="ctr"/>
                      <a:r>
                        <a:rPr lang="en-US" sz="1250" b="0" dirty="0">
                          <a:effectLst/>
                        </a:rPr>
                        <a:t>Software in purchased individually for every user and requires to be updated periodically.</a:t>
                      </a:r>
                    </a:p>
                  </a:txBody>
                  <a:tcPr marL="95250" marR="95250" marT="133350" marB="133350" anchor="ctr"/>
                </a:tc>
                <a:extLst>
                  <a:ext uri="{0D108BD9-81ED-4DB2-BD59-A6C34878D82A}">
                    <a16:rowId xmlns:a16="http://schemas.microsoft.com/office/drawing/2014/main" val="3953797101"/>
                  </a:ext>
                </a:extLst>
              </a:tr>
            </a:tbl>
          </a:graphicData>
        </a:graphic>
      </p:graphicFrame>
    </p:spTree>
    <p:extLst>
      <p:ext uri="{BB962C8B-B14F-4D97-AF65-F5344CB8AC3E}">
        <p14:creationId xmlns:p14="http://schemas.microsoft.com/office/powerpoint/2010/main" val="3647507178"/>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609601" y="381000"/>
            <a:ext cx="8767156" cy="5426892"/>
          </a:xfrm>
          <a:prstGeom prst="rect">
            <a:avLst/>
          </a:prstGeom>
          <a:noFill/>
          <a:ln w="9525">
            <a:noFill/>
            <a:miter lim="800000"/>
            <a:headEnd/>
            <a:tailEnd/>
          </a:ln>
        </p:spPr>
      </p:pic>
      <p:sp>
        <p:nvSpPr>
          <p:cNvPr id="3" name="Date Placeholder 2"/>
          <p:cNvSpPr>
            <a:spLocks noGrp="1"/>
          </p:cNvSpPr>
          <p:nvPr>
            <p:ph type="dt" sz="half" idx="10"/>
          </p:nvPr>
        </p:nvSpPr>
        <p:spPr/>
        <p:txBody>
          <a:bodyPr/>
          <a:lstStyle/>
          <a:p>
            <a:fld id="{7B95BBFD-15DF-430B-B7C2-C8EF4263FEED}" type="datetime1">
              <a:rPr lang="en-US" smtClean="0"/>
              <a:t>10/14/2024</a:t>
            </a:fld>
            <a:endParaRPr lang="en-IN"/>
          </a:p>
        </p:txBody>
      </p:sp>
    </p:spTree>
    <p:extLst>
      <p:ext uri="{BB962C8B-B14F-4D97-AF65-F5344CB8AC3E}">
        <p14:creationId xmlns:p14="http://schemas.microsoft.com/office/powerpoint/2010/main" val="6081477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Cluster Computing</a:t>
            </a:r>
            <a:endParaRPr lang="en-IN" dirty="0"/>
          </a:p>
        </p:txBody>
      </p:sp>
      <p:sp>
        <p:nvSpPr>
          <p:cNvPr id="3" name="Content Placeholder 2"/>
          <p:cNvSpPr>
            <a:spLocks noGrp="1"/>
          </p:cNvSpPr>
          <p:nvPr>
            <p:ph idx="1"/>
          </p:nvPr>
        </p:nvSpPr>
        <p:spPr/>
        <p:txBody>
          <a:bodyPr/>
          <a:lstStyle/>
          <a:p>
            <a:pPr algn="just"/>
            <a:r>
              <a:rPr lang="en-US" dirty="0"/>
              <a:t>Cluster computing refers to the process of sharing the computation task to multiple computers of the cluster. The number of computers are connected on a network and they perform a single task by forming a Cluster of computers where the process of computing is called as cluster computing</a:t>
            </a:r>
            <a:r>
              <a:rPr lang="en-US" dirty="0" smtClean="0"/>
              <a:t>.</a:t>
            </a:r>
          </a:p>
          <a:p>
            <a:pPr algn="just"/>
            <a:r>
              <a:rPr lang="en-US" dirty="0"/>
              <a:t>Cluster Computing is a high performance computing framework which helps in solving more complex operations more efficiently with a faster processing speed and better data integrity. Cluster Computing is a networking technology that performs its operations based on the principle of distributed systems.</a:t>
            </a:r>
            <a:endParaRPr lang="en-IN" dirty="0"/>
          </a:p>
        </p:txBody>
      </p:sp>
    </p:spTree>
    <p:extLst>
      <p:ext uri="{BB962C8B-B14F-4D97-AF65-F5344CB8AC3E}">
        <p14:creationId xmlns:p14="http://schemas.microsoft.com/office/powerpoint/2010/main" val="2057718207"/>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Cluster Computing</a:t>
            </a:r>
            <a:endParaRPr lang="en-IN" dirty="0"/>
          </a:p>
        </p:txBody>
      </p:sp>
      <p:pic>
        <p:nvPicPr>
          <p:cNvPr id="2050" name="Picture 2" descr="https://media.geeksforgeeks.org/wp-content/uploads/20200709151922/clusterarchitecture2.png"/>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2313794" y="2160588"/>
            <a:ext cx="5324449" cy="388143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0495732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9106746" cy="870065"/>
          </a:xfrm>
        </p:spPr>
        <p:txBody>
          <a:bodyPr>
            <a:normAutofit/>
          </a:bodyPr>
          <a:lstStyle/>
          <a:p>
            <a:r>
              <a:rPr lang="en-US" sz="2400" b="1" dirty="0"/>
              <a:t>Difference between Cloud Computing and Cluster Computing</a:t>
            </a:r>
            <a:endParaRPr lang="en-IN" sz="2400" dirty="0"/>
          </a:p>
        </p:txBody>
      </p:sp>
      <p:graphicFrame>
        <p:nvGraphicFramePr>
          <p:cNvPr id="5" name="Table 4"/>
          <p:cNvGraphicFramePr>
            <a:graphicFrameLocks noGrp="1"/>
          </p:cNvGraphicFramePr>
          <p:nvPr>
            <p:extLst>
              <p:ext uri="{D42A27DB-BD31-4B8C-83A1-F6EECF244321}">
                <p14:modId xmlns:p14="http://schemas.microsoft.com/office/powerpoint/2010/main" val="1207578736"/>
              </p:ext>
            </p:extLst>
          </p:nvPr>
        </p:nvGraphicFramePr>
        <p:xfrm>
          <a:off x="844117" y="1279438"/>
          <a:ext cx="8383012" cy="5178380"/>
        </p:xfrm>
        <a:graphic>
          <a:graphicData uri="http://schemas.openxmlformats.org/drawingml/2006/table">
            <a:tbl>
              <a:tblPr firstRow="1" bandRow="1">
                <a:tableStyleId>{5C22544A-7EE6-4342-B048-85BDC9FD1C3A}</a:tableStyleId>
              </a:tblPr>
              <a:tblGrid>
                <a:gridCol w="2095753">
                  <a:extLst>
                    <a:ext uri="{9D8B030D-6E8A-4147-A177-3AD203B41FA5}">
                      <a16:colId xmlns:a16="http://schemas.microsoft.com/office/drawing/2014/main" val="2415862361"/>
                    </a:ext>
                  </a:extLst>
                </a:gridCol>
                <a:gridCol w="2095753">
                  <a:extLst>
                    <a:ext uri="{9D8B030D-6E8A-4147-A177-3AD203B41FA5}">
                      <a16:colId xmlns:a16="http://schemas.microsoft.com/office/drawing/2014/main" val="309955229"/>
                    </a:ext>
                  </a:extLst>
                </a:gridCol>
                <a:gridCol w="2095753">
                  <a:extLst>
                    <a:ext uri="{9D8B030D-6E8A-4147-A177-3AD203B41FA5}">
                      <a16:colId xmlns:a16="http://schemas.microsoft.com/office/drawing/2014/main" val="2323944229"/>
                    </a:ext>
                  </a:extLst>
                </a:gridCol>
                <a:gridCol w="2095753">
                  <a:extLst>
                    <a:ext uri="{9D8B030D-6E8A-4147-A177-3AD203B41FA5}">
                      <a16:colId xmlns:a16="http://schemas.microsoft.com/office/drawing/2014/main" val="2170161148"/>
                    </a:ext>
                  </a:extLst>
                </a:gridCol>
              </a:tblGrid>
              <a:tr h="355091">
                <a:tc>
                  <a:txBody>
                    <a:bodyPr/>
                    <a:lstStyle/>
                    <a:p>
                      <a:pPr algn="ctr" fontAlgn="base"/>
                      <a:r>
                        <a:rPr lang="en-IN" b="1" dirty="0">
                          <a:effectLst/>
                        </a:rPr>
                        <a:t>Serial Number</a:t>
                      </a:r>
                    </a:p>
                  </a:txBody>
                  <a:tcPr marL="38100" marR="38100" marT="86020" marB="86020" anchor="ctr"/>
                </a:tc>
                <a:tc>
                  <a:txBody>
                    <a:bodyPr/>
                    <a:lstStyle/>
                    <a:p>
                      <a:pPr algn="ctr" fontAlgn="base"/>
                      <a:r>
                        <a:rPr lang="en-IN" b="1" dirty="0">
                          <a:effectLst/>
                        </a:rPr>
                        <a:t>Category</a:t>
                      </a:r>
                    </a:p>
                  </a:txBody>
                  <a:tcPr marL="86020" marR="86020" marT="86020" marB="86020" anchor="ctr"/>
                </a:tc>
                <a:tc>
                  <a:txBody>
                    <a:bodyPr/>
                    <a:lstStyle/>
                    <a:p>
                      <a:pPr algn="ctr" fontAlgn="base"/>
                      <a:r>
                        <a:rPr lang="en-IN" b="1">
                          <a:effectLst/>
                        </a:rPr>
                        <a:t>Cloud Computing</a:t>
                      </a:r>
                    </a:p>
                  </a:txBody>
                  <a:tcPr marL="86020" marR="86020" marT="86020" marB="86020" anchor="ctr"/>
                </a:tc>
                <a:tc>
                  <a:txBody>
                    <a:bodyPr/>
                    <a:lstStyle/>
                    <a:p>
                      <a:pPr algn="ctr" fontAlgn="base"/>
                      <a:r>
                        <a:rPr lang="en-IN" b="1">
                          <a:effectLst/>
                        </a:rPr>
                        <a:t>Cluster Computing</a:t>
                      </a:r>
                    </a:p>
                  </a:txBody>
                  <a:tcPr marL="86020" marR="86020" marT="86020" marB="86020" anchor="ctr"/>
                </a:tc>
                <a:extLst>
                  <a:ext uri="{0D108BD9-81ED-4DB2-BD59-A6C34878D82A}">
                    <a16:rowId xmlns:a16="http://schemas.microsoft.com/office/drawing/2014/main" val="3184558337"/>
                  </a:ext>
                </a:extLst>
              </a:tr>
              <a:tr h="515262">
                <a:tc>
                  <a:txBody>
                    <a:bodyPr/>
                    <a:lstStyle/>
                    <a:p>
                      <a:pPr algn="ctr" fontAlgn="ctr"/>
                      <a:r>
                        <a:rPr lang="en-IN" sz="1250" b="0">
                          <a:effectLst/>
                        </a:rPr>
                        <a:t>1.</a:t>
                      </a:r>
                    </a:p>
                  </a:txBody>
                  <a:tcPr marL="95250" marR="95250" marT="133350" marB="133350" anchor="ctr"/>
                </a:tc>
                <a:tc>
                  <a:txBody>
                    <a:bodyPr/>
                    <a:lstStyle/>
                    <a:p>
                      <a:pPr algn="ctr" fontAlgn="ctr"/>
                      <a:r>
                        <a:rPr lang="en-IN" sz="1250" b="0">
                          <a:effectLst/>
                        </a:rPr>
                        <a:t>Goal</a:t>
                      </a:r>
                    </a:p>
                  </a:txBody>
                  <a:tcPr marL="95250" marR="95250" marT="133350" marB="133350" anchor="ctr"/>
                </a:tc>
                <a:tc>
                  <a:txBody>
                    <a:bodyPr/>
                    <a:lstStyle/>
                    <a:p>
                      <a:pPr algn="ctr" fontAlgn="ctr"/>
                      <a:r>
                        <a:rPr lang="en-US" sz="1250" b="0">
                          <a:effectLst/>
                        </a:rPr>
                        <a:t>Providing on demand IT resources and services.</a:t>
                      </a:r>
                    </a:p>
                  </a:txBody>
                  <a:tcPr marL="95250" marR="95250" marT="133350" marB="133350" anchor="ctr"/>
                </a:tc>
                <a:tc>
                  <a:txBody>
                    <a:bodyPr/>
                    <a:lstStyle/>
                    <a:p>
                      <a:pPr algn="ctr" fontAlgn="ctr"/>
                      <a:r>
                        <a:rPr lang="en-US" sz="1250" b="0">
                          <a:effectLst/>
                        </a:rPr>
                        <a:t>Performing a complex task in a modular approach.</a:t>
                      </a:r>
                    </a:p>
                  </a:txBody>
                  <a:tcPr marL="95250" marR="95250" marT="133350" marB="133350" anchor="ctr"/>
                </a:tc>
                <a:extLst>
                  <a:ext uri="{0D108BD9-81ED-4DB2-BD59-A6C34878D82A}">
                    <a16:rowId xmlns:a16="http://schemas.microsoft.com/office/drawing/2014/main" val="2608153310"/>
                  </a:ext>
                </a:extLst>
              </a:tr>
              <a:tr h="515262">
                <a:tc>
                  <a:txBody>
                    <a:bodyPr/>
                    <a:lstStyle/>
                    <a:p>
                      <a:pPr algn="ctr" fontAlgn="ctr"/>
                      <a:r>
                        <a:rPr lang="en-IN" sz="1250" b="0">
                          <a:effectLst/>
                        </a:rPr>
                        <a:t>2.</a:t>
                      </a:r>
                    </a:p>
                  </a:txBody>
                  <a:tcPr marL="95250" marR="95250" marT="133350" marB="133350" anchor="ctr"/>
                </a:tc>
                <a:tc>
                  <a:txBody>
                    <a:bodyPr/>
                    <a:lstStyle/>
                    <a:p>
                      <a:pPr algn="ctr" fontAlgn="ctr"/>
                      <a:r>
                        <a:rPr lang="en-IN" sz="1250" b="0">
                          <a:effectLst/>
                        </a:rPr>
                        <a:t>Resource Sharing</a:t>
                      </a:r>
                    </a:p>
                  </a:txBody>
                  <a:tcPr marL="95250" marR="95250" marT="133350" marB="133350" anchor="ctr"/>
                </a:tc>
                <a:tc>
                  <a:txBody>
                    <a:bodyPr/>
                    <a:lstStyle/>
                    <a:p>
                      <a:pPr algn="ctr" fontAlgn="ctr"/>
                      <a:r>
                        <a:rPr lang="en-US" sz="1250" b="0">
                          <a:effectLst/>
                        </a:rPr>
                        <a:t>Specific assigned resources are not shareable.</a:t>
                      </a:r>
                    </a:p>
                  </a:txBody>
                  <a:tcPr marL="95250" marR="95250" marT="133350" marB="133350" anchor="ctr"/>
                </a:tc>
                <a:tc>
                  <a:txBody>
                    <a:bodyPr/>
                    <a:lstStyle/>
                    <a:p>
                      <a:pPr algn="ctr" fontAlgn="ctr"/>
                      <a:r>
                        <a:rPr lang="en-US" sz="1250" b="0">
                          <a:effectLst/>
                        </a:rPr>
                        <a:t>Specific assigned resources are not shareable.</a:t>
                      </a:r>
                    </a:p>
                  </a:txBody>
                  <a:tcPr marL="95250" marR="95250" marT="133350" marB="133350" anchor="ctr"/>
                </a:tc>
                <a:extLst>
                  <a:ext uri="{0D108BD9-81ED-4DB2-BD59-A6C34878D82A}">
                    <a16:rowId xmlns:a16="http://schemas.microsoft.com/office/drawing/2014/main" val="2734956764"/>
                  </a:ext>
                </a:extLst>
              </a:tr>
              <a:tr h="666810">
                <a:tc>
                  <a:txBody>
                    <a:bodyPr/>
                    <a:lstStyle/>
                    <a:p>
                      <a:pPr algn="ctr" fontAlgn="ctr"/>
                      <a:r>
                        <a:rPr lang="en-IN" sz="1250" b="0">
                          <a:effectLst/>
                        </a:rPr>
                        <a:t>3.</a:t>
                      </a:r>
                    </a:p>
                  </a:txBody>
                  <a:tcPr marL="95250" marR="95250" marT="133350" marB="133350" anchor="ctr"/>
                </a:tc>
                <a:tc>
                  <a:txBody>
                    <a:bodyPr/>
                    <a:lstStyle/>
                    <a:p>
                      <a:pPr algn="ctr" fontAlgn="ctr"/>
                      <a:r>
                        <a:rPr lang="en-IN" sz="1250" b="0">
                          <a:effectLst/>
                        </a:rPr>
                        <a:t>Resource type</a:t>
                      </a:r>
                    </a:p>
                  </a:txBody>
                  <a:tcPr marL="95250" marR="95250" marT="133350" marB="133350" anchor="ctr"/>
                </a:tc>
                <a:tc>
                  <a:txBody>
                    <a:bodyPr/>
                    <a:lstStyle/>
                    <a:p>
                      <a:pPr algn="ctr" fontAlgn="ctr"/>
                      <a:r>
                        <a:rPr lang="en-US" sz="1250" b="0">
                          <a:effectLst/>
                        </a:rPr>
                        <a:t>In cloud computing there is heterogeneous resource type.</a:t>
                      </a:r>
                    </a:p>
                  </a:txBody>
                  <a:tcPr marL="95250" marR="95250" marT="133350" marB="133350" anchor="ctr"/>
                </a:tc>
                <a:tc>
                  <a:txBody>
                    <a:bodyPr/>
                    <a:lstStyle/>
                    <a:p>
                      <a:pPr algn="ctr" fontAlgn="ctr"/>
                      <a:r>
                        <a:rPr lang="en-US" sz="1250" b="0">
                          <a:effectLst/>
                        </a:rPr>
                        <a:t>In Cluster Computing there is homogeneous resource type.</a:t>
                      </a:r>
                    </a:p>
                  </a:txBody>
                  <a:tcPr marL="95250" marR="95250" marT="133350" marB="133350" anchor="ctr"/>
                </a:tc>
                <a:extLst>
                  <a:ext uri="{0D108BD9-81ED-4DB2-BD59-A6C34878D82A}">
                    <a16:rowId xmlns:a16="http://schemas.microsoft.com/office/drawing/2014/main" val="707418039"/>
                  </a:ext>
                </a:extLst>
              </a:tr>
              <a:tr h="515262">
                <a:tc>
                  <a:txBody>
                    <a:bodyPr/>
                    <a:lstStyle/>
                    <a:p>
                      <a:pPr algn="ctr" fontAlgn="ctr"/>
                      <a:r>
                        <a:rPr lang="en-IN" sz="1250" b="0">
                          <a:effectLst/>
                        </a:rPr>
                        <a:t>4.</a:t>
                      </a:r>
                    </a:p>
                  </a:txBody>
                  <a:tcPr marL="95250" marR="95250" marT="133350" marB="133350" anchor="ctr"/>
                </a:tc>
                <a:tc>
                  <a:txBody>
                    <a:bodyPr/>
                    <a:lstStyle/>
                    <a:p>
                      <a:pPr algn="ctr" fontAlgn="ctr"/>
                      <a:r>
                        <a:rPr lang="en-IN" sz="1250" b="0">
                          <a:effectLst/>
                        </a:rPr>
                        <a:t>Virtualization</a:t>
                      </a:r>
                    </a:p>
                  </a:txBody>
                  <a:tcPr marL="95250" marR="95250" marT="133350" marB="133350" anchor="ctr"/>
                </a:tc>
                <a:tc>
                  <a:txBody>
                    <a:bodyPr/>
                    <a:lstStyle/>
                    <a:p>
                      <a:pPr algn="ctr" fontAlgn="ctr"/>
                      <a:r>
                        <a:rPr lang="en-US" sz="1250" b="0">
                          <a:effectLst/>
                        </a:rPr>
                        <a:t>Virtualization hardware and software resources.</a:t>
                      </a:r>
                    </a:p>
                  </a:txBody>
                  <a:tcPr marL="95250" marR="95250" marT="133350" marB="133350" anchor="ctr"/>
                </a:tc>
                <a:tc>
                  <a:txBody>
                    <a:bodyPr/>
                    <a:lstStyle/>
                    <a:p>
                      <a:pPr algn="ctr" fontAlgn="ctr"/>
                      <a:r>
                        <a:rPr lang="en-IN" sz="1250" b="0">
                          <a:effectLst/>
                        </a:rPr>
                        <a:t>No virtualization resources.</a:t>
                      </a:r>
                    </a:p>
                  </a:txBody>
                  <a:tcPr marL="95250" marR="95250" marT="133350" marB="133350" anchor="ctr"/>
                </a:tc>
                <a:extLst>
                  <a:ext uri="{0D108BD9-81ED-4DB2-BD59-A6C34878D82A}">
                    <a16:rowId xmlns:a16="http://schemas.microsoft.com/office/drawing/2014/main" val="3166701589"/>
                  </a:ext>
                </a:extLst>
              </a:tr>
              <a:tr h="666810">
                <a:tc>
                  <a:txBody>
                    <a:bodyPr/>
                    <a:lstStyle/>
                    <a:p>
                      <a:pPr algn="ctr" fontAlgn="ctr"/>
                      <a:r>
                        <a:rPr lang="en-IN" sz="1250" b="0">
                          <a:effectLst/>
                        </a:rPr>
                        <a:t>5.</a:t>
                      </a:r>
                    </a:p>
                  </a:txBody>
                  <a:tcPr marL="95250" marR="95250" marT="133350" marB="133350" anchor="ctr"/>
                </a:tc>
                <a:tc>
                  <a:txBody>
                    <a:bodyPr/>
                    <a:lstStyle/>
                    <a:p>
                      <a:pPr algn="ctr" fontAlgn="ctr"/>
                      <a:r>
                        <a:rPr lang="en-IN" sz="1250" b="0">
                          <a:effectLst/>
                        </a:rPr>
                        <a:t>Security</a:t>
                      </a:r>
                    </a:p>
                  </a:txBody>
                  <a:tcPr marL="95250" marR="95250" marT="133350" marB="133350" anchor="ctr"/>
                </a:tc>
                <a:tc>
                  <a:txBody>
                    <a:bodyPr/>
                    <a:lstStyle/>
                    <a:p>
                      <a:pPr algn="ctr" fontAlgn="ctr"/>
                      <a:r>
                        <a:rPr lang="en-US" sz="1250" b="0">
                          <a:effectLst/>
                        </a:rPr>
                        <a:t>Security through isolation can be achieved.</a:t>
                      </a:r>
                    </a:p>
                  </a:txBody>
                  <a:tcPr marL="95250" marR="95250" marT="133350" marB="133350" anchor="ctr"/>
                </a:tc>
                <a:tc>
                  <a:txBody>
                    <a:bodyPr/>
                    <a:lstStyle/>
                    <a:p>
                      <a:pPr algn="ctr" fontAlgn="ctr"/>
                      <a:r>
                        <a:rPr lang="en-US" sz="1250" b="0">
                          <a:effectLst/>
                        </a:rPr>
                        <a:t>Security through node credential  can be achieved.</a:t>
                      </a:r>
                    </a:p>
                  </a:txBody>
                  <a:tcPr marL="95250" marR="95250" marT="133350" marB="133350" anchor="ctr"/>
                </a:tc>
                <a:extLst>
                  <a:ext uri="{0D108BD9-81ED-4DB2-BD59-A6C34878D82A}">
                    <a16:rowId xmlns:a16="http://schemas.microsoft.com/office/drawing/2014/main" val="1131543612"/>
                  </a:ext>
                </a:extLst>
              </a:tr>
              <a:tr h="515262">
                <a:tc>
                  <a:txBody>
                    <a:bodyPr/>
                    <a:lstStyle/>
                    <a:p>
                      <a:pPr algn="ctr" fontAlgn="ctr"/>
                      <a:r>
                        <a:rPr lang="en-IN" sz="1250" b="0">
                          <a:effectLst/>
                        </a:rPr>
                        <a:t>6.</a:t>
                      </a:r>
                    </a:p>
                  </a:txBody>
                  <a:tcPr marL="95250" marR="95250" marT="133350" marB="133350" anchor="ctr"/>
                </a:tc>
                <a:tc>
                  <a:txBody>
                    <a:bodyPr/>
                    <a:lstStyle/>
                    <a:p>
                      <a:pPr algn="ctr" fontAlgn="ctr"/>
                      <a:r>
                        <a:rPr lang="en-IN" sz="1250" b="0">
                          <a:effectLst/>
                        </a:rPr>
                        <a:t>Initial Cost</a:t>
                      </a:r>
                    </a:p>
                  </a:txBody>
                  <a:tcPr marL="95250" marR="95250" marT="133350" marB="133350" anchor="ctr"/>
                </a:tc>
                <a:tc>
                  <a:txBody>
                    <a:bodyPr/>
                    <a:lstStyle/>
                    <a:p>
                      <a:pPr algn="ctr" fontAlgn="ctr"/>
                      <a:r>
                        <a:rPr lang="en-US" sz="1250" b="0">
                          <a:effectLst/>
                        </a:rPr>
                        <a:t>Initial capital cost for setup is very low.</a:t>
                      </a:r>
                    </a:p>
                  </a:txBody>
                  <a:tcPr marL="95250" marR="95250" marT="133350" marB="133350" anchor="ctr"/>
                </a:tc>
                <a:tc>
                  <a:txBody>
                    <a:bodyPr/>
                    <a:lstStyle/>
                    <a:p>
                      <a:pPr algn="ctr" fontAlgn="ctr"/>
                      <a:r>
                        <a:rPr lang="en-US" sz="1250" b="0" dirty="0">
                          <a:effectLst/>
                        </a:rPr>
                        <a:t>Initial capital cost for setup is very high.</a:t>
                      </a:r>
                    </a:p>
                  </a:txBody>
                  <a:tcPr marL="95250" marR="95250" marT="133350" marB="133350" anchor="ctr"/>
                </a:tc>
                <a:extLst>
                  <a:ext uri="{0D108BD9-81ED-4DB2-BD59-A6C34878D82A}">
                    <a16:rowId xmlns:a16="http://schemas.microsoft.com/office/drawing/2014/main" val="2653736977"/>
                  </a:ext>
                </a:extLst>
              </a:tr>
            </a:tbl>
          </a:graphicData>
        </a:graphic>
      </p:graphicFrame>
    </p:spTree>
    <p:extLst>
      <p:ext uri="{BB962C8B-B14F-4D97-AF65-F5344CB8AC3E}">
        <p14:creationId xmlns:p14="http://schemas.microsoft.com/office/powerpoint/2010/main" val="1227042110"/>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808635394"/>
              </p:ext>
            </p:extLst>
          </p:nvPr>
        </p:nvGraphicFramePr>
        <p:xfrm>
          <a:off x="640079" y="1197033"/>
          <a:ext cx="8603676" cy="4081548"/>
        </p:xfrm>
        <a:graphic>
          <a:graphicData uri="http://schemas.openxmlformats.org/drawingml/2006/table">
            <a:tbl>
              <a:tblPr firstRow="1" bandRow="1">
                <a:tableStyleId>{5C22544A-7EE6-4342-B048-85BDC9FD1C3A}</a:tableStyleId>
              </a:tblPr>
              <a:tblGrid>
                <a:gridCol w="2150919">
                  <a:extLst>
                    <a:ext uri="{9D8B030D-6E8A-4147-A177-3AD203B41FA5}">
                      <a16:colId xmlns:a16="http://schemas.microsoft.com/office/drawing/2014/main" val="800168632"/>
                    </a:ext>
                  </a:extLst>
                </a:gridCol>
                <a:gridCol w="2150919">
                  <a:extLst>
                    <a:ext uri="{9D8B030D-6E8A-4147-A177-3AD203B41FA5}">
                      <a16:colId xmlns:a16="http://schemas.microsoft.com/office/drawing/2014/main" val="2767827862"/>
                    </a:ext>
                  </a:extLst>
                </a:gridCol>
                <a:gridCol w="2150919">
                  <a:extLst>
                    <a:ext uri="{9D8B030D-6E8A-4147-A177-3AD203B41FA5}">
                      <a16:colId xmlns:a16="http://schemas.microsoft.com/office/drawing/2014/main" val="83092174"/>
                    </a:ext>
                  </a:extLst>
                </a:gridCol>
                <a:gridCol w="2150919">
                  <a:extLst>
                    <a:ext uri="{9D8B030D-6E8A-4147-A177-3AD203B41FA5}">
                      <a16:colId xmlns:a16="http://schemas.microsoft.com/office/drawing/2014/main" val="1512101939"/>
                    </a:ext>
                  </a:extLst>
                </a:gridCol>
              </a:tblGrid>
              <a:tr h="450344">
                <a:tc>
                  <a:txBody>
                    <a:bodyPr/>
                    <a:lstStyle/>
                    <a:p>
                      <a:pPr algn="ctr" fontAlgn="ctr"/>
                      <a:r>
                        <a:rPr lang="en-IN" sz="1100" b="0" dirty="0">
                          <a:effectLst/>
                        </a:rPr>
                        <a:t>7.</a:t>
                      </a:r>
                    </a:p>
                  </a:txBody>
                  <a:tcPr marL="39979" marR="39979" marT="55971" marB="55971" anchor="ctr"/>
                </a:tc>
                <a:tc>
                  <a:txBody>
                    <a:bodyPr/>
                    <a:lstStyle/>
                    <a:p>
                      <a:pPr algn="ctr" fontAlgn="ctr"/>
                      <a:r>
                        <a:rPr lang="en-IN" sz="1100" b="0">
                          <a:effectLst/>
                        </a:rPr>
                        <a:t>Security Requirement</a:t>
                      </a:r>
                    </a:p>
                  </a:txBody>
                  <a:tcPr marL="39979" marR="39979" marT="55971" marB="55971" anchor="ctr"/>
                </a:tc>
                <a:tc>
                  <a:txBody>
                    <a:bodyPr/>
                    <a:lstStyle/>
                    <a:p>
                      <a:pPr algn="ctr" fontAlgn="ctr"/>
                      <a:r>
                        <a:rPr lang="en-IN" sz="1100" b="0" dirty="0">
                          <a:effectLst/>
                        </a:rPr>
                        <a:t>Very low</a:t>
                      </a:r>
                    </a:p>
                  </a:txBody>
                  <a:tcPr marL="39979" marR="39979" marT="55971" marB="55971" anchor="ctr"/>
                </a:tc>
                <a:tc>
                  <a:txBody>
                    <a:bodyPr/>
                    <a:lstStyle/>
                    <a:p>
                      <a:pPr algn="ctr" fontAlgn="ctr"/>
                      <a:r>
                        <a:rPr lang="en-IN" sz="1100" b="0">
                          <a:effectLst/>
                        </a:rPr>
                        <a:t>Very high</a:t>
                      </a:r>
                    </a:p>
                  </a:txBody>
                  <a:tcPr marL="39979" marR="39979" marT="55971" marB="55971" anchor="ctr"/>
                </a:tc>
                <a:extLst>
                  <a:ext uri="{0D108BD9-81ED-4DB2-BD59-A6C34878D82A}">
                    <a16:rowId xmlns:a16="http://schemas.microsoft.com/office/drawing/2014/main" val="4210340026"/>
                  </a:ext>
                </a:extLst>
              </a:tr>
              <a:tr h="535394">
                <a:tc>
                  <a:txBody>
                    <a:bodyPr/>
                    <a:lstStyle/>
                    <a:p>
                      <a:pPr algn="ctr" fontAlgn="ctr"/>
                      <a:r>
                        <a:rPr lang="en-IN" sz="1100" b="0">
                          <a:effectLst/>
                        </a:rPr>
                        <a:t>8.</a:t>
                      </a:r>
                    </a:p>
                  </a:txBody>
                  <a:tcPr marL="39979" marR="39979" marT="55971" marB="55971" anchor="ctr"/>
                </a:tc>
                <a:tc>
                  <a:txBody>
                    <a:bodyPr/>
                    <a:lstStyle/>
                    <a:p>
                      <a:pPr algn="ctr" fontAlgn="ctr"/>
                      <a:r>
                        <a:rPr lang="en-IN" sz="1100" b="0" dirty="0">
                          <a:effectLst/>
                        </a:rPr>
                        <a:t>Maintenance</a:t>
                      </a:r>
                    </a:p>
                  </a:txBody>
                  <a:tcPr marL="39979" marR="39979" marT="55971" marB="55971" anchor="ctr"/>
                </a:tc>
                <a:tc>
                  <a:txBody>
                    <a:bodyPr/>
                    <a:lstStyle/>
                    <a:p>
                      <a:pPr algn="ctr" fontAlgn="ctr"/>
                      <a:r>
                        <a:rPr lang="en-IN" sz="1100" b="0" dirty="0">
                          <a:effectLst/>
                        </a:rPr>
                        <a:t>Requires low maintenance.</a:t>
                      </a:r>
                    </a:p>
                  </a:txBody>
                  <a:tcPr marL="39979" marR="39979" marT="55971" marB="55971" anchor="ctr"/>
                </a:tc>
                <a:tc>
                  <a:txBody>
                    <a:bodyPr/>
                    <a:lstStyle/>
                    <a:p>
                      <a:pPr algn="ctr" fontAlgn="ctr"/>
                      <a:r>
                        <a:rPr lang="en-IN" sz="1100" b="0">
                          <a:effectLst/>
                        </a:rPr>
                        <a:t>Requires little more maintenance.</a:t>
                      </a:r>
                    </a:p>
                  </a:txBody>
                  <a:tcPr marL="39979" marR="39979" marT="55971" marB="55971" anchor="ctr"/>
                </a:tc>
                <a:extLst>
                  <a:ext uri="{0D108BD9-81ED-4DB2-BD59-A6C34878D82A}">
                    <a16:rowId xmlns:a16="http://schemas.microsoft.com/office/drawing/2014/main" val="3972241757"/>
                  </a:ext>
                </a:extLst>
              </a:tr>
              <a:tr h="601666">
                <a:tc>
                  <a:txBody>
                    <a:bodyPr/>
                    <a:lstStyle/>
                    <a:p>
                      <a:pPr algn="ctr" fontAlgn="ctr"/>
                      <a:r>
                        <a:rPr lang="en-IN" sz="1100" b="0">
                          <a:effectLst/>
                        </a:rPr>
                        <a:t>9.</a:t>
                      </a:r>
                    </a:p>
                  </a:txBody>
                  <a:tcPr marL="39979" marR="39979" marT="55971" marB="55971" anchor="ctr"/>
                </a:tc>
                <a:tc>
                  <a:txBody>
                    <a:bodyPr/>
                    <a:lstStyle/>
                    <a:p>
                      <a:pPr algn="ctr" fontAlgn="ctr"/>
                      <a:r>
                        <a:rPr lang="en-IN" sz="1100" b="0" dirty="0">
                          <a:effectLst/>
                        </a:rPr>
                        <a:t>Hardware </a:t>
                      </a:r>
                    </a:p>
                  </a:txBody>
                  <a:tcPr marL="39979" marR="39979" marT="55971" marB="55971" anchor="ctr"/>
                </a:tc>
                <a:tc>
                  <a:txBody>
                    <a:bodyPr/>
                    <a:lstStyle/>
                    <a:p>
                      <a:pPr algn="ctr" fontAlgn="ctr"/>
                      <a:r>
                        <a:rPr lang="en-IN" sz="1100" b="0" dirty="0">
                          <a:effectLst/>
                        </a:rPr>
                        <a:t>No hardware requirement physically.</a:t>
                      </a:r>
                    </a:p>
                  </a:txBody>
                  <a:tcPr marL="39979" marR="39979" marT="55971" marB="55971" anchor="ctr"/>
                </a:tc>
                <a:tc>
                  <a:txBody>
                    <a:bodyPr/>
                    <a:lstStyle/>
                    <a:p>
                      <a:pPr algn="ctr" fontAlgn="ctr"/>
                      <a:r>
                        <a:rPr lang="en-IN" sz="1100" b="0" dirty="0">
                          <a:effectLst/>
                        </a:rPr>
                        <a:t>More hardware requirement physically.</a:t>
                      </a:r>
                    </a:p>
                  </a:txBody>
                  <a:tcPr marL="39979" marR="39979" marT="55971" marB="55971" anchor="ctr"/>
                </a:tc>
                <a:extLst>
                  <a:ext uri="{0D108BD9-81ED-4DB2-BD59-A6C34878D82A}">
                    <a16:rowId xmlns:a16="http://schemas.microsoft.com/office/drawing/2014/main" val="2389777242"/>
                  </a:ext>
                </a:extLst>
              </a:tr>
              <a:tr h="535394">
                <a:tc>
                  <a:txBody>
                    <a:bodyPr/>
                    <a:lstStyle/>
                    <a:p>
                      <a:pPr algn="ctr" fontAlgn="ctr"/>
                      <a:r>
                        <a:rPr lang="en-IN" sz="1100" b="0">
                          <a:effectLst/>
                        </a:rPr>
                        <a:t>10.</a:t>
                      </a:r>
                    </a:p>
                  </a:txBody>
                  <a:tcPr marL="39979" marR="39979" marT="55971" marB="55971" anchor="ctr"/>
                </a:tc>
                <a:tc>
                  <a:txBody>
                    <a:bodyPr/>
                    <a:lstStyle/>
                    <a:p>
                      <a:pPr algn="ctr" fontAlgn="ctr"/>
                      <a:r>
                        <a:rPr lang="en-IN" sz="1100" b="0" dirty="0">
                          <a:effectLst/>
                        </a:rPr>
                        <a:t>Node OS</a:t>
                      </a:r>
                    </a:p>
                  </a:txBody>
                  <a:tcPr marL="39979" marR="39979" marT="55971" marB="55971" anchor="ctr"/>
                </a:tc>
                <a:tc>
                  <a:txBody>
                    <a:bodyPr/>
                    <a:lstStyle/>
                    <a:p>
                      <a:pPr algn="ctr" fontAlgn="ctr"/>
                      <a:r>
                        <a:rPr lang="pt-BR" sz="1100" b="0" dirty="0">
                          <a:effectLst/>
                        </a:rPr>
                        <a:t>Multiple OS runs in VM</a:t>
                      </a:r>
                    </a:p>
                  </a:txBody>
                  <a:tcPr marL="39979" marR="39979" marT="55971" marB="55971" anchor="ctr"/>
                </a:tc>
                <a:tc>
                  <a:txBody>
                    <a:bodyPr/>
                    <a:lstStyle/>
                    <a:p>
                      <a:pPr algn="ctr" fontAlgn="ctr"/>
                      <a:r>
                        <a:rPr lang="en-IN" sz="1100" b="0" dirty="0">
                          <a:effectLst/>
                        </a:rPr>
                        <a:t>Windows, Linux</a:t>
                      </a:r>
                    </a:p>
                  </a:txBody>
                  <a:tcPr marL="39979" marR="39979" marT="55971" marB="55971" anchor="ctr"/>
                </a:tc>
                <a:extLst>
                  <a:ext uri="{0D108BD9-81ED-4DB2-BD59-A6C34878D82A}">
                    <a16:rowId xmlns:a16="http://schemas.microsoft.com/office/drawing/2014/main" val="3444105302"/>
                  </a:ext>
                </a:extLst>
              </a:tr>
              <a:tr h="821690">
                <a:tc>
                  <a:txBody>
                    <a:bodyPr/>
                    <a:lstStyle/>
                    <a:p>
                      <a:pPr algn="ctr" fontAlgn="ctr"/>
                      <a:r>
                        <a:rPr lang="en-IN" sz="1100" b="0">
                          <a:effectLst/>
                        </a:rPr>
                        <a:t>11.</a:t>
                      </a:r>
                    </a:p>
                  </a:txBody>
                  <a:tcPr marL="39979" marR="39979" marT="55971" marB="55971" anchor="ctr"/>
                </a:tc>
                <a:tc>
                  <a:txBody>
                    <a:bodyPr/>
                    <a:lstStyle/>
                    <a:p>
                      <a:pPr algn="ctr" fontAlgn="ctr"/>
                      <a:r>
                        <a:rPr lang="en-IN" sz="1100" b="0" dirty="0">
                          <a:effectLst/>
                        </a:rPr>
                        <a:t>User Management</a:t>
                      </a:r>
                    </a:p>
                  </a:txBody>
                  <a:tcPr marL="39979" marR="39979" marT="55971" marB="55971" anchor="ctr"/>
                </a:tc>
                <a:tc>
                  <a:txBody>
                    <a:bodyPr/>
                    <a:lstStyle/>
                    <a:p>
                      <a:pPr algn="ctr" fontAlgn="ctr"/>
                      <a:r>
                        <a:rPr lang="en-US" sz="1100" b="0" dirty="0">
                          <a:effectLst/>
                        </a:rPr>
                        <a:t>User management is centralized or decentralized to vendor/third party.</a:t>
                      </a:r>
                    </a:p>
                  </a:txBody>
                  <a:tcPr marL="39979" marR="39979" marT="55971" marB="55971" anchor="ctr"/>
                </a:tc>
                <a:tc>
                  <a:txBody>
                    <a:bodyPr/>
                    <a:lstStyle/>
                    <a:p>
                      <a:pPr algn="ctr" fontAlgn="ctr"/>
                      <a:r>
                        <a:rPr lang="en-IN" sz="1100" b="0" dirty="0">
                          <a:effectLst/>
                        </a:rPr>
                        <a:t>User management is centralized.</a:t>
                      </a:r>
                    </a:p>
                  </a:txBody>
                  <a:tcPr marL="39979" marR="39979" marT="55971" marB="55971" anchor="ctr"/>
                </a:tc>
                <a:extLst>
                  <a:ext uri="{0D108BD9-81ED-4DB2-BD59-A6C34878D82A}">
                    <a16:rowId xmlns:a16="http://schemas.microsoft.com/office/drawing/2014/main" val="2105781292"/>
                  </a:ext>
                </a:extLst>
              </a:tr>
              <a:tr h="535394">
                <a:tc>
                  <a:txBody>
                    <a:bodyPr/>
                    <a:lstStyle/>
                    <a:p>
                      <a:pPr algn="ctr" fontAlgn="ctr"/>
                      <a:r>
                        <a:rPr lang="en-IN" sz="1100" b="0">
                          <a:effectLst/>
                        </a:rPr>
                        <a:t>12.</a:t>
                      </a:r>
                    </a:p>
                  </a:txBody>
                  <a:tcPr marL="39979" marR="39979" marT="55971" marB="55971" anchor="ctr"/>
                </a:tc>
                <a:tc>
                  <a:txBody>
                    <a:bodyPr/>
                    <a:lstStyle/>
                    <a:p>
                      <a:pPr algn="ctr" fontAlgn="ctr"/>
                      <a:r>
                        <a:rPr lang="en-IN" sz="1100" b="0">
                          <a:effectLst/>
                        </a:rPr>
                        <a:t>Scalability</a:t>
                      </a:r>
                    </a:p>
                  </a:txBody>
                  <a:tcPr marL="39979" marR="39979" marT="55971" marB="55971" anchor="ctr"/>
                </a:tc>
                <a:tc>
                  <a:txBody>
                    <a:bodyPr/>
                    <a:lstStyle/>
                    <a:p>
                      <a:pPr algn="ctr" fontAlgn="ctr"/>
                      <a:r>
                        <a:rPr lang="en-IN" sz="1100" b="0" dirty="0">
                          <a:effectLst/>
                        </a:rPr>
                        <a:t>Allowed</a:t>
                      </a:r>
                    </a:p>
                  </a:txBody>
                  <a:tcPr marL="39979" marR="39979" marT="55971" marB="55971" anchor="ctr"/>
                </a:tc>
                <a:tc>
                  <a:txBody>
                    <a:bodyPr/>
                    <a:lstStyle/>
                    <a:p>
                      <a:pPr algn="ctr" fontAlgn="ctr"/>
                      <a:r>
                        <a:rPr lang="en-IN" sz="1100" b="0" dirty="0">
                          <a:effectLst/>
                        </a:rPr>
                        <a:t>Limited</a:t>
                      </a:r>
                    </a:p>
                  </a:txBody>
                  <a:tcPr marL="39979" marR="39979" marT="55971" marB="55971" anchor="ctr"/>
                </a:tc>
                <a:extLst>
                  <a:ext uri="{0D108BD9-81ED-4DB2-BD59-A6C34878D82A}">
                    <a16:rowId xmlns:a16="http://schemas.microsoft.com/office/drawing/2014/main" val="1194777443"/>
                  </a:ext>
                </a:extLst>
              </a:tr>
              <a:tr h="601666">
                <a:tc>
                  <a:txBody>
                    <a:bodyPr/>
                    <a:lstStyle/>
                    <a:p>
                      <a:pPr algn="ctr" fontAlgn="ctr"/>
                      <a:r>
                        <a:rPr lang="en-IN" sz="1100" b="0">
                          <a:effectLst/>
                        </a:rPr>
                        <a:t>13.</a:t>
                      </a:r>
                    </a:p>
                  </a:txBody>
                  <a:tcPr marL="39979" marR="39979" marT="55971" marB="55971" anchor="ctr"/>
                </a:tc>
                <a:tc>
                  <a:txBody>
                    <a:bodyPr/>
                    <a:lstStyle/>
                    <a:p>
                      <a:pPr algn="ctr" fontAlgn="ctr"/>
                      <a:r>
                        <a:rPr lang="en-IN" sz="1100" b="0" dirty="0">
                          <a:effectLst/>
                        </a:rPr>
                        <a:t>Architecture</a:t>
                      </a:r>
                    </a:p>
                  </a:txBody>
                  <a:tcPr marL="39979" marR="39979" marT="55971" marB="55971" anchor="ctr"/>
                </a:tc>
                <a:tc>
                  <a:txBody>
                    <a:bodyPr/>
                    <a:lstStyle/>
                    <a:p>
                      <a:pPr algn="ctr" fontAlgn="ctr"/>
                      <a:r>
                        <a:rPr lang="en-US" sz="1100" b="0" dirty="0">
                          <a:effectLst/>
                        </a:rPr>
                        <a:t>In Cloud Computing User chosen architecture.</a:t>
                      </a:r>
                    </a:p>
                  </a:txBody>
                  <a:tcPr marL="39979" marR="39979" marT="55971" marB="55971" anchor="ctr"/>
                </a:tc>
                <a:tc>
                  <a:txBody>
                    <a:bodyPr/>
                    <a:lstStyle/>
                    <a:p>
                      <a:pPr algn="ctr" fontAlgn="ctr"/>
                      <a:r>
                        <a:rPr lang="en-US" sz="1100" b="0" dirty="0">
                          <a:effectLst/>
                        </a:rPr>
                        <a:t>In Cluster Computing Cluster oriented </a:t>
                      </a:r>
                      <a:r>
                        <a:rPr lang="en-US" sz="1100" b="0" dirty="0" smtClean="0">
                          <a:effectLst/>
                        </a:rPr>
                        <a:t>architecture</a:t>
                      </a:r>
                      <a:endParaRPr lang="en-US" sz="1100" b="0" dirty="0">
                        <a:effectLst/>
                      </a:endParaRPr>
                    </a:p>
                  </a:txBody>
                  <a:tcPr marL="39979" marR="39979" marT="55971" marB="55971" anchor="ctr"/>
                </a:tc>
                <a:extLst>
                  <a:ext uri="{0D108BD9-81ED-4DB2-BD59-A6C34878D82A}">
                    <a16:rowId xmlns:a16="http://schemas.microsoft.com/office/drawing/2014/main" val="312669676"/>
                  </a:ext>
                </a:extLst>
              </a:tr>
            </a:tbl>
          </a:graphicData>
        </a:graphic>
      </p:graphicFrame>
    </p:spTree>
    <p:extLst>
      <p:ext uri="{BB962C8B-B14F-4D97-AF65-F5344CB8AC3E}">
        <p14:creationId xmlns:p14="http://schemas.microsoft.com/office/powerpoint/2010/main" val="33724486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811876"/>
          </a:xfrm>
        </p:spPr>
        <p:txBody>
          <a:bodyPr/>
          <a:lstStyle/>
          <a:p>
            <a:r>
              <a:rPr lang="en-US" dirty="0" smtClean="0"/>
              <a:t>Grid Computing</a:t>
            </a:r>
            <a:endParaRPr lang="en-IN" dirty="0"/>
          </a:p>
        </p:txBody>
      </p:sp>
      <p:sp>
        <p:nvSpPr>
          <p:cNvPr id="3" name="Content Placeholder 2"/>
          <p:cNvSpPr>
            <a:spLocks noGrp="1"/>
          </p:cNvSpPr>
          <p:nvPr>
            <p:ph idx="1"/>
          </p:nvPr>
        </p:nvSpPr>
        <p:spPr>
          <a:xfrm>
            <a:off x="677334" y="1720735"/>
            <a:ext cx="8596668" cy="4320627"/>
          </a:xfrm>
        </p:spPr>
        <p:txBody>
          <a:bodyPr>
            <a:normAutofit fontScale="92500" lnSpcReduction="20000"/>
          </a:bodyPr>
          <a:lstStyle/>
          <a:p>
            <a:pPr algn="just" fontAlgn="base"/>
            <a:r>
              <a:rPr lang="en-US" dirty="0"/>
              <a:t>Grid computing is a distributed architecture of multiple computers connected by networks to accomplish a joint task. These tasks are compute-intensive and difficult for a single machine to handle. Several machines on a network collaborate under a common protocol and work as a single virtual supercomputer to get complex tasks done. This offers powerful virtualization by creating a single system image that grants users and applications seamless access to IT capabilities.</a:t>
            </a:r>
          </a:p>
          <a:p>
            <a:pPr algn="just" fontAlgn="base"/>
            <a:r>
              <a:rPr lang="en-US" dirty="0"/>
              <a:t>Grid computing operates by running specialized software on every computer involved in the grid network. The software coordinates and manages all the tasks of the grid. Fundamentally, the software segregates the main task into subtasks and assigns the subtasks to each computer. This allows all the computers to work simultaneously on their respective subtasks. Upon completion of the subtasks, the outputs of all computers are aggregated to complete the larger main task.</a:t>
            </a:r>
            <a:br>
              <a:rPr lang="en-US" dirty="0"/>
            </a:br>
            <a:endParaRPr lang="en-US" dirty="0"/>
          </a:p>
          <a:p>
            <a:pPr algn="just" fontAlgn="base"/>
            <a:r>
              <a:rPr lang="en-US" dirty="0"/>
              <a:t>The software allows computers to communicate and share information on the portion of the subtasks being carried out. As a result, the computers can consolidate and deliver a combined output for the assigned main task.</a:t>
            </a:r>
          </a:p>
          <a:p>
            <a:pPr marL="0" indent="0">
              <a:buNone/>
            </a:pPr>
            <a:r>
              <a:rPr lang="en-US" dirty="0"/>
              <a:t/>
            </a:r>
            <a:br>
              <a:rPr lang="en-US" dirty="0"/>
            </a:br>
            <a:endParaRPr lang="en-IN" dirty="0"/>
          </a:p>
        </p:txBody>
      </p:sp>
    </p:spTree>
    <p:extLst>
      <p:ext uri="{BB962C8B-B14F-4D97-AF65-F5344CB8AC3E}">
        <p14:creationId xmlns:p14="http://schemas.microsoft.com/office/powerpoint/2010/main" val="328935648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Grid Computing</a:t>
            </a:r>
            <a:endParaRPr lang="en-IN" dirty="0"/>
          </a:p>
        </p:txBody>
      </p:sp>
      <p:pic>
        <p:nvPicPr>
          <p:cNvPr id="4" name="Content Placeholder 3"/>
          <p:cNvPicPr>
            <a:picLocks noGrp="1" noChangeAspect="1"/>
          </p:cNvPicPr>
          <p:nvPr>
            <p:ph idx="1"/>
          </p:nvPr>
        </p:nvPicPr>
        <p:blipFill>
          <a:blip r:embed="rId2"/>
          <a:stretch>
            <a:fillRect/>
          </a:stretch>
        </p:blipFill>
        <p:spPr>
          <a:xfrm>
            <a:off x="2389646" y="2160588"/>
            <a:ext cx="5172746" cy="3881437"/>
          </a:xfrm>
          <a:prstGeom prst="rect">
            <a:avLst/>
          </a:prstGeom>
        </p:spPr>
      </p:pic>
    </p:spTree>
    <p:extLst>
      <p:ext uri="{BB962C8B-B14F-4D97-AF65-F5344CB8AC3E}">
        <p14:creationId xmlns:p14="http://schemas.microsoft.com/office/powerpoint/2010/main" val="90902779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185949"/>
          </a:xfrm>
        </p:spPr>
        <p:txBody>
          <a:bodyPr>
            <a:normAutofit fontScale="90000"/>
          </a:bodyPr>
          <a:lstStyle/>
          <a:p>
            <a:r>
              <a:rPr lang="en-US" b="1" dirty="0"/>
              <a:t>Difference between Cloud Computing and Grid Computing</a:t>
            </a:r>
            <a:br>
              <a:rPr lang="en-US" b="1" dirty="0"/>
            </a:br>
            <a:endParaRPr lang="en-IN" dirty="0"/>
          </a:p>
        </p:txBody>
      </p:sp>
      <p:graphicFrame>
        <p:nvGraphicFramePr>
          <p:cNvPr id="5" name="Content Placeholder 4"/>
          <p:cNvGraphicFramePr>
            <a:graphicFrameLocks noGrp="1"/>
          </p:cNvGraphicFramePr>
          <p:nvPr>
            <p:ph idx="1"/>
            <p:extLst>
              <p:ext uri="{D42A27DB-BD31-4B8C-83A1-F6EECF244321}">
                <p14:modId xmlns:p14="http://schemas.microsoft.com/office/powerpoint/2010/main" val="2003269828"/>
              </p:ext>
            </p:extLst>
          </p:nvPr>
        </p:nvGraphicFramePr>
        <p:xfrm>
          <a:off x="677863" y="2160588"/>
          <a:ext cx="8596312" cy="3528060"/>
        </p:xfrm>
        <a:graphic>
          <a:graphicData uri="http://schemas.openxmlformats.org/drawingml/2006/table">
            <a:tbl>
              <a:tblPr firstRow="1" bandRow="1">
                <a:tableStyleId>{5C22544A-7EE6-4342-B048-85BDC9FD1C3A}</a:tableStyleId>
              </a:tblPr>
              <a:tblGrid>
                <a:gridCol w="4298156">
                  <a:extLst>
                    <a:ext uri="{9D8B030D-6E8A-4147-A177-3AD203B41FA5}">
                      <a16:colId xmlns:a16="http://schemas.microsoft.com/office/drawing/2014/main" val="3207289135"/>
                    </a:ext>
                  </a:extLst>
                </a:gridCol>
                <a:gridCol w="4298156">
                  <a:extLst>
                    <a:ext uri="{9D8B030D-6E8A-4147-A177-3AD203B41FA5}">
                      <a16:colId xmlns:a16="http://schemas.microsoft.com/office/drawing/2014/main" val="3062129675"/>
                    </a:ext>
                  </a:extLst>
                </a:gridCol>
              </a:tblGrid>
              <a:tr h="370840">
                <a:tc>
                  <a:txBody>
                    <a:bodyPr/>
                    <a:lstStyle/>
                    <a:p>
                      <a:pPr algn="ctr" rtl="0" fontAlgn="base"/>
                      <a:r>
                        <a:rPr lang="en-IN" sz="1400" b="1" dirty="0">
                          <a:effectLst/>
                        </a:rPr>
                        <a:t>Cloud Computing</a:t>
                      </a:r>
                    </a:p>
                  </a:txBody>
                  <a:tcPr marL="38100" marR="38100" marT="95250" marB="95250" anchor="ctr"/>
                </a:tc>
                <a:tc>
                  <a:txBody>
                    <a:bodyPr/>
                    <a:lstStyle/>
                    <a:p>
                      <a:pPr algn="ctr" rtl="0" fontAlgn="base"/>
                      <a:r>
                        <a:rPr lang="en-IN" sz="1400" b="1">
                          <a:effectLst/>
                        </a:rPr>
                        <a:t>Grid Computing</a:t>
                      </a:r>
                    </a:p>
                  </a:txBody>
                  <a:tcPr marL="95250" marR="95250" marT="95250" marB="95250" anchor="ctr"/>
                </a:tc>
                <a:extLst>
                  <a:ext uri="{0D108BD9-81ED-4DB2-BD59-A6C34878D82A}">
                    <a16:rowId xmlns:a16="http://schemas.microsoft.com/office/drawing/2014/main" val="2860211424"/>
                  </a:ext>
                </a:extLst>
              </a:tr>
              <a:tr h="370840">
                <a:tc>
                  <a:txBody>
                    <a:bodyPr/>
                    <a:lstStyle/>
                    <a:p>
                      <a:pPr algn="ctr" fontAlgn="ctr"/>
                      <a:r>
                        <a:rPr lang="en-US" sz="1250" b="0">
                          <a:effectLst/>
                        </a:rPr>
                        <a:t>Cloud computing is a Client-server computing architecture.</a:t>
                      </a:r>
                    </a:p>
                  </a:txBody>
                  <a:tcPr marL="95250" marR="95250" marT="133350" marB="133350" anchor="ctr"/>
                </a:tc>
                <a:tc>
                  <a:txBody>
                    <a:bodyPr/>
                    <a:lstStyle/>
                    <a:p>
                      <a:pPr algn="ctr" fontAlgn="ctr"/>
                      <a:r>
                        <a:rPr lang="en-US" sz="1250" b="0">
                          <a:effectLst/>
                        </a:rPr>
                        <a:t>While it is a Distributed computing architecture.</a:t>
                      </a:r>
                    </a:p>
                  </a:txBody>
                  <a:tcPr marL="95250" marR="95250" marT="133350" marB="133350" anchor="ctr"/>
                </a:tc>
                <a:extLst>
                  <a:ext uri="{0D108BD9-81ED-4DB2-BD59-A6C34878D82A}">
                    <a16:rowId xmlns:a16="http://schemas.microsoft.com/office/drawing/2014/main" val="3979484774"/>
                  </a:ext>
                </a:extLst>
              </a:tr>
              <a:tr h="370840">
                <a:tc>
                  <a:txBody>
                    <a:bodyPr/>
                    <a:lstStyle/>
                    <a:p>
                      <a:pPr algn="ctr" fontAlgn="ctr"/>
                      <a:r>
                        <a:rPr lang="en-US" sz="1250" b="0">
                          <a:effectLst/>
                        </a:rPr>
                        <a:t>Cloud computing is a centralized executive.</a:t>
                      </a:r>
                    </a:p>
                  </a:txBody>
                  <a:tcPr marL="95250" marR="95250" marT="133350" marB="133350" anchor="ctr"/>
                </a:tc>
                <a:tc>
                  <a:txBody>
                    <a:bodyPr/>
                    <a:lstStyle/>
                    <a:p>
                      <a:pPr algn="ctr" fontAlgn="ctr"/>
                      <a:r>
                        <a:rPr lang="en-US" sz="1250" b="0">
                          <a:effectLst/>
                        </a:rPr>
                        <a:t>While grid computing is a decentralized executive.</a:t>
                      </a:r>
                    </a:p>
                  </a:txBody>
                  <a:tcPr marL="95250" marR="95250" marT="133350" marB="133350" anchor="ctr"/>
                </a:tc>
                <a:extLst>
                  <a:ext uri="{0D108BD9-81ED-4DB2-BD59-A6C34878D82A}">
                    <a16:rowId xmlns:a16="http://schemas.microsoft.com/office/drawing/2014/main" val="3507706286"/>
                  </a:ext>
                </a:extLst>
              </a:tr>
              <a:tr h="370840">
                <a:tc>
                  <a:txBody>
                    <a:bodyPr/>
                    <a:lstStyle/>
                    <a:p>
                      <a:pPr algn="ctr" fontAlgn="ctr"/>
                      <a:r>
                        <a:rPr lang="en-US" sz="1250" b="0" dirty="0">
                          <a:effectLst/>
                        </a:rPr>
                        <a:t>In cloud computing, resources are used in centralized pattern.</a:t>
                      </a:r>
                    </a:p>
                  </a:txBody>
                  <a:tcPr marL="95250" marR="95250" marT="133350" marB="133350" anchor="ctr"/>
                </a:tc>
                <a:tc>
                  <a:txBody>
                    <a:bodyPr/>
                    <a:lstStyle/>
                    <a:p>
                      <a:pPr algn="ctr" fontAlgn="ctr"/>
                      <a:r>
                        <a:rPr lang="en-US" sz="1250" b="0">
                          <a:effectLst/>
                        </a:rPr>
                        <a:t>While in grid computing, resources are used in collaborative pattern.</a:t>
                      </a:r>
                    </a:p>
                  </a:txBody>
                  <a:tcPr marL="95250" marR="95250" marT="133350" marB="133350" anchor="ctr"/>
                </a:tc>
                <a:extLst>
                  <a:ext uri="{0D108BD9-81ED-4DB2-BD59-A6C34878D82A}">
                    <a16:rowId xmlns:a16="http://schemas.microsoft.com/office/drawing/2014/main" val="110758101"/>
                  </a:ext>
                </a:extLst>
              </a:tr>
              <a:tr h="370840">
                <a:tc>
                  <a:txBody>
                    <a:bodyPr/>
                    <a:lstStyle/>
                    <a:p>
                      <a:pPr algn="ctr" fontAlgn="ctr"/>
                      <a:r>
                        <a:rPr lang="en-US" sz="1250" b="0">
                          <a:effectLst/>
                        </a:rPr>
                        <a:t>It is more flexible than grid computing.</a:t>
                      </a:r>
                    </a:p>
                  </a:txBody>
                  <a:tcPr marL="95250" marR="95250" marT="133350" marB="133350" anchor="ctr"/>
                </a:tc>
                <a:tc>
                  <a:txBody>
                    <a:bodyPr/>
                    <a:lstStyle/>
                    <a:p>
                      <a:pPr algn="ctr" fontAlgn="ctr"/>
                      <a:r>
                        <a:rPr lang="en-US" sz="1250" b="0">
                          <a:effectLst/>
                        </a:rPr>
                        <a:t>While it is less flexible than cloud computing.</a:t>
                      </a:r>
                    </a:p>
                  </a:txBody>
                  <a:tcPr marL="95250" marR="95250" marT="133350" marB="133350" anchor="ctr"/>
                </a:tc>
                <a:extLst>
                  <a:ext uri="{0D108BD9-81ED-4DB2-BD59-A6C34878D82A}">
                    <a16:rowId xmlns:a16="http://schemas.microsoft.com/office/drawing/2014/main" val="3502986998"/>
                  </a:ext>
                </a:extLst>
              </a:tr>
              <a:tr h="370840">
                <a:tc>
                  <a:txBody>
                    <a:bodyPr/>
                    <a:lstStyle/>
                    <a:p>
                      <a:pPr algn="ctr" fontAlgn="ctr"/>
                      <a:r>
                        <a:rPr lang="en-US" sz="1250" b="0">
                          <a:effectLst/>
                        </a:rPr>
                        <a:t>In cloud computing, the users pay for the use.</a:t>
                      </a:r>
                    </a:p>
                  </a:txBody>
                  <a:tcPr marL="95250" marR="95250" marT="133350" marB="133350" anchor="ctr"/>
                </a:tc>
                <a:tc>
                  <a:txBody>
                    <a:bodyPr/>
                    <a:lstStyle/>
                    <a:p>
                      <a:pPr algn="ctr" fontAlgn="ctr"/>
                      <a:r>
                        <a:rPr lang="en-US" sz="1250" b="0">
                          <a:effectLst/>
                        </a:rPr>
                        <a:t>While in grid computing, the users do not pay for use.</a:t>
                      </a:r>
                    </a:p>
                  </a:txBody>
                  <a:tcPr marL="95250" marR="95250" marT="133350" marB="133350" anchor="ctr"/>
                </a:tc>
                <a:extLst>
                  <a:ext uri="{0D108BD9-81ED-4DB2-BD59-A6C34878D82A}">
                    <a16:rowId xmlns:a16="http://schemas.microsoft.com/office/drawing/2014/main" val="292200956"/>
                  </a:ext>
                </a:extLst>
              </a:tr>
              <a:tr h="370840">
                <a:tc>
                  <a:txBody>
                    <a:bodyPr/>
                    <a:lstStyle/>
                    <a:p>
                      <a:pPr algn="ctr" fontAlgn="ctr"/>
                      <a:r>
                        <a:rPr lang="en-US" sz="1250" b="0">
                          <a:effectLst/>
                        </a:rPr>
                        <a:t>Cloud computing is a high accessible service.</a:t>
                      </a:r>
                    </a:p>
                  </a:txBody>
                  <a:tcPr marL="95250" marR="95250" marT="133350" marB="133350" anchor="ctr"/>
                </a:tc>
                <a:tc>
                  <a:txBody>
                    <a:bodyPr/>
                    <a:lstStyle/>
                    <a:p>
                      <a:pPr algn="ctr" fontAlgn="ctr"/>
                      <a:r>
                        <a:rPr lang="en-US" sz="1250" b="0" dirty="0">
                          <a:effectLst/>
                        </a:rPr>
                        <a:t>While grid computing is a low accessible service.</a:t>
                      </a:r>
                    </a:p>
                  </a:txBody>
                  <a:tcPr marL="95250" marR="95250" marT="133350" marB="133350" anchor="ctr"/>
                </a:tc>
                <a:extLst>
                  <a:ext uri="{0D108BD9-81ED-4DB2-BD59-A6C34878D82A}">
                    <a16:rowId xmlns:a16="http://schemas.microsoft.com/office/drawing/2014/main" val="3617098708"/>
                  </a:ext>
                </a:extLst>
              </a:tr>
            </a:tbl>
          </a:graphicData>
        </a:graphic>
      </p:graphicFrame>
    </p:spTree>
    <p:extLst>
      <p:ext uri="{BB962C8B-B14F-4D97-AF65-F5344CB8AC3E}">
        <p14:creationId xmlns:p14="http://schemas.microsoft.com/office/powerpoint/2010/main" val="33997390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p:cNvGraphicFramePr>
            <a:graphicFrameLocks noGrp="1"/>
          </p:cNvGraphicFramePr>
          <p:nvPr>
            <p:ph idx="1"/>
            <p:extLst>
              <p:ext uri="{D42A27DB-BD31-4B8C-83A1-F6EECF244321}">
                <p14:modId xmlns:p14="http://schemas.microsoft.com/office/powerpoint/2010/main" val="566020422"/>
              </p:ext>
            </p:extLst>
          </p:nvPr>
        </p:nvGraphicFramePr>
        <p:xfrm>
          <a:off x="565265" y="1238597"/>
          <a:ext cx="8708910" cy="4063971"/>
        </p:xfrm>
        <a:graphic>
          <a:graphicData uri="http://schemas.openxmlformats.org/drawingml/2006/table">
            <a:tbl>
              <a:tblPr firstRow="1" bandRow="1">
                <a:tableStyleId>{5C22544A-7EE6-4342-B048-85BDC9FD1C3A}</a:tableStyleId>
              </a:tblPr>
              <a:tblGrid>
                <a:gridCol w="4354455">
                  <a:extLst>
                    <a:ext uri="{9D8B030D-6E8A-4147-A177-3AD203B41FA5}">
                      <a16:colId xmlns:a16="http://schemas.microsoft.com/office/drawing/2014/main" val="4249885457"/>
                    </a:ext>
                  </a:extLst>
                </a:gridCol>
                <a:gridCol w="4354455">
                  <a:extLst>
                    <a:ext uri="{9D8B030D-6E8A-4147-A177-3AD203B41FA5}">
                      <a16:colId xmlns:a16="http://schemas.microsoft.com/office/drawing/2014/main" val="2785334739"/>
                    </a:ext>
                  </a:extLst>
                </a:gridCol>
              </a:tblGrid>
              <a:tr h="47966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456614796"/>
                  </a:ext>
                </a:extLst>
              </a:tr>
              <a:tr h="837763">
                <a:tc>
                  <a:txBody>
                    <a:bodyPr/>
                    <a:lstStyle/>
                    <a:p>
                      <a:pPr algn="ctr" fontAlgn="ctr"/>
                      <a:r>
                        <a:rPr lang="en-US" sz="1250" b="0" dirty="0">
                          <a:effectLst/>
                        </a:rPr>
                        <a:t>It is highly scalable as compared to grid computing.</a:t>
                      </a:r>
                    </a:p>
                  </a:txBody>
                  <a:tcPr marL="95250" marR="95250" marT="133350" marB="133350" anchor="ctr"/>
                </a:tc>
                <a:tc>
                  <a:txBody>
                    <a:bodyPr/>
                    <a:lstStyle/>
                    <a:p>
                      <a:pPr algn="ctr" fontAlgn="ctr"/>
                      <a:r>
                        <a:rPr lang="en-US" sz="1250" b="0">
                          <a:effectLst/>
                        </a:rPr>
                        <a:t>While grid computing is low scalable in comparison to cloud computing.</a:t>
                      </a:r>
                    </a:p>
                  </a:txBody>
                  <a:tcPr marL="95250" marR="95250" marT="133350" marB="133350" anchor="ctr"/>
                </a:tc>
                <a:extLst>
                  <a:ext uri="{0D108BD9-81ED-4DB2-BD59-A6C34878D82A}">
                    <a16:rowId xmlns:a16="http://schemas.microsoft.com/office/drawing/2014/main" val="3094047371"/>
                  </a:ext>
                </a:extLst>
              </a:tr>
              <a:tr h="591362">
                <a:tc>
                  <a:txBody>
                    <a:bodyPr/>
                    <a:lstStyle/>
                    <a:p>
                      <a:pPr algn="ctr" fontAlgn="ctr"/>
                      <a:r>
                        <a:rPr lang="en-US" sz="1250" b="0" dirty="0">
                          <a:effectLst/>
                        </a:rPr>
                        <a:t>It can be accessed through standard web protocols.</a:t>
                      </a:r>
                    </a:p>
                  </a:txBody>
                  <a:tcPr marL="95250" marR="95250" marT="133350" marB="133350" anchor="ctr"/>
                </a:tc>
                <a:tc>
                  <a:txBody>
                    <a:bodyPr/>
                    <a:lstStyle/>
                    <a:p>
                      <a:pPr algn="ctr" fontAlgn="ctr"/>
                      <a:r>
                        <a:rPr lang="en-US" sz="1250" b="0" dirty="0">
                          <a:effectLst/>
                        </a:rPr>
                        <a:t>While it is accessible through grid middleware.</a:t>
                      </a:r>
                    </a:p>
                  </a:txBody>
                  <a:tcPr marL="95250" marR="95250" marT="133350" marB="133350" anchor="ctr"/>
                </a:tc>
                <a:extLst>
                  <a:ext uri="{0D108BD9-81ED-4DB2-BD59-A6C34878D82A}">
                    <a16:rowId xmlns:a16="http://schemas.microsoft.com/office/drawing/2014/main" val="416992852"/>
                  </a:ext>
                </a:extLst>
              </a:tr>
              <a:tr h="591362">
                <a:tc>
                  <a:txBody>
                    <a:bodyPr/>
                    <a:lstStyle/>
                    <a:p>
                      <a:pPr algn="ctr" fontAlgn="ctr"/>
                      <a:r>
                        <a:rPr lang="en-US" sz="1250" b="0" dirty="0">
                          <a:effectLst/>
                        </a:rPr>
                        <a:t>Cloud computing is based on service-oriented.</a:t>
                      </a:r>
                    </a:p>
                  </a:txBody>
                  <a:tcPr marL="95250" marR="95250" marT="133350" marB="133350" anchor="ctr"/>
                </a:tc>
                <a:tc>
                  <a:txBody>
                    <a:bodyPr/>
                    <a:lstStyle/>
                    <a:p>
                      <a:pPr algn="ctr" fontAlgn="ctr"/>
                      <a:r>
                        <a:rPr lang="en-US" sz="1250" b="0" dirty="0">
                          <a:effectLst/>
                        </a:rPr>
                        <a:t>Grid computing is based on application-oriented.</a:t>
                      </a:r>
                    </a:p>
                  </a:txBody>
                  <a:tcPr marL="95250" marR="95250" marT="133350" marB="133350" anchor="ctr"/>
                </a:tc>
                <a:extLst>
                  <a:ext uri="{0D108BD9-81ED-4DB2-BD59-A6C34878D82A}">
                    <a16:rowId xmlns:a16="http://schemas.microsoft.com/office/drawing/2014/main" val="2561661043"/>
                  </a:ext>
                </a:extLst>
              </a:tr>
              <a:tr h="1084164">
                <a:tc>
                  <a:txBody>
                    <a:bodyPr/>
                    <a:lstStyle/>
                    <a:p>
                      <a:pPr algn="ctr" fontAlgn="ctr"/>
                      <a:r>
                        <a:rPr lang="en-US" sz="1250" b="0">
                          <a:effectLst/>
                        </a:rPr>
                        <a:t>Cloud computing uses service like </a:t>
                      </a:r>
                      <a:r>
                        <a:rPr lang="en-US" sz="1250" b="0" u="sng">
                          <a:effectLst/>
                          <a:hlinkClick r:id="rId2"/>
                        </a:rPr>
                        <a:t>IAAS</a:t>
                      </a:r>
                      <a:r>
                        <a:rPr lang="en-US" sz="1250" b="0">
                          <a:effectLst/>
                        </a:rPr>
                        <a:t>, PAAS, </a:t>
                      </a:r>
                      <a:r>
                        <a:rPr lang="en-US" sz="1250" b="0" u="sng">
                          <a:effectLst/>
                          <a:hlinkClick r:id="rId3"/>
                        </a:rPr>
                        <a:t>SAAS</a:t>
                      </a:r>
                      <a:r>
                        <a:rPr lang="en-US" sz="1250" b="0">
                          <a:effectLst/>
                        </a:rPr>
                        <a:t>.</a:t>
                      </a:r>
                    </a:p>
                  </a:txBody>
                  <a:tcPr marL="95250" marR="95250" marT="133350" marB="133350" anchor="ctr"/>
                </a:tc>
                <a:tc>
                  <a:txBody>
                    <a:bodyPr/>
                    <a:lstStyle/>
                    <a:p>
                      <a:pPr algn="ctr" fontAlgn="ctr"/>
                      <a:r>
                        <a:rPr lang="en-US" sz="1250" b="0" dirty="0">
                          <a:effectLst/>
                        </a:rPr>
                        <a:t>Grid computing uses service like distributed computing, </a:t>
                      </a:r>
                      <a:r>
                        <a:rPr lang="en-US" sz="1250" b="0" dirty="0" smtClean="0">
                          <a:effectLst/>
                        </a:rPr>
                        <a:t>distributed </a:t>
                      </a:r>
                      <a:r>
                        <a:rPr lang="en-US" sz="1250" b="0" dirty="0">
                          <a:effectLst/>
                        </a:rPr>
                        <a:t>information.</a:t>
                      </a:r>
                    </a:p>
                  </a:txBody>
                  <a:tcPr marL="95250" marR="95250" marT="133350" marB="133350" anchor="ctr"/>
                </a:tc>
                <a:extLst>
                  <a:ext uri="{0D108BD9-81ED-4DB2-BD59-A6C34878D82A}">
                    <a16:rowId xmlns:a16="http://schemas.microsoft.com/office/drawing/2014/main" val="3461078896"/>
                  </a:ext>
                </a:extLst>
              </a:tr>
              <a:tr h="479660">
                <a:tc>
                  <a:txBody>
                    <a:bodyPr/>
                    <a:lstStyle/>
                    <a:p>
                      <a:endParaRPr lang="en-IN" dirty="0"/>
                    </a:p>
                  </a:txBody>
                  <a:tcPr/>
                </a:tc>
                <a:tc>
                  <a:txBody>
                    <a:bodyPr/>
                    <a:lstStyle/>
                    <a:p>
                      <a:endParaRPr lang="en-IN" dirty="0"/>
                    </a:p>
                  </a:txBody>
                  <a:tcPr/>
                </a:tc>
                <a:extLst>
                  <a:ext uri="{0D108BD9-81ED-4DB2-BD59-A6C34878D82A}">
                    <a16:rowId xmlns:a16="http://schemas.microsoft.com/office/drawing/2014/main" val="1816762321"/>
                  </a:ext>
                </a:extLst>
              </a:tr>
            </a:tbl>
          </a:graphicData>
        </a:graphic>
      </p:graphicFrame>
    </p:spTree>
    <p:extLst>
      <p:ext uri="{BB962C8B-B14F-4D97-AF65-F5344CB8AC3E}">
        <p14:creationId xmlns:p14="http://schemas.microsoft.com/office/powerpoint/2010/main" val="2342557123"/>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86938"/>
          </a:xfrm>
        </p:spPr>
        <p:txBody>
          <a:bodyPr/>
          <a:lstStyle/>
          <a:p>
            <a:r>
              <a:rPr lang="en-IN" dirty="0"/>
              <a:t>Characteristics of Cloud Computing</a:t>
            </a:r>
          </a:p>
        </p:txBody>
      </p:sp>
      <p:sp>
        <p:nvSpPr>
          <p:cNvPr id="3" name="Content Placeholder 2"/>
          <p:cNvSpPr>
            <a:spLocks noGrp="1"/>
          </p:cNvSpPr>
          <p:nvPr>
            <p:ph idx="1"/>
          </p:nvPr>
        </p:nvSpPr>
        <p:spPr>
          <a:xfrm>
            <a:off x="677334" y="1537855"/>
            <a:ext cx="8596668" cy="4503507"/>
          </a:xfrm>
        </p:spPr>
        <p:txBody>
          <a:bodyPr>
            <a:normAutofit fontScale="92500" lnSpcReduction="20000"/>
          </a:bodyPr>
          <a:lstStyle/>
          <a:p>
            <a:pPr algn="just" fontAlgn="base">
              <a:buFont typeface="+mj-lt"/>
              <a:buAutoNum type="arabicPeriod"/>
            </a:pPr>
            <a:r>
              <a:rPr lang="en-US" b="1" dirty="0">
                <a:solidFill>
                  <a:srgbClr val="273239"/>
                </a:solidFill>
                <a:latin typeface="Nunito"/>
              </a:rPr>
              <a:t>On-demand self-services:</a:t>
            </a:r>
            <a:r>
              <a:rPr lang="en-US" dirty="0">
                <a:solidFill>
                  <a:srgbClr val="273239"/>
                </a:solidFill>
                <a:latin typeface="Nunito"/>
              </a:rPr>
              <a:t> The Cloud computing services does not require any human administrators, user themselves are able to provision, monitor and manage computing resources as needed.</a:t>
            </a:r>
          </a:p>
          <a:p>
            <a:pPr algn="just" fontAlgn="base">
              <a:buFont typeface="+mj-lt"/>
              <a:buAutoNum type="arabicPeriod" startAt="2"/>
            </a:pPr>
            <a:r>
              <a:rPr lang="en-US" b="1" dirty="0">
                <a:solidFill>
                  <a:srgbClr val="273239"/>
                </a:solidFill>
                <a:latin typeface="Nunito"/>
              </a:rPr>
              <a:t>Broad network access:</a:t>
            </a:r>
            <a:r>
              <a:rPr lang="en-US" dirty="0">
                <a:solidFill>
                  <a:srgbClr val="273239"/>
                </a:solidFill>
                <a:latin typeface="Nunito"/>
              </a:rPr>
              <a:t> The Computing services are generally provided over standard networks and heterogeneous devices.</a:t>
            </a:r>
          </a:p>
          <a:p>
            <a:pPr algn="just" fontAlgn="base">
              <a:buFont typeface="+mj-lt"/>
              <a:buAutoNum type="arabicPeriod" startAt="3"/>
            </a:pPr>
            <a:r>
              <a:rPr lang="en-US" b="1" dirty="0">
                <a:solidFill>
                  <a:srgbClr val="273239"/>
                </a:solidFill>
                <a:latin typeface="Nunito"/>
              </a:rPr>
              <a:t>Rapid elasticity:</a:t>
            </a:r>
            <a:r>
              <a:rPr lang="en-US" dirty="0">
                <a:solidFill>
                  <a:srgbClr val="273239"/>
                </a:solidFill>
                <a:latin typeface="Nunito"/>
              </a:rPr>
              <a:t> The Computing services should have IT resources that are able to scale out and in quickly and on a need basis. Whenever the user require services it is provided to him and it is scale out as soon as its requirement gets over.</a:t>
            </a:r>
          </a:p>
          <a:p>
            <a:pPr algn="just" fontAlgn="base">
              <a:buFont typeface="+mj-lt"/>
              <a:buAutoNum type="arabicPeriod" startAt="4"/>
            </a:pPr>
            <a:r>
              <a:rPr lang="en-US" b="1" dirty="0">
                <a:solidFill>
                  <a:srgbClr val="273239"/>
                </a:solidFill>
                <a:latin typeface="Nunito"/>
              </a:rPr>
              <a:t>Resource pooling:</a:t>
            </a:r>
            <a:r>
              <a:rPr lang="en-US" dirty="0">
                <a:solidFill>
                  <a:srgbClr val="273239"/>
                </a:solidFill>
                <a:latin typeface="Nunito"/>
              </a:rPr>
              <a:t> The IT resource (e.g., networks, servers, storage, applications, and services) present are shared across multiple applications and occupant in an uncommitted manner. Multiple clients are provided service from a same physical resource.</a:t>
            </a:r>
          </a:p>
          <a:p>
            <a:pPr algn="just" fontAlgn="base">
              <a:buFont typeface="+mj-lt"/>
              <a:buAutoNum type="arabicPeriod" startAt="5"/>
            </a:pPr>
            <a:r>
              <a:rPr lang="en-US" b="1" dirty="0">
                <a:solidFill>
                  <a:srgbClr val="273239"/>
                </a:solidFill>
                <a:latin typeface="Nunito"/>
              </a:rPr>
              <a:t>Measured service:</a:t>
            </a:r>
            <a:r>
              <a:rPr lang="en-US" dirty="0">
                <a:solidFill>
                  <a:srgbClr val="273239"/>
                </a:solidFill>
                <a:latin typeface="Nunito"/>
              </a:rPr>
              <a:t> The resource utilization is tracked for each application and occupant, it will provide both the user and the resource provider with an account of what has been used. This is done for various reasons like monitoring billing and effective use of resource.</a:t>
            </a:r>
          </a:p>
          <a:p>
            <a:pPr algn="just" fontAlgn="base">
              <a:buFont typeface="+mj-lt"/>
              <a:buAutoNum type="arabicPeriod" startAt="6"/>
            </a:pPr>
            <a:r>
              <a:rPr lang="en-US" b="1" dirty="0">
                <a:solidFill>
                  <a:srgbClr val="273239"/>
                </a:solidFill>
                <a:latin typeface="Nunito"/>
              </a:rPr>
              <a:t>Multi-tenancy:</a:t>
            </a:r>
            <a:r>
              <a:rPr lang="en-US" dirty="0">
                <a:solidFill>
                  <a:srgbClr val="273239"/>
                </a:solidFill>
                <a:latin typeface="Nunito"/>
              </a:rPr>
              <a:t> Cloud computing providers can support multiple tenants (users or organizations) on a single set of shared resources</a:t>
            </a:r>
            <a:r>
              <a:rPr lang="en-US" dirty="0" smtClean="0">
                <a:solidFill>
                  <a:srgbClr val="273239"/>
                </a:solidFill>
                <a:latin typeface="Nunito"/>
              </a:rPr>
              <a:t>.</a:t>
            </a:r>
            <a:endParaRPr lang="en-US" dirty="0">
              <a:solidFill>
                <a:srgbClr val="273239"/>
              </a:solidFill>
              <a:latin typeface="Nunito"/>
            </a:endParaRPr>
          </a:p>
        </p:txBody>
      </p:sp>
    </p:spTree>
    <p:extLst>
      <p:ext uri="{BB962C8B-B14F-4D97-AF65-F5344CB8AC3E}">
        <p14:creationId xmlns:p14="http://schemas.microsoft.com/office/powerpoint/2010/main" val="134288606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014153"/>
            <a:ext cx="8596668" cy="5027209"/>
          </a:xfrm>
        </p:spPr>
        <p:txBody>
          <a:bodyPr>
            <a:normAutofit lnSpcReduction="10000"/>
          </a:bodyPr>
          <a:lstStyle/>
          <a:p>
            <a:pPr algn="just" fontAlgn="base">
              <a:buFont typeface="+mj-lt"/>
              <a:buAutoNum type="arabicPeriod" startAt="7"/>
            </a:pPr>
            <a:r>
              <a:rPr lang="en-US" b="1" dirty="0">
                <a:solidFill>
                  <a:srgbClr val="273239"/>
                </a:solidFill>
                <a:latin typeface="Nunito"/>
              </a:rPr>
              <a:t>Virtualization:</a:t>
            </a:r>
            <a:r>
              <a:rPr lang="en-US" dirty="0">
                <a:solidFill>
                  <a:srgbClr val="273239"/>
                </a:solidFill>
                <a:latin typeface="Nunito"/>
              </a:rPr>
              <a:t> Cloud computing providers use virtualization technology to abstract underlying hardware resources and present them as logical resources to users.</a:t>
            </a:r>
          </a:p>
          <a:p>
            <a:pPr algn="just" fontAlgn="base">
              <a:buFont typeface="+mj-lt"/>
              <a:buAutoNum type="arabicPeriod" startAt="8"/>
            </a:pPr>
            <a:r>
              <a:rPr lang="en-US" b="1" dirty="0">
                <a:solidFill>
                  <a:srgbClr val="273239"/>
                </a:solidFill>
                <a:latin typeface="Nunito"/>
              </a:rPr>
              <a:t>Resilient computing: </a:t>
            </a:r>
            <a:r>
              <a:rPr lang="en-US" dirty="0">
                <a:solidFill>
                  <a:srgbClr val="273239"/>
                </a:solidFill>
                <a:latin typeface="Nunito"/>
              </a:rPr>
              <a:t>Cloud computing services are typically designed with redundancy and fault tolerance in mind, which ensures high availability and reliability.</a:t>
            </a:r>
          </a:p>
          <a:p>
            <a:pPr algn="just" fontAlgn="base">
              <a:buFont typeface="+mj-lt"/>
              <a:buAutoNum type="arabicPeriod" startAt="9"/>
            </a:pPr>
            <a:r>
              <a:rPr lang="en-US" b="1" dirty="0">
                <a:solidFill>
                  <a:srgbClr val="273239"/>
                </a:solidFill>
                <a:latin typeface="Nunito"/>
              </a:rPr>
              <a:t>Flexible pricing models: </a:t>
            </a:r>
            <a:r>
              <a:rPr lang="en-US" dirty="0">
                <a:solidFill>
                  <a:srgbClr val="273239"/>
                </a:solidFill>
                <a:latin typeface="Nunito"/>
              </a:rPr>
              <a:t>Cloud providers offer a variety of pricing models, including pay-per-use, subscription-based, and spot pricing, allowing users to choose the option that best suits their needs.</a:t>
            </a:r>
          </a:p>
          <a:p>
            <a:pPr algn="just" fontAlgn="base">
              <a:buFont typeface="+mj-lt"/>
              <a:buAutoNum type="arabicPeriod" startAt="10"/>
            </a:pPr>
            <a:r>
              <a:rPr lang="en-US" b="1" dirty="0">
                <a:solidFill>
                  <a:srgbClr val="273239"/>
                </a:solidFill>
                <a:latin typeface="Nunito"/>
              </a:rPr>
              <a:t>Security:</a:t>
            </a:r>
            <a:r>
              <a:rPr lang="en-US" dirty="0">
                <a:solidFill>
                  <a:srgbClr val="273239"/>
                </a:solidFill>
                <a:latin typeface="Nunito"/>
              </a:rPr>
              <a:t> Cloud providers invest heavily in security measures to protect their users’ data and ensure the privacy of sensitive information.</a:t>
            </a:r>
          </a:p>
          <a:p>
            <a:pPr algn="just" fontAlgn="base">
              <a:buFont typeface="+mj-lt"/>
              <a:buAutoNum type="arabicPeriod" startAt="11"/>
            </a:pPr>
            <a:r>
              <a:rPr lang="en-US" b="1" dirty="0">
                <a:solidFill>
                  <a:srgbClr val="273239"/>
                </a:solidFill>
                <a:latin typeface="Nunito"/>
              </a:rPr>
              <a:t>Automation:</a:t>
            </a:r>
            <a:r>
              <a:rPr lang="en-US" dirty="0">
                <a:solidFill>
                  <a:srgbClr val="273239"/>
                </a:solidFill>
                <a:latin typeface="Nunito"/>
              </a:rPr>
              <a:t> Cloud computing services are often highly automated, allowing users to deploy and manage resources with minimal manual intervention.</a:t>
            </a:r>
          </a:p>
          <a:p>
            <a:pPr algn="just" fontAlgn="base">
              <a:buFont typeface="+mj-lt"/>
              <a:buAutoNum type="arabicPeriod" startAt="12"/>
            </a:pPr>
            <a:r>
              <a:rPr lang="en-US" b="1" dirty="0">
                <a:solidFill>
                  <a:srgbClr val="273239"/>
                </a:solidFill>
                <a:latin typeface="Nunito"/>
              </a:rPr>
              <a:t>Sustainability:</a:t>
            </a:r>
            <a:r>
              <a:rPr lang="en-US" dirty="0">
                <a:solidFill>
                  <a:srgbClr val="273239"/>
                </a:solidFill>
                <a:latin typeface="Nunito"/>
              </a:rPr>
              <a:t> Cloud providers are increasingly focused on sustainable practices, such as energy-efficient data centers and the use of renewable energy sources, to reduce their environmental impact.</a:t>
            </a:r>
          </a:p>
          <a:p>
            <a:endParaRPr lang="en-IN" dirty="0"/>
          </a:p>
          <a:p>
            <a:endParaRPr lang="en-IN" dirty="0"/>
          </a:p>
        </p:txBody>
      </p:sp>
    </p:spTree>
    <p:extLst>
      <p:ext uri="{BB962C8B-B14F-4D97-AF65-F5344CB8AC3E}">
        <p14:creationId xmlns:p14="http://schemas.microsoft.com/office/powerpoint/2010/main" val="1912680239"/>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383539" cy="762000"/>
          </a:xfrm>
        </p:spPr>
        <p:txBody>
          <a:bodyPr>
            <a:normAutofit fontScale="90000"/>
          </a:bodyPr>
          <a:lstStyle/>
          <a:p>
            <a:r>
              <a:rPr lang="en-IN" b="1" dirty="0"/>
              <a:t>Advantages of Cloud Computing</a:t>
            </a:r>
            <a:br>
              <a:rPr lang="en-IN" b="1" dirty="0"/>
            </a:br>
            <a:endParaRPr lang="en-IN" dirty="0"/>
          </a:p>
        </p:txBody>
      </p:sp>
      <p:sp>
        <p:nvSpPr>
          <p:cNvPr id="3" name="Content Placeholder 2"/>
          <p:cNvSpPr>
            <a:spLocks noGrp="1"/>
          </p:cNvSpPr>
          <p:nvPr>
            <p:ph idx="1"/>
          </p:nvPr>
        </p:nvSpPr>
        <p:spPr>
          <a:xfrm>
            <a:off x="677334" y="1604357"/>
            <a:ext cx="8596668" cy="4437006"/>
          </a:xfrm>
        </p:spPr>
        <p:txBody>
          <a:bodyPr>
            <a:normAutofit lnSpcReduction="10000"/>
          </a:bodyPr>
          <a:lstStyle/>
          <a:p>
            <a:pPr algn="just" fontAlgn="base"/>
            <a:r>
              <a:rPr lang="en-US" b="1" dirty="0"/>
              <a:t>Scalability: </a:t>
            </a:r>
            <a:r>
              <a:rPr lang="en-US" dirty="0"/>
              <a:t>Cloud computing allows organizations to easily scale their computing resources up or down as their needs change, without having to purchase and manage additional hardware.</a:t>
            </a:r>
          </a:p>
          <a:p>
            <a:pPr algn="just" fontAlgn="base"/>
            <a:r>
              <a:rPr lang="en-US" b="1" dirty="0"/>
              <a:t>Cost Savings: </a:t>
            </a:r>
            <a:r>
              <a:rPr lang="en-US" dirty="0"/>
              <a:t>Using cloud computing can be more cost-effective than maintaining on-premises IT infrastructure, as it eliminates the need for costly hardware, software, and maintenance expenses.</a:t>
            </a:r>
          </a:p>
          <a:p>
            <a:pPr algn="just" fontAlgn="base"/>
            <a:r>
              <a:rPr lang="en-US" b="1" dirty="0"/>
              <a:t>Accessibility: </a:t>
            </a:r>
            <a:r>
              <a:rPr lang="en-US" dirty="0"/>
              <a:t>Cloud computing enables remote access to applications and data, allowing users to work from anywhere with an internet connection.</a:t>
            </a:r>
          </a:p>
          <a:p>
            <a:pPr algn="just" fontAlgn="base"/>
            <a:r>
              <a:rPr lang="en-US" b="1" dirty="0"/>
              <a:t>Reliability: </a:t>
            </a:r>
            <a:r>
              <a:rPr lang="en-US" dirty="0"/>
              <a:t>Cloud providers offer high levels of uptime and redundancy, ensuring that applications and data are available even in the event of hardware failure.</a:t>
            </a:r>
          </a:p>
          <a:p>
            <a:pPr algn="just" fontAlgn="base"/>
            <a:r>
              <a:rPr lang="en-US" b="1" dirty="0"/>
              <a:t>Flexibility: </a:t>
            </a:r>
            <a:r>
              <a:rPr lang="en-US" dirty="0"/>
              <a:t>Cloud computing offers a wide range of deployment options, including public, private, and hybrid clouds, which can be tailored to meet the unique needs of an organization.</a:t>
            </a:r>
          </a:p>
          <a:p>
            <a:endParaRPr lang="en-IN" dirty="0"/>
          </a:p>
        </p:txBody>
      </p:sp>
    </p:spTree>
    <p:extLst>
      <p:ext uri="{BB962C8B-B14F-4D97-AF65-F5344CB8AC3E}">
        <p14:creationId xmlns:p14="http://schemas.microsoft.com/office/powerpoint/2010/main" val="1605424608"/>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737062"/>
          </a:xfrm>
        </p:spPr>
        <p:txBody>
          <a:bodyPr>
            <a:normAutofit fontScale="90000"/>
          </a:bodyPr>
          <a:lstStyle/>
          <a:p>
            <a:r>
              <a:rPr lang="en-IN" b="1" dirty="0"/>
              <a:t>Disadvantages of Cloud Computing</a:t>
            </a:r>
            <a:br>
              <a:rPr lang="en-IN" b="1" dirty="0"/>
            </a:br>
            <a:endParaRPr lang="en-IN" dirty="0"/>
          </a:p>
        </p:txBody>
      </p:sp>
      <p:sp>
        <p:nvSpPr>
          <p:cNvPr id="3" name="Content Placeholder 2"/>
          <p:cNvSpPr>
            <a:spLocks noGrp="1"/>
          </p:cNvSpPr>
          <p:nvPr>
            <p:ph idx="1"/>
          </p:nvPr>
        </p:nvSpPr>
        <p:spPr>
          <a:xfrm>
            <a:off x="677334" y="1562793"/>
            <a:ext cx="8596668" cy="4478570"/>
          </a:xfrm>
        </p:spPr>
        <p:txBody>
          <a:bodyPr>
            <a:normAutofit/>
          </a:bodyPr>
          <a:lstStyle/>
          <a:p>
            <a:pPr algn="just" fontAlgn="base"/>
            <a:r>
              <a:rPr lang="en-US" b="1" dirty="0"/>
              <a:t>Security</a:t>
            </a:r>
            <a:r>
              <a:rPr lang="en-US" b="1" i="1" dirty="0"/>
              <a:t>: </a:t>
            </a:r>
            <a:r>
              <a:rPr lang="en-US" dirty="0"/>
              <a:t>Cloud computing involves sharing sensitive data with a third-party provider, which raises concerns about data security and privacy.</a:t>
            </a:r>
          </a:p>
          <a:p>
            <a:pPr algn="just" fontAlgn="base"/>
            <a:r>
              <a:rPr lang="en-US" b="1" dirty="0"/>
              <a:t>Dependence:</a:t>
            </a:r>
            <a:r>
              <a:rPr lang="en-US" dirty="0"/>
              <a:t> Organizations that rely on cloud providers for their computing infrastructure are vulnerable to service disruptions or data loss in the event of provider outages or other issues.</a:t>
            </a:r>
          </a:p>
          <a:p>
            <a:pPr algn="just" fontAlgn="base"/>
            <a:r>
              <a:rPr lang="en-US" b="1" dirty="0"/>
              <a:t>Internet Dependency: </a:t>
            </a:r>
            <a:r>
              <a:rPr lang="en-US" dirty="0"/>
              <a:t>Cloud computing requires a reliable and fast internet connection to access applications and data, which can be a challenge in some areas.</a:t>
            </a:r>
          </a:p>
          <a:p>
            <a:pPr algn="just" fontAlgn="base"/>
            <a:r>
              <a:rPr lang="en-US" b="1" dirty="0"/>
              <a:t>Technical Issues: </a:t>
            </a:r>
            <a:r>
              <a:rPr lang="en-US" dirty="0"/>
              <a:t>Technical issues with cloud services, such as compatibility problems or software bugs, can sometimes be difficult to resolve and can result in downtime or lost productivity.</a:t>
            </a:r>
          </a:p>
          <a:p>
            <a:pPr algn="just" fontAlgn="base"/>
            <a:r>
              <a:rPr lang="en-US" b="1" dirty="0"/>
              <a:t>Lack of Control: </a:t>
            </a:r>
            <a:r>
              <a:rPr lang="en-US" dirty="0"/>
              <a:t>With cloud computing, organizations have limited control over the infrastructure and services they use, which can make it difficult to customize or optimize the environment for their specific needs.</a:t>
            </a:r>
          </a:p>
          <a:p>
            <a:endParaRPr lang="en-IN" dirty="0"/>
          </a:p>
        </p:txBody>
      </p:sp>
    </p:spTree>
    <p:extLst>
      <p:ext uri="{BB962C8B-B14F-4D97-AF65-F5344CB8AC3E}">
        <p14:creationId xmlns:p14="http://schemas.microsoft.com/office/powerpoint/2010/main" val="551087575"/>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a:solidFill>
                  <a:schemeClr val="tx1"/>
                </a:solidFill>
              </a:rPr>
              <a:t>Introduction to Dockers Container </a:t>
            </a:r>
            <a:endParaRPr lang="en-IN" dirty="0"/>
          </a:p>
        </p:txBody>
      </p:sp>
      <p:sp>
        <p:nvSpPr>
          <p:cNvPr id="3" name="Content Placeholder 2"/>
          <p:cNvSpPr>
            <a:spLocks noGrp="1"/>
          </p:cNvSpPr>
          <p:nvPr>
            <p:ph idx="1"/>
          </p:nvPr>
        </p:nvSpPr>
        <p:spPr>
          <a:xfrm>
            <a:off x="677334" y="2127338"/>
            <a:ext cx="8596668" cy="3880773"/>
          </a:xfrm>
        </p:spPr>
        <p:txBody>
          <a:bodyPr/>
          <a:lstStyle/>
          <a:p>
            <a:pPr marL="0" indent="0" algn="just">
              <a:buNone/>
            </a:pPr>
            <a:r>
              <a:rPr lang="en-IN" dirty="0"/>
              <a:t>	</a:t>
            </a:r>
            <a:r>
              <a:rPr lang="en-IN" dirty="0" smtClean="0"/>
              <a:t>Docker </a:t>
            </a:r>
            <a:r>
              <a:rPr lang="en-IN" dirty="0"/>
              <a:t>is a containerization platform that enables developers to package and distribute applications and their dependencies as lightweight, portable containers. Containers are isolated environments that encapsulate an application and its dependencies, ensuring consistency across different environments.</a:t>
            </a:r>
          </a:p>
          <a:p>
            <a:endParaRPr lang="en-IN" dirty="0"/>
          </a:p>
        </p:txBody>
      </p:sp>
    </p:spTree>
    <p:extLst>
      <p:ext uri="{BB962C8B-B14F-4D97-AF65-F5344CB8AC3E}">
        <p14:creationId xmlns:p14="http://schemas.microsoft.com/office/powerpoint/2010/main" val="859293236"/>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
            </a:r>
            <a:br>
              <a:rPr lang="en-IN" dirty="0" smtClean="0"/>
            </a:br>
            <a:r>
              <a:rPr lang="en-IN" sz="3200" dirty="0" smtClean="0"/>
              <a:t>Use </a:t>
            </a:r>
            <a:r>
              <a:rPr lang="en-IN" sz="3200" dirty="0"/>
              <a:t>Cases of Docker</a:t>
            </a:r>
            <a:endParaRPr lang="en-IN" dirty="0"/>
          </a:p>
        </p:txBody>
      </p:sp>
      <p:sp>
        <p:nvSpPr>
          <p:cNvPr id="3" name="Content Placeholder 2"/>
          <p:cNvSpPr>
            <a:spLocks noGrp="1"/>
          </p:cNvSpPr>
          <p:nvPr>
            <p:ph idx="1"/>
          </p:nvPr>
        </p:nvSpPr>
        <p:spPr/>
        <p:txBody>
          <a:bodyPr>
            <a:normAutofit fontScale="70000" lnSpcReduction="20000"/>
          </a:bodyPr>
          <a:lstStyle/>
          <a:p>
            <a:r>
              <a:rPr lang="en-IN" dirty="0" smtClean="0"/>
              <a:t>Application </a:t>
            </a:r>
            <a:r>
              <a:rPr lang="en-IN" dirty="0"/>
              <a:t>Deployment and Scaling:</a:t>
            </a:r>
          </a:p>
          <a:p>
            <a:pPr marL="0" indent="0">
              <a:buNone/>
            </a:pPr>
            <a:r>
              <a:rPr lang="en-IN" dirty="0"/>
              <a:t>	</a:t>
            </a:r>
            <a:r>
              <a:rPr lang="en-IN" dirty="0" smtClean="0"/>
              <a:t>Docker </a:t>
            </a:r>
            <a:r>
              <a:rPr lang="en-IN" dirty="0"/>
              <a:t>simplifies the deployment process, making it easier to package and distribute applications. It also facilitates the scaling of </a:t>
            </a:r>
            <a:r>
              <a:rPr lang="en-IN" dirty="0" smtClean="0"/>
              <a:t>applications </a:t>
            </a:r>
            <a:r>
              <a:rPr lang="en-IN" dirty="0"/>
              <a:t>by replicating containers across multiple hosts.</a:t>
            </a:r>
          </a:p>
          <a:p>
            <a:pPr marL="0" indent="0">
              <a:buNone/>
            </a:pPr>
            <a:r>
              <a:rPr lang="en-IN" dirty="0"/>
              <a:t> </a:t>
            </a:r>
          </a:p>
          <a:p>
            <a:r>
              <a:rPr lang="en-IN" dirty="0" smtClean="0"/>
              <a:t>Micro services </a:t>
            </a:r>
            <a:r>
              <a:rPr lang="en-IN" dirty="0"/>
              <a:t>Architecture</a:t>
            </a:r>
            <a:r>
              <a:rPr lang="en-IN" dirty="0" smtClean="0"/>
              <a:t>:</a:t>
            </a:r>
          </a:p>
          <a:p>
            <a:pPr marL="0" indent="0">
              <a:buNone/>
            </a:pPr>
            <a:r>
              <a:rPr lang="en-IN" dirty="0" smtClean="0"/>
              <a:t>	Docker </a:t>
            </a:r>
            <a:r>
              <a:rPr lang="en-IN" dirty="0"/>
              <a:t>is well-suited for </a:t>
            </a:r>
            <a:r>
              <a:rPr lang="en-IN" dirty="0" smtClean="0"/>
              <a:t>micro services </a:t>
            </a:r>
            <a:r>
              <a:rPr lang="en-IN" dirty="0"/>
              <a:t>architectures, allowing developers to build, deploy, and scale individual services independently in separate containers.</a:t>
            </a:r>
          </a:p>
          <a:p>
            <a:endParaRPr lang="en-IN" dirty="0"/>
          </a:p>
          <a:p>
            <a:r>
              <a:rPr lang="en-IN" dirty="0" smtClean="0"/>
              <a:t>Continuous </a:t>
            </a:r>
            <a:r>
              <a:rPr lang="en-IN" dirty="0"/>
              <a:t>Integration/Continuous Deployment (CI/CD):</a:t>
            </a:r>
          </a:p>
          <a:p>
            <a:pPr marL="0" indent="0">
              <a:buNone/>
            </a:pPr>
            <a:r>
              <a:rPr lang="en-IN" dirty="0" smtClean="0"/>
              <a:t>	Docker </a:t>
            </a:r>
            <a:r>
              <a:rPr lang="en-IN" dirty="0"/>
              <a:t>containers streamline the CI/CD pipeline, ensuring that applications behave consistently across development, testing, and production environments.</a:t>
            </a:r>
          </a:p>
          <a:p>
            <a:endParaRPr lang="en-IN" dirty="0"/>
          </a:p>
          <a:p>
            <a:r>
              <a:rPr lang="en-IN" dirty="0" smtClean="0"/>
              <a:t>DevOps </a:t>
            </a:r>
            <a:r>
              <a:rPr lang="en-IN" dirty="0"/>
              <a:t>Practices:</a:t>
            </a:r>
          </a:p>
          <a:p>
            <a:pPr marL="0" indent="0">
              <a:buNone/>
            </a:pPr>
            <a:r>
              <a:rPr lang="en-IN" dirty="0" smtClean="0"/>
              <a:t>	Docker </a:t>
            </a:r>
            <a:r>
              <a:rPr lang="en-IN" dirty="0"/>
              <a:t>enhances collaboration between development and operations teams by providing a standardized environment, reducing conflicts and discrepancies between development and production environments.</a:t>
            </a:r>
          </a:p>
          <a:p>
            <a:endParaRPr lang="en-IN" dirty="0"/>
          </a:p>
        </p:txBody>
      </p:sp>
    </p:spTree>
    <p:extLst>
      <p:ext uri="{BB962C8B-B14F-4D97-AF65-F5344CB8AC3E}">
        <p14:creationId xmlns:p14="http://schemas.microsoft.com/office/powerpoint/2010/main" val="288573202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265373"/>
            <a:ext cx="10515600" cy="1325563"/>
          </a:xfrm>
        </p:spPr>
        <p:txBody>
          <a:bodyPr>
            <a:normAutofit/>
          </a:bodyPr>
          <a:lstStyle/>
          <a:p>
            <a:r>
              <a:rPr lang="en-IN" sz="3600" dirty="0"/>
              <a:t>Platforms for Docker</a:t>
            </a:r>
          </a:p>
        </p:txBody>
      </p:sp>
      <p:sp>
        <p:nvSpPr>
          <p:cNvPr id="3" name="Content Placeholder 2"/>
          <p:cNvSpPr>
            <a:spLocks noGrp="1"/>
          </p:cNvSpPr>
          <p:nvPr>
            <p:ph idx="1"/>
          </p:nvPr>
        </p:nvSpPr>
        <p:spPr>
          <a:xfrm>
            <a:off x="838200" y="1590936"/>
            <a:ext cx="10515600" cy="4351338"/>
          </a:xfrm>
        </p:spPr>
        <p:txBody>
          <a:bodyPr>
            <a:normAutofit fontScale="92500" lnSpcReduction="10000"/>
          </a:bodyPr>
          <a:lstStyle/>
          <a:p>
            <a:r>
              <a:rPr lang="en-IN" dirty="0" smtClean="0"/>
              <a:t>Docker </a:t>
            </a:r>
            <a:r>
              <a:rPr lang="en-IN" dirty="0"/>
              <a:t>Desktop:</a:t>
            </a:r>
          </a:p>
          <a:p>
            <a:pPr marL="0" indent="0">
              <a:buNone/>
            </a:pPr>
            <a:r>
              <a:rPr lang="en-IN" dirty="0"/>
              <a:t>	</a:t>
            </a:r>
            <a:r>
              <a:rPr lang="en-IN" dirty="0" smtClean="0"/>
              <a:t>- </a:t>
            </a:r>
            <a:r>
              <a:rPr lang="en-IN" dirty="0"/>
              <a:t>Ideal for local development and testing</a:t>
            </a:r>
            <a:r>
              <a:rPr lang="en-IN" dirty="0" smtClean="0"/>
              <a:t>. </a:t>
            </a:r>
            <a:endParaRPr lang="en-IN" dirty="0"/>
          </a:p>
          <a:p>
            <a:pPr marL="0" indent="0">
              <a:buNone/>
            </a:pPr>
            <a:r>
              <a:rPr lang="en-IN" dirty="0"/>
              <a:t>	- Available for Windows and </a:t>
            </a:r>
            <a:r>
              <a:rPr lang="en-IN" dirty="0" err="1" smtClean="0"/>
              <a:t>macOS</a:t>
            </a:r>
            <a:r>
              <a:rPr lang="en-IN" dirty="0" smtClean="0"/>
              <a:t>.</a:t>
            </a:r>
          </a:p>
          <a:p>
            <a:pPr marL="0" indent="0">
              <a:buNone/>
            </a:pPr>
            <a:r>
              <a:rPr lang="en-IN" dirty="0"/>
              <a:t>	</a:t>
            </a:r>
            <a:r>
              <a:rPr lang="en-IN" dirty="0" smtClean="0"/>
              <a:t>- </a:t>
            </a:r>
            <a:r>
              <a:rPr lang="en-IN" dirty="0"/>
              <a:t>Provides a user-friendly interface for managing containers.</a:t>
            </a:r>
          </a:p>
          <a:p>
            <a:pPr marL="0" indent="0">
              <a:buNone/>
            </a:pPr>
            <a:endParaRPr lang="en-IN" dirty="0"/>
          </a:p>
          <a:p>
            <a:r>
              <a:rPr lang="en-IN" dirty="0" smtClean="0"/>
              <a:t>Docker </a:t>
            </a:r>
            <a:r>
              <a:rPr lang="en-IN" dirty="0"/>
              <a:t>Hub:</a:t>
            </a:r>
          </a:p>
          <a:p>
            <a:pPr marL="0" indent="0">
              <a:buNone/>
            </a:pPr>
            <a:r>
              <a:rPr lang="en-IN" dirty="0" smtClean="0"/>
              <a:t>	- </a:t>
            </a:r>
            <a:r>
              <a:rPr lang="en-IN" dirty="0"/>
              <a:t>A cloud-based registry for sharing and distributing Docker images.</a:t>
            </a:r>
          </a:p>
          <a:p>
            <a:pPr marL="0" indent="0">
              <a:buNone/>
            </a:pPr>
            <a:r>
              <a:rPr lang="en-IN" dirty="0" smtClean="0"/>
              <a:t>	- </a:t>
            </a:r>
            <a:r>
              <a:rPr lang="en-IN" dirty="0"/>
              <a:t>Offers a vast repository of pre-built images for popular software.</a:t>
            </a:r>
          </a:p>
          <a:p>
            <a:endParaRPr lang="en-IN" dirty="0"/>
          </a:p>
          <a:p>
            <a:r>
              <a:rPr lang="en-IN" dirty="0" smtClean="0"/>
              <a:t>Docker </a:t>
            </a:r>
            <a:r>
              <a:rPr lang="en-IN" dirty="0"/>
              <a:t>Enterprise:</a:t>
            </a:r>
          </a:p>
          <a:p>
            <a:pPr marL="0" indent="0">
              <a:buNone/>
            </a:pPr>
            <a:r>
              <a:rPr lang="en-IN" dirty="0" smtClean="0"/>
              <a:t>	- </a:t>
            </a:r>
            <a:r>
              <a:rPr lang="en-IN" dirty="0"/>
              <a:t>Designed for enterprise-level container orchestration and management.</a:t>
            </a:r>
          </a:p>
          <a:p>
            <a:pPr marL="0" indent="0">
              <a:buNone/>
            </a:pPr>
            <a:r>
              <a:rPr lang="en-IN" dirty="0" smtClean="0"/>
              <a:t>	- </a:t>
            </a:r>
            <a:r>
              <a:rPr lang="en-IN" dirty="0"/>
              <a:t>Provides advanced features for security, scalability, and collaboration.</a:t>
            </a:r>
          </a:p>
          <a:p>
            <a:endParaRPr lang="en-IN" dirty="0"/>
          </a:p>
        </p:txBody>
      </p:sp>
    </p:spTree>
    <p:extLst>
      <p:ext uri="{BB962C8B-B14F-4D97-AF65-F5344CB8AC3E}">
        <p14:creationId xmlns:p14="http://schemas.microsoft.com/office/powerpoint/2010/main" val="1544810660"/>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71698" y="211932"/>
            <a:ext cx="10515600" cy="1325563"/>
          </a:xfrm>
        </p:spPr>
        <p:txBody>
          <a:bodyPr>
            <a:normAutofit/>
          </a:bodyPr>
          <a:lstStyle/>
          <a:p>
            <a:r>
              <a:rPr lang="en-IN" sz="2800" b="1" dirty="0"/>
              <a:t>Docker Architecture</a:t>
            </a:r>
            <a:endParaRPr lang="en-IN" sz="2800" dirty="0"/>
          </a:p>
        </p:txBody>
      </p:sp>
      <p:sp>
        <p:nvSpPr>
          <p:cNvPr id="3" name="Content Placeholder 2"/>
          <p:cNvSpPr>
            <a:spLocks noGrp="1"/>
          </p:cNvSpPr>
          <p:nvPr>
            <p:ph idx="1"/>
          </p:nvPr>
        </p:nvSpPr>
        <p:spPr>
          <a:xfrm>
            <a:off x="563879" y="1208550"/>
            <a:ext cx="9070572" cy="4351338"/>
          </a:xfrm>
        </p:spPr>
        <p:txBody>
          <a:bodyPr/>
          <a:lstStyle/>
          <a:p>
            <a:pPr marL="0" indent="0" algn="just">
              <a:buNone/>
            </a:pPr>
            <a:r>
              <a:rPr lang="en-IN" dirty="0" smtClean="0"/>
              <a:t>	</a:t>
            </a:r>
            <a:r>
              <a:rPr lang="en-IN" sz="2000" dirty="0" smtClean="0"/>
              <a:t>Docker </a:t>
            </a:r>
            <a:r>
              <a:rPr lang="en-IN" sz="2000" dirty="0"/>
              <a:t>employs a client-server architecture with a set of components that work together to facilitate the containerization process. Understanding these components is crucial for effectively working with Docker.</a:t>
            </a:r>
          </a:p>
          <a:p>
            <a:endParaRPr lang="en-IN" dirty="0"/>
          </a:p>
        </p:txBody>
      </p:sp>
      <p:pic>
        <p:nvPicPr>
          <p:cNvPr id="1026" name="Picture 2" descr="https://miro.medium.com/v2/resize:fit:700/0*NwemY7zn4cySaj1n.png"/>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01248" y="2470280"/>
            <a:ext cx="6667500" cy="408622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5865229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764771"/>
            <a:ext cx="9103822" cy="5162204"/>
          </a:xfrm>
        </p:spPr>
        <p:txBody>
          <a:bodyPr>
            <a:normAutofit/>
          </a:bodyPr>
          <a:lstStyle/>
          <a:p>
            <a:pPr algn="just"/>
            <a:r>
              <a:rPr lang="en-IN" b="1" dirty="0" smtClean="0"/>
              <a:t>Docker </a:t>
            </a:r>
            <a:r>
              <a:rPr lang="en-IN" b="1" dirty="0"/>
              <a:t>Daemon:</a:t>
            </a:r>
            <a:endParaRPr lang="en-IN" dirty="0"/>
          </a:p>
          <a:p>
            <a:pPr marL="0" indent="0" algn="just">
              <a:buNone/>
            </a:pPr>
            <a:r>
              <a:rPr lang="en-IN" dirty="0" smtClean="0"/>
              <a:t>	The </a:t>
            </a:r>
            <a:r>
              <a:rPr lang="en-IN" dirty="0"/>
              <a:t>Docker daemon (dockerd) is a background process that manages Docker containers on a host system. It is responsible for building, running, and managing containers. The daemon listens for Docker API requests and communicates with the Docker CLI (Command Line Interface) or other tools.</a:t>
            </a:r>
          </a:p>
          <a:p>
            <a:pPr algn="just"/>
            <a:r>
              <a:rPr lang="en-IN" b="1" dirty="0" smtClean="0"/>
              <a:t>Docker </a:t>
            </a:r>
            <a:r>
              <a:rPr lang="en-IN" b="1" dirty="0"/>
              <a:t>Client:</a:t>
            </a:r>
            <a:endParaRPr lang="en-IN" dirty="0"/>
          </a:p>
          <a:p>
            <a:pPr marL="0" indent="0" algn="just">
              <a:buNone/>
            </a:pPr>
            <a:r>
              <a:rPr lang="en-IN" dirty="0" smtClean="0"/>
              <a:t>	The </a:t>
            </a:r>
            <a:r>
              <a:rPr lang="en-IN" dirty="0"/>
              <a:t>Docker client (docker) is a command-line tool or API that allows users to interact with the Docker daemon. It serves as the primary interface for developers to build, manage, and deploy containers. The client sends commands to the Docker daemon, which then executes them.</a:t>
            </a:r>
          </a:p>
          <a:p>
            <a:pPr algn="just"/>
            <a:r>
              <a:rPr lang="en-IN" b="1" dirty="0" smtClean="0"/>
              <a:t>Docker </a:t>
            </a:r>
            <a:r>
              <a:rPr lang="en-IN" b="1" dirty="0"/>
              <a:t>Images:</a:t>
            </a:r>
            <a:endParaRPr lang="en-IN" dirty="0"/>
          </a:p>
          <a:p>
            <a:pPr marL="0" indent="0" algn="just">
              <a:buNone/>
            </a:pPr>
            <a:r>
              <a:rPr lang="en-IN" dirty="0" smtClean="0"/>
              <a:t>	Docker </a:t>
            </a:r>
            <a:r>
              <a:rPr lang="en-IN" dirty="0"/>
              <a:t>images are lightweight, standalone, and executable packages that include application code, libraries, dependencies, and the runtime environment. Images serve as the blueprint for creating containers. They can be stored in registries like Docker Hub and shared across different environments</a:t>
            </a:r>
            <a:r>
              <a:rPr lang="en-IN" dirty="0" smtClean="0"/>
              <a:t>.</a:t>
            </a:r>
            <a:endParaRPr lang="en-IN" dirty="0"/>
          </a:p>
        </p:txBody>
      </p:sp>
    </p:spTree>
    <p:extLst>
      <p:ext uri="{BB962C8B-B14F-4D97-AF65-F5344CB8AC3E}">
        <p14:creationId xmlns:p14="http://schemas.microsoft.com/office/powerpoint/2010/main" val="3730895990"/>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77334" y="1055717"/>
            <a:ext cx="8596668" cy="4985646"/>
          </a:xfrm>
        </p:spPr>
        <p:txBody>
          <a:bodyPr/>
          <a:lstStyle/>
          <a:p>
            <a:pPr algn="just"/>
            <a:r>
              <a:rPr lang="en-IN" b="1" dirty="0"/>
              <a:t>Docker Containers:</a:t>
            </a:r>
            <a:endParaRPr lang="en-IN" dirty="0"/>
          </a:p>
          <a:p>
            <a:pPr marL="0" indent="0" algn="just">
              <a:buNone/>
            </a:pPr>
            <a:r>
              <a:rPr lang="en-IN" dirty="0"/>
              <a:t>	Containers are instances of Docker images that run as isolated processes on a host system. They encapsulate the application and its dependencies, providing a consistent and reproducible environment. Containers are portable and can run on any system that supports Docker.</a:t>
            </a:r>
          </a:p>
          <a:p>
            <a:pPr algn="just"/>
            <a:r>
              <a:rPr lang="en-IN" b="1" dirty="0"/>
              <a:t>Docker Registry:</a:t>
            </a:r>
          </a:p>
          <a:p>
            <a:pPr marL="0" indent="0" algn="just">
              <a:buNone/>
            </a:pPr>
            <a:r>
              <a:rPr lang="en-IN" dirty="0"/>
              <a:t>	A Docker registry is a centralized repository for storing and distributing Docker images. Docker Hub is a public registry, but organizations often use private registries for hosting proprietary images. Registries facilitate the sharing and versioning of Docker images across teams and environments.</a:t>
            </a:r>
            <a:endParaRPr lang="en-US" dirty="0"/>
          </a:p>
          <a:p>
            <a:endParaRPr lang="en-IN" dirty="0"/>
          </a:p>
          <a:p>
            <a:endParaRPr lang="en-IN" dirty="0"/>
          </a:p>
        </p:txBody>
      </p:sp>
    </p:spTree>
    <p:extLst>
      <p:ext uri="{BB962C8B-B14F-4D97-AF65-F5344CB8AC3E}">
        <p14:creationId xmlns:p14="http://schemas.microsoft.com/office/powerpoint/2010/main" val="25223998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40666" y="1138842"/>
            <a:ext cx="8197408" cy="4172991"/>
          </a:xfrm>
          <a:prstGeom prst="rect">
            <a:avLst/>
          </a:prstGeom>
        </p:spPr>
      </p:pic>
    </p:spTree>
    <p:extLst>
      <p:ext uri="{BB962C8B-B14F-4D97-AF65-F5344CB8AC3E}">
        <p14:creationId xmlns:p14="http://schemas.microsoft.com/office/powerpoint/2010/main" val="2516947814"/>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838200" y="814647"/>
            <a:ext cx="8580120" cy="5303520"/>
          </a:xfrm>
        </p:spPr>
        <p:txBody>
          <a:bodyPr>
            <a:normAutofit fontScale="85000" lnSpcReduction="20000"/>
          </a:bodyPr>
          <a:lstStyle/>
          <a:p>
            <a:r>
              <a:rPr lang="en-IN" b="1" dirty="0" smtClean="0"/>
              <a:t>Docker Compose:</a:t>
            </a:r>
            <a:endParaRPr lang="en-IN" dirty="0"/>
          </a:p>
          <a:p>
            <a:pPr marL="0" indent="0" algn="just">
              <a:buNone/>
            </a:pPr>
            <a:r>
              <a:rPr lang="en-IN" dirty="0" smtClean="0"/>
              <a:t>	Docker </a:t>
            </a:r>
            <a:r>
              <a:rPr lang="en-IN" dirty="0"/>
              <a:t>Compose is a tool for defining and running multi-container Docker applications. It uses a YAML file to configure the services, networks, and volumes required for an application. Compose simplifies the process of managing complex, multi-container setups.</a:t>
            </a:r>
          </a:p>
          <a:p>
            <a:pPr algn="just"/>
            <a:r>
              <a:rPr lang="en-IN" b="1" dirty="0" smtClean="0"/>
              <a:t>Docker </a:t>
            </a:r>
            <a:r>
              <a:rPr lang="en-IN" b="1" dirty="0"/>
              <a:t>Networking:</a:t>
            </a:r>
            <a:endParaRPr lang="en-IN" dirty="0"/>
          </a:p>
          <a:p>
            <a:pPr marL="0" indent="0" algn="just">
              <a:buNone/>
            </a:pPr>
            <a:r>
              <a:rPr lang="en-IN" dirty="0" smtClean="0"/>
              <a:t>	Docker </a:t>
            </a:r>
            <a:r>
              <a:rPr lang="en-IN" dirty="0"/>
              <a:t>provides networking capabilities to enable communication between containers and external networks. Containers can be connected to user-defined bridge networks, overlay networks for multi-host communication, or the host network for direct access.</a:t>
            </a:r>
          </a:p>
          <a:p>
            <a:pPr algn="just"/>
            <a:r>
              <a:rPr lang="en-IN" b="1" dirty="0" smtClean="0"/>
              <a:t>Docker </a:t>
            </a:r>
            <a:r>
              <a:rPr lang="en-IN" b="1" dirty="0"/>
              <a:t>Volumes:</a:t>
            </a:r>
            <a:endParaRPr lang="en-IN" dirty="0"/>
          </a:p>
          <a:p>
            <a:pPr marL="0" indent="0" algn="just">
              <a:buNone/>
            </a:pPr>
            <a:r>
              <a:rPr lang="en-IN" dirty="0" smtClean="0"/>
              <a:t>	Docker </a:t>
            </a:r>
            <a:r>
              <a:rPr lang="en-IN" dirty="0"/>
              <a:t>volumes are used to persist data generated by and used by Docker containers. Volumes provide a way to share data between container instances and with the host system. They are crucial for handling data that needs to survive the lifecycle of containers.</a:t>
            </a:r>
          </a:p>
          <a:p>
            <a:pPr algn="just"/>
            <a:r>
              <a:rPr lang="en-IN" b="1" dirty="0" err="1" smtClean="0"/>
              <a:t>Dockerfile</a:t>
            </a:r>
            <a:r>
              <a:rPr lang="en-IN" b="1" dirty="0"/>
              <a:t>:</a:t>
            </a:r>
            <a:endParaRPr lang="en-IN" dirty="0"/>
          </a:p>
          <a:p>
            <a:pPr marL="0" indent="0" algn="just">
              <a:buNone/>
            </a:pPr>
            <a:r>
              <a:rPr lang="en-IN" dirty="0" smtClean="0"/>
              <a:t> 	</a:t>
            </a:r>
            <a:r>
              <a:rPr lang="en-IN" dirty="0" err="1" smtClean="0"/>
              <a:t>Dockerfile</a:t>
            </a:r>
            <a:r>
              <a:rPr lang="en-IN" dirty="0" smtClean="0"/>
              <a:t> </a:t>
            </a:r>
            <a:r>
              <a:rPr lang="en-IN" dirty="0"/>
              <a:t>is a text file that contains instructions for building a Docker image. It specifies the base image, sets up the environment, installs dependencies, and defines how the application should run. </a:t>
            </a:r>
            <a:r>
              <a:rPr lang="en-IN" dirty="0" err="1"/>
              <a:t>Dockerfiles</a:t>
            </a:r>
            <a:r>
              <a:rPr lang="en-IN" dirty="0"/>
              <a:t> are used in the image-building process.</a:t>
            </a:r>
          </a:p>
          <a:p>
            <a:pPr algn="just"/>
            <a:r>
              <a:rPr lang="en-IN" b="1" dirty="0" smtClean="0"/>
              <a:t>Docker </a:t>
            </a:r>
            <a:r>
              <a:rPr lang="en-IN" b="1" dirty="0"/>
              <a:t>Swarm (Optional):</a:t>
            </a:r>
            <a:endParaRPr lang="en-IN" dirty="0"/>
          </a:p>
          <a:p>
            <a:pPr marL="0" indent="0" algn="just">
              <a:buNone/>
            </a:pPr>
            <a:r>
              <a:rPr lang="en-IN" dirty="0" smtClean="0"/>
              <a:t>	Docker </a:t>
            </a:r>
            <a:r>
              <a:rPr lang="en-IN" dirty="0"/>
              <a:t>Swarm is Docker's native orchestration tool for managing and scaling a cluster of Docker nodes. It enables the deployment of multi-container applications across multiple hosts, providing features for load balancing, service discovery, and rolling updates.</a:t>
            </a:r>
          </a:p>
          <a:p>
            <a:pPr marL="0" indent="0">
              <a:buNone/>
            </a:pPr>
            <a:endParaRPr lang="en-IN" dirty="0"/>
          </a:p>
          <a:p>
            <a:endParaRPr lang="en-IN" dirty="0"/>
          </a:p>
        </p:txBody>
      </p:sp>
    </p:spTree>
    <p:extLst>
      <p:ext uri="{BB962C8B-B14F-4D97-AF65-F5344CB8AC3E}">
        <p14:creationId xmlns:p14="http://schemas.microsoft.com/office/powerpoint/2010/main" val="448448049"/>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200" y="365125"/>
            <a:ext cx="10515599" cy="549275"/>
          </a:xfrm>
        </p:spPr>
        <p:txBody>
          <a:bodyPr/>
          <a:lstStyle/>
          <a:p>
            <a:r>
              <a:rPr lang="en-US" sz="2400" dirty="0" smtClean="0">
                <a:latin typeface="Times New Roman" panose="02020603050405020304" pitchFamily="18" charset="0"/>
                <a:cs typeface="Times New Roman" panose="02020603050405020304" pitchFamily="18" charset="0"/>
              </a:rPr>
              <a:t>How to Creating cloud  on AWS </a:t>
            </a:r>
            <a:endParaRPr lang="en-IN" sz="2400" dirty="0">
              <a:latin typeface="Times New Roman" panose="02020603050405020304" pitchFamily="18" charset="0"/>
              <a:cs typeface="Times New Roman" panose="02020603050405020304" pitchFamily="18" charset="0"/>
            </a:endParaRPr>
          </a:p>
        </p:txBody>
      </p:sp>
      <p:sp>
        <p:nvSpPr>
          <p:cNvPr id="3" name="Text Placeholder 2"/>
          <p:cNvSpPr>
            <a:spLocks noGrp="1"/>
          </p:cNvSpPr>
          <p:nvPr>
            <p:ph idx="1"/>
          </p:nvPr>
        </p:nvSpPr>
        <p:spPr>
          <a:xfrm>
            <a:off x="838199" y="1143000"/>
            <a:ext cx="10820401" cy="5410200"/>
          </a:xfrm>
        </p:spPr>
        <p:txBody>
          <a:bodyPr/>
          <a:lstStyle/>
          <a:p>
            <a:r>
              <a:rPr lang="en-IN" sz="1800" dirty="0">
                <a:latin typeface="Times New Roman" panose="02020603050405020304" pitchFamily="18" charset="0"/>
                <a:cs typeface="Times New Roman" panose="02020603050405020304" pitchFamily="18" charset="0"/>
                <a:hlinkClick r:id="rId2"/>
              </a:rPr>
              <a:t>https://aws.amazon.com</a:t>
            </a:r>
            <a:r>
              <a:rPr lang="en-IN" sz="1800" dirty="0" smtClean="0">
                <a:latin typeface="Times New Roman" panose="02020603050405020304" pitchFamily="18" charset="0"/>
                <a:cs typeface="Times New Roman" panose="02020603050405020304" pitchFamily="18" charset="0"/>
                <a:hlinkClick r:id="rId2"/>
              </a:rPr>
              <a:t>/</a:t>
            </a:r>
            <a:endParaRPr lang="en-IN" sz="1800" dirty="0" smtClean="0">
              <a:latin typeface="Times New Roman" panose="02020603050405020304" pitchFamily="18" charset="0"/>
              <a:cs typeface="Times New Roman" panose="02020603050405020304" pitchFamily="18" charset="0"/>
            </a:endParaRPr>
          </a:p>
          <a:p>
            <a:r>
              <a:rPr lang="en-IN" sz="1800" dirty="0">
                <a:latin typeface="Times New Roman" panose="02020603050405020304" pitchFamily="18" charset="0"/>
                <a:cs typeface="Times New Roman" panose="02020603050405020304" pitchFamily="18" charset="0"/>
                <a:hlinkClick r:id="rId3"/>
              </a:rPr>
              <a:t>https://portal.aws.amazon.com/billing/signup?refid=ha_awssm-evergreen-1st-visit&amp;redirect_url=https%3A%2F%2Faws.amazon.com%2Fregistration-confirmation#/</a:t>
            </a:r>
            <a:r>
              <a:rPr lang="en-IN" sz="1800" dirty="0" smtClean="0">
                <a:latin typeface="Times New Roman" panose="02020603050405020304" pitchFamily="18" charset="0"/>
                <a:cs typeface="Times New Roman" panose="02020603050405020304" pitchFamily="18" charset="0"/>
                <a:hlinkClick r:id="rId3"/>
              </a:rPr>
              <a:t>start/email</a:t>
            </a:r>
            <a:endParaRPr lang="en-IN" sz="1800" dirty="0" smtClean="0">
              <a:latin typeface="Times New Roman" panose="02020603050405020304" pitchFamily="18" charset="0"/>
              <a:cs typeface="Times New Roman" panose="02020603050405020304" pitchFamily="18" charset="0"/>
            </a:endParaRPr>
          </a:p>
          <a:p>
            <a:endParaRPr lang="en-IN" sz="1800" dirty="0" smtClean="0">
              <a:latin typeface="Times New Roman" panose="02020603050405020304" pitchFamily="18" charset="0"/>
              <a:cs typeface="Times New Roman" panose="02020603050405020304" pitchFamily="18" charset="0"/>
            </a:endParaRPr>
          </a:p>
          <a:p>
            <a:endParaRPr lang="en-IN" sz="1800" dirty="0">
              <a:latin typeface="Times New Roman" panose="02020603050405020304" pitchFamily="18" charset="0"/>
              <a:cs typeface="Times New Roman" panose="02020603050405020304" pitchFamily="18" charset="0"/>
            </a:endParaRPr>
          </a:p>
        </p:txBody>
      </p:sp>
      <p:sp>
        <p:nvSpPr>
          <p:cNvPr id="6" name="Date Placeholder 5"/>
          <p:cNvSpPr>
            <a:spLocks noGrp="1"/>
          </p:cNvSpPr>
          <p:nvPr>
            <p:ph type="dt" sz="half" idx="10"/>
          </p:nvPr>
        </p:nvSpPr>
        <p:spPr/>
        <p:txBody>
          <a:bodyPr/>
          <a:lstStyle/>
          <a:p>
            <a:fld id="{FB86A32E-558F-4EA3-80DF-4CE2509BD4A0}" type="datetime1">
              <a:rPr lang="en-US" smtClean="0"/>
              <a:t>10/14/2024</a:t>
            </a:fld>
            <a:endParaRPr lang="en-IN"/>
          </a:p>
        </p:txBody>
      </p:sp>
      <p:pic>
        <p:nvPicPr>
          <p:cNvPr id="5" name="Picture 4"/>
          <p:cNvPicPr>
            <a:picLocks noChangeAspect="1"/>
          </p:cNvPicPr>
          <p:nvPr/>
        </p:nvPicPr>
        <p:blipFill>
          <a:blip r:embed="rId4"/>
          <a:stretch>
            <a:fillRect/>
          </a:stretch>
        </p:blipFill>
        <p:spPr>
          <a:xfrm>
            <a:off x="1447800" y="2286000"/>
            <a:ext cx="7724301" cy="4346825"/>
          </a:xfrm>
          <a:prstGeom prst="rect">
            <a:avLst/>
          </a:prstGeom>
        </p:spPr>
      </p:pic>
    </p:spTree>
    <p:extLst>
      <p:ext uri="{BB962C8B-B14F-4D97-AF65-F5344CB8AC3E}">
        <p14:creationId xmlns:p14="http://schemas.microsoft.com/office/powerpoint/2010/main" val="1852306046"/>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a:stretch>
            <a:fillRect/>
          </a:stretch>
        </p:blipFill>
        <p:spPr>
          <a:xfrm>
            <a:off x="533400" y="228600"/>
            <a:ext cx="6620933" cy="3724275"/>
          </a:xfrm>
          <a:prstGeom prst="rect">
            <a:avLst/>
          </a:prstGeom>
        </p:spPr>
      </p:pic>
      <p:pic>
        <p:nvPicPr>
          <p:cNvPr id="7" name="Picture 6"/>
          <p:cNvPicPr>
            <a:picLocks noChangeAspect="1"/>
          </p:cNvPicPr>
          <p:nvPr/>
        </p:nvPicPr>
        <p:blipFill>
          <a:blip r:embed="rId3"/>
          <a:stretch>
            <a:fillRect/>
          </a:stretch>
        </p:blipFill>
        <p:spPr>
          <a:xfrm>
            <a:off x="533400" y="2941320"/>
            <a:ext cx="6756400" cy="3800475"/>
          </a:xfrm>
          <a:prstGeom prst="rect">
            <a:avLst/>
          </a:prstGeom>
        </p:spPr>
      </p:pic>
      <p:sp>
        <p:nvSpPr>
          <p:cNvPr id="3" name="Date Placeholder 2"/>
          <p:cNvSpPr>
            <a:spLocks noGrp="1"/>
          </p:cNvSpPr>
          <p:nvPr>
            <p:ph type="dt" sz="half" idx="10"/>
          </p:nvPr>
        </p:nvSpPr>
        <p:spPr/>
        <p:txBody>
          <a:bodyPr/>
          <a:lstStyle/>
          <a:p>
            <a:fld id="{9C9F47CF-F847-44C4-8921-9F9E6AB75253}" type="datetime1">
              <a:rPr lang="en-US" smtClean="0"/>
              <a:t>10/14/2024</a:t>
            </a:fld>
            <a:endParaRPr lang="en-IN"/>
          </a:p>
        </p:txBody>
      </p:sp>
    </p:spTree>
    <p:extLst>
      <p:ext uri="{BB962C8B-B14F-4D97-AF65-F5344CB8AC3E}">
        <p14:creationId xmlns:p14="http://schemas.microsoft.com/office/powerpoint/2010/main" val="1356986624"/>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766156" y="853440"/>
            <a:ext cx="8384153" cy="4716087"/>
          </a:xfrm>
          <a:prstGeom prst="rect">
            <a:avLst/>
          </a:prstGeom>
        </p:spPr>
      </p:pic>
      <p:sp>
        <p:nvSpPr>
          <p:cNvPr id="3" name="Date Placeholder 2"/>
          <p:cNvSpPr>
            <a:spLocks noGrp="1"/>
          </p:cNvSpPr>
          <p:nvPr>
            <p:ph type="dt" sz="half" idx="10"/>
          </p:nvPr>
        </p:nvSpPr>
        <p:spPr/>
        <p:txBody>
          <a:bodyPr/>
          <a:lstStyle/>
          <a:p>
            <a:fld id="{AB55D685-FE55-43F6-ADFB-C701D51E4BE1}" type="datetime1">
              <a:rPr lang="en-US" smtClean="0"/>
              <a:t>10/14/2024</a:t>
            </a:fld>
            <a:endParaRPr lang="en-IN"/>
          </a:p>
        </p:txBody>
      </p:sp>
    </p:spTree>
    <p:extLst>
      <p:ext uri="{BB962C8B-B14F-4D97-AF65-F5344CB8AC3E}">
        <p14:creationId xmlns:p14="http://schemas.microsoft.com/office/powerpoint/2010/main" val="2737798255"/>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632103" y="814648"/>
            <a:ext cx="6307544" cy="5227378"/>
          </a:xfrm>
          <a:prstGeom prst="rect">
            <a:avLst/>
          </a:prstGeom>
        </p:spPr>
      </p:pic>
    </p:spTree>
    <p:extLst>
      <p:ext uri="{BB962C8B-B14F-4D97-AF65-F5344CB8AC3E}">
        <p14:creationId xmlns:p14="http://schemas.microsoft.com/office/powerpoint/2010/main" val="155593034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639134" y="789710"/>
            <a:ext cx="8330410" cy="4771506"/>
          </a:xfrm>
          <a:prstGeom prst="rect">
            <a:avLst/>
          </a:prstGeom>
        </p:spPr>
      </p:pic>
    </p:spTree>
    <p:extLst>
      <p:ext uri="{BB962C8B-B14F-4D97-AF65-F5344CB8AC3E}">
        <p14:creationId xmlns:p14="http://schemas.microsoft.com/office/powerpoint/2010/main" val="11592521"/>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p:cNvPicPr>
            <a:picLocks noGrp="1" noChangeAspect="1"/>
          </p:cNvPicPr>
          <p:nvPr>
            <p:ph idx="1"/>
          </p:nvPr>
        </p:nvPicPr>
        <p:blipFill>
          <a:blip r:embed="rId2"/>
          <a:stretch>
            <a:fillRect/>
          </a:stretch>
        </p:blipFill>
        <p:spPr>
          <a:xfrm>
            <a:off x="1567278" y="1014153"/>
            <a:ext cx="7049827" cy="5027873"/>
          </a:xfrm>
          <a:prstGeom prst="rect">
            <a:avLst/>
          </a:prstGeom>
        </p:spPr>
      </p:pic>
    </p:spTree>
    <p:extLst>
      <p:ext uri="{BB962C8B-B14F-4D97-AF65-F5344CB8AC3E}">
        <p14:creationId xmlns:p14="http://schemas.microsoft.com/office/powerpoint/2010/main" val="49282540"/>
      </p:ext>
    </p:extLst>
  </p:cSld>
  <p:clrMapOvr>
    <a:masterClrMapping/>
  </p:clrMapOvr>
  <p:timing>
    <p:tnLst>
      <p:par>
        <p:cTn id="1" dur="indefinite" restart="never" nodeType="tmRoot"/>
      </p:par>
    </p:tnLst>
  </p:timing>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393</TotalTime>
  <Words>2744</Words>
  <Application>Microsoft Office PowerPoint</Application>
  <PresentationFormat>Widescreen</PresentationFormat>
  <Paragraphs>217</Paragraphs>
  <Slides>33</Slides>
  <Notes>0</Notes>
  <HiddenSlides>0</HiddenSlides>
  <MMClips>0</MMClips>
  <ScaleCrop>false</ScaleCrop>
  <HeadingPairs>
    <vt:vector size="8" baseType="variant">
      <vt:variant>
        <vt:lpstr>Fonts Used</vt:lpstr>
      </vt:variant>
      <vt:variant>
        <vt:i4>6</vt:i4>
      </vt:variant>
      <vt:variant>
        <vt:lpstr>Theme</vt:lpstr>
      </vt:variant>
      <vt:variant>
        <vt:i4>1</vt:i4>
      </vt:variant>
      <vt:variant>
        <vt:lpstr>Embedded OLE Servers</vt:lpstr>
      </vt:variant>
      <vt:variant>
        <vt:i4>1</vt:i4>
      </vt:variant>
      <vt:variant>
        <vt:lpstr>Slide Titles</vt:lpstr>
      </vt:variant>
      <vt:variant>
        <vt:i4>33</vt:i4>
      </vt:variant>
    </vt:vector>
  </HeadingPairs>
  <TitlesOfParts>
    <vt:vector size="41" baseType="lpstr">
      <vt:lpstr>Arial</vt:lpstr>
      <vt:lpstr>Calibri</vt:lpstr>
      <vt:lpstr>Nunito</vt:lpstr>
      <vt:lpstr>Times New Roman</vt:lpstr>
      <vt:lpstr>Trebuchet MS</vt:lpstr>
      <vt:lpstr>Wingdings 3</vt:lpstr>
      <vt:lpstr>Facet</vt:lpstr>
      <vt:lpstr>Bitmap Image</vt:lpstr>
      <vt:lpstr>Unit 1</vt:lpstr>
      <vt:lpstr>Introduction to Cloud </vt:lpstr>
      <vt:lpstr>PowerPoint Presentation</vt:lpstr>
      <vt:lpstr>PowerPoint Presentation</vt:lpstr>
      <vt:lpstr>PowerPoint Presentation</vt:lpstr>
      <vt:lpstr>PowerPoint Presentation</vt:lpstr>
      <vt:lpstr>PowerPoint Presentation</vt:lpstr>
      <vt:lpstr>Cluster Computing</vt:lpstr>
      <vt:lpstr>Cluster Computing</vt:lpstr>
      <vt:lpstr>Difference between Cloud Computing and Cluster Computing</vt:lpstr>
      <vt:lpstr>PowerPoint Presentation</vt:lpstr>
      <vt:lpstr>Grid Computing</vt:lpstr>
      <vt:lpstr>Grid Computing</vt:lpstr>
      <vt:lpstr>Difference between Cloud Computing and Grid Computing </vt:lpstr>
      <vt:lpstr>PowerPoint Presentation</vt:lpstr>
      <vt:lpstr>Characteristics of Cloud Computing</vt:lpstr>
      <vt:lpstr>PowerPoint Presentation</vt:lpstr>
      <vt:lpstr>Advantages of Cloud Computing </vt:lpstr>
      <vt:lpstr>Disadvantages of Cloud Computing </vt:lpstr>
      <vt:lpstr>Introduction to Dockers Container </vt:lpstr>
      <vt:lpstr> Use Cases of Docker</vt:lpstr>
      <vt:lpstr>Platforms for Docker</vt:lpstr>
      <vt:lpstr>Docker Architecture</vt:lpstr>
      <vt:lpstr>PowerPoint Presentation</vt:lpstr>
      <vt:lpstr>PowerPoint Presentation</vt:lpstr>
      <vt:lpstr>PowerPoint Presentation</vt:lpstr>
      <vt:lpstr>PowerPoint Presentation</vt:lpstr>
      <vt:lpstr>How to Creating cloud  on AWS </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Administrator</dc:creator>
  <cp:lastModifiedBy>Administrator</cp:lastModifiedBy>
  <cp:revision>26</cp:revision>
  <dcterms:created xsi:type="dcterms:W3CDTF">2024-06-28T07:04:31Z</dcterms:created>
  <dcterms:modified xsi:type="dcterms:W3CDTF">2024-10-14T07:20:24Z</dcterms:modified>
</cp:coreProperties>
</file>