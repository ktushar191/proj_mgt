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1766347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100290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493724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CA23DD-0D0D-4216-B98D-87815D86003C}" type="datetimeFigureOut">
              <a:rPr lang="en-IN" smtClean="0"/>
              <a:t>12-12-2024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620689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CA23DD-0D0D-4216-B98D-87815D86003C}" type="datetimeFigureOut">
              <a:rPr lang="en-IN" smtClean="0"/>
              <a:t>12-12-2024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106362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CA23DD-0D0D-4216-B98D-87815D86003C}" type="datetimeFigureOut">
              <a:rPr lang="en-IN" smtClean="0"/>
              <a:t>12-12-2024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2761019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CA23DD-0D0D-4216-B98D-87815D86003C}" type="datetimeFigureOut">
              <a:rPr lang="en-IN" smtClean="0"/>
              <a:t>12-12-2024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2083591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CA23DD-0D0D-4216-B98D-87815D86003C}" type="datetimeFigureOut">
              <a:rPr lang="en-IN" smtClean="0"/>
              <a:t>12-12-2024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1692634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CA23DD-0D0D-4216-B98D-87815D86003C}" type="datetimeFigureOut">
              <a:rPr lang="en-IN" smtClean="0"/>
              <a:t>12-12-2024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1937858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103602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99630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1583454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25052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2037991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666099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CA23DD-0D0D-4216-B98D-87815D86003C}" type="datetimeFigureOut">
              <a:rPr lang="en-IN" smtClean="0"/>
              <a:t>12-12-2024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C9A0C-20EA-482A-AFDB-3A62B9679867}" type="slidenum">
              <a:rPr lang="en-IN" smtClean="0"/>
              <a:t>‹#›</a:t>
            </a:fld>
            <a:endParaRPr lang="en-IN"/>
          </a:p>
        </p:txBody>
      </p:sp>
    </p:spTree>
    <p:extLst>
      <p:ext uri="{BB962C8B-B14F-4D97-AF65-F5344CB8AC3E}">
        <p14:creationId xmlns:p14="http://schemas.microsoft.com/office/powerpoint/2010/main" val="2941937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FCA23DD-0D0D-4216-B98D-87815D86003C}" type="datetimeFigureOut">
              <a:rPr lang="en-IN" smtClean="0"/>
              <a:t>12-12-2024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76C9A0C-20EA-482A-AFDB-3A62B9679867}" type="slidenum">
              <a:rPr lang="en-IN" smtClean="0"/>
              <a:t>‹#›</a:t>
            </a:fld>
            <a:endParaRPr lang="en-IN"/>
          </a:p>
        </p:txBody>
      </p:sp>
    </p:spTree>
    <p:extLst>
      <p:ext uri="{BB962C8B-B14F-4D97-AF65-F5344CB8AC3E}">
        <p14:creationId xmlns:p14="http://schemas.microsoft.com/office/powerpoint/2010/main" val="25442537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culturemonkey.io/employee-engagement/employee-engagement-goals/" TargetMode="External"/><Relationship Id="rId2" Type="http://schemas.openxmlformats.org/officeDocument/2006/relationships/hyperlink" Target="https://www.culturemonkey.io/employee-engagement/employee-survey-questions-about-the-management/" TargetMode="External"/><Relationship Id="rId1" Type="http://schemas.openxmlformats.org/officeDocument/2006/relationships/slideLayout" Target="../slideLayouts/slideLayout1.xml"/><Relationship Id="rId4" Type="http://schemas.openxmlformats.org/officeDocument/2006/relationships/hyperlink" Target="https://www.culturemonkey.io/employee-engagement/leadership-communication/"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www.culturemonkey.io/resources/guides/the-what-and-the-how-of-employee-engagement/"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culturemonkey.io/employee-engagement/employee-commitment-survey/" TargetMode="External"/><Relationship Id="rId2" Type="http://schemas.openxmlformats.org/officeDocument/2006/relationships/hyperlink" Target="https://www.culturemonkey.io/employee-engagement/conflict-resolution-training/"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culturemonkey.io/employee-engagement/listening-to-employee-feedback-in-the-midst-of-a-crisis/" TargetMode="External"/><Relationship Id="rId2" Type="http://schemas.openxmlformats.org/officeDocument/2006/relationships/hyperlink" Target="https://www.culturemonkey.io/employee-engagement/employee-voice/" TargetMode="External"/><Relationship Id="rId1" Type="http://schemas.openxmlformats.org/officeDocument/2006/relationships/slideLayout" Target="../slideLayouts/slideLayout7.xml"/><Relationship Id="rId4" Type="http://schemas.openxmlformats.org/officeDocument/2006/relationships/hyperlink" Target="https://www.culturemonkey.io/employee-feedback-software/employee-feedback-channe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AA01445-06A9-4D99-225B-AFE359078AAC}"/>
              </a:ext>
            </a:extLst>
          </p:cNvPr>
          <p:cNvSpPr txBox="1"/>
          <p:nvPr/>
        </p:nvSpPr>
        <p:spPr>
          <a:xfrm>
            <a:off x="1577982" y="1682496"/>
            <a:ext cx="9029058" cy="2585323"/>
          </a:xfrm>
          <a:prstGeom prst="rect">
            <a:avLst/>
          </a:prstGeom>
          <a:noFill/>
        </p:spPr>
        <p:txBody>
          <a:bodyPr wrap="square" rtlCol="0">
            <a:spAutoFit/>
          </a:bodyPr>
          <a:lstStyle/>
          <a:p>
            <a:r>
              <a:rPr lang="en-US" sz="4800" b="1" i="0" dirty="0">
                <a:solidFill>
                  <a:srgbClr val="000C2D"/>
                </a:solidFill>
                <a:effectLst/>
                <a:latin typeface="Inter"/>
              </a:rPr>
              <a:t>Management communication: Definition and best practices to follow in the workplace</a:t>
            </a:r>
          </a:p>
          <a:p>
            <a:endParaRPr lang="en-IN" dirty="0"/>
          </a:p>
        </p:txBody>
      </p:sp>
    </p:spTree>
    <p:extLst>
      <p:ext uri="{BB962C8B-B14F-4D97-AF65-F5344CB8AC3E}">
        <p14:creationId xmlns:p14="http://schemas.microsoft.com/office/powerpoint/2010/main" val="3498211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FD450-F7FF-4235-4F49-73B2B7EC3997}"/>
              </a:ext>
            </a:extLst>
          </p:cNvPr>
          <p:cNvSpPr>
            <a:spLocks noGrp="1"/>
          </p:cNvSpPr>
          <p:nvPr>
            <p:ph type="ctrTitle"/>
          </p:nvPr>
        </p:nvSpPr>
        <p:spPr>
          <a:xfrm>
            <a:off x="950976" y="406400"/>
            <a:ext cx="9144000" cy="2387600"/>
          </a:xfrm>
        </p:spPr>
        <p:txBody>
          <a:bodyPr>
            <a:normAutofit/>
          </a:bodyPr>
          <a:lstStyle/>
          <a:p>
            <a:pPr marL="171450" indent="-171450" algn="l">
              <a:lnSpc>
                <a:spcPts val="2400"/>
              </a:lnSpc>
              <a:spcBef>
                <a:spcPts val="2400"/>
              </a:spcBef>
              <a:buFont typeface="Arial" panose="020B0604020202020204" pitchFamily="34" charset="0"/>
              <a:buChar char="•"/>
            </a:pPr>
            <a:r>
              <a:rPr lang="en-US" sz="1100" b="0" i="0" dirty="0">
                <a:solidFill>
                  <a:srgbClr val="000C2D"/>
                </a:solidFill>
                <a:effectLst/>
                <a:latin typeface="Crimson Text"/>
              </a:rPr>
              <a:t>Effective communication is the backbone of any successful organization, and in this blog, we will define </a:t>
            </a:r>
            <a:r>
              <a:rPr lang="en-US" sz="1100" b="0" i="0" u="none" strike="noStrike" dirty="0">
                <a:solidFill>
                  <a:srgbClr val="000C2D"/>
                </a:solidFill>
                <a:effectLst/>
                <a:latin typeface="Crimson Text"/>
                <a:hlinkClick r:id="rId2"/>
              </a:rPr>
              <a:t>management communication</a:t>
            </a:r>
            <a:r>
              <a:rPr lang="en-US" sz="1100" b="0" i="0" dirty="0">
                <a:solidFill>
                  <a:srgbClr val="000C2D"/>
                </a:solidFill>
                <a:effectLst/>
                <a:latin typeface="Crimson Text"/>
              </a:rPr>
              <a:t>, examine its key elements, and share best practices to improve it in your workplace.</a:t>
            </a:r>
            <a:br>
              <a:rPr lang="en-US" sz="1100" b="0" i="0" dirty="0">
                <a:solidFill>
                  <a:srgbClr val="000C2D"/>
                </a:solidFill>
                <a:effectLst/>
                <a:latin typeface="Crimson Text"/>
              </a:rPr>
            </a:br>
            <a:r>
              <a:rPr lang="en-US" sz="1100" b="0" i="0" dirty="0">
                <a:solidFill>
                  <a:srgbClr val="000C2D"/>
                </a:solidFill>
                <a:effectLst/>
                <a:latin typeface="Crimson Text"/>
              </a:rPr>
              <a:t>Management communication is the linchpin that connects top-level management with the rest of the team, providing clarity, transparency, and unity. Picture a workplace where managers keep the team updated on project progress, actively seek feedback, and make everyone feel valued! This is what effective management communication can achieve.</a:t>
            </a:r>
            <a:br>
              <a:rPr lang="en-US" sz="1100" b="0" i="0" dirty="0">
                <a:solidFill>
                  <a:srgbClr val="000C2D"/>
                </a:solidFill>
                <a:effectLst/>
                <a:latin typeface="Crimson Text"/>
              </a:rPr>
            </a:br>
            <a:r>
              <a:rPr lang="en-US" sz="1100" b="0" i="0" dirty="0">
                <a:solidFill>
                  <a:srgbClr val="000C2D"/>
                </a:solidFill>
                <a:effectLst/>
                <a:latin typeface="Crimson Text"/>
              </a:rPr>
              <a:t>Let's dive into the essentials and best practices, equipping you with the tools to nurture open and efficient communication in your organization.</a:t>
            </a:r>
            <a:br>
              <a:rPr lang="en-US" sz="800" b="0" i="0" dirty="0">
                <a:solidFill>
                  <a:srgbClr val="000C2D"/>
                </a:solidFill>
                <a:effectLst/>
                <a:latin typeface="Crimson Text"/>
              </a:rPr>
            </a:br>
            <a:endParaRPr lang="en-IN" sz="1600" dirty="0"/>
          </a:p>
        </p:txBody>
      </p:sp>
      <p:sp>
        <p:nvSpPr>
          <p:cNvPr id="3" name="Subtitle 2">
            <a:extLst>
              <a:ext uri="{FF2B5EF4-FFF2-40B4-BE49-F238E27FC236}">
                <a16:creationId xmlns:a16="http://schemas.microsoft.com/office/drawing/2014/main" id="{7CE47189-CA32-1B60-C794-9955E3A16701}"/>
              </a:ext>
            </a:extLst>
          </p:cNvPr>
          <p:cNvSpPr>
            <a:spLocks noGrp="1"/>
          </p:cNvSpPr>
          <p:nvPr>
            <p:ph type="subTitle" idx="1"/>
          </p:nvPr>
        </p:nvSpPr>
        <p:spPr>
          <a:xfrm>
            <a:off x="950976" y="2870200"/>
            <a:ext cx="10634472" cy="3402584"/>
          </a:xfrm>
        </p:spPr>
        <p:txBody>
          <a:bodyPr>
            <a:normAutofit fontScale="25000" lnSpcReduction="20000"/>
          </a:bodyPr>
          <a:lstStyle/>
          <a:p>
            <a:pPr algn="l">
              <a:lnSpc>
                <a:spcPct val="120000"/>
              </a:lnSpc>
              <a:spcBef>
                <a:spcPts val="2400"/>
              </a:spcBef>
            </a:pPr>
            <a:r>
              <a:rPr lang="en-US" sz="8000" b="0" i="0" dirty="0">
                <a:solidFill>
                  <a:srgbClr val="000C2D"/>
                </a:solidFill>
                <a:effectLst/>
                <a:latin typeface="Crimson Text"/>
              </a:rPr>
              <a:t>his dynamic process encompasses a wide array of strategies, tools, and practices that enable management to effectively convey their vision, expectations, strategies, and  </a:t>
            </a:r>
            <a:r>
              <a:rPr lang="en-US" sz="8000" b="0" i="0" u="none" strike="noStrike" dirty="0">
                <a:solidFill>
                  <a:srgbClr val="000C2D"/>
                </a:solidFill>
                <a:effectLst/>
                <a:latin typeface="Crimson Text"/>
                <a:hlinkClick r:id="rId3"/>
              </a:rPr>
              <a:t>goals and objectives</a:t>
            </a:r>
            <a:r>
              <a:rPr lang="en-US" sz="8000" b="0" i="0" dirty="0">
                <a:solidFill>
                  <a:srgbClr val="000C2D"/>
                </a:solidFill>
                <a:effectLst/>
                <a:latin typeface="Crimson Text"/>
              </a:rPr>
              <a:t> to the rest of the workforce. It is about creating a seamless flow of information that ensures everyone within the organization is on the same page.</a:t>
            </a:r>
          </a:p>
          <a:p>
            <a:pPr algn="l">
              <a:lnSpc>
                <a:spcPct val="120000"/>
              </a:lnSpc>
              <a:spcBef>
                <a:spcPts val="2400"/>
              </a:spcBef>
            </a:pPr>
            <a:r>
              <a:rPr lang="en-US" sz="8000" b="0" i="0" u="none" strike="noStrike" dirty="0">
                <a:solidFill>
                  <a:srgbClr val="000C2D"/>
                </a:solidFill>
                <a:effectLst/>
                <a:latin typeface="Crimson Text"/>
                <a:hlinkClick r:id="rId4"/>
              </a:rPr>
              <a:t>Effective management communication</a:t>
            </a:r>
            <a:r>
              <a:rPr lang="en-US" sz="8000" b="0" i="0" dirty="0">
                <a:solidFill>
                  <a:srgbClr val="000C2D"/>
                </a:solidFill>
                <a:effectLst/>
                <a:latin typeface="Crimson Text"/>
              </a:rPr>
              <a:t> doesn't just focus on the delivery of information but also the reception and interpretation of it. It involves not only speaking and writing but also active listening and understanding.</a:t>
            </a:r>
          </a:p>
          <a:p>
            <a:endParaRPr lang="en-IN" dirty="0"/>
          </a:p>
        </p:txBody>
      </p:sp>
    </p:spTree>
    <p:extLst>
      <p:ext uri="{BB962C8B-B14F-4D97-AF65-F5344CB8AC3E}">
        <p14:creationId xmlns:p14="http://schemas.microsoft.com/office/powerpoint/2010/main" val="1117505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14F2E4-7C7A-E2D7-BE17-2E4A062FF338}"/>
              </a:ext>
            </a:extLst>
          </p:cNvPr>
          <p:cNvSpPr txBox="1"/>
          <p:nvPr/>
        </p:nvSpPr>
        <p:spPr>
          <a:xfrm>
            <a:off x="841248" y="420625"/>
            <a:ext cx="10826496" cy="3652667"/>
          </a:xfrm>
          <a:prstGeom prst="rect">
            <a:avLst/>
          </a:prstGeom>
          <a:noFill/>
        </p:spPr>
        <p:txBody>
          <a:bodyPr wrap="square">
            <a:spAutoFit/>
          </a:bodyPr>
          <a:lstStyle/>
          <a:p>
            <a:pPr algn="l">
              <a:lnSpc>
                <a:spcPct val="120000"/>
              </a:lnSpc>
              <a:spcBef>
                <a:spcPts val="2400"/>
              </a:spcBef>
            </a:pPr>
            <a:r>
              <a:rPr lang="en-US" sz="1800" b="0" i="0" dirty="0">
                <a:solidFill>
                  <a:srgbClr val="000C2D"/>
                </a:solidFill>
                <a:effectLst/>
                <a:latin typeface="Crimson Text"/>
              </a:rPr>
              <a:t>It establishes a two-way channel that empowers management to not only provide guidance but also to seek feedback, address concerns, and create an inclusive environment where every team member feels valued.</a:t>
            </a:r>
          </a:p>
          <a:p>
            <a:pPr algn="l">
              <a:lnSpc>
                <a:spcPct val="120000"/>
              </a:lnSpc>
              <a:spcBef>
                <a:spcPts val="2400"/>
              </a:spcBef>
            </a:pPr>
            <a:r>
              <a:rPr lang="en-US" sz="1800" b="0" i="0" dirty="0">
                <a:solidFill>
                  <a:srgbClr val="000C2D"/>
                </a:solidFill>
                <a:effectLst/>
                <a:latin typeface="Crimson Text"/>
              </a:rPr>
              <a:t>Picture management communication as a conductor guiding an orchestra. Each instrument represents a different aspect of the organization, and the conductor's role is to ensure that each section plays harmoniously.</a:t>
            </a:r>
          </a:p>
          <a:p>
            <a:pPr algn="l">
              <a:lnSpc>
                <a:spcPct val="120000"/>
              </a:lnSpc>
              <a:spcBef>
                <a:spcPts val="2400"/>
              </a:spcBef>
            </a:pPr>
            <a:r>
              <a:rPr lang="en-US" sz="1800" b="0" i="0" dirty="0">
                <a:solidFill>
                  <a:srgbClr val="000C2D"/>
                </a:solidFill>
                <a:effectLst/>
                <a:latin typeface="Crimson Text"/>
              </a:rPr>
              <a:t>When orchestrated skillfully, management communication ensures that every part of the organization works in unison towards shared goals and objectives.</a:t>
            </a:r>
          </a:p>
          <a:p>
            <a:pPr algn="l">
              <a:lnSpc>
                <a:spcPct val="120000"/>
              </a:lnSpc>
              <a:spcBef>
                <a:spcPts val="2400"/>
              </a:spcBef>
            </a:pPr>
            <a:r>
              <a:rPr lang="en-US" sz="1800" b="0" i="0" dirty="0">
                <a:solidFill>
                  <a:srgbClr val="000C2D"/>
                </a:solidFill>
                <a:effectLst/>
                <a:latin typeface="Crimson Text"/>
              </a:rPr>
              <a:t>It is a dynamic process that goes beyond day-to-day tasks. It plays a pivotal role in shaping the organization's culture, guiding decision-making, and </a:t>
            </a:r>
            <a:r>
              <a:rPr lang="en-US" sz="1800" b="0" i="0" u="none" strike="noStrike" dirty="0">
                <a:solidFill>
                  <a:srgbClr val="000C2D"/>
                </a:solidFill>
                <a:effectLst/>
                <a:latin typeface="Crimson Text"/>
                <a:hlinkClick r:id="rId2"/>
              </a:rPr>
              <a:t>fostering employee engagement</a:t>
            </a:r>
            <a:r>
              <a:rPr lang="en-US" sz="1800" b="0" i="0" dirty="0">
                <a:solidFill>
                  <a:srgbClr val="000C2D"/>
                </a:solidFill>
                <a:effectLst/>
                <a:latin typeface="Crimson Text"/>
              </a:rPr>
              <a:t>.</a:t>
            </a:r>
          </a:p>
        </p:txBody>
      </p:sp>
    </p:spTree>
    <p:extLst>
      <p:ext uri="{BB962C8B-B14F-4D97-AF65-F5344CB8AC3E}">
        <p14:creationId xmlns:p14="http://schemas.microsoft.com/office/powerpoint/2010/main" val="935537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0A88A9-1655-A59E-67CB-8E715C1C4068}"/>
              </a:ext>
            </a:extLst>
          </p:cNvPr>
          <p:cNvSpPr txBox="1"/>
          <p:nvPr/>
        </p:nvSpPr>
        <p:spPr>
          <a:xfrm>
            <a:off x="1088136" y="543915"/>
            <a:ext cx="10634472" cy="5770169"/>
          </a:xfrm>
          <a:prstGeom prst="rect">
            <a:avLst/>
          </a:prstGeom>
          <a:noFill/>
        </p:spPr>
        <p:txBody>
          <a:bodyPr wrap="square">
            <a:spAutoFit/>
          </a:bodyPr>
          <a:lstStyle/>
          <a:p>
            <a:pPr algn="l">
              <a:lnSpc>
                <a:spcPts val="2400"/>
              </a:lnSpc>
              <a:spcBef>
                <a:spcPts val="2400"/>
              </a:spcBef>
            </a:pPr>
            <a:r>
              <a:rPr lang="en-US" b="0" i="0" dirty="0">
                <a:solidFill>
                  <a:srgbClr val="000C2D"/>
                </a:solidFill>
                <a:effectLst/>
                <a:latin typeface="Crimson Text"/>
              </a:rPr>
              <a:t>The key reasons why management communication is important:</a:t>
            </a:r>
          </a:p>
          <a:p>
            <a:pPr algn="l">
              <a:lnSpc>
                <a:spcPts val="2400"/>
              </a:lnSpc>
              <a:spcBef>
                <a:spcPts val="2400"/>
              </a:spcBef>
              <a:buFont typeface="Arial" panose="020B0604020202020204" pitchFamily="34" charset="0"/>
              <a:buChar char="•"/>
            </a:pPr>
            <a:r>
              <a:rPr lang="en-US" b="1" i="0" dirty="0">
                <a:solidFill>
                  <a:srgbClr val="000C2D"/>
                </a:solidFill>
                <a:effectLst/>
                <a:latin typeface="Crimson Text"/>
              </a:rPr>
              <a:t>Clarity and direction</a:t>
            </a:r>
            <a:r>
              <a:rPr lang="en-US" b="0" i="0" dirty="0">
                <a:solidFill>
                  <a:srgbClr val="000C2D"/>
                </a:solidFill>
                <a:effectLst/>
                <a:latin typeface="Crimson Text"/>
              </a:rPr>
              <a:t>: It provides clear directions, expectations, and goals to employees. When everyone understands management roles and what is expected of them, they can work more efficiently and effectively.</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Transparency</a:t>
            </a:r>
            <a:r>
              <a:rPr lang="en-US" b="0" i="0" dirty="0">
                <a:solidFill>
                  <a:srgbClr val="000C2D"/>
                </a:solidFill>
                <a:effectLst/>
                <a:latin typeface="Crimson Text"/>
              </a:rPr>
              <a:t>: It fosters transparency by keeping employees informed about organizational changes, strategies, and decisions. This transparency builds trust and reduces uncertainty.</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Employee engagement</a:t>
            </a:r>
            <a:r>
              <a:rPr lang="en-US" b="0" i="0" dirty="0">
                <a:solidFill>
                  <a:srgbClr val="000C2D"/>
                </a:solidFill>
                <a:effectLst/>
                <a:latin typeface="Crimson Text"/>
              </a:rPr>
              <a:t>: Effective communication makes employees feel valued and engaged. They are more likely to contribute ideas, ask questions, and participate actively when they know their voices are heard.</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Conflict resolution</a:t>
            </a:r>
            <a:r>
              <a:rPr lang="en-US" b="0" i="0" dirty="0">
                <a:solidFill>
                  <a:srgbClr val="000C2D"/>
                </a:solidFill>
                <a:effectLst/>
                <a:latin typeface="Crimson Text"/>
              </a:rPr>
              <a:t>: It serves as a platform for </a:t>
            </a:r>
            <a:r>
              <a:rPr lang="en-US" b="0" i="0" u="none" strike="noStrike" dirty="0">
                <a:solidFill>
                  <a:srgbClr val="000C2D"/>
                </a:solidFill>
                <a:effectLst/>
                <a:latin typeface="Crimson Text"/>
                <a:hlinkClick r:id="rId2"/>
              </a:rPr>
              <a:t>resolving conflicts</a:t>
            </a:r>
            <a:r>
              <a:rPr lang="en-US" b="0" i="0" dirty="0">
                <a:solidFill>
                  <a:srgbClr val="000C2D"/>
                </a:solidFill>
                <a:effectLst/>
                <a:latin typeface="Crimson Text"/>
              </a:rPr>
              <a:t>, exchange information, and addressing issues. Open communication channels allow problems to be identified and resolved quickly, preventing them from escalating.</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Enhanced productivity</a:t>
            </a:r>
            <a:r>
              <a:rPr lang="en-US" b="0" i="0" dirty="0">
                <a:solidFill>
                  <a:srgbClr val="000C2D"/>
                </a:solidFill>
                <a:effectLst/>
                <a:latin typeface="Crimson Text"/>
              </a:rPr>
              <a:t>: When there is clarity in communication, employees waste less time deciphering vague messages or seeking clarification. This boosts </a:t>
            </a:r>
            <a:r>
              <a:rPr lang="en-US" b="0" i="0" u="none" strike="noStrike" dirty="0">
                <a:solidFill>
                  <a:srgbClr val="000C2D"/>
                </a:solidFill>
                <a:effectLst/>
                <a:latin typeface="Crimson Text"/>
                <a:hlinkClick r:id="rId3"/>
              </a:rPr>
              <a:t>overall productivity</a:t>
            </a:r>
            <a:r>
              <a:rPr lang="en-US" b="0" i="0" dirty="0">
                <a:solidFill>
                  <a:srgbClr val="000C2D"/>
                </a:solidFill>
                <a:effectLst/>
                <a:latin typeface="Crimson Text"/>
              </a:rPr>
              <a:t>.</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Team cohesion</a:t>
            </a:r>
            <a:r>
              <a:rPr lang="en-US" b="0" i="0" dirty="0">
                <a:solidFill>
                  <a:srgbClr val="000C2D"/>
                </a:solidFill>
                <a:effectLst/>
                <a:latin typeface="Crimson Text"/>
              </a:rPr>
              <a:t>: Management communication brings teams together by providing a shared understanding of their roles and responsibilities, encouraging collaboration and unity.</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Innovation</a:t>
            </a:r>
            <a:r>
              <a:rPr lang="en-US" b="0" i="0" dirty="0">
                <a:solidFill>
                  <a:srgbClr val="000C2D"/>
                </a:solidFill>
                <a:effectLst/>
                <a:latin typeface="Crimson Text"/>
              </a:rPr>
              <a:t>: It promotes innovation and creativity. When employees feel comfortable sharing their ideas, it can lead to new, innovative solutions and improvements within the organization.</a:t>
            </a:r>
          </a:p>
        </p:txBody>
      </p:sp>
    </p:spTree>
    <p:extLst>
      <p:ext uri="{BB962C8B-B14F-4D97-AF65-F5344CB8AC3E}">
        <p14:creationId xmlns:p14="http://schemas.microsoft.com/office/powerpoint/2010/main" val="980281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73B968-F0F4-F494-89B0-B22452245664}"/>
              </a:ext>
            </a:extLst>
          </p:cNvPr>
          <p:cNvSpPr txBox="1"/>
          <p:nvPr/>
        </p:nvSpPr>
        <p:spPr>
          <a:xfrm>
            <a:off x="393192" y="182880"/>
            <a:ext cx="10040112" cy="4077398"/>
          </a:xfrm>
          <a:prstGeom prst="rect">
            <a:avLst/>
          </a:prstGeom>
          <a:noFill/>
        </p:spPr>
        <p:txBody>
          <a:bodyPr wrap="square">
            <a:spAutoFit/>
          </a:bodyPr>
          <a:lstStyle/>
          <a:p>
            <a:pPr algn="l">
              <a:lnSpc>
                <a:spcPts val="2400"/>
              </a:lnSpc>
              <a:spcBef>
                <a:spcPts val="2400"/>
              </a:spcBef>
            </a:pPr>
            <a:r>
              <a:rPr lang="en-US" b="0" i="0" dirty="0">
                <a:solidFill>
                  <a:srgbClr val="000C2D"/>
                </a:solidFill>
                <a:effectLst/>
                <a:latin typeface="Crimson Text"/>
              </a:rPr>
              <a:t>The key management elements of communication refers to:</a:t>
            </a:r>
          </a:p>
          <a:p>
            <a:pPr algn="l">
              <a:lnSpc>
                <a:spcPts val="2400"/>
              </a:lnSpc>
              <a:spcBef>
                <a:spcPts val="2400"/>
              </a:spcBef>
              <a:buFont typeface="Arial" panose="020B0604020202020204" pitchFamily="34" charset="0"/>
              <a:buChar char="•"/>
            </a:pPr>
            <a:r>
              <a:rPr lang="en-US" b="1" i="0" dirty="0">
                <a:solidFill>
                  <a:srgbClr val="000C2D"/>
                </a:solidFill>
                <a:effectLst/>
                <a:latin typeface="Crimson Text"/>
              </a:rPr>
              <a:t>Consistency: </a:t>
            </a:r>
            <a:r>
              <a:rPr lang="en-US" b="0" i="0" dirty="0">
                <a:solidFill>
                  <a:srgbClr val="000C2D"/>
                </a:solidFill>
                <a:effectLst/>
                <a:latin typeface="Crimson Text"/>
              </a:rPr>
              <a:t>Consistency in communication helps build trust. When employees receive consistent messages, they feel more secure and confident in their roles.</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Active listening: </a:t>
            </a:r>
            <a:r>
              <a:rPr lang="en-US" b="0" i="0" dirty="0">
                <a:solidFill>
                  <a:srgbClr val="000C2D"/>
                </a:solidFill>
                <a:effectLst/>
                <a:latin typeface="Crimson Text"/>
              </a:rPr>
              <a:t>It's not just about speaking but also about </a:t>
            </a:r>
            <a:r>
              <a:rPr lang="en-US" b="0" i="0" u="none" strike="noStrike" dirty="0">
                <a:solidFill>
                  <a:srgbClr val="000C2D"/>
                </a:solidFill>
                <a:effectLst/>
                <a:latin typeface="Crimson Text"/>
                <a:hlinkClick r:id="rId2"/>
              </a:rPr>
              <a:t>listening</a:t>
            </a:r>
            <a:r>
              <a:rPr lang="en-US" b="0" i="0" dirty="0">
                <a:solidFill>
                  <a:srgbClr val="000C2D"/>
                </a:solidFill>
                <a:effectLst/>
                <a:latin typeface="Crimson Text"/>
              </a:rPr>
              <a:t>. Managers should </a:t>
            </a:r>
            <a:r>
              <a:rPr lang="en-US" b="0" i="0" u="none" strike="noStrike" dirty="0">
                <a:solidFill>
                  <a:srgbClr val="000C2D"/>
                </a:solidFill>
                <a:effectLst/>
                <a:latin typeface="Crimson Text"/>
                <a:hlinkClick r:id="rId3"/>
              </a:rPr>
              <a:t>pay attention</a:t>
            </a:r>
            <a:r>
              <a:rPr lang="en-US" b="0" i="0" dirty="0">
                <a:solidFill>
                  <a:srgbClr val="000C2D"/>
                </a:solidFill>
                <a:effectLst/>
                <a:latin typeface="Crimson Text"/>
              </a:rPr>
              <a:t> to employees' concerns and feedback, making them feel valued.</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Feedback mechanisms</a:t>
            </a:r>
            <a:r>
              <a:rPr lang="en-US" b="0" i="0" dirty="0">
                <a:solidFill>
                  <a:srgbClr val="000C2D"/>
                </a:solidFill>
                <a:effectLst/>
                <a:latin typeface="Crimson Text"/>
              </a:rPr>
              <a:t>: </a:t>
            </a:r>
            <a:r>
              <a:rPr lang="en-US" b="0" i="0" u="none" strike="noStrike" dirty="0">
                <a:solidFill>
                  <a:srgbClr val="000C2D"/>
                </a:solidFill>
                <a:effectLst/>
                <a:latin typeface="Crimson Text"/>
                <a:hlinkClick r:id="rId4"/>
              </a:rPr>
              <a:t>Establishing channels for feedback</a:t>
            </a:r>
            <a:r>
              <a:rPr lang="en-US" b="0" i="0" dirty="0">
                <a:solidFill>
                  <a:srgbClr val="000C2D"/>
                </a:solidFill>
                <a:effectLst/>
                <a:latin typeface="Crimson Text"/>
              </a:rPr>
              <a:t> is essential. This can include regular team meetings, suggestion boxes, or digital platforms.</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Adaptability</a:t>
            </a:r>
            <a:r>
              <a:rPr lang="en-US" b="0" i="0" dirty="0">
                <a:solidFill>
                  <a:srgbClr val="000C2D"/>
                </a:solidFill>
                <a:effectLst/>
                <a:latin typeface="Crimson Text"/>
              </a:rPr>
              <a:t>: The ability to tailor communication styles to different audiences and situations is crucial. What works for one team may not work for another.</a:t>
            </a:r>
          </a:p>
          <a:p>
            <a:pPr algn="l">
              <a:lnSpc>
                <a:spcPts val="2400"/>
              </a:lnSpc>
              <a:spcBef>
                <a:spcPts val="600"/>
              </a:spcBef>
              <a:buFont typeface="Arial" panose="020B0604020202020204" pitchFamily="34" charset="0"/>
              <a:buChar char="•"/>
            </a:pPr>
            <a:r>
              <a:rPr lang="en-US" b="1" i="0" dirty="0">
                <a:solidFill>
                  <a:srgbClr val="000C2D"/>
                </a:solidFill>
                <a:effectLst/>
                <a:latin typeface="Crimson Text"/>
              </a:rPr>
              <a:t>Clarity</a:t>
            </a:r>
            <a:r>
              <a:rPr lang="en-US" b="0" i="0" dirty="0">
                <a:solidFill>
                  <a:srgbClr val="000C2D"/>
                </a:solidFill>
                <a:effectLst/>
                <a:latin typeface="Crimson Text"/>
              </a:rPr>
              <a:t>: Messages must be clear and concise. Ambiguity can lead to misunderstandings, errors, and frustration.</a:t>
            </a:r>
          </a:p>
        </p:txBody>
      </p:sp>
    </p:spTree>
    <p:extLst>
      <p:ext uri="{BB962C8B-B14F-4D97-AF65-F5344CB8AC3E}">
        <p14:creationId xmlns:p14="http://schemas.microsoft.com/office/powerpoint/2010/main" val="34636669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TotalTime>
  <Words>699</Words>
  <Application>Microsoft Office PowerPoint</Application>
  <PresentationFormat>Widescreen</PresentationFormat>
  <Paragraphs>22</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Crimson Text</vt:lpstr>
      <vt:lpstr>Inter</vt:lpstr>
      <vt:lpstr>Trebuchet MS</vt:lpstr>
      <vt:lpstr>Wingdings 3</vt:lpstr>
      <vt:lpstr>Facet</vt:lpstr>
      <vt:lpstr>PowerPoint Presentation</vt:lpstr>
      <vt:lpstr>Effective communication is the backbone of any successful organization, and in this blog, we will define management communication, examine its key elements, and share best practices to improve it in your workplace. Management communication is the linchpin that connects top-level management with the rest of the team, providing clarity, transparency, and unity. Picture a workplace where managers keep the team updated on project progress, actively seek feedback, and make everyone feel valued! This is what effective management communication can achieve. Let's dive into the essentials and best practices, equipping you with the tools to nurture open and efficient communication in your organization.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iims.lab01.05@outlook.com</dc:creator>
  <cp:lastModifiedBy>iims.lab01.05@outlook.com</cp:lastModifiedBy>
  <cp:revision>1</cp:revision>
  <dcterms:created xsi:type="dcterms:W3CDTF">2024-12-12T10:30:27Z</dcterms:created>
  <dcterms:modified xsi:type="dcterms:W3CDTF">2024-12-12T10:34:58Z</dcterms:modified>
</cp:coreProperties>
</file>