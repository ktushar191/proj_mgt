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4"/>
  </p:notesMasterIdLst>
  <p:sldIdLst>
    <p:sldId id="256" r:id="rId5"/>
    <p:sldId id="263" r:id="rId6"/>
    <p:sldId id="265" r:id="rId7"/>
    <p:sldId id="266" r:id="rId8"/>
    <p:sldId id="264" r:id="rId9"/>
    <p:sldId id="268" r:id="rId10"/>
    <p:sldId id="269" r:id="rId11"/>
    <p:sldId id="270" r:id="rId12"/>
    <p:sldId id="271" r:id="rId13"/>
    <p:sldId id="272" r:id="rId14"/>
    <p:sldId id="273" r:id="rId15"/>
    <p:sldId id="267" r:id="rId16"/>
    <p:sldId id="278" r:id="rId17"/>
    <p:sldId id="274" r:id="rId18"/>
    <p:sldId id="275" r:id="rId19"/>
    <p:sldId id="276" r:id="rId20"/>
    <p:sldId id="285" r:id="rId21"/>
    <p:sldId id="277" r:id="rId22"/>
    <p:sldId id="279" r:id="rId23"/>
    <p:sldId id="280" r:id="rId24"/>
    <p:sldId id="281" r:id="rId25"/>
    <p:sldId id="282" r:id="rId26"/>
    <p:sldId id="283" r:id="rId27"/>
    <p:sldId id="284" r:id="rId28"/>
    <p:sldId id="287" r:id="rId29"/>
    <p:sldId id="288" r:id="rId30"/>
    <p:sldId id="289" r:id="rId31"/>
    <p:sldId id="290" r:id="rId32"/>
    <p:sldId id="291" r:id="rId33"/>
    <p:sldId id="292" r:id="rId34"/>
    <p:sldId id="293" r:id="rId35"/>
    <p:sldId id="294" r:id="rId36"/>
    <p:sldId id="295" r:id="rId37"/>
    <p:sldId id="303" r:id="rId38"/>
    <p:sldId id="296" r:id="rId39"/>
    <p:sldId id="297" r:id="rId40"/>
    <p:sldId id="298" r:id="rId41"/>
    <p:sldId id="299" r:id="rId42"/>
    <p:sldId id="304" r:id="rId43"/>
    <p:sldId id="305" r:id="rId44"/>
    <p:sldId id="301" r:id="rId45"/>
    <p:sldId id="302" r:id="rId46"/>
    <p:sldId id="306" r:id="rId47"/>
    <p:sldId id="308" r:id="rId48"/>
    <p:sldId id="311" r:id="rId49"/>
    <p:sldId id="310" r:id="rId50"/>
    <p:sldId id="307" r:id="rId51"/>
    <p:sldId id="309" r:id="rId52"/>
    <p:sldId id="286"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4E0D4D-C2DE-E24A-FF55-95ED56287EC8}" v="14" dt="2023-01-19T07:28:28.0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82" autoAdjust="0"/>
    <p:restoredTop sz="94579" autoAdjust="0"/>
  </p:normalViewPr>
  <p:slideViewPr>
    <p:cSldViewPr>
      <p:cViewPr varScale="1">
        <p:scale>
          <a:sx n="69" d="100"/>
          <a:sy n="69" d="100"/>
        </p:scale>
        <p:origin x="-1404"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7828"/>
    </p:cViewPr>
  </p:sorterViewPr>
  <p:notesViewPr>
    <p:cSldViewPr>
      <p:cViewPr varScale="1">
        <p:scale>
          <a:sx n="53" d="100"/>
          <a:sy n="53" d="100"/>
        </p:scale>
        <p:origin x="-289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I CHALAK" userId="S::mc21005@iims.ac.in::224dd22a-a401-418f-94a8-ed008f158e8d" providerId="AD" clId="Web-{624E0D4D-C2DE-E24A-FF55-95ED56287EC8}"/>
    <pc:docChg chg="modSld">
      <pc:chgData name="GAURI CHALAK" userId="S::mc21005@iims.ac.in::224dd22a-a401-418f-94a8-ed008f158e8d" providerId="AD" clId="Web-{624E0D4D-C2DE-E24A-FF55-95ED56287EC8}" dt="2023-01-19T07:28:28.028" v="9" actId="20577"/>
      <pc:docMkLst>
        <pc:docMk/>
      </pc:docMkLst>
      <pc:sldChg chg="modSp">
        <pc:chgData name="GAURI CHALAK" userId="S::mc21005@iims.ac.in::224dd22a-a401-418f-94a8-ed008f158e8d" providerId="AD" clId="Web-{624E0D4D-C2DE-E24A-FF55-95ED56287EC8}" dt="2023-01-19T07:28:28.028" v="9" actId="20577"/>
        <pc:sldMkLst>
          <pc:docMk/>
          <pc:sldMk cId="2417198442" sldId="264"/>
        </pc:sldMkLst>
        <pc:spChg chg="mod">
          <ac:chgData name="GAURI CHALAK" userId="S::mc21005@iims.ac.in::224dd22a-a401-418f-94a8-ed008f158e8d" providerId="AD" clId="Web-{624E0D4D-C2DE-E24A-FF55-95ED56287EC8}" dt="2023-01-19T07:28:28.028" v="9" actId="20577"/>
          <ac:spMkLst>
            <pc:docMk/>
            <pc:sldMk cId="2417198442" sldId="264"/>
            <ac:spMk id="4" creationId="{00000000-0000-0000-0000-000000000000}"/>
          </ac:spMkLst>
        </pc:spChg>
        <pc:graphicFrameChg chg="mod modGraphic">
          <ac:chgData name="GAURI CHALAK" userId="S::mc21005@iims.ac.in::224dd22a-a401-418f-94a8-ed008f158e8d" providerId="AD" clId="Web-{624E0D4D-C2DE-E24A-FF55-95ED56287EC8}" dt="2023-01-19T07:28:07.949" v="7"/>
          <ac:graphicFrameMkLst>
            <pc:docMk/>
            <pc:sldMk cId="2417198442" sldId="264"/>
            <ac:graphicFrameMk id="10" creationId="{00000000-0000-0000-0000-000000000000}"/>
          </ac:graphicFrameMkLst>
        </pc:graphicFrameChg>
      </pc:sldChg>
      <pc:sldChg chg="modSp">
        <pc:chgData name="GAURI CHALAK" userId="S::mc21005@iims.ac.in::224dd22a-a401-418f-94a8-ed008f158e8d" providerId="AD" clId="Web-{624E0D4D-C2DE-E24A-FF55-95ED56287EC8}" dt="2023-01-19T07:08:33.159" v="3" actId="20577"/>
        <pc:sldMkLst>
          <pc:docMk/>
          <pc:sldMk cId="0" sldId="266"/>
        </pc:sldMkLst>
        <pc:spChg chg="mod">
          <ac:chgData name="GAURI CHALAK" userId="S::mc21005@iims.ac.in::224dd22a-a401-418f-94a8-ed008f158e8d" providerId="AD" clId="Web-{624E0D4D-C2DE-E24A-FF55-95ED56287EC8}" dt="2023-01-19T07:08:33.159" v="3" actId="20577"/>
          <ac:spMkLst>
            <pc:docMk/>
            <pc:sldMk cId="0" sldId="26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16D387-EF21-45B6-AA3C-6894DB3B0FE9}" type="datetimeFigureOut">
              <a:rPr lang="en-US" smtClean="0"/>
              <a:pPr/>
              <a:t>1/18/2023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052A5A-0C8F-4A81-A92E-FFA699E934D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8052A5A-0C8F-4A81-A92E-FFA699E934D8}"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4BE3E1C-C536-4822-AB4C-668EBF46D2FA}" type="datetime1">
              <a:rPr lang="en-US" smtClean="0"/>
              <a:pPr/>
              <a:t>1/18/2023</a:t>
            </a:fld>
            <a:endParaRPr lang="en-US"/>
          </a:p>
        </p:txBody>
      </p:sp>
      <p:sp>
        <p:nvSpPr>
          <p:cNvPr id="5" name="Footer Placeholder 4"/>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FE317B-4413-4FCE-8687-8BE65728CB93}" type="datetime1">
              <a:rPr lang="en-US" smtClean="0"/>
              <a:pPr/>
              <a:t>1/18/2023</a:t>
            </a:fld>
            <a:endParaRPr lang="en-US"/>
          </a:p>
        </p:txBody>
      </p:sp>
      <p:sp>
        <p:nvSpPr>
          <p:cNvPr id="5" name="Footer Placeholder 4"/>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17CCDD-F284-481F-B5FA-99931F638067}" type="datetime1">
              <a:rPr lang="en-US" smtClean="0"/>
              <a:pPr/>
              <a:t>1/18/2023</a:t>
            </a:fld>
            <a:endParaRPr lang="en-US"/>
          </a:p>
        </p:txBody>
      </p:sp>
      <p:sp>
        <p:nvSpPr>
          <p:cNvPr id="5" name="Footer Placeholder 4"/>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BB04610-A9F4-446E-9922-FB3ADF019CF9}" type="datetime1">
              <a:rPr lang="en-US" smtClean="0"/>
              <a:pPr/>
              <a:t>1/18/2023</a:t>
            </a:fld>
            <a:endParaRPr lang="en-US"/>
          </a:p>
        </p:txBody>
      </p:sp>
      <p:sp>
        <p:nvSpPr>
          <p:cNvPr id="6" name="Footer Placeholder 5"/>
          <p:cNvSpPr>
            <a:spLocks noGrp="1"/>
          </p:cNvSpPr>
          <p:nvPr>
            <p:ph type="ftr" sz="quarter" idx="11"/>
          </p:nvPr>
        </p:nvSpPr>
        <p:spPr/>
        <p:txBody>
          <a:bodyPr/>
          <a:lstStyle/>
          <a:p>
            <a:r>
              <a:rPr lang="en-US"/>
              <a:t>Prof. Prashant Wadkar</a:t>
            </a:r>
          </a:p>
        </p:txBody>
      </p:sp>
      <p:sp>
        <p:nvSpPr>
          <p:cNvPr id="7" name="Slide Number Placeholder 6"/>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1C9D8F-AFF8-4EE2-A92C-C5638EB87901}" type="datetime1">
              <a:rPr lang="en-US" smtClean="0"/>
              <a:pPr/>
              <a:t>1/18/2023</a:t>
            </a:fld>
            <a:endParaRPr lang="en-US"/>
          </a:p>
        </p:txBody>
      </p:sp>
      <p:sp>
        <p:nvSpPr>
          <p:cNvPr id="8" name="Footer Placeholder 7"/>
          <p:cNvSpPr>
            <a:spLocks noGrp="1"/>
          </p:cNvSpPr>
          <p:nvPr>
            <p:ph type="ftr" sz="quarter" idx="11"/>
          </p:nvPr>
        </p:nvSpPr>
        <p:spPr/>
        <p:txBody>
          <a:bodyPr/>
          <a:lstStyle/>
          <a:p>
            <a:r>
              <a:rPr lang="en-US"/>
              <a:t>Prof. Prashant Wadkar</a:t>
            </a:r>
          </a:p>
        </p:txBody>
      </p:sp>
      <p:sp>
        <p:nvSpPr>
          <p:cNvPr id="9" name="Slide Number Placeholder 8"/>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7C2645-837F-419D-9B72-0141D6044BFD}"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5" name="Slide Number Placeholder 4"/>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B25C34-8550-4364-8C03-F40660D7AE17}" type="datetime1">
              <a:rPr lang="en-US" smtClean="0"/>
              <a:pPr/>
              <a:t>1/18/2023</a:t>
            </a:fld>
            <a:endParaRPr lang="en-US"/>
          </a:p>
        </p:txBody>
      </p:sp>
      <p:sp>
        <p:nvSpPr>
          <p:cNvPr id="3" name="Footer Placeholder 2"/>
          <p:cNvSpPr>
            <a:spLocks noGrp="1"/>
          </p:cNvSpPr>
          <p:nvPr>
            <p:ph type="ftr" sz="quarter" idx="11"/>
          </p:nvPr>
        </p:nvSpPr>
        <p:spPr/>
        <p:txBody>
          <a:bodyPr/>
          <a:lstStyle/>
          <a:p>
            <a:r>
              <a:rPr lang="en-US"/>
              <a:t>Prof. Prashant Wadkar</a:t>
            </a:r>
          </a:p>
        </p:txBody>
      </p:sp>
      <p:sp>
        <p:nvSpPr>
          <p:cNvPr id="4" name="Slide Number Placeholder 3"/>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EEF7D2-56F2-479F-8CB2-DE7DB69F4F31}" type="datetime1">
              <a:rPr lang="en-US" smtClean="0"/>
              <a:pPr/>
              <a:t>1/18/2023</a:t>
            </a:fld>
            <a:endParaRPr lang="en-US"/>
          </a:p>
        </p:txBody>
      </p:sp>
      <p:sp>
        <p:nvSpPr>
          <p:cNvPr id="6" name="Footer Placeholder 5"/>
          <p:cNvSpPr>
            <a:spLocks noGrp="1"/>
          </p:cNvSpPr>
          <p:nvPr>
            <p:ph type="ftr" sz="quarter" idx="11"/>
          </p:nvPr>
        </p:nvSpPr>
        <p:spPr/>
        <p:txBody>
          <a:bodyPr/>
          <a:lstStyle/>
          <a:p>
            <a:r>
              <a:rPr lang="en-US"/>
              <a:t>Prof. Prashant Wadkar</a:t>
            </a:r>
          </a:p>
        </p:txBody>
      </p:sp>
      <p:sp>
        <p:nvSpPr>
          <p:cNvPr id="7" name="Slide Number Placeholder 6"/>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3AE664-3F01-4178-A47C-FC6B1C1C4410}" type="datetime1">
              <a:rPr lang="en-US" smtClean="0"/>
              <a:pPr/>
              <a:t>1/18/2023</a:t>
            </a:fld>
            <a:endParaRPr lang="en-US"/>
          </a:p>
        </p:txBody>
      </p:sp>
      <p:sp>
        <p:nvSpPr>
          <p:cNvPr id="6" name="Footer Placeholder 5"/>
          <p:cNvSpPr>
            <a:spLocks noGrp="1"/>
          </p:cNvSpPr>
          <p:nvPr>
            <p:ph type="ftr" sz="quarter" idx="11"/>
          </p:nvPr>
        </p:nvSpPr>
        <p:spPr/>
        <p:txBody>
          <a:bodyPr/>
          <a:lstStyle/>
          <a:p>
            <a:r>
              <a:rPr lang="en-US"/>
              <a:t>Prof. Prashant Wadkar</a:t>
            </a:r>
          </a:p>
        </p:txBody>
      </p:sp>
      <p:sp>
        <p:nvSpPr>
          <p:cNvPr id="7" name="Slide Number Placeholder 6"/>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897CD8-C7B1-4928-88FD-05F908F3396E}" type="datetime1">
              <a:rPr lang="en-US" smtClean="0"/>
              <a:pPr/>
              <a:t>1/18/2023</a:t>
            </a:fld>
            <a:endParaRPr lang="en-US"/>
          </a:p>
        </p:txBody>
      </p:sp>
      <p:sp>
        <p:nvSpPr>
          <p:cNvPr id="5" name="Footer Placeholder 4"/>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0384B6-D3AD-418A-8162-3A529C890254}" type="datetime1">
              <a:rPr lang="en-US" smtClean="0"/>
              <a:pPr/>
              <a:t>1/18/2023</a:t>
            </a:fld>
            <a:endParaRPr lang="en-US"/>
          </a:p>
        </p:txBody>
      </p:sp>
      <p:sp>
        <p:nvSpPr>
          <p:cNvPr id="5" name="Footer Placeholder 4"/>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8488C4"/>
            </a:gs>
            <a:gs pos="53000">
              <a:srgbClr val="D4DEFF"/>
            </a:gs>
            <a:gs pos="83000">
              <a:srgbClr val="D4DEFF"/>
            </a:gs>
            <a:gs pos="100000">
              <a:srgbClr val="96AB94"/>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7339D-D6F6-4206-B5ED-39C2600C272A}" type="datetime1">
              <a:rPr lang="en-US" smtClean="0"/>
              <a:pPr/>
              <a:t>1/18/2023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Prof. Prashant Wadkar</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5C76C4-C5C4-4BD3-AB93-373A4602CB55}" type="slidenum">
              <a:rPr lang="en-US" smtClean="0"/>
              <a:pPr/>
              <a:t>‹#›</a:t>
            </a:fld>
            <a:endParaRPr lang="en-US"/>
          </a:p>
        </p:txBody>
      </p:sp>
      <p:pic>
        <p:nvPicPr>
          <p:cNvPr id="8" name="Picture 7" descr="https://lh6.googleusercontent.com/OMYAKg7g5iTluy6Gm9oz11TBw9XDvGEc0iuGBsazQynb_Ge2-h_vIzXSxLyyptW3o18f8nQ5iqT_dncNkiM8Mg2TqEFuDiLkWPU34O_qdnu_h9AX0YoZR6FsgliVM5GVErjSTiUtQYk--ijioWo"/>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9422"/>
            <a:ext cx="933450" cy="495300"/>
          </a:xfrm>
          <a:prstGeom prst="rect">
            <a:avLst/>
          </a:prstGeom>
          <a:noFill/>
          <a:ln>
            <a:noFill/>
          </a:ln>
        </p:spPr>
      </p:pic>
      <p:pic>
        <p:nvPicPr>
          <p:cNvPr id="9" name="Picture 8" descr="https://lh5.googleusercontent.com/fi_CkP4gEpRIcq45Ri6OYrRymdb737vzfiHelqC4oyeyHrdwBu0SLcFru6_j2vKckbM8cTvgQ1uem3JzQi5bIenaHtNcTz7qXJ0YHF1hbDMy5zWOKTznyocTa3OKiunGpz89s4dvgeCFZr2Ua2s"/>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8401050" y="50372"/>
            <a:ext cx="666750" cy="533400"/>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www.nibusinessinfo.co.uk/content/risks-and-limitations-artificial-intelligence-business" TargetMode="External"/><Relationship Id="rId2" Type="http://schemas.openxmlformats.org/officeDocument/2006/relationships/hyperlink" Target="https://medium.com/myroadtoartificialintelligence/branches-of-artificial-intelligence-812b8e292cdb"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1905000"/>
            <a:ext cx="8077200" cy="3200400"/>
          </a:xfrm>
        </p:spPr>
        <p:txBody>
          <a:bodyPr>
            <a:noAutofit/>
          </a:bodyPr>
          <a:lstStyle/>
          <a:p>
            <a:r>
              <a:rPr lang="en-US" sz="3600" b="1" dirty="0">
                <a:solidFill>
                  <a:srgbClr val="FF0000"/>
                </a:solidFill>
                <a:latin typeface="Times New Roman" pitchFamily="18" charset="0"/>
                <a:cs typeface="Times New Roman" pitchFamily="18" charset="0"/>
              </a:rPr>
              <a:t>Course : MCA </a:t>
            </a:r>
            <a:r>
              <a:rPr lang="en-US" sz="3600" b="1" dirty="0" err="1">
                <a:solidFill>
                  <a:srgbClr val="FF0000"/>
                </a:solidFill>
                <a:latin typeface="Times New Roman" pitchFamily="18" charset="0"/>
                <a:cs typeface="Times New Roman" pitchFamily="18" charset="0"/>
              </a:rPr>
              <a:t>Sem</a:t>
            </a:r>
            <a:r>
              <a:rPr lang="en-US" sz="3600" b="1" dirty="0">
                <a:solidFill>
                  <a:srgbClr val="FF0000"/>
                </a:solidFill>
                <a:latin typeface="Times New Roman" pitchFamily="18" charset="0"/>
                <a:cs typeface="Times New Roman" pitchFamily="18" charset="0"/>
              </a:rPr>
              <a:t> III</a:t>
            </a:r>
          </a:p>
          <a:p>
            <a:endParaRPr lang="en-US" sz="3600" b="1" dirty="0">
              <a:solidFill>
                <a:schemeClr val="tx1"/>
              </a:solidFill>
              <a:latin typeface="Times New Roman" pitchFamily="18" charset="0"/>
              <a:cs typeface="Times New Roman" pitchFamily="18" charset="0"/>
            </a:endParaRPr>
          </a:p>
          <a:p>
            <a:r>
              <a:rPr lang="en-US" sz="3600" b="1" dirty="0">
                <a:solidFill>
                  <a:srgbClr val="0070C0"/>
                </a:solidFill>
                <a:latin typeface="Times New Roman" pitchFamily="18" charset="0"/>
                <a:cs typeface="Times New Roman" pitchFamily="18" charset="0"/>
              </a:rPr>
              <a:t>Subject : KR-AI-ML-DL</a:t>
            </a:r>
          </a:p>
          <a:p>
            <a:r>
              <a:rPr lang="en-US" sz="1800" b="1" dirty="0">
                <a:solidFill>
                  <a:schemeClr val="tx1"/>
                </a:solidFill>
                <a:latin typeface="Times New Roman" pitchFamily="18" charset="0"/>
                <a:cs typeface="Times New Roman" pitchFamily="18" charset="0"/>
              </a:rPr>
              <a:t>( Subject Code :</a:t>
            </a:r>
            <a:r>
              <a:rPr lang="en-IN" sz="1800" b="1" dirty="0">
                <a:solidFill>
                  <a:schemeClr val="tx1"/>
                </a:solidFill>
                <a:latin typeface="Times New Roman" pitchFamily="18" charset="0"/>
                <a:cs typeface="Times New Roman" pitchFamily="18" charset="0"/>
              </a:rPr>
              <a:t>IT-34</a:t>
            </a:r>
            <a:r>
              <a:rPr lang="en-US" sz="1800" b="1" dirty="0">
                <a:solidFill>
                  <a:schemeClr val="tx1"/>
                </a:solidFill>
                <a:latin typeface="Times New Roman" pitchFamily="18" charset="0"/>
                <a:cs typeface="Times New Roman" pitchFamily="18" charset="0"/>
              </a:rPr>
              <a:t>  ) </a:t>
            </a:r>
          </a:p>
        </p:txBody>
      </p:sp>
      <p:sp>
        <p:nvSpPr>
          <p:cNvPr id="5" name="Date Placeholder 4"/>
          <p:cNvSpPr>
            <a:spLocks noGrp="1"/>
          </p:cNvSpPr>
          <p:nvPr>
            <p:ph type="dt" sz="half" idx="10"/>
          </p:nvPr>
        </p:nvSpPr>
        <p:spPr/>
        <p:txBody>
          <a:bodyPr/>
          <a:lstStyle/>
          <a:p>
            <a:fld id="{FB4EB148-F81A-4F41-8369-2A7843DD5B9F}"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p:txBody>
          <a:bodyPr/>
          <a:lstStyle/>
          <a:p>
            <a:fld id="{025C76C4-C5C4-4BD3-AB93-373A4602CB55}"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br>
              <a:rPr lang="en-US" dirty="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500034" y="1500174"/>
            <a:ext cx="8215370" cy="3554819"/>
          </a:xfrm>
          <a:prstGeom prst="rect">
            <a:avLst/>
          </a:prstGeom>
        </p:spPr>
        <p:txBody>
          <a:bodyPr wrap="square">
            <a:spAutoFit/>
          </a:bodyPr>
          <a:lstStyle/>
          <a:p>
            <a:pPr algn="just"/>
            <a:r>
              <a:rPr lang="en-IN" sz="3600" dirty="0">
                <a:solidFill>
                  <a:srgbClr val="0070C0"/>
                </a:solidFill>
              </a:rPr>
              <a:t>Course Outcomes</a:t>
            </a:r>
            <a:r>
              <a:rPr lang="en-US" sz="3600" dirty="0">
                <a:solidFill>
                  <a:srgbClr val="0070C0"/>
                </a:solidFill>
              </a:rPr>
              <a:t>:</a:t>
            </a:r>
          </a:p>
          <a:p>
            <a:pPr>
              <a:lnSpc>
                <a:spcPct val="150000"/>
              </a:lnSpc>
            </a:pPr>
            <a:r>
              <a:rPr lang="en-IN" dirty="0"/>
              <a:t>CO1: Understand basic building block of Artificial Intelligence and Knowledge</a:t>
            </a:r>
          </a:p>
          <a:p>
            <a:pPr>
              <a:lnSpc>
                <a:spcPct val="150000"/>
              </a:lnSpc>
            </a:pPr>
            <a:r>
              <a:rPr lang="en-IN" dirty="0"/>
              <a:t>Representation. (Understand)</a:t>
            </a:r>
          </a:p>
          <a:p>
            <a:pPr>
              <a:lnSpc>
                <a:spcPct val="150000"/>
              </a:lnSpc>
            </a:pPr>
            <a:r>
              <a:rPr lang="en-IN" dirty="0"/>
              <a:t>CO2: Apply Propositional Logic for knowledge representation. (Apply)</a:t>
            </a:r>
          </a:p>
          <a:p>
            <a:pPr>
              <a:lnSpc>
                <a:spcPct val="150000"/>
              </a:lnSpc>
            </a:pPr>
            <a:r>
              <a:rPr lang="en-IN" dirty="0"/>
              <a:t>CO3: Design various models based on Machine Learning methodology (Apply)</a:t>
            </a:r>
          </a:p>
          <a:p>
            <a:pPr>
              <a:lnSpc>
                <a:spcPct val="150000"/>
              </a:lnSpc>
            </a:pPr>
            <a:r>
              <a:rPr lang="en-IN" dirty="0"/>
              <a:t>CO4: Design various models based on Deep Learning methodology (Apply)</a:t>
            </a:r>
          </a:p>
          <a:p>
            <a:pPr>
              <a:lnSpc>
                <a:spcPct val="150000"/>
              </a:lnSpc>
            </a:pPr>
            <a:r>
              <a:rPr lang="en-IN" dirty="0"/>
              <a:t>CO5: Understand various hardware and software aspect used for AI and its</a:t>
            </a:r>
          </a:p>
          <a:p>
            <a:pPr>
              <a:lnSpc>
                <a:spcPct val="150000"/>
              </a:lnSpc>
            </a:pPr>
            <a:r>
              <a:rPr lang="en-IN" dirty="0"/>
              <a:t>application. (Understand)</a:t>
            </a:r>
            <a:endParaRPr lang="en-US" dirty="0"/>
          </a:p>
        </p:txBody>
      </p:sp>
      <p:sp>
        <p:nvSpPr>
          <p:cNvPr id="11" name="Title 1"/>
          <p:cNvSpPr txBox="1">
            <a:spLocks/>
          </p:cNvSpPr>
          <p:nvPr/>
        </p:nvSpPr>
        <p:spPr>
          <a:xfrm>
            <a:off x="642910" y="714356"/>
            <a:ext cx="7958166" cy="471470"/>
          </a:xfrm>
          <a:prstGeom prst="rect">
            <a:avLst/>
          </a:prstGeom>
        </p:spPr>
        <p:txBody>
          <a:bodyPr vert="horz" lIns="91440" tIns="45720" rIns="91440" bIns="45720" rtlCol="0" anchor="ctr">
            <a:noAutofit/>
          </a:bodyPr>
          <a:lstStyle/>
          <a:p>
            <a:pPr lvl="0" algn="ctr">
              <a:spcBef>
                <a:spcPct val="0"/>
              </a:spcBef>
            </a:pPr>
            <a:r>
              <a:rPr lang="en-US" sz="2400" b="1" dirty="0">
                <a:solidFill>
                  <a:srgbClr val="0070C0"/>
                </a:solidFill>
                <a:latin typeface="Times New Roman" pitchFamily="18" charset="0"/>
                <a:cs typeface="Times New Roman" pitchFamily="18" charset="0"/>
              </a:rPr>
              <a:t>Subject : </a:t>
            </a:r>
            <a:r>
              <a:rPr kumimoji="0" lang="en-IN" sz="2400" b="0" i="0" u="none" strike="noStrike" kern="1200" cap="none" spc="0" normalizeH="0" baseline="0" noProof="0" dirty="0">
                <a:ln>
                  <a:noFill/>
                </a:ln>
                <a:solidFill>
                  <a:srgbClr val="FF0000"/>
                </a:solidFill>
                <a:effectLst/>
                <a:uLnTx/>
                <a:uFillTx/>
                <a:latin typeface="+mj-lt"/>
                <a:ea typeface="+mj-ea"/>
                <a:cs typeface="+mj-cs"/>
              </a:rPr>
              <a:t>KR-AI-ML-DL</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241719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br>
              <a:rPr lang="en-US" dirty="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357158" y="1785926"/>
            <a:ext cx="8143932" cy="4093428"/>
          </a:xfrm>
          <a:prstGeom prst="rect">
            <a:avLst/>
          </a:prstGeom>
        </p:spPr>
        <p:txBody>
          <a:bodyPr wrap="square">
            <a:spAutoFit/>
          </a:bodyPr>
          <a:lstStyle/>
          <a:p>
            <a:r>
              <a:rPr lang="en-IN" sz="2000" dirty="0"/>
              <a:t>Artificial Intelligence and Knowledge representation</a:t>
            </a:r>
          </a:p>
          <a:p>
            <a:r>
              <a:rPr lang="en-IN" sz="2000" dirty="0"/>
              <a:t>1.1. Introduction to Artificial Intelligence and its evolution.</a:t>
            </a:r>
          </a:p>
          <a:p>
            <a:r>
              <a:rPr lang="en-IN" sz="2000" dirty="0"/>
              <a:t>1.2. What is Intelligence and Artificial Intelligence</a:t>
            </a:r>
          </a:p>
          <a:p>
            <a:r>
              <a:rPr lang="en-IN" sz="2000" dirty="0"/>
              <a:t>1.3. How AI is affecting on real life?</a:t>
            </a:r>
          </a:p>
          <a:p>
            <a:r>
              <a:rPr lang="en-IN" sz="2000" dirty="0"/>
              <a:t>1.4. Different branches of AI</a:t>
            </a:r>
          </a:p>
          <a:p>
            <a:r>
              <a:rPr lang="en-IN" sz="2000" dirty="0"/>
              <a:t>1.5. Limitations of AI</a:t>
            </a:r>
          </a:p>
          <a:p>
            <a:r>
              <a:rPr lang="en-IN" sz="2000" dirty="0"/>
              <a:t>1.6. Need of knowledge Representation</a:t>
            </a:r>
          </a:p>
          <a:p>
            <a:r>
              <a:rPr lang="en-IN" sz="2000" dirty="0"/>
              <a:t>1.7. Knowledge Representation and Mapping schemes</a:t>
            </a:r>
          </a:p>
          <a:p>
            <a:r>
              <a:rPr lang="en-IN" sz="2000" dirty="0"/>
              <a:t>1.8. Properties of good knowledge-based system</a:t>
            </a:r>
          </a:p>
          <a:p>
            <a:r>
              <a:rPr lang="en-IN" sz="2000" dirty="0"/>
              <a:t>1.9. Types of knowledge</a:t>
            </a:r>
          </a:p>
          <a:p>
            <a:r>
              <a:rPr lang="en-IN" sz="2000" dirty="0"/>
              <a:t>1.10. Knowledge Representation issues</a:t>
            </a:r>
          </a:p>
          <a:p>
            <a:r>
              <a:rPr lang="en-IN" sz="2000" dirty="0"/>
              <a:t>1.11. AND-OR Graph</a:t>
            </a:r>
          </a:p>
          <a:p>
            <a:r>
              <a:rPr lang="en-IN" sz="2000" dirty="0"/>
              <a:t>1.12. The </a:t>
            </a:r>
            <a:r>
              <a:rPr lang="en-IN" sz="2000" dirty="0" err="1"/>
              <a:t>Wumpus</a:t>
            </a:r>
            <a:r>
              <a:rPr lang="en-IN" sz="2000" dirty="0"/>
              <a:t> World</a:t>
            </a:r>
          </a:p>
        </p:txBody>
      </p:sp>
      <p:sp>
        <p:nvSpPr>
          <p:cNvPr id="11"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2417198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lIns="91440" tIns="45720" rIns="91440" bIns="45720" rtlCol="0" anchor="t">
            <a:normAutofit lnSpcReduction="10000"/>
          </a:bodyPr>
          <a:lstStyle/>
          <a:p>
            <a:pPr algn="just"/>
            <a:r>
              <a:rPr lang="en-IN" sz="2600" dirty="0"/>
              <a:t>"It is a branch of computer science by which we can create intelligent machines which can behave like a human, think like humans, and able to make decisions." </a:t>
            </a:r>
          </a:p>
          <a:p>
            <a:pPr algn="just"/>
            <a:endParaRPr lang="en-IN" sz="2600" dirty="0"/>
          </a:p>
          <a:p>
            <a:pPr algn="just"/>
            <a:r>
              <a:rPr lang="en-IN" sz="2600" dirty="0"/>
              <a:t>AI exists when a machine can have human-based skills such as learning, reasoning, and solving problems.</a:t>
            </a:r>
          </a:p>
          <a:p>
            <a:pPr algn="just"/>
            <a:endParaRPr lang="en-IN" sz="2600" dirty="0"/>
          </a:p>
          <a:p>
            <a:pPr algn="just"/>
            <a:r>
              <a:rPr lang="en-IN" sz="2600" dirty="0"/>
              <a:t>With AI you do not need to pre-program a machine to do some work, despite that you can create a machine with programmed algorithms which can work with own intelligence.</a:t>
            </a:r>
          </a:p>
          <a:p>
            <a:endParaRPr lang="en-IN" dirty="0"/>
          </a:p>
        </p:txBody>
      </p:sp>
      <p:sp>
        <p:nvSpPr>
          <p:cNvPr id="4" name="Date Placeholder 3"/>
          <p:cNvSpPr>
            <a:spLocks noGrp="1"/>
          </p:cNvSpPr>
          <p:nvPr>
            <p:ph type="dt" sz="half" idx="10"/>
          </p:nvPr>
        </p:nvSpPr>
        <p:spPr/>
        <p:txBody>
          <a:bodyPr/>
          <a:lstStyle/>
          <a:p>
            <a:fld id="{EFFE317B-4413-4FCE-8687-8BE65728CB93}" type="datetime1">
              <a:rPr lang="en-US" smtClean="0"/>
              <a:pPr/>
              <a:t>1/18/2023</a:t>
            </a:fld>
            <a:endParaRPr lang="en-US"/>
          </a:p>
        </p:txBody>
      </p:sp>
      <p:sp>
        <p:nvSpPr>
          <p:cNvPr id="5" name="Footer Placeholder 4"/>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p:txBody>
          <a:bodyPr/>
          <a:lstStyle/>
          <a:p>
            <a:fld id="{025C76C4-C5C4-4BD3-AB93-373A4602CB55}" type="slidenum">
              <a:rPr lang="en-US" smtClean="0"/>
              <a:pPr/>
              <a:t>4</a:t>
            </a:fld>
            <a:endParaRPr lang="en-US"/>
          </a:p>
        </p:txBody>
      </p:sp>
      <p:sp>
        <p:nvSpPr>
          <p:cNvPr id="7" name="Rectangle 6"/>
          <p:cNvSpPr/>
          <p:nvPr/>
        </p:nvSpPr>
        <p:spPr>
          <a:xfrm>
            <a:off x="857224" y="714356"/>
            <a:ext cx="8143932" cy="461665"/>
          </a:xfrm>
          <a:prstGeom prst="rect">
            <a:avLst/>
          </a:prstGeom>
        </p:spPr>
        <p:txBody>
          <a:bodyPr wrap="square">
            <a:spAutoFit/>
          </a:bodyPr>
          <a:lstStyle/>
          <a:p>
            <a:r>
              <a:rPr lang="en-IN" sz="2400" dirty="0"/>
              <a:t>1.1. Introduction to Artificial Intelligence and its evolution.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285728"/>
            <a:ext cx="7958166" cy="471470"/>
          </a:xfrm>
        </p:spPr>
        <p:txBody>
          <a:bodyPr>
            <a:noAutofit/>
          </a:bodyPr>
          <a:lstStyle/>
          <a:p>
            <a:r>
              <a:rPr lang="en-US" sz="2400" dirty="0" err="1">
                <a:solidFill>
                  <a:srgbClr val="FF0000"/>
                </a:solidFill>
              </a:rPr>
              <a:t>Chapt</a:t>
            </a:r>
            <a:r>
              <a:rPr lang="en-US" sz="2400" dirty="0">
                <a:solidFill>
                  <a:srgbClr val="FF0000"/>
                </a:solidFill>
              </a:rPr>
              <a:t>: 1 </a:t>
            </a:r>
            <a:r>
              <a:rPr lang="en-IN" sz="2400" dirty="0">
                <a:solidFill>
                  <a:srgbClr val="FF0000"/>
                </a:solidFill>
              </a:rPr>
              <a:t>Artificial Intelligence and Knowledge Representation</a:t>
            </a:r>
            <a:endParaRPr lang="en-US" sz="2400" dirty="0">
              <a:solidFill>
                <a:srgbClr val="FF0000"/>
              </a:solidFill>
            </a:endParaRPr>
          </a:p>
        </p:txBody>
      </p:sp>
      <p:sp>
        <p:nvSpPr>
          <p:cNvPr id="3" name="Subtitle 2"/>
          <p:cNvSpPr>
            <a:spLocks noGrp="1"/>
          </p:cNvSpPr>
          <p:nvPr>
            <p:ph type="subTitle" idx="1"/>
          </p:nvPr>
        </p:nvSpPr>
        <p:spPr/>
        <p:txBody>
          <a:bodyPr>
            <a:normAutofit/>
          </a:bodyPr>
          <a:lstStyle/>
          <a:p>
            <a:br>
              <a:rPr lang="en-US" dirty="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dirty="0"/>
              <a:t>Prof. Prashant Wadekar</a:t>
            </a:r>
            <a:endParaRPr lang="en-US" dirty="0">
              <a:cs typeface="Calibri"/>
            </a:endParaRP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5</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857224" y="714356"/>
            <a:ext cx="8143932" cy="400110"/>
          </a:xfrm>
          <a:prstGeom prst="rect">
            <a:avLst/>
          </a:prstGeom>
        </p:spPr>
        <p:txBody>
          <a:bodyPr wrap="square">
            <a:spAutoFit/>
          </a:bodyPr>
          <a:lstStyle/>
          <a:p>
            <a:r>
              <a:rPr lang="en-IN" sz="2000" dirty="0"/>
              <a:t>1.1. Introduction to Artificial Intelligence and its evolution.</a:t>
            </a:r>
            <a:endParaRPr lang="en-IN" dirty="0"/>
          </a:p>
        </p:txBody>
      </p:sp>
      <p:graphicFrame>
        <p:nvGraphicFramePr>
          <p:cNvPr id="10" name="Table 9"/>
          <p:cNvGraphicFramePr>
            <a:graphicFrameLocks noGrp="1"/>
          </p:cNvGraphicFramePr>
          <p:nvPr>
            <p:extLst>
              <p:ext uri="{D42A27DB-BD31-4B8C-83A1-F6EECF244321}">
                <p14:modId xmlns:p14="http://schemas.microsoft.com/office/powerpoint/2010/main" val="963194095"/>
              </p:ext>
            </p:extLst>
          </p:nvPr>
        </p:nvGraphicFramePr>
        <p:xfrm>
          <a:off x="857224" y="1214422"/>
          <a:ext cx="7500990" cy="5074859"/>
        </p:xfrm>
        <a:graphic>
          <a:graphicData uri="http://schemas.openxmlformats.org/drawingml/2006/table">
            <a:tbl>
              <a:tblPr/>
              <a:tblGrid>
                <a:gridCol w="3750495">
                  <a:extLst>
                    <a:ext uri="{9D8B030D-6E8A-4147-A177-3AD203B41FA5}">
                      <a16:colId xmlns:a16="http://schemas.microsoft.com/office/drawing/2014/main" val="20000"/>
                    </a:ext>
                  </a:extLst>
                </a:gridCol>
                <a:gridCol w="3750495">
                  <a:extLst>
                    <a:ext uri="{9D8B030D-6E8A-4147-A177-3AD203B41FA5}">
                      <a16:colId xmlns:a16="http://schemas.microsoft.com/office/drawing/2014/main" val="20001"/>
                    </a:ext>
                  </a:extLst>
                </a:gridCol>
              </a:tblGrid>
              <a:tr h="215883">
                <a:tc gridSpan="2">
                  <a:txBody>
                    <a:bodyPr/>
                    <a:lstStyle/>
                    <a:p>
                      <a:pPr algn="ctr">
                        <a:lnSpc>
                          <a:spcPct val="115000"/>
                        </a:lnSpc>
                        <a:spcAft>
                          <a:spcPts val="0"/>
                        </a:spcAft>
                      </a:pPr>
                      <a:r>
                        <a:rPr lang="en-IN" sz="1400" b="1" dirty="0">
                          <a:latin typeface="Times-Roman"/>
                          <a:ea typeface="Calibri"/>
                          <a:cs typeface="Times-Roman"/>
                        </a:rPr>
                        <a:t>Definitions Concerned with </a:t>
                      </a:r>
                      <a:r>
                        <a:rPr lang="en-IN" sz="1400" b="1" i="1" dirty="0">
                          <a:latin typeface="Times-Italic"/>
                          <a:ea typeface="Calibri"/>
                          <a:cs typeface="Times-Italic"/>
                        </a:rPr>
                        <a:t>thought processes </a:t>
                      </a:r>
                      <a:r>
                        <a:rPr lang="en-IN" sz="1400" b="1" dirty="0">
                          <a:latin typeface="Times-Roman"/>
                          <a:ea typeface="Calibri"/>
                          <a:cs typeface="Times-Roman"/>
                        </a:rPr>
                        <a:t>and </a:t>
                      </a:r>
                      <a:r>
                        <a:rPr lang="en-IN" sz="1400" b="1" i="1" dirty="0">
                          <a:latin typeface="Times-Italic"/>
                          <a:ea typeface="Calibri"/>
                          <a:cs typeface="Times-Italic"/>
                        </a:rPr>
                        <a:t>reasoning</a:t>
                      </a:r>
                      <a:endParaRPr lang="en-IN" sz="1400" dirty="0">
                        <a:latin typeface="Calibri"/>
                        <a:ea typeface="Calibri"/>
                        <a:cs typeface="Times New Roman"/>
                      </a:endParaRPr>
                    </a:p>
                  </a:txBody>
                  <a:tcPr marL="58251" marR="58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0"/>
                  </a:ext>
                </a:extLst>
              </a:tr>
              <a:tr h="1570067">
                <a:tc>
                  <a:txBody>
                    <a:bodyPr/>
                    <a:lstStyle/>
                    <a:p>
                      <a:pPr>
                        <a:lnSpc>
                          <a:spcPct val="115000"/>
                        </a:lnSpc>
                        <a:spcAft>
                          <a:spcPts val="0"/>
                        </a:spcAft>
                      </a:pPr>
                      <a:r>
                        <a:rPr lang="en-IN" sz="1400" b="1" dirty="0">
                          <a:latin typeface="Times-Bold"/>
                          <a:ea typeface="Calibri"/>
                          <a:cs typeface="Times-Bold"/>
                        </a:rPr>
                        <a:t>Thinking Humanly</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“The exciting new effort to make computers</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think </a:t>
                      </a:r>
                      <a:r>
                        <a:rPr lang="en-IN" sz="1400" dirty="0">
                          <a:latin typeface="CMMI10"/>
                          <a:ea typeface="Calibri"/>
                          <a:cs typeface="CMMI10"/>
                        </a:rPr>
                        <a:t>. . . </a:t>
                      </a:r>
                      <a:r>
                        <a:rPr lang="en-IN" sz="1400" i="1" dirty="0">
                          <a:latin typeface="Times-Italic"/>
                          <a:ea typeface="Calibri"/>
                          <a:cs typeface="Times-Italic"/>
                        </a:rPr>
                        <a:t>machines with minds</a:t>
                      </a:r>
                      <a:r>
                        <a:rPr lang="en-IN" sz="1400" dirty="0">
                          <a:latin typeface="Times-Roman"/>
                          <a:ea typeface="Calibri"/>
                          <a:cs typeface="Times-Roman"/>
                        </a:rPr>
                        <a:t>, in the</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full and literal sense.” (Haugeland, 1985)</a:t>
                      </a:r>
                    </a:p>
                    <a:p>
                      <a:pPr>
                        <a:lnSpc>
                          <a:spcPct val="115000"/>
                        </a:lnSpc>
                        <a:spcAft>
                          <a:spcPts val="0"/>
                        </a:spcAft>
                      </a:pP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“[The automation of] activities that we</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associate with human thinking, activities</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such as decision-making, problem solving,</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learning </a:t>
                      </a:r>
                      <a:r>
                        <a:rPr lang="en-IN" sz="1400" dirty="0">
                          <a:latin typeface="CMMI10"/>
                          <a:ea typeface="Calibri"/>
                          <a:cs typeface="CMMI10"/>
                        </a:rPr>
                        <a:t>. . .</a:t>
                      </a:r>
                      <a:r>
                        <a:rPr lang="en-IN" sz="1400" dirty="0">
                          <a:latin typeface="Times-Roman"/>
                          <a:ea typeface="Calibri"/>
                          <a:cs typeface="Times-Roman"/>
                        </a:rPr>
                        <a:t>” (Bellman, 1978</a:t>
                      </a:r>
                      <a:endParaRPr lang="en-IN" sz="1400" dirty="0">
                        <a:latin typeface="Calibri"/>
                        <a:ea typeface="Calibri"/>
                        <a:cs typeface="Times New Roman"/>
                      </a:endParaRPr>
                    </a:p>
                  </a:txBody>
                  <a:tcPr marL="58251" marR="58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b="1" dirty="0">
                          <a:latin typeface="Times-Bold"/>
                          <a:ea typeface="Calibri"/>
                          <a:cs typeface="Times-Bold"/>
                        </a:rPr>
                        <a:t>Thinking Rationally</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“The study of mental faculties through the</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use of computational models.”</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(Charniak and McDermott, 1985)</a:t>
                      </a:r>
                    </a:p>
                    <a:p>
                      <a:pPr>
                        <a:lnSpc>
                          <a:spcPct val="115000"/>
                        </a:lnSpc>
                        <a:spcAft>
                          <a:spcPts val="0"/>
                        </a:spcAft>
                      </a:pP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“The study of the computations that make</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it possible to perceive, reason, and act.”</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(Winston, 192)</a:t>
                      </a:r>
                      <a:endParaRPr lang="en-IN" sz="1400" dirty="0">
                        <a:latin typeface="Calibri"/>
                        <a:ea typeface="Calibri"/>
                        <a:cs typeface="Times New Roman"/>
                      </a:endParaRPr>
                    </a:p>
                  </a:txBody>
                  <a:tcPr marL="58251" marR="58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5883">
                <a:tc gridSpan="2">
                  <a:txBody>
                    <a:bodyPr/>
                    <a:lstStyle/>
                    <a:p>
                      <a:pPr algn="ctr">
                        <a:lnSpc>
                          <a:spcPct val="115000"/>
                        </a:lnSpc>
                        <a:spcAft>
                          <a:spcPts val="0"/>
                        </a:spcAft>
                      </a:pPr>
                      <a:r>
                        <a:rPr lang="en-IN" sz="1400" b="1" dirty="0">
                          <a:latin typeface="Times-Roman"/>
                          <a:ea typeface="Calibri"/>
                          <a:cs typeface="Times-Roman"/>
                        </a:rPr>
                        <a:t>Definitions addressing on  </a:t>
                      </a:r>
                      <a:r>
                        <a:rPr lang="en-IN" sz="1400" b="1" i="1" dirty="0">
                          <a:latin typeface="Times-Italic"/>
                          <a:ea typeface="Calibri"/>
                          <a:cs typeface="Times-Roman"/>
                        </a:rPr>
                        <a:t>behaviour</a:t>
                      </a:r>
                      <a:endParaRPr lang="en-IN" sz="1400" dirty="0">
                        <a:latin typeface="Calibri"/>
                        <a:ea typeface="Calibri"/>
                        <a:cs typeface="Times New Roman"/>
                      </a:endParaRPr>
                    </a:p>
                  </a:txBody>
                  <a:tcPr marL="58251" marR="58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2"/>
                  </a:ext>
                </a:extLst>
              </a:tr>
              <a:tr h="1498629">
                <a:tc>
                  <a:txBody>
                    <a:bodyPr/>
                    <a:lstStyle/>
                    <a:p>
                      <a:pPr>
                        <a:lnSpc>
                          <a:spcPct val="115000"/>
                        </a:lnSpc>
                        <a:spcAft>
                          <a:spcPts val="0"/>
                        </a:spcAft>
                      </a:pPr>
                      <a:r>
                        <a:rPr lang="en-IN" sz="1400" b="1" dirty="0">
                          <a:latin typeface="Times-Bold"/>
                          <a:ea typeface="Calibri"/>
                          <a:cs typeface="Times-Bold"/>
                        </a:rPr>
                        <a:t>Acting Humanly</a:t>
                      </a:r>
                      <a:r>
                        <a:rPr lang="en-IN" sz="1400" dirty="0">
                          <a:latin typeface="Times-Roman"/>
                          <a:ea typeface="Calibri"/>
                          <a:cs typeface="Times-Roman"/>
                        </a:rPr>
                        <a:t> </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“The art of creating machines that perform</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functions that require intelligence when performed by people.” (Kurzweil,1990)</a:t>
                      </a:r>
                    </a:p>
                    <a:p>
                      <a:pPr>
                        <a:lnSpc>
                          <a:spcPct val="115000"/>
                        </a:lnSpc>
                        <a:spcAft>
                          <a:spcPts val="0"/>
                        </a:spcAft>
                      </a:pP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“The study of how to make computers do</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things at which, at the moment, people are</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better.” (Rich and Knight, 1991)</a:t>
                      </a:r>
                      <a:endParaRPr lang="en-IN" sz="1400" dirty="0">
                        <a:latin typeface="Calibri"/>
                        <a:ea typeface="Calibri"/>
                        <a:cs typeface="Times New Roman"/>
                      </a:endParaRPr>
                    </a:p>
                  </a:txBody>
                  <a:tcPr marL="58251" marR="58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b="1" dirty="0">
                          <a:latin typeface="Times-Bold"/>
                          <a:ea typeface="Calibri"/>
                          <a:cs typeface="Times-Bold"/>
                        </a:rPr>
                        <a:t>Acting Rationally</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“Computational Intelligence is the study</a:t>
                      </a: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of the design of intelligent agents.” (Poole</a:t>
                      </a:r>
                      <a:endParaRPr lang="en-IN" sz="1400" dirty="0">
                        <a:latin typeface="Calibri"/>
                        <a:ea typeface="Calibri"/>
                        <a:cs typeface="Times New Roman"/>
                      </a:endParaRPr>
                    </a:p>
                    <a:p>
                      <a:pPr>
                        <a:lnSpc>
                          <a:spcPct val="115000"/>
                        </a:lnSpc>
                        <a:spcAft>
                          <a:spcPts val="0"/>
                        </a:spcAft>
                      </a:pPr>
                      <a:r>
                        <a:rPr lang="en-IN" sz="1400" i="1" dirty="0">
                          <a:latin typeface="Times-Italic"/>
                          <a:ea typeface="Calibri"/>
                          <a:cs typeface="Times-Italic"/>
                        </a:rPr>
                        <a:t>et al.</a:t>
                      </a:r>
                      <a:r>
                        <a:rPr lang="en-IN" sz="1400" dirty="0">
                          <a:latin typeface="Times-Roman"/>
                          <a:ea typeface="Calibri"/>
                          <a:cs typeface="Times-Roman"/>
                        </a:rPr>
                        <a:t>, 1998)</a:t>
                      </a:r>
                    </a:p>
                    <a:p>
                      <a:pPr>
                        <a:lnSpc>
                          <a:spcPct val="115000"/>
                        </a:lnSpc>
                        <a:spcAft>
                          <a:spcPts val="0"/>
                        </a:spcAft>
                      </a:pPr>
                      <a:endParaRPr lang="en-IN" sz="1400" dirty="0">
                        <a:latin typeface="Calibri"/>
                        <a:ea typeface="Calibri"/>
                        <a:cs typeface="Times New Roman"/>
                      </a:endParaRPr>
                    </a:p>
                    <a:p>
                      <a:pPr>
                        <a:lnSpc>
                          <a:spcPct val="115000"/>
                        </a:lnSpc>
                        <a:spcAft>
                          <a:spcPts val="0"/>
                        </a:spcAft>
                      </a:pPr>
                      <a:r>
                        <a:rPr lang="en-IN" sz="1400" dirty="0">
                          <a:latin typeface="Times-Roman"/>
                          <a:ea typeface="Calibri"/>
                          <a:cs typeface="Times-Roman"/>
                        </a:rPr>
                        <a:t>“AI . . . is concerned with intelligent behaviour in artifacts.” (Nilsson, 1998)</a:t>
                      </a:r>
                      <a:endParaRPr lang="en-IN" sz="1400" dirty="0">
                        <a:latin typeface="Calibri"/>
                        <a:ea typeface="Calibri"/>
                        <a:cs typeface="Times New Roman"/>
                      </a:endParaRPr>
                    </a:p>
                  </a:txBody>
                  <a:tcPr marL="58251" marR="58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1394">
                <a:tc gridSpan="2">
                  <a:txBody>
                    <a:bodyPr/>
                    <a:lstStyle/>
                    <a:p>
                      <a:pPr>
                        <a:lnSpc>
                          <a:spcPct val="115000"/>
                        </a:lnSpc>
                        <a:spcAft>
                          <a:spcPts val="0"/>
                        </a:spcAft>
                      </a:pPr>
                      <a:endParaRPr lang="en-IN" sz="1400" dirty="0">
                        <a:latin typeface="Calibri"/>
                        <a:ea typeface="Calibri"/>
                        <a:cs typeface="Times New Roman"/>
                      </a:endParaRPr>
                    </a:p>
                    <a:p>
                      <a:pPr>
                        <a:lnSpc>
                          <a:spcPct val="115000"/>
                        </a:lnSpc>
                        <a:spcAft>
                          <a:spcPts val="0"/>
                        </a:spcAft>
                      </a:pPr>
                      <a:r>
                        <a:rPr lang="en-IN" sz="1400" b="1" dirty="0">
                          <a:latin typeface="Times-Bold"/>
                          <a:ea typeface="Calibri"/>
                          <a:cs typeface="Times-Bold"/>
                        </a:rPr>
                        <a:t>Figure 1.1 </a:t>
                      </a:r>
                      <a:r>
                        <a:rPr lang="en-IN" sz="1400" dirty="0">
                          <a:latin typeface="Times-Roman"/>
                          <a:ea typeface="Calibri"/>
                          <a:cs typeface="Times-Roman"/>
                        </a:rPr>
                        <a:t>Some definitions of artificial intelligence, organized into four categories.</a:t>
                      </a:r>
                      <a:endParaRPr lang="en-IN" sz="1400" dirty="0">
                        <a:latin typeface="Calibri"/>
                        <a:ea typeface="Calibri"/>
                        <a:cs typeface="Times New Roman"/>
                      </a:endParaRPr>
                    </a:p>
                  </a:txBody>
                  <a:tcPr marL="58251" marR="58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17198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br>
              <a:rPr lang="en-US" dirty="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6</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428596" y="1214422"/>
            <a:ext cx="8143932" cy="5262979"/>
          </a:xfrm>
          <a:prstGeom prst="rect">
            <a:avLst/>
          </a:prstGeom>
        </p:spPr>
        <p:txBody>
          <a:bodyPr wrap="square">
            <a:spAutoFit/>
          </a:bodyPr>
          <a:lstStyle/>
          <a:p>
            <a:r>
              <a:rPr lang="en-IN" sz="2000" b="1" dirty="0">
                <a:solidFill>
                  <a:srgbClr val="FF0000"/>
                </a:solidFill>
              </a:rPr>
              <a:t>Maturation of Artificial Intelligence (1943-1952)</a:t>
            </a:r>
          </a:p>
          <a:p>
            <a:endParaRPr lang="en-IN" sz="2000" dirty="0">
              <a:solidFill>
                <a:srgbClr val="FF0000"/>
              </a:solidFill>
            </a:endParaRPr>
          </a:p>
          <a:p>
            <a:pPr lvl="0"/>
            <a:r>
              <a:rPr lang="en-IN" sz="2000" b="1" dirty="0"/>
              <a:t>Year 1943:</a:t>
            </a:r>
            <a:r>
              <a:rPr lang="en-IN" sz="2000" dirty="0"/>
              <a:t> The first work which is now recognized as AI was done by Warren McCulloch and Walter pits in 1943. They proposed a model of </a:t>
            </a:r>
            <a:r>
              <a:rPr lang="en-IN" sz="2000" b="1" dirty="0"/>
              <a:t>artificial neurons</a:t>
            </a:r>
            <a:r>
              <a:rPr lang="en-IN" sz="2000" dirty="0"/>
              <a:t>. </a:t>
            </a:r>
          </a:p>
          <a:p>
            <a:pPr lvl="0"/>
            <a:endParaRPr lang="en-IN" sz="2000" dirty="0"/>
          </a:p>
          <a:p>
            <a:pPr lvl="0"/>
            <a:r>
              <a:rPr lang="en-IN" sz="2000" b="1" dirty="0"/>
              <a:t>Year 1949:</a:t>
            </a:r>
            <a:r>
              <a:rPr lang="en-IN" sz="2000" dirty="0"/>
              <a:t> Donald </a:t>
            </a:r>
            <a:r>
              <a:rPr lang="en-IN" sz="2000" dirty="0" err="1"/>
              <a:t>Hebb</a:t>
            </a:r>
            <a:r>
              <a:rPr lang="en-IN" sz="2000" dirty="0"/>
              <a:t> demonstrated an updating rule for modifying the connection strength between neurons. His rule is now called </a:t>
            </a:r>
            <a:r>
              <a:rPr lang="en-IN" sz="2000" b="1" dirty="0" err="1"/>
              <a:t>Hebbian</a:t>
            </a:r>
            <a:r>
              <a:rPr lang="en-IN" sz="2000" b="1" dirty="0"/>
              <a:t> learning</a:t>
            </a:r>
            <a:r>
              <a:rPr lang="en-IN" sz="2000" dirty="0"/>
              <a:t>.</a:t>
            </a:r>
          </a:p>
          <a:p>
            <a:pPr lvl="0"/>
            <a:endParaRPr lang="en-IN" sz="2000" dirty="0"/>
          </a:p>
          <a:p>
            <a:pPr lvl="0" algn="just"/>
            <a:r>
              <a:rPr lang="en-IN" sz="2000" b="1" dirty="0"/>
              <a:t>Year 1950:</a:t>
            </a:r>
            <a:r>
              <a:rPr lang="en-IN" sz="2000" dirty="0"/>
              <a:t> The Alan Turing who was an English mathematician and pioneered Machine learning in 1950. Alan Turing publishes </a:t>
            </a:r>
            <a:r>
              <a:rPr lang="en-IN" sz="2000" b="1" dirty="0"/>
              <a:t>"Computing Machinery and Intelligence"</a:t>
            </a:r>
            <a:r>
              <a:rPr lang="en-IN" sz="2000" dirty="0"/>
              <a:t> in which he proposed a test. The test can check the machine's ability to exhibit intelligent </a:t>
            </a:r>
            <a:r>
              <a:rPr lang="en-IN" sz="2000" dirty="0" err="1"/>
              <a:t>behavior</a:t>
            </a:r>
            <a:r>
              <a:rPr lang="en-IN" sz="2000" dirty="0"/>
              <a:t> equivalent to human intelligence, called a </a:t>
            </a:r>
            <a:r>
              <a:rPr lang="en-IN" sz="2000" b="1" dirty="0"/>
              <a:t>Turing test</a:t>
            </a:r>
            <a:r>
              <a:rPr lang="en-IN" sz="2000" dirty="0"/>
              <a:t>.</a:t>
            </a:r>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857224" y="714356"/>
            <a:ext cx="8143932" cy="400110"/>
          </a:xfrm>
          <a:prstGeom prst="rect">
            <a:avLst/>
          </a:prstGeom>
        </p:spPr>
        <p:txBody>
          <a:bodyPr wrap="square">
            <a:spAutoFit/>
          </a:bodyPr>
          <a:lstStyle/>
          <a:p>
            <a:r>
              <a:rPr lang="en-IN" sz="2000" dirty="0"/>
              <a:t>1.1. Introduction to Artificial Intelligence and its evolution.</a:t>
            </a:r>
            <a:endParaRPr lang="en-IN" dirty="0"/>
          </a:p>
        </p:txBody>
      </p:sp>
    </p:spTree>
    <p:extLst>
      <p:ext uri="{BB962C8B-B14F-4D97-AF65-F5344CB8AC3E}">
        <p14:creationId xmlns:p14="http://schemas.microsoft.com/office/powerpoint/2010/main" val="2417198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br>
              <a:rPr lang="en-US" dirty="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7</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428596" y="1214422"/>
            <a:ext cx="8143932" cy="3724096"/>
          </a:xfrm>
          <a:prstGeom prst="rect">
            <a:avLst/>
          </a:prstGeom>
        </p:spPr>
        <p:txBody>
          <a:bodyPr wrap="square">
            <a:spAutoFit/>
          </a:bodyPr>
          <a:lstStyle/>
          <a:p>
            <a:r>
              <a:rPr lang="en-IN" sz="2000" b="1" dirty="0">
                <a:solidFill>
                  <a:srgbClr val="FF0000"/>
                </a:solidFill>
              </a:rPr>
              <a:t>The birth of Artificial Intelligence (1952-1956)</a:t>
            </a:r>
          </a:p>
          <a:p>
            <a:endParaRPr lang="en-IN" sz="2000" dirty="0">
              <a:solidFill>
                <a:srgbClr val="FF0000"/>
              </a:solidFill>
            </a:endParaRPr>
          </a:p>
          <a:p>
            <a:pPr lvl="0"/>
            <a:r>
              <a:rPr lang="en-IN" sz="2000" b="1" dirty="0"/>
              <a:t>Year 1955:</a:t>
            </a:r>
            <a:r>
              <a:rPr lang="en-IN" sz="2000" dirty="0"/>
              <a:t> An Allen Newell and Herbert A. Simon created the "first artificial intelligence </a:t>
            </a:r>
            <a:r>
              <a:rPr lang="en-IN" sz="2000" dirty="0" err="1"/>
              <a:t>program"Which</a:t>
            </a:r>
            <a:r>
              <a:rPr lang="en-IN" sz="2000" dirty="0"/>
              <a:t> was named as </a:t>
            </a:r>
            <a:r>
              <a:rPr lang="en-IN" sz="2000" b="1" dirty="0"/>
              <a:t>"Logic Theorist"</a:t>
            </a:r>
            <a:r>
              <a:rPr lang="en-IN" sz="2000" dirty="0"/>
              <a:t>. This program had proved 38 of 52 Mathematics theorems, and find new and more elegant proofs for some theorems.</a:t>
            </a:r>
          </a:p>
          <a:p>
            <a:pPr lvl="0"/>
            <a:endParaRPr lang="en-IN" sz="2000" dirty="0"/>
          </a:p>
          <a:p>
            <a:pPr lvl="0"/>
            <a:r>
              <a:rPr lang="en-IN" sz="2000" b="1" dirty="0"/>
              <a:t>Year 1956:</a:t>
            </a:r>
            <a:r>
              <a:rPr lang="en-IN" sz="2000" dirty="0"/>
              <a:t> The word "Artificial Intelligence" first adopted by American Computer scientist John McCarthy at the Dartmouth Conference. For the first time.</a:t>
            </a:r>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857224" y="714356"/>
            <a:ext cx="8143932" cy="400110"/>
          </a:xfrm>
          <a:prstGeom prst="rect">
            <a:avLst/>
          </a:prstGeom>
        </p:spPr>
        <p:txBody>
          <a:bodyPr wrap="square">
            <a:spAutoFit/>
          </a:bodyPr>
          <a:lstStyle/>
          <a:p>
            <a:r>
              <a:rPr lang="en-IN" sz="2000" dirty="0"/>
              <a:t>1.1. Introduction to Artificial Intelligence and its evolution.</a:t>
            </a:r>
            <a:endParaRPr lang="en-IN" dirty="0"/>
          </a:p>
        </p:txBody>
      </p:sp>
    </p:spTree>
    <p:extLst>
      <p:ext uri="{BB962C8B-B14F-4D97-AF65-F5344CB8AC3E}">
        <p14:creationId xmlns:p14="http://schemas.microsoft.com/office/powerpoint/2010/main" val="2417198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8</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428596" y="1214422"/>
            <a:ext cx="8143932" cy="6801862"/>
          </a:xfrm>
          <a:prstGeom prst="rect">
            <a:avLst/>
          </a:prstGeom>
        </p:spPr>
        <p:txBody>
          <a:bodyPr wrap="square">
            <a:spAutoFit/>
          </a:bodyPr>
          <a:lstStyle/>
          <a:p>
            <a:r>
              <a:rPr lang="en-IN" sz="2000" b="1" dirty="0">
                <a:solidFill>
                  <a:srgbClr val="FF0000"/>
                </a:solidFill>
              </a:rPr>
              <a:t>The golden years-Early enthusiasm (1956-1974)</a:t>
            </a:r>
            <a:endParaRPr lang="en-IN" sz="2000" dirty="0">
              <a:solidFill>
                <a:srgbClr val="FF0000"/>
              </a:solidFill>
            </a:endParaRPr>
          </a:p>
          <a:p>
            <a:pPr lvl="0"/>
            <a:r>
              <a:rPr lang="en-IN" sz="2000" b="1" dirty="0"/>
              <a:t>Year 1966:</a:t>
            </a:r>
            <a:r>
              <a:rPr lang="en-IN" sz="2000" dirty="0"/>
              <a:t> The researchers emphasized developing algorithms which can solve mathematical problems. Joseph </a:t>
            </a:r>
            <a:r>
              <a:rPr lang="en-IN" sz="2000" dirty="0" err="1"/>
              <a:t>Weizenbaum</a:t>
            </a:r>
            <a:r>
              <a:rPr lang="en-IN" sz="2000" dirty="0"/>
              <a:t> created the first </a:t>
            </a:r>
            <a:r>
              <a:rPr lang="en-IN" sz="2000" dirty="0" err="1"/>
              <a:t>chatbot</a:t>
            </a:r>
            <a:r>
              <a:rPr lang="en-IN" sz="2000" dirty="0"/>
              <a:t> in 1966, which was named as ELIZA. </a:t>
            </a:r>
          </a:p>
          <a:p>
            <a:pPr lvl="0"/>
            <a:endParaRPr lang="en-IN" sz="2000" dirty="0"/>
          </a:p>
          <a:p>
            <a:pPr lvl="0"/>
            <a:r>
              <a:rPr lang="en-IN" sz="2000" b="1" dirty="0"/>
              <a:t>Year 1972:</a:t>
            </a:r>
            <a:r>
              <a:rPr lang="en-IN" sz="2000" dirty="0"/>
              <a:t> The first intelligent humanoid robot was built in Japan which was named as WABOT-1.</a:t>
            </a:r>
          </a:p>
          <a:p>
            <a:pPr lvl="0"/>
            <a:endParaRPr lang="en-US" sz="2000" dirty="0"/>
          </a:p>
          <a:p>
            <a:r>
              <a:rPr lang="en-IN" sz="2000" b="1" dirty="0">
                <a:solidFill>
                  <a:srgbClr val="FF0000"/>
                </a:solidFill>
              </a:rPr>
              <a:t>The first AI winter (1974-1980)</a:t>
            </a:r>
            <a:endParaRPr lang="en-IN" sz="2000" dirty="0">
              <a:solidFill>
                <a:srgbClr val="FF0000"/>
              </a:solidFill>
            </a:endParaRPr>
          </a:p>
          <a:p>
            <a:pPr lvl="0" algn="just"/>
            <a:r>
              <a:rPr lang="en-IN" sz="2000" dirty="0"/>
              <a:t>AI winter refers to the time period where computer scientist dealt with a severe shortage of funding from government for AI researches. Publicity on AI was decreased. </a:t>
            </a:r>
          </a:p>
          <a:p>
            <a:pPr lvl="0" algn="just"/>
            <a:endParaRPr lang="en-US" sz="2000" dirty="0"/>
          </a:p>
          <a:p>
            <a:r>
              <a:rPr lang="en-IN" sz="2000" b="1" dirty="0">
                <a:solidFill>
                  <a:srgbClr val="FF0000"/>
                </a:solidFill>
              </a:rPr>
              <a:t>A boom of AI (1980-1987)</a:t>
            </a:r>
          </a:p>
          <a:p>
            <a:pPr lvl="0"/>
            <a:r>
              <a:rPr lang="en-IN" sz="2000" b="1" dirty="0"/>
              <a:t>Year 1980:</a:t>
            </a:r>
            <a:r>
              <a:rPr lang="en-IN" sz="2000" dirty="0"/>
              <a:t> After AI winter duration, AI came back with "Expert System". Expert systems were programmed that emulate the decision-making ability of a human expert. </a:t>
            </a:r>
          </a:p>
          <a:p>
            <a:pPr lvl="0" algn="just"/>
            <a:endParaRPr lang="en-IN" sz="2000" dirty="0"/>
          </a:p>
          <a:p>
            <a:pPr lvl="0" algn="just"/>
            <a:endParaRPr lang="en-IN" sz="2000" dirty="0">
              <a:solidFill>
                <a:srgbClr val="FF0000"/>
              </a:solidFill>
            </a:endParaRPr>
          </a:p>
          <a:p>
            <a:pPr lvl="0"/>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857224" y="714356"/>
            <a:ext cx="8143932" cy="400110"/>
          </a:xfrm>
          <a:prstGeom prst="rect">
            <a:avLst/>
          </a:prstGeom>
        </p:spPr>
        <p:txBody>
          <a:bodyPr wrap="square">
            <a:spAutoFit/>
          </a:bodyPr>
          <a:lstStyle/>
          <a:p>
            <a:r>
              <a:rPr lang="en-IN" sz="2000" dirty="0"/>
              <a:t>1.1. Introduction to Artificial Intelligence and its evolution.</a:t>
            </a:r>
            <a:endParaRPr lang="en-IN" dirty="0"/>
          </a:p>
        </p:txBody>
      </p:sp>
    </p:spTree>
    <p:extLst>
      <p:ext uri="{BB962C8B-B14F-4D97-AF65-F5344CB8AC3E}">
        <p14:creationId xmlns:p14="http://schemas.microsoft.com/office/powerpoint/2010/main" val="2417198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9</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428596" y="1214422"/>
            <a:ext cx="8143932" cy="5570756"/>
          </a:xfrm>
          <a:prstGeom prst="rect">
            <a:avLst/>
          </a:prstGeom>
        </p:spPr>
        <p:txBody>
          <a:bodyPr wrap="square">
            <a:spAutoFit/>
          </a:bodyPr>
          <a:lstStyle/>
          <a:p>
            <a:r>
              <a:rPr lang="en-IN" sz="2000" b="1" dirty="0">
                <a:solidFill>
                  <a:srgbClr val="FF0000"/>
                </a:solidFill>
              </a:rPr>
              <a:t>The second AI winter (1987-1993)</a:t>
            </a:r>
            <a:endParaRPr lang="en-IN" sz="2000" dirty="0">
              <a:solidFill>
                <a:srgbClr val="FF0000"/>
              </a:solidFill>
            </a:endParaRPr>
          </a:p>
          <a:p>
            <a:r>
              <a:rPr lang="en-IN" sz="2000" dirty="0"/>
              <a:t>Investors and government stopped in funding for AI research as due to high cost but not efficient result.</a:t>
            </a:r>
          </a:p>
          <a:p>
            <a:endParaRPr lang="en-IN" sz="2000" b="1" dirty="0">
              <a:solidFill>
                <a:srgbClr val="FF0000"/>
              </a:solidFill>
            </a:endParaRPr>
          </a:p>
          <a:p>
            <a:r>
              <a:rPr lang="en-IN" sz="2000" b="1" dirty="0">
                <a:solidFill>
                  <a:srgbClr val="FF0000"/>
                </a:solidFill>
              </a:rPr>
              <a:t>The emergence of intelligent agents (1993-2011)</a:t>
            </a:r>
            <a:endParaRPr lang="en-IN" sz="2000" dirty="0">
              <a:solidFill>
                <a:srgbClr val="FF0000"/>
              </a:solidFill>
            </a:endParaRPr>
          </a:p>
          <a:p>
            <a:pPr lvl="0"/>
            <a:endParaRPr lang="en-IN" sz="2000" b="1" dirty="0"/>
          </a:p>
          <a:p>
            <a:pPr lvl="0"/>
            <a:endParaRPr lang="en-IN" sz="2000" b="1" dirty="0"/>
          </a:p>
          <a:p>
            <a:pPr lvl="0"/>
            <a:r>
              <a:rPr lang="en-IN" sz="2000" b="1" dirty="0"/>
              <a:t>Year 1997:</a:t>
            </a:r>
            <a:r>
              <a:rPr lang="en-IN" sz="2000" dirty="0"/>
              <a:t> IBM Deep Blue beats(world chess champion), Gary Kasparov, and became the first computer to beat a world chess champion.</a:t>
            </a:r>
          </a:p>
          <a:p>
            <a:pPr lvl="0"/>
            <a:endParaRPr lang="en-IN" sz="2000" dirty="0"/>
          </a:p>
          <a:p>
            <a:pPr lvl="0"/>
            <a:r>
              <a:rPr lang="en-IN" sz="2000" b="1" dirty="0"/>
              <a:t>Year 2002:</a:t>
            </a:r>
            <a:r>
              <a:rPr lang="en-IN" sz="2000" dirty="0"/>
              <a:t> AI entered the home in the form of </a:t>
            </a:r>
            <a:r>
              <a:rPr lang="en-IN" sz="2000" dirty="0" err="1"/>
              <a:t>Roomba</a:t>
            </a:r>
            <a:r>
              <a:rPr lang="en-IN" sz="2000" dirty="0"/>
              <a:t>, a vacuum cleaner.</a:t>
            </a:r>
          </a:p>
          <a:p>
            <a:pPr lvl="0"/>
            <a:endParaRPr lang="en-IN" sz="2000" dirty="0"/>
          </a:p>
          <a:p>
            <a:pPr lvl="0"/>
            <a:r>
              <a:rPr lang="en-IN" sz="2000" b="1" dirty="0"/>
              <a:t>Year 2006:</a:t>
            </a:r>
            <a:r>
              <a:rPr lang="en-IN" sz="2000" dirty="0"/>
              <a:t> AI came Business world till the year 2006. Companies like </a:t>
            </a:r>
            <a:r>
              <a:rPr lang="en-IN" sz="2000" dirty="0" err="1"/>
              <a:t>Facebook</a:t>
            </a:r>
            <a:r>
              <a:rPr lang="en-IN" sz="2000" dirty="0"/>
              <a:t>, Twitter, and Netflix also started using AI. </a:t>
            </a:r>
          </a:p>
          <a:p>
            <a:pPr lvl="0"/>
            <a:endParaRPr lang="en-US" sz="2000" dirty="0"/>
          </a:p>
          <a:p>
            <a:pPr lvl="0"/>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857224" y="714356"/>
            <a:ext cx="8143932" cy="400110"/>
          </a:xfrm>
          <a:prstGeom prst="rect">
            <a:avLst/>
          </a:prstGeom>
        </p:spPr>
        <p:txBody>
          <a:bodyPr wrap="square">
            <a:spAutoFit/>
          </a:bodyPr>
          <a:lstStyle/>
          <a:p>
            <a:r>
              <a:rPr lang="en-IN" sz="2000" dirty="0"/>
              <a:t>1.1. Introduction to Artificial Intelligence and its evolution.</a:t>
            </a:r>
            <a:endParaRPr lang="en-IN" dirty="0"/>
          </a:p>
        </p:txBody>
      </p:sp>
    </p:spTree>
    <p:extLst>
      <p:ext uri="{BB962C8B-B14F-4D97-AF65-F5344CB8AC3E}">
        <p14:creationId xmlns:p14="http://schemas.microsoft.com/office/powerpoint/2010/main" val="241719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10</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428596" y="1214422"/>
            <a:ext cx="8143932" cy="6186309"/>
          </a:xfrm>
          <a:prstGeom prst="rect">
            <a:avLst/>
          </a:prstGeom>
        </p:spPr>
        <p:txBody>
          <a:bodyPr wrap="square">
            <a:spAutoFit/>
          </a:bodyPr>
          <a:lstStyle/>
          <a:p>
            <a:r>
              <a:rPr lang="en-IN" sz="2000" b="1" dirty="0">
                <a:solidFill>
                  <a:srgbClr val="FF0000"/>
                </a:solidFill>
              </a:rPr>
              <a:t>Deep learning, big data and artificial general intelligence (2011-present) </a:t>
            </a:r>
            <a:endParaRPr lang="en-IN" sz="2000" dirty="0">
              <a:solidFill>
                <a:srgbClr val="FF0000"/>
              </a:solidFill>
            </a:endParaRPr>
          </a:p>
          <a:p>
            <a:pPr lvl="0"/>
            <a:r>
              <a:rPr lang="en-IN" sz="2000" b="1" dirty="0"/>
              <a:t>Year 2011:</a:t>
            </a:r>
            <a:r>
              <a:rPr lang="en-IN" sz="2000" dirty="0"/>
              <a:t> IBM's Watson won jeopardy, a quiz show, where it had to solve the complex questions as well as riddles. Watson proved that it could understand natural language and tricky questions quickly.</a:t>
            </a:r>
          </a:p>
          <a:p>
            <a:pPr lvl="0"/>
            <a:r>
              <a:rPr lang="en-IN" sz="2000" b="1" dirty="0"/>
              <a:t>Year 2012:</a:t>
            </a:r>
            <a:r>
              <a:rPr lang="en-IN" sz="2000" dirty="0"/>
              <a:t> Google has launched an Android app feature "Google now", which was able to provide information to the user as a prediction.</a:t>
            </a:r>
          </a:p>
          <a:p>
            <a:pPr lvl="0"/>
            <a:r>
              <a:rPr lang="en-IN" sz="2000" b="1" dirty="0"/>
              <a:t>Year 2014:</a:t>
            </a:r>
            <a:r>
              <a:rPr lang="en-IN" sz="2000" dirty="0"/>
              <a:t> In the year 2014, </a:t>
            </a:r>
            <a:r>
              <a:rPr lang="en-IN" sz="2000" dirty="0" err="1"/>
              <a:t>Chatbot</a:t>
            </a:r>
            <a:r>
              <a:rPr lang="en-IN" sz="2000" dirty="0"/>
              <a:t> "Eugene </a:t>
            </a:r>
            <a:r>
              <a:rPr lang="en-IN" sz="2000" dirty="0" err="1"/>
              <a:t>Goostman</a:t>
            </a:r>
            <a:r>
              <a:rPr lang="en-IN" sz="2000" dirty="0"/>
              <a:t>" won a competition in the infamous "Turing test.“</a:t>
            </a:r>
          </a:p>
          <a:p>
            <a:pPr lvl="0"/>
            <a:endParaRPr lang="en-US" sz="2000" dirty="0"/>
          </a:p>
          <a:p>
            <a:pPr lvl="0"/>
            <a:endParaRPr lang="en-US" sz="2000" dirty="0"/>
          </a:p>
          <a:p>
            <a:pPr lvl="0"/>
            <a:endParaRPr lang="en-US" sz="2000" dirty="0"/>
          </a:p>
          <a:p>
            <a:pPr lvl="0"/>
            <a:endParaRPr lang="en-US" sz="2000" dirty="0"/>
          </a:p>
          <a:p>
            <a:pPr lvl="0"/>
            <a:endParaRPr lang="en-IN" sz="2000" dirty="0"/>
          </a:p>
          <a:p>
            <a:pPr lvl="0"/>
            <a:r>
              <a:rPr lang="en-IN" sz="2000" b="1" dirty="0"/>
              <a:t>Year 2018:</a:t>
            </a:r>
            <a:r>
              <a:rPr lang="en-IN" sz="2000" dirty="0"/>
              <a:t> The "Project Debater" from IBM debated on complex topics.</a:t>
            </a:r>
          </a:p>
          <a:p>
            <a:pPr lvl="0"/>
            <a:r>
              <a:rPr lang="en-IN" sz="2000" dirty="0"/>
              <a:t>Google’s AI program "Duplex“ a virtual assistant and which had taken hairdresser appointment on call.</a:t>
            </a:r>
          </a:p>
          <a:p>
            <a:pPr lvl="0"/>
            <a:endParaRPr lang="en-US" sz="2000" dirty="0"/>
          </a:p>
          <a:p>
            <a:pPr lvl="0"/>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857224" y="714356"/>
            <a:ext cx="8143932" cy="400110"/>
          </a:xfrm>
          <a:prstGeom prst="rect">
            <a:avLst/>
          </a:prstGeom>
        </p:spPr>
        <p:txBody>
          <a:bodyPr wrap="square">
            <a:spAutoFit/>
          </a:bodyPr>
          <a:lstStyle/>
          <a:p>
            <a:r>
              <a:rPr lang="en-IN" sz="2000" dirty="0"/>
              <a:t>1.1. Introduction to Artificial Intelligence and its evolution.</a:t>
            </a:r>
            <a:endParaRPr lang="en-IN" dirty="0"/>
          </a:p>
        </p:txBody>
      </p:sp>
      <p:pic>
        <p:nvPicPr>
          <p:cNvPr id="24578" name="Picture 2" descr="Computer chatbot 'Eugene Goostman' passes the Turing test | ZDNET"/>
          <p:cNvPicPr>
            <a:picLocks noChangeAspect="1" noChangeArrowheads="1"/>
          </p:cNvPicPr>
          <p:nvPr/>
        </p:nvPicPr>
        <p:blipFill>
          <a:blip r:embed="rId2" cstate="print"/>
          <a:srcRect/>
          <a:stretch>
            <a:fillRect/>
          </a:stretch>
        </p:blipFill>
        <p:spPr bwMode="auto">
          <a:xfrm>
            <a:off x="5857884" y="3643314"/>
            <a:ext cx="2536260" cy="1428760"/>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11</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428596" y="1214422"/>
            <a:ext cx="8143932" cy="1569660"/>
          </a:xfrm>
          <a:prstGeom prst="rect">
            <a:avLst/>
          </a:prstGeom>
        </p:spPr>
        <p:txBody>
          <a:bodyPr wrap="square">
            <a:spAutoFit/>
          </a:bodyPr>
          <a:lstStyle/>
          <a:p>
            <a:r>
              <a:rPr lang="en-IN" sz="2000" b="1" dirty="0">
                <a:solidFill>
                  <a:srgbClr val="FF0000"/>
                </a:solidFill>
              </a:rPr>
              <a:t>Deep learning, big data and artificial general intelligence () </a:t>
            </a:r>
            <a:endParaRPr lang="en-IN" sz="2000" dirty="0">
              <a:solidFill>
                <a:srgbClr val="FF0000"/>
              </a:solidFill>
            </a:endParaRPr>
          </a:p>
          <a:p>
            <a:pPr lvl="0"/>
            <a:endParaRPr lang="en-US" sz="2000" dirty="0"/>
          </a:p>
          <a:p>
            <a:pPr lvl="0"/>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857224" y="714356"/>
            <a:ext cx="8143932" cy="400110"/>
          </a:xfrm>
          <a:prstGeom prst="rect">
            <a:avLst/>
          </a:prstGeom>
        </p:spPr>
        <p:txBody>
          <a:bodyPr wrap="square">
            <a:spAutoFit/>
          </a:bodyPr>
          <a:lstStyle/>
          <a:p>
            <a:r>
              <a:rPr lang="en-IN" sz="2000" dirty="0"/>
              <a:t>1.1. Introduction to Artificial Intelligence and its evolution.</a:t>
            </a:r>
            <a:endParaRPr lang="en-IN" dirty="0"/>
          </a:p>
        </p:txBody>
      </p:sp>
      <p:pic>
        <p:nvPicPr>
          <p:cNvPr id="1026" name="Picture 2" descr="IBM Research | Project Debater"/>
          <p:cNvPicPr>
            <a:picLocks noChangeAspect="1" noChangeArrowheads="1"/>
          </p:cNvPicPr>
          <p:nvPr/>
        </p:nvPicPr>
        <p:blipFill>
          <a:blip r:embed="rId2" cstate="print"/>
          <a:srcRect/>
          <a:stretch>
            <a:fillRect/>
          </a:stretch>
        </p:blipFill>
        <p:spPr bwMode="auto">
          <a:xfrm>
            <a:off x="571473" y="1928803"/>
            <a:ext cx="3571900" cy="2009194"/>
          </a:xfrm>
          <a:prstGeom prst="rect">
            <a:avLst/>
          </a:prstGeom>
          <a:noFill/>
        </p:spPr>
      </p:pic>
      <p:pic>
        <p:nvPicPr>
          <p:cNvPr id="1027" name="Picture 3"/>
          <p:cNvPicPr>
            <a:picLocks noChangeAspect="1" noChangeArrowheads="1"/>
          </p:cNvPicPr>
          <p:nvPr/>
        </p:nvPicPr>
        <p:blipFill>
          <a:blip r:embed="rId3" cstate="print"/>
          <a:srcRect/>
          <a:stretch>
            <a:fillRect/>
          </a:stretch>
        </p:blipFill>
        <p:spPr bwMode="auto">
          <a:xfrm>
            <a:off x="571472" y="4286256"/>
            <a:ext cx="3357586" cy="188772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4357686" y="4214818"/>
            <a:ext cx="3500462" cy="1968049"/>
          </a:xfrm>
          <a:prstGeom prst="rect">
            <a:avLst/>
          </a:prstGeom>
          <a:noFill/>
          <a:ln w="9525">
            <a:noFill/>
            <a:miter lim="800000"/>
            <a:headEnd/>
            <a:tailEnd/>
          </a:ln>
          <a:effectLst/>
        </p:spPr>
      </p:pic>
      <p:sp>
        <p:nvSpPr>
          <p:cNvPr id="13" name="TextBox 12"/>
          <p:cNvSpPr txBox="1"/>
          <p:nvPr/>
        </p:nvSpPr>
        <p:spPr>
          <a:xfrm>
            <a:off x="1857356" y="1571612"/>
            <a:ext cx="873829" cy="369332"/>
          </a:xfrm>
          <a:prstGeom prst="rect">
            <a:avLst/>
          </a:prstGeom>
          <a:noFill/>
        </p:spPr>
        <p:txBody>
          <a:bodyPr wrap="none" rtlCol="0">
            <a:spAutoFit/>
          </a:bodyPr>
          <a:lstStyle/>
          <a:p>
            <a:r>
              <a:rPr lang="en-US" b="1" dirty="0"/>
              <a:t>Debate</a:t>
            </a:r>
            <a:endParaRPr lang="en-IN" b="1" dirty="0"/>
          </a:p>
        </p:txBody>
      </p:sp>
      <p:sp>
        <p:nvSpPr>
          <p:cNvPr id="14" name="TextBox 13"/>
          <p:cNvSpPr txBox="1"/>
          <p:nvPr/>
        </p:nvSpPr>
        <p:spPr>
          <a:xfrm>
            <a:off x="3428992" y="3857628"/>
            <a:ext cx="2752420" cy="369332"/>
          </a:xfrm>
          <a:prstGeom prst="rect">
            <a:avLst/>
          </a:prstGeom>
          <a:noFill/>
        </p:spPr>
        <p:txBody>
          <a:bodyPr wrap="none" rtlCol="0">
            <a:spAutoFit/>
          </a:bodyPr>
          <a:lstStyle/>
          <a:p>
            <a:r>
              <a:rPr lang="en-US" b="1" dirty="0"/>
              <a:t>Google’s ‘Duplex’ Assistant</a:t>
            </a:r>
            <a:endParaRPr lang="en-IN" b="1" dirty="0"/>
          </a:p>
        </p:txBody>
      </p:sp>
    </p:spTree>
    <p:extLst>
      <p:ext uri="{BB962C8B-B14F-4D97-AF65-F5344CB8AC3E}">
        <p14:creationId xmlns:p14="http://schemas.microsoft.com/office/powerpoint/2010/main" val="2417198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12</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1357298"/>
            <a:ext cx="8143932" cy="4339650"/>
          </a:xfrm>
          <a:prstGeom prst="rect">
            <a:avLst/>
          </a:prstGeom>
        </p:spPr>
        <p:txBody>
          <a:bodyPr wrap="square">
            <a:spAutoFit/>
          </a:bodyPr>
          <a:lstStyle/>
          <a:p>
            <a:r>
              <a:rPr lang="en-IN" sz="2000" dirty="0">
                <a:solidFill>
                  <a:srgbClr val="FF0000"/>
                </a:solidFill>
              </a:rPr>
              <a:t>1.2. What is Intelligence and Artificial Intelligence</a:t>
            </a:r>
          </a:p>
          <a:p>
            <a:r>
              <a:rPr lang="en-IN" sz="2000" b="1" dirty="0"/>
              <a:t> </a:t>
            </a:r>
            <a:endParaRPr lang="en-IN" sz="2000" dirty="0"/>
          </a:p>
          <a:p>
            <a:r>
              <a:rPr lang="en-IN" sz="2000" b="1" i="1" u="sng" dirty="0"/>
              <a:t>Define :</a:t>
            </a:r>
            <a:r>
              <a:rPr lang="en-IN" sz="2000" b="1" i="1" dirty="0"/>
              <a:t> AI as the study of agents that receive </a:t>
            </a:r>
            <a:r>
              <a:rPr lang="en-IN" sz="2000" b="1" i="1" dirty="0" err="1"/>
              <a:t>percepts</a:t>
            </a:r>
            <a:r>
              <a:rPr lang="en-IN" sz="2000" b="1" i="1" dirty="0"/>
              <a:t> from the environment and perform actions</a:t>
            </a:r>
          </a:p>
          <a:p>
            <a:endParaRPr lang="en-IN" sz="2000" dirty="0"/>
          </a:p>
          <a:p>
            <a:r>
              <a:rPr lang="en-IN" sz="2000" b="1" dirty="0"/>
              <a:t>What is Artificial Intelligence?</a:t>
            </a:r>
            <a:endParaRPr lang="en-IN" sz="2000" dirty="0"/>
          </a:p>
          <a:p>
            <a:endParaRPr lang="en-IN" sz="2000" dirty="0"/>
          </a:p>
          <a:p>
            <a:r>
              <a:rPr lang="en-IN" sz="2000" b="1" dirty="0"/>
              <a:t>Intelligence?</a:t>
            </a:r>
          </a:p>
          <a:p>
            <a:endParaRPr lang="en-IN" sz="2000" dirty="0"/>
          </a:p>
          <a:p>
            <a:r>
              <a:rPr lang="en-IN" sz="2000" i="1" dirty="0"/>
              <a:t>Intelligence has been defined in many ways: the capacity for abstraction, logic, understanding, self-awareness, learning, emotional knowledge, reasoning, planning, creativity, critical thinking, and problem-solving.</a:t>
            </a:r>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2417198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13</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1071546"/>
            <a:ext cx="8143932" cy="400110"/>
          </a:xfrm>
          <a:prstGeom prst="rect">
            <a:avLst/>
          </a:prstGeom>
        </p:spPr>
        <p:txBody>
          <a:bodyPr wrap="square">
            <a:spAutoFit/>
          </a:bodyPr>
          <a:lstStyle/>
          <a:p>
            <a:r>
              <a:rPr lang="en-IN" sz="2000" dirty="0">
                <a:solidFill>
                  <a:srgbClr val="FF0000"/>
                </a:solidFill>
              </a:rPr>
              <a:t>1.2. What is Intelligence and Artificial Intelligence</a:t>
            </a:r>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pic>
        <p:nvPicPr>
          <p:cNvPr id="11" name="Picture 2" descr="C:\Users\prashant\Desktop\deep l.png"/>
          <p:cNvPicPr>
            <a:picLocks noChangeAspect="1" noChangeArrowheads="1"/>
          </p:cNvPicPr>
          <p:nvPr/>
        </p:nvPicPr>
        <p:blipFill>
          <a:blip r:embed="rId2" cstate="print"/>
          <a:srcRect/>
          <a:stretch>
            <a:fillRect/>
          </a:stretch>
        </p:blipFill>
        <p:spPr bwMode="auto">
          <a:xfrm>
            <a:off x="2000232" y="1643050"/>
            <a:ext cx="4525463" cy="5000636"/>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14</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1.3. How AI is affecting on real life?</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pic>
        <p:nvPicPr>
          <p:cNvPr id="27650" name="Picture 2" descr="Examples of AI in Daily Life - Impact of AI on Human - TechVidvan"/>
          <p:cNvPicPr>
            <a:picLocks noChangeAspect="1" noChangeArrowheads="1"/>
          </p:cNvPicPr>
          <p:nvPr/>
        </p:nvPicPr>
        <p:blipFill>
          <a:blip r:embed="rId2"/>
          <a:srcRect/>
          <a:stretch>
            <a:fillRect/>
          </a:stretch>
        </p:blipFill>
        <p:spPr bwMode="auto">
          <a:xfrm>
            <a:off x="642910" y="1500174"/>
            <a:ext cx="7639050" cy="4000501"/>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15</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1.3. How AI is affecting on real life?</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pic>
        <p:nvPicPr>
          <p:cNvPr id="28674" name="Picture 2" descr="Impact of AI on everyday life - iCircuit"/>
          <p:cNvPicPr>
            <a:picLocks noChangeAspect="1" noChangeArrowheads="1"/>
          </p:cNvPicPr>
          <p:nvPr/>
        </p:nvPicPr>
        <p:blipFill>
          <a:blip r:embed="rId2"/>
          <a:srcRect/>
          <a:stretch>
            <a:fillRect/>
          </a:stretch>
        </p:blipFill>
        <p:spPr bwMode="auto">
          <a:xfrm>
            <a:off x="428596" y="1571612"/>
            <a:ext cx="7965319" cy="4589394"/>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16</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1.4. Different branches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pic>
        <p:nvPicPr>
          <p:cNvPr id="11" name="Picture 10" descr="Branches Of Artificial Intelligence | by Prachi Mate | My Road To Artificial  Intelligence | Medium"/>
          <p:cNvPicPr/>
          <p:nvPr/>
        </p:nvPicPr>
        <p:blipFill>
          <a:blip r:embed="rId2" cstate="print"/>
          <a:srcRect/>
          <a:stretch>
            <a:fillRect/>
          </a:stretch>
        </p:blipFill>
        <p:spPr bwMode="auto">
          <a:xfrm>
            <a:off x="571472" y="1500175"/>
            <a:ext cx="7572427" cy="4429155"/>
          </a:xfrm>
          <a:prstGeom prst="rect">
            <a:avLst/>
          </a:prstGeom>
          <a:noFill/>
          <a:ln w="9525">
            <a:noFill/>
            <a:miter lim="800000"/>
            <a:headEnd/>
            <a:tailEnd/>
          </a:ln>
        </p:spPr>
      </p:pic>
    </p:spTree>
    <p:extLst>
      <p:ext uri="{BB962C8B-B14F-4D97-AF65-F5344CB8AC3E}">
        <p14:creationId xmlns:p14="http://schemas.microsoft.com/office/powerpoint/2010/main" val="2417198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17</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1.4. Different branches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pic>
        <p:nvPicPr>
          <p:cNvPr id="29698" name="Picture 2" descr="Listing the major branches of AI that include Machine Learning, Neural Network, Robotics, Expert Systems, Fuzzy Logic, and Natural Language Processing."/>
          <p:cNvPicPr>
            <a:picLocks noChangeAspect="1" noChangeArrowheads="1"/>
          </p:cNvPicPr>
          <p:nvPr/>
        </p:nvPicPr>
        <p:blipFill>
          <a:blip r:embed="rId2"/>
          <a:srcRect/>
          <a:stretch>
            <a:fillRect/>
          </a:stretch>
        </p:blipFill>
        <p:spPr bwMode="auto">
          <a:xfrm>
            <a:off x="214282" y="1500174"/>
            <a:ext cx="8632041" cy="4143381"/>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18</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1.4. Different branches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2862322"/>
          </a:xfrm>
          <a:prstGeom prst="rect">
            <a:avLst/>
          </a:prstGeom>
        </p:spPr>
        <p:txBody>
          <a:bodyPr wrap="square">
            <a:spAutoFit/>
          </a:bodyPr>
          <a:lstStyle/>
          <a:p>
            <a:r>
              <a:rPr lang="en-IN" b="1" dirty="0"/>
              <a:t>1. </a:t>
            </a:r>
            <a:r>
              <a:rPr lang="en-IN" b="1" u="sng" dirty="0"/>
              <a:t>Machine learning</a:t>
            </a:r>
            <a:endParaRPr lang="en-IN" dirty="0"/>
          </a:p>
          <a:p>
            <a:r>
              <a:rPr lang="en-IN" dirty="0"/>
              <a:t> </a:t>
            </a:r>
          </a:p>
          <a:p>
            <a:pPr algn="just"/>
            <a:r>
              <a:rPr lang="en-IN" i="1" dirty="0"/>
              <a:t>Machine Learning is the technique that gives computers the potential to learn without being programmed. it is the science that enables machines to translate, execute and investigate data for solving real-world problems.</a:t>
            </a:r>
          </a:p>
          <a:p>
            <a:pPr algn="just"/>
            <a:endParaRPr lang="en-US" b="1" dirty="0"/>
          </a:p>
          <a:p>
            <a:pPr algn="just"/>
            <a:r>
              <a:rPr lang="en-IN" dirty="0"/>
              <a:t>self-driving cars, image and speech recognition, demand forecasting models, useful web search and various extensive applications. It basically converges on the applications that adapt from experience and advance their decision-making potential or predictive accuracy over a period of time.</a:t>
            </a:r>
            <a:endParaRPr lang="en-IN" b="1" dirty="0"/>
          </a:p>
        </p:txBody>
      </p:sp>
    </p:spTree>
    <p:extLst>
      <p:ext uri="{BB962C8B-B14F-4D97-AF65-F5344CB8AC3E}">
        <p14:creationId xmlns:p14="http://schemas.microsoft.com/office/powerpoint/2010/main" val="2417198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19</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1.4. Different branches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3416320"/>
          </a:xfrm>
          <a:prstGeom prst="rect">
            <a:avLst/>
          </a:prstGeom>
        </p:spPr>
        <p:txBody>
          <a:bodyPr wrap="square">
            <a:spAutoFit/>
          </a:bodyPr>
          <a:lstStyle/>
          <a:p>
            <a:r>
              <a:rPr lang="en-IN" b="1" dirty="0"/>
              <a:t>2. </a:t>
            </a:r>
            <a:r>
              <a:rPr lang="en-IN" b="1" u="sng" dirty="0"/>
              <a:t>Neural Network</a:t>
            </a:r>
            <a:endParaRPr lang="en-IN" dirty="0"/>
          </a:p>
          <a:p>
            <a:r>
              <a:rPr lang="en-IN" dirty="0"/>
              <a:t> </a:t>
            </a:r>
          </a:p>
          <a:p>
            <a:r>
              <a:rPr lang="en-IN" dirty="0"/>
              <a:t>It is a branch of artificial intelligence that makes use of neurology ( a part of biology that concerns the nerve and nervous system of the human brain). Neural network replicates the human brain where the human brain comprises an infinite number of neurons and to code brain-neurons into a system or a machine is what the neural network functions.</a:t>
            </a:r>
          </a:p>
          <a:p>
            <a:endParaRPr lang="en-IN" dirty="0"/>
          </a:p>
          <a:p>
            <a:r>
              <a:rPr lang="en-IN" dirty="0"/>
              <a:t>Neural network refers to a system of neurons that are original . The artificial neurons are known as </a:t>
            </a:r>
            <a:r>
              <a:rPr lang="en-IN" dirty="0" err="1"/>
              <a:t>perceptrons</a:t>
            </a:r>
            <a:r>
              <a:rPr lang="en-IN" dirty="0"/>
              <a:t> </a:t>
            </a:r>
          </a:p>
          <a:p>
            <a:endParaRPr lang="en-US" dirty="0"/>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20</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1.4. Different branches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4524315"/>
          </a:xfrm>
          <a:prstGeom prst="rect">
            <a:avLst/>
          </a:prstGeom>
        </p:spPr>
        <p:txBody>
          <a:bodyPr wrap="square">
            <a:spAutoFit/>
          </a:bodyPr>
          <a:lstStyle/>
          <a:p>
            <a:r>
              <a:rPr lang="en-IN" b="1" dirty="0"/>
              <a:t>3. </a:t>
            </a:r>
            <a:r>
              <a:rPr lang="en-IN" b="1" u="sng" dirty="0"/>
              <a:t>Robotics</a:t>
            </a:r>
            <a:endParaRPr lang="en-IN" dirty="0"/>
          </a:p>
          <a:p>
            <a:r>
              <a:rPr lang="en-IN" dirty="0"/>
              <a:t> </a:t>
            </a:r>
          </a:p>
          <a:p>
            <a:r>
              <a:rPr lang="en-IN" dirty="0"/>
              <a:t>It mainly focuses on designing and constructing robots. </a:t>
            </a:r>
          </a:p>
          <a:p>
            <a:r>
              <a:rPr lang="en-IN" dirty="0"/>
              <a:t> </a:t>
            </a:r>
          </a:p>
          <a:p>
            <a:r>
              <a:rPr lang="en-IN" dirty="0"/>
              <a:t>Robotics is an interdisciplinary field of science and engineering incorporated with </a:t>
            </a:r>
            <a:r>
              <a:rPr lang="en-IN" b="1" dirty="0"/>
              <a:t>mechanical </a:t>
            </a:r>
            <a:r>
              <a:rPr lang="en-IN" dirty="0"/>
              <a:t>engineering, electrical </a:t>
            </a:r>
            <a:r>
              <a:rPr lang="en-IN" b="1" dirty="0"/>
              <a:t>engineering</a:t>
            </a:r>
            <a:r>
              <a:rPr lang="en-IN" dirty="0"/>
              <a:t>, </a:t>
            </a:r>
            <a:r>
              <a:rPr lang="en-IN" b="1" dirty="0"/>
              <a:t>computer science</a:t>
            </a:r>
            <a:r>
              <a:rPr lang="en-IN" dirty="0"/>
              <a:t>, and many </a:t>
            </a:r>
            <a:r>
              <a:rPr lang="en-IN" b="1" dirty="0"/>
              <a:t>others</a:t>
            </a:r>
            <a:r>
              <a:rPr lang="en-IN" dirty="0"/>
              <a:t>. </a:t>
            </a:r>
            <a:r>
              <a:rPr lang="en-IN" b="1" dirty="0"/>
              <a:t>Robotics determines the designing, producing, operating, and usage of robots</a:t>
            </a:r>
            <a:r>
              <a:rPr lang="en-IN" dirty="0"/>
              <a:t>. It deals with computer systems for their </a:t>
            </a:r>
            <a:r>
              <a:rPr lang="en-IN" b="1" dirty="0"/>
              <a:t>control, intelligent outcomes, and information transformation. </a:t>
            </a:r>
          </a:p>
          <a:p>
            <a:r>
              <a:rPr lang="en-IN" dirty="0"/>
              <a:t> </a:t>
            </a:r>
          </a:p>
          <a:p>
            <a:r>
              <a:rPr lang="en-IN" dirty="0"/>
              <a:t>Robots are deployed often for conducting tasks that might be laborious for humans to perform steadily. Major of robotics tasks involved- assembly line for automobile manufacturing, for moving large objects in space by NASA. </a:t>
            </a:r>
          </a:p>
          <a:p>
            <a:br>
              <a:rPr lang="en-IN" dirty="0"/>
            </a:br>
            <a:endParaRPr lang="en-US" dirty="0"/>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21</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1.4. Different branches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3970318"/>
          </a:xfrm>
          <a:prstGeom prst="rect">
            <a:avLst/>
          </a:prstGeom>
        </p:spPr>
        <p:txBody>
          <a:bodyPr wrap="square">
            <a:spAutoFit/>
          </a:bodyPr>
          <a:lstStyle/>
          <a:p>
            <a:r>
              <a:rPr lang="en-IN" b="1" dirty="0"/>
              <a:t>4. </a:t>
            </a:r>
            <a:r>
              <a:rPr lang="en-IN" b="1" u="sng" dirty="0"/>
              <a:t>Expert Systems</a:t>
            </a:r>
            <a:endParaRPr lang="en-IN" dirty="0"/>
          </a:p>
          <a:p>
            <a:r>
              <a:rPr lang="en-IN" dirty="0"/>
              <a:t> </a:t>
            </a:r>
          </a:p>
          <a:p>
            <a:endParaRPr lang="en-IN" dirty="0"/>
          </a:p>
          <a:p>
            <a:r>
              <a:rPr lang="en-IN" dirty="0"/>
              <a:t>It refers to a computer system that </a:t>
            </a:r>
            <a:r>
              <a:rPr lang="en-IN" b="1" dirty="0"/>
              <a:t>mimics the decision-making intelligence </a:t>
            </a:r>
            <a:r>
              <a:rPr lang="en-IN" dirty="0"/>
              <a:t>of a human expert. It conducts this by deriving knowledge from its knowledge base by implementing reasoning and insights rules in terms with the user queries.</a:t>
            </a:r>
          </a:p>
          <a:p>
            <a:r>
              <a:rPr lang="en-IN" dirty="0"/>
              <a:t> </a:t>
            </a:r>
          </a:p>
          <a:p>
            <a:r>
              <a:rPr lang="en-IN" i="1" dirty="0"/>
              <a:t>The effectiveness of the expert system completely relies on the expert’s knowledge accumulated in a knowledge base.  The more the information collected in it, the more the system enhances its efficiency. For example, the expert system provides suggestions for spelling and errors in Google Search Engine. </a:t>
            </a:r>
            <a:endParaRPr lang="en-IN" dirty="0"/>
          </a:p>
          <a:p>
            <a:br>
              <a:rPr lang="en-IN" dirty="0"/>
            </a:br>
            <a:endParaRPr lang="en-US" dirty="0"/>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22</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1.4. Different branches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3416320"/>
          </a:xfrm>
          <a:prstGeom prst="rect">
            <a:avLst/>
          </a:prstGeom>
        </p:spPr>
        <p:txBody>
          <a:bodyPr wrap="square">
            <a:spAutoFit/>
          </a:bodyPr>
          <a:lstStyle/>
          <a:p>
            <a:r>
              <a:rPr lang="en-IN" b="1" dirty="0"/>
              <a:t>5. </a:t>
            </a:r>
            <a:r>
              <a:rPr lang="en-IN" b="1" u="sng" dirty="0"/>
              <a:t>Fuzzy Logic</a:t>
            </a:r>
            <a:endParaRPr lang="en-IN" dirty="0"/>
          </a:p>
          <a:p>
            <a:r>
              <a:rPr lang="en-IN" dirty="0"/>
              <a:t> </a:t>
            </a:r>
          </a:p>
          <a:p>
            <a:r>
              <a:rPr lang="en-IN" dirty="0"/>
              <a:t>In the real world, sometimes we face a condition where it is difficult to recognize whether the condition is true or not, </a:t>
            </a:r>
            <a:r>
              <a:rPr lang="en-IN" b="1" dirty="0"/>
              <a:t>F</a:t>
            </a:r>
            <a:r>
              <a:rPr lang="en-IN" b="1" u="sng" dirty="0"/>
              <a:t>uzzy logic</a:t>
            </a:r>
            <a:r>
              <a:rPr lang="en-IN" b="1" dirty="0"/>
              <a:t> gives relevant flexibility for reasoning that leads to inaccuracies and uncertainties of any condition</a:t>
            </a:r>
            <a:r>
              <a:rPr lang="en-IN" dirty="0"/>
              <a:t>. </a:t>
            </a:r>
          </a:p>
          <a:p>
            <a:r>
              <a:rPr lang="en-IN" dirty="0"/>
              <a:t> </a:t>
            </a:r>
          </a:p>
          <a:p>
            <a:r>
              <a:rPr lang="en-IN" dirty="0"/>
              <a:t>In simpler terms, Fuzzy logic is a technique that represents and modifies uncertain information by measuring the degree to which the hypothesis is correct. Fuzzy logic is also used for reasoning about naturally uncertain concepts. </a:t>
            </a:r>
          </a:p>
          <a:p>
            <a:br>
              <a:rPr lang="en-IN" dirty="0"/>
            </a:br>
            <a:endParaRPr lang="en-US" dirty="0"/>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23</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dirty="0">
                <a:solidFill>
                  <a:srgbClr val="FF0000"/>
                </a:solidFill>
              </a:rPr>
              <a:t>1.4. Different branches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3416320"/>
          </a:xfrm>
          <a:prstGeom prst="rect">
            <a:avLst/>
          </a:prstGeom>
        </p:spPr>
        <p:txBody>
          <a:bodyPr wrap="square">
            <a:spAutoFit/>
          </a:bodyPr>
          <a:lstStyle/>
          <a:p>
            <a:r>
              <a:rPr lang="en-IN" b="1" dirty="0"/>
              <a:t>6. </a:t>
            </a:r>
            <a:r>
              <a:rPr lang="en-IN" b="1" u="sng" dirty="0"/>
              <a:t>Natural Language Processing</a:t>
            </a:r>
            <a:r>
              <a:rPr lang="en-IN" b="1" dirty="0"/>
              <a:t>  </a:t>
            </a:r>
            <a:endParaRPr lang="en-IN" dirty="0"/>
          </a:p>
          <a:p>
            <a:r>
              <a:rPr lang="en-IN" dirty="0"/>
              <a:t> </a:t>
            </a:r>
          </a:p>
          <a:p>
            <a:r>
              <a:rPr lang="en-IN" dirty="0"/>
              <a:t>NLP is the part of computer science and AI that can help in communicating between computer and human by natural language. It is a technique of computational processing of human languages. It enables a computer to read and understand data by mimicking human natural language. </a:t>
            </a:r>
          </a:p>
          <a:p>
            <a:endParaRPr lang="en-IN" dirty="0"/>
          </a:p>
          <a:p>
            <a:r>
              <a:rPr lang="en-IN" dirty="0"/>
              <a:t>NLP is a method that deals in searching, analyzing, understanding and deriving information from the </a:t>
            </a:r>
            <a:r>
              <a:rPr lang="en-IN" b="1" dirty="0"/>
              <a:t>text form of data</a:t>
            </a:r>
            <a:r>
              <a:rPr lang="en-IN" dirty="0"/>
              <a:t>. In order to teach computers how to extract </a:t>
            </a:r>
            <a:r>
              <a:rPr lang="en-IN" b="1" dirty="0"/>
              <a:t>meaningful information from the text data.</a:t>
            </a:r>
            <a:br>
              <a:rPr lang="en-IN" dirty="0"/>
            </a:br>
            <a:endParaRPr lang="en-US" dirty="0"/>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24</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b="1" dirty="0">
                <a:solidFill>
                  <a:srgbClr val="FF0000"/>
                </a:solidFill>
              </a:rPr>
              <a:t>1.5. Limitations of AI</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5909310"/>
          </a:xfrm>
          <a:prstGeom prst="rect">
            <a:avLst/>
          </a:prstGeom>
        </p:spPr>
        <p:txBody>
          <a:bodyPr wrap="square">
            <a:spAutoFit/>
          </a:bodyPr>
          <a:lstStyle/>
          <a:p>
            <a:pPr>
              <a:buFont typeface="Wingdings" pitchFamily="2" charset="2"/>
              <a:buChar char="v"/>
            </a:pPr>
            <a:r>
              <a:rPr lang="en-IN" dirty="0"/>
              <a:t>One of the main barriers to implementing AI is </a:t>
            </a:r>
            <a:r>
              <a:rPr lang="en-IN" b="1" dirty="0"/>
              <a:t>the availability of data. </a:t>
            </a:r>
            <a:r>
              <a:rPr lang="en-IN" dirty="0"/>
              <a:t>Data is often  inconsistent and of poor quality</a:t>
            </a:r>
          </a:p>
          <a:p>
            <a:pPr>
              <a:buFont typeface="Wingdings" pitchFamily="2" charset="2"/>
              <a:buChar char="v"/>
            </a:pPr>
            <a:endParaRPr lang="en-US" dirty="0"/>
          </a:p>
          <a:p>
            <a:pPr>
              <a:buFont typeface="Wingdings" pitchFamily="2" charset="2"/>
              <a:buChar char="v"/>
            </a:pPr>
            <a:r>
              <a:rPr lang="en-IN" b="1" dirty="0"/>
              <a:t>skills shortage</a:t>
            </a:r>
            <a:r>
              <a:rPr lang="en-IN" dirty="0"/>
              <a:t> and the availability of </a:t>
            </a:r>
            <a:r>
              <a:rPr lang="en-IN" b="1" dirty="0"/>
              <a:t>technical staff with the experience </a:t>
            </a:r>
            <a:r>
              <a:rPr lang="en-IN" dirty="0"/>
              <a:t>and training necessary to effectively deploy and operate AI solutions. </a:t>
            </a:r>
          </a:p>
          <a:p>
            <a:pPr>
              <a:buFont typeface="Wingdings" pitchFamily="2" charset="2"/>
              <a:buChar char="v"/>
            </a:pPr>
            <a:endParaRPr lang="en-US" dirty="0"/>
          </a:p>
          <a:p>
            <a:pPr>
              <a:buFont typeface="Wingdings" pitchFamily="2" charset="2"/>
              <a:buChar char="v"/>
            </a:pPr>
            <a:r>
              <a:rPr lang="en-US" dirty="0"/>
              <a:t>Higher Cost-</a:t>
            </a:r>
          </a:p>
          <a:p>
            <a:pPr>
              <a:buFont typeface="Wingdings" pitchFamily="2" charset="2"/>
              <a:buChar char="v"/>
            </a:pPr>
            <a:endParaRPr lang="en-US" dirty="0"/>
          </a:p>
          <a:p>
            <a:pPr>
              <a:buFont typeface="Wingdings" pitchFamily="2" charset="2"/>
              <a:buChar char="v"/>
            </a:pPr>
            <a:r>
              <a:rPr lang="en-IN" b="1" dirty="0"/>
              <a:t>Risk</a:t>
            </a:r>
            <a:r>
              <a:rPr lang="en-IN" dirty="0"/>
              <a:t> of losing code or important data</a:t>
            </a:r>
          </a:p>
          <a:p>
            <a:pPr>
              <a:buFont typeface="Wingdings" pitchFamily="2" charset="2"/>
              <a:buChar char="v"/>
            </a:pPr>
            <a:endParaRPr lang="en-US" dirty="0"/>
          </a:p>
          <a:p>
            <a:pPr>
              <a:buFont typeface="Wingdings" pitchFamily="2" charset="2"/>
              <a:buChar char="v"/>
            </a:pPr>
            <a:r>
              <a:rPr lang="en-IN" dirty="0"/>
              <a:t>The potential of automation technology to give rise to </a:t>
            </a:r>
            <a:r>
              <a:rPr lang="en-IN" b="1" dirty="0"/>
              <a:t>job losses</a:t>
            </a:r>
          </a:p>
          <a:p>
            <a:pPr>
              <a:buFont typeface="Wingdings" pitchFamily="2" charset="2"/>
              <a:buChar char="v"/>
            </a:pPr>
            <a:endParaRPr lang="en-US" dirty="0"/>
          </a:p>
          <a:p>
            <a:pPr>
              <a:buFont typeface="Wingdings" pitchFamily="2" charset="2"/>
              <a:buChar char="v"/>
            </a:pPr>
            <a:r>
              <a:rPr lang="en-IN" dirty="0"/>
              <a:t>The need to </a:t>
            </a:r>
            <a:r>
              <a:rPr lang="en-IN" b="1" dirty="0"/>
              <a:t>redeploy or retrain employees </a:t>
            </a:r>
            <a:r>
              <a:rPr lang="en-IN" dirty="0"/>
              <a:t>to keep them in jobs</a:t>
            </a:r>
          </a:p>
          <a:p>
            <a:pPr>
              <a:buFont typeface="Wingdings" pitchFamily="2" charset="2"/>
              <a:buChar char="v"/>
            </a:pPr>
            <a:endParaRPr lang="en-US" dirty="0"/>
          </a:p>
          <a:p>
            <a:pPr>
              <a:buFont typeface="Wingdings" pitchFamily="2" charset="2"/>
              <a:buChar char="v"/>
            </a:pPr>
            <a:r>
              <a:rPr lang="en-IN" dirty="0"/>
              <a:t>The </a:t>
            </a:r>
            <a:r>
              <a:rPr lang="en-IN" b="1" dirty="0"/>
              <a:t>effect of machine interaction </a:t>
            </a:r>
            <a:r>
              <a:rPr lang="en-IN" dirty="0"/>
              <a:t>on human behaviour and attention</a:t>
            </a:r>
          </a:p>
          <a:p>
            <a:pPr>
              <a:buFont typeface="Wingdings" pitchFamily="2" charset="2"/>
              <a:buChar char="v"/>
            </a:pPr>
            <a:endParaRPr lang="en-US" dirty="0"/>
          </a:p>
          <a:p>
            <a:pPr>
              <a:buFont typeface="Wingdings" pitchFamily="2" charset="2"/>
              <a:buChar char="v"/>
            </a:pPr>
            <a:r>
              <a:rPr lang="en-IN" dirty="0"/>
              <a:t>the need to address </a:t>
            </a:r>
            <a:r>
              <a:rPr lang="en-IN" b="1" dirty="0"/>
              <a:t>algorithmic bias </a:t>
            </a:r>
            <a:r>
              <a:rPr lang="en-IN" dirty="0"/>
              <a:t>originating from human bias in the data</a:t>
            </a:r>
          </a:p>
          <a:p>
            <a:pPr>
              <a:buFont typeface="Wingdings" pitchFamily="2" charset="2"/>
              <a:buChar char="v"/>
            </a:pPr>
            <a:endParaRPr lang="en-IN" dirty="0"/>
          </a:p>
          <a:p>
            <a:pPr>
              <a:buFont typeface="Wingdings" pitchFamily="2" charset="2"/>
              <a:buChar char="v"/>
            </a:pPr>
            <a:r>
              <a:rPr lang="en-IN" dirty="0"/>
              <a:t>customer privacy,  potential lack of transparency ,technological complexity</a:t>
            </a:r>
          </a:p>
          <a:p>
            <a:endParaRPr lang="en-IN" dirty="0"/>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25</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b="1" dirty="0">
                <a:solidFill>
                  <a:srgbClr val="FF0000"/>
                </a:solidFill>
              </a:rPr>
              <a:t>1.6. Need of knowledge Representation</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5355312"/>
          </a:xfrm>
          <a:prstGeom prst="rect">
            <a:avLst/>
          </a:prstGeom>
        </p:spPr>
        <p:txBody>
          <a:bodyPr wrap="square">
            <a:spAutoFit/>
          </a:bodyPr>
          <a:lstStyle/>
          <a:p>
            <a:r>
              <a:rPr lang="en-IN" dirty="0"/>
              <a:t>Knowledge representation is not just storing data in some database. Still, it also </a:t>
            </a:r>
            <a:r>
              <a:rPr lang="en-IN" b="1" dirty="0"/>
              <a:t>enables an intelligent device to learn from that knowledge and experience to behave intelligently like a human</a:t>
            </a:r>
          </a:p>
          <a:p>
            <a:endParaRPr lang="en-US" b="1" dirty="0"/>
          </a:p>
          <a:p>
            <a:r>
              <a:rPr lang="en-IN" dirty="0"/>
              <a:t>Humans are best at understanding, reasoning, and interpreting knowledge. Human knows things, which is knowledge and as per their knowledge they perform various actions in the real world. </a:t>
            </a:r>
            <a:r>
              <a:rPr lang="en-IN" b="1" dirty="0"/>
              <a:t>But how machines do all these things comes under knowledge representation and reasoning</a:t>
            </a:r>
            <a:r>
              <a:rPr lang="en-IN" dirty="0"/>
              <a:t>. Hence we can describe Knowledge representation as following:</a:t>
            </a:r>
          </a:p>
          <a:p>
            <a:endParaRPr lang="en-IN" dirty="0"/>
          </a:p>
          <a:p>
            <a:r>
              <a:rPr lang="en-IN" dirty="0"/>
              <a:t>Knowledge representation and reasoning (KR, KRR) is the part of Artificial intelligence which concerned with AI agents thinking and how thinking contributes to intelligent </a:t>
            </a:r>
            <a:r>
              <a:rPr lang="en-IN" dirty="0" err="1"/>
              <a:t>behavior</a:t>
            </a:r>
            <a:r>
              <a:rPr lang="en-IN" dirty="0"/>
              <a:t> of agents.</a:t>
            </a:r>
          </a:p>
          <a:p>
            <a:endParaRPr lang="en-IN" dirty="0"/>
          </a:p>
          <a:p>
            <a:r>
              <a:rPr lang="en-IN" b="1" dirty="0"/>
              <a:t>It is responsible for representing information about the real world so that a computer can understand and can utilize this knowledge to solve the complex real world problems</a:t>
            </a:r>
            <a:r>
              <a:rPr lang="en-IN" dirty="0"/>
              <a:t> e.g. diagnosis a medical condition or communicating with humans in natural language.</a:t>
            </a:r>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26</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569660"/>
          </a:xfrm>
          <a:prstGeom prst="rect">
            <a:avLst/>
          </a:prstGeom>
        </p:spPr>
        <p:txBody>
          <a:bodyPr wrap="square">
            <a:spAutoFit/>
          </a:bodyPr>
          <a:lstStyle/>
          <a:p>
            <a:r>
              <a:rPr lang="en-IN" sz="2000" b="1" dirty="0">
                <a:solidFill>
                  <a:srgbClr val="FF0000"/>
                </a:solidFill>
              </a:rPr>
              <a:t>1.6. Need of knowledge Representation</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1754326"/>
          </a:xfrm>
          <a:prstGeom prst="rect">
            <a:avLst/>
          </a:prstGeom>
        </p:spPr>
        <p:txBody>
          <a:bodyPr wrap="square">
            <a:spAutoFit/>
          </a:bodyPr>
          <a:lstStyle/>
          <a:p>
            <a:endParaRPr lang="en-IN" dirty="0"/>
          </a:p>
          <a:p>
            <a:r>
              <a:rPr lang="en-IN" dirty="0"/>
              <a:t>It is also a way which describes how we can represent knowledge in artificial intelligence. Knowledge representation is not just storing data into some database, but it also enables an intelligent machine to learn from that knowledge and experiences so that it can behave intelligently like a human.</a:t>
            </a:r>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27</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Representation and Mapping schemes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5293757"/>
          </a:xfrm>
          <a:prstGeom prst="rect">
            <a:avLst/>
          </a:prstGeom>
        </p:spPr>
        <p:txBody>
          <a:bodyPr wrap="square">
            <a:spAutoFit/>
          </a:bodyPr>
          <a:lstStyle/>
          <a:p>
            <a:pPr algn="just"/>
            <a:r>
              <a:rPr lang="en-IN" sz="2000" dirty="0">
                <a:solidFill>
                  <a:srgbClr val="FF0000"/>
                </a:solidFill>
              </a:rPr>
              <a:t>What to Represent:</a:t>
            </a:r>
          </a:p>
          <a:p>
            <a:pPr algn="just"/>
            <a:endParaRPr lang="en-IN" sz="2000" dirty="0">
              <a:solidFill>
                <a:srgbClr val="FF0000"/>
              </a:solidFill>
            </a:endParaRPr>
          </a:p>
          <a:p>
            <a:pPr algn="just"/>
            <a:r>
              <a:rPr lang="en-IN" sz="2000" dirty="0"/>
              <a:t>Following are the kind of knowledge which needs to be represented in AI systems:</a:t>
            </a:r>
          </a:p>
          <a:p>
            <a:pPr algn="just"/>
            <a:endParaRPr lang="en-IN" sz="2000" dirty="0"/>
          </a:p>
          <a:p>
            <a:pPr algn="just"/>
            <a:r>
              <a:rPr lang="en-IN" sz="2000" b="1" dirty="0"/>
              <a:t>Object:</a:t>
            </a:r>
            <a:r>
              <a:rPr lang="en-IN" sz="2000" dirty="0"/>
              <a:t> All the facts about objects in our world domain. E.g., Guitars contains strings, trumpets are brass instruments.</a:t>
            </a:r>
          </a:p>
          <a:p>
            <a:pPr algn="just"/>
            <a:r>
              <a:rPr lang="en-IN" sz="2000" b="1" dirty="0"/>
              <a:t>Events:</a:t>
            </a:r>
            <a:r>
              <a:rPr lang="en-IN" sz="2000" dirty="0"/>
              <a:t> Events are the actions which occur in our world.</a:t>
            </a:r>
          </a:p>
          <a:p>
            <a:pPr algn="just"/>
            <a:r>
              <a:rPr lang="en-IN" sz="2000" b="1" dirty="0"/>
              <a:t>Performance:</a:t>
            </a:r>
            <a:r>
              <a:rPr lang="en-IN" sz="2000" dirty="0"/>
              <a:t> It describe </a:t>
            </a:r>
            <a:r>
              <a:rPr lang="en-IN" sz="2000" dirty="0" err="1"/>
              <a:t>behavior</a:t>
            </a:r>
            <a:r>
              <a:rPr lang="en-IN" sz="2000" dirty="0"/>
              <a:t> which involves knowledge about how to do things.</a:t>
            </a:r>
          </a:p>
          <a:p>
            <a:pPr algn="just"/>
            <a:r>
              <a:rPr lang="en-IN" sz="2000" b="1" dirty="0"/>
              <a:t>Meta-knowledge:</a:t>
            </a:r>
            <a:r>
              <a:rPr lang="en-IN" sz="2000" dirty="0"/>
              <a:t> It is knowledge about what we know.</a:t>
            </a:r>
          </a:p>
          <a:p>
            <a:pPr algn="just"/>
            <a:r>
              <a:rPr lang="en-IN" sz="2000" b="1" dirty="0"/>
              <a:t>Facts:</a:t>
            </a:r>
            <a:r>
              <a:rPr lang="en-IN" sz="2000" dirty="0"/>
              <a:t> Facts are the truths about the real world and what we represent.</a:t>
            </a:r>
          </a:p>
          <a:p>
            <a:pPr algn="just"/>
            <a:r>
              <a:rPr lang="en-IN" sz="2000" b="1" dirty="0"/>
              <a:t>Knowledge-Base(KB):</a:t>
            </a:r>
            <a:r>
              <a:rPr lang="en-IN" sz="2000" dirty="0"/>
              <a:t> The central component of the knowledge-based agents is the knowledge base. Its is a group of the Sentences (Here, sentences are used as a technical term and not identical with the English language).</a:t>
            </a:r>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28</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Representation and Mapping schemes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4062651"/>
          </a:xfrm>
          <a:prstGeom prst="rect">
            <a:avLst/>
          </a:prstGeom>
        </p:spPr>
        <p:txBody>
          <a:bodyPr wrap="square">
            <a:spAutoFit/>
          </a:bodyPr>
          <a:lstStyle/>
          <a:p>
            <a:r>
              <a:rPr lang="en-IN" sz="2000" b="1" dirty="0">
                <a:solidFill>
                  <a:srgbClr val="0070C0"/>
                </a:solidFill>
              </a:rPr>
              <a:t>Categories of knowledge</a:t>
            </a:r>
          </a:p>
          <a:p>
            <a:r>
              <a:rPr lang="en-IN" sz="2000" dirty="0"/>
              <a:t>Knowledge can be categorized into two major types:</a:t>
            </a:r>
          </a:p>
          <a:p>
            <a:pPr marL="457200" indent="-457200">
              <a:buFont typeface="+mj-lt"/>
              <a:buAutoNum type="arabicPeriod"/>
            </a:pPr>
            <a:r>
              <a:rPr lang="en-IN" sz="2000" dirty="0"/>
              <a:t>Tacit knowledge</a:t>
            </a:r>
          </a:p>
          <a:p>
            <a:pPr marL="457200" indent="-457200">
              <a:buFont typeface="+mj-lt"/>
              <a:buAutoNum type="arabicPeriod"/>
            </a:pPr>
            <a:r>
              <a:rPr lang="en-IN" sz="2000" dirty="0"/>
              <a:t>Explicit knowledge</a:t>
            </a:r>
          </a:p>
          <a:p>
            <a:pPr marL="457200" indent="-457200">
              <a:buFont typeface="+mj-lt"/>
              <a:buAutoNum type="arabicPeriod"/>
            </a:pPr>
            <a:endParaRPr lang="en-IN" sz="2000" dirty="0"/>
          </a:p>
          <a:p>
            <a:r>
              <a:rPr lang="en-IN" sz="2000" b="1" dirty="0">
                <a:solidFill>
                  <a:srgbClr val="FF0000"/>
                </a:solidFill>
              </a:rPr>
              <a:t>Tacit knowledge </a:t>
            </a:r>
            <a:r>
              <a:rPr lang="en-IN" sz="2000" dirty="0"/>
              <a:t>is the knowledge which exists within a human being. It does correspond to </a:t>
            </a:r>
            <a:r>
              <a:rPr lang="en-IN" sz="2000" b="1" dirty="0"/>
              <a:t>informal or implicit </a:t>
            </a:r>
            <a:r>
              <a:rPr lang="en-IN" sz="2000" dirty="0"/>
              <a:t>type of knowledge. It is quite </a:t>
            </a:r>
            <a:r>
              <a:rPr lang="en-IN" sz="2000" b="1" dirty="0"/>
              <a:t>difficult to articulate </a:t>
            </a:r>
            <a:r>
              <a:rPr lang="en-IN" sz="2000" dirty="0"/>
              <a:t>formally and is also </a:t>
            </a:r>
            <a:r>
              <a:rPr lang="en-IN" sz="2000" b="1" dirty="0"/>
              <a:t>difficult to communicate </a:t>
            </a:r>
            <a:r>
              <a:rPr lang="en-IN" sz="2000" dirty="0"/>
              <a:t>and share.</a:t>
            </a:r>
          </a:p>
          <a:p>
            <a:r>
              <a:rPr lang="en-IN" sz="2000" b="1" dirty="0">
                <a:solidFill>
                  <a:srgbClr val="FF0000"/>
                </a:solidFill>
              </a:rPr>
              <a:t>Explicit knowledge </a:t>
            </a:r>
            <a:r>
              <a:rPr lang="en-IN" sz="2000" dirty="0"/>
              <a:t>is the knowledge which </a:t>
            </a:r>
            <a:r>
              <a:rPr lang="en-IN" sz="2000" b="1" dirty="0"/>
              <a:t>exists outside a human being</a:t>
            </a:r>
            <a:r>
              <a:rPr lang="en-IN" sz="2000" dirty="0"/>
              <a:t>. It corresponds to </a:t>
            </a:r>
            <a:r>
              <a:rPr lang="en-IN" sz="2000" b="1" dirty="0"/>
              <a:t>formal type of knowledge</a:t>
            </a:r>
            <a:r>
              <a:rPr lang="en-IN" sz="2000" dirty="0"/>
              <a:t>. It is </a:t>
            </a:r>
            <a:r>
              <a:rPr lang="en-IN" sz="2000" b="1" dirty="0"/>
              <a:t>easier to articulate </a:t>
            </a:r>
            <a:r>
              <a:rPr lang="en-IN" sz="2000" dirty="0"/>
              <a:t>compared to tacit knowledge and is easier to share, store or even process.</a:t>
            </a:r>
          </a:p>
          <a:p>
            <a:endParaRPr lang="en-IN" dirty="0"/>
          </a:p>
        </p:txBody>
      </p:sp>
    </p:spTree>
    <p:extLst>
      <p:ext uri="{BB962C8B-B14F-4D97-AF65-F5344CB8AC3E}">
        <p14:creationId xmlns:p14="http://schemas.microsoft.com/office/powerpoint/2010/main" val="2417198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29</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Representation and Mapping schemes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923330"/>
          </a:xfrm>
          <a:prstGeom prst="rect">
            <a:avLst/>
          </a:prstGeom>
        </p:spPr>
        <p:txBody>
          <a:bodyPr wrap="square">
            <a:spAutoFit/>
          </a:bodyPr>
          <a:lstStyle/>
          <a:p>
            <a:r>
              <a:rPr lang="en-IN" b="1" dirty="0"/>
              <a:t>Knowledge:</a:t>
            </a:r>
            <a:r>
              <a:rPr lang="en-IN" dirty="0"/>
              <a:t> Knowledge is awareness or familiarity gained by experiences of facts, data, and situations. </a:t>
            </a:r>
          </a:p>
          <a:p>
            <a:r>
              <a:rPr lang="en-IN" dirty="0">
                <a:solidFill>
                  <a:srgbClr val="FF0000"/>
                </a:solidFill>
              </a:rPr>
              <a:t>Types of knowledge in artificial intelligence (1.9. Types of knowledge)</a:t>
            </a: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30725" name="Picture 5" descr="C:\Users\ADMIN\Desktop\knowledge-representation-in-ai.png"/>
          <p:cNvPicPr>
            <a:picLocks noChangeAspect="1" noChangeArrowheads="1"/>
          </p:cNvPicPr>
          <p:nvPr/>
        </p:nvPicPr>
        <p:blipFill>
          <a:blip r:embed="rId2"/>
          <a:srcRect/>
          <a:stretch>
            <a:fillRect/>
          </a:stretch>
        </p:blipFill>
        <p:spPr bwMode="auto">
          <a:xfrm>
            <a:off x="2000232" y="2285991"/>
            <a:ext cx="4953003" cy="4087531"/>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30</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Representation and Mapping schemes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4524315"/>
          </a:xfrm>
          <a:prstGeom prst="rect">
            <a:avLst/>
          </a:prstGeom>
        </p:spPr>
        <p:txBody>
          <a:bodyPr wrap="square">
            <a:spAutoFit/>
          </a:bodyPr>
          <a:lstStyle/>
          <a:p>
            <a:r>
              <a:rPr lang="en-IN" b="1" dirty="0"/>
              <a:t>Knowledge:</a:t>
            </a:r>
            <a:r>
              <a:rPr lang="en-IN" dirty="0"/>
              <a:t> Knowledge is awareness or familiarity gained by experiences of facts, data, and situations. </a:t>
            </a:r>
          </a:p>
          <a:p>
            <a:r>
              <a:rPr lang="en-IN" dirty="0">
                <a:solidFill>
                  <a:srgbClr val="FF0000"/>
                </a:solidFill>
              </a:rPr>
              <a:t>Types of knowledge in artificial intelligence</a:t>
            </a:r>
            <a:r>
              <a:rPr lang="en-IN" b="1" dirty="0"/>
              <a:t> </a:t>
            </a:r>
          </a:p>
          <a:p>
            <a:r>
              <a:rPr lang="en-IN" b="1" dirty="0"/>
              <a:t>1. Declarative Knowledge:</a:t>
            </a:r>
            <a:endParaRPr lang="en-IN" dirty="0"/>
          </a:p>
          <a:p>
            <a:r>
              <a:rPr lang="en-IN" dirty="0"/>
              <a:t>Declarative knowledge is to know about something.</a:t>
            </a:r>
          </a:p>
          <a:p>
            <a:r>
              <a:rPr lang="en-IN" dirty="0"/>
              <a:t>It </a:t>
            </a:r>
            <a:r>
              <a:rPr lang="en-IN" b="1" dirty="0"/>
              <a:t>includes concepts, facts, and objects</a:t>
            </a:r>
            <a:r>
              <a:rPr lang="en-IN" dirty="0"/>
              <a:t>.</a:t>
            </a:r>
          </a:p>
          <a:p>
            <a:r>
              <a:rPr lang="en-IN" dirty="0"/>
              <a:t>It is also called descriptive knowledge and </a:t>
            </a:r>
            <a:r>
              <a:rPr lang="en-IN" b="1" dirty="0"/>
              <a:t>expressed in declarative sentences</a:t>
            </a:r>
            <a:r>
              <a:rPr lang="en-IN" dirty="0"/>
              <a:t>.</a:t>
            </a:r>
          </a:p>
          <a:p>
            <a:r>
              <a:rPr lang="en-IN" dirty="0"/>
              <a:t>It is simpler than procedural language.</a:t>
            </a:r>
          </a:p>
          <a:p>
            <a:r>
              <a:rPr lang="en-IN" b="1" dirty="0"/>
              <a:t>2. Procedural Knowledge</a:t>
            </a:r>
            <a:endParaRPr lang="en-IN" dirty="0"/>
          </a:p>
          <a:p>
            <a:r>
              <a:rPr lang="en-IN" dirty="0"/>
              <a:t>It is also known as imperative knowledge.</a:t>
            </a:r>
          </a:p>
          <a:p>
            <a:r>
              <a:rPr lang="en-IN" dirty="0"/>
              <a:t>Procedural knowledge is a type of knowledge which is responsible for knowing how to do something.</a:t>
            </a:r>
          </a:p>
          <a:p>
            <a:r>
              <a:rPr lang="en-IN" dirty="0"/>
              <a:t>It can be directly applied to any task.</a:t>
            </a:r>
          </a:p>
          <a:p>
            <a:r>
              <a:rPr lang="en-IN" dirty="0"/>
              <a:t>It </a:t>
            </a:r>
            <a:r>
              <a:rPr lang="en-IN" b="1" dirty="0"/>
              <a:t>includes rules, strategies, procedures, agendas</a:t>
            </a:r>
            <a:r>
              <a:rPr lang="en-IN" dirty="0"/>
              <a:t>, etc.</a:t>
            </a:r>
          </a:p>
          <a:p>
            <a:r>
              <a:rPr lang="en-IN" dirty="0"/>
              <a:t>Procedural </a:t>
            </a:r>
            <a:r>
              <a:rPr lang="en-IN" b="1" dirty="0"/>
              <a:t>knowledge depends on the task </a:t>
            </a:r>
            <a:r>
              <a:rPr lang="en-IN" dirty="0"/>
              <a:t>on which it can be applied.</a:t>
            </a:r>
          </a:p>
          <a:p>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7198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31</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Representation and Mapping schemes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4524315"/>
          </a:xfrm>
          <a:prstGeom prst="rect">
            <a:avLst/>
          </a:prstGeom>
        </p:spPr>
        <p:txBody>
          <a:bodyPr wrap="square">
            <a:spAutoFit/>
          </a:bodyPr>
          <a:lstStyle/>
          <a:p>
            <a:r>
              <a:rPr lang="en-IN" b="1" dirty="0"/>
              <a:t>Knowledge:</a:t>
            </a:r>
            <a:r>
              <a:rPr lang="en-IN" dirty="0"/>
              <a:t> Knowledge is awareness or familiarity gained by experiences of facts, data, and situations. </a:t>
            </a:r>
          </a:p>
          <a:p>
            <a:r>
              <a:rPr lang="en-IN" dirty="0">
                <a:solidFill>
                  <a:srgbClr val="FF0000"/>
                </a:solidFill>
              </a:rPr>
              <a:t>Types of knowledge in artificial intelligence</a:t>
            </a:r>
            <a:r>
              <a:rPr lang="en-IN" b="1" dirty="0"/>
              <a:t> </a:t>
            </a:r>
          </a:p>
          <a:p>
            <a:r>
              <a:rPr lang="en-IN" b="1" dirty="0"/>
              <a:t>3. Meta-knowledge:</a:t>
            </a:r>
            <a:endParaRPr lang="en-IN" dirty="0"/>
          </a:p>
          <a:p>
            <a:r>
              <a:rPr lang="en-IN" dirty="0"/>
              <a:t>Knowledge about the other types of knowledge is called Meta-knowledge.</a:t>
            </a:r>
          </a:p>
          <a:p>
            <a:r>
              <a:rPr lang="en-IN" b="1" dirty="0"/>
              <a:t>4. Heuristic knowledge:</a:t>
            </a:r>
            <a:endParaRPr lang="en-IN" dirty="0"/>
          </a:p>
          <a:p>
            <a:r>
              <a:rPr lang="en-IN" dirty="0"/>
              <a:t>Heuristic knowledge is </a:t>
            </a:r>
            <a:r>
              <a:rPr lang="en-IN" b="1" dirty="0"/>
              <a:t>representing knowledge of some experts </a:t>
            </a:r>
            <a:r>
              <a:rPr lang="en-IN" dirty="0"/>
              <a:t>in a filed or subject. E.g. Salesman Travelling Problem.</a:t>
            </a:r>
          </a:p>
          <a:p>
            <a:r>
              <a:rPr lang="en-IN" dirty="0"/>
              <a:t>Heuristic knowledge is rules of thumb based on </a:t>
            </a:r>
            <a:r>
              <a:rPr lang="en-IN" b="1" dirty="0"/>
              <a:t>previous experiences, awareness of approaches, and which are good to work but not guaranteed.</a:t>
            </a:r>
          </a:p>
          <a:p>
            <a:r>
              <a:rPr lang="en-IN" b="1" dirty="0"/>
              <a:t>5. Structural knowledge:</a:t>
            </a:r>
            <a:endParaRPr lang="en-IN" dirty="0"/>
          </a:p>
          <a:p>
            <a:r>
              <a:rPr lang="en-IN" dirty="0"/>
              <a:t>Structural knowledge is basic knowledge to problem-solving.</a:t>
            </a:r>
          </a:p>
          <a:p>
            <a:r>
              <a:rPr lang="en-IN" dirty="0"/>
              <a:t>It describes relationships between various concepts such as kind of, part of, and grouping of something.</a:t>
            </a:r>
          </a:p>
          <a:p>
            <a:r>
              <a:rPr lang="en-IN" dirty="0"/>
              <a:t>It describes the relationship that exists between concepts or objects.</a:t>
            </a:r>
          </a:p>
          <a:p>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7198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32</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Representation and Mapping schemes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646331"/>
          </a:xfrm>
          <a:prstGeom prst="rect">
            <a:avLst/>
          </a:prstGeom>
        </p:spPr>
        <p:txBody>
          <a:bodyPr wrap="square">
            <a:spAutoFit/>
          </a:bodyPr>
          <a:lstStyle/>
          <a:p>
            <a:r>
              <a:rPr lang="en-IN" dirty="0">
                <a:solidFill>
                  <a:srgbClr val="FF0000"/>
                </a:solidFill>
              </a:rPr>
              <a:t>The relation between knowledge and intelligence:</a:t>
            </a:r>
          </a:p>
          <a:p>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46082" name="Picture 2" descr="C:\Users\ADMIN\Desktop\knowledge-representation-in-ai2.png"/>
          <p:cNvPicPr>
            <a:picLocks noChangeAspect="1" noChangeArrowheads="1"/>
          </p:cNvPicPr>
          <p:nvPr/>
        </p:nvPicPr>
        <p:blipFill>
          <a:blip r:embed="rId2"/>
          <a:srcRect/>
          <a:stretch>
            <a:fillRect/>
          </a:stretch>
        </p:blipFill>
        <p:spPr bwMode="auto">
          <a:xfrm>
            <a:off x="1000100" y="1928802"/>
            <a:ext cx="6500858" cy="4030533"/>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33</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Mapping schemes/Approaches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2585323"/>
          </a:xfrm>
          <a:prstGeom prst="rect">
            <a:avLst/>
          </a:prstGeom>
        </p:spPr>
        <p:txBody>
          <a:bodyPr wrap="square">
            <a:spAutoFit/>
          </a:bodyPr>
          <a:lstStyle/>
          <a:p>
            <a:r>
              <a:rPr lang="en-IN" sz="2400" dirty="0">
                <a:solidFill>
                  <a:srgbClr val="FF0000"/>
                </a:solidFill>
              </a:rPr>
              <a:t>Four approaches to knowledge representation</a:t>
            </a:r>
          </a:p>
          <a:p>
            <a:endParaRPr lang="en-US" sz="2400" dirty="0">
              <a:solidFill>
                <a:srgbClr val="FF0000"/>
              </a:solidFill>
            </a:endParaRPr>
          </a:p>
          <a:p>
            <a:endParaRPr lang="en-IN" sz="2400" dirty="0">
              <a:solidFill>
                <a:srgbClr val="FF0000"/>
              </a:solidFill>
            </a:endParaRPr>
          </a:p>
          <a:p>
            <a:pPr marL="342900" indent="-342900">
              <a:buAutoNum type="arabicPeriod"/>
            </a:pPr>
            <a:r>
              <a:rPr lang="en-IN" b="1" dirty="0">
                <a:solidFill>
                  <a:srgbClr val="0070C0"/>
                </a:solidFill>
              </a:rPr>
              <a:t>Simple relational knowledge</a:t>
            </a:r>
          </a:p>
          <a:p>
            <a:pPr marL="342900" indent="-342900">
              <a:buFontTx/>
              <a:buAutoNum type="arabicPeriod"/>
            </a:pPr>
            <a:r>
              <a:rPr lang="en-IN" b="1" dirty="0">
                <a:solidFill>
                  <a:srgbClr val="0070C0"/>
                </a:solidFill>
              </a:rPr>
              <a:t>Inheritable knowledge</a:t>
            </a:r>
          </a:p>
          <a:p>
            <a:pPr marL="342900" indent="-342900">
              <a:buFontTx/>
              <a:buAutoNum type="arabicPeriod"/>
            </a:pPr>
            <a:r>
              <a:rPr lang="en-IN" b="1" dirty="0">
                <a:solidFill>
                  <a:srgbClr val="0070C0"/>
                </a:solidFill>
              </a:rPr>
              <a:t>Inferential knowledge</a:t>
            </a:r>
          </a:p>
          <a:p>
            <a:pPr marL="342900" indent="-342900">
              <a:buFontTx/>
              <a:buAutoNum type="arabicPeriod"/>
            </a:pPr>
            <a:r>
              <a:rPr lang="en-IN" b="1" dirty="0">
                <a:solidFill>
                  <a:srgbClr val="0070C0"/>
                </a:solidFill>
              </a:rPr>
              <a:t>Procedural knowledge</a:t>
            </a:r>
          </a:p>
          <a:p>
            <a:pPr marL="342900" indent="-342900">
              <a:buAutoNum type="arabicPeriod"/>
            </a:pPr>
            <a:endParaRPr lang="en-IN" b="1" dirty="0">
              <a:solidFill>
                <a:srgbClr val="0070C0"/>
              </a:solidFill>
            </a:endParaRP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7198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34</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Mapping schemes/Approaches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2308324"/>
          </a:xfrm>
          <a:prstGeom prst="rect">
            <a:avLst/>
          </a:prstGeom>
        </p:spPr>
        <p:txBody>
          <a:bodyPr wrap="square">
            <a:spAutoFit/>
          </a:bodyPr>
          <a:lstStyle/>
          <a:p>
            <a:r>
              <a:rPr lang="en-IN" dirty="0">
                <a:solidFill>
                  <a:srgbClr val="FF0000"/>
                </a:solidFill>
              </a:rPr>
              <a:t>Four approaches to knowledge representation</a:t>
            </a:r>
          </a:p>
          <a:p>
            <a:r>
              <a:rPr lang="en-IN" b="1" dirty="0">
                <a:solidFill>
                  <a:srgbClr val="0070C0"/>
                </a:solidFill>
              </a:rPr>
              <a:t>1. Simple relational knowledge:</a:t>
            </a:r>
          </a:p>
          <a:p>
            <a:r>
              <a:rPr lang="en-IN" dirty="0"/>
              <a:t>It is the simplest way of storing facts which uses the relational method, and each fact about a set of the object is set out systematically in columns.</a:t>
            </a:r>
          </a:p>
          <a:p>
            <a:r>
              <a:rPr lang="en-IN" dirty="0"/>
              <a:t>This approach of knowledge representation is famous in database systems where the relationship between different entities is represented.</a:t>
            </a:r>
          </a:p>
          <a:p>
            <a:r>
              <a:rPr lang="en-IN" dirty="0"/>
              <a:t>This approach has little opportunity for inference.</a:t>
            </a:r>
          </a:p>
          <a:p>
            <a:r>
              <a:rPr lang="en-IN" b="1" dirty="0"/>
              <a:t>Example: The following is the simple relational knowledge representation.</a:t>
            </a: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graphicFrame>
        <p:nvGraphicFramePr>
          <p:cNvPr id="13" name="Table 12"/>
          <p:cNvGraphicFramePr>
            <a:graphicFrameLocks noGrp="1"/>
          </p:cNvGraphicFramePr>
          <p:nvPr/>
        </p:nvGraphicFramePr>
        <p:xfrm>
          <a:off x="1214414" y="4071942"/>
          <a:ext cx="6096000" cy="1568532"/>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434994">
                <a:tc>
                  <a:txBody>
                    <a:bodyPr/>
                    <a:lstStyle/>
                    <a:p>
                      <a:pPr algn="l" fontAlgn="t"/>
                      <a:r>
                        <a:rPr lang="en-IN" sz="1600">
                          <a:solidFill>
                            <a:srgbClr val="000000"/>
                          </a:solidFill>
                          <a:latin typeface="times new roman"/>
                        </a:rPr>
                        <a:t>Player</a:t>
                      </a:r>
                    </a:p>
                  </a:txBody>
                  <a:tcPr marL="98862" marR="98862" marT="98862" marB="98862">
                    <a:lnL w="9525" cap="flat" cmpd="sng" algn="ctr">
                      <a:solidFill>
                        <a:srgbClr val="B022FC"/>
                      </a:solidFill>
                      <a:prstDash val="solid"/>
                      <a:round/>
                      <a:headEnd type="none" w="med" len="med"/>
                      <a:tailEnd type="none" w="med" len="med"/>
                    </a:lnL>
                    <a:lnR w="9525" cap="flat" cmpd="sng" algn="ctr">
                      <a:solidFill>
                        <a:srgbClr val="B022FC"/>
                      </a:solidFill>
                      <a:prstDash val="solid"/>
                      <a:round/>
                      <a:headEnd type="none" w="med" len="med"/>
                      <a:tailEnd type="none" w="med" len="med"/>
                    </a:lnR>
                    <a:lnT w="9525" cap="flat" cmpd="sng" algn="ctr">
                      <a:solidFill>
                        <a:srgbClr val="B022FC"/>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600">
                          <a:solidFill>
                            <a:srgbClr val="000000"/>
                          </a:solidFill>
                          <a:latin typeface="times new roman"/>
                        </a:rPr>
                        <a:t>Weight</a:t>
                      </a:r>
                    </a:p>
                  </a:txBody>
                  <a:tcPr marL="98862" marR="98862" marT="98862" marB="98862">
                    <a:lnL w="9525" cap="flat" cmpd="sng" algn="ctr">
                      <a:solidFill>
                        <a:srgbClr val="B022FC"/>
                      </a:solidFill>
                      <a:prstDash val="solid"/>
                      <a:round/>
                      <a:headEnd type="none" w="med" len="med"/>
                      <a:tailEnd type="none" w="med" len="med"/>
                    </a:lnL>
                    <a:lnR w="9525" cap="flat" cmpd="sng" algn="ctr">
                      <a:solidFill>
                        <a:srgbClr val="B022FC"/>
                      </a:solidFill>
                      <a:prstDash val="solid"/>
                      <a:round/>
                      <a:headEnd type="none" w="med" len="med"/>
                      <a:tailEnd type="none" w="med" len="med"/>
                    </a:lnR>
                    <a:lnT w="9525" cap="flat" cmpd="sng" algn="ctr">
                      <a:solidFill>
                        <a:srgbClr val="B022FC"/>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600">
                          <a:solidFill>
                            <a:srgbClr val="000000"/>
                          </a:solidFill>
                          <a:latin typeface="times new roman"/>
                        </a:rPr>
                        <a:t>Age</a:t>
                      </a:r>
                    </a:p>
                  </a:txBody>
                  <a:tcPr marL="98862" marR="98862" marT="98862" marB="98862">
                    <a:lnL w="9525" cap="flat" cmpd="sng" algn="ctr">
                      <a:solidFill>
                        <a:srgbClr val="B022FC"/>
                      </a:solidFill>
                      <a:prstDash val="solid"/>
                      <a:round/>
                      <a:headEnd type="none" w="med" len="med"/>
                      <a:tailEnd type="none" w="med" len="med"/>
                    </a:lnL>
                    <a:lnR w="9525" cap="flat" cmpd="sng" algn="ctr">
                      <a:solidFill>
                        <a:srgbClr val="B022FC"/>
                      </a:solidFill>
                      <a:prstDash val="solid"/>
                      <a:round/>
                      <a:headEnd type="none" w="med" len="med"/>
                      <a:tailEnd type="none" w="med" len="med"/>
                    </a:lnR>
                    <a:lnT w="9525" cap="flat" cmpd="sng" algn="ctr">
                      <a:solidFill>
                        <a:srgbClr val="B022FC"/>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369086">
                <a:tc>
                  <a:txBody>
                    <a:bodyPr/>
                    <a:lstStyle/>
                    <a:p>
                      <a:pPr algn="just" fontAlgn="t"/>
                      <a:r>
                        <a:rPr lang="en-IN" sz="1600">
                          <a:solidFill>
                            <a:srgbClr val="333333"/>
                          </a:solidFill>
                          <a:latin typeface="inter-regular"/>
                        </a:rPr>
                        <a:t>Player1</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latin typeface="inter-regular"/>
                        </a:rPr>
                        <a:t>65</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latin typeface="inter-regular"/>
                        </a:rPr>
                        <a:t>23</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9086">
                <a:tc>
                  <a:txBody>
                    <a:bodyPr/>
                    <a:lstStyle/>
                    <a:p>
                      <a:pPr algn="just" fontAlgn="t"/>
                      <a:r>
                        <a:rPr lang="en-IN" sz="1600">
                          <a:solidFill>
                            <a:srgbClr val="333333"/>
                          </a:solidFill>
                          <a:latin typeface="inter-regular"/>
                        </a:rPr>
                        <a:t>Player2</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latin typeface="inter-regular"/>
                        </a:rPr>
                        <a:t>58</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latin typeface="inter-regular"/>
                        </a:rPr>
                        <a:t>18</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369086">
                <a:tc>
                  <a:txBody>
                    <a:bodyPr/>
                    <a:lstStyle/>
                    <a:p>
                      <a:pPr algn="just" fontAlgn="t"/>
                      <a:r>
                        <a:rPr lang="en-IN" sz="1600">
                          <a:solidFill>
                            <a:srgbClr val="333333"/>
                          </a:solidFill>
                          <a:latin typeface="inter-regular"/>
                        </a:rPr>
                        <a:t>Player3</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latin typeface="inter-regular"/>
                        </a:rPr>
                        <a:t>75</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latin typeface="inter-regular"/>
                        </a:rPr>
                        <a:t>24</a:t>
                      </a:r>
                    </a:p>
                  </a:txBody>
                  <a:tcPr marL="65908" marR="65908" marT="65908" marB="659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17198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35</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Mapping schemes/Approaches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2585323"/>
          </a:xfrm>
          <a:prstGeom prst="rect">
            <a:avLst/>
          </a:prstGeom>
        </p:spPr>
        <p:txBody>
          <a:bodyPr wrap="square">
            <a:spAutoFit/>
          </a:bodyPr>
          <a:lstStyle/>
          <a:p>
            <a:r>
              <a:rPr lang="en-IN" dirty="0">
                <a:solidFill>
                  <a:srgbClr val="FF0000"/>
                </a:solidFill>
              </a:rPr>
              <a:t>Four approaches to knowledge representation</a:t>
            </a:r>
          </a:p>
          <a:p>
            <a:r>
              <a:rPr lang="en-IN" b="1" dirty="0">
                <a:solidFill>
                  <a:srgbClr val="0070C0"/>
                </a:solidFill>
              </a:rPr>
              <a:t>2. Inheritable knowledge:</a:t>
            </a:r>
          </a:p>
          <a:p>
            <a:r>
              <a:rPr lang="en-IN" dirty="0"/>
              <a:t>In  this all data must be stored into a hierarchy of classes.</a:t>
            </a:r>
          </a:p>
          <a:p>
            <a:r>
              <a:rPr lang="en-IN" dirty="0"/>
              <a:t>All classes should be arranged in a generalized form or a hierarchal manner.</a:t>
            </a:r>
          </a:p>
          <a:p>
            <a:r>
              <a:rPr lang="en-IN" dirty="0"/>
              <a:t>Elements </a:t>
            </a:r>
            <a:r>
              <a:rPr lang="en-IN" b="1" dirty="0"/>
              <a:t>inherit values from other members of a class</a:t>
            </a:r>
            <a:r>
              <a:rPr lang="en-IN" dirty="0"/>
              <a:t>.</a:t>
            </a:r>
          </a:p>
          <a:p>
            <a:r>
              <a:rPr lang="en-IN" dirty="0"/>
              <a:t>This approach contains inheritable knowledge which shows a relation between instance and class, and it is called instance relation.</a:t>
            </a:r>
          </a:p>
          <a:p>
            <a:r>
              <a:rPr lang="en-IN" dirty="0"/>
              <a:t>Every individual frame can represent the collection of attributes and its value.</a:t>
            </a:r>
          </a:p>
          <a:p>
            <a:r>
              <a:rPr lang="en-IN" dirty="0"/>
              <a:t>In this approach, objects and values are represented in Boxed nodes.</a:t>
            </a: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47106" name="Picture 2" descr="Knowledge Representation in Artificial intelligence"/>
          <p:cNvPicPr>
            <a:picLocks noChangeAspect="1" noChangeArrowheads="1"/>
          </p:cNvPicPr>
          <p:nvPr/>
        </p:nvPicPr>
        <p:blipFill>
          <a:blip r:embed="rId2"/>
          <a:srcRect/>
          <a:stretch>
            <a:fillRect/>
          </a:stretch>
        </p:blipFill>
        <p:spPr bwMode="auto">
          <a:xfrm>
            <a:off x="2571736" y="3967580"/>
            <a:ext cx="3571900" cy="2890420"/>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36</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Mapping schemes/Approaches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4801314"/>
          </a:xfrm>
          <a:prstGeom prst="rect">
            <a:avLst/>
          </a:prstGeom>
        </p:spPr>
        <p:txBody>
          <a:bodyPr wrap="square">
            <a:spAutoFit/>
          </a:bodyPr>
          <a:lstStyle/>
          <a:p>
            <a:r>
              <a:rPr lang="en-IN" dirty="0">
                <a:solidFill>
                  <a:srgbClr val="FF0000"/>
                </a:solidFill>
              </a:rPr>
              <a:t>Four approaches to knowledge representation</a:t>
            </a:r>
          </a:p>
          <a:p>
            <a:r>
              <a:rPr lang="en-IN" b="1" dirty="0">
                <a:solidFill>
                  <a:srgbClr val="0070C0"/>
                </a:solidFill>
              </a:rPr>
              <a:t>3. Inferential knowledge:</a:t>
            </a:r>
          </a:p>
          <a:p>
            <a:r>
              <a:rPr lang="en-IN" dirty="0"/>
              <a:t>Inferential knowledge approach represents </a:t>
            </a:r>
            <a:r>
              <a:rPr lang="en-IN" b="1" dirty="0"/>
              <a:t>knowledge in the form of formal logics</a:t>
            </a:r>
            <a:r>
              <a:rPr lang="en-IN" dirty="0"/>
              <a:t>.</a:t>
            </a:r>
          </a:p>
          <a:p>
            <a:r>
              <a:rPr lang="en-IN" dirty="0"/>
              <a:t>This approach can be used to derive more facts.</a:t>
            </a:r>
          </a:p>
          <a:p>
            <a:r>
              <a:rPr lang="en-IN" dirty="0"/>
              <a:t>It guaranteed correctness.</a:t>
            </a:r>
          </a:p>
          <a:p>
            <a:r>
              <a:rPr lang="en-IN" b="1" dirty="0"/>
              <a:t>Example:</a:t>
            </a:r>
            <a:r>
              <a:rPr lang="en-IN" dirty="0"/>
              <a:t> Let's suppose there are two statements:</a:t>
            </a:r>
          </a:p>
          <a:p>
            <a:pPr lvl="1"/>
            <a:r>
              <a:rPr lang="en-IN" dirty="0"/>
              <a:t>1. Marcus is a man</a:t>
            </a:r>
          </a:p>
          <a:p>
            <a:pPr lvl="1"/>
            <a:r>
              <a:rPr lang="en-IN" dirty="0"/>
              <a:t>2. All men are mortal</a:t>
            </a:r>
            <a:br>
              <a:rPr lang="en-IN" dirty="0"/>
            </a:br>
            <a:r>
              <a:rPr lang="en-IN" dirty="0"/>
              <a:t>Then it can represent as;</a:t>
            </a:r>
            <a:br>
              <a:rPr lang="en-IN" dirty="0"/>
            </a:br>
            <a:br>
              <a:rPr lang="en-IN" dirty="0"/>
            </a:br>
            <a:r>
              <a:rPr lang="en-IN" dirty="0"/>
              <a:t>1. </a:t>
            </a:r>
            <a:r>
              <a:rPr lang="en-IN" b="1" dirty="0"/>
              <a:t>man(Marcus)</a:t>
            </a:r>
            <a:br>
              <a:rPr lang="en-IN" b="1" dirty="0"/>
            </a:br>
            <a:r>
              <a:rPr lang="en-IN" b="1" dirty="0"/>
              <a:t>2. ∀x = man (x) ----------&gt; mortal (x)s</a:t>
            </a:r>
          </a:p>
          <a:p>
            <a:pPr lvl="1"/>
            <a:endParaRPr lang="en-US" b="1" dirty="0"/>
          </a:p>
          <a:p>
            <a:pPr lvl="1"/>
            <a:endParaRPr lang="en-US" b="1" dirty="0"/>
          </a:p>
          <a:p>
            <a:pPr lvl="1"/>
            <a:r>
              <a:rPr lang="en-IN" b="1" dirty="0"/>
              <a:t>*∀ =</a:t>
            </a:r>
            <a:r>
              <a:rPr lang="en-IN" dirty="0"/>
              <a:t>for all</a:t>
            </a:r>
          </a:p>
          <a:p>
            <a:pPr lvl="1"/>
            <a:r>
              <a:rPr lang="en-US" dirty="0">
                <a:sym typeface="Wingdings" pitchFamily="2" charset="2"/>
              </a:rPr>
              <a:t>= Implies</a:t>
            </a:r>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7198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37</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dirty="0">
                <a:solidFill>
                  <a:srgbClr val="FF0000"/>
                </a:solidFill>
              </a:rPr>
              <a:t>1.7. Knowledge Mapping schemes/Approaches</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5078313"/>
          </a:xfrm>
          <a:prstGeom prst="rect">
            <a:avLst/>
          </a:prstGeom>
        </p:spPr>
        <p:txBody>
          <a:bodyPr wrap="square">
            <a:spAutoFit/>
          </a:bodyPr>
          <a:lstStyle/>
          <a:p>
            <a:r>
              <a:rPr lang="en-IN" dirty="0">
                <a:solidFill>
                  <a:srgbClr val="FF0000"/>
                </a:solidFill>
              </a:rPr>
              <a:t>Four approaches to knowledge representation</a:t>
            </a:r>
          </a:p>
          <a:p>
            <a:r>
              <a:rPr lang="en-IN" b="1" dirty="0">
                <a:solidFill>
                  <a:srgbClr val="0070C0"/>
                </a:solidFill>
              </a:rPr>
              <a:t>4. Procedural knowledge:</a:t>
            </a:r>
          </a:p>
          <a:p>
            <a:r>
              <a:rPr lang="en-IN" dirty="0"/>
              <a:t>It </a:t>
            </a:r>
            <a:r>
              <a:rPr lang="en-IN" b="1" dirty="0"/>
              <a:t>uses small programs and codes </a:t>
            </a:r>
            <a:r>
              <a:rPr lang="en-IN" dirty="0"/>
              <a:t>which describes how to do specific things, and how to proceed.</a:t>
            </a:r>
          </a:p>
          <a:p>
            <a:r>
              <a:rPr lang="en-IN" dirty="0"/>
              <a:t>The rule  used  </a:t>
            </a:r>
            <a:r>
              <a:rPr lang="en-IN" b="1" dirty="0"/>
              <a:t>If-Then rule</a:t>
            </a:r>
            <a:r>
              <a:rPr lang="en-IN" dirty="0"/>
              <a:t>.</a:t>
            </a:r>
          </a:p>
          <a:p>
            <a:r>
              <a:rPr lang="en-IN" dirty="0"/>
              <a:t>In this knowledge, we can use various coding languages such as </a:t>
            </a:r>
            <a:r>
              <a:rPr lang="en-IN" b="1" dirty="0"/>
              <a:t>LISP language</a:t>
            </a:r>
            <a:r>
              <a:rPr lang="en-IN" dirty="0"/>
              <a:t> and </a:t>
            </a:r>
            <a:r>
              <a:rPr lang="en-IN" b="1" dirty="0" err="1"/>
              <a:t>Prolog</a:t>
            </a:r>
            <a:r>
              <a:rPr lang="en-IN" b="1" dirty="0"/>
              <a:t> language</a:t>
            </a:r>
            <a:r>
              <a:rPr lang="en-IN" dirty="0"/>
              <a:t>.</a:t>
            </a:r>
          </a:p>
          <a:p>
            <a:r>
              <a:rPr lang="en-IN" dirty="0"/>
              <a:t>We can easily represent heuristic or domain-specific knowledge using this approach.</a:t>
            </a:r>
          </a:p>
          <a:p>
            <a:endParaRPr lang="en-US" dirty="0"/>
          </a:p>
          <a:p>
            <a:r>
              <a:rPr lang="en-US" b="1" dirty="0"/>
              <a:t>e.g. 1</a:t>
            </a:r>
          </a:p>
          <a:p>
            <a:r>
              <a:rPr lang="en-US" dirty="0"/>
              <a:t>If : Headache and high fever</a:t>
            </a:r>
          </a:p>
          <a:p>
            <a:r>
              <a:rPr lang="en-US" dirty="0"/>
              <a:t>Then : Viral Fever</a:t>
            </a:r>
          </a:p>
          <a:p>
            <a:endParaRPr lang="en-US" dirty="0"/>
          </a:p>
          <a:p>
            <a:r>
              <a:rPr lang="en-US" b="1" dirty="0"/>
              <a:t>e.g. 2</a:t>
            </a:r>
          </a:p>
          <a:p>
            <a:endParaRPr lang="en-US" dirty="0"/>
          </a:p>
          <a:p>
            <a:r>
              <a:rPr lang="en-US" dirty="0"/>
              <a:t>If : Light is Red</a:t>
            </a:r>
          </a:p>
          <a:p>
            <a:r>
              <a:rPr lang="en-US" dirty="0"/>
              <a:t>Then : Stop</a:t>
            </a:r>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71984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38</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569660"/>
          </a:xfrm>
          <a:prstGeom prst="rect">
            <a:avLst/>
          </a:prstGeom>
        </p:spPr>
        <p:txBody>
          <a:bodyPr wrap="square">
            <a:spAutoFit/>
          </a:bodyPr>
          <a:lstStyle/>
          <a:p>
            <a:r>
              <a:rPr lang="en-IN" sz="2000" b="1" dirty="0">
                <a:solidFill>
                  <a:srgbClr val="FF0000"/>
                </a:solidFill>
              </a:rPr>
              <a:t>1.8. Properties of good knowledge-based system</a:t>
            </a:r>
          </a:p>
          <a:p>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4524315"/>
          </a:xfrm>
          <a:prstGeom prst="rect">
            <a:avLst/>
          </a:prstGeom>
        </p:spPr>
        <p:txBody>
          <a:bodyPr wrap="square">
            <a:spAutoFit/>
          </a:bodyPr>
          <a:lstStyle/>
          <a:p>
            <a:r>
              <a:rPr lang="en-IN" dirty="0"/>
              <a:t>A good knowledge representation system must possess the following properties.</a:t>
            </a:r>
          </a:p>
          <a:p>
            <a:endParaRPr lang="en-IN" dirty="0"/>
          </a:p>
          <a:p>
            <a:pPr marL="342900" indent="-342900">
              <a:buAutoNum type="arabicPeriod"/>
            </a:pPr>
            <a:r>
              <a:rPr lang="en-IN" b="1" dirty="0"/>
              <a:t>Representational Accuracy:</a:t>
            </a:r>
            <a:br>
              <a:rPr lang="en-IN" dirty="0"/>
            </a:br>
            <a:r>
              <a:rPr lang="en-IN" dirty="0"/>
              <a:t>KR system should have the ability to represent all </a:t>
            </a:r>
            <a:r>
              <a:rPr lang="en-IN" dirty="0">
                <a:solidFill>
                  <a:srgbClr val="0070C0"/>
                </a:solidFill>
              </a:rPr>
              <a:t>kind of required knowledge</a:t>
            </a:r>
            <a:r>
              <a:rPr lang="en-IN" dirty="0"/>
              <a:t>.</a:t>
            </a:r>
          </a:p>
          <a:p>
            <a:pPr marL="342900" indent="-342900">
              <a:buAutoNum type="arabicPeriod"/>
            </a:pPr>
            <a:endParaRPr lang="en-IN" dirty="0"/>
          </a:p>
          <a:p>
            <a:r>
              <a:rPr lang="en-IN" b="1" dirty="0"/>
              <a:t>2. Inferential Adequacy:</a:t>
            </a:r>
          </a:p>
          <a:p>
            <a:r>
              <a:rPr lang="en-IN" dirty="0"/>
              <a:t>KR system should have ability to manipulate the representational structures to </a:t>
            </a:r>
            <a:r>
              <a:rPr lang="en-IN" i="1" dirty="0">
                <a:solidFill>
                  <a:srgbClr val="0070C0"/>
                </a:solidFill>
              </a:rPr>
              <a:t>produce new knowledge </a:t>
            </a:r>
            <a:r>
              <a:rPr lang="en-IN" dirty="0"/>
              <a:t>corresponding to existing structure.</a:t>
            </a:r>
          </a:p>
          <a:p>
            <a:endParaRPr lang="en-IN" dirty="0"/>
          </a:p>
          <a:p>
            <a:r>
              <a:rPr lang="en-IN" b="1" dirty="0"/>
              <a:t>3. Inferential Efficiency:</a:t>
            </a:r>
          </a:p>
          <a:p>
            <a:r>
              <a:rPr lang="en-IN" dirty="0"/>
              <a:t>The </a:t>
            </a:r>
            <a:r>
              <a:rPr lang="en-IN" i="1" dirty="0"/>
              <a:t>ability to direct the inferential knowledge </a:t>
            </a:r>
            <a:r>
              <a:rPr lang="en-IN" dirty="0"/>
              <a:t>mechanism into the </a:t>
            </a:r>
            <a:r>
              <a:rPr lang="en-IN" i="1" dirty="0">
                <a:solidFill>
                  <a:srgbClr val="0070C0"/>
                </a:solidFill>
              </a:rPr>
              <a:t>most productive directions</a:t>
            </a:r>
            <a:r>
              <a:rPr lang="en-IN" dirty="0">
                <a:solidFill>
                  <a:srgbClr val="0070C0"/>
                </a:solidFill>
              </a:rPr>
              <a:t>.</a:t>
            </a:r>
          </a:p>
          <a:p>
            <a:endParaRPr lang="en-IN" dirty="0"/>
          </a:p>
          <a:p>
            <a:r>
              <a:rPr lang="en-IN" b="1" dirty="0"/>
              <a:t>4. </a:t>
            </a:r>
            <a:r>
              <a:rPr lang="en-IN" b="1" dirty="0" err="1"/>
              <a:t>Acquisitional</a:t>
            </a:r>
            <a:r>
              <a:rPr lang="en-IN" b="1" dirty="0"/>
              <a:t> efficiency-</a:t>
            </a:r>
          </a:p>
          <a:p>
            <a:r>
              <a:rPr lang="en-IN" dirty="0"/>
              <a:t>The </a:t>
            </a:r>
            <a:r>
              <a:rPr lang="en-IN" dirty="0">
                <a:solidFill>
                  <a:srgbClr val="0070C0"/>
                </a:solidFill>
              </a:rPr>
              <a:t>ability to acquire the new knowledge </a:t>
            </a:r>
            <a:r>
              <a:rPr lang="en-IN" dirty="0"/>
              <a:t>easily using automatic methods.</a:t>
            </a:r>
          </a:p>
          <a:p>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71984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39</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261884"/>
          </a:xfrm>
          <a:prstGeom prst="rect">
            <a:avLst/>
          </a:prstGeom>
        </p:spPr>
        <p:txBody>
          <a:bodyPr wrap="square">
            <a:spAutoFit/>
          </a:bodyPr>
          <a:lstStyle/>
          <a:p>
            <a:r>
              <a:rPr lang="en-IN" sz="2000" dirty="0">
                <a:solidFill>
                  <a:srgbClr val="FF0000"/>
                </a:solidFill>
              </a:rPr>
              <a:t>1.10. Knowledge Representation issues</a:t>
            </a: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2031325"/>
          </a:xfrm>
          <a:prstGeom prst="rect">
            <a:avLst/>
          </a:prstGeom>
        </p:spPr>
        <p:txBody>
          <a:bodyPr wrap="square">
            <a:spAutoFit/>
          </a:bodyPr>
          <a:lstStyle/>
          <a:p>
            <a:r>
              <a:rPr lang="en-IN" dirty="0"/>
              <a:t>There are some common issues of knowledge representation in AI. They are:</a:t>
            </a:r>
          </a:p>
          <a:p>
            <a:pPr marL="342900" indent="-342900">
              <a:buFont typeface="+mj-lt"/>
              <a:buAutoNum type="arabicPeriod"/>
            </a:pPr>
            <a:r>
              <a:rPr lang="en-US" b="1" dirty="0"/>
              <a:t>Important Attributes</a:t>
            </a:r>
          </a:p>
          <a:p>
            <a:pPr marL="342900" indent="-342900">
              <a:buFont typeface="+mj-lt"/>
              <a:buAutoNum type="arabicPeriod"/>
            </a:pPr>
            <a:r>
              <a:rPr lang="en-US" b="1" dirty="0"/>
              <a:t>Relationship among Attributes</a:t>
            </a:r>
          </a:p>
          <a:p>
            <a:pPr marL="342900" indent="-342900">
              <a:buFont typeface="+mj-lt"/>
              <a:buAutoNum type="arabicPeriod"/>
            </a:pPr>
            <a:r>
              <a:rPr lang="en-US" b="1" dirty="0"/>
              <a:t>Choosing Granularity</a:t>
            </a:r>
          </a:p>
          <a:p>
            <a:pPr marL="342900" indent="-342900">
              <a:buFont typeface="+mj-lt"/>
              <a:buAutoNum type="arabicPeriod"/>
            </a:pPr>
            <a:r>
              <a:rPr lang="en-US" b="1" dirty="0"/>
              <a:t>Set of Objects</a:t>
            </a:r>
          </a:p>
          <a:p>
            <a:pPr marL="342900" indent="-342900">
              <a:buFont typeface="+mj-lt"/>
              <a:buAutoNum type="arabicPeriod"/>
            </a:pPr>
            <a:r>
              <a:rPr lang="en-US" b="1" dirty="0"/>
              <a:t>Finding Right Structure</a:t>
            </a:r>
          </a:p>
          <a:p>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7198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40</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1261884"/>
          </a:xfrm>
          <a:prstGeom prst="rect">
            <a:avLst/>
          </a:prstGeom>
        </p:spPr>
        <p:txBody>
          <a:bodyPr wrap="square">
            <a:spAutoFit/>
          </a:bodyPr>
          <a:lstStyle/>
          <a:p>
            <a:r>
              <a:rPr lang="en-IN" sz="2000" dirty="0">
                <a:solidFill>
                  <a:srgbClr val="FF0000"/>
                </a:solidFill>
              </a:rPr>
              <a:t>1.10. Knowledge Representation issues</a:t>
            </a: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5078313"/>
          </a:xfrm>
          <a:prstGeom prst="rect">
            <a:avLst/>
          </a:prstGeom>
        </p:spPr>
        <p:txBody>
          <a:bodyPr wrap="square">
            <a:spAutoFit/>
          </a:bodyPr>
          <a:lstStyle/>
          <a:p>
            <a:r>
              <a:rPr lang="en-IN" dirty="0"/>
              <a:t>There are some common issues of knowledge representation in AI. They are:</a:t>
            </a:r>
          </a:p>
          <a:p>
            <a:pPr marL="342900" indent="-342900">
              <a:buFont typeface="+mj-lt"/>
              <a:buAutoNum type="arabicPeriod"/>
            </a:pPr>
            <a:r>
              <a:rPr lang="en-US" b="1" dirty="0"/>
              <a:t>Important Attributes</a:t>
            </a:r>
          </a:p>
          <a:p>
            <a:pPr marL="342900" indent="-342900"/>
            <a:r>
              <a:rPr lang="en-US" dirty="0"/>
              <a:t>      Any Attribute of objects that may occur in every problem domain</a:t>
            </a:r>
          </a:p>
          <a:p>
            <a:pPr marL="342900" indent="-342900">
              <a:buFont typeface="+mj-lt"/>
              <a:buAutoNum type="arabicPeriod"/>
            </a:pPr>
            <a:endParaRPr lang="en-US" b="1" dirty="0"/>
          </a:p>
          <a:p>
            <a:r>
              <a:rPr lang="en-US" b="1" dirty="0"/>
              <a:t>2. Relationship among Attributes</a:t>
            </a:r>
          </a:p>
          <a:p>
            <a:r>
              <a:rPr lang="en-US" dirty="0"/>
              <a:t>      a) Consistency</a:t>
            </a:r>
          </a:p>
          <a:p>
            <a:r>
              <a:rPr lang="en-US" dirty="0"/>
              <a:t>      b) IS A Hierarchy- Generalization, Specialization</a:t>
            </a:r>
          </a:p>
          <a:p>
            <a:r>
              <a:rPr lang="en-US" dirty="0"/>
              <a:t>      c) Reasoning for a Value. E.g. Age-</a:t>
            </a:r>
            <a:r>
              <a:rPr lang="en-US" dirty="0" err="1"/>
              <a:t>Students’s</a:t>
            </a:r>
            <a:r>
              <a:rPr lang="en-US" dirty="0"/>
              <a:t> Can not be Grater than his</a:t>
            </a:r>
          </a:p>
          <a:p>
            <a:r>
              <a:rPr lang="en-US" dirty="0"/>
              <a:t>           parent’s Age</a:t>
            </a:r>
          </a:p>
          <a:p>
            <a:r>
              <a:rPr lang="en-US" dirty="0"/>
              <a:t>      d) Single Valued Attribute- Unique Value. E.g. </a:t>
            </a:r>
            <a:r>
              <a:rPr lang="en-US" dirty="0" err="1"/>
              <a:t>RollNo</a:t>
            </a:r>
            <a:r>
              <a:rPr lang="en-US" dirty="0"/>
              <a:t>.</a:t>
            </a:r>
          </a:p>
          <a:p>
            <a:pPr marL="342900" indent="-342900"/>
            <a:r>
              <a:rPr lang="en-US" b="1" dirty="0"/>
              <a:t>3. Choosing Granularity</a:t>
            </a:r>
          </a:p>
          <a:p>
            <a:pPr marL="342900" indent="-342900"/>
            <a:r>
              <a:rPr lang="en-US" b="1" dirty="0"/>
              <a:t>     </a:t>
            </a:r>
            <a:r>
              <a:rPr lang="en-US" dirty="0"/>
              <a:t>Up to what level knowledge can be represented and what are primitives</a:t>
            </a:r>
          </a:p>
          <a:p>
            <a:pPr marL="342900" indent="-342900"/>
            <a:r>
              <a:rPr lang="en-US" b="1" dirty="0"/>
              <a:t>4. Set of Objects</a:t>
            </a:r>
          </a:p>
          <a:p>
            <a:pPr marL="342900" indent="-342900"/>
            <a:r>
              <a:rPr lang="en-US" b="1" dirty="0"/>
              <a:t>     </a:t>
            </a:r>
            <a:r>
              <a:rPr lang="en-US" dirty="0"/>
              <a:t>How the set of Objects are represented (Universal Quantifier-</a:t>
            </a:r>
            <a:r>
              <a:rPr lang="en-IN" dirty="0"/>
              <a:t> which is interpreted as "given any" or "for all". It expresses that a predicate can be satisfied by every member of a domain )</a:t>
            </a:r>
            <a:endParaRPr lang="en-US" dirty="0"/>
          </a:p>
          <a:p>
            <a:pPr marL="342900" indent="-342900"/>
            <a:r>
              <a:rPr lang="en-US" b="1" dirty="0"/>
              <a:t>5. Finding Right Structure</a:t>
            </a:r>
          </a:p>
          <a:p>
            <a:pPr marL="342900" indent="-342900"/>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7198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41</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4"/>
            <a:ext cx="8143932" cy="954107"/>
          </a:xfrm>
          <a:prstGeom prst="rect">
            <a:avLst/>
          </a:prstGeom>
        </p:spPr>
        <p:txBody>
          <a:bodyPr wrap="square">
            <a:spAutoFit/>
          </a:bodyPr>
          <a:lstStyle/>
          <a:p>
            <a:r>
              <a:rPr lang="en-IN" sz="2000" dirty="0">
                <a:solidFill>
                  <a:srgbClr val="FF0000"/>
                </a:solidFill>
              </a:rPr>
              <a:t>1.11. AND-OR Graph</a:t>
            </a:r>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1754326"/>
          </a:xfrm>
          <a:prstGeom prst="rect">
            <a:avLst/>
          </a:prstGeom>
        </p:spPr>
        <p:txBody>
          <a:bodyPr wrap="square">
            <a:spAutoFit/>
          </a:bodyPr>
          <a:lstStyle/>
          <a:p>
            <a:r>
              <a:rPr lang="en-IN" dirty="0"/>
              <a:t>Useful for solution of Problem by decomposing in to set of smaller problem until all of which get solved. </a:t>
            </a:r>
          </a:p>
          <a:p>
            <a:endParaRPr lang="en-US" b="1" dirty="0"/>
          </a:p>
          <a:p>
            <a:r>
              <a:rPr lang="en-US" b="1" dirty="0"/>
              <a:t>OR- Node represent choice possible</a:t>
            </a:r>
          </a:p>
          <a:p>
            <a:r>
              <a:rPr lang="en-US" b="1" dirty="0"/>
              <a:t>AND- Node represents given decomposition</a:t>
            </a:r>
            <a:endParaRPr lang="en-IN" b="1" dirty="0"/>
          </a:p>
          <a:p>
            <a:endParaRPr lang="en-IN" dirty="0"/>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1" name="Rectangle 10"/>
          <p:cNvSpPr/>
          <p:nvPr/>
        </p:nvSpPr>
        <p:spPr>
          <a:xfrm>
            <a:off x="3000364" y="3000372"/>
            <a:ext cx="264320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Goal: Acquire a TV Set</a:t>
            </a:r>
            <a:endParaRPr lang="en-IN" dirty="0"/>
          </a:p>
        </p:txBody>
      </p:sp>
      <p:sp>
        <p:nvSpPr>
          <p:cNvPr id="13" name="Rectangle 12"/>
          <p:cNvSpPr/>
          <p:nvPr/>
        </p:nvSpPr>
        <p:spPr>
          <a:xfrm>
            <a:off x="428596" y="4714884"/>
            <a:ext cx="221457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Goal: Steal a TV</a:t>
            </a:r>
            <a:endParaRPr lang="en-IN" dirty="0"/>
          </a:p>
        </p:txBody>
      </p:sp>
      <p:sp>
        <p:nvSpPr>
          <p:cNvPr id="14" name="Rectangle 13"/>
          <p:cNvSpPr/>
          <p:nvPr/>
        </p:nvSpPr>
        <p:spPr>
          <a:xfrm>
            <a:off x="5786446" y="4857760"/>
            <a:ext cx="250033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Goal: Buy a Money</a:t>
            </a:r>
            <a:endParaRPr lang="en-IN" dirty="0"/>
          </a:p>
        </p:txBody>
      </p:sp>
      <p:cxnSp>
        <p:nvCxnSpPr>
          <p:cNvPr id="16" name="Straight Arrow Connector 15"/>
          <p:cNvCxnSpPr/>
          <p:nvPr/>
        </p:nvCxnSpPr>
        <p:spPr>
          <a:xfrm rot="10800000" flipV="1">
            <a:off x="1714480" y="3429000"/>
            <a:ext cx="1357322" cy="12144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214942" y="3500438"/>
            <a:ext cx="2286016" cy="13573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928926" y="4857760"/>
            <a:ext cx="250033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Goal: Earn a Money</a:t>
            </a:r>
            <a:endParaRPr lang="en-IN" dirty="0"/>
          </a:p>
        </p:txBody>
      </p:sp>
      <p:cxnSp>
        <p:nvCxnSpPr>
          <p:cNvPr id="20" name="Straight Arrow Connector 19"/>
          <p:cNvCxnSpPr>
            <a:endCxn id="19" idx="0"/>
          </p:cNvCxnSpPr>
          <p:nvPr/>
        </p:nvCxnSpPr>
        <p:spPr>
          <a:xfrm rot="16200000" flipH="1">
            <a:off x="3482570" y="4161239"/>
            <a:ext cx="1357322"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Arc 22"/>
          <p:cNvSpPr/>
          <p:nvPr/>
        </p:nvSpPr>
        <p:spPr>
          <a:xfrm flipV="1">
            <a:off x="3214678" y="2714620"/>
            <a:ext cx="2000264" cy="1428760"/>
          </a:xfrm>
          <a:prstGeom prst="arc">
            <a:avLst>
              <a:gd name="adj1" fmla="val 15814742"/>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5" name="TextBox 24"/>
          <p:cNvSpPr txBox="1"/>
          <p:nvPr/>
        </p:nvSpPr>
        <p:spPr>
          <a:xfrm>
            <a:off x="1357290" y="5929330"/>
            <a:ext cx="1631409" cy="369332"/>
          </a:xfrm>
          <a:prstGeom prst="rect">
            <a:avLst/>
          </a:prstGeom>
          <a:noFill/>
        </p:spPr>
        <p:txBody>
          <a:bodyPr wrap="none" rtlCol="0">
            <a:spAutoFit/>
          </a:bodyPr>
          <a:lstStyle/>
          <a:p>
            <a:r>
              <a:rPr lang="en-US" dirty="0">
                <a:solidFill>
                  <a:srgbClr val="FF0000"/>
                </a:solidFill>
              </a:rPr>
              <a:t>More Examples</a:t>
            </a:r>
            <a:endParaRPr lang="en-IN" dirty="0">
              <a:solidFill>
                <a:srgbClr val="FF0000"/>
              </a:solidFill>
            </a:endParaRPr>
          </a:p>
        </p:txBody>
      </p:sp>
    </p:spTree>
    <p:extLst>
      <p:ext uri="{BB962C8B-B14F-4D97-AF65-F5344CB8AC3E}">
        <p14:creationId xmlns:p14="http://schemas.microsoft.com/office/powerpoint/2010/main" val="24171984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42</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5"/>
            <a:ext cx="8072494" cy="1292662"/>
          </a:xfrm>
          <a:prstGeom prst="rect">
            <a:avLst/>
          </a:prstGeom>
        </p:spPr>
        <p:txBody>
          <a:bodyPr wrap="square">
            <a:spAutoFit/>
          </a:bodyPr>
          <a:lstStyle/>
          <a:p>
            <a:r>
              <a:rPr lang="en-IN" sz="2000" b="1" dirty="0">
                <a:solidFill>
                  <a:srgbClr val="FF0000"/>
                </a:solidFill>
              </a:rPr>
              <a:t>1.12. The </a:t>
            </a:r>
            <a:r>
              <a:rPr lang="en-IN" sz="2000" b="1" dirty="0" err="1">
                <a:solidFill>
                  <a:srgbClr val="FF0000"/>
                </a:solidFill>
              </a:rPr>
              <a:t>Wumpus</a:t>
            </a:r>
            <a:r>
              <a:rPr lang="en-IN" sz="2000" b="1" dirty="0">
                <a:solidFill>
                  <a:srgbClr val="FF0000"/>
                </a:solidFill>
              </a:rPr>
              <a:t> World</a:t>
            </a:r>
          </a:p>
          <a:p>
            <a:pPr marL="457200" indent="-457200"/>
            <a:r>
              <a:rPr lang="en-IN" sz="2000" dirty="0"/>
              <a:t>The example to illustrate the worth of a knowledge-based agent and to represent knowledge representation</a:t>
            </a:r>
          </a:p>
          <a:p>
            <a:pPr marL="342900" indent="-342900"/>
            <a:r>
              <a:rPr lang="en-IN" dirty="0" err="1"/>
              <a:t>Wumpus</a:t>
            </a:r>
            <a:r>
              <a:rPr lang="en-IN" dirty="0"/>
              <a:t> world is a cave which has 4/4 rooms connected with passageways</a:t>
            </a:r>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2050" name="Picture 2" descr="The Wumpus world in Artificial Intelligence - Javatpoint"/>
          <p:cNvPicPr>
            <a:picLocks noChangeAspect="1" noChangeArrowheads="1"/>
          </p:cNvPicPr>
          <p:nvPr/>
        </p:nvPicPr>
        <p:blipFill>
          <a:blip r:embed="rId2"/>
          <a:srcRect/>
          <a:stretch>
            <a:fillRect/>
          </a:stretch>
        </p:blipFill>
        <p:spPr bwMode="auto">
          <a:xfrm>
            <a:off x="785786" y="2214554"/>
            <a:ext cx="4929222" cy="4292112"/>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43</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5"/>
            <a:ext cx="8072494" cy="400110"/>
          </a:xfrm>
          <a:prstGeom prst="rect">
            <a:avLst/>
          </a:prstGeom>
        </p:spPr>
        <p:txBody>
          <a:bodyPr wrap="square">
            <a:spAutoFit/>
          </a:bodyPr>
          <a:lstStyle/>
          <a:p>
            <a:r>
              <a:rPr lang="en-IN" sz="2000" b="1" dirty="0">
                <a:solidFill>
                  <a:srgbClr val="FF0000"/>
                </a:solidFill>
              </a:rPr>
              <a:t>1.12. The </a:t>
            </a:r>
            <a:r>
              <a:rPr lang="en-IN" sz="2000" b="1" dirty="0" err="1">
                <a:solidFill>
                  <a:srgbClr val="FF0000"/>
                </a:solidFill>
              </a:rPr>
              <a:t>Wumpus</a:t>
            </a:r>
            <a:r>
              <a:rPr lang="en-IN" sz="2000" b="1" dirty="0">
                <a:solidFill>
                  <a:srgbClr val="FF0000"/>
                </a:solidFill>
              </a:rPr>
              <a:t> World</a:t>
            </a:r>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26" name="Picture 2" descr="AI | The Wumpus World Description - GeeksforGeeks"/>
          <p:cNvPicPr>
            <a:picLocks noChangeAspect="1" noChangeArrowheads="1"/>
          </p:cNvPicPr>
          <p:nvPr/>
        </p:nvPicPr>
        <p:blipFill>
          <a:blip r:embed="rId2"/>
          <a:srcRect/>
          <a:stretch>
            <a:fillRect/>
          </a:stretch>
        </p:blipFill>
        <p:spPr bwMode="auto">
          <a:xfrm>
            <a:off x="7858148" y="-11858732"/>
            <a:ext cx="15162201" cy="9595469"/>
          </a:xfrm>
          <a:prstGeom prst="rect">
            <a:avLst/>
          </a:prstGeom>
          <a:noFill/>
        </p:spPr>
      </p:pic>
      <p:pic>
        <p:nvPicPr>
          <p:cNvPr id="1028" name="Picture 4" descr="AI | The Wumpus World Description - GeeksforGeeks"/>
          <p:cNvPicPr>
            <a:picLocks noChangeAspect="1" noChangeArrowheads="1"/>
          </p:cNvPicPr>
          <p:nvPr/>
        </p:nvPicPr>
        <p:blipFill>
          <a:blip r:embed="rId3" cstate="print"/>
          <a:srcRect/>
          <a:stretch>
            <a:fillRect/>
          </a:stretch>
        </p:blipFill>
        <p:spPr bwMode="auto">
          <a:xfrm>
            <a:off x="785786" y="1285860"/>
            <a:ext cx="7774618" cy="4786346"/>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44</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5"/>
            <a:ext cx="8072494" cy="3785652"/>
          </a:xfrm>
          <a:prstGeom prst="rect">
            <a:avLst/>
          </a:prstGeom>
        </p:spPr>
        <p:txBody>
          <a:bodyPr wrap="square">
            <a:spAutoFit/>
          </a:bodyPr>
          <a:lstStyle/>
          <a:p>
            <a:r>
              <a:rPr lang="en-IN" sz="2000" b="1" dirty="0">
                <a:solidFill>
                  <a:srgbClr val="FF0000"/>
                </a:solidFill>
              </a:rPr>
              <a:t>1.12. The </a:t>
            </a:r>
            <a:r>
              <a:rPr lang="en-IN" sz="2000" b="1" dirty="0" err="1">
                <a:solidFill>
                  <a:srgbClr val="FF0000"/>
                </a:solidFill>
              </a:rPr>
              <a:t>Wumpus</a:t>
            </a:r>
            <a:r>
              <a:rPr lang="en-IN" sz="2000" b="1" dirty="0">
                <a:solidFill>
                  <a:srgbClr val="FF0000"/>
                </a:solidFill>
              </a:rPr>
              <a:t> World</a:t>
            </a:r>
          </a:p>
          <a:p>
            <a:endParaRPr lang="en-US" sz="2000" b="1" dirty="0">
              <a:solidFill>
                <a:srgbClr val="FF0000"/>
              </a:solidFill>
            </a:endParaRPr>
          </a:p>
          <a:p>
            <a:r>
              <a:rPr lang="en-IN" sz="2000" b="1" dirty="0">
                <a:solidFill>
                  <a:srgbClr val="0070C0"/>
                </a:solidFill>
              </a:rPr>
              <a:t>Atomic proposition variable for </a:t>
            </a:r>
            <a:r>
              <a:rPr lang="en-IN" sz="2000" b="1" dirty="0" err="1">
                <a:solidFill>
                  <a:srgbClr val="0070C0"/>
                </a:solidFill>
              </a:rPr>
              <a:t>Wumpus</a:t>
            </a:r>
            <a:r>
              <a:rPr lang="en-IN" sz="2000" b="1" dirty="0">
                <a:solidFill>
                  <a:srgbClr val="0070C0"/>
                </a:solidFill>
              </a:rPr>
              <a:t> world:</a:t>
            </a:r>
          </a:p>
          <a:p>
            <a:endParaRPr lang="en-IN" sz="2000" b="1" dirty="0">
              <a:solidFill>
                <a:srgbClr val="0070C0"/>
              </a:solidFill>
            </a:endParaRPr>
          </a:p>
          <a:p>
            <a:r>
              <a:rPr lang="en-IN" sz="2000" dirty="0"/>
              <a:t>Let </a:t>
            </a:r>
            <a:r>
              <a:rPr lang="en-IN" sz="2000" b="1" dirty="0" err="1"/>
              <a:t>P</a:t>
            </a:r>
            <a:r>
              <a:rPr lang="en-IN" sz="2000" b="1" baseline="-25000" dirty="0" err="1"/>
              <a:t>i,j</a:t>
            </a:r>
            <a:r>
              <a:rPr lang="en-IN" sz="2000" dirty="0"/>
              <a:t> be true if there is a Pit in the room [</a:t>
            </a:r>
            <a:r>
              <a:rPr lang="en-IN" sz="2000" dirty="0" err="1"/>
              <a:t>i</a:t>
            </a:r>
            <a:r>
              <a:rPr lang="en-IN" sz="2000" dirty="0"/>
              <a:t>, j].</a:t>
            </a:r>
          </a:p>
          <a:p>
            <a:r>
              <a:rPr lang="en-IN" sz="2000" dirty="0"/>
              <a:t>Let </a:t>
            </a:r>
            <a:r>
              <a:rPr lang="en-IN" sz="2000" b="1" dirty="0" err="1"/>
              <a:t>B</a:t>
            </a:r>
            <a:r>
              <a:rPr lang="en-IN" sz="2000" b="1" baseline="-25000" dirty="0" err="1"/>
              <a:t>i,j</a:t>
            </a:r>
            <a:r>
              <a:rPr lang="en-IN" sz="2000" dirty="0"/>
              <a:t> be true if agent perceives breeze in [</a:t>
            </a:r>
            <a:r>
              <a:rPr lang="en-IN" sz="2000" dirty="0" err="1"/>
              <a:t>i</a:t>
            </a:r>
            <a:r>
              <a:rPr lang="en-IN" sz="2000" dirty="0"/>
              <a:t>, j].</a:t>
            </a:r>
          </a:p>
          <a:p>
            <a:r>
              <a:rPr lang="en-IN" sz="2000" dirty="0"/>
              <a:t>Let </a:t>
            </a:r>
            <a:r>
              <a:rPr lang="en-IN" sz="2000" b="1" dirty="0" err="1"/>
              <a:t>W</a:t>
            </a:r>
            <a:r>
              <a:rPr lang="en-IN" sz="2000" b="1" baseline="-25000" dirty="0" err="1"/>
              <a:t>i,j</a:t>
            </a:r>
            <a:r>
              <a:rPr lang="en-IN" sz="2000" dirty="0"/>
              <a:t> be true if there is </a:t>
            </a:r>
            <a:r>
              <a:rPr lang="en-IN" sz="2000" dirty="0" err="1"/>
              <a:t>wumpus</a:t>
            </a:r>
            <a:r>
              <a:rPr lang="en-IN" sz="2000" dirty="0"/>
              <a:t> in the square[</a:t>
            </a:r>
            <a:r>
              <a:rPr lang="en-IN" sz="2000" dirty="0" err="1"/>
              <a:t>i</a:t>
            </a:r>
            <a:r>
              <a:rPr lang="en-IN" sz="2000" dirty="0"/>
              <a:t>, j].</a:t>
            </a:r>
          </a:p>
          <a:p>
            <a:r>
              <a:rPr lang="en-IN" sz="2000" dirty="0"/>
              <a:t>Let </a:t>
            </a:r>
            <a:r>
              <a:rPr lang="en-IN" sz="2000" b="1" dirty="0" err="1"/>
              <a:t>S</a:t>
            </a:r>
            <a:r>
              <a:rPr lang="en-IN" sz="2000" b="1" baseline="-25000" dirty="0" err="1"/>
              <a:t>i,j</a:t>
            </a:r>
            <a:r>
              <a:rPr lang="en-IN" sz="2000" dirty="0"/>
              <a:t> be true if agent perceives stench in the square [</a:t>
            </a:r>
            <a:r>
              <a:rPr lang="en-IN" sz="2000" dirty="0" err="1"/>
              <a:t>i</a:t>
            </a:r>
            <a:r>
              <a:rPr lang="en-IN" sz="2000" dirty="0"/>
              <a:t>, j].</a:t>
            </a:r>
          </a:p>
          <a:p>
            <a:r>
              <a:rPr lang="en-IN" sz="2000" dirty="0"/>
              <a:t>Let </a:t>
            </a:r>
            <a:r>
              <a:rPr lang="en-IN" sz="2000" b="1" dirty="0" err="1"/>
              <a:t>V</a:t>
            </a:r>
            <a:r>
              <a:rPr lang="en-IN" sz="2000" b="1" baseline="-25000" dirty="0" err="1"/>
              <a:t>i,j</a:t>
            </a:r>
            <a:r>
              <a:rPr lang="en-IN" sz="2000" dirty="0"/>
              <a:t> be true if that square[</a:t>
            </a:r>
            <a:r>
              <a:rPr lang="en-IN" sz="2000" dirty="0" err="1"/>
              <a:t>i</a:t>
            </a:r>
            <a:r>
              <a:rPr lang="en-IN" sz="2000" dirty="0"/>
              <a:t>, j] is visited.</a:t>
            </a:r>
          </a:p>
          <a:p>
            <a:r>
              <a:rPr lang="en-IN" sz="2000" dirty="0"/>
              <a:t>Let </a:t>
            </a:r>
            <a:r>
              <a:rPr lang="en-IN" sz="2000" b="1" dirty="0" err="1"/>
              <a:t>G</a:t>
            </a:r>
            <a:r>
              <a:rPr lang="en-IN" sz="2000" b="1" baseline="-25000" dirty="0" err="1"/>
              <a:t>i,j</a:t>
            </a:r>
            <a:r>
              <a:rPr lang="en-IN" sz="2000" dirty="0"/>
              <a:t> be true if there is gold (and glitter) in the square [</a:t>
            </a:r>
            <a:r>
              <a:rPr lang="en-IN" sz="2000" dirty="0" err="1"/>
              <a:t>i</a:t>
            </a:r>
            <a:r>
              <a:rPr lang="en-IN" sz="2000" dirty="0"/>
              <a:t>, j].</a:t>
            </a:r>
          </a:p>
          <a:p>
            <a:r>
              <a:rPr lang="en-IN" sz="2000" dirty="0"/>
              <a:t>Let </a:t>
            </a:r>
            <a:r>
              <a:rPr lang="en-IN" sz="2000" b="1" dirty="0" err="1"/>
              <a:t>OK</a:t>
            </a:r>
            <a:r>
              <a:rPr lang="en-IN" sz="2000" b="1" baseline="-25000" dirty="0" err="1"/>
              <a:t>i,j</a:t>
            </a:r>
            <a:r>
              <a:rPr lang="en-IN" sz="2000" dirty="0"/>
              <a:t> be true if the room is safe.</a:t>
            </a:r>
          </a:p>
          <a:p>
            <a:endParaRPr lang="en-IN" sz="2000" b="1" dirty="0">
              <a:solidFill>
                <a:srgbClr val="FF0000"/>
              </a:solidFill>
            </a:endParaRPr>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26" name="Picture 2" descr="AI | The Wumpus World Description - GeeksforGeeks"/>
          <p:cNvPicPr>
            <a:picLocks noChangeAspect="1" noChangeArrowheads="1"/>
          </p:cNvPicPr>
          <p:nvPr/>
        </p:nvPicPr>
        <p:blipFill>
          <a:blip r:embed="rId2"/>
          <a:srcRect/>
          <a:stretch>
            <a:fillRect/>
          </a:stretch>
        </p:blipFill>
        <p:spPr bwMode="auto">
          <a:xfrm>
            <a:off x="7858148" y="-11858732"/>
            <a:ext cx="15162201" cy="9595469"/>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45</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85786" y="2500306"/>
            <a:ext cx="8072494" cy="3970318"/>
          </a:xfrm>
          <a:prstGeom prst="rect">
            <a:avLst/>
          </a:prstGeom>
        </p:spPr>
        <p:txBody>
          <a:bodyPr wrap="square">
            <a:spAutoFit/>
          </a:bodyPr>
          <a:lstStyle/>
          <a:p>
            <a:pPr algn="just"/>
            <a:r>
              <a:rPr lang="en-IN" sz="2800" dirty="0"/>
              <a:t>Propositional logic is the foundation of artificial intelligence. It is </a:t>
            </a:r>
            <a:r>
              <a:rPr lang="en-IN" sz="2800" b="1" dirty="0"/>
              <a:t>the idea that statements can be true or false (1 or 0) and that relationships between the statements can be discovered by logical and mathematical rules</a:t>
            </a:r>
          </a:p>
          <a:p>
            <a:pPr algn="just"/>
            <a:endParaRPr lang="en-US" sz="2800" b="1" dirty="0"/>
          </a:p>
          <a:p>
            <a:pPr algn="just"/>
            <a:r>
              <a:rPr lang="en-IN" sz="2800" dirty="0"/>
              <a:t>It is a technique of knowledge representation in logical and mathematical form.</a:t>
            </a:r>
          </a:p>
          <a:p>
            <a:pPr algn="just"/>
            <a:endParaRPr lang="en-IN" sz="2800" b="1" dirty="0">
              <a:solidFill>
                <a:srgbClr val="FF0000"/>
              </a:solidFill>
            </a:endParaRPr>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26" name="Picture 2" descr="AI | The Wumpus World Description - GeeksforGeeks"/>
          <p:cNvPicPr>
            <a:picLocks noChangeAspect="1" noChangeArrowheads="1"/>
          </p:cNvPicPr>
          <p:nvPr/>
        </p:nvPicPr>
        <p:blipFill>
          <a:blip r:embed="rId2"/>
          <a:srcRect/>
          <a:stretch>
            <a:fillRect/>
          </a:stretch>
        </p:blipFill>
        <p:spPr bwMode="auto">
          <a:xfrm>
            <a:off x="7858148" y="-11858732"/>
            <a:ext cx="15162201" cy="9595469"/>
          </a:xfrm>
          <a:prstGeom prst="rect">
            <a:avLst/>
          </a:prstGeom>
          <a:noFill/>
        </p:spPr>
      </p:pic>
      <p:sp>
        <p:nvSpPr>
          <p:cNvPr id="12" name="Rectangle 11"/>
          <p:cNvSpPr/>
          <p:nvPr/>
        </p:nvSpPr>
        <p:spPr>
          <a:xfrm>
            <a:off x="1643042" y="1214422"/>
            <a:ext cx="4599464" cy="707886"/>
          </a:xfrm>
          <a:prstGeom prst="rect">
            <a:avLst/>
          </a:prstGeom>
        </p:spPr>
        <p:txBody>
          <a:bodyPr wrap="none">
            <a:spAutoFit/>
          </a:bodyPr>
          <a:lstStyle/>
          <a:p>
            <a:r>
              <a:rPr lang="en-IN" sz="4000" b="1" dirty="0"/>
              <a:t>Propositional logic?  </a:t>
            </a:r>
          </a:p>
        </p:txBody>
      </p:sp>
    </p:spTree>
    <p:extLst>
      <p:ext uri="{BB962C8B-B14F-4D97-AF65-F5344CB8AC3E}">
        <p14:creationId xmlns:p14="http://schemas.microsoft.com/office/powerpoint/2010/main" val="2417198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46</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5"/>
            <a:ext cx="8072494" cy="707886"/>
          </a:xfrm>
          <a:prstGeom prst="rect">
            <a:avLst/>
          </a:prstGeom>
        </p:spPr>
        <p:txBody>
          <a:bodyPr wrap="square">
            <a:spAutoFit/>
          </a:bodyPr>
          <a:lstStyle/>
          <a:p>
            <a:r>
              <a:rPr lang="en-IN" sz="2000" b="1" dirty="0">
                <a:solidFill>
                  <a:srgbClr val="FF0000"/>
                </a:solidFill>
              </a:rPr>
              <a:t>1.12. The </a:t>
            </a:r>
            <a:r>
              <a:rPr lang="en-IN" sz="2000" b="1" dirty="0" err="1">
                <a:solidFill>
                  <a:srgbClr val="FF0000"/>
                </a:solidFill>
              </a:rPr>
              <a:t>Wumpus</a:t>
            </a:r>
            <a:r>
              <a:rPr lang="en-IN" sz="2000" b="1" dirty="0">
                <a:solidFill>
                  <a:srgbClr val="FF0000"/>
                </a:solidFill>
              </a:rPr>
              <a:t> World</a:t>
            </a:r>
          </a:p>
          <a:p>
            <a:r>
              <a:rPr lang="en-IN" sz="2000" b="1" dirty="0">
                <a:solidFill>
                  <a:srgbClr val="0070C0"/>
                </a:solidFill>
              </a:rPr>
              <a:t>proposition Logic Symbols</a:t>
            </a:r>
            <a:endParaRPr lang="en-IN" sz="2000" b="1" dirty="0">
              <a:solidFill>
                <a:srgbClr val="FF0000"/>
              </a:solidFill>
            </a:endParaRPr>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26" name="Picture 2" descr="AI | The Wumpus World Description - GeeksforGeeks"/>
          <p:cNvPicPr>
            <a:picLocks noChangeAspect="1" noChangeArrowheads="1"/>
          </p:cNvPicPr>
          <p:nvPr/>
        </p:nvPicPr>
        <p:blipFill>
          <a:blip r:embed="rId2"/>
          <a:srcRect/>
          <a:stretch>
            <a:fillRect/>
          </a:stretch>
        </p:blipFill>
        <p:spPr bwMode="auto">
          <a:xfrm>
            <a:off x="7858148" y="-11858732"/>
            <a:ext cx="15162201" cy="9595469"/>
          </a:xfrm>
          <a:prstGeom prst="rect">
            <a:avLst/>
          </a:prstGeom>
          <a:noFill/>
        </p:spPr>
      </p:pic>
      <p:pic>
        <p:nvPicPr>
          <p:cNvPr id="64514" name="Picture 2"/>
          <p:cNvPicPr>
            <a:picLocks noChangeAspect="1" noChangeArrowheads="1"/>
          </p:cNvPicPr>
          <p:nvPr/>
        </p:nvPicPr>
        <p:blipFill>
          <a:blip r:embed="rId3"/>
          <a:srcRect/>
          <a:stretch>
            <a:fillRect/>
          </a:stretch>
        </p:blipFill>
        <p:spPr bwMode="auto">
          <a:xfrm>
            <a:off x="714348" y="1928802"/>
            <a:ext cx="5715040" cy="4197225"/>
          </a:xfrm>
          <a:prstGeom prst="rect">
            <a:avLst/>
          </a:prstGeom>
          <a:noFill/>
          <a:ln w="9525">
            <a:noFill/>
            <a:miter lim="800000"/>
            <a:headEnd/>
            <a:tailEnd/>
          </a:ln>
          <a:effectLst/>
        </p:spPr>
      </p:pic>
    </p:spTree>
    <p:extLst>
      <p:ext uri="{BB962C8B-B14F-4D97-AF65-F5344CB8AC3E}">
        <p14:creationId xmlns:p14="http://schemas.microsoft.com/office/powerpoint/2010/main" val="24171984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47</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5"/>
            <a:ext cx="8072494" cy="1508105"/>
          </a:xfrm>
          <a:prstGeom prst="rect">
            <a:avLst/>
          </a:prstGeom>
        </p:spPr>
        <p:txBody>
          <a:bodyPr wrap="square">
            <a:spAutoFit/>
          </a:bodyPr>
          <a:lstStyle/>
          <a:p>
            <a:r>
              <a:rPr lang="en-IN" sz="2000" b="1" dirty="0">
                <a:solidFill>
                  <a:srgbClr val="FF0000"/>
                </a:solidFill>
              </a:rPr>
              <a:t>1.12. The </a:t>
            </a:r>
            <a:r>
              <a:rPr lang="en-IN" sz="2000" b="1" dirty="0" err="1">
                <a:solidFill>
                  <a:srgbClr val="FF0000"/>
                </a:solidFill>
              </a:rPr>
              <a:t>Wumpus</a:t>
            </a:r>
            <a:r>
              <a:rPr lang="en-IN" sz="2000" b="1" dirty="0">
                <a:solidFill>
                  <a:srgbClr val="FF0000"/>
                </a:solidFill>
              </a:rPr>
              <a:t> World- </a:t>
            </a:r>
            <a:endParaRPr lang="en-IN" sz="2400" b="1" dirty="0">
              <a:solidFill>
                <a:srgbClr val="FF0000"/>
              </a:solidFill>
            </a:endParaRPr>
          </a:p>
          <a:p>
            <a:endParaRPr lang="en-US" sz="2400" b="1" dirty="0">
              <a:solidFill>
                <a:srgbClr val="FF0000"/>
              </a:solidFill>
            </a:endParaRPr>
          </a:p>
          <a:p>
            <a:r>
              <a:rPr lang="en-IN" sz="2400" dirty="0"/>
              <a:t>Some Propositional Rules for the </a:t>
            </a:r>
            <a:r>
              <a:rPr lang="en-IN" sz="2400" dirty="0" err="1"/>
              <a:t>wumpus</a:t>
            </a:r>
            <a:r>
              <a:rPr lang="en-IN" sz="2400" dirty="0"/>
              <a:t> world:</a:t>
            </a:r>
          </a:p>
          <a:p>
            <a:endParaRPr lang="en-IN" sz="2400" b="1" dirty="0">
              <a:solidFill>
                <a:srgbClr val="FF0000"/>
              </a:solidFill>
            </a:endParaRPr>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26" name="Picture 2" descr="AI | The Wumpus World Description - GeeksforGeeks"/>
          <p:cNvPicPr>
            <a:picLocks noChangeAspect="1" noChangeArrowheads="1"/>
          </p:cNvPicPr>
          <p:nvPr/>
        </p:nvPicPr>
        <p:blipFill>
          <a:blip r:embed="rId2"/>
          <a:srcRect/>
          <a:stretch>
            <a:fillRect/>
          </a:stretch>
        </p:blipFill>
        <p:spPr bwMode="auto">
          <a:xfrm>
            <a:off x="7858148" y="-11858732"/>
            <a:ext cx="15162201" cy="9595469"/>
          </a:xfrm>
          <a:prstGeom prst="rect">
            <a:avLst/>
          </a:prstGeom>
          <a:noFill/>
        </p:spPr>
      </p:pic>
      <p:sp>
        <p:nvSpPr>
          <p:cNvPr id="61442" name="AutoShape 2" descr="The Wumpus World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1444" name="AutoShape 4" descr="The Wumpus world in Artificial Intelligence - Javatpoi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1447" name="AutoShape 7" descr="Knowledge-base for Wumpus worl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61448" name="Picture 8" descr="C:\Users\ADMIN\Desktop\aa1.png"/>
          <p:cNvPicPr>
            <a:picLocks noChangeAspect="1" noChangeArrowheads="1"/>
          </p:cNvPicPr>
          <p:nvPr/>
        </p:nvPicPr>
        <p:blipFill>
          <a:blip r:embed="rId3"/>
          <a:srcRect/>
          <a:stretch>
            <a:fillRect/>
          </a:stretch>
        </p:blipFill>
        <p:spPr bwMode="auto">
          <a:xfrm>
            <a:off x="928662" y="2285992"/>
            <a:ext cx="6965706" cy="3286148"/>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48</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714348" y="785795"/>
            <a:ext cx="8072494" cy="461665"/>
          </a:xfrm>
          <a:prstGeom prst="rect">
            <a:avLst/>
          </a:prstGeom>
        </p:spPr>
        <p:txBody>
          <a:bodyPr wrap="square">
            <a:spAutoFit/>
          </a:bodyPr>
          <a:lstStyle/>
          <a:p>
            <a:r>
              <a:rPr lang="en-IN" sz="2000" b="1" dirty="0">
                <a:solidFill>
                  <a:srgbClr val="FF0000"/>
                </a:solidFill>
              </a:rPr>
              <a:t>1.12. The </a:t>
            </a:r>
            <a:r>
              <a:rPr lang="en-IN" sz="2000" b="1" dirty="0" err="1">
                <a:solidFill>
                  <a:srgbClr val="FF0000"/>
                </a:solidFill>
              </a:rPr>
              <a:t>Wumpus</a:t>
            </a:r>
            <a:r>
              <a:rPr lang="en-IN" sz="2000" b="1" dirty="0">
                <a:solidFill>
                  <a:srgbClr val="FF0000"/>
                </a:solidFill>
              </a:rPr>
              <a:t> World- </a:t>
            </a:r>
            <a:r>
              <a:rPr lang="en-IN" sz="2400" b="1" dirty="0"/>
              <a:t>Agent's First step:</a:t>
            </a:r>
            <a:endParaRPr lang="en-IN" sz="2400" b="1" dirty="0">
              <a:solidFill>
                <a:srgbClr val="FF0000"/>
              </a:solidFill>
            </a:endParaRPr>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mj-lt"/>
                <a:ea typeface="+mj-ea"/>
                <a:cs typeface="+mj-cs"/>
              </a:rPr>
              <a:t>Chapt: 1 </a:t>
            </a:r>
            <a:r>
              <a:rPr kumimoji="0" lang="en-IN" sz="2400" b="0" i="0" u="none" strike="noStrike" kern="1200" cap="none" spc="0" normalizeH="0" baseline="0" noProof="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30722" name="AutoShape 2"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0724" name="AutoShape 4" descr="Knowledge Representation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26" name="Picture 2" descr="AI | The Wumpus World Description - GeeksforGeeks"/>
          <p:cNvPicPr>
            <a:picLocks noChangeAspect="1" noChangeArrowheads="1"/>
          </p:cNvPicPr>
          <p:nvPr/>
        </p:nvPicPr>
        <p:blipFill>
          <a:blip r:embed="rId2"/>
          <a:srcRect/>
          <a:stretch>
            <a:fillRect/>
          </a:stretch>
        </p:blipFill>
        <p:spPr bwMode="auto">
          <a:xfrm>
            <a:off x="7858148" y="-11858732"/>
            <a:ext cx="15162201" cy="9595469"/>
          </a:xfrm>
          <a:prstGeom prst="rect">
            <a:avLst/>
          </a:prstGeom>
          <a:noFill/>
        </p:spPr>
      </p:pic>
      <p:sp>
        <p:nvSpPr>
          <p:cNvPr id="61442" name="AutoShape 2" descr="The Wumpus World in Artificial intellig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1444" name="AutoShape 4" descr="The Wumpus world in Artificial Intelligence - Javatpoi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61445" name="Picture 5" descr="C:\Users\ADMIN\Desktop\aa.png"/>
          <p:cNvPicPr>
            <a:picLocks noChangeAspect="1" noChangeArrowheads="1"/>
          </p:cNvPicPr>
          <p:nvPr/>
        </p:nvPicPr>
        <p:blipFill>
          <a:blip r:embed="rId3"/>
          <a:srcRect/>
          <a:stretch>
            <a:fillRect/>
          </a:stretch>
        </p:blipFill>
        <p:spPr bwMode="auto">
          <a:xfrm>
            <a:off x="1000100" y="1285860"/>
            <a:ext cx="7072362" cy="4577103"/>
          </a:xfrm>
          <a:prstGeom prst="rect">
            <a:avLst/>
          </a:prstGeom>
          <a:noFill/>
        </p:spPr>
      </p:pic>
    </p:spTree>
    <p:extLst>
      <p:ext uri="{BB962C8B-B14F-4D97-AF65-F5344CB8AC3E}">
        <p14:creationId xmlns:p14="http://schemas.microsoft.com/office/powerpoint/2010/main" val="24171984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EADF7F4-C89D-4670-A5C4-12CF7472777A}" type="datetime1">
              <a:rPr lang="en-US" smtClean="0"/>
              <a:pPr/>
              <a:t>1/18/2023</a:t>
            </a:fld>
            <a:endParaRPr lang="en-US"/>
          </a:p>
        </p:txBody>
      </p:sp>
      <p:sp>
        <p:nvSpPr>
          <p:cNvPr id="4" name="Footer Placeholder 3"/>
          <p:cNvSpPr>
            <a:spLocks noGrp="1"/>
          </p:cNvSpPr>
          <p:nvPr>
            <p:ph type="ftr" sz="quarter" idx="11"/>
          </p:nvPr>
        </p:nvSpPr>
        <p:spPr/>
        <p:txBody>
          <a:bodyPr/>
          <a:lstStyle/>
          <a:p>
            <a:r>
              <a:rPr lang="en-US"/>
              <a:t>Prof. Prashant Wadkar</a:t>
            </a:r>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49</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a:solidFill>
                <a:srgbClr val="FF0000"/>
              </a:solidFill>
            </a:endParaRPr>
          </a:p>
          <a:p>
            <a:pPr algn="just"/>
            <a:endParaRPr lang="en-US" sz="2000" dirty="0">
              <a:solidFill>
                <a:srgbClr val="7030A0"/>
              </a:solidFill>
            </a:endParaRPr>
          </a:p>
          <a:p>
            <a:pPr algn="just"/>
            <a:endParaRPr lang="en-US" sz="2000" dirty="0">
              <a:solidFill>
                <a:srgbClr val="7030A0"/>
              </a:solidFill>
            </a:endParaRPr>
          </a:p>
          <a:p>
            <a:pPr algn="just"/>
            <a:endParaRPr lang="en-US" sz="2000" b="1" dirty="0"/>
          </a:p>
          <a:p>
            <a:pPr algn="just"/>
            <a:endParaRPr lang="en-US" sz="2000" dirty="0"/>
          </a:p>
          <a:p>
            <a:pPr algn="just"/>
            <a:endParaRPr lang="en-US" sz="2000" b="1" dirty="0"/>
          </a:p>
          <a:p>
            <a:pPr algn="just"/>
            <a:endParaRPr lang="en-US" sz="2000" b="1" dirty="0"/>
          </a:p>
        </p:txBody>
      </p:sp>
      <p:sp>
        <p:nvSpPr>
          <p:cNvPr id="8" name="Rectangle 7"/>
          <p:cNvSpPr/>
          <p:nvPr/>
        </p:nvSpPr>
        <p:spPr>
          <a:xfrm>
            <a:off x="642910" y="857232"/>
            <a:ext cx="8143932" cy="1261884"/>
          </a:xfrm>
          <a:prstGeom prst="rect">
            <a:avLst/>
          </a:prstGeom>
        </p:spPr>
        <p:txBody>
          <a:bodyPr wrap="square">
            <a:spAutoFit/>
          </a:bodyPr>
          <a:lstStyle/>
          <a:p>
            <a:r>
              <a:rPr lang="en-US" sz="2000" dirty="0">
                <a:solidFill>
                  <a:srgbClr val="FF0000"/>
                </a:solidFill>
              </a:rPr>
              <a:t>References</a:t>
            </a:r>
            <a:endParaRPr lang="en-IN" sz="2000" dirty="0">
              <a:solidFill>
                <a:srgbClr val="FF0000"/>
              </a:solidFill>
            </a:endParaRPr>
          </a:p>
          <a:p>
            <a:r>
              <a:rPr lang="en-IN" sz="2000" b="1" dirty="0"/>
              <a:t> </a:t>
            </a:r>
            <a:endParaRPr lang="en-IN" sz="2000" dirty="0"/>
          </a:p>
          <a:p>
            <a:endParaRPr lang="en-US" i="1" dirty="0"/>
          </a:p>
          <a:p>
            <a:endParaRPr lang="en-IN" dirty="0"/>
          </a:p>
        </p:txBody>
      </p:sp>
      <p:sp>
        <p:nvSpPr>
          <p:cNvPr id="10" name="Title 1"/>
          <p:cNvSpPr txBox="1">
            <a:spLocks/>
          </p:cNvSpPr>
          <p:nvPr/>
        </p:nvSpPr>
        <p:spPr>
          <a:xfrm>
            <a:off x="714348" y="285728"/>
            <a:ext cx="7958166" cy="47147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err="1">
                <a:ln>
                  <a:noFill/>
                </a:ln>
                <a:solidFill>
                  <a:srgbClr val="FF0000"/>
                </a:solidFill>
                <a:effectLst/>
                <a:uLnTx/>
                <a:uFillTx/>
                <a:latin typeface="+mj-lt"/>
                <a:ea typeface="+mj-ea"/>
                <a:cs typeface="+mj-cs"/>
              </a:rPr>
              <a:t>Chapt</a:t>
            </a:r>
            <a:r>
              <a:rPr kumimoji="0" lang="en-US" sz="2400" b="0" i="0" u="none" strike="noStrike" kern="1200" cap="none" spc="0" normalizeH="0" baseline="0" noProof="0" dirty="0">
                <a:ln>
                  <a:noFill/>
                </a:ln>
                <a:solidFill>
                  <a:srgbClr val="FF0000"/>
                </a:solidFill>
                <a:effectLst/>
                <a:uLnTx/>
                <a:uFillTx/>
                <a:latin typeface="+mj-lt"/>
                <a:ea typeface="+mj-ea"/>
                <a:cs typeface="+mj-cs"/>
              </a:rPr>
              <a:t>: 1 </a:t>
            </a:r>
            <a:r>
              <a:rPr kumimoji="0" lang="en-IN" sz="2400" b="0" i="0" u="none" strike="noStrike" kern="1200" cap="none" spc="0" normalizeH="0" baseline="0" noProof="0" dirty="0">
                <a:ln>
                  <a:noFill/>
                </a:ln>
                <a:solidFill>
                  <a:srgbClr val="FF0000"/>
                </a:solidFill>
                <a:effectLst/>
                <a:uLnTx/>
                <a:uFillTx/>
                <a:latin typeface="+mj-lt"/>
                <a:ea typeface="+mj-ea"/>
                <a:cs typeface="+mj-cs"/>
              </a:rPr>
              <a:t>Artificial Intelligence and Knowledge Representation</a:t>
            </a:r>
            <a:endParaRPr kumimoji="0" lang="en-US" sz="2400" b="0" i="0" u="none" strike="noStrike" kern="1200" cap="none" spc="0" normalizeH="0" baseline="0" noProof="0" dirty="0">
              <a:ln>
                <a:noFill/>
              </a:ln>
              <a:solidFill>
                <a:srgbClr val="FF0000"/>
              </a:solidFill>
              <a:effectLst/>
              <a:uLnTx/>
              <a:uFillTx/>
              <a:latin typeface="+mj-lt"/>
              <a:ea typeface="+mj-ea"/>
              <a:cs typeface="+mj-cs"/>
            </a:endParaRPr>
          </a:p>
        </p:txBody>
      </p:sp>
      <p:sp>
        <p:nvSpPr>
          <p:cNvPr id="12" name="Rectangle 11"/>
          <p:cNvSpPr/>
          <p:nvPr/>
        </p:nvSpPr>
        <p:spPr>
          <a:xfrm>
            <a:off x="642910" y="1285861"/>
            <a:ext cx="7929618" cy="3693319"/>
          </a:xfrm>
          <a:prstGeom prst="rect">
            <a:avLst/>
          </a:prstGeom>
        </p:spPr>
        <p:txBody>
          <a:bodyPr wrap="square">
            <a:spAutoFit/>
          </a:bodyPr>
          <a:lstStyle/>
          <a:p>
            <a:r>
              <a:rPr lang="en-IN" dirty="0">
                <a:hlinkClick r:id="rId2"/>
              </a:rPr>
              <a:t>https://medium.com/myroadtoartificialintelligence/branches-of-artificial-intelligence-812b8e292cdb</a:t>
            </a:r>
            <a:endParaRPr lang="en-IN" dirty="0"/>
          </a:p>
          <a:p>
            <a:endParaRPr lang="en-US" dirty="0"/>
          </a:p>
          <a:p>
            <a:r>
              <a:rPr lang="en-IN" dirty="0">
                <a:hlinkClick r:id="rId3"/>
              </a:rPr>
              <a:t>https://www.nibusinessinfo.co.uk/content/risks-and-limitations-artificial-intelligence-business</a:t>
            </a:r>
            <a:endParaRPr lang="en-IN" dirty="0"/>
          </a:p>
          <a:p>
            <a:endParaRPr lang="en-US" dirty="0"/>
          </a:p>
          <a:p>
            <a:r>
              <a:rPr lang="en-US" dirty="0"/>
              <a:t>Wikipedia</a:t>
            </a:r>
          </a:p>
          <a:p>
            <a:endParaRPr lang="en-US" dirty="0"/>
          </a:p>
          <a:p>
            <a:r>
              <a:rPr lang="en-IN" b="1" dirty="0"/>
              <a:t>https://www.youtube.com/watch?v=3MW3ICnkQ9k</a:t>
            </a:r>
          </a:p>
          <a:p>
            <a:endParaRPr lang="en-US" dirty="0"/>
          </a:p>
          <a:p>
            <a:endParaRPr lang="en-IN" dirty="0"/>
          </a:p>
          <a:p>
            <a:endParaRPr lang="en-US" dirty="0"/>
          </a:p>
          <a:p>
            <a:endParaRPr lang="en-IN" dirty="0"/>
          </a:p>
        </p:txBody>
      </p:sp>
    </p:spTree>
    <p:extLst>
      <p:ext uri="{BB962C8B-B14F-4D97-AF65-F5344CB8AC3E}">
        <p14:creationId xmlns:p14="http://schemas.microsoft.com/office/powerpoint/2010/main" val="2417198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499DAFF9993574D8983798955CD2BEA" ma:contentTypeVersion="17" ma:contentTypeDescription="Create a new document." ma:contentTypeScope="" ma:versionID="ae44ace0bcb38314e421420511d22433">
  <xsd:schema xmlns:xsd="http://www.w3.org/2001/XMLSchema" xmlns:xs="http://www.w3.org/2001/XMLSchema" xmlns:p="http://schemas.microsoft.com/office/2006/metadata/properties" xmlns:ns2="90db47ee-53c7-47b8-8d9c-dc5d266bf6ed" xmlns:ns3="07860a32-7f92-4cf8-bff4-a36adff937bc" targetNamespace="http://schemas.microsoft.com/office/2006/metadata/properties" ma:root="true" ma:fieldsID="1b4df2631454792ea99f14a23389ba9b" ns2:_="" ns3:_="">
    <xsd:import namespace="90db47ee-53c7-47b8-8d9c-dc5d266bf6ed"/>
    <xsd:import namespace="07860a32-7f92-4cf8-bff4-a36adff937b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3:TaxCatchAll" minOccurs="0"/>
                <xsd:element ref="ns2:MediaServiceGenerationTime" minOccurs="0"/>
                <xsd:element ref="ns2:MediaServiceEventHashCode" minOccurs="0"/>
                <xsd:element ref="ns2:lcf76f155ced4ddcb4097134ff3c332f" minOccurs="0"/>
                <xsd:element ref="ns3:SharedWithUsers" minOccurs="0"/>
                <xsd:element ref="ns3:SharedWithDetail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db47ee-53c7-47b8-8d9c-dc5d266bf6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1702b86-8ab3-4945-be37-589f4ebcce2f"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860a32-7f92-4cf8-bff4-a36adff93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aab492b-f257-43f7-a737-c5e7e5cadc57}" ma:internalName="TaxCatchAll" ma:showField="CatchAllData" ma:web="07860a32-7f92-4cf8-bff4-a36adff937b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0db47ee-53c7-47b8-8d9c-dc5d266bf6ed">
      <Terms xmlns="http://schemas.microsoft.com/office/infopath/2007/PartnerControls"/>
    </lcf76f155ced4ddcb4097134ff3c332f>
    <TaxCatchAll xmlns="07860a32-7f92-4cf8-bff4-a36adff937bc" xsi:nil="true"/>
  </documentManagement>
</p:properties>
</file>

<file path=customXml/itemProps1.xml><?xml version="1.0" encoding="utf-8"?>
<ds:datastoreItem xmlns:ds="http://schemas.openxmlformats.org/officeDocument/2006/customXml" ds:itemID="{4E39B753-509E-4E8F-B195-FEC974D8A8B9}">
  <ds:schemaRefs>
    <ds:schemaRef ds:uri="http://schemas.microsoft.com/sharepoint/v3/contenttype/forms"/>
  </ds:schemaRefs>
</ds:datastoreItem>
</file>

<file path=customXml/itemProps2.xml><?xml version="1.0" encoding="utf-8"?>
<ds:datastoreItem xmlns:ds="http://schemas.openxmlformats.org/officeDocument/2006/customXml" ds:itemID="{183C90F7-415E-4335-B38D-7FC1D370F2A4}"/>
</file>

<file path=customXml/itemProps3.xml><?xml version="1.0" encoding="utf-8"?>
<ds:datastoreItem xmlns:ds="http://schemas.openxmlformats.org/officeDocument/2006/customXml" ds:itemID="{A4666F43-DCA7-493E-9919-75D9D59D4171}">
  <ds:schemaRefs>
    <ds:schemaRef ds:uri="http://schemas.microsoft.com/office/2006/metadata/properties"/>
    <ds:schemaRef ds:uri="http://schemas.microsoft.com/office/infopath/2007/PartnerControls"/>
    <ds:schemaRef ds:uri="90db47ee-53c7-47b8-8d9c-dc5d266bf6ed"/>
    <ds:schemaRef ds:uri="07860a32-7f92-4cf8-bff4-a36adff937bc"/>
  </ds:schemaRefs>
</ds:datastoreItem>
</file>

<file path=docProps/app.xml><?xml version="1.0" encoding="utf-8"?>
<Properties xmlns="http://schemas.openxmlformats.org/officeDocument/2006/extended-properties" xmlns:vt="http://schemas.openxmlformats.org/officeDocument/2006/docPropsVTypes">
  <Template/>
  <TotalTime>5388</TotalTime>
  <Words>2808</Words>
  <Application>Microsoft Office PowerPoint</Application>
  <PresentationFormat>On-screen Show (4:3)</PresentationFormat>
  <Paragraphs>897</Paragraphs>
  <Slides>49</Slides>
  <Notes>1</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PowerPoint Presentation</vt:lpstr>
      <vt:lpstr>PowerPoint Presentation</vt:lpstr>
      <vt:lpstr>PowerPoint Presentation</vt:lpstr>
      <vt:lpstr>PowerPoint Presentation</vt:lpstr>
      <vt:lpstr>Chapt: 1 Artificial Intelligence and Knowledge Representation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prashant</dc:creator>
  <cp:lastModifiedBy>ADMIN</cp:lastModifiedBy>
  <cp:revision>836</cp:revision>
  <dcterms:created xsi:type="dcterms:W3CDTF">2020-07-18T06:26:08Z</dcterms:created>
  <dcterms:modified xsi:type="dcterms:W3CDTF">2023-01-19T07:28:30Z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0x0101005499DAFF9993574D8983798955CD2BEA</vt:lpwstr>
  </property>
  <property fmtid="{D5CDD505-2E9C-101B-9397-08002B2CF9AE}" pid="3" name="MediaServiceImageTags">
    <vt:lpwstr/>
  </property>
</Properties>
</file>