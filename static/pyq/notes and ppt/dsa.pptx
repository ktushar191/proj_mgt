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6" r:id="rId16"/>
    <p:sldId id="283" r:id="rId17"/>
    <p:sldId id="284" r:id="rId18"/>
    <p:sldId id="285" r:id="rId19"/>
    <p:sldId id="286" r:id="rId20"/>
    <p:sldId id="287" r:id="rId21"/>
    <p:sldId id="288" r:id="rId22"/>
    <p:sldId id="270" r:id="rId23"/>
    <p:sldId id="271" r:id="rId24"/>
    <p:sldId id="272" r:id="rId25"/>
    <p:sldId id="273" r:id="rId26"/>
    <p:sldId id="274" r:id="rId27"/>
    <p:sldId id="275" r:id="rId28"/>
    <p:sldId id="277" r:id="rId29"/>
    <p:sldId id="278" r:id="rId30"/>
    <p:sldId id="279" r:id="rId31"/>
    <p:sldId id="280" r:id="rId32"/>
    <p:sldId id="281" r:id="rId33"/>
    <p:sldId id="282" r:id="rId34"/>
    <p:sldId id="289" r:id="rId35"/>
    <p:sldId id="290" r:id="rId36"/>
    <p:sldId id="291" r:id="rId37"/>
    <p:sldId id="296" r:id="rId38"/>
    <p:sldId id="297" r:id="rId39"/>
    <p:sldId id="298" r:id="rId40"/>
    <p:sldId id="292" r:id="rId41"/>
    <p:sldId id="299" r:id="rId42"/>
    <p:sldId id="300" r:id="rId43"/>
    <p:sldId id="293" r:id="rId44"/>
    <p:sldId id="301" r:id="rId45"/>
    <p:sldId id="302" r:id="rId46"/>
    <p:sldId id="294" r:id="rId47"/>
    <p:sldId id="303" r:id="rId48"/>
    <p:sldId id="304" r:id="rId4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515D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66" d="100"/>
          <a:sy n="66" d="100"/>
        </p:scale>
        <p:origin x="-1422"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8274FBC-0E40-42D0-9331-4B7EB6868F51}" type="datetimeFigureOut">
              <a:rPr lang="en-IN" smtClean="0"/>
              <a:t>07-12-2022</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8210432-C39A-4F03-951D-1BC799CB7F9D}" type="slidenum">
              <a:rPr lang="en-IN" smtClean="0"/>
              <a:t>‹#›</a:t>
            </a:fld>
            <a:endParaRPr lang="en-IN"/>
          </a:p>
        </p:txBody>
      </p:sp>
    </p:spTree>
    <p:extLst>
      <p:ext uri="{BB962C8B-B14F-4D97-AF65-F5344CB8AC3E}">
        <p14:creationId xmlns:p14="http://schemas.microsoft.com/office/powerpoint/2010/main" val="23655379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F8210432-C39A-4F03-951D-1BC799CB7F9D}" type="slidenum">
              <a:rPr lang="en-IN" smtClean="0"/>
              <a:t>9</a:t>
            </a:fld>
            <a:endParaRPr lang="en-IN"/>
          </a:p>
        </p:txBody>
      </p:sp>
    </p:spTree>
    <p:extLst>
      <p:ext uri="{BB962C8B-B14F-4D97-AF65-F5344CB8AC3E}">
        <p14:creationId xmlns:p14="http://schemas.microsoft.com/office/powerpoint/2010/main" val="5205523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F8210432-C39A-4F03-951D-1BC799CB7F9D}" type="slidenum">
              <a:rPr lang="en-IN" smtClean="0"/>
              <a:t>41</a:t>
            </a:fld>
            <a:endParaRPr lang="en-IN"/>
          </a:p>
        </p:txBody>
      </p:sp>
    </p:spTree>
    <p:extLst>
      <p:ext uri="{BB962C8B-B14F-4D97-AF65-F5344CB8AC3E}">
        <p14:creationId xmlns:p14="http://schemas.microsoft.com/office/powerpoint/2010/main" val="20651998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D98EB880-E746-463F-80CB-B6C859EAC29C}" type="datetimeFigureOut">
              <a:rPr lang="en-IN" smtClean="0"/>
              <a:t>07-12-2022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A1547DE-20AA-4BC5-B156-05A727080010}" type="slidenum">
              <a:rPr lang="en-IN" smtClean="0"/>
              <a:t>‹#›</a:t>
            </a:fld>
            <a:endParaRPr lang="en-IN"/>
          </a:p>
        </p:txBody>
      </p:sp>
    </p:spTree>
    <p:extLst>
      <p:ext uri="{BB962C8B-B14F-4D97-AF65-F5344CB8AC3E}">
        <p14:creationId xmlns:p14="http://schemas.microsoft.com/office/powerpoint/2010/main" val="31110577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D98EB880-E746-463F-80CB-B6C859EAC29C}" type="datetimeFigureOut">
              <a:rPr lang="en-IN" smtClean="0"/>
              <a:t>07-12-2022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A1547DE-20AA-4BC5-B156-05A727080010}" type="slidenum">
              <a:rPr lang="en-IN" smtClean="0"/>
              <a:t>‹#›</a:t>
            </a:fld>
            <a:endParaRPr lang="en-IN"/>
          </a:p>
        </p:txBody>
      </p:sp>
    </p:spTree>
    <p:extLst>
      <p:ext uri="{BB962C8B-B14F-4D97-AF65-F5344CB8AC3E}">
        <p14:creationId xmlns:p14="http://schemas.microsoft.com/office/powerpoint/2010/main" val="36417164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98EB880-E746-463F-80CB-B6C859EAC29C}" type="datetimeFigureOut">
              <a:rPr lang="en-IN" smtClean="0"/>
              <a:t>07-12-2022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A1547DE-20AA-4BC5-B156-05A727080010}" type="slidenum">
              <a:rPr lang="en-IN" smtClean="0"/>
              <a:t>‹#›</a:t>
            </a:fld>
            <a:endParaRPr lang="en-IN"/>
          </a:p>
        </p:txBody>
      </p:sp>
    </p:spTree>
    <p:extLst>
      <p:ext uri="{BB962C8B-B14F-4D97-AF65-F5344CB8AC3E}">
        <p14:creationId xmlns:p14="http://schemas.microsoft.com/office/powerpoint/2010/main" val="40128752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D98EB880-E746-463F-80CB-B6C859EAC29C}" type="datetimeFigureOut">
              <a:rPr lang="en-IN" smtClean="0"/>
              <a:t>07-12-2022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A1547DE-20AA-4BC5-B156-05A727080010}" type="slidenum">
              <a:rPr lang="en-IN" smtClean="0"/>
              <a:t>‹#›</a:t>
            </a:fld>
            <a:endParaRPr lang="en-IN"/>
          </a:p>
        </p:txBody>
      </p:sp>
    </p:spTree>
    <p:extLst>
      <p:ext uri="{BB962C8B-B14F-4D97-AF65-F5344CB8AC3E}">
        <p14:creationId xmlns:p14="http://schemas.microsoft.com/office/powerpoint/2010/main" val="37475562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D98EB880-E746-463F-80CB-B6C859EAC29C}" type="datetimeFigureOut">
              <a:rPr lang="en-IN" smtClean="0"/>
              <a:t>07-12-2022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A1547DE-20AA-4BC5-B156-05A727080010}" type="slidenum">
              <a:rPr lang="en-IN" smtClean="0"/>
              <a:t>‹#›</a:t>
            </a:fld>
            <a:endParaRPr lang="en-IN"/>
          </a:p>
        </p:txBody>
      </p:sp>
    </p:spTree>
    <p:extLst>
      <p:ext uri="{BB962C8B-B14F-4D97-AF65-F5344CB8AC3E}">
        <p14:creationId xmlns:p14="http://schemas.microsoft.com/office/powerpoint/2010/main" val="28493475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D98EB880-E746-463F-80CB-B6C859EAC29C}" type="datetimeFigureOut">
              <a:rPr lang="en-IN" smtClean="0"/>
              <a:t>07-12-2022</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A1547DE-20AA-4BC5-B156-05A727080010}" type="slidenum">
              <a:rPr lang="en-IN" smtClean="0"/>
              <a:t>‹#›</a:t>
            </a:fld>
            <a:endParaRPr lang="en-IN"/>
          </a:p>
        </p:txBody>
      </p:sp>
    </p:spTree>
    <p:extLst>
      <p:ext uri="{BB962C8B-B14F-4D97-AF65-F5344CB8AC3E}">
        <p14:creationId xmlns:p14="http://schemas.microsoft.com/office/powerpoint/2010/main" val="37794724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98EB880-E746-463F-80CB-B6C859EAC29C}" type="datetimeFigureOut">
              <a:rPr lang="en-IN" smtClean="0"/>
              <a:t>07-12-2022</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A1547DE-20AA-4BC5-B156-05A727080010}" type="slidenum">
              <a:rPr lang="en-IN" smtClean="0"/>
              <a:t>‹#›</a:t>
            </a:fld>
            <a:endParaRPr lang="en-IN"/>
          </a:p>
        </p:txBody>
      </p:sp>
    </p:spTree>
    <p:extLst>
      <p:ext uri="{BB962C8B-B14F-4D97-AF65-F5344CB8AC3E}">
        <p14:creationId xmlns:p14="http://schemas.microsoft.com/office/powerpoint/2010/main" val="18069112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98EB880-E746-463F-80CB-B6C859EAC29C}" type="datetimeFigureOut">
              <a:rPr lang="en-IN" smtClean="0"/>
              <a:t>07-12-2022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A1547DE-20AA-4BC5-B156-05A727080010}" type="slidenum">
              <a:rPr lang="en-IN" smtClean="0"/>
              <a:t>‹#›</a:t>
            </a:fld>
            <a:endParaRPr lang="en-IN"/>
          </a:p>
        </p:txBody>
      </p:sp>
    </p:spTree>
    <p:extLst>
      <p:ext uri="{BB962C8B-B14F-4D97-AF65-F5344CB8AC3E}">
        <p14:creationId xmlns:p14="http://schemas.microsoft.com/office/powerpoint/2010/main" val="22526072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98EB880-E746-463F-80CB-B6C859EAC29C}" type="datetimeFigureOut">
              <a:rPr lang="en-IN" smtClean="0"/>
              <a:t>07-12-2022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A1547DE-20AA-4BC5-B156-05A727080010}" type="slidenum">
              <a:rPr lang="en-IN" smtClean="0"/>
              <a:t>‹#›</a:t>
            </a:fld>
            <a:endParaRPr lang="en-IN"/>
          </a:p>
        </p:txBody>
      </p:sp>
    </p:spTree>
    <p:extLst>
      <p:ext uri="{BB962C8B-B14F-4D97-AF65-F5344CB8AC3E}">
        <p14:creationId xmlns:p14="http://schemas.microsoft.com/office/powerpoint/2010/main" val="15272703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D98EB880-E746-463F-80CB-B6C859EAC29C}" type="datetimeFigureOut">
              <a:rPr lang="en-IN" smtClean="0"/>
              <a:t>07-12-2022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A1547DE-20AA-4BC5-B156-05A727080010}" type="slidenum">
              <a:rPr lang="en-IN" smtClean="0"/>
              <a:t>‹#›</a:t>
            </a:fld>
            <a:endParaRPr lang="en-IN"/>
          </a:p>
        </p:txBody>
      </p:sp>
    </p:spTree>
    <p:extLst>
      <p:ext uri="{BB962C8B-B14F-4D97-AF65-F5344CB8AC3E}">
        <p14:creationId xmlns:p14="http://schemas.microsoft.com/office/powerpoint/2010/main" val="5797431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D98EB880-E746-463F-80CB-B6C859EAC29C}" type="datetimeFigureOut">
              <a:rPr lang="en-IN" smtClean="0"/>
              <a:t>07-12-2022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A1547DE-20AA-4BC5-B156-05A727080010}" type="slidenum">
              <a:rPr lang="en-IN" smtClean="0"/>
              <a:t>‹#›</a:t>
            </a:fld>
            <a:endParaRPr lang="en-IN"/>
          </a:p>
        </p:txBody>
      </p:sp>
    </p:spTree>
    <p:extLst>
      <p:ext uri="{BB962C8B-B14F-4D97-AF65-F5344CB8AC3E}">
        <p14:creationId xmlns:p14="http://schemas.microsoft.com/office/powerpoint/2010/main" val="41316105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51066" y="189546"/>
            <a:ext cx="6660232" cy="1143000"/>
          </a:xfrm>
          <a:prstGeom prst="rect">
            <a:avLst/>
          </a:prstGeom>
        </p:spPr>
        <p:txBody>
          <a:bodyPr vert="horz" lIns="91440" tIns="45720" rIns="91440" bIns="45720" rtlCol="0" anchor="ctr">
            <a:normAutofit/>
          </a:bodyPr>
          <a:lstStyle/>
          <a:p>
            <a:r>
              <a:rPr lang="en-US" dirty="0" smtClean="0"/>
              <a:t>Click to edit Master title style</a:t>
            </a:r>
            <a:endParaRPr lang="en-IN"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8EB880-E746-463F-80CB-B6C859EAC29C}" type="datetimeFigureOut">
              <a:rPr lang="en-IN" smtClean="0"/>
              <a:t>07-12-2022</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A1547DE-20AA-4BC5-B156-05A727080010}" type="slidenum">
              <a:rPr lang="en-IN" smtClean="0"/>
              <a:t>‹#›</a:t>
            </a:fld>
            <a:endParaRPr lang="en-IN"/>
          </a:p>
        </p:txBody>
      </p:sp>
      <p:pic>
        <p:nvPicPr>
          <p:cNvPr id="7" name="Picture 6"/>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7740353" y="249901"/>
            <a:ext cx="1403648" cy="1022290"/>
          </a:xfrm>
          <a:prstGeom prst="rect">
            <a:avLst/>
          </a:prstGeom>
        </p:spPr>
      </p:pic>
      <p:pic>
        <p:nvPicPr>
          <p:cNvPr id="8" name="Picture 7"/>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6024" y="168342"/>
            <a:ext cx="1044624" cy="1044624"/>
          </a:xfrm>
          <a:prstGeom prst="rect">
            <a:avLst/>
          </a:prstGeom>
        </p:spPr>
      </p:pic>
    </p:spTree>
    <p:extLst>
      <p:ext uri="{BB962C8B-B14F-4D97-AF65-F5344CB8AC3E}">
        <p14:creationId xmlns:p14="http://schemas.microsoft.com/office/powerpoint/2010/main" val="20990631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3200" kern="1200">
          <a:solidFill>
            <a:schemeClr val="tx1"/>
          </a:solidFill>
          <a:latin typeface="Times New Roman" panose="02020603050405020304" pitchFamily="18" charset="0"/>
          <a:ea typeface="+mj-ea"/>
          <a:cs typeface="Times New Roman" panose="02020603050405020304" pitchFamily="18" charset="0"/>
        </a:defRPr>
      </a:lvl1pPr>
    </p:titleStyle>
    <p:bodyStyle>
      <a:lvl1pPr marL="342900" indent="-342900" algn="just" defTabSz="914400" rtl="0" eaLnBrk="1" latinLnBrk="0" hangingPunct="1">
        <a:lnSpc>
          <a:spcPct val="150000"/>
        </a:lnSpc>
        <a:spcBef>
          <a:spcPct val="200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1pPr>
      <a:lvl2pPr marL="742950" indent="-285750" algn="just" defTabSz="914400" rtl="0" eaLnBrk="1" latinLnBrk="0" hangingPunct="1">
        <a:lnSpc>
          <a:spcPct val="150000"/>
        </a:lnSpc>
        <a:spcBef>
          <a:spcPct val="200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just" defTabSz="914400" rtl="0" eaLnBrk="1" latinLnBrk="0" hangingPunct="1">
        <a:lnSpc>
          <a:spcPct val="150000"/>
        </a:lnSpc>
        <a:spcBef>
          <a:spcPct val="200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just" defTabSz="914400" rtl="0" eaLnBrk="1" latinLnBrk="0" hangingPunct="1">
        <a:lnSpc>
          <a:spcPct val="150000"/>
        </a:lnSpc>
        <a:spcBef>
          <a:spcPct val="200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just" defTabSz="914400" rtl="0" eaLnBrk="1" latinLnBrk="0" hangingPunct="1">
        <a:lnSpc>
          <a:spcPct val="150000"/>
        </a:lnSpc>
        <a:spcBef>
          <a:spcPct val="200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hyperlink" Target="https://www.programiz.com/dsa/queue"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3568" y="1052736"/>
            <a:ext cx="7772400" cy="1470025"/>
          </a:xfrm>
        </p:spPr>
        <p:txBody>
          <a:bodyPr/>
          <a:lstStyle/>
          <a:p>
            <a:r>
              <a:rPr lang="en-IN" dirty="0" smtClean="0"/>
              <a:t>Unit  2</a:t>
            </a:r>
            <a:endParaRPr lang="en-IN" dirty="0"/>
          </a:p>
        </p:txBody>
      </p:sp>
      <p:sp>
        <p:nvSpPr>
          <p:cNvPr id="3" name="Subtitle 2"/>
          <p:cNvSpPr>
            <a:spLocks noGrp="1"/>
          </p:cNvSpPr>
          <p:nvPr>
            <p:ph type="subTitle" idx="1"/>
          </p:nvPr>
        </p:nvSpPr>
        <p:spPr>
          <a:xfrm>
            <a:off x="899592" y="2852936"/>
            <a:ext cx="6872808" cy="2425824"/>
          </a:xfrm>
        </p:spPr>
        <p:txBody>
          <a:bodyPr>
            <a:noAutofit/>
          </a:bodyPr>
          <a:lstStyle/>
          <a:p>
            <a:r>
              <a:rPr lang="en-US" b="1" dirty="0">
                <a:solidFill>
                  <a:schemeClr val="tx1"/>
                </a:solidFill>
              </a:rPr>
              <a:t>Stack and </a:t>
            </a:r>
            <a:r>
              <a:rPr lang="en-US" b="1" dirty="0" smtClean="0">
                <a:solidFill>
                  <a:schemeClr val="tx1"/>
                </a:solidFill>
              </a:rPr>
              <a:t>Queues</a:t>
            </a:r>
            <a:endParaRPr lang="en-IN" sz="2000" dirty="0">
              <a:solidFill>
                <a:schemeClr val="tx1"/>
              </a:solidFill>
            </a:endParaRPr>
          </a:p>
        </p:txBody>
      </p:sp>
    </p:spTree>
    <p:extLst>
      <p:ext uri="{BB962C8B-B14F-4D97-AF65-F5344CB8AC3E}">
        <p14:creationId xmlns:p14="http://schemas.microsoft.com/office/powerpoint/2010/main" val="260754995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p:txBody>
          <a:bodyPr/>
          <a:lstStyle/>
          <a:p>
            <a:r>
              <a:rPr lang="en-US" b="1" dirty="0"/>
              <a:t>Stack and Queues</a:t>
            </a:r>
            <a:endParaRPr lang="en-IN" sz="2000" dirty="0"/>
          </a:p>
          <a:p>
            <a:pPr lvl="1"/>
            <a:r>
              <a:rPr lang="en-US" dirty="0"/>
              <a:t>Linked List implementation of Stack</a:t>
            </a:r>
            <a:endParaRPr lang="en-IN" sz="2000" dirty="0"/>
          </a:p>
          <a:p>
            <a:pPr lvl="1"/>
            <a:r>
              <a:rPr lang="en-US" dirty="0"/>
              <a:t>Linked List implementation of Queue</a:t>
            </a:r>
            <a:endParaRPr lang="en-IN" sz="2000" dirty="0"/>
          </a:p>
          <a:p>
            <a:r>
              <a:rPr lang="en-US" dirty="0"/>
              <a:t>Circular Queue</a:t>
            </a:r>
            <a:endParaRPr lang="en-IN" dirty="0"/>
          </a:p>
        </p:txBody>
      </p:sp>
    </p:spTree>
    <p:extLst>
      <p:ext uri="{BB962C8B-B14F-4D97-AF65-F5344CB8AC3E}">
        <p14:creationId xmlns:p14="http://schemas.microsoft.com/office/powerpoint/2010/main" val="392322665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Data Structure </a:t>
            </a:r>
            <a:endParaRPr lang="en-IN" dirty="0"/>
          </a:p>
        </p:txBody>
      </p:sp>
      <p:sp>
        <p:nvSpPr>
          <p:cNvPr id="3" name="Content Placeholder 2"/>
          <p:cNvSpPr>
            <a:spLocks noGrp="1"/>
          </p:cNvSpPr>
          <p:nvPr>
            <p:ph idx="1"/>
          </p:nvPr>
        </p:nvSpPr>
        <p:spPr>
          <a:xfrm>
            <a:off x="467544" y="1268760"/>
            <a:ext cx="8229600" cy="4813995"/>
          </a:xfrm>
        </p:spPr>
        <p:txBody>
          <a:bodyPr>
            <a:normAutofit fontScale="92500" lnSpcReduction="10000"/>
          </a:bodyPr>
          <a:lstStyle/>
          <a:p>
            <a:r>
              <a:rPr lang="en-US" b="1" dirty="0">
                <a:solidFill>
                  <a:srgbClr val="00B0F0"/>
                </a:solidFill>
              </a:rPr>
              <a:t>A data structure is a storage that is used to store and organize data. It is a way of arranging data on a computer so that it can be accessed </a:t>
            </a:r>
            <a:r>
              <a:rPr lang="en-US" b="1" dirty="0" smtClean="0">
                <a:solidFill>
                  <a:srgbClr val="00B0F0"/>
                </a:solidFill>
              </a:rPr>
              <a:t>and </a:t>
            </a:r>
            <a:r>
              <a:rPr lang="en-US" b="1" dirty="0">
                <a:solidFill>
                  <a:srgbClr val="00B0F0"/>
                </a:solidFill>
              </a:rPr>
              <a:t>updated efficiently</a:t>
            </a:r>
            <a:r>
              <a:rPr lang="en-US" dirty="0" smtClean="0"/>
              <a:t>.</a:t>
            </a:r>
          </a:p>
          <a:p>
            <a:r>
              <a:rPr lang="en-US" dirty="0"/>
              <a:t>A data structure is a specialized format for organizing, processing, retrieving and storing data. </a:t>
            </a:r>
          </a:p>
          <a:p>
            <a:r>
              <a:rPr lang="en-US" dirty="0" smtClean="0"/>
              <a:t>Data </a:t>
            </a:r>
            <a:r>
              <a:rPr lang="en-US" dirty="0"/>
              <a:t>structures make it easy for users to access and work with the data they need in appropriate ways. </a:t>
            </a:r>
            <a:endParaRPr lang="en-US" dirty="0" smtClean="0"/>
          </a:p>
          <a:p>
            <a:r>
              <a:rPr lang="en-US" dirty="0" smtClean="0"/>
              <a:t>Data </a:t>
            </a:r>
            <a:r>
              <a:rPr lang="en-US" dirty="0"/>
              <a:t>structures frame the organization of information so that machines and humans can better understand it.</a:t>
            </a:r>
            <a:endParaRPr lang="en-IN" dirty="0"/>
          </a:p>
        </p:txBody>
      </p:sp>
    </p:spTree>
    <p:extLst>
      <p:ext uri="{BB962C8B-B14F-4D97-AF65-F5344CB8AC3E}">
        <p14:creationId xmlns:p14="http://schemas.microsoft.com/office/powerpoint/2010/main" val="192274169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IN" b="1" dirty="0"/>
              <a:t>Classification of Data Structure</a:t>
            </a:r>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9512" y="1700808"/>
            <a:ext cx="8765468" cy="4608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0511653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Linear data structure</a:t>
            </a:r>
            <a:endParaRPr lang="en-IN" dirty="0"/>
          </a:p>
        </p:txBody>
      </p:sp>
      <p:sp>
        <p:nvSpPr>
          <p:cNvPr id="3" name="Content Placeholder 2"/>
          <p:cNvSpPr>
            <a:spLocks noGrp="1"/>
          </p:cNvSpPr>
          <p:nvPr>
            <p:ph idx="1"/>
          </p:nvPr>
        </p:nvSpPr>
        <p:spPr/>
        <p:txBody>
          <a:bodyPr/>
          <a:lstStyle/>
          <a:p>
            <a:r>
              <a:rPr lang="en-US" dirty="0"/>
              <a:t>Data structure in which data elements are arranged sequentially or linearly, where each element is attached to its previous and next adjacent elements, is called a </a:t>
            </a:r>
            <a:r>
              <a:rPr lang="en-US" b="1" dirty="0">
                <a:solidFill>
                  <a:srgbClr val="1515DB"/>
                </a:solidFill>
              </a:rPr>
              <a:t>linear data structure. </a:t>
            </a:r>
            <a:endParaRPr lang="en-US" b="1" dirty="0" smtClean="0">
              <a:solidFill>
                <a:srgbClr val="1515DB"/>
              </a:solidFill>
            </a:endParaRPr>
          </a:p>
          <a:p>
            <a:r>
              <a:rPr lang="en-US" i="1" dirty="0"/>
              <a:t>Examples of linear data structures are array, stack, queue, linked list, etc.</a:t>
            </a:r>
            <a:endParaRPr lang="en-IN" b="1" dirty="0">
              <a:solidFill>
                <a:srgbClr val="1515DB"/>
              </a:solidFill>
            </a:endParaRPr>
          </a:p>
        </p:txBody>
      </p:sp>
    </p:spTree>
    <p:extLst>
      <p:ext uri="{BB962C8B-B14F-4D97-AF65-F5344CB8AC3E}">
        <p14:creationId xmlns:p14="http://schemas.microsoft.com/office/powerpoint/2010/main" val="244657778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Linear data structure</a:t>
            </a:r>
            <a:endParaRPr lang="en-IN" dirty="0"/>
          </a:p>
        </p:txBody>
      </p:sp>
      <p:sp>
        <p:nvSpPr>
          <p:cNvPr id="3" name="Content Placeholder 2"/>
          <p:cNvSpPr>
            <a:spLocks noGrp="1"/>
          </p:cNvSpPr>
          <p:nvPr>
            <p:ph idx="1"/>
          </p:nvPr>
        </p:nvSpPr>
        <p:spPr/>
        <p:txBody>
          <a:bodyPr>
            <a:normAutofit fontScale="92500"/>
          </a:bodyPr>
          <a:lstStyle/>
          <a:p>
            <a:pPr fontAlgn="base"/>
            <a:r>
              <a:rPr lang="en-US" b="1" dirty="0"/>
              <a:t>Static data structure: </a:t>
            </a:r>
            <a:r>
              <a:rPr lang="en-US" dirty="0"/>
              <a:t>Static data structure has a fixed memory size. It is easier to access the elements in a static data structure. </a:t>
            </a:r>
            <a:br>
              <a:rPr lang="en-US" dirty="0"/>
            </a:br>
            <a:r>
              <a:rPr lang="en-US" i="1" dirty="0"/>
              <a:t>An example of this data structure is an array.</a:t>
            </a:r>
            <a:endParaRPr lang="en-US" dirty="0"/>
          </a:p>
          <a:p>
            <a:pPr fontAlgn="base"/>
            <a:r>
              <a:rPr lang="en-US" b="1" dirty="0"/>
              <a:t>Dynamic data structure: </a:t>
            </a:r>
            <a:r>
              <a:rPr lang="en-US" dirty="0"/>
              <a:t>In dynamic data structure, the size is not fixed. It can be randomly updated during the runtime which may be considered efficient concerning the memory (space) complexity of the code. </a:t>
            </a:r>
            <a:br>
              <a:rPr lang="en-US" dirty="0"/>
            </a:br>
            <a:r>
              <a:rPr lang="en-US" i="1" dirty="0"/>
              <a:t>Examples of this data structure are queue, stack, etc.</a:t>
            </a:r>
            <a:endParaRPr lang="en-US" dirty="0"/>
          </a:p>
        </p:txBody>
      </p:sp>
    </p:spTree>
    <p:extLst>
      <p:ext uri="{BB962C8B-B14F-4D97-AF65-F5344CB8AC3E}">
        <p14:creationId xmlns:p14="http://schemas.microsoft.com/office/powerpoint/2010/main" val="90778327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Non Linear </a:t>
            </a:r>
            <a:r>
              <a:rPr lang="en-IN" b="1" dirty="0"/>
              <a:t>data structure</a:t>
            </a:r>
            <a:endParaRPr lang="en-IN" dirty="0"/>
          </a:p>
        </p:txBody>
      </p:sp>
      <p:sp>
        <p:nvSpPr>
          <p:cNvPr id="3" name="Content Placeholder 2"/>
          <p:cNvSpPr>
            <a:spLocks noGrp="1"/>
          </p:cNvSpPr>
          <p:nvPr>
            <p:ph idx="1"/>
          </p:nvPr>
        </p:nvSpPr>
        <p:spPr/>
        <p:txBody>
          <a:bodyPr>
            <a:normAutofit/>
          </a:bodyPr>
          <a:lstStyle/>
          <a:p>
            <a:pPr fontAlgn="base"/>
            <a:r>
              <a:rPr lang="en-US" b="1" dirty="0"/>
              <a:t>Non-linear data structure: </a:t>
            </a:r>
            <a:r>
              <a:rPr lang="en-US" dirty="0"/>
              <a:t>Data structures where data elements are not placed sequentially or linearly are called non-linear data structures. In a non-linear data structure, we can’t traverse all the elements in a single run only. </a:t>
            </a:r>
            <a:br>
              <a:rPr lang="en-US" dirty="0"/>
            </a:br>
            <a:r>
              <a:rPr lang="en-US" i="1" dirty="0"/>
              <a:t>Examples of non-linear data structures are </a:t>
            </a:r>
            <a:r>
              <a:rPr lang="en-US" b="1" i="1" dirty="0">
                <a:solidFill>
                  <a:srgbClr val="FF0000"/>
                </a:solidFill>
              </a:rPr>
              <a:t>trees </a:t>
            </a:r>
            <a:r>
              <a:rPr lang="en-US" b="1" i="1" dirty="0"/>
              <a:t>and</a:t>
            </a:r>
            <a:r>
              <a:rPr lang="en-US" b="1" i="1" dirty="0">
                <a:solidFill>
                  <a:srgbClr val="FF0000"/>
                </a:solidFill>
              </a:rPr>
              <a:t> </a:t>
            </a:r>
            <a:r>
              <a:rPr lang="en-US" b="1" i="1" dirty="0">
                <a:solidFill>
                  <a:srgbClr val="1515DB"/>
                </a:solidFill>
              </a:rPr>
              <a:t>graphs</a:t>
            </a:r>
            <a:r>
              <a:rPr lang="en-US" i="1" dirty="0"/>
              <a:t>.</a:t>
            </a:r>
            <a:endParaRPr lang="en-US" dirty="0"/>
          </a:p>
        </p:txBody>
      </p:sp>
    </p:spTree>
    <p:extLst>
      <p:ext uri="{BB962C8B-B14F-4D97-AF65-F5344CB8AC3E}">
        <p14:creationId xmlns:p14="http://schemas.microsoft.com/office/powerpoint/2010/main" val="152554508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Linear </a:t>
            </a:r>
            <a:r>
              <a:rPr lang="en-IN" b="1" dirty="0"/>
              <a:t>data structure</a:t>
            </a:r>
            <a:endParaRPr lang="en-IN" dirty="0"/>
          </a:p>
        </p:txBody>
      </p:sp>
      <p:sp>
        <p:nvSpPr>
          <p:cNvPr id="3" name="Content Placeholder 2"/>
          <p:cNvSpPr>
            <a:spLocks noGrp="1"/>
          </p:cNvSpPr>
          <p:nvPr>
            <p:ph idx="1"/>
          </p:nvPr>
        </p:nvSpPr>
        <p:spPr/>
        <p:txBody>
          <a:bodyPr>
            <a:normAutofit/>
          </a:bodyPr>
          <a:lstStyle/>
          <a:p>
            <a:pPr fontAlgn="base"/>
            <a:r>
              <a:rPr lang="en-US" b="1" dirty="0"/>
              <a:t>For example,</a:t>
            </a:r>
            <a:r>
              <a:rPr lang="en-US" dirty="0"/>
              <a:t> we can store a list of items having the same data-type using the </a:t>
            </a:r>
            <a:r>
              <a:rPr lang="en-US" i="1" dirty="0"/>
              <a:t>array</a:t>
            </a:r>
            <a:r>
              <a:rPr lang="en-US" dirty="0"/>
              <a:t> data structure.</a:t>
            </a:r>
          </a:p>
        </p:txBody>
      </p:sp>
      <p:pic>
        <p:nvPicPr>
          <p:cNvPr id="2050" name="Picture 2" descr="Array Data Structur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3688" y="3068959"/>
            <a:ext cx="5821195" cy="2645999"/>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3616912" y="5530292"/>
            <a:ext cx="2114746" cy="369332"/>
          </a:xfrm>
          <a:prstGeom prst="rect">
            <a:avLst/>
          </a:prstGeom>
        </p:spPr>
        <p:txBody>
          <a:bodyPr wrap="none">
            <a:spAutoFit/>
          </a:bodyPr>
          <a:lstStyle/>
          <a:p>
            <a:r>
              <a:rPr lang="en-IN" i="1" dirty="0"/>
              <a:t>Array Data Structure</a:t>
            </a:r>
            <a:endParaRPr lang="en-IN" dirty="0"/>
          </a:p>
        </p:txBody>
      </p:sp>
    </p:spTree>
    <p:extLst>
      <p:ext uri="{BB962C8B-B14F-4D97-AF65-F5344CB8AC3E}">
        <p14:creationId xmlns:p14="http://schemas.microsoft.com/office/powerpoint/2010/main" val="338423251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What is a Stack?</a:t>
            </a:r>
            <a:br>
              <a:rPr lang="en-IN" dirty="0"/>
            </a:br>
            <a:endParaRPr lang="en-IN" dirty="0"/>
          </a:p>
        </p:txBody>
      </p:sp>
      <p:sp>
        <p:nvSpPr>
          <p:cNvPr id="3" name="Content Placeholder 2"/>
          <p:cNvSpPr>
            <a:spLocks noGrp="1"/>
          </p:cNvSpPr>
          <p:nvPr>
            <p:ph idx="1"/>
          </p:nvPr>
        </p:nvSpPr>
        <p:spPr>
          <a:xfrm>
            <a:off x="403667" y="1052736"/>
            <a:ext cx="8229600" cy="4781128"/>
          </a:xfrm>
        </p:spPr>
        <p:txBody>
          <a:bodyPr>
            <a:normAutofit fontScale="92500"/>
          </a:bodyPr>
          <a:lstStyle/>
          <a:p>
            <a:r>
              <a:rPr lang="en-US" dirty="0"/>
              <a:t>A Stack is a linear data structure that follows the </a:t>
            </a:r>
            <a:r>
              <a:rPr lang="en-US" b="1" dirty="0"/>
              <a:t>LIFO (Last-In-First-Out)</a:t>
            </a:r>
            <a:r>
              <a:rPr lang="en-US" dirty="0"/>
              <a:t> principle. </a:t>
            </a:r>
            <a:endParaRPr lang="en-US" dirty="0" smtClean="0"/>
          </a:p>
          <a:p>
            <a:r>
              <a:rPr lang="en-US" dirty="0" smtClean="0"/>
              <a:t>It </a:t>
            </a:r>
            <a:r>
              <a:rPr lang="en-US" dirty="0"/>
              <a:t>contains only one pointer </a:t>
            </a:r>
            <a:r>
              <a:rPr lang="en-US" b="1" dirty="0"/>
              <a:t>top pointer</a:t>
            </a:r>
            <a:r>
              <a:rPr lang="en-US" dirty="0"/>
              <a:t> pointing to the topmost element of the stack. Whenever an element is added in the stack, it is added on the top of the stack, and the element can be deleted only from the stack. </a:t>
            </a:r>
            <a:endParaRPr lang="en-US" dirty="0" smtClean="0"/>
          </a:p>
          <a:p>
            <a:r>
              <a:rPr lang="en-US" dirty="0" smtClean="0"/>
              <a:t>In </a:t>
            </a:r>
            <a:r>
              <a:rPr lang="en-US" dirty="0"/>
              <a:t>other words, a </a:t>
            </a:r>
            <a:r>
              <a:rPr lang="en-US" b="1" i="1" dirty="0"/>
              <a:t>stack can be defined as a container in which insertion and deletion can be done from the one end known as the top of the stack.</a:t>
            </a:r>
            <a:endParaRPr lang="en-IN"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0352" y="5061661"/>
            <a:ext cx="2459732" cy="2049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241914" y="5643180"/>
            <a:ext cx="3321974" cy="1015663"/>
          </a:xfrm>
          <a:prstGeom prst="rect">
            <a:avLst/>
          </a:prstGeom>
        </p:spPr>
        <p:txBody>
          <a:bodyPr wrap="square">
            <a:spAutoFit/>
          </a:bodyPr>
          <a:lstStyle/>
          <a:p>
            <a:r>
              <a:rPr lang="en-US" sz="2000" dirty="0">
                <a:latin typeface="Times New Roman" panose="02020603050405020304" pitchFamily="18" charset="0"/>
                <a:cs typeface="Times New Roman" panose="02020603050405020304" pitchFamily="18" charset="0"/>
              </a:rPr>
              <a:t>You can think of the stack data structure as the pile of plates on top of another.</a:t>
            </a:r>
            <a:endParaRPr lang="en-IN" sz="2000" dirty="0">
              <a:latin typeface="Times New Roman" panose="02020603050405020304" pitchFamily="18" charset="0"/>
              <a:cs typeface="Times New Roman" panose="02020603050405020304" pitchFamily="18" charset="0"/>
            </a:endParaRPr>
          </a:p>
        </p:txBody>
      </p:sp>
      <p:sp>
        <p:nvSpPr>
          <p:cNvPr id="5" name="Rectangle 4"/>
          <p:cNvSpPr/>
          <p:nvPr/>
        </p:nvSpPr>
        <p:spPr>
          <a:xfrm>
            <a:off x="3583838" y="5643180"/>
            <a:ext cx="4572000" cy="923330"/>
          </a:xfrm>
          <a:prstGeom prst="rect">
            <a:avLst/>
          </a:prstGeom>
        </p:spPr>
        <p:txBody>
          <a:bodyPr>
            <a:spAutoFit/>
          </a:bodyPr>
          <a:lstStyle/>
          <a:p>
            <a:r>
              <a:rPr lang="en-US" dirty="0"/>
              <a:t>Here, you can:</a:t>
            </a:r>
          </a:p>
          <a:p>
            <a:pPr marL="285750" indent="-285750">
              <a:buFont typeface="Wingdings" panose="05000000000000000000" pitchFamily="2" charset="2"/>
              <a:buChar char="q"/>
            </a:pPr>
            <a:r>
              <a:rPr lang="en-US" dirty="0"/>
              <a:t>Put a new plate on top</a:t>
            </a:r>
          </a:p>
          <a:p>
            <a:pPr marL="285750" indent="-285750">
              <a:buFont typeface="Wingdings" panose="05000000000000000000" pitchFamily="2" charset="2"/>
              <a:buChar char="q"/>
            </a:pPr>
            <a:r>
              <a:rPr lang="en-US" dirty="0"/>
              <a:t>Remove the top plate</a:t>
            </a:r>
          </a:p>
        </p:txBody>
      </p:sp>
    </p:spTree>
    <p:extLst>
      <p:ext uri="{BB962C8B-B14F-4D97-AF65-F5344CB8AC3E}">
        <p14:creationId xmlns:p14="http://schemas.microsoft.com/office/powerpoint/2010/main" val="108162929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LIFO Principle of </a:t>
            </a:r>
            <a:r>
              <a:rPr lang="en-IN" b="1" dirty="0" smtClean="0"/>
              <a:t>Stack</a:t>
            </a:r>
            <a:endParaRPr lang="en-IN"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5325" y="1133475"/>
            <a:ext cx="7753350" cy="4591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323528" y="5736364"/>
            <a:ext cx="8640960" cy="830997"/>
          </a:xfrm>
          <a:prstGeom prst="rect">
            <a:avLst/>
          </a:prstGeom>
        </p:spPr>
        <p:txBody>
          <a:bodyPr wrap="square">
            <a:spAutoFit/>
          </a:bodyPr>
          <a:lstStyle/>
          <a:p>
            <a:r>
              <a:rPr lang="en-US" sz="2400" dirty="0"/>
              <a:t>In the above image, although item </a:t>
            </a:r>
            <a:r>
              <a:rPr lang="en-US" sz="2400" b="1" dirty="0"/>
              <a:t>3</a:t>
            </a:r>
            <a:r>
              <a:rPr lang="en-US" sz="2400" dirty="0"/>
              <a:t> was kept last, it was removed first. This is exactly how the </a:t>
            </a:r>
            <a:r>
              <a:rPr lang="en-US" sz="2400" b="1" dirty="0"/>
              <a:t>LIFO (Last In First Out) Principle</a:t>
            </a:r>
            <a:r>
              <a:rPr lang="en-US" sz="2400" dirty="0"/>
              <a:t> works.</a:t>
            </a:r>
            <a:endParaRPr lang="en-IN" sz="2400" dirty="0"/>
          </a:p>
        </p:txBody>
      </p:sp>
    </p:spTree>
    <p:extLst>
      <p:ext uri="{BB962C8B-B14F-4D97-AF65-F5344CB8AC3E}">
        <p14:creationId xmlns:p14="http://schemas.microsoft.com/office/powerpoint/2010/main" val="273462429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Basic Operations of Stack</a:t>
            </a:r>
            <a:br>
              <a:rPr lang="en-IN" b="1" dirty="0"/>
            </a:br>
            <a:endParaRPr lang="en-IN" dirty="0"/>
          </a:p>
        </p:txBody>
      </p:sp>
      <p:sp>
        <p:nvSpPr>
          <p:cNvPr id="3" name="Content Placeholder 2"/>
          <p:cNvSpPr>
            <a:spLocks noGrp="1"/>
          </p:cNvSpPr>
          <p:nvPr>
            <p:ph idx="1"/>
          </p:nvPr>
        </p:nvSpPr>
        <p:spPr/>
        <p:txBody>
          <a:bodyPr/>
          <a:lstStyle/>
          <a:p>
            <a:r>
              <a:rPr lang="en-US" dirty="0"/>
              <a:t>There are some basic operations that allow us to perform different actions on a stack.</a:t>
            </a:r>
          </a:p>
          <a:p>
            <a:r>
              <a:rPr lang="en-US" b="1" dirty="0"/>
              <a:t>Push</a:t>
            </a:r>
            <a:r>
              <a:rPr lang="en-US" dirty="0"/>
              <a:t>: Add an element to the top of a stack</a:t>
            </a:r>
          </a:p>
          <a:p>
            <a:r>
              <a:rPr lang="en-US" b="1" dirty="0"/>
              <a:t>Pop</a:t>
            </a:r>
            <a:r>
              <a:rPr lang="en-US" dirty="0"/>
              <a:t>: Remove an element from the top of a stack</a:t>
            </a:r>
          </a:p>
          <a:p>
            <a:r>
              <a:rPr lang="en-US" b="1" dirty="0" err="1"/>
              <a:t>IsEmpty</a:t>
            </a:r>
            <a:r>
              <a:rPr lang="en-US" dirty="0"/>
              <a:t>: Check if the stack is empty</a:t>
            </a:r>
          </a:p>
          <a:p>
            <a:r>
              <a:rPr lang="en-US" b="1" dirty="0" err="1"/>
              <a:t>IsFull</a:t>
            </a:r>
            <a:r>
              <a:rPr lang="en-US" dirty="0"/>
              <a:t>: Check if the stack is full</a:t>
            </a:r>
          </a:p>
          <a:p>
            <a:r>
              <a:rPr lang="en-US" b="1" dirty="0"/>
              <a:t>Peek</a:t>
            </a:r>
            <a:r>
              <a:rPr lang="en-US" dirty="0"/>
              <a:t>: Get the value of the top element without removing it</a:t>
            </a:r>
          </a:p>
          <a:p>
            <a:endParaRPr lang="en-IN" dirty="0"/>
          </a:p>
        </p:txBody>
      </p:sp>
    </p:spTree>
    <p:extLst>
      <p:ext uri="{BB962C8B-B14F-4D97-AF65-F5344CB8AC3E}">
        <p14:creationId xmlns:p14="http://schemas.microsoft.com/office/powerpoint/2010/main" val="369116220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Working of Stack Data Structure</a:t>
            </a:r>
            <a:br>
              <a:rPr lang="en-US" b="1" dirty="0"/>
            </a:br>
            <a:endParaRPr lang="en-IN" dirty="0"/>
          </a:p>
        </p:txBody>
      </p:sp>
      <p:sp>
        <p:nvSpPr>
          <p:cNvPr id="3" name="Content Placeholder 2"/>
          <p:cNvSpPr>
            <a:spLocks noGrp="1"/>
          </p:cNvSpPr>
          <p:nvPr>
            <p:ph idx="1"/>
          </p:nvPr>
        </p:nvSpPr>
        <p:spPr>
          <a:xfrm>
            <a:off x="457200" y="1196752"/>
            <a:ext cx="8229600" cy="5184576"/>
          </a:xfrm>
        </p:spPr>
        <p:txBody>
          <a:bodyPr>
            <a:normAutofit fontScale="92500" lnSpcReduction="10000"/>
          </a:bodyPr>
          <a:lstStyle/>
          <a:p>
            <a:pPr marL="457200" indent="-457200">
              <a:buFont typeface="+mj-lt"/>
              <a:buAutoNum type="arabicPeriod"/>
            </a:pPr>
            <a:r>
              <a:rPr lang="en-US" dirty="0"/>
              <a:t>A pointer called TOP is used to keep track of the top element in the stack.</a:t>
            </a:r>
          </a:p>
          <a:p>
            <a:pPr marL="457200" indent="-457200">
              <a:buFont typeface="+mj-lt"/>
              <a:buAutoNum type="arabicPeriod"/>
            </a:pPr>
            <a:r>
              <a:rPr lang="en-US" dirty="0"/>
              <a:t>When initializing the stack, we set its value to -1 so that we can check if the stack is empty by comparing TOP == -1.</a:t>
            </a:r>
          </a:p>
          <a:p>
            <a:pPr marL="457200" indent="-457200">
              <a:buFont typeface="+mj-lt"/>
              <a:buAutoNum type="arabicPeriod"/>
            </a:pPr>
            <a:r>
              <a:rPr lang="en-US" dirty="0"/>
              <a:t>On pushing an element, we increase the value of TOP and place the new element in the position pointed to by TOP.</a:t>
            </a:r>
          </a:p>
          <a:p>
            <a:pPr marL="457200" indent="-457200">
              <a:buFont typeface="+mj-lt"/>
              <a:buAutoNum type="arabicPeriod"/>
            </a:pPr>
            <a:r>
              <a:rPr lang="en-US" dirty="0"/>
              <a:t>On popping an element, we return the element pointed to by TOP and reduce its </a:t>
            </a:r>
            <a:r>
              <a:rPr lang="en-US" dirty="0" smtClean="0"/>
              <a:t>value.</a:t>
            </a:r>
          </a:p>
          <a:p>
            <a:pPr marL="457200" indent="-457200">
              <a:buFont typeface="+mj-lt"/>
              <a:buAutoNum type="arabicPeriod"/>
            </a:pPr>
            <a:r>
              <a:rPr lang="en-US" dirty="0" smtClean="0"/>
              <a:t>Before </a:t>
            </a:r>
            <a:r>
              <a:rPr lang="en-US" dirty="0"/>
              <a:t>pushing, we check if the stack is already </a:t>
            </a:r>
            <a:r>
              <a:rPr lang="en-US" dirty="0" smtClean="0"/>
              <a:t>full</a:t>
            </a:r>
          </a:p>
          <a:p>
            <a:pPr marL="457200" indent="-457200">
              <a:buFont typeface="+mj-lt"/>
              <a:buAutoNum type="arabicPeriod"/>
            </a:pPr>
            <a:r>
              <a:rPr lang="en-US" dirty="0" smtClean="0"/>
              <a:t>Before </a:t>
            </a:r>
            <a:r>
              <a:rPr lang="en-US" dirty="0"/>
              <a:t>popping, we check if the stack is already empty</a:t>
            </a:r>
          </a:p>
          <a:p>
            <a:pPr marL="457200" indent="-457200">
              <a:buFont typeface="+mj-lt"/>
              <a:buAutoNum type="arabicPeriod"/>
            </a:pPr>
            <a:endParaRPr lang="en-IN" dirty="0"/>
          </a:p>
        </p:txBody>
      </p:sp>
    </p:spTree>
    <p:extLst>
      <p:ext uri="{BB962C8B-B14F-4D97-AF65-F5344CB8AC3E}">
        <p14:creationId xmlns:p14="http://schemas.microsoft.com/office/powerpoint/2010/main" val="382877281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Working of Stack Data </a:t>
            </a:r>
            <a:r>
              <a:rPr lang="en-US" b="1" dirty="0" smtClean="0"/>
              <a:t>Structure</a:t>
            </a:r>
            <a:endParaRPr lang="en-IN" dirty="0"/>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7200" y="1784350"/>
            <a:ext cx="8229600" cy="4157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2983873" y="5805264"/>
            <a:ext cx="3176254" cy="369332"/>
          </a:xfrm>
          <a:prstGeom prst="rect">
            <a:avLst/>
          </a:prstGeom>
        </p:spPr>
        <p:txBody>
          <a:bodyPr wrap="none">
            <a:spAutoFit/>
          </a:bodyPr>
          <a:lstStyle/>
          <a:p>
            <a:r>
              <a:rPr lang="en-US" dirty="0"/>
              <a:t>Working of Stack Data Structure</a:t>
            </a:r>
            <a:endParaRPr lang="en-IN" dirty="0"/>
          </a:p>
        </p:txBody>
      </p:sp>
    </p:spTree>
    <p:extLst>
      <p:ext uri="{BB962C8B-B14F-4D97-AF65-F5344CB8AC3E}">
        <p14:creationId xmlns:p14="http://schemas.microsoft.com/office/powerpoint/2010/main" val="125625012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push() method</a:t>
            </a:r>
          </a:p>
        </p:txBody>
      </p:sp>
      <p:sp>
        <p:nvSpPr>
          <p:cNvPr id="3" name="Content Placeholder 2"/>
          <p:cNvSpPr>
            <a:spLocks noGrp="1"/>
          </p:cNvSpPr>
          <p:nvPr>
            <p:ph idx="1"/>
          </p:nvPr>
        </p:nvSpPr>
        <p:spPr/>
        <p:txBody>
          <a:bodyPr>
            <a:normAutofit fontScale="92500"/>
          </a:bodyPr>
          <a:lstStyle/>
          <a:p>
            <a:r>
              <a:rPr lang="en-US" dirty="0"/>
              <a:t>The push() method allows you to add one or more elements to the end of the array. The push() method returns the value of the length property that specifies the number of elements in the array</a:t>
            </a:r>
            <a:r>
              <a:rPr lang="en-US" dirty="0" smtClean="0"/>
              <a:t>.</a:t>
            </a:r>
          </a:p>
          <a:p>
            <a:r>
              <a:rPr lang="en-US" b="1" dirty="0">
                <a:solidFill>
                  <a:srgbClr val="1515DB"/>
                </a:solidFill>
              </a:rPr>
              <a:t>push() </a:t>
            </a:r>
            <a:r>
              <a:rPr lang="en-US" dirty="0"/>
              <a:t>method adds one or more element at the top of the stack. The following example creates an empty array named stack and adds five numbers, one by one, at the end of the stack array. It is like to push each number into the top of the stack.</a:t>
            </a:r>
            <a:endParaRPr lang="en-IN" dirty="0"/>
          </a:p>
        </p:txBody>
      </p:sp>
    </p:spTree>
    <p:extLst>
      <p:ext uri="{BB962C8B-B14F-4D97-AF65-F5344CB8AC3E}">
        <p14:creationId xmlns:p14="http://schemas.microsoft.com/office/powerpoint/2010/main" val="99077609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Push Operation</a:t>
            </a:r>
          </a:p>
        </p:txBody>
      </p:sp>
      <p:sp>
        <p:nvSpPr>
          <p:cNvPr id="3" name="Content Placeholder 2"/>
          <p:cNvSpPr>
            <a:spLocks noGrp="1"/>
          </p:cNvSpPr>
          <p:nvPr>
            <p:ph idx="1"/>
          </p:nvPr>
        </p:nvSpPr>
        <p:spPr>
          <a:xfrm>
            <a:off x="457200" y="1412776"/>
            <a:ext cx="8229600" cy="4713387"/>
          </a:xfrm>
        </p:spPr>
        <p:txBody>
          <a:bodyPr>
            <a:normAutofit lnSpcReduction="10000"/>
          </a:bodyPr>
          <a:lstStyle/>
          <a:p>
            <a:r>
              <a:rPr lang="en-US" dirty="0"/>
              <a:t>Push operation involves a series of steps −</a:t>
            </a:r>
          </a:p>
          <a:p>
            <a:r>
              <a:rPr lang="en-US" b="1" dirty="0"/>
              <a:t>Step 1</a:t>
            </a:r>
            <a:r>
              <a:rPr lang="en-US" dirty="0"/>
              <a:t> − Checks if the stack is full.</a:t>
            </a:r>
          </a:p>
          <a:p>
            <a:r>
              <a:rPr lang="en-US" b="1" dirty="0"/>
              <a:t>Step 2</a:t>
            </a:r>
            <a:r>
              <a:rPr lang="en-US" dirty="0"/>
              <a:t> − If the stack is full, produces an error and exit.</a:t>
            </a:r>
          </a:p>
          <a:p>
            <a:r>
              <a:rPr lang="en-US" b="1" dirty="0"/>
              <a:t>Step 3</a:t>
            </a:r>
            <a:r>
              <a:rPr lang="en-US" dirty="0"/>
              <a:t> − If the stack is not full, increments </a:t>
            </a:r>
            <a:r>
              <a:rPr lang="en-US" b="1" dirty="0"/>
              <a:t>top</a:t>
            </a:r>
            <a:r>
              <a:rPr lang="en-US" dirty="0"/>
              <a:t> to point next empty space.</a:t>
            </a:r>
          </a:p>
          <a:p>
            <a:r>
              <a:rPr lang="en-US" b="1" dirty="0"/>
              <a:t>Step 4</a:t>
            </a:r>
            <a:r>
              <a:rPr lang="en-US" dirty="0"/>
              <a:t> − Adds data element to the stack location, where top is pointing.</a:t>
            </a:r>
          </a:p>
          <a:p>
            <a:r>
              <a:rPr lang="en-US" b="1" dirty="0"/>
              <a:t>Step 5</a:t>
            </a:r>
            <a:r>
              <a:rPr lang="en-US" dirty="0"/>
              <a:t> − Returns success.</a:t>
            </a:r>
          </a:p>
          <a:p>
            <a:endParaRPr lang="en-IN" dirty="0"/>
          </a:p>
        </p:txBody>
      </p:sp>
    </p:spTree>
    <p:extLst>
      <p:ext uri="{BB962C8B-B14F-4D97-AF65-F5344CB8AC3E}">
        <p14:creationId xmlns:p14="http://schemas.microsoft.com/office/powerpoint/2010/main" val="290294011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b="1" dirty="0"/>
              <a:t>Algorithm</a:t>
            </a:r>
            <a:r>
              <a:rPr lang="en-IN" b="1" dirty="0" smtClean="0"/>
              <a:t>:</a:t>
            </a:r>
          </a:p>
          <a:p>
            <a:r>
              <a:rPr lang="en-US" dirty="0"/>
              <a:t>begin   </a:t>
            </a:r>
          </a:p>
          <a:p>
            <a:r>
              <a:rPr lang="en-US" dirty="0"/>
              <a:t>    </a:t>
            </a:r>
            <a:r>
              <a:rPr lang="en-US" b="1" dirty="0"/>
              <a:t>if</a:t>
            </a:r>
            <a:r>
              <a:rPr lang="en-US" dirty="0"/>
              <a:t> top = n then stack full   </a:t>
            </a:r>
          </a:p>
          <a:p>
            <a:r>
              <a:rPr lang="en-US" dirty="0"/>
              <a:t>    top = top + 1  </a:t>
            </a:r>
          </a:p>
          <a:p>
            <a:r>
              <a:rPr lang="en-US" dirty="0"/>
              <a:t>    stack (top) : = item;  </a:t>
            </a:r>
          </a:p>
          <a:p>
            <a:r>
              <a:rPr lang="en-US" dirty="0"/>
              <a:t>end   </a:t>
            </a:r>
          </a:p>
          <a:p>
            <a:endParaRPr lang="en-IN" dirty="0"/>
          </a:p>
        </p:txBody>
      </p:sp>
    </p:spTree>
    <p:extLst>
      <p:ext uri="{BB962C8B-B14F-4D97-AF65-F5344CB8AC3E}">
        <p14:creationId xmlns:p14="http://schemas.microsoft.com/office/powerpoint/2010/main" val="398013448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implementation of push algorithm in C language</a:t>
            </a:r>
            <a:br>
              <a:rPr lang="en-US" dirty="0"/>
            </a:br>
            <a:endParaRPr lang="en-IN" dirty="0"/>
          </a:p>
        </p:txBody>
      </p:sp>
      <p:sp>
        <p:nvSpPr>
          <p:cNvPr id="3" name="Content Placeholder 2"/>
          <p:cNvSpPr>
            <a:spLocks noGrp="1"/>
          </p:cNvSpPr>
          <p:nvPr>
            <p:ph idx="1"/>
          </p:nvPr>
        </p:nvSpPr>
        <p:spPr/>
        <p:txBody>
          <a:bodyPr>
            <a:normAutofit fontScale="77500" lnSpcReduction="20000"/>
          </a:bodyPr>
          <a:lstStyle/>
          <a:p>
            <a:r>
              <a:rPr lang="en-US" b="1" dirty="0"/>
              <a:t>void</a:t>
            </a:r>
            <a:r>
              <a:rPr lang="en-US" dirty="0"/>
              <a:t> push (</a:t>
            </a:r>
            <a:r>
              <a:rPr lang="en-US" b="1" dirty="0" err="1"/>
              <a:t>int</a:t>
            </a:r>
            <a:r>
              <a:rPr lang="en-US" dirty="0"/>
              <a:t> </a:t>
            </a:r>
            <a:r>
              <a:rPr lang="en-US" dirty="0" err="1"/>
              <a:t>val,</a:t>
            </a:r>
            <a:r>
              <a:rPr lang="en-US" b="1" dirty="0" err="1"/>
              <a:t>int</a:t>
            </a:r>
            <a:r>
              <a:rPr lang="en-US" dirty="0"/>
              <a:t> n) //n is size of the stack   </a:t>
            </a:r>
          </a:p>
          <a:p>
            <a:r>
              <a:rPr lang="en-US" dirty="0"/>
              <a:t>{  </a:t>
            </a:r>
          </a:p>
          <a:p>
            <a:r>
              <a:rPr lang="en-US" dirty="0"/>
              <a:t>    </a:t>
            </a:r>
            <a:r>
              <a:rPr lang="en-US" b="1" dirty="0"/>
              <a:t>if</a:t>
            </a:r>
            <a:r>
              <a:rPr lang="en-US" dirty="0"/>
              <a:t> (top == n )   </a:t>
            </a:r>
          </a:p>
          <a:p>
            <a:r>
              <a:rPr lang="en-US" dirty="0"/>
              <a:t>    </a:t>
            </a:r>
            <a:r>
              <a:rPr lang="en-US" dirty="0" err="1"/>
              <a:t>printf</a:t>
            </a:r>
            <a:r>
              <a:rPr lang="en-US" dirty="0"/>
              <a:t>("\n Overflow");   </a:t>
            </a:r>
          </a:p>
          <a:p>
            <a:r>
              <a:rPr lang="en-US" dirty="0"/>
              <a:t>    </a:t>
            </a:r>
            <a:r>
              <a:rPr lang="en-US" b="1" dirty="0"/>
              <a:t>else</a:t>
            </a:r>
            <a:r>
              <a:rPr lang="en-US" dirty="0"/>
              <a:t>   </a:t>
            </a:r>
          </a:p>
          <a:p>
            <a:r>
              <a:rPr lang="en-US" dirty="0"/>
              <a:t>    {  </a:t>
            </a:r>
          </a:p>
          <a:p>
            <a:r>
              <a:rPr lang="en-US" dirty="0"/>
              <a:t>    top = top +1;   </a:t>
            </a:r>
          </a:p>
          <a:p>
            <a:r>
              <a:rPr lang="en-US" dirty="0"/>
              <a:t>    stack[top] = </a:t>
            </a:r>
            <a:r>
              <a:rPr lang="en-US" dirty="0" err="1"/>
              <a:t>val</a:t>
            </a:r>
            <a:r>
              <a:rPr lang="en-US" dirty="0"/>
              <a:t>;   </a:t>
            </a:r>
          </a:p>
          <a:p>
            <a:r>
              <a:rPr lang="en-US" dirty="0"/>
              <a:t>    }   </a:t>
            </a:r>
          </a:p>
          <a:p>
            <a:r>
              <a:rPr lang="en-US" dirty="0"/>
              <a:t>}   </a:t>
            </a:r>
          </a:p>
          <a:p>
            <a:endParaRPr lang="en-IN" dirty="0"/>
          </a:p>
        </p:txBody>
      </p:sp>
    </p:spTree>
    <p:extLst>
      <p:ext uri="{BB962C8B-B14F-4D97-AF65-F5344CB8AC3E}">
        <p14:creationId xmlns:p14="http://schemas.microsoft.com/office/powerpoint/2010/main" val="187907497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Deletion of an element from a stack (Pop operation)</a:t>
            </a:r>
            <a:br>
              <a:rPr lang="en-US" dirty="0"/>
            </a:br>
            <a:endParaRPr lang="en-IN" dirty="0"/>
          </a:p>
        </p:txBody>
      </p:sp>
      <p:sp>
        <p:nvSpPr>
          <p:cNvPr id="3" name="Content Placeholder 2"/>
          <p:cNvSpPr>
            <a:spLocks noGrp="1"/>
          </p:cNvSpPr>
          <p:nvPr>
            <p:ph idx="1"/>
          </p:nvPr>
        </p:nvSpPr>
        <p:spPr/>
        <p:txBody>
          <a:bodyPr/>
          <a:lstStyle/>
          <a:p>
            <a:r>
              <a:rPr lang="en-US" b="1" dirty="0"/>
              <a:t>Algorithm :</a:t>
            </a:r>
            <a:endParaRPr lang="en-US" dirty="0"/>
          </a:p>
          <a:p>
            <a:r>
              <a:rPr lang="en-US" dirty="0"/>
              <a:t>begin   </a:t>
            </a:r>
          </a:p>
          <a:p>
            <a:r>
              <a:rPr lang="en-US" dirty="0"/>
              <a:t>    </a:t>
            </a:r>
            <a:r>
              <a:rPr lang="en-US" b="1" dirty="0"/>
              <a:t>if</a:t>
            </a:r>
            <a:r>
              <a:rPr lang="en-US" dirty="0"/>
              <a:t> top = 0 then stack empty;   </a:t>
            </a:r>
          </a:p>
          <a:p>
            <a:r>
              <a:rPr lang="en-US" dirty="0"/>
              <a:t>    item := stack(top);  </a:t>
            </a:r>
          </a:p>
          <a:p>
            <a:r>
              <a:rPr lang="en-US" dirty="0"/>
              <a:t>    top = top - 1;  </a:t>
            </a:r>
          </a:p>
          <a:p>
            <a:r>
              <a:rPr lang="en-US" dirty="0"/>
              <a:t>end;    </a:t>
            </a:r>
          </a:p>
          <a:p>
            <a:endParaRPr lang="en-IN" dirty="0"/>
          </a:p>
        </p:txBody>
      </p:sp>
    </p:spTree>
    <p:extLst>
      <p:ext uri="{BB962C8B-B14F-4D97-AF65-F5344CB8AC3E}">
        <p14:creationId xmlns:p14="http://schemas.microsoft.com/office/powerpoint/2010/main" val="360315104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Deletion of an element from a stack (Pop operation)</a:t>
            </a:r>
            <a:br>
              <a:rPr lang="en-US" dirty="0"/>
            </a:br>
            <a:endParaRPr lang="en-IN" dirty="0"/>
          </a:p>
        </p:txBody>
      </p:sp>
      <p:sp>
        <p:nvSpPr>
          <p:cNvPr id="3" name="Content Placeholder 2"/>
          <p:cNvSpPr>
            <a:spLocks noGrp="1"/>
          </p:cNvSpPr>
          <p:nvPr>
            <p:ph idx="1"/>
          </p:nvPr>
        </p:nvSpPr>
        <p:spPr/>
        <p:txBody>
          <a:bodyPr>
            <a:normAutofit fontScale="92500" lnSpcReduction="10000"/>
          </a:bodyPr>
          <a:lstStyle/>
          <a:p>
            <a:r>
              <a:rPr lang="en-US" b="1" dirty="0" err="1"/>
              <a:t>int</a:t>
            </a:r>
            <a:r>
              <a:rPr lang="en-US" dirty="0"/>
              <a:t> pop ()  </a:t>
            </a:r>
            <a:r>
              <a:rPr lang="en-US" dirty="0" smtClean="0"/>
              <a:t>{</a:t>
            </a:r>
            <a:r>
              <a:rPr lang="en-US" dirty="0"/>
              <a:t>   </a:t>
            </a:r>
          </a:p>
          <a:p>
            <a:r>
              <a:rPr lang="en-US" dirty="0"/>
              <a:t>    </a:t>
            </a:r>
            <a:r>
              <a:rPr lang="en-US" b="1" dirty="0"/>
              <a:t>if</a:t>
            </a:r>
            <a:r>
              <a:rPr lang="en-US" dirty="0"/>
              <a:t>(top == -1)       {  </a:t>
            </a:r>
          </a:p>
          <a:p>
            <a:r>
              <a:rPr lang="en-US" dirty="0"/>
              <a:t>        </a:t>
            </a:r>
            <a:r>
              <a:rPr lang="en-US" dirty="0" err="1"/>
              <a:t>printf</a:t>
            </a:r>
            <a:r>
              <a:rPr lang="en-US" dirty="0"/>
              <a:t>("Underflow");  </a:t>
            </a:r>
          </a:p>
          <a:p>
            <a:r>
              <a:rPr lang="en-US" dirty="0"/>
              <a:t>        </a:t>
            </a:r>
            <a:r>
              <a:rPr lang="en-US" b="1" dirty="0"/>
              <a:t>return</a:t>
            </a:r>
            <a:r>
              <a:rPr lang="en-US" dirty="0"/>
              <a:t> 0;     }  </a:t>
            </a:r>
          </a:p>
          <a:p>
            <a:r>
              <a:rPr lang="en-US" dirty="0"/>
              <a:t>    </a:t>
            </a:r>
            <a:r>
              <a:rPr lang="en-US" b="1" dirty="0"/>
              <a:t>else</a:t>
            </a:r>
            <a:r>
              <a:rPr lang="en-US" dirty="0"/>
              <a:t>  </a:t>
            </a:r>
          </a:p>
          <a:p>
            <a:r>
              <a:rPr lang="en-US" dirty="0"/>
              <a:t>    {          </a:t>
            </a:r>
            <a:r>
              <a:rPr lang="en-US" b="1" dirty="0"/>
              <a:t>return</a:t>
            </a:r>
            <a:r>
              <a:rPr lang="en-US" dirty="0"/>
              <a:t> stack[top - - ];   </a:t>
            </a:r>
          </a:p>
          <a:p>
            <a:r>
              <a:rPr lang="en-US" dirty="0"/>
              <a:t>    }    </a:t>
            </a:r>
          </a:p>
          <a:p>
            <a:r>
              <a:rPr lang="en-US" dirty="0"/>
              <a:t>}   </a:t>
            </a:r>
          </a:p>
          <a:p>
            <a:endParaRPr lang="en-IN" dirty="0"/>
          </a:p>
        </p:txBody>
      </p:sp>
    </p:spTree>
    <p:extLst>
      <p:ext uri="{BB962C8B-B14F-4D97-AF65-F5344CB8AC3E}">
        <p14:creationId xmlns:p14="http://schemas.microsoft.com/office/powerpoint/2010/main" val="51456053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Visiting each element of the stack (Peek operation)</a:t>
            </a:r>
            <a:br>
              <a:rPr lang="en-US" dirty="0"/>
            </a:br>
            <a:endParaRPr lang="en-IN" dirty="0"/>
          </a:p>
        </p:txBody>
      </p:sp>
      <p:sp>
        <p:nvSpPr>
          <p:cNvPr id="3" name="Content Placeholder 2"/>
          <p:cNvSpPr>
            <a:spLocks noGrp="1"/>
          </p:cNvSpPr>
          <p:nvPr>
            <p:ph idx="1"/>
          </p:nvPr>
        </p:nvSpPr>
        <p:spPr/>
        <p:txBody>
          <a:bodyPr>
            <a:normAutofit fontScale="85000" lnSpcReduction="20000"/>
          </a:bodyPr>
          <a:lstStyle/>
          <a:p>
            <a:r>
              <a:rPr lang="en-US" dirty="0"/>
              <a:t>Peek operation involves returning the element which is present at the top of the stack without deleting it. </a:t>
            </a:r>
            <a:r>
              <a:rPr lang="en-US" dirty="0" smtClean="0"/>
              <a:t>Underflow </a:t>
            </a:r>
            <a:r>
              <a:rPr lang="en-US" dirty="0"/>
              <a:t>condition can occur if we try to return the top element in an already empty stack.</a:t>
            </a:r>
          </a:p>
          <a:p>
            <a:r>
              <a:rPr lang="en-US" b="1" dirty="0"/>
              <a:t>Algorithm :</a:t>
            </a:r>
            <a:endParaRPr lang="en-US" dirty="0"/>
          </a:p>
          <a:p>
            <a:r>
              <a:rPr lang="en-US" dirty="0"/>
              <a:t>PEEK (STACK, TOP)</a:t>
            </a:r>
          </a:p>
          <a:p>
            <a:r>
              <a:rPr lang="en-US" b="1" dirty="0"/>
              <a:t>Begin   </a:t>
            </a:r>
          </a:p>
          <a:p>
            <a:r>
              <a:rPr lang="en-US" b="1" dirty="0"/>
              <a:t>    if top = -1 then stack empty    </a:t>
            </a:r>
          </a:p>
          <a:p>
            <a:r>
              <a:rPr lang="en-US" b="1" dirty="0"/>
              <a:t>    item = stack[top]   </a:t>
            </a:r>
          </a:p>
          <a:p>
            <a:r>
              <a:rPr lang="en-US" b="1" dirty="0"/>
              <a:t>    return item  </a:t>
            </a:r>
          </a:p>
          <a:p>
            <a:r>
              <a:rPr lang="en-US" b="1" dirty="0"/>
              <a:t>End</a:t>
            </a:r>
            <a:r>
              <a:rPr lang="en-US" dirty="0"/>
              <a:t>    </a:t>
            </a:r>
          </a:p>
          <a:p>
            <a:endParaRPr lang="en-IN" dirty="0"/>
          </a:p>
        </p:txBody>
      </p:sp>
    </p:spTree>
    <p:extLst>
      <p:ext uri="{BB962C8B-B14F-4D97-AF65-F5344CB8AC3E}">
        <p14:creationId xmlns:p14="http://schemas.microsoft.com/office/powerpoint/2010/main" val="29005519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Implementation of Peek algorithm in C language</a:t>
            </a:r>
            <a:br>
              <a:rPr lang="en-US" dirty="0"/>
            </a:br>
            <a:endParaRPr lang="en-IN" dirty="0"/>
          </a:p>
        </p:txBody>
      </p:sp>
      <p:sp>
        <p:nvSpPr>
          <p:cNvPr id="3" name="Content Placeholder 2"/>
          <p:cNvSpPr>
            <a:spLocks noGrp="1"/>
          </p:cNvSpPr>
          <p:nvPr>
            <p:ph idx="1"/>
          </p:nvPr>
        </p:nvSpPr>
        <p:spPr/>
        <p:txBody>
          <a:bodyPr>
            <a:normAutofit fontScale="85000" lnSpcReduction="10000"/>
          </a:bodyPr>
          <a:lstStyle/>
          <a:p>
            <a:r>
              <a:rPr lang="en-US" b="1" dirty="0" err="1"/>
              <a:t>int</a:t>
            </a:r>
            <a:r>
              <a:rPr lang="en-US" dirty="0"/>
              <a:t> peek()  </a:t>
            </a:r>
          </a:p>
          <a:p>
            <a:r>
              <a:rPr lang="en-US" dirty="0"/>
              <a:t>{      </a:t>
            </a:r>
            <a:r>
              <a:rPr lang="en-US" b="1" dirty="0"/>
              <a:t>if</a:t>
            </a:r>
            <a:r>
              <a:rPr lang="en-US" dirty="0"/>
              <a:t> (top == -1)   </a:t>
            </a:r>
          </a:p>
          <a:p>
            <a:r>
              <a:rPr lang="en-US" dirty="0"/>
              <a:t>    {          </a:t>
            </a:r>
            <a:r>
              <a:rPr lang="en-US" dirty="0" err="1"/>
              <a:t>printf</a:t>
            </a:r>
            <a:r>
              <a:rPr lang="en-US" dirty="0"/>
              <a:t>("Underflow");  </a:t>
            </a:r>
          </a:p>
          <a:p>
            <a:r>
              <a:rPr lang="en-US" dirty="0"/>
              <a:t>        </a:t>
            </a:r>
            <a:r>
              <a:rPr lang="en-US" b="1" dirty="0"/>
              <a:t>return</a:t>
            </a:r>
            <a:r>
              <a:rPr lang="en-US" dirty="0"/>
              <a:t> 0;   </a:t>
            </a:r>
          </a:p>
          <a:p>
            <a:r>
              <a:rPr lang="en-US" dirty="0"/>
              <a:t>    }  </a:t>
            </a:r>
          </a:p>
          <a:p>
            <a:r>
              <a:rPr lang="en-US" dirty="0"/>
              <a:t>    </a:t>
            </a:r>
            <a:r>
              <a:rPr lang="en-US" b="1" dirty="0"/>
              <a:t>else</a:t>
            </a:r>
            <a:r>
              <a:rPr lang="en-US" dirty="0"/>
              <a:t>  </a:t>
            </a:r>
          </a:p>
          <a:p>
            <a:r>
              <a:rPr lang="en-US" dirty="0"/>
              <a:t>    {          </a:t>
            </a:r>
            <a:r>
              <a:rPr lang="en-US" b="1" dirty="0"/>
              <a:t>return</a:t>
            </a:r>
            <a:r>
              <a:rPr lang="en-US" dirty="0"/>
              <a:t> stack [top];  </a:t>
            </a:r>
          </a:p>
          <a:p>
            <a:r>
              <a:rPr lang="en-US" dirty="0"/>
              <a:t>    }  </a:t>
            </a:r>
          </a:p>
          <a:p>
            <a:r>
              <a:rPr lang="en-US" dirty="0"/>
              <a:t>}  </a:t>
            </a:r>
          </a:p>
          <a:p>
            <a:endParaRPr lang="en-IN" dirty="0"/>
          </a:p>
        </p:txBody>
      </p:sp>
    </p:spTree>
    <p:extLst>
      <p:ext uri="{BB962C8B-B14F-4D97-AF65-F5344CB8AC3E}">
        <p14:creationId xmlns:p14="http://schemas.microsoft.com/office/powerpoint/2010/main" val="109217480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push() </a:t>
            </a:r>
            <a:r>
              <a:rPr lang="en-IN" dirty="0" smtClean="0"/>
              <a:t>method using JavaScript </a:t>
            </a:r>
            <a:endParaRPr lang="en-IN" dirty="0"/>
          </a:p>
        </p:txBody>
      </p:sp>
      <p:sp>
        <p:nvSpPr>
          <p:cNvPr id="5" name="Rectangle 4"/>
          <p:cNvSpPr/>
          <p:nvPr/>
        </p:nvSpPr>
        <p:spPr>
          <a:xfrm>
            <a:off x="107504" y="1556792"/>
            <a:ext cx="6768752" cy="4524315"/>
          </a:xfrm>
          <a:prstGeom prst="rect">
            <a:avLst/>
          </a:prstGeom>
        </p:spPr>
        <p:txBody>
          <a:bodyPr wrap="square">
            <a:spAutoFit/>
          </a:bodyPr>
          <a:lstStyle/>
          <a:p>
            <a:r>
              <a:rPr lang="en-IN" dirty="0"/>
              <a:t>let stack = [];</a:t>
            </a:r>
          </a:p>
          <a:p>
            <a:endParaRPr lang="en-IN" dirty="0"/>
          </a:p>
          <a:p>
            <a:r>
              <a:rPr lang="en-IN" dirty="0" err="1"/>
              <a:t>stack.push</a:t>
            </a:r>
            <a:r>
              <a:rPr lang="en-IN" dirty="0"/>
              <a:t>(1);</a:t>
            </a:r>
          </a:p>
          <a:p>
            <a:r>
              <a:rPr lang="en-IN" dirty="0"/>
              <a:t>console.log(stack); // [1]</a:t>
            </a:r>
          </a:p>
          <a:p>
            <a:endParaRPr lang="en-IN" dirty="0"/>
          </a:p>
          <a:p>
            <a:r>
              <a:rPr lang="en-IN" dirty="0" err="1"/>
              <a:t>stack.push</a:t>
            </a:r>
            <a:r>
              <a:rPr lang="en-IN" dirty="0"/>
              <a:t>(2);</a:t>
            </a:r>
          </a:p>
          <a:p>
            <a:r>
              <a:rPr lang="en-IN" dirty="0"/>
              <a:t>console.log(stack); // [1,2]</a:t>
            </a:r>
          </a:p>
          <a:p>
            <a:endParaRPr lang="en-IN" dirty="0"/>
          </a:p>
          <a:p>
            <a:r>
              <a:rPr lang="en-IN" dirty="0" err="1"/>
              <a:t>stack.push</a:t>
            </a:r>
            <a:r>
              <a:rPr lang="en-IN" dirty="0"/>
              <a:t>(3);</a:t>
            </a:r>
          </a:p>
          <a:p>
            <a:r>
              <a:rPr lang="en-IN" dirty="0"/>
              <a:t>console.log(stack); // [1,2,3]</a:t>
            </a:r>
          </a:p>
          <a:p>
            <a:endParaRPr lang="en-IN" dirty="0"/>
          </a:p>
          <a:p>
            <a:r>
              <a:rPr lang="en-IN" dirty="0" err="1"/>
              <a:t>stack.push</a:t>
            </a:r>
            <a:r>
              <a:rPr lang="en-IN" dirty="0"/>
              <a:t>(4);</a:t>
            </a:r>
          </a:p>
          <a:p>
            <a:r>
              <a:rPr lang="en-IN" dirty="0"/>
              <a:t>console.log(stack); // [1,2,3,4]</a:t>
            </a:r>
          </a:p>
          <a:p>
            <a:endParaRPr lang="en-IN" dirty="0"/>
          </a:p>
          <a:p>
            <a:r>
              <a:rPr lang="en-IN" dirty="0" err="1"/>
              <a:t>stack.push</a:t>
            </a:r>
            <a:r>
              <a:rPr lang="en-IN" dirty="0"/>
              <a:t>(5);</a:t>
            </a:r>
          </a:p>
          <a:p>
            <a:r>
              <a:rPr lang="en-IN" dirty="0"/>
              <a:t>console.log(stack); // [1,2,3,4,5]</a:t>
            </a:r>
          </a:p>
        </p:txBody>
      </p:sp>
      <p:pic>
        <p:nvPicPr>
          <p:cNvPr id="409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275856" y="1556792"/>
            <a:ext cx="5868144" cy="20760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4283968" y="3890665"/>
            <a:ext cx="4572000" cy="923330"/>
          </a:xfrm>
          <a:prstGeom prst="rect">
            <a:avLst/>
          </a:prstGeom>
        </p:spPr>
        <p:txBody>
          <a:bodyPr>
            <a:spAutoFit/>
          </a:bodyPr>
          <a:lstStyle/>
          <a:p>
            <a:r>
              <a:rPr lang="en-US" dirty="0"/>
              <a:t>Initially, the stack is empty. Each time, we call the push() method to add a number to the stack. After 5 calls, the stack has 5 elements</a:t>
            </a:r>
            <a:endParaRPr lang="en-IN" dirty="0"/>
          </a:p>
        </p:txBody>
      </p:sp>
    </p:spTree>
    <p:extLst>
      <p:ext uri="{BB962C8B-B14F-4D97-AF65-F5344CB8AC3E}">
        <p14:creationId xmlns:p14="http://schemas.microsoft.com/office/powerpoint/2010/main" val="161996594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pop() method</a:t>
            </a:r>
          </a:p>
        </p:txBody>
      </p:sp>
      <p:sp>
        <p:nvSpPr>
          <p:cNvPr id="3" name="Content Placeholder 2"/>
          <p:cNvSpPr>
            <a:spLocks noGrp="1"/>
          </p:cNvSpPr>
          <p:nvPr>
            <p:ph idx="1"/>
          </p:nvPr>
        </p:nvSpPr>
        <p:spPr/>
        <p:txBody>
          <a:bodyPr/>
          <a:lstStyle/>
          <a:p>
            <a:r>
              <a:rPr lang="en-US" dirty="0"/>
              <a:t>The pop() method removes the element at the end of the array and returns the element to the caller. If the array is empty, the pop() method </a:t>
            </a:r>
            <a:r>
              <a:rPr lang="en-US" dirty="0" smtClean="0"/>
              <a:t>returns</a:t>
            </a:r>
            <a:r>
              <a:rPr lang="en-US" dirty="0"/>
              <a:t> undefined</a:t>
            </a:r>
            <a:r>
              <a:rPr lang="en-US" dirty="0" smtClean="0"/>
              <a:t>.</a:t>
            </a:r>
          </a:p>
          <a:p>
            <a:r>
              <a:rPr lang="en-US" dirty="0" smtClean="0"/>
              <a:t>.</a:t>
            </a:r>
            <a:endParaRPr lang="en-IN" dirty="0"/>
          </a:p>
        </p:txBody>
      </p:sp>
    </p:spTree>
    <p:extLst>
      <p:ext uri="{BB962C8B-B14F-4D97-AF65-F5344CB8AC3E}">
        <p14:creationId xmlns:p14="http://schemas.microsoft.com/office/powerpoint/2010/main" val="235606999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pop() method</a:t>
            </a:r>
          </a:p>
        </p:txBody>
      </p:sp>
      <p:pic>
        <p:nvPicPr>
          <p:cNvPr id="512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9513" y="1556792"/>
            <a:ext cx="5112568" cy="4781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67944" y="2276872"/>
            <a:ext cx="5076056" cy="22894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6338002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err="1"/>
              <a:t>isEmpty</a:t>
            </a:r>
            <a:r>
              <a:rPr lang="en-IN" b="1" dirty="0"/>
              <a:t>()</a:t>
            </a:r>
            <a:endParaRPr lang="en-IN" dirty="0"/>
          </a:p>
        </p:txBody>
      </p:sp>
      <p:sp>
        <p:nvSpPr>
          <p:cNvPr id="3" name="Content Placeholder 2"/>
          <p:cNvSpPr>
            <a:spLocks noGrp="1"/>
          </p:cNvSpPr>
          <p:nvPr>
            <p:ph idx="1"/>
          </p:nvPr>
        </p:nvSpPr>
        <p:spPr/>
        <p:txBody>
          <a:bodyPr/>
          <a:lstStyle/>
          <a:p>
            <a:r>
              <a:rPr lang="en-US" dirty="0"/>
              <a:t>// </a:t>
            </a:r>
            <a:r>
              <a:rPr lang="en-US" dirty="0" err="1"/>
              <a:t>isEmpty</a:t>
            </a:r>
            <a:r>
              <a:rPr lang="en-US" dirty="0"/>
              <a:t> function</a:t>
            </a:r>
          </a:p>
          <a:p>
            <a:r>
              <a:rPr lang="en-US" dirty="0" err="1"/>
              <a:t>isEmpty</a:t>
            </a:r>
            <a:r>
              <a:rPr lang="en-US" dirty="0"/>
              <a:t>()</a:t>
            </a:r>
          </a:p>
          <a:p>
            <a:r>
              <a:rPr lang="en-US" dirty="0"/>
              <a:t>{</a:t>
            </a:r>
          </a:p>
          <a:p>
            <a:r>
              <a:rPr lang="en-US" dirty="0"/>
              <a:t>	// return true if stack is empty</a:t>
            </a:r>
          </a:p>
          <a:p>
            <a:r>
              <a:rPr lang="en-US" dirty="0"/>
              <a:t>	return </a:t>
            </a:r>
            <a:r>
              <a:rPr lang="en-US" dirty="0" err="1"/>
              <a:t>this.items.length</a:t>
            </a:r>
            <a:r>
              <a:rPr lang="en-US" dirty="0"/>
              <a:t> == 0;</a:t>
            </a:r>
          </a:p>
          <a:p>
            <a:r>
              <a:rPr lang="en-US" dirty="0"/>
              <a:t>}</a:t>
            </a:r>
          </a:p>
          <a:p>
            <a:r>
              <a:rPr lang="en-US" dirty="0"/>
              <a:t>Returns true if the stack is empty.</a:t>
            </a:r>
            <a:endParaRPr lang="en-IN" dirty="0"/>
          </a:p>
        </p:txBody>
      </p:sp>
    </p:spTree>
    <p:extLst>
      <p:ext uri="{BB962C8B-B14F-4D97-AF65-F5344CB8AC3E}">
        <p14:creationId xmlns:p14="http://schemas.microsoft.com/office/powerpoint/2010/main" val="364291230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err="1"/>
              <a:t>printStack</a:t>
            </a:r>
            <a:r>
              <a:rPr lang="en-IN" b="1" dirty="0"/>
              <a:t>()</a:t>
            </a:r>
            <a:endParaRPr lang="en-IN" dirty="0"/>
          </a:p>
        </p:txBody>
      </p:sp>
      <p:sp>
        <p:nvSpPr>
          <p:cNvPr id="3" name="Content Placeholder 2"/>
          <p:cNvSpPr>
            <a:spLocks noGrp="1"/>
          </p:cNvSpPr>
          <p:nvPr>
            <p:ph idx="1"/>
          </p:nvPr>
        </p:nvSpPr>
        <p:spPr/>
        <p:txBody>
          <a:bodyPr>
            <a:normAutofit fontScale="92500" lnSpcReduction="20000"/>
          </a:bodyPr>
          <a:lstStyle/>
          <a:p>
            <a:r>
              <a:rPr lang="en-US" b="1" dirty="0" err="1"/>
              <a:t>printStack</a:t>
            </a:r>
            <a:r>
              <a:rPr lang="en-US" b="1" dirty="0"/>
              <a:t>() : </a:t>
            </a:r>
            <a:r>
              <a:rPr lang="en-US" dirty="0"/>
              <a:t>This method returns a string in which all the element of </a:t>
            </a:r>
            <a:r>
              <a:rPr lang="en-US" dirty="0" smtClean="0"/>
              <a:t>an </a:t>
            </a:r>
            <a:r>
              <a:rPr lang="en-US" dirty="0"/>
              <a:t>stack is concatenated. // </a:t>
            </a:r>
            <a:r>
              <a:rPr lang="en-US" dirty="0" err="1"/>
              <a:t>printStack</a:t>
            </a:r>
            <a:r>
              <a:rPr lang="en-US" dirty="0"/>
              <a:t> function</a:t>
            </a:r>
          </a:p>
          <a:p>
            <a:r>
              <a:rPr lang="en-US" b="1" dirty="0" err="1"/>
              <a:t>printStack</a:t>
            </a:r>
            <a:r>
              <a:rPr lang="en-US" b="1" dirty="0"/>
              <a:t>()</a:t>
            </a:r>
          </a:p>
          <a:p>
            <a:r>
              <a:rPr lang="en-US" dirty="0"/>
              <a:t>{</a:t>
            </a:r>
          </a:p>
          <a:p>
            <a:r>
              <a:rPr lang="en-US" dirty="0"/>
              <a:t>	</a:t>
            </a:r>
            <a:r>
              <a:rPr lang="en-US" dirty="0" err="1"/>
              <a:t>var</a:t>
            </a:r>
            <a:r>
              <a:rPr lang="en-US" dirty="0"/>
              <a:t> </a:t>
            </a:r>
            <a:r>
              <a:rPr lang="en-US" dirty="0" err="1"/>
              <a:t>str</a:t>
            </a:r>
            <a:r>
              <a:rPr lang="en-US" dirty="0"/>
              <a:t> = "";</a:t>
            </a:r>
          </a:p>
          <a:p>
            <a:r>
              <a:rPr lang="en-US" dirty="0"/>
              <a:t>	for (</a:t>
            </a:r>
            <a:r>
              <a:rPr lang="en-US" dirty="0" err="1"/>
              <a:t>var</a:t>
            </a:r>
            <a:r>
              <a:rPr lang="en-US" dirty="0"/>
              <a:t> </a:t>
            </a:r>
            <a:r>
              <a:rPr lang="en-US" dirty="0" err="1"/>
              <a:t>i</a:t>
            </a:r>
            <a:r>
              <a:rPr lang="en-US" dirty="0"/>
              <a:t> = 0; </a:t>
            </a:r>
            <a:r>
              <a:rPr lang="en-US" dirty="0" err="1"/>
              <a:t>i</a:t>
            </a:r>
            <a:r>
              <a:rPr lang="en-US" dirty="0"/>
              <a:t> &lt; </a:t>
            </a:r>
            <a:r>
              <a:rPr lang="en-US" dirty="0" err="1"/>
              <a:t>this.items.length</a:t>
            </a:r>
            <a:r>
              <a:rPr lang="en-US" dirty="0"/>
              <a:t>; </a:t>
            </a:r>
            <a:r>
              <a:rPr lang="en-US" dirty="0" err="1"/>
              <a:t>i</a:t>
            </a:r>
            <a:r>
              <a:rPr lang="en-US" dirty="0"/>
              <a:t>++)</a:t>
            </a:r>
          </a:p>
          <a:p>
            <a:r>
              <a:rPr lang="en-US" dirty="0"/>
              <a:t>		</a:t>
            </a:r>
            <a:r>
              <a:rPr lang="en-US" dirty="0" err="1"/>
              <a:t>str</a:t>
            </a:r>
            <a:r>
              <a:rPr lang="en-US" dirty="0"/>
              <a:t> += </a:t>
            </a:r>
            <a:r>
              <a:rPr lang="en-US" dirty="0" err="1"/>
              <a:t>this.items</a:t>
            </a:r>
            <a:r>
              <a:rPr lang="en-US" dirty="0"/>
              <a:t>[</a:t>
            </a:r>
            <a:r>
              <a:rPr lang="en-US" dirty="0" err="1"/>
              <a:t>i</a:t>
            </a:r>
            <a:r>
              <a:rPr lang="en-US" dirty="0"/>
              <a:t>] + " ";</a:t>
            </a:r>
          </a:p>
          <a:p>
            <a:r>
              <a:rPr lang="en-US" dirty="0"/>
              <a:t>	return </a:t>
            </a:r>
            <a:r>
              <a:rPr lang="en-US" dirty="0" err="1"/>
              <a:t>str</a:t>
            </a:r>
            <a:r>
              <a:rPr lang="en-US" dirty="0"/>
              <a:t>;</a:t>
            </a:r>
          </a:p>
          <a:p>
            <a:r>
              <a:rPr lang="en-US" dirty="0"/>
              <a:t>}</a:t>
            </a:r>
            <a:endParaRPr lang="en-IN" dirty="0"/>
          </a:p>
        </p:txBody>
      </p:sp>
    </p:spTree>
    <p:extLst>
      <p:ext uri="{BB962C8B-B14F-4D97-AF65-F5344CB8AC3E}">
        <p14:creationId xmlns:p14="http://schemas.microsoft.com/office/powerpoint/2010/main" val="96139479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p:txBody>
          <a:bodyPr/>
          <a:lstStyle/>
          <a:p>
            <a:r>
              <a:rPr lang="en-US" dirty="0"/>
              <a:t>A Pop operation may involve the following steps −</a:t>
            </a:r>
          </a:p>
          <a:p>
            <a:r>
              <a:rPr lang="en-US" b="1" dirty="0"/>
              <a:t>Step 1</a:t>
            </a:r>
            <a:r>
              <a:rPr lang="en-US" dirty="0"/>
              <a:t> − Checks if the stack is empty.</a:t>
            </a:r>
          </a:p>
          <a:p>
            <a:r>
              <a:rPr lang="en-US" b="1" dirty="0"/>
              <a:t>Step 2</a:t>
            </a:r>
            <a:r>
              <a:rPr lang="en-US" dirty="0"/>
              <a:t> − If the stack is empty, produces an error and exit.</a:t>
            </a:r>
          </a:p>
          <a:p>
            <a:r>
              <a:rPr lang="en-US" b="1" dirty="0"/>
              <a:t>Step 3</a:t>
            </a:r>
            <a:r>
              <a:rPr lang="en-US" dirty="0"/>
              <a:t> − If the stack is not empty, accesses the data element at which </a:t>
            </a:r>
            <a:r>
              <a:rPr lang="en-US" b="1" dirty="0"/>
              <a:t>top</a:t>
            </a:r>
            <a:r>
              <a:rPr lang="en-US" dirty="0"/>
              <a:t> is pointing.</a:t>
            </a:r>
          </a:p>
          <a:p>
            <a:r>
              <a:rPr lang="en-US" b="1" dirty="0"/>
              <a:t>Step 4</a:t>
            </a:r>
            <a:r>
              <a:rPr lang="en-US" dirty="0"/>
              <a:t> − Decreases the value of top by 1.</a:t>
            </a:r>
          </a:p>
          <a:p>
            <a:r>
              <a:rPr lang="en-US" b="1" dirty="0"/>
              <a:t>Step 5</a:t>
            </a:r>
            <a:r>
              <a:rPr lang="en-US" dirty="0"/>
              <a:t> − Returns success.</a:t>
            </a:r>
          </a:p>
          <a:p>
            <a:endParaRPr lang="en-IN" dirty="0"/>
          </a:p>
        </p:txBody>
      </p:sp>
    </p:spTree>
    <p:extLst>
      <p:ext uri="{BB962C8B-B14F-4D97-AF65-F5344CB8AC3E}">
        <p14:creationId xmlns:p14="http://schemas.microsoft.com/office/powerpoint/2010/main" val="263399544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 Declaring a class</a:t>
            </a:r>
            <a:br>
              <a:rPr lang="en-IN" b="1" dirty="0"/>
            </a:br>
            <a:endParaRPr lang="en-IN" dirty="0"/>
          </a:p>
        </p:txBody>
      </p:sp>
      <p:sp>
        <p:nvSpPr>
          <p:cNvPr id="3" name="Content Placeholder 2"/>
          <p:cNvSpPr>
            <a:spLocks noGrp="1"/>
          </p:cNvSpPr>
          <p:nvPr>
            <p:ph idx="1"/>
          </p:nvPr>
        </p:nvSpPr>
        <p:spPr/>
        <p:txBody>
          <a:bodyPr/>
          <a:lstStyle/>
          <a:p>
            <a:r>
              <a:rPr lang="en-US" dirty="0"/>
              <a:t>Class stack is declared to initialize an array that will be used to store items of the stack:</a:t>
            </a:r>
            <a:endParaRPr lang="en-IN" dirty="0"/>
          </a:p>
        </p:txBody>
      </p:sp>
      <p:sp>
        <p:nvSpPr>
          <p:cNvPr id="4" name="Rectangle 1"/>
          <p:cNvSpPr>
            <a:spLocks noChangeArrowheads="1"/>
          </p:cNvSpPr>
          <p:nvPr/>
        </p:nvSpPr>
        <p:spPr bwMode="auto">
          <a:xfrm>
            <a:off x="1115616" y="2780928"/>
            <a:ext cx="4968552" cy="3275155"/>
          </a:xfrm>
          <a:prstGeom prst="rect">
            <a:avLst/>
          </a:prstGeom>
          <a:ln/>
        </p:spPr>
        <p:style>
          <a:lnRef idx="1">
            <a:schemeClr val="dk1"/>
          </a:lnRef>
          <a:fillRef idx="2">
            <a:schemeClr val="dk1"/>
          </a:fillRef>
          <a:effectRef idx="1">
            <a:schemeClr val="dk1"/>
          </a:effectRef>
          <a:fontRef idx="minor">
            <a:schemeClr val="dk1"/>
          </a:fontRef>
        </p:style>
        <p:txBody>
          <a:bodyPr vert="horz" wrap="square" lIns="0" tIns="158700" rIns="0" bIns="15870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2400" b="0" i="0" u="none" strike="noStrike" cap="none" normalizeH="0" baseline="0" dirty="0" smtClean="0">
                <a:ln>
                  <a:noFill/>
                </a:ln>
                <a:solidFill>
                  <a:schemeClr val="tx1"/>
                </a:solidFill>
                <a:effectLst/>
                <a:latin typeface="Menlo"/>
                <a:cs typeface="Arial" pitchFamily="34" charset="0"/>
              </a:rPr>
              <a:t>class Stack { </a:t>
            </a:r>
            <a:br>
              <a:rPr kumimoji="0" lang="en-US" altLang="en-US" sz="2400" b="0" i="0" u="none" strike="noStrike" cap="none" normalizeH="0" baseline="0" dirty="0" smtClean="0">
                <a:ln>
                  <a:noFill/>
                </a:ln>
                <a:solidFill>
                  <a:schemeClr val="tx1"/>
                </a:solidFill>
                <a:effectLst/>
                <a:latin typeface="Menlo"/>
                <a:cs typeface="Arial" pitchFamily="34" charset="0"/>
              </a:rPr>
            </a:br>
            <a:r>
              <a:rPr kumimoji="0" lang="en-US" altLang="en-US" sz="2400" b="0" i="0" u="none" strike="noStrike" cap="none" normalizeH="0" baseline="0" dirty="0" smtClean="0">
                <a:ln>
                  <a:noFill/>
                </a:ln>
                <a:solidFill>
                  <a:schemeClr val="tx1"/>
                </a:solidFill>
                <a:effectLst/>
                <a:latin typeface="Menlo"/>
                <a:cs typeface="Arial" pitchFamily="34" charset="0"/>
              </a:rPr>
              <a:t> </a:t>
            </a:r>
            <a:br>
              <a:rPr kumimoji="0" lang="en-US" altLang="en-US" sz="2400" b="0" i="0" u="none" strike="noStrike" cap="none" normalizeH="0" baseline="0" dirty="0" smtClean="0">
                <a:ln>
                  <a:noFill/>
                </a:ln>
                <a:solidFill>
                  <a:schemeClr val="tx1"/>
                </a:solidFill>
                <a:effectLst/>
                <a:latin typeface="Menlo"/>
                <a:cs typeface="Arial" pitchFamily="34" charset="0"/>
              </a:rPr>
            </a:br>
            <a:r>
              <a:rPr kumimoji="0" lang="en-US" altLang="en-US" sz="2400" b="0" i="0" u="none" strike="noStrike" cap="none" normalizeH="0" baseline="0" dirty="0" smtClean="0">
                <a:ln>
                  <a:noFill/>
                </a:ln>
                <a:solidFill>
                  <a:schemeClr val="tx1"/>
                </a:solidFill>
                <a:effectLst/>
                <a:latin typeface="Menlo"/>
                <a:cs typeface="Arial" pitchFamily="34" charset="0"/>
              </a:rPr>
              <a:t>    constructor() </a:t>
            </a:r>
            <a:br>
              <a:rPr kumimoji="0" lang="en-US" altLang="en-US" sz="2400" b="0" i="0" u="none" strike="noStrike" cap="none" normalizeH="0" baseline="0" dirty="0" smtClean="0">
                <a:ln>
                  <a:noFill/>
                </a:ln>
                <a:solidFill>
                  <a:schemeClr val="tx1"/>
                </a:solidFill>
                <a:effectLst/>
                <a:latin typeface="Menlo"/>
                <a:cs typeface="Arial" pitchFamily="34" charset="0"/>
              </a:rPr>
            </a:br>
            <a:r>
              <a:rPr kumimoji="0" lang="en-US" altLang="en-US" sz="2400" b="0" i="0" u="none" strike="noStrike" cap="none" normalizeH="0" baseline="0" dirty="0" smtClean="0">
                <a:ln>
                  <a:noFill/>
                </a:ln>
                <a:solidFill>
                  <a:schemeClr val="tx1"/>
                </a:solidFill>
                <a:effectLst/>
                <a:latin typeface="Menlo"/>
                <a:cs typeface="Arial" pitchFamily="34" charset="0"/>
              </a:rPr>
              <a:t>    { </a:t>
            </a:r>
            <a:br>
              <a:rPr kumimoji="0" lang="en-US" altLang="en-US" sz="2400" b="0" i="0" u="none" strike="noStrike" cap="none" normalizeH="0" baseline="0" dirty="0" smtClean="0">
                <a:ln>
                  <a:noFill/>
                </a:ln>
                <a:solidFill>
                  <a:schemeClr val="tx1"/>
                </a:solidFill>
                <a:effectLst/>
                <a:latin typeface="Menlo"/>
                <a:cs typeface="Arial" pitchFamily="34" charset="0"/>
              </a:rPr>
            </a:br>
            <a:r>
              <a:rPr kumimoji="0" lang="en-US" altLang="en-US" sz="2400" b="0" i="0" u="none" strike="noStrike" cap="none" normalizeH="0" baseline="0" dirty="0" smtClean="0">
                <a:ln>
                  <a:noFill/>
                </a:ln>
                <a:solidFill>
                  <a:schemeClr val="tx1"/>
                </a:solidFill>
                <a:effectLst/>
                <a:latin typeface="Menlo"/>
                <a:cs typeface="Arial" pitchFamily="34" charset="0"/>
              </a:rPr>
              <a:t>        </a:t>
            </a:r>
            <a:r>
              <a:rPr kumimoji="0" lang="en-US" altLang="en-US" sz="2400" b="0" i="0" u="none" strike="noStrike" cap="none" normalizeH="0" baseline="0" dirty="0" err="1" smtClean="0">
                <a:ln>
                  <a:noFill/>
                </a:ln>
                <a:solidFill>
                  <a:schemeClr val="tx1"/>
                </a:solidFill>
                <a:effectLst/>
                <a:latin typeface="Menlo"/>
                <a:cs typeface="Arial" pitchFamily="34" charset="0"/>
              </a:rPr>
              <a:t>this.items</a:t>
            </a:r>
            <a:r>
              <a:rPr kumimoji="0" lang="en-US" altLang="en-US" sz="2400" b="0" i="0" u="none" strike="noStrike" cap="none" normalizeH="0" baseline="0" dirty="0" smtClean="0">
                <a:ln>
                  <a:noFill/>
                </a:ln>
                <a:solidFill>
                  <a:schemeClr val="tx1"/>
                </a:solidFill>
                <a:effectLst/>
                <a:latin typeface="Menlo"/>
                <a:cs typeface="Arial" pitchFamily="34" charset="0"/>
              </a:rPr>
              <a:t> = []; </a:t>
            </a:r>
            <a:br>
              <a:rPr kumimoji="0" lang="en-US" altLang="en-US" sz="2400" b="0" i="0" u="none" strike="noStrike" cap="none" normalizeH="0" baseline="0" dirty="0" smtClean="0">
                <a:ln>
                  <a:noFill/>
                </a:ln>
                <a:solidFill>
                  <a:schemeClr val="tx1"/>
                </a:solidFill>
                <a:effectLst/>
                <a:latin typeface="Menlo"/>
                <a:cs typeface="Arial" pitchFamily="34" charset="0"/>
              </a:rPr>
            </a:br>
            <a:r>
              <a:rPr kumimoji="0" lang="en-US" altLang="en-US" sz="2400" b="0" i="0" u="none" strike="noStrike" cap="none" normalizeH="0" baseline="0" dirty="0" smtClean="0">
                <a:ln>
                  <a:noFill/>
                </a:ln>
                <a:solidFill>
                  <a:schemeClr val="tx1"/>
                </a:solidFill>
                <a:effectLst/>
                <a:latin typeface="Menlo"/>
                <a:cs typeface="Arial" pitchFamily="34" charset="0"/>
              </a:rPr>
              <a:t>    } </a:t>
            </a:r>
            <a:br>
              <a:rPr kumimoji="0" lang="en-US" altLang="en-US" sz="2400" b="0" i="0" u="none" strike="noStrike" cap="none" normalizeH="0" baseline="0" dirty="0" smtClean="0">
                <a:ln>
                  <a:noFill/>
                </a:ln>
                <a:solidFill>
                  <a:schemeClr val="tx1"/>
                </a:solidFill>
                <a:effectLst/>
                <a:latin typeface="Menlo"/>
                <a:cs typeface="Arial" pitchFamily="34" charset="0"/>
              </a:rPr>
            </a:br>
            <a:r>
              <a:rPr kumimoji="0" lang="en-US" altLang="en-US" sz="2400" b="0" i="0" u="none" strike="noStrike" cap="none" normalizeH="0" baseline="0" dirty="0" smtClean="0">
                <a:ln>
                  <a:noFill/>
                </a:ln>
                <a:solidFill>
                  <a:schemeClr val="tx1"/>
                </a:solidFill>
                <a:effectLst/>
                <a:latin typeface="Menlo"/>
                <a:cs typeface="Arial" pitchFamily="34" charset="0"/>
              </a:rPr>
              <a:t>  </a:t>
            </a:r>
            <a:br>
              <a:rPr kumimoji="0" lang="en-US" altLang="en-US" sz="2400" b="0" i="0" u="none" strike="noStrike" cap="none" normalizeH="0" baseline="0" dirty="0" smtClean="0">
                <a:ln>
                  <a:noFill/>
                </a:ln>
                <a:solidFill>
                  <a:schemeClr val="tx1"/>
                </a:solidFill>
                <a:effectLst/>
                <a:latin typeface="Menlo"/>
                <a:cs typeface="Arial" pitchFamily="34" charset="0"/>
              </a:rPr>
            </a:br>
            <a:r>
              <a:rPr kumimoji="0" lang="en-US" altLang="en-US" sz="2400" b="0" i="0" u="none" strike="noStrike" cap="none" normalizeH="0" baseline="0" dirty="0" smtClean="0">
                <a:ln>
                  <a:noFill/>
                </a:ln>
                <a:solidFill>
                  <a:schemeClr val="tx1"/>
                </a:solidFill>
                <a:effectLst/>
                <a:latin typeface="Menlo"/>
                <a:cs typeface="Arial" pitchFamily="34" charset="0"/>
              </a:rPr>
              <a:t>} </a:t>
            </a:r>
            <a:r>
              <a:rPr kumimoji="0" lang="en-US" altLang="en-US" sz="2400" b="0" i="0" u="none" strike="noStrike" cap="none" normalizeH="0" baseline="0" dirty="0" smtClean="0">
                <a:ln>
                  <a:noFill/>
                </a:ln>
                <a:solidFill>
                  <a:schemeClr val="tx1"/>
                </a:solidFill>
                <a:effectLst/>
                <a:latin typeface="Arial" pitchFamily="34" charset="0"/>
                <a:cs typeface="Arial" pitchFamily="34" charset="0"/>
              </a:rPr>
              <a:t> </a:t>
            </a:r>
          </a:p>
        </p:txBody>
      </p:sp>
    </p:spTree>
    <p:extLst>
      <p:ext uri="{BB962C8B-B14F-4D97-AF65-F5344CB8AC3E}">
        <p14:creationId xmlns:p14="http://schemas.microsoft.com/office/powerpoint/2010/main" val="282777904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Push an item</a:t>
            </a:r>
            <a:br>
              <a:rPr lang="en-IN" b="1" dirty="0"/>
            </a:br>
            <a:endParaRPr lang="en-IN" dirty="0"/>
          </a:p>
        </p:txBody>
      </p:sp>
      <p:sp>
        <p:nvSpPr>
          <p:cNvPr id="3" name="Content Placeholder 2"/>
          <p:cNvSpPr>
            <a:spLocks noGrp="1"/>
          </p:cNvSpPr>
          <p:nvPr>
            <p:ph idx="1"/>
          </p:nvPr>
        </p:nvSpPr>
        <p:spPr/>
        <p:txBody>
          <a:bodyPr/>
          <a:lstStyle/>
          <a:p>
            <a:r>
              <a:rPr lang="en-US" dirty="0"/>
              <a:t>Adds an </a:t>
            </a:r>
            <a:r>
              <a:rPr lang="en-US" dirty="0" smtClean="0"/>
              <a:t>item </a:t>
            </a:r>
            <a:r>
              <a:rPr lang="en-US" dirty="0"/>
              <a:t>in the stack:</a:t>
            </a:r>
            <a:endParaRPr lang="en-IN" dirty="0"/>
          </a:p>
        </p:txBody>
      </p:sp>
      <p:sp>
        <p:nvSpPr>
          <p:cNvPr id="4" name="Rectangle 1"/>
          <p:cNvSpPr>
            <a:spLocks noChangeArrowheads="1"/>
          </p:cNvSpPr>
          <p:nvPr/>
        </p:nvSpPr>
        <p:spPr bwMode="auto">
          <a:xfrm>
            <a:off x="1067003" y="2708920"/>
            <a:ext cx="5017166" cy="2044048"/>
          </a:xfrm>
          <a:prstGeom prst="rect">
            <a:avLst/>
          </a:prstGeom>
          <a:ln/>
        </p:spPr>
        <p:style>
          <a:lnRef idx="1">
            <a:schemeClr val="accent1"/>
          </a:lnRef>
          <a:fillRef idx="2">
            <a:schemeClr val="accent1"/>
          </a:fillRef>
          <a:effectRef idx="1">
            <a:schemeClr val="accent1"/>
          </a:effectRef>
          <a:fontRef idx="minor">
            <a:schemeClr val="dk1"/>
          </a:fontRef>
        </p:style>
        <p:txBody>
          <a:bodyPr vert="horz" wrap="square" lIns="0" tIns="158700" rIns="0" bIns="15870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2800" b="0" i="0" u="none" strike="noStrike" cap="none" normalizeH="0" baseline="0" dirty="0" smtClean="0">
                <a:ln>
                  <a:noFill/>
                </a:ln>
                <a:solidFill>
                  <a:schemeClr val="tx1"/>
                </a:solidFill>
                <a:effectLst/>
                <a:latin typeface="Menlo"/>
                <a:cs typeface="Arial" pitchFamily="34" charset="0"/>
              </a:rPr>
              <a:t>push(element) </a:t>
            </a:r>
            <a:br>
              <a:rPr kumimoji="0" lang="en-US" altLang="en-US" sz="2800" b="0" i="0" u="none" strike="noStrike" cap="none" normalizeH="0" baseline="0" dirty="0" smtClean="0">
                <a:ln>
                  <a:noFill/>
                </a:ln>
                <a:solidFill>
                  <a:schemeClr val="tx1"/>
                </a:solidFill>
                <a:effectLst/>
                <a:latin typeface="Menlo"/>
                <a:cs typeface="Arial" pitchFamily="34" charset="0"/>
              </a:rPr>
            </a:br>
            <a:r>
              <a:rPr kumimoji="0" lang="en-US" altLang="en-US" sz="2800" b="0" i="0" u="none" strike="noStrike" cap="none" normalizeH="0" baseline="0" dirty="0" smtClean="0">
                <a:ln>
                  <a:noFill/>
                </a:ln>
                <a:solidFill>
                  <a:schemeClr val="tx1"/>
                </a:solidFill>
                <a:effectLst/>
                <a:latin typeface="Menlo"/>
                <a:cs typeface="Arial" pitchFamily="34" charset="0"/>
              </a:rPr>
              <a:t>{  </a:t>
            </a:r>
            <a:br>
              <a:rPr kumimoji="0" lang="en-US" altLang="en-US" sz="2800" b="0" i="0" u="none" strike="noStrike" cap="none" normalizeH="0" baseline="0" dirty="0" smtClean="0">
                <a:ln>
                  <a:noFill/>
                </a:ln>
                <a:solidFill>
                  <a:schemeClr val="tx1"/>
                </a:solidFill>
                <a:effectLst/>
                <a:latin typeface="Menlo"/>
                <a:cs typeface="Arial" pitchFamily="34" charset="0"/>
              </a:rPr>
            </a:br>
            <a:r>
              <a:rPr kumimoji="0" lang="en-US" altLang="en-US" sz="2800" b="0" i="0" u="none" strike="noStrike" cap="none" normalizeH="0" baseline="0" dirty="0" smtClean="0">
                <a:ln>
                  <a:noFill/>
                </a:ln>
                <a:solidFill>
                  <a:schemeClr val="tx1"/>
                </a:solidFill>
                <a:effectLst/>
                <a:latin typeface="Menlo"/>
                <a:cs typeface="Arial" pitchFamily="34" charset="0"/>
              </a:rPr>
              <a:t>    </a:t>
            </a:r>
            <a:r>
              <a:rPr kumimoji="0" lang="en-US" altLang="en-US" sz="2800" b="0" i="0" u="none" strike="noStrike" cap="none" normalizeH="0" baseline="0" dirty="0" err="1" smtClean="0">
                <a:ln>
                  <a:noFill/>
                </a:ln>
                <a:solidFill>
                  <a:schemeClr val="tx1"/>
                </a:solidFill>
                <a:effectLst/>
                <a:latin typeface="Menlo"/>
                <a:cs typeface="Arial" pitchFamily="34" charset="0"/>
              </a:rPr>
              <a:t>this.items.push</a:t>
            </a:r>
            <a:r>
              <a:rPr kumimoji="0" lang="en-US" altLang="en-US" sz="2800" b="0" i="0" u="none" strike="noStrike" cap="none" normalizeH="0" baseline="0" dirty="0" smtClean="0">
                <a:ln>
                  <a:noFill/>
                </a:ln>
                <a:solidFill>
                  <a:schemeClr val="tx1"/>
                </a:solidFill>
                <a:effectLst/>
                <a:latin typeface="Menlo"/>
                <a:cs typeface="Arial" pitchFamily="34" charset="0"/>
              </a:rPr>
              <a:t>(element); </a:t>
            </a:r>
            <a:br>
              <a:rPr kumimoji="0" lang="en-US" altLang="en-US" sz="2800" b="0" i="0" u="none" strike="noStrike" cap="none" normalizeH="0" baseline="0" dirty="0" smtClean="0">
                <a:ln>
                  <a:noFill/>
                </a:ln>
                <a:solidFill>
                  <a:schemeClr val="tx1"/>
                </a:solidFill>
                <a:effectLst/>
                <a:latin typeface="Menlo"/>
                <a:cs typeface="Arial" pitchFamily="34" charset="0"/>
              </a:rPr>
            </a:br>
            <a:r>
              <a:rPr kumimoji="0" lang="en-US" altLang="en-US" sz="2800" b="0" i="0" u="none" strike="noStrike" cap="none" normalizeH="0" baseline="0" dirty="0" smtClean="0">
                <a:ln>
                  <a:noFill/>
                </a:ln>
                <a:solidFill>
                  <a:schemeClr val="tx1"/>
                </a:solidFill>
                <a:effectLst/>
                <a:latin typeface="Menlo"/>
                <a:cs typeface="Arial" pitchFamily="34" charset="0"/>
              </a:rPr>
              <a:t>} </a:t>
            </a:r>
            <a:r>
              <a:rPr kumimoji="0" lang="en-US" altLang="en-US" sz="2000" b="0" i="0" u="none" strike="noStrike" cap="none" normalizeH="0" baseline="0" dirty="0" smtClean="0">
                <a:ln>
                  <a:noFill/>
                </a:ln>
                <a:solidFill>
                  <a:schemeClr val="tx1"/>
                </a:solidFill>
                <a:effectLst/>
                <a:latin typeface="Arial" pitchFamily="34" charset="0"/>
                <a:cs typeface="Arial" pitchFamily="34" charset="0"/>
              </a:rPr>
              <a:t> </a:t>
            </a:r>
            <a:endParaRPr kumimoji="0" lang="en-US" altLang="en-US" sz="5400" b="0" i="0" u="none" strike="noStrike" cap="none" normalizeH="0" baseline="0" dirty="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113626676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Pop an item</a:t>
            </a:r>
          </a:p>
        </p:txBody>
      </p:sp>
      <p:sp>
        <p:nvSpPr>
          <p:cNvPr id="3" name="Content Placeholder 2"/>
          <p:cNvSpPr>
            <a:spLocks noGrp="1"/>
          </p:cNvSpPr>
          <p:nvPr>
            <p:ph idx="1"/>
          </p:nvPr>
        </p:nvSpPr>
        <p:spPr/>
        <p:txBody>
          <a:bodyPr/>
          <a:lstStyle/>
          <a:p>
            <a:r>
              <a:rPr lang="en-US" dirty="0"/>
              <a:t>Removes the last item added in the stack</a:t>
            </a:r>
            <a:endParaRPr lang="en-IN" dirty="0"/>
          </a:p>
        </p:txBody>
      </p:sp>
      <p:sp>
        <p:nvSpPr>
          <p:cNvPr id="4" name="Rectangle 1"/>
          <p:cNvSpPr>
            <a:spLocks noChangeArrowheads="1"/>
          </p:cNvSpPr>
          <p:nvPr/>
        </p:nvSpPr>
        <p:spPr bwMode="auto">
          <a:xfrm>
            <a:off x="1115616" y="2492896"/>
            <a:ext cx="4572000" cy="2536491"/>
          </a:xfrm>
          <a:prstGeom prst="rect">
            <a:avLst/>
          </a:prstGeom>
          <a:ln/>
        </p:spPr>
        <p:style>
          <a:lnRef idx="1">
            <a:schemeClr val="accent1"/>
          </a:lnRef>
          <a:fillRef idx="2">
            <a:schemeClr val="accent1"/>
          </a:fillRef>
          <a:effectRef idx="1">
            <a:schemeClr val="accent1"/>
          </a:effectRef>
          <a:fontRef idx="minor">
            <a:schemeClr val="dk1"/>
          </a:fontRef>
        </p:style>
        <p:txBody>
          <a:bodyPr vert="horz" wrap="square" lIns="0" tIns="158700" rIns="0" bIns="15870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2400" b="0" i="0" u="none" strike="noStrike" cap="none" normalizeH="0" baseline="0" dirty="0" smtClean="0">
                <a:ln>
                  <a:noFill/>
                </a:ln>
                <a:solidFill>
                  <a:schemeClr val="tx1"/>
                </a:solidFill>
                <a:effectLst/>
                <a:latin typeface="Menlo"/>
                <a:cs typeface="Arial" pitchFamily="34" charset="0"/>
              </a:rPr>
              <a:t>pop() </a:t>
            </a:r>
            <a:br>
              <a:rPr kumimoji="0" lang="en-US" altLang="en-US" sz="2400" b="0" i="0" u="none" strike="noStrike" cap="none" normalizeH="0" baseline="0" dirty="0" smtClean="0">
                <a:ln>
                  <a:noFill/>
                </a:ln>
                <a:solidFill>
                  <a:schemeClr val="tx1"/>
                </a:solidFill>
                <a:effectLst/>
                <a:latin typeface="Menlo"/>
                <a:cs typeface="Arial" pitchFamily="34" charset="0"/>
              </a:rPr>
            </a:br>
            <a:r>
              <a:rPr kumimoji="0" lang="en-US" altLang="en-US" sz="2400" b="0" i="0" u="none" strike="noStrike" cap="none" normalizeH="0" baseline="0" dirty="0" smtClean="0">
                <a:ln>
                  <a:noFill/>
                </a:ln>
                <a:solidFill>
                  <a:schemeClr val="tx1"/>
                </a:solidFill>
                <a:effectLst/>
                <a:latin typeface="Menlo"/>
                <a:cs typeface="Arial" pitchFamily="34" charset="0"/>
              </a:rPr>
              <a:t>{     </a:t>
            </a:r>
            <a:br>
              <a:rPr kumimoji="0" lang="en-US" altLang="en-US" sz="2400" b="0" i="0" u="none" strike="noStrike" cap="none" normalizeH="0" baseline="0" dirty="0" smtClean="0">
                <a:ln>
                  <a:noFill/>
                </a:ln>
                <a:solidFill>
                  <a:schemeClr val="tx1"/>
                </a:solidFill>
                <a:effectLst/>
                <a:latin typeface="Menlo"/>
                <a:cs typeface="Arial" pitchFamily="34" charset="0"/>
              </a:rPr>
            </a:br>
            <a:r>
              <a:rPr kumimoji="0" lang="en-US" altLang="en-US" sz="2400" b="0" i="0" u="none" strike="noStrike" cap="none" normalizeH="0" baseline="0" dirty="0" smtClean="0">
                <a:ln>
                  <a:noFill/>
                </a:ln>
                <a:solidFill>
                  <a:schemeClr val="tx1"/>
                </a:solidFill>
                <a:effectLst/>
                <a:latin typeface="Menlo"/>
                <a:cs typeface="Arial" pitchFamily="34" charset="0"/>
              </a:rPr>
              <a:t>    if (</a:t>
            </a:r>
            <a:r>
              <a:rPr kumimoji="0" lang="en-US" altLang="en-US" sz="2400" b="0" i="0" u="none" strike="noStrike" cap="none" normalizeH="0" baseline="0" dirty="0" err="1" smtClean="0">
                <a:ln>
                  <a:noFill/>
                </a:ln>
                <a:solidFill>
                  <a:schemeClr val="tx1"/>
                </a:solidFill>
                <a:effectLst/>
                <a:latin typeface="Menlo"/>
                <a:cs typeface="Arial" pitchFamily="34" charset="0"/>
              </a:rPr>
              <a:t>this.items.length</a:t>
            </a:r>
            <a:r>
              <a:rPr kumimoji="0" lang="en-US" altLang="en-US" sz="2400" b="0" i="0" u="none" strike="noStrike" cap="none" normalizeH="0" baseline="0" dirty="0" smtClean="0">
                <a:ln>
                  <a:noFill/>
                </a:ln>
                <a:solidFill>
                  <a:schemeClr val="tx1"/>
                </a:solidFill>
                <a:effectLst/>
                <a:latin typeface="Menlo"/>
                <a:cs typeface="Arial" pitchFamily="34" charset="0"/>
              </a:rPr>
              <a:t> == 0) </a:t>
            </a:r>
            <a:br>
              <a:rPr kumimoji="0" lang="en-US" altLang="en-US" sz="2400" b="0" i="0" u="none" strike="noStrike" cap="none" normalizeH="0" baseline="0" dirty="0" smtClean="0">
                <a:ln>
                  <a:noFill/>
                </a:ln>
                <a:solidFill>
                  <a:schemeClr val="tx1"/>
                </a:solidFill>
                <a:effectLst/>
                <a:latin typeface="Menlo"/>
                <a:cs typeface="Arial" pitchFamily="34" charset="0"/>
              </a:rPr>
            </a:br>
            <a:r>
              <a:rPr kumimoji="0" lang="en-US" altLang="en-US" sz="2400" b="0" i="0" u="none" strike="noStrike" cap="none" normalizeH="0" baseline="0" dirty="0" smtClean="0">
                <a:ln>
                  <a:noFill/>
                </a:ln>
                <a:solidFill>
                  <a:schemeClr val="tx1"/>
                </a:solidFill>
                <a:effectLst/>
                <a:latin typeface="Menlo"/>
                <a:cs typeface="Arial" pitchFamily="34" charset="0"/>
              </a:rPr>
              <a:t>        return "Underflow"; </a:t>
            </a:r>
            <a:br>
              <a:rPr kumimoji="0" lang="en-US" altLang="en-US" sz="2400" b="0" i="0" u="none" strike="noStrike" cap="none" normalizeH="0" baseline="0" dirty="0" smtClean="0">
                <a:ln>
                  <a:noFill/>
                </a:ln>
                <a:solidFill>
                  <a:schemeClr val="tx1"/>
                </a:solidFill>
                <a:effectLst/>
                <a:latin typeface="Menlo"/>
                <a:cs typeface="Arial" pitchFamily="34" charset="0"/>
              </a:rPr>
            </a:br>
            <a:r>
              <a:rPr kumimoji="0" lang="en-US" altLang="en-US" sz="2400" b="0" i="0" u="none" strike="noStrike" cap="none" normalizeH="0" baseline="0" dirty="0" smtClean="0">
                <a:ln>
                  <a:noFill/>
                </a:ln>
                <a:solidFill>
                  <a:schemeClr val="tx1"/>
                </a:solidFill>
                <a:effectLst/>
                <a:latin typeface="Menlo"/>
                <a:cs typeface="Arial" pitchFamily="34" charset="0"/>
              </a:rPr>
              <a:t>    return </a:t>
            </a:r>
            <a:r>
              <a:rPr kumimoji="0" lang="en-US" altLang="en-US" sz="2400" b="0" i="0" u="none" strike="noStrike" cap="none" normalizeH="0" baseline="0" dirty="0" err="1" smtClean="0">
                <a:ln>
                  <a:noFill/>
                </a:ln>
                <a:solidFill>
                  <a:schemeClr val="tx1"/>
                </a:solidFill>
                <a:effectLst/>
                <a:latin typeface="Menlo"/>
                <a:cs typeface="Arial" pitchFamily="34" charset="0"/>
              </a:rPr>
              <a:t>this.items.pop</a:t>
            </a:r>
            <a:r>
              <a:rPr kumimoji="0" lang="en-US" altLang="en-US" sz="2400" b="0" i="0" u="none" strike="noStrike" cap="none" normalizeH="0" baseline="0" dirty="0" smtClean="0">
                <a:ln>
                  <a:noFill/>
                </a:ln>
                <a:solidFill>
                  <a:schemeClr val="tx1"/>
                </a:solidFill>
                <a:effectLst/>
                <a:latin typeface="Menlo"/>
                <a:cs typeface="Arial" pitchFamily="34" charset="0"/>
              </a:rPr>
              <a:t>(); </a:t>
            </a:r>
            <a:br>
              <a:rPr kumimoji="0" lang="en-US" altLang="en-US" sz="2400" b="0" i="0" u="none" strike="noStrike" cap="none" normalizeH="0" baseline="0" dirty="0" smtClean="0">
                <a:ln>
                  <a:noFill/>
                </a:ln>
                <a:solidFill>
                  <a:schemeClr val="tx1"/>
                </a:solidFill>
                <a:effectLst/>
                <a:latin typeface="Menlo"/>
                <a:cs typeface="Arial" pitchFamily="34" charset="0"/>
              </a:rPr>
            </a:br>
            <a:r>
              <a:rPr kumimoji="0" lang="en-US" altLang="en-US" sz="2400" b="0" i="0" u="none" strike="noStrike" cap="none" normalizeH="0" baseline="0" dirty="0" smtClean="0">
                <a:ln>
                  <a:noFill/>
                </a:ln>
                <a:solidFill>
                  <a:schemeClr val="tx1"/>
                </a:solidFill>
                <a:effectLst/>
                <a:latin typeface="Menlo"/>
                <a:cs typeface="Arial" pitchFamily="34" charset="0"/>
              </a:rPr>
              <a:t>} </a:t>
            </a:r>
            <a:r>
              <a:rPr kumimoji="0" lang="en-US" altLang="en-US" sz="2400" b="0" i="0" u="none" strike="noStrike" cap="none" normalizeH="0" baseline="0" dirty="0" smtClean="0">
                <a:ln>
                  <a:noFill/>
                </a:ln>
                <a:solidFill>
                  <a:schemeClr val="tx1"/>
                </a:solidFill>
                <a:effectLst/>
                <a:latin typeface="Arial" pitchFamily="34" charset="0"/>
                <a:cs typeface="Arial" pitchFamily="34" charset="0"/>
              </a:rPr>
              <a:t> </a:t>
            </a:r>
          </a:p>
        </p:txBody>
      </p:sp>
    </p:spTree>
    <p:extLst>
      <p:ext uri="{BB962C8B-B14F-4D97-AF65-F5344CB8AC3E}">
        <p14:creationId xmlns:p14="http://schemas.microsoft.com/office/powerpoint/2010/main" val="279388731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 Peek</a:t>
            </a:r>
          </a:p>
        </p:txBody>
      </p:sp>
      <p:sp>
        <p:nvSpPr>
          <p:cNvPr id="3" name="Content Placeholder 2"/>
          <p:cNvSpPr>
            <a:spLocks noGrp="1"/>
          </p:cNvSpPr>
          <p:nvPr>
            <p:ph idx="1"/>
          </p:nvPr>
        </p:nvSpPr>
        <p:spPr/>
        <p:txBody>
          <a:bodyPr/>
          <a:lstStyle/>
          <a:p>
            <a:r>
              <a:rPr lang="en-US" dirty="0"/>
              <a:t>Returns the last item that was pushed in the stack:</a:t>
            </a:r>
            <a:endParaRPr lang="en-IN" dirty="0"/>
          </a:p>
        </p:txBody>
      </p:sp>
      <p:sp>
        <p:nvSpPr>
          <p:cNvPr id="4" name="Rectangle 1"/>
          <p:cNvSpPr>
            <a:spLocks noChangeArrowheads="1"/>
          </p:cNvSpPr>
          <p:nvPr/>
        </p:nvSpPr>
        <p:spPr bwMode="auto">
          <a:xfrm>
            <a:off x="611560" y="2708920"/>
            <a:ext cx="5688632" cy="1797827"/>
          </a:xfrm>
          <a:prstGeom prst="rect">
            <a:avLst/>
          </a:prstGeom>
          <a:ln/>
        </p:spPr>
        <p:style>
          <a:lnRef idx="1">
            <a:schemeClr val="accent4"/>
          </a:lnRef>
          <a:fillRef idx="2">
            <a:schemeClr val="accent4"/>
          </a:fillRef>
          <a:effectRef idx="1">
            <a:schemeClr val="accent4"/>
          </a:effectRef>
          <a:fontRef idx="minor">
            <a:schemeClr val="dk1"/>
          </a:fontRef>
        </p:style>
        <p:txBody>
          <a:bodyPr vert="horz" wrap="square" lIns="0" tIns="158700" rIns="0" bIns="15870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2400" b="0" i="0" u="none" strike="noStrike" cap="none" normalizeH="0" baseline="0" dirty="0" smtClean="0">
                <a:ln>
                  <a:noFill/>
                </a:ln>
                <a:solidFill>
                  <a:schemeClr val="tx1"/>
                </a:solidFill>
                <a:effectLst/>
                <a:latin typeface="Menlo"/>
                <a:cs typeface="Arial" pitchFamily="34" charset="0"/>
              </a:rPr>
              <a:t>peek() </a:t>
            </a:r>
            <a:br>
              <a:rPr kumimoji="0" lang="en-US" altLang="en-US" sz="2400" b="0" i="0" u="none" strike="noStrike" cap="none" normalizeH="0" baseline="0" dirty="0" smtClean="0">
                <a:ln>
                  <a:noFill/>
                </a:ln>
                <a:solidFill>
                  <a:schemeClr val="tx1"/>
                </a:solidFill>
                <a:effectLst/>
                <a:latin typeface="Menlo"/>
                <a:cs typeface="Arial" pitchFamily="34" charset="0"/>
              </a:rPr>
            </a:br>
            <a:r>
              <a:rPr kumimoji="0" lang="en-US" altLang="en-US" sz="2400" b="0" i="0" u="none" strike="noStrike" cap="none" normalizeH="0" baseline="0" dirty="0" smtClean="0">
                <a:ln>
                  <a:noFill/>
                </a:ln>
                <a:solidFill>
                  <a:schemeClr val="tx1"/>
                </a:solidFill>
                <a:effectLst/>
                <a:latin typeface="Menlo"/>
                <a:cs typeface="Arial" pitchFamily="34" charset="0"/>
              </a:rPr>
              <a:t>{ </a:t>
            </a:r>
            <a:br>
              <a:rPr kumimoji="0" lang="en-US" altLang="en-US" sz="2400" b="0" i="0" u="none" strike="noStrike" cap="none" normalizeH="0" baseline="0" dirty="0" smtClean="0">
                <a:ln>
                  <a:noFill/>
                </a:ln>
                <a:solidFill>
                  <a:schemeClr val="tx1"/>
                </a:solidFill>
                <a:effectLst/>
                <a:latin typeface="Menlo"/>
                <a:cs typeface="Arial" pitchFamily="34" charset="0"/>
              </a:rPr>
            </a:br>
            <a:r>
              <a:rPr kumimoji="0" lang="en-US" altLang="en-US" sz="2400" b="0" i="0" u="none" strike="noStrike" cap="none" normalizeH="0" baseline="0" dirty="0" smtClean="0">
                <a:ln>
                  <a:noFill/>
                </a:ln>
                <a:solidFill>
                  <a:schemeClr val="tx1"/>
                </a:solidFill>
                <a:effectLst/>
                <a:latin typeface="Menlo"/>
                <a:cs typeface="Arial" pitchFamily="34" charset="0"/>
              </a:rPr>
              <a:t>   </a:t>
            </a:r>
            <a:r>
              <a:rPr kumimoji="0" lang="en-US" altLang="en-US" sz="2400" b="0" i="0" u="none" strike="noStrike" cap="none" normalizeH="0" baseline="0" dirty="0" err="1" smtClean="0">
                <a:ln>
                  <a:noFill/>
                </a:ln>
                <a:solidFill>
                  <a:schemeClr val="tx1"/>
                </a:solidFill>
                <a:effectLst/>
                <a:latin typeface="Menlo"/>
                <a:cs typeface="Arial" pitchFamily="34" charset="0"/>
              </a:rPr>
              <a:t>this.items</a:t>
            </a:r>
            <a:r>
              <a:rPr kumimoji="0" lang="en-US" altLang="en-US" sz="2400" b="0" i="0" u="none" strike="noStrike" cap="none" normalizeH="0" baseline="0" dirty="0" smtClean="0">
                <a:ln>
                  <a:noFill/>
                </a:ln>
                <a:solidFill>
                  <a:schemeClr val="tx1"/>
                </a:solidFill>
                <a:effectLst/>
                <a:latin typeface="Menlo"/>
                <a:cs typeface="Arial" pitchFamily="34" charset="0"/>
              </a:rPr>
              <a:t>[</a:t>
            </a:r>
            <a:r>
              <a:rPr kumimoji="0" lang="en-US" altLang="en-US" sz="2400" b="0" i="0" u="none" strike="noStrike" cap="none" normalizeH="0" baseline="0" dirty="0" err="1" smtClean="0">
                <a:ln>
                  <a:noFill/>
                </a:ln>
                <a:solidFill>
                  <a:schemeClr val="tx1"/>
                </a:solidFill>
                <a:effectLst/>
                <a:latin typeface="Menlo"/>
                <a:cs typeface="Arial" pitchFamily="34" charset="0"/>
              </a:rPr>
              <a:t>this.items.length</a:t>
            </a:r>
            <a:r>
              <a:rPr kumimoji="0" lang="en-US" altLang="en-US" sz="2400" b="0" i="0" u="none" strike="noStrike" cap="none" normalizeH="0" baseline="0" dirty="0" smtClean="0">
                <a:ln>
                  <a:noFill/>
                </a:ln>
                <a:solidFill>
                  <a:schemeClr val="tx1"/>
                </a:solidFill>
                <a:effectLst/>
                <a:latin typeface="Menlo"/>
                <a:cs typeface="Arial" pitchFamily="34" charset="0"/>
              </a:rPr>
              <a:t> - 1]; </a:t>
            </a:r>
            <a:br>
              <a:rPr kumimoji="0" lang="en-US" altLang="en-US" sz="2400" b="0" i="0" u="none" strike="noStrike" cap="none" normalizeH="0" baseline="0" dirty="0" smtClean="0">
                <a:ln>
                  <a:noFill/>
                </a:ln>
                <a:solidFill>
                  <a:schemeClr val="tx1"/>
                </a:solidFill>
                <a:effectLst/>
                <a:latin typeface="Menlo"/>
                <a:cs typeface="Arial" pitchFamily="34" charset="0"/>
              </a:rPr>
            </a:br>
            <a:r>
              <a:rPr kumimoji="0" lang="en-US" altLang="en-US" sz="2400" b="0" i="0" u="none" strike="noStrike" cap="none" normalizeH="0" baseline="0" dirty="0" smtClean="0">
                <a:ln>
                  <a:noFill/>
                </a:ln>
                <a:solidFill>
                  <a:schemeClr val="tx1"/>
                </a:solidFill>
                <a:effectLst/>
                <a:latin typeface="Menlo"/>
                <a:cs typeface="Arial" pitchFamily="34" charset="0"/>
              </a:rPr>
              <a:t>} </a:t>
            </a:r>
            <a:r>
              <a:rPr kumimoji="0" lang="en-US" altLang="en-US" sz="2400" b="0" i="0" u="none" strike="noStrike" cap="none" normalizeH="0" baseline="0" dirty="0" smtClean="0">
                <a:ln>
                  <a:noFill/>
                </a:ln>
                <a:solidFill>
                  <a:schemeClr val="tx1"/>
                </a:solidFill>
                <a:effectLst/>
                <a:latin typeface="Arial" pitchFamily="34" charset="0"/>
                <a:cs typeface="Arial" pitchFamily="34" charset="0"/>
              </a:rPr>
              <a:t> </a:t>
            </a:r>
          </a:p>
        </p:txBody>
      </p:sp>
    </p:spTree>
    <p:extLst>
      <p:ext uri="{BB962C8B-B14F-4D97-AF65-F5344CB8AC3E}">
        <p14:creationId xmlns:p14="http://schemas.microsoft.com/office/powerpoint/2010/main" val="259139053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 </a:t>
            </a:r>
            <a:r>
              <a:rPr lang="en-IN" b="1" dirty="0" err="1"/>
              <a:t>isEmpty</a:t>
            </a:r>
            <a:r>
              <a:rPr lang="en-IN" b="1" dirty="0"/>
              <a:t/>
            </a:r>
            <a:br>
              <a:rPr lang="en-IN" b="1" dirty="0"/>
            </a:br>
            <a:endParaRPr lang="en-IN" dirty="0"/>
          </a:p>
        </p:txBody>
      </p:sp>
      <p:sp>
        <p:nvSpPr>
          <p:cNvPr id="3" name="Content Placeholder 2"/>
          <p:cNvSpPr>
            <a:spLocks noGrp="1"/>
          </p:cNvSpPr>
          <p:nvPr>
            <p:ph idx="1"/>
          </p:nvPr>
        </p:nvSpPr>
        <p:spPr/>
        <p:txBody>
          <a:bodyPr/>
          <a:lstStyle/>
          <a:p>
            <a:r>
              <a:rPr lang="en-US" dirty="0"/>
              <a:t>Tells whether or not the stack is empty:</a:t>
            </a:r>
            <a:endParaRPr lang="en-IN" dirty="0"/>
          </a:p>
        </p:txBody>
      </p:sp>
      <p:sp>
        <p:nvSpPr>
          <p:cNvPr id="4" name="Rectangle 1"/>
          <p:cNvSpPr>
            <a:spLocks noChangeArrowheads="1"/>
          </p:cNvSpPr>
          <p:nvPr/>
        </p:nvSpPr>
        <p:spPr bwMode="auto">
          <a:xfrm>
            <a:off x="1403648" y="2744310"/>
            <a:ext cx="4572000" cy="1797827"/>
          </a:xfrm>
          <a:prstGeom prst="rect">
            <a:avLst/>
          </a:prstGeom>
          <a:ln/>
        </p:spPr>
        <p:style>
          <a:lnRef idx="1">
            <a:schemeClr val="dk1"/>
          </a:lnRef>
          <a:fillRef idx="2">
            <a:schemeClr val="dk1"/>
          </a:fillRef>
          <a:effectRef idx="1">
            <a:schemeClr val="dk1"/>
          </a:effectRef>
          <a:fontRef idx="minor">
            <a:schemeClr val="dk1"/>
          </a:fontRef>
        </p:style>
        <p:txBody>
          <a:bodyPr vert="horz" wrap="square" lIns="0" tIns="158700" rIns="0" bIns="15870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2400" b="0" i="0" u="none" strike="noStrike" cap="none" normalizeH="0" baseline="0" dirty="0" err="1" smtClean="0">
                <a:ln>
                  <a:noFill/>
                </a:ln>
                <a:solidFill>
                  <a:schemeClr val="tx1"/>
                </a:solidFill>
                <a:effectLst/>
                <a:latin typeface="Menlo"/>
                <a:cs typeface="Arial" pitchFamily="34" charset="0"/>
              </a:rPr>
              <a:t>isEmpty</a:t>
            </a:r>
            <a:r>
              <a:rPr kumimoji="0" lang="en-US" altLang="en-US" sz="2400" b="0" i="0" u="none" strike="noStrike" cap="none" normalizeH="0" baseline="0" dirty="0" smtClean="0">
                <a:ln>
                  <a:noFill/>
                </a:ln>
                <a:solidFill>
                  <a:schemeClr val="tx1"/>
                </a:solidFill>
                <a:effectLst/>
                <a:latin typeface="Menlo"/>
                <a:cs typeface="Arial" pitchFamily="34" charset="0"/>
              </a:rPr>
              <a:t>() </a:t>
            </a:r>
            <a:br>
              <a:rPr kumimoji="0" lang="en-US" altLang="en-US" sz="2400" b="0" i="0" u="none" strike="noStrike" cap="none" normalizeH="0" baseline="0" dirty="0" smtClean="0">
                <a:ln>
                  <a:noFill/>
                </a:ln>
                <a:solidFill>
                  <a:schemeClr val="tx1"/>
                </a:solidFill>
                <a:effectLst/>
                <a:latin typeface="Menlo"/>
                <a:cs typeface="Arial" pitchFamily="34" charset="0"/>
              </a:rPr>
            </a:br>
            <a:r>
              <a:rPr kumimoji="0" lang="en-US" altLang="en-US" sz="2400" b="0" i="0" u="none" strike="noStrike" cap="none" normalizeH="0" baseline="0" dirty="0" smtClean="0">
                <a:ln>
                  <a:noFill/>
                </a:ln>
                <a:solidFill>
                  <a:schemeClr val="tx1"/>
                </a:solidFill>
                <a:effectLst/>
                <a:latin typeface="Menlo"/>
                <a:cs typeface="Arial" pitchFamily="34" charset="0"/>
              </a:rPr>
              <a:t>{    </a:t>
            </a:r>
            <a:br>
              <a:rPr kumimoji="0" lang="en-US" altLang="en-US" sz="2400" b="0" i="0" u="none" strike="noStrike" cap="none" normalizeH="0" baseline="0" dirty="0" smtClean="0">
                <a:ln>
                  <a:noFill/>
                </a:ln>
                <a:solidFill>
                  <a:schemeClr val="tx1"/>
                </a:solidFill>
                <a:effectLst/>
                <a:latin typeface="Menlo"/>
                <a:cs typeface="Arial" pitchFamily="34" charset="0"/>
              </a:rPr>
            </a:br>
            <a:r>
              <a:rPr kumimoji="0" lang="en-US" altLang="en-US" sz="2400" b="0" i="0" u="none" strike="noStrike" cap="none" normalizeH="0" baseline="0" dirty="0" smtClean="0">
                <a:ln>
                  <a:noFill/>
                </a:ln>
                <a:solidFill>
                  <a:schemeClr val="tx1"/>
                </a:solidFill>
                <a:effectLst/>
                <a:latin typeface="Menlo"/>
                <a:cs typeface="Arial" pitchFamily="34" charset="0"/>
              </a:rPr>
              <a:t>    return </a:t>
            </a:r>
            <a:r>
              <a:rPr kumimoji="0" lang="en-US" altLang="en-US" sz="2400" b="0" i="0" u="none" strike="noStrike" cap="none" normalizeH="0" baseline="0" dirty="0" err="1" smtClean="0">
                <a:ln>
                  <a:noFill/>
                </a:ln>
                <a:solidFill>
                  <a:schemeClr val="tx1"/>
                </a:solidFill>
                <a:effectLst/>
                <a:latin typeface="Menlo"/>
                <a:cs typeface="Arial" pitchFamily="34" charset="0"/>
              </a:rPr>
              <a:t>this.items.length</a:t>
            </a:r>
            <a:r>
              <a:rPr kumimoji="0" lang="en-US" altLang="en-US" sz="2400" b="0" i="0" u="none" strike="noStrike" cap="none" normalizeH="0" baseline="0" dirty="0" smtClean="0">
                <a:ln>
                  <a:noFill/>
                </a:ln>
                <a:solidFill>
                  <a:schemeClr val="tx1"/>
                </a:solidFill>
                <a:effectLst/>
                <a:latin typeface="Menlo"/>
                <a:cs typeface="Arial" pitchFamily="34" charset="0"/>
              </a:rPr>
              <a:t> == 0; </a:t>
            </a:r>
            <a:br>
              <a:rPr kumimoji="0" lang="en-US" altLang="en-US" sz="2400" b="0" i="0" u="none" strike="noStrike" cap="none" normalizeH="0" baseline="0" dirty="0" smtClean="0">
                <a:ln>
                  <a:noFill/>
                </a:ln>
                <a:solidFill>
                  <a:schemeClr val="tx1"/>
                </a:solidFill>
                <a:effectLst/>
                <a:latin typeface="Menlo"/>
                <a:cs typeface="Arial" pitchFamily="34" charset="0"/>
              </a:rPr>
            </a:br>
            <a:r>
              <a:rPr kumimoji="0" lang="en-US" altLang="en-US" sz="2400" b="0" i="0" u="none" strike="noStrike" cap="none" normalizeH="0" baseline="0" dirty="0" smtClean="0">
                <a:ln>
                  <a:noFill/>
                </a:ln>
                <a:solidFill>
                  <a:schemeClr val="tx1"/>
                </a:solidFill>
                <a:effectLst/>
                <a:latin typeface="Menlo"/>
                <a:cs typeface="Arial" pitchFamily="34" charset="0"/>
              </a:rPr>
              <a:t>} </a:t>
            </a:r>
            <a:r>
              <a:rPr kumimoji="0" lang="en-US" altLang="en-US" sz="2400" b="0" i="0" u="none" strike="noStrike" cap="none" normalizeH="0" baseline="0" dirty="0" smtClean="0">
                <a:ln>
                  <a:noFill/>
                </a:ln>
                <a:solidFill>
                  <a:schemeClr val="tx1"/>
                </a:solidFill>
                <a:effectLst/>
                <a:latin typeface="Arial" pitchFamily="34" charset="0"/>
                <a:cs typeface="Arial" pitchFamily="34" charset="0"/>
              </a:rPr>
              <a:t> </a:t>
            </a:r>
          </a:p>
        </p:txBody>
      </p:sp>
    </p:spTree>
    <p:extLst>
      <p:ext uri="{BB962C8B-B14F-4D97-AF65-F5344CB8AC3E}">
        <p14:creationId xmlns:p14="http://schemas.microsoft.com/office/powerpoint/2010/main" val="108260570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QUEUE</a:t>
            </a:r>
            <a:endParaRPr lang="en-IN" b="1" dirty="0"/>
          </a:p>
        </p:txBody>
      </p:sp>
      <p:sp>
        <p:nvSpPr>
          <p:cNvPr id="3" name="Content Placeholder 2"/>
          <p:cNvSpPr>
            <a:spLocks noGrp="1"/>
          </p:cNvSpPr>
          <p:nvPr>
            <p:ph idx="1"/>
          </p:nvPr>
        </p:nvSpPr>
        <p:spPr>
          <a:xfrm>
            <a:off x="459116" y="1052736"/>
            <a:ext cx="8229600" cy="4525963"/>
          </a:xfrm>
        </p:spPr>
        <p:txBody>
          <a:bodyPr>
            <a:normAutofit/>
          </a:bodyPr>
          <a:lstStyle/>
          <a:p>
            <a:r>
              <a:rPr lang="en-IN" b="1" dirty="0"/>
              <a:t>What is Queue?</a:t>
            </a:r>
          </a:p>
          <a:p>
            <a:r>
              <a:rPr lang="en-US" i="1" dirty="0"/>
              <a:t>A queue is defined as a linear data structure that is open at both ends and the operations are performed in First In First Out (FIFO) order</a:t>
            </a:r>
            <a:r>
              <a:rPr lang="en-US" i="1" dirty="0" smtClean="0"/>
              <a:t>.</a:t>
            </a:r>
          </a:p>
          <a:p>
            <a:r>
              <a:rPr lang="en-US" i="1" dirty="0"/>
              <a:t>a queue to be a list in which all additions to the list are made at one end, and all deletions from the list are made at the other end.  </a:t>
            </a:r>
            <a:r>
              <a:rPr lang="en-US" i="1" dirty="0" smtClean="0"/>
              <a:t>.</a:t>
            </a:r>
            <a:endParaRPr lang="en-IN"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3" y="5157192"/>
            <a:ext cx="8509204" cy="1700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722916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Queue</a:t>
            </a:r>
            <a:endParaRPr lang="en-IN" dirty="0"/>
          </a:p>
        </p:txBody>
      </p:sp>
      <p:sp>
        <p:nvSpPr>
          <p:cNvPr id="3" name="Content Placeholder 2"/>
          <p:cNvSpPr>
            <a:spLocks noGrp="1"/>
          </p:cNvSpPr>
          <p:nvPr>
            <p:ph idx="1"/>
          </p:nvPr>
        </p:nvSpPr>
        <p:spPr>
          <a:xfrm>
            <a:off x="514467" y="1107527"/>
            <a:ext cx="8229600" cy="4525963"/>
          </a:xfrm>
        </p:spPr>
        <p:txBody>
          <a:bodyPr/>
          <a:lstStyle/>
          <a:p>
            <a:r>
              <a:rPr lang="en-US" dirty="0"/>
              <a:t>A queue is a useful data structure in programming. It is similar to the ticket queue outside a cinema hall, where the first person entering the </a:t>
            </a:r>
            <a:r>
              <a:rPr lang="en-US" dirty="0" smtClean="0"/>
              <a:t>queue </a:t>
            </a:r>
            <a:r>
              <a:rPr lang="en-US" dirty="0"/>
              <a:t>is the first person who gets the ticket</a:t>
            </a:r>
            <a:r>
              <a:rPr lang="en-US" dirty="0" smtClean="0"/>
              <a:t>.</a:t>
            </a:r>
          </a:p>
          <a:p>
            <a:r>
              <a:rPr lang="en-US" dirty="0"/>
              <a:t>Queue follows the </a:t>
            </a:r>
            <a:r>
              <a:rPr lang="en-US" b="1" dirty="0"/>
              <a:t>First In First Out (FIFO)</a:t>
            </a:r>
            <a:r>
              <a:rPr lang="en-US" dirty="0"/>
              <a:t> rule - the item that goes in first is the item that comes out first.</a:t>
            </a:r>
            <a:endParaRPr lang="en-IN" dirty="0"/>
          </a:p>
        </p:txBody>
      </p:sp>
      <p:pic>
        <p:nvPicPr>
          <p:cNvPr id="2050" name="Picture 2" descr="Representation of Queue in first in first out principl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552" y="3853647"/>
            <a:ext cx="8496944" cy="1519569"/>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539552" y="5265566"/>
            <a:ext cx="7992888" cy="830997"/>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r>
              <a:rPr lang="en-US" sz="2400" dirty="0"/>
              <a:t>1 was kept in the queue before 2, it is the first to be removed from the queue as well. It follows the </a:t>
            </a:r>
            <a:r>
              <a:rPr lang="en-US" sz="2400" b="1" dirty="0"/>
              <a:t>FIFO</a:t>
            </a:r>
            <a:r>
              <a:rPr lang="en-US" sz="2400" dirty="0"/>
              <a:t> rule.</a:t>
            </a:r>
            <a:endParaRPr lang="en-IN" sz="2400" dirty="0"/>
          </a:p>
        </p:txBody>
      </p:sp>
      <p:sp>
        <p:nvSpPr>
          <p:cNvPr id="5" name="Rectangle 4"/>
          <p:cNvSpPr/>
          <p:nvPr/>
        </p:nvSpPr>
        <p:spPr>
          <a:xfrm>
            <a:off x="539552" y="6027003"/>
            <a:ext cx="7992888" cy="830997"/>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r>
              <a:rPr lang="en-US" sz="2400" dirty="0"/>
              <a:t>P</a:t>
            </a:r>
            <a:r>
              <a:rPr lang="en-US" sz="2400" dirty="0" smtClean="0"/>
              <a:t>utting </a:t>
            </a:r>
            <a:r>
              <a:rPr lang="en-US" sz="2400" dirty="0"/>
              <a:t>items in the queue is called </a:t>
            </a:r>
            <a:r>
              <a:rPr lang="en-US" sz="2400" b="1" dirty="0" err="1"/>
              <a:t>enqueue</a:t>
            </a:r>
            <a:r>
              <a:rPr lang="en-US" sz="2400" dirty="0"/>
              <a:t>, and removing items from the queue is called </a:t>
            </a:r>
            <a:r>
              <a:rPr lang="en-US" sz="2400" b="1" dirty="0" err="1"/>
              <a:t>dequeue</a:t>
            </a:r>
            <a:r>
              <a:rPr lang="en-US" sz="2400" dirty="0"/>
              <a:t>.</a:t>
            </a:r>
            <a:endParaRPr lang="en-IN" sz="2400" dirty="0"/>
          </a:p>
        </p:txBody>
      </p:sp>
    </p:spTree>
    <p:extLst>
      <p:ext uri="{BB962C8B-B14F-4D97-AF65-F5344CB8AC3E}">
        <p14:creationId xmlns:p14="http://schemas.microsoft.com/office/powerpoint/2010/main" val="64506429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Basic Operations of Queue</a:t>
            </a:r>
            <a:br>
              <a:rPr lang="en-IN" b="1" dirty="0" smtClean="0"/>
            </a:br>
            <a:endParaRPr lang="en-IN" dirty="0"/>
          </a:p>
        </p:txBody>
      </p:sp>
      <p:sp>
        <p:nvSpPr>
          <p:cNvPr id="3" name="Content Placeholder 2"/>
          <p:cNvSpPr>
            <a:spLocks noGrp="1"/>
          </p:cNvSpPr>
          <p:nvPr>
            <p:ph idx="1"/>
          </p:nvPr>
        </p:nvSpPr>
        <p:spPr/>
        <p:txBody>
          <a:bodyPr>
            <a:normAutofit fontScale="92500"/>
          </a:bodyPr>
          <a:lstStyle/>
          <a:p>
            <a:r>
              <a:rPr lang="en-US" dirty="0"/>
              <a:t>A queue is an object (an abstract data structure - ADT) that allows the following operations:</a:t>
            </a:r>
          </a:p>
          <a:p>
            <a:r>
              <a:rPr lang="en-US" b="1" dirty="0" err="1"/>
              <a:t>Enqueue</a:t>
            </a:r>
            <a:r>
              <a:rPr lang="en-US" dirty="0"/>
              <a:t>: Add an element to the end of the queue</a:t>
            </a:r>
          </a:p>
          <a:p>
            <a:r>
              <a:rPr lang="en-US" b="1" dirty="0" err="1"/>
              <a:t>Dequeue</a:t>
            </a:r>
            <a:r>
              <a:rPr lang="en-US" dirty="0"/>
              <a:t>: Remove an element from the front of the queue</a:t>
            </a:r>
          </a:p>
          <a:p>
            <a:r>
              <a:rPr lang="en-US" b="1" dirty="0" err="1"/>
              <a:t>IsEmpty</a:t>
            </a:r>
            <a:r>
              <a:rPr lang="en-US" dirty="0"/>
              <a:t>: Check if the queue is empty</a:t>
            </a:r>
          </a:p>
          <a:p>
            <a:r>
              <a:rPr lang="en-US" b="1" dirty="0" err="1"/>
              <a:t>IsFull</a:t>
            </a:r>
            <a:r>
              <a:rPr lang="en-US" dirty="0"/>
              <a:t>: Check if the queue is full</a:t>
            </a:r>
          </a:p>
          <a:p>
            <a:r>
              <a:rPr lang="en-US" b="1" dirty="0"/>
              <a:t>Peek</a:t>
            </a:r>
            <a:r>
              <a:rPr lang="en-US" dirty="0"/>
              <a:t>: Get the value of the front of the queue without removing it</a:t>
            </a:r>
          </a:p>
          <a:p>
            <a:endParaRPr lang="en-IN" dirty="0"/>
          </a:p>
        </p:txBody>
      </p:sp>
    </p:spTree>
    <p:extLst>
      <p:ext uri="{BB962C8B-B14F-4D97-AF65-F5344CB8AC3E}">
        <p14:creationId xmlns:p14="http://schemas.microsoft.com/office/powerpoint/2010/main" val="71099513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Working of Queue</a:t>
            </a:r>
            <a:br>
              <a:rPr lang="en-IN" b="1" dirty="0"/>
            </a:br>
            <a:endParaRPr lang="en-IN" dirty="0"/>
          </a:p>
        </p:txBody>
      </p:sp>
      <p:sp>
        <p:nvSpPr>
          <p:cNvPr id="3" name="Content Placeholder 2"/>
          <p:cNvSpPr>
            <a:spLocks noGrp="1"/>
          </p:cNvSpPr>
          <p:nvPr>
            <p:ph idx="1"/>
          </p:nvPr>
        </p:nvSpPr>
        <p:spPr/>
        <p:txBody>
          <a:bodyPr/>
          <a:lstStyle/>
          <a:p>
            <a:r>
              <a:rPr lang="en-US" dirty="0"/>
              <a:t>Queue operations work as follows:</a:t>
            </a:r>
          </a:p>
          <a:p>
            <a:r>
              <a:rPr lang="en-US" dirty="0"/>
              <a:t>two pointers FRONT and REAR</a:t>
            </a:r>
          </a:p>
          <a:p>
            <a:r>
              <a:rPr lang="en-US" dirty="0"/>
              <a:t>FRONT track the first element of the queue</a:t>
            </a:r>
          </a:p>
          <a:p>
            <a:r>
              <a:rPr lang="en-US" dirty="0"/>
              <a:t>REAR track the last element of the queue</a:t>
            </a:r>
          </a:p>
          <a:p>
            <a:r>
              <a:rPr lang="en-US" dirty="0"/>
              <a:t>initially, set value of FRONT and REAR to -1</a:t>
            </a:r>
          </a:p>
          <a:p>
            <a:endParaRPr lang="en-IN" dirty="0"/>
          </a:p>
        </p:txBody>
      </p:sp>
    </p:spTree>
    <p:extLst>
      <p:ext uri="{BB962C8B-B14F-4D97-AF65-F5344CB8AC3E}">
        <p14:creationId xmlns:p14="http://schemas.microsoft.com/office/powerpoint/2010/main" val="219071664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peek()</a:t>
            </a:r>
            <a:br>
              <a:rPr lang="en-IN" dirty="0"/>
            </a:br>
            <a:endParaRPr lang="en-IN" dirty="0"/>
          </a:p>
        </p:txBody>
      </p:sp>
      <p:sp>
        <p:nvSpPr>
          <p:cNvPr id="3" name="Content Placeholder 2"/>
          <p:cNvSpPr>
            <a:spLocks noGrp="1"/>
          </p:cNvSpPr>
          <p:nvPr>
            <p:ph idx="1"/>
          </p:nvPr>
        </p:nvSpPr>
        <p:spPr/>
        <p:txBody>
          <a:bodyPr/>
          <a:lstStyle/>
          <a:p>
            <a:r>
              <a:rPr lang="en-US" dirty="0"/>
              <a:t>This function helps to see the data at the </a:t>
            </a:r>
            <a:r>
              <a:rPr lang="en-US" b="1" dirty="0"/>
              <a:t>front</a:t>
            </a:r>
            <a:r>
              <a:rPr lang="en-US" dirty="0"/>
              <a:t> of the queue. The algorithm of peek() function is as follows −</a:t>
            </a:r>
          </a:p>
          <a:p>
            <a:r>
              <a:rPr lang="en-US" b="1" dirty="0" smtClean="0"/>
              <a:t>Algorithm</a:t>
            </a:r>
          </a:p>
          <a:p>
            <a:r>
              <a:rPr lang="en-US" dirty="0"/>
              <a:t>begin </a:t>
            </a:r>
            <a:r>
              <a:rPr lang="en-US" dirty="0" smtClean="0"/>
              <a:t>procedure </a:t>
            </a:r>
            <a:r>
              <a:rPr lang="en-US" dirty="0"/>
              <a:t>peek </a:t>
            </a:r>
            <a:endParaRPr lang="en-US" dirty="0" smtClean="0"/>
          </a:p>
          <a:p>
            <a:pPr lvl="1"/>
            <a:r>
              <a:rPr lang="en-US" dirty="0" smtClean="0"/>
              <a:t>return </a:t>
            </a:r>
            <a:r>
              <a:rPr lang="en-US" dirty="0"/>
              <a:t>queue[front</a:t>
            </a:r>
            <a:r>
              <a:rPr lang="en-US" dirty="0" smtClean="0"/>
              <a:t>]</a:t>
            </a:r>
          </a:p>
          <a:p>
            <a:r>
              <a:rPr lang="en-US" dirty="0" smtClean="0"/>
              <a:t> </a:t>
            </a:r>
            <a:r>
              <a:rPr lang="en-US" dirty="0"/>
              <a:t>end procedure</a:t>
            </a:r>
          </a:p>
        </p:txBody>
      </p:sp>
      <p:sp>
        <p:nvSpPr>
          <p:cNvPr id="4" name="Rectangle 3"/>
          <p:cNvSpPr/>
          <p:nvPr/>
        </p:nvSpPr>
        <p:spPr>
          <a:xfrm>
            <a:off x="4173218" y="3717032"/>
            <a:ext cx="4572000" cy="3046988"/>
          </a:xfrm>
          <a:prstGeom prst="rect">
            <a:avLst/>
          </a:prstGeom>
        </p:spPr>
        <p:style>
          <a:lnRef idx="1">
            <a:schemeClr val="accent2"/>
          </a:lnRef>
          <a:fillRef idx="2">
            <a:schemeClr val="accent2"/>
          </a:fillRef>
          <a:effectRef idx="1">
            <a:schemeClr val="accent2"/>
          </a:effectRef>
          <a:fontRef idx="minor">
            <a:schemeClr val="dk1"/>
          </a:fontRef>
        </p:style>
        <p:txBody>
          <a:bodyPr>
            <a:spAutoFit/>
          </a:bodyPr>
          <a:lstStyle/>
          <a:p>
            <a:r>
              <a:rPr lang="en-US" sz="2400" dirty="0"/>
              <a:t>Implementation of peek() function in C programming language −</a:t>
            </a:r>
          </a:p>
          <a:p>
            <a:endParaRPr lang="en-US" sz="2400" dirty="0"/>
          </a:p>
          <a:p>
            <a:r>
              <a:rPr lang="en-US" sz="2400" dirty="0"/>
              <a:t>Example</a:t>
            </a:r>
          </a:p>
          <a:p>
            <a:endParaRPr lang="en-US" sz="2400" dirty="0"/>
          </a:p>
          <a:p>
            <a:r>
              <a:rPr lang="en-US" sz="2400" dirty="0" err="1"/>
              <a:t>int</a:t>
            </a:r>
            <a:r>
              <a:rPr lang="en-US" sz="2400" dirty="0"/>
              <a:t> peek() {</a:t>
            </a:r>
          </a:p>
          <a:p>
            <a:r>
              <a:rPr lang="en-US" sz="2400" dirty="0"/>
              <a:t>   return queue[front];</a:t>
            </a:r>
          </a:p>
          <a:p>
            <a:r>
              <a:rPr lang="en-US" sz="2400" dirty="0"/>
              <a:t>}</a:t>
            </a:r>
            <a:endParaRPr lang="en-IN" sz="2400" dirty="0"/>
          </a:p>
        </p:txBody>
      </p:sp>
    </p:spTree>
    <p:extLst>
      <p:ext uri="{BB962C8B-B14F-4D97-AF65-F5344CB8AC3E}">
        <p14:creationId xmlns:p14="http://schemas.microsoft.com/office/powerpoint/2010/main" val="3244273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a:t>isfull</a:t>
            </a:r>
            <a:r>
              <a:rPr lang="en-IN" dirty="0"/>
              <a:t>()</a:t>
            </a:r>
            <a:br>
              <a:rPr lang="en-IN" dirty="0"/>
            </a:br>
            <a:endParaRPr lang="en-IN" dirty="0"/>
          </a:p>
        </p:txBody>
      </p:sp>
      <p:sp>
        <p:nvSpPr>
          <p:cNvPr id="3" name="Content Placeholder 2"/>
          <p:cNvSpPr>
            <a:spLocks noGrp="1"/>
          </p:cNvSpPr>
          <p:nvPr>
            <p:ph idx="1"/>
          </p:nvPr>
        </p:nvSpPr>
        <p:spPr/>
        <p:txBody>
          <a:bodyPr/>
          <a:lstStyle/>
          <a:p>
            <a:r>
              <a:rPr lang="en-US" dirty="0" smtClean="0"/>
              <a:t>Single </a:t>
            </a:r>
            <a:r>
              <a:rPr lang="en-US" dirty="0"/>
              <a:t>dimension array to implement queue, we just check for the rear pointer to reach at MAXSIZE to determine that the queue is full. </a:t>
            </a:r>
            <a:endParaRPr lang="en-IN" dirty="0"/>
          </a:p>
        </p:txBody>
      </p:sp>
      <p:sp>
        <p:nvSpPr>
          <p:cNvPr id="4" name="Rectangle 3"/>
          <p:cNvSpPr/>
          <p:nvPr/>
        </p:nvSpPr>
        <p:spPr>
          <a:xfrm>
            <a:off x="10705" y="3270218"/>
            <a:ext cx="4572000" cy="3139321"/>
          </a:xfrm>
          <a:prstGeom prst="rect">
            <a:avLst/>
          </a:prstGeom>
        </p:spPr>
        <p:style>
          <a:lnRef idx="1">
            <a:schemeClr val="accent2"/>
          </a:lnRef>
          <a:fillRef idx="2">
            <a:schemeClr val="accent2"/>
          </a:fillRef>
          <a:effectRef idx="1">
            <a:schemeClr val="accent2"/>
          </a:effectRef>
          <a:fontRef idx="minor">
            <a:schemeClr val="dk1"/>
          </a:fontRef>
        </p:style>
        <p:txBody>
          <a:bodyPr>
            <a:spAutoFit/>
          </a:bodyPr>
          <a:lstStyle/>
          <a:p>
            <a:r>
              <a:rPr lang="en-US" dirty="0"/>
              <a:t>Algorithm</a:t>
            </a:r>
          </a:p>
          <a:p>
            <a:endParaRPr lang="en-US" dirty="0"/>
          </a:p>
          <a:p>
            <a:r>
              <a:rPr lang="en-US" dirty="0"/>
              <a:t>begin procedure </a:t>
            </a:r>
            <a:r>
              <a:rPr lang="en-US" dirty="0" err="1"/>
              <a:t>isfull</a:t>
            </a:r>
            <a:endParaRPr lang="en-US" dirty="0"/>
          </a:p>
          <a:p>
            <a:endParaRPr lang="en-US" dirty="0"/>
          </a:p>
          <a:p>
            <a:r>
              <a:rPr lang="en-US" dirty="0"/>
              <a:t>   if rear equals to MAXSIZE</a:t>
            </a:r>
          </a:p>
          <a:p>
            <a:r>
              <a:rPr lang="en-US" dirty="0"/>
              <a:t>      return true</a:t>
            </a:r>
          </a:p>
          <a:p>
            <a:r>
              <a:rPr lang="en-US" dirty="0"/>
              <a:t>   else</a:t>
            </a:r>
          </a:p>
          <a:p>
            <a:r>
              <a:rPr lang="en-US" dirty="0"/>
              <a:t>      return false</a:t>
            </a:r>
          </a:p>
          <a:p>
            <a:r>
              <a:rPr lang="en-US" dirty="0"/>
              <a:t>   </a:t>
            </a:r>
            <a:r>
              <a:rPr lang="en-US" dirty="0" err="1"/>
              <a:t>endif</a:t>
            </a:r>
            <a:endParaRPr lang="en-US" dirty="0"/>
          </a:p>
          <a:p>
            <a:r>
              <a:rPr lang="en-US" dirty="0"/>
              <a:t>   </a:t>
            </a:r>
          </a:p>
          <a:p>
            <a:r>
              <a:rPr lang="en-US" dirty="0"/>
              <a:t>end procedure</a:t>
            </a:r>
            <a:endParaRPr lang="en-IN" dirty="0"/>
          </a:p>
        </p:txBody>
      </p:sp>
      <p:sp>
        <p:nvSpPr>
          <p:cNvPr id="5" name="Rectangle 4"/>
          <p:cNvSpPr/>
          <p:nvPr/>
        </p:nvSpPr>
        <p:spPr>
          <a:xfrm>
            <a:off x="4669789" y="3270217"/>
            <a:ext cx="4368102" cy="3139321"/>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r>
              <a:rPr lang="en-US" dirty="0"/>
              <a:t>Implementation of </a:t>
            </a:r>
            <a:r>
              <a:rPr lang="en-US" dirty="0" err="1"/>
              <a:t>isfull</a:t>
            </a:r>
            <a:r>
              <a:rPr lang="en-US" dirty="0"/>
              <a:t>() function in C programming language −</a:t>
            </a:r>
          </a:p>
          <a:p>
            <a:endParaRPr lang="en-US" dirty="0"/>
          </a:p>
          <a:p>
            <a:r>
              <a:rPr lang="en-US" dirty="0"/>
              <a:t>Example</a:t>
            </a:r>
          </a:p>
          <a:p>
            <a:endParaRPr lang="en-US" dirty="0"/>
          </a:p>
          <a:p>
            <a:r>
              <a:rPr lang="en-US" dirty="0"/>
              <a:t>bool </a:t>
            </a:r>
            <a:r>
              <a:rPr lang="en-US" dirty="0" err="1"/>
              <a:t>isfull</a:t>
            </a:r>
            <a:r>
              <a:rPr lang="en-US" dirty="0"/>
              <a:t>() {</a:t>
            </a:r>
          </a:p>
          <a:p>
            <a:r>
              <a:rPr lang="en-US" dirty="0"/>
              <a:t>   if(rear == MAXSIZE - 1)</a:t>
            </a:r>
          </a:p>
          <a:p>
            <a:r>
              <a:rPr lang="en-US" dirty="0"/>
              <a:t>      return true;</a:t>
            </a:r>
          </a:p>
          <a:p>
            <a:r>
              <a:rPr lang="en-US" dirty="0"/>
              <a:t>   else</a:t>
            </a:r>
          </a:p>
          <a:p>
            <a:r>
              <a:rPr lang="en-US" dirty="0"/>
              <a:t>      return false;</a:t>
            </a:r>
          </a:p>
          <a:p>
            <a:r>
              <a:rPr lang="en-US" dirty="0"/>
              <a:t>}</a:t>
            </a:r>
            <a:endParaRPr lang="en-IN" dirty="0"/>
          </a:p>
        </p:txBody>
      </p:sp>
    </p:spTree>
    <p:extLst>
      <p:ext uri="{BB962C8B-B14F-4D97-AF65-F5344CB8AC3E}">
        <p14:creationId xmlns:p14="http://schemas.microsoft.com/office/powerpoint/2010/main" val="97038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a:t>isempty</a:t>
            </a:r>
            <a:r>
              <a:rPr lang="en-IN" dirty="0"/>
              <a:t>()</a:t>
            </a:r>
            <a:br>
              <a:rPr lang="en-IN" dirty="0"/>
            </a:br>
            <a:endParaRPr lang="en-IN" dirty="0"/>
          </a:p>
        </p:txBody>
      </p:sp>
      <p:sp>
        <p:nvSpPr>
          <p:cNvPr id="3" name="Content Placeholder 2"/>
          <p:cNvSpPr>
            <a:spLocks noGrp="1"/>
          </p:cNvSpPr>
          <p:nvPr>
            <p:ph idx="1"/>
          </p:nvPr>
        </p:nvSpPr>
        <p:spPr/>
        <p:txBody>
          <a:bodyPr/>
          <a:lstStyle/>
          <a:p>
            <a:r>
              <a:rPr lang="en-US" dirty="0"/>
              <a:t>Algorithm of </a:t>
            </a:r>
            <a:r>
              <a:rPr lang="en-US" dirty="0" err="1"/>
              <a:t>isempty</a:t>
            </a:r>
            <a:r>
              <a:rPr lang="en-US" dirty="0"/>
              <a:t>() function −</a:t>
            </a:r>
          </a:p>
          <a:p>
            <a:r>
              <a:rPr lang="en-US" b="1" dirty="0" smtClean="0"/>
              <a:t>Algorithm</a:t>
            </a:r>
            <a:endParaRPr lang="en-US" dirty="0"/>
          </a:p>
        </p:txBody>
      </p:sp>
      <p:sp>
        <p:nvSpPr>
          <p:cNvPr id="4" name="Rectangle 3"/>
          <p:cNvSpPr/>
          <p:nvPr/>
        </p:nvSpPr>
        <p:spPr>
          <a:xfrm>
            <a:off x="179512" y="3284984"/>
            <a:ext cx="4572000" cy="2862322"/>
          </a:xfrm>
          <a:prstGeom prst="rect">
            <a:avLst/>
          </a:prstGeom>
        </p:spPr>
        <p:style>
          <a:lnRef idx="1">
            <a:schemeClr val="accent2"/>
          </a:lnRef>
          <a:fillRef idx="2">
            <a:schemeClr val="accent2"/>
          </a:fillRef>
          <a:effectRef idx="1">
            <a:schemeClr val="accent2"/>
          </a:effectRef>
          <a:fontRef idx="minor">
            <a:schemeClr val="dk1"/>
          </a:fontRef>
        </p:style>
        <p:txBody>
          <a:bodyPr>
            <a:spAutoFit/>
          </a:bodyPr>
          <a:lstStyle/>
          <a:p>
            <a:r>
              <a:rPr lang="en-US" dirty="0"/>
              <a:t>begin procedure </a:t>
            </a:r>
            <a:r>
              <a:rPr lang="en-US" dirty="0" err="1"/>
              <a:t>isempty</a:t>
            </a:r>
            <a:endParaRPr lang="en-US" dirty="0"/>
          </a:p>
          <a:p>
            <a:endParaRPr lang="en-US" dirty="0"/>
          </a:p>
          <a:p>
            <a:r>
              <a:rPr lang="en-US" dirty="0"/>
              <a:t>   if front is less than MIN  OR front is greater than rear</a:t>
            </a:r>
          </a:p>
          <a:p>
            <a:r>
              <a:rPr lang="en-US" dirty="0"/>
              <a:t>      return true</a:t>
            </a:r>
          </a:p>
          <a:p>
            <a:r>
              <a:rPr lang="en-US" dirty="0"/>
              <a:t>   else</a:t>
            </a:r>
          </a:p>
          <a:p>
            <a:r>
              <a:rPr lang="en-US" dirty="0"/>
              <a:t>      return false</a:t>
            </a:r>
          </a:p>
          <a:p>
            <a:r>
              <a:rPr lang="en-US" dirty="0"/>
              <a:t>   </a:t>
            </a:r>
            <a:r>
              <a:rPr lang="en-US" dirty="0" err="1"/>
              <a:t>endif</a:t>
            </a:r>
            <a:endParaRPr lang="en-US" dirty="0"/>
          </a:p>
          <a:p>
            <a:r>
              <a:rPr lang="en-US" dirty="0"/>
              <a:t>   </a:t>
            </a:r>
          </a:p>
          <a:p>
            <a:r>
              <a:rPr lang="en-US" dirty="0"/>
              <a:t>end procedure</a:t>
            </a:r>
            <a:endParaRPr lang="en-IN" dirty="0"/>
          </a:p>
        </p:txBody>
      </p:sp>
      <p:sp>
        <p:nvSpPr>
          <p:cNvPr id="6" name="Rectangle 5"/>
          <p:cNvSpPr/>
          <p:nvPr/>
        </p:nvSpPr>
        <p:spPr>
          <a:xfrm>
            <a:off x="4860032" y="3319895"/>
            <a:ext cx="4176464" cy="1754326"/>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r>
              <a:rPr lang="en-US" dirty="0"/>
              <a:t>bool </a:t>
            </a:r>
            <a:r>
              <a:rPr lang="en-US" dirty="0" err="1"/>
              <a:t>isempty</a:t>
            </a:r>
            <a:r>
              <a:rPr lang="en-US" dirty="0"/>
              <a:t>() {</a:t>
            </a:r>
          </a:p>
          <a:p>
            <a:r>
              <a:rPr lang="en-US" dirty="0"/>
              <a:t>   if(front &lt; 0 || front &gt; rear) </a:t>
            </a:r>
          </a:p>
          <a:p>
            <a:r>
              <a:rPr lang="en-US" dirty="0"/>
              <a:t>      return true;</a:t>
            </a:r>
          </a:p>
          <a:p>
            <a:r>
              <a:rPr lang="en-US" dirty="0"/>
              <a:t>   else</a:t>
            </a:r>
          </a:p>
          <a:p>
            <a:r>
              <a:rPr lang="en-US" dirty="0"/>
              <a:t>      return false;</a:t>
            </a:r>
          </a:p>
          <a:p>
            <a:r>
              <a:rPr lang="en-US" dirty="0"/>
              <a:t>}</a:t>
            </a:r>
            <a:endParaRPr lang="en-IN" dirty="0"/>
          </a:p>
        </p:txBody>
      </p:sp>
    </p:spTree>
    <p:extLst>
      <p:ext uri="{BB962C8B-B14F-4D97-AF65-F5344CB8AC3E}">
        <p14:creationId xmlns:p14="http://schemas.microsoft.com/office/powerpoint/2010/main" val="3349507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err="1"/>
              <a:t>Enqueue</a:t>
            </a:r>
            <a:r>
              <a:rPr lang="en-IN" b="1" dirty="0"/>
              <a:t> Operation</a:t>
            </a:r>
            <a:br>
              <a:rPr lang="en-IN" b="1" dirty="0"/>
            </a:br>
            <a:endParaRPr lang="en-IN" dirty="0"/>
          </a:p>
        </p:txBody>
      </p:sp>
      <p:sp>
        <p:nvSpPr>
          <p:cNvPr id="3" name="Content Placeholder 2"/>
          <p:cNvSpPr>
            <a:spLocks noGrp="1"/>
          </p:cNvSpPr>
          <p:nvPr>
            <p:ph idx="1"/>
          </p:nvPr>
        </p:nvSpPr>
        <p:spPr>
          <a:xfrm>
            <a:off x="467544" y="1310034"/>
            <a:ext cx="8229600" cy="4525963"/>
          </a:xfrm>
        </p:spPr>
        <p:txBody>
          <a:bodyPr/>
          <a:lstStyle/>
          <a:p>
            <a:r>
              <a:rPr lang="en-US" dirty="0"/>
              <a:t>check if the queue is full</a:t>
            </a:r>
          </a:p>
          <a:p>
            <a:r>
              <a:rPr lang="en-US" dirty="0"/>
              <a:t>for the first element, set the value of FRONT to 0</a:t>
            </a:r>
          </a:p>
          <a:p>
            <a:r>
              <a:rPr lang="en-US" dirty="0"/>
              <a:t>increase the REAR index by 1</a:t>
            </a:r>
          </a:p>
          <a:p>
            <a:r>
              <a:rPr lang="en-US" dirty="0"/>
              <a:t>add the new element in the position pointed to by REAR</a:t>
            </a:r>
          </a:p>
          <a:p>
            <a:endParaRPr lang="en-IN"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5696" y="3740674"/>
            <a:ext cx="5238750" cy="295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16290886"/>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err="1"/>
              <a:t>Enqueue</a:t>
            </a:r>
            <a:r>
              <a:rPr lang="en-IN" b="1" dirty="0"/>
              <a:t> Operation</a:t>
            </a:r>
            <a:br>
              <a:rPr lang="en-IN" b="1" dirty="0"/>
            </a:br>
            <a:endParaRPr lang="en-IN" dirty="0"/>
          </a:p>
        </p:txBody>
      </p:sp>
      <p:sp>
        <p:nvSpPr>
          <p:cNvPr id="3" name="Content Placeholder 2"/>
          <p:cNvSpPr>
            <a:spLocks noGrp="1"/>
          </p:cNvSpPr>
          <p:nvPr>
            <p:ph idx="1"/>
          </p:nvPr>
        </p:nvSpPr>
        <p:spPr>
          <a:xfrm>
            <a:off x="467544" y="1310034"/>
            <a:ext cx="8229600" cy="4525963"/>
          </a:xfrm>
        </p:spPr>
        <p:txBody>
          <a:bodyPr/>
          <a:lstStyle/>
          <a:p>
            <a:r>
              <a:rPr lang="en-IN" dirty="0"/>
              <a:t>Algorithm for </a:t>
            </a:r>
            <a:r>
              <a:rPr lang="en-IN" dirty="0" err="1"/>
              <a:t>enqueue</a:t>
            </a:r>
            <a:r>
              <a:rPr lang="en-IN" dirty="0"/>
              <a:t> operation</a:t>
            </a:r>
          </a:p>
        </p:txBody>
      </p:sp>
      <p:sp>
        <p:nvSpPr>
          <p:cNvPr id="4" name="Rectangle 3"/>
          <p:cNvSpPr/>
          <p:nvPr/>
        </p:nvSpPr>
        <p:spPr>
          <a:xfrm>
            <a:off x="1043608" y="2025908"/>
            <a:ext cx="6264696" cy="4154984"/>
          </a:xfrm>
          <a:prstGeom prst="rect">
            <a:avLst/>
          </a:prstGeom>
        </p:spPr>
        <p:txBody>
          <a:bodyPr wrap="square">
            <a:spAutoFit/>
          </a:bodyPr>
          <a:lstStyle/>
          <a:p>
            <a:r>
              <a:rPr lang="en-US" sz="2400" dirty="0"/>
              <a:t>procedure </a:t>
            </a:r>
            <a:r>
              <a:rPr lang="en-US" sz="2400" dirty="0" err="1"/>
              <a:t>enqueue</a:t>
            </a:r>
            <a:r>
              <a:rPr lang="en-US" sz="2400" dirty="0"/>
              <a:t>(data)      </a:t>
            </a:r>
          </a:p>
          <a:p>
            <a:r>
              <a:rPr lang="en-US" sz="2400" dirty="0"/>
              <a:t>   </a:t>
            </a:r>
          </a:p>
          <a:p>
            <a:r>
              <a:rPr lang="en-US" sz="2400" dirty="0"/>
              <a:t>   if queue is full</a:t>
            </a:r>
          </a:p>
          <a:p>
            <a:r>
              <a:rPr lang="en-US" sz="2400" dirty="0"/>
              <a:t>      return overflow</a:t>
            </a:r>
          </a:p>
          <a:p>
            <a:r>
              <a:rPr lang="en-US" sz="2400" dirty="0"/>
              <a:t>   </a:t>
            </a:r>
            <a:r>
              <a:rPr lang="en-US" sz="2400" dirty="0" err="1"/>
              <a:t>endif</a:t>
            </a:r>
            <a:endParaRPr lang="en-US" sz="2400" dirty="0"/>
          </a:p>
          <a:p>
            <a:r>
              <a:rPr lang="en-US" sz="2400" dirty="0"/>
              <a:t>   </a:t>
            </a:r>
          </a:p>
          <a:p>
            <a:r>
              <a:rPr lang="en-US" sz="2400" dirty="0"/>
              <a:t>   rear ← rear + 1</a:t>
            </a:r>
          </a:p>
          <a:p>
            <a:r>
              <a:rPr lang="en-US" sz="2400" dirty="0"/>
              <a:t>   queue[rear] ← data</a:t>
            </a:r>
          </a:p>
          <a:p>
            <a:r>
              <a:rPr lang="en-US" sz="2400" dirty="0"/>
              <a:t>   return true</a:t>
            </a:r>
          </a:p>
          <a:p>
            <a:r>
              <a:rPr lang="en-US" sz="2400" dirty="0"/>
              <a:t>   </a:t>
            </a:r>
          </a:p>
          <a:p>
            <a:r>
              <a:rPr lang="en-US" sz="2400" dirty="0"/>
              <a:t>end procedure</a:t>
            </a:r>
            <a:endParaRPr lang="en-IN" sz="2400" dirty="0"/>
          </a:p>
        </p:txBody>
      </p:sp>
    </p:spTree>
    <p:extLst>
      <p:ext uri="{BB962C8B-B14F-4D97-AF65-F5344CB8AC3E}">
        <p14:creationId xmlns:p14="http://schemas.microsoft.com/office/powerpoint/2010/main" val="3316865975"/>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Implementation of </a:t>
            </a:r>
            <a:r>
              <a:rPr lang="en-US" dirty="0" err="1"/>
              <a:t>enqueue</a:t>
            </a:r>
            <a:r>
              <a:rPr lang="en-US" dirty="0"/>
              <a:t>() in C programming language −</a:t>
            </a:r>
            <a:endParaRPr lang="en-IN" dirty="0"/>
          </a:p>
        </p:txBody>
      </p:sp>
      <p:sp>
        <p:nvSpPr>
          <p:cNvPr id="3" name="Content Placeholder 2"/>
          <p:cNvSpPr>
            <a:spLocks noGrp="1"/>
          </p:cNvSpPr>
          <p:nvPr>
            <p:ph idx="1"/>
          </p:nvPr>
        </p:nvSpPr>
        <p:spPr/>
        <p:txBody>
          <a:bodyPr>
            <a:normAutofit fontScale="92500" lnSpcReduction="10000"/>
          </a:bodyPr>
          <a:lstStyle/>
          <a:p>
            <a:r>
              <a:rPr lang="en-US" dirty="0" err="1"/>
              <a:t>int</a:t>
            </a:r>
            <a:r>
              <a:rPr lang="en-US" dirty="0"/>
              <a:t> </a:t>
            </a:r>
            <a:r>
              <a:rPr lang="en-US" dirty="0" err="1"/>
              <a:t>enqueue</a:t>
            </a:r>
            <a:r>
              <a:rPr lang="en-US" dirty="0"/>
              <a:t>(</a:t>
            </a:r>
            <a:r>
              <a:rPr lang="en-US" dirty="0" err="1"/>
              <a:t>int</a:t>
            </a:r>
            <a:r>
              <a:rPr lang="en-US" dirty="0"/>
              <a:t> data)      </a:t>
            </a:r>
          </a:p>
          <a:p>
            <a:r>
              <a:rPr lang="en-US" dirty="0"/>
              <a:t>   if(</a:t>
            </a:r>
            <a:r>
              <a:rPr lang="en-US" dirty="0" err="1"/>
              <a:t>isfull</a:t>
            </a:r>
            <a:r>
              <a:rPr lang="en-US" dirty="0"/>
              <a:t>())</a:t>
            </a:r>
          </a:p>
          <a:p>
            <a:r>
              <a:rPr lang="en-US" dirty="0"/>
              <a:t>      return 0;</a:t>
            </a:r>
          </a:p>
          <a:p>
            <a:r>
              <a:rPr lang="en-US" dirty="0"/>
              <a:t>  </a:t>
            </a:r>
            <a:r>
              <a:rPr lang="en-US" dirty="0" smtClean="0"/>
              <a:t>   </a:t>
            </a:r>
            <a:r>
              <a:rPr lang="en-US" dirty="0"/>
              <a:t>rear = rear + 1;</a:t>
            </a:r>
          </a:p>
          <a:p>
            <a:r>
              <a:rPr lang="en-US" dirty="0"/>
              <a:t>   queue[rear] = data;</a:t>
            </a:r>
          </a:p>
          <a:p>
            <a:r>
              <a:rPr lang="en-US" dirty="0"/>
              <a:t>   </a:t>
            </a:r>
          </a:p>
          <a:p>
            <a:r>
              <a:rPr lang="en-US" dirty="0"/>
              <a:t>   return 1;</a:t>
            </a:r>
          </a:p>
          <a:p>
            <a:r>
              <a:rPr lang="en-US" dirty="0"/>
              <a:t>end procedure</a:t>
            </a:r>
            <a:endParaRPr lang="en-IN" dirty="0"/>
          </a:p>
        </p:txBody>
      </p:sp>
    </p:spTree>
    <p:extLst>
      <p:ext uri="{BB962C8B-B14F-4D97-AF65-F5344CB8AC3E}">
        <p14:creationId xmlns:p14="http://schemas.microsoft.com/office/powerpoint/2010/main" val="1530271050"/>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err="1"/>
              <a:t>Dequeue</a:t>
            </a:r>
            <a:r>
              <a:rPr lang="en-IN" b="1" dirty="0"/>
              <a:t> Operation</a:t>
            </a:r>
            <a:br>
              <a:rPr lang="en-IN" b="1" dirty="0"/>
            </a:br>
            <a:endParaRPr lang="en-IN" dirty="0"/>
          </a:p>
        </p:txBody>
      </p:sp>
      <p:sp>
        <p:nvSpPr>
          <p:cNvPr id="3" name="Content Placeholder 2"/>
          <p:cNvSpPr>
            <a:spLocks noGrp="1"/>
          </p:cNvSpPr>
          <p:nvPr>
            <p:ph idx="1"/>
          </p:nvPr>
        </p:nvSpPr>
        <p:spPr/>
        <p:txBody>
          <a:bodyPr/>
          <a:lstStyle/>
          <a:p>
            <a:r>
              <a:rPr lang="en-US" dirty="0"/>
              <a:t>check if the queue is empty</a:t>
            </a:r>
          </a:p>
          <a:p>
            <a:r>
              <a:rPr lang="en-US" dirty="0"/>
              <a:t>return the value pointed by FRONT</a:t>
            </a:r>
          </a:p>
          <a:p>
            <a:r>
              <a:rPr lang="en-US" dirty="0"/>
              <a:t>increase the FRONT index by 1</a:t>
            </a:r>
          </a:p>
          <a:p>
            <a:r>
              <a:rPr lang="en-US" dirty="0"/>
              <a:t>for the last element, reset the values of FRONT and REAR to -1</a:t>
            </a:r>
          </a:p>
          <a:p>
            <a:endParaRPr lang="en-IN"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1758" y="4005064"/>
            <a:ext cx="4807517" cy="28529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27561897"/>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Autofit/>
          </a:bodyPr>
          <a:lstStyle/>
          <a:p>
            <a:r>
              <a:rPr lang="en-US" dirty="0"/>
              <a:t>procedure </a:t>
            </a:r>
            <a:r>
              <a:rPr lang="en-US" dirty="0" err="1"/>
              <a:t>dequeue</a:t>
            </a:r>
            <a:endParaRPr lang="en-US" dirty="0"/>
          </a:p>
          <a:p>
            <a:r>
              <a:rPr lang="en-US" dirty="0"/>
              <a:t>   </a:t>
            </a:r>
            <a:r>
              <a:rPr lang="en-US" dirty="0" smtClean="0"/>
              <a:t>   </a:t>
            </a:r>
            <a:r>
              <a:rPr lang="en-US" dirty="0"/>
              <a:t>if queue is empty</a:t>
            </a:r>
          </a:p>
          <a:p>
            <a:r>
              <a:rPr lang="en-US" dirty="0"/>
              <a:t>      return underflow</a:t>
            </a:r>
          </a:p>
          <a:p>
            <a:r>
              <a:rPr lang="en-US" dirty="0"/>
              <a:t>   </a:t>
            </a:r>
            <a:r>
              <a:rPr lang="en-US" dirty="0" smtClean="0"/>
              <a:t> end </a:t>
            </a:r>
            <a:r>
              <a:rPr lang="en-US" dirty="0"/>
              <a:t>if</a:t>
            </a:r>
          </a:p>
          <a:p>
            <a:r>
              <a:rPr lang="en-US" dirty="0" smtClean="0"/>
              <a:t>   </a:t>
            </a:r>
            <a:r>
              <a:rPr lang="en-US" dirty="0"/>
              <a:t>data = queue[front]</a:t>
            </a:r>
          </a:p>
          <a:p>
            <a:r>
              <a:rPr lang="en-US" dirty="0"/>
              <a:t>   front ← front + 1</a:t>
            </a:r>
          </a:p>
          <a:p>
            <a:r>
              <a:rPr lang="en-US" dirty="0"/>
              <a:t>   return true</a:t>
            </a:r>
          </a:p>
          <a:p>
            <a:r>
              <a:rPr lang="en-US" dirty="0" smtClean="0"/>
              <a:t>end </a:t>
            </a:r>
            <a:r>
              <a:rPr lang="en-US" dirty="0"/>
              <a:t>procedure</a:t>
            </a:r>
            <a:endParaRPr lang="en-IN" dirty="0"/>
          </a:p>
        </p:txBody>
      </p:sp>
    </p:spTree>
    <p:extLst>
      <p:ext uri="{BB962C8B-B14F-4D97-AF65-F5344CB8AC3E}">
        <p14:creationId xmlns:p14="http://schemas.microsoft.com/office/powerpoint/2010/main" val="1393332701"/>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Implementation </a:t>
            </a:r>
            <a:r>
              <a:rPr lang="en-US" dirty="0"/>
              <a:t>of </a:t>
            </a:r>
            <a:r>
              <a:rPr lang="en-US" dirty="0" err="1"/>
              <a:t>dequeue</a:t>
            </a:r>
            <a:r>
              <a:rPr lang="en-US" dirty="0"/>
              <a:t>() in C programming language −</a:t>
            </a:r>
            <a:endParaRPr lang="en-IN" dirty="0"/>
          </a:p>
        </p:txBody>
      </p:sp>
      <p:sp>
        <p:nvSpPr>
          <p:cNvPr id="3" name="Content Placeholder 2"/>
          <p:cNvSpPr>
            <a:spLocks noGrp="1"/>
          </p:cNvSpPr>
          <p:nvPr>
            <p:ph idx="1"/>
          </p:nvPr>
        </p:nvSpPr>
        <p:spPr/>
        <p:txBody>
          <a:bodyPr>
            <a:normAutofit/>
          </a:bodyPr>
          <a:lstStyle/>
          <a:p>
            <a:r>
              <a:rPr lang="en-US" dirty="0" err="1"/>
              <a:t>int</a:t>
            </a:r>
            <a:r>
              <a:rPr lang="en-US" dirty="0"/>
              <a:t> </a:t>
            </a:r>
            <a:r>
              <a:rPr lang="en-US" dirty="0" err="1"/>
              <a:t>dequeue</a:t>
            </a:r>
            <a:r>
              <a:rPr lang="en-US" dirty="0"/>
              <a:t>() {</a:t>
            </a:r>
          </a:p>
          <a:p>
            <a:r>
              <a:rPr lang="en-US" dirty="0"/>
              <a:t>   if(</a:t>
            </a:r>
            <a:r>
              <a:rPr lang="en-US" dirty="0" err="1"/>
              <a:t>isempty</a:t>
            </a:r>
            <a:r>
              <a:rPr lang="en-US" dirty="0"/>
              <a:t>())</a:t>
            </a:r>
          </a:p>
          <a:p>
            <a:r>
              <a:rPr lang="en-US" dirty="0"/>
              <a:t>      return 0;</a:t>
            </a:r>
          </a:p>
          <a:p>
            <a:r>
              <a:rPr lang="en-US" dirty="0" smtClean="0"/>
              <a:t>   </a:t>
            </a:r>
            <a:r>
              <a:rPr lang="en-US" dirty="0" err="1"/>
              <a:t>int</a:t>
            </a:r>
            <a:r>
              <a:rPr lang="en-US" dirty="0"/>
              <a:t> data = queue[front];</a:t>
            </a:r>
          </a:p>
          <a:p>
            <a:r>
              <a:rPr lang="en-US" dirty="0"/>
              <a:t>   front = front + 1;</a:t>
            </a:r>
          </a:p>
          <a:p>
            <a:r>
              <a:rPr lang="en-US" dirty="0" smtClean="0"/>
              <a:t>   </a:t>
            </a:r>
            <a:r>
              <a:rPr lang="en-US" dirty="0"/>
              <a:t>return data;</a:t>
            </a:r>
          </a:p>
          <a:p>
            <a:r>
              <a:rPr lang="en-US" dirty="0"/>
              <a:t>}</a:t>
            </a:r>
            <a:endParaRPr lang="en-IN" dirty="0"/>
          </a:p>
        </p:txBody>
      </p:sp>
    </p:spTree>
    <p:extLst>
      <p:ext uri="{BB962C8B-B14F-4D97-AF65-F5344CB8AC3E}">
        <p14:creationId xmlns:p14="http://schemas.microsoft.com/office/powerpoint/2010/main" val="1310898211"/>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For example</a:t>
            </a:r>
            <a:endParaRPr lang="en-IN" dirty="0"/>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600" y="1196752"/>
            <a:ext cx="6984776" cy="53285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15204668"/>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Applications of Queue</a:t>
            </a:r>
            <a:br>
              <a:rPr lang="en-IN" b="1" dirty="0"/>
            </a:br>
            <a:endParaRPr lang="en-IN" dirty="0"/>
          </a:p>
        </p:txBody>
      </p:sp>
      <p:sp>
        <p:nvSpPr>
          <p:cNvPr id="3" name="Content Placeholder 2"/>
          <p:cNvSpPr>
            <a:spLocks noGrp="1"/>
          </p:cNvSpPr>
          <p:nvPr>
            <p:ph idx="1"/>
          </p:nvPr>
        </p:nvSpPr>
        <p:spPr/>
        <p:txBody>
          <a:bodyPr/>
          <a:lstStyle/>
          <a:p>
            <a:r>
              <a:rPr lang="en-US" dirty="0"/>
              <a:t>CPU scheduling, Disk Scheduling</a:t>
            </a:r>
          </a:p>
          <a:p>
            <a:r>
              <a:rPr lang="en-US" dirty="0"/>
              <a:t>When data is transferred asynchronously between two </a:t>
            </a:r>
            <a:r>
              <a:rPr lang="en-US" dirty="0" err="1"/>
              <a:t>processes.The</a:t>
            </a:r>
            <a:r>
              <a:rPr lang="en-US" dirty="0"/>
              <a:t> queue is used for synchronization. For example: IO Buffers, pipes, file IO, </a:t>
            </a:r>
            <a:r>
              <a:rPr lang="en-US" dirty="0" err="1"/>
              <a:t>etc</a:t>
            </a:r>
            <a:endParaRPr lang="en-US" dirty="0"/>
          </a:p>
          <a:p>
            <a:r>
              <a:rPr lang="en-US" dirty="0"/>
              <a:t>Handling of interrupts in real-time systems.</a:t>
            </a:r>
          </a:p>
          <a:p>
            <a:r>
              <a:rPr lang="en-US" dirty="0"/>
              <a:t>Call Center phone systems use Queues to hold people calling them in order.</a:t>
            </a:r>
          </a:p>
          <a:p>
            <a:endParaRPr lang="en-IN" dirty="0"/>
          </a:p>
        </p:txBody>
      </p:sp>
    </p:spTree>
    <p:extLst>
      <p:ext uri="{BB962C8B-B14F-4D97-AF65-F5344CB8AC3E}">
        <p14:creationId xmlns:p14="http://schemas.microsoft.com/office/powerpoint/2010/main" val="1117147479"/>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Types of Queues</a:t>
            </a:r>
            <a:br>
              <a:rPr lang="en-IN" b="1" dirty="0"/>
            </a:br>
            <a:endParaRPr lang="en-IN" dirty="0"/>
          </a:p>
        </p:txBody>
      </p:sp>
      <p:sp>
        <p:nvSpPr>
          <p:cNvPr id="3" name="Content Placeholder 2"/>
          <p:cNvSpPr>
            <a:spLocks noGrp="1"/>
          </p:cNvSpPr>
          <p:nvPr>
            <p:ph idx="1"/>
          </p:nvPr>
        </p:nvSpPr>
        <p:spPr/>
        <p:txBody>
          <a:bodyPr>
            <a:normAutofit fontScale="92500"/>
          </a:bodyPr>
          <a:lstStyle/>
          <a:p>
            <a:r>
              <a:rPr lang="en-US" dirty="0"/>
              <a:t>A </a:t>
            </a:r>
            <a:r>
              <a:rPr lang="en-US" dirty="0">
                <a:hlinkClick r:id="rId2"/>
              </a:rPr>
              <a:t>queue</a:t>
            </a:r>
            <a:r>
              <a:rPr lang="en-US" dirty="0"/>
              <a:t> is a useful data structure in programming. It is similar to the ticket queue outside a cinema hall, where the first person entering the queue is the first person who gets the ticket.</a:t>
            </a:r>
          </a:p>
          <a:p>
            <a:r>
              <a:rPr lang="en-US" dirty="0"/>
              <a:t>There are four different types of queues:</a:t>
            </a:r>
          </a:p>
          <a:p>
            <a:r>
              <a:rPr lang="en-US" dirty="0"/>
              <a:t>Simple Queue</a:t>
            </a:r>
          </a:p>
          <a:p>
            <a:r>
              <a:rPr lang="en-US" dirty="0"/>
              <a:t>Circular Queue</a:t>
            </a:r>
          </a:p>
          <a:p>
            <a:r>
              <a:rPr lang="en-US" dirty="0"/>
              <a:t>Priority Queue</a:t>
            </a:r>
          </a:p>
          <a:p>
            <a:r>
              <a:rPr lang="en-US" dirty="0"/>
              <a:t>Double Ended Queue</a:t>
            </a:r>
          </a:p>
          <a:p>
            <a:endParaRPr lang="en-IN" dirty="0"/>
          </a:p>
        </p:txBody>
      </p:sp>
    </p:spTree>
    <p:extLst>
      <p:ext uri="{BB962C8B-B14F-4D97-AF65-F5344CB8AC3E}">
        <p14:creationId xmlns:p14="http://schemas.microsoft.com/office/powerpoint/2010/main" val="360681740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1833</TotalTime>
  <Words>1264</Words>
  <Application>Microsoft Office PowerPoint</Application>
  <PresentationFormat>On-screen Show (4:3)</PresentationFormat>
  <Paragraphs>310</Paragraphs>
  <Slides>48</Slides>
  <Notes>2</Notes>
  <HiddenSlides>0</HiddenSlides>
  <MMClips>0</MMClips>
  <ScaleCrop>false</ScaleCrop>
  <HeadingPairs>
    <vt:vector size="4" baseType="variant">
      <vt:variant>
        <vt:lpstr>Theme</vt:lpstr>
      </vt:variant>
      <vt:variant>
        <vt:i4>1</vt:i4>
      </vt:variant>
      <vt:variant>
        <vt:lpstr>Slide Titles</vt:lpstr>
      </vt:variant>
      <vt:variant>
        <vt:i4>48</vt:i4>
      </vt:variant>
    </vt:vector>
  </HeadingPairs>
  <TitlesOfParts>
    <vt:vector size="49" baseType="lpstr">
      <vt:lpstr>Office Theme</vt:lpstr>
      <vt:lpstr>Unit  2</vt:lpstr>
      <vt:lpstr>PowerPoint Presentation</vt:lpstr>
      <vt:lpstr>Data Structure </vt:lpstr>
      <vt:lpstr>Classification of Data Structure</vt:lpstr>
      <vt:lpstr>Linear data structure</vt:lpstr>
      <vt:lpstr>Linear data structure</vt:lpstr>
      <vt:lpstr>Non Linear data structure</vt:lpstr>
      <vt:lpstr>Linear data structure</vt:lpstr>
      <vt:lpstr>What is a Stack? </vt:lpstr>
      <vt:lpstr>LIFO Principle of Stack</vt:lpstr>
      <vt:lpstr>Basic Operations of Stack </vt:lpstr>
      <vt:lpstr>Working of Stack Data Structure </vt:lpstr>
      <vt:lpstr>Working of Stack Data Structure</vt:lpstr>
      <vt:lpstr>push() method</vt:lpstr>
      <vt:lpstr>Push Operation</vt:lpstr>
      <vt:lpstr>PowerPoint Presentation</vt:lpstr>
      <vt:lpstr>implementation of push algorithm in C language </vt:lpstr>
      <vt:lpstr>Deletion of an element from a stack (Pop operation) </vt:lpstr>
      <vt:lpstr>Deletion of an element from a stack (Pop operation) </vt:lpstr>
      <vt:lpstr>Visiting each element of the stack (Peek operation) </vt:lpstr>
      <vt:lpstr>Implementation of Peek algorithm in C language </vt:lpstr>
      <vt:lpstr>push() method using JavaScript </vt:lpstr>
      <vt:lpstr>pop() method</vt:lpstr>
      <vt:lpstr>pop() method</vt:lpstr>
      <vt:lpstr>isEmpty()</vt:lpstr>
      <vt:lpstr>printStack()</vt:lpstr>
      <vt:lpstr>PowerPoint Presentation</vt:lpstr>
      <vt:lpstr> Declaring a class </vt:lpstr>
      <vt:lpstr>Push an item </vt:lpstr>
      <vt:lpstr>Pop an item</vt:lpstr>
      <vt:lpstr> Peek</vt:lpstr>
      <vt:lpstr> isEmpty </vt:lpstr>
      <vt:lpstr>QUEUE</vt:lpstr>
      <vt:lpstr>Queue</vt:lpstr>
      <vt:lpstr>Basic Operations of Queue </vt:lpstr>
      <vt:lpstr>Working of Queue </vt:lpstr>
      <vt:lpstr>peek() </vt:lpstr>
      <vt:lpstr>isfull() </vt:lpstr>
      <vt:lpstr>isempty() </vt:lpstr>
      <vt:lpstr>Enqueue Operation </vt:lpstr>
      <vt:lpstr>Enqueue Operation </vt:lpstr>
      <vt:lpstr>Implementation of enqueue() in C programming language −</vt:lpstr>
      <vt:lpstr>Dequeue Operation </vt:lpstr>
      <vt:lpstr>PowerPoint Presentation</vt:lpstr>
      <vt:lpstr>Implementation of dequeue() in C programming language −</vt:lpstr>
      <vt:lpstr>For example</vt:lpstr>
      <vt:lpstr>Applications of Queue </vt:lpstr>
      <vt:lpstr>Types of Queues </vt:lpstr>
    </vt:vector>
  </TitlesOfParts>
  <Company>HP</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4</dc:title>
  <dc:creator>nishant</dc:creator>
  <cp:lastModifiedBy>nishant</cp:lastModifiedBy>
  <cp:revision>93</cp:revision>
  <dcterms:created xsi:type="dcterms:W3CDTF">2022-11-09T09:51:40Z</dcterms:created>
  <dcterms:modified xsi:type="dcterms:W3CDTF">2022-12-07T11:40:26Z</dcterms:modified>
</cp:coreProperties>
</file>