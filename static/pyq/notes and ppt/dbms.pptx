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0" r:id="rId27"/>
    <p:sldId id="282" r:id="rId28"/>
    <p:sldId id="283" r:id="rId29"/>
    <p:sldId id="286" r:id="rId30"/>
    <p:sldId id="284" r:id="rId31"/>
    <p:sldId id="287" r:id="rId32"/>
    <p:sldId id="285" r:id="rId33"/>
    <p:sldId id="288" r:id="rId34"/>
    <p:sldId id="289" r:id="rId35"/>
    <p:sldId id="290" r:id="rId36"/>
    <p:sldId id="291" r:id="rId37"/>
    <p:sldId id="292" r:id="rId38"/>
    <p:sldId id="295" r:id="rId39"/>
    <p:sldId id="294" r:id="rId40"/>
    <p:sldId id="305" r:id="rId41"/>
    <p:sldId id="293" r:id="rId42"/>
    <p:sldId id="296" r:id="rId43"/>
    <p:sldId id="297" r:id="rId44"/>
    <p:sldId id="298" r:id="rId45"/>
    <p:sldId id="299" r:id="rId46"/>
    <p:sldId id="300" r:id="rId47"/>
    <p:sldId id="301" r:id="rId48"/>
    <p:sldId id="302" r:id="rId49"/>
    <p:sldId id="303" r:id="rId50"/>
    <p:sldId id="304" r:id="rId51"/>
    <p:sldId id="306" r:id="rId52"/>
    <p:sldId id="307" r:id="rId53"/>
    <p:sldId id="308" r:id="rId54"/>
    <p:sldId id="309" r:id="rId55"/>
    <p:sldId id="310" r:id="rId56"/>
    <p:sldId id="312" r:id="rId57"/>
    <p:sldId id="313" r:id="rId58"/>
    <p:sldId id="311" r:id="rId59"/>
    <p:sldId id="314" r:id="rId60"/>
    <p:sldId id="315" r:id="rId61"/>
    <p:sldId id="316" r:id="rId62"/>
    <p:sldId id="317" r:id="rId63"/>
    <p:sldId id="318" r:id="rId64"/>
    <p:sldId id="319" r:id="rId65"/>
    <p:sldId id="320" r:id="rId66"/>
    <p:sldId id="322" r:id="rId67"/>
    <p:sldId id="323" r:id="rId68"/>
    <p:sldId id="324" r:id="rId69"/>
    <p:sldId id="321" r:id="rId70"/>
    <p:sldId id="325" r:id="rId71"/>
    <p:sldId id="326" r:id="rId72"/>
    <p:sldId id="327" r:id="rId73"/>
    <p:sldId id="328" r:id="rId74"/>
    <p:sldId id="329" r:id="rId75"/>
    <p:sldId id="330"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C539BD-73EA-4EEC-A23D-F6CFEE1160C0}" type="datetimeFigureOut">
              <a:rPr lang="en-IN" smtClean="0"/>
              <a:t>04-07-2022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3F150D-2390-418E-A68F-41AC14A918EF}" type="slidenum">
              <a:rPr lang="en-IN" smtClean="0"/>
              <a:t>‹#›</a:t>
            </a:fld>
            <a:endParaRPr lang="en-IN"/>
          </a:p>
        </p:txBody>
      </p:sp>
    </p:spTree>
    <p:extLst>
      <p:ext uri="{BB962C8B-B14F-4D97-AF65-F5344CB8AC3E}">
        <p14:creationId xmlns:p14="http://schemas.microsoft.com/office/powerpoint/2010/main" val="1861418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E3F150D-2390-418E-A68F-41AC14A918EF}" type="slidenum">
              <a:rPr lang="en-IN" smtClean="0"/>
              <a:t>66</a:t>
            </a:fld>
            <a:endParaRPr lang="en-IN"/>
          </a:p>
        </p:txBody>
      </p:sp>
    </p:spTree>
    <p:extLst>
      <p:ext uri="{BB962C8B-B14F-4D97-AF65-F5344CB8AC3E}">
        <p14:creationId xmlns:p14="http://schemas.microsoft.com/office/powerpoint/2010/main" val="2699321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E3F150D-2390-418E-A68F-41AC14A918EF}" type="slidenum">
              <a:rPr lang="en-IN" smtClean="0"/>
              <a:t>67</a:t>
            </a:fld>
            <a:endParaRPr lang="en-IN"/>
          </a:p>
        </p:txBody>
      </p:sp>
    </p:spTree>
    <p:extLst>
      <p:ext uri="{BB962C8B-B14F-4D97-AF65-F5344CB8AC3E}">
        <p14:creationId xmlns:p14="http://schemas.microsoft.com/office/powerpoint/2010/main" val="2699321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E3F150D-2390-418E-A68F-41AC14A918EF}" type="slidenum">
              <a:rPr lang="en-IN" smtClean="0"/>
              <a:t>68</a:t>
            </a:fld>
            <a:endParaRPr lang="en-IN"/>
          </a:p>
        </p:txBody>
      </p:sp>
    </p:spTree>
    <p:extLst>
      <p:ext uri="{BB962C8B-B14F-4D97-AF65-F5344CB8AC3E}">
        <p14:creationId xmlns:p14="http://schemas.microsoft.com/office/powerpoint/2010/main" val="2699321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E3F150D-2390-418E-A68F-41AC14A918EF}" type="slidenum">
              <a:rPr lang="en-IN" smtClean="0"/>
              <a:t>75</a:t>
            </a:fld>
            <a:endParaRPr lang="en-IN"/>
          </a:p>
        </p:txBody>
      </p:sp>
    </p:spTree>
    <p:extLst>
      <p:ext uri="{BB962C8B-B14F-4D97-AF65-F5344CB8AC3E}">
        <p14:creationId xmlns:p14="http://schemas.microsoft.com/office/powerpoint/2010/main" val="2624768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AEE6AB9-F338-4D7A-B09F-37A504A5B547}" type="datetimeFigureOut">
              <a:rPr lang="en-IN" smtClean="0"/>
              <a:t>04-07-2022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CF39FD8-DD72-484B-9FE0-FA03392F6278}" type="slidenum">
              <a:rPr lang="en-IN" smtClean="0"/>
              <a:t>‹#›</a:t>
            </a:fld>
            <a:endParaRPr lang="en-IN" dirty="0"/>
          </a:p>
        </p:txBody>
      </p:sp>
    </p:spTree>
    <p:extLst>
      <p:ext uri="{BB962C8B-B14F-4D97-AF65-F5344CB8AC3E}">
        <p14:creationId xmlns:p14="http://schemas.microsoft.com/office/powerpoint/2010/main" val="221330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AEE6AB9-F338-4D7A-B09F-37A504A5B547}" type="datetimeFigureOut">
              <a:rPr lang="en-IN" smtClean="0"/>
              <a:t>04-07-2022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CF39FD8-DD72-484B-9FE0-FA03392F6278}" type="slidenum">
              <a:rPr lang="en-IN" smtClean="0"/>
              <a:t>‹#›</a:t>
            </a:fld>
            <a:endParaRPr lang="en-IN" dirty="0"/>
          </a:p>
        </p:txBody>
      </p:sp>
    </p:spTree>
    <p:extLst>
      <p:ext uri="{BB962C8B-B14F-4D97-AF65-F5344CB8AC3E}">
        <p14:creationId xmlns:p14="http://schemas.microsoft.com/office/powerpoint/2010/main" val="2331359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AEE6AB9-F338-4D7A-B09F-37A504A5B547}" type="datetimeFigureOut">
              <a:rPr lang="en-IN" smtClean="0"/>
              <a:t>04-07-2022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CF39FD8-DD72-484B-9FE0-FA03392F6278}" type="slidenum">
              <a:rPr lang="en-IN" smtClean="0"/>
              <a:t>‹#›</a:t>
            </a:fld>
            <a:endParaRPr lang="en-IN" dirty="0"/>
          </a:p>
        </p:txBody>
      </p:sp>
    </p:spTree>
    <p:extLst>
      <p:ext uri="{BB962C8B-B14F-4D97-AF65-F5344CB8AC3E}">
        <p14:creationId xmlns:p14="http://schemas.microsoft.com/office/powerpoint/2010/main" val="1688446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AEE6AB9-F338-4D7A-B09F-37A504A5B547}" type="datetimeFigureOut">
              <a:rPr lang="en-IN" smtClean="0"/>
              <a:t>04-07-2022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2CF39FD8-DD72-484B-9FE0-FA03392F6278}" type="slidenum">
              <a:rPr lang="en-IN" smtClean="0"/>
              <a:t>‹#›</a:t>
            </a:fld>
            <a:endParaRPr lang="en-IN" dirty="0"/>
          </a:p>
        </p:txBody>
      </p:sp>
    </p:spTree>
    <p:extLst>
      <p:ext uri="{BB962C8B-B14F-4D97-AF65-F5344CB8AC3E}">
        <p14:creationId xmlns:p14="http://schemas.microsoft.com/office/powerpoint/2010/main" val="3648561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AEE6AB9-F338-4D7A-B09F-37A504A5B547}" type="datetimeFigureOut">
              <a:rPr lang="en-IN" smtClean="0"/>
              <a:t>04-07-2022</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2CF39FD8-DD72-484B-9FE0-FA03392F6278}" type="slidenum">
              <a:rPr lang="en-IN" smtClean="0"/>
              <a:t>‹#›</a:t>
            </a:fld>
            <a:endParaRPr lang="en-IN" dirty="0"/>
          </a:p>
        </p:txBody>
      </p:sp>
    </p:spTree>
    <p:extLst>
      <p:ext uri="{BB962C8B-B14F-4D97-AF65-F5344CB8AC3E}">
        <p14:creationId xmlns:p14="http://schemas.microsoft.com/office/powerpoint/2010/main" val="1964011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AEE6AB9-F338-4D7A-B09F-37A504A5B547}" type="datetimeFigureOut">
              <a:rPr lang="en-IN" smtClean="0"/>
              <a:t>04-07-2022</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2CF39FD8-DD72-484B-9FE0-FA03392F6278}" type="slidenum">
              <a:rPr lang="en-IN" smtClean="0"/>
              <a:t>‹#›</a:t>
            </a:fld>
            <a:endParaRPr lang="en-IN" dirty="0"/>
          </a:p>
        </p:txBody>
      </p:sp>
    </p:spTree>
    <p:extLst>
      <p:ext uri="{BB962C8B-B14F-4D97-AF65-F5344CB8AC3E}">
        <p14:creationId xmlns:p14="http://schemas.microsoft.com/office/powerpoint/2010/main" val="1842977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EE6AB9-F338-4D7A-B09F-37A504A5B547}" type="datetimeFigureOut">
              <a:rPr lang="en-IN" smtClean="0"/>
              <a:t>04-07-2022</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2CF39FD8-DD72-484B-9FE0-FA03392F6278}" type="slidenum">
              <a:rPr lang="en-IN" smtClean="0"/>
              <a:t>‹#›</a:t>
            </a:fld>
            <a:endParaRPr lang="en-IN" dirty="0"/>
          </a:p>
        </p:txBody>
      </p:sp>
    </p:spTree>
    <p:extLst>
      <p:ext uri="{BB962C8B-B14F-4D97-AF65-F5344CB8AC3E}">
        <p14:creationId xmlns:p14="http://schemas.microsoft.com/office/powerpoint/2010/main" val="3727581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EE6AB9-F338-4D7A-B09F-37A504A5B547}" type="datetimeFigureOut">
              <a:rPr lang="en-IN" smtClean="0"/>
              <a:t>04-07-2022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2CF39FD8-DD72-484B-9FE0-FA03392F6278}" type="slidenum">
              <a:rPr lang="en-IN" smtClean="0"/>
              <a:t>‹#›</a:t>
            </a:fld>
            <a:endParaRPr lang="en-IN" dirty="0"/>
          </a:p>
        </p:txBody>
      </p:sp>
    </p:spTree>
    <p:extLst>
      <p:ext uri="{BB962C8B-B14F-4D97-AF65-F5344CB8AC3E}">
        <p14:creationId xmlns:p14="http://schemas.microsoft.com/office/powerpoint/2010/main" val="56638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EE6AB9-F338-4D7A-B09F-37A504A5B547}" type="datetimeFigureOut">
              <a:rPr lang="en-IN" smtClean="0"/>
              <a:t>04-07-2022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2CF39FD8-DD72-484B-9FE0-FA03392F6278}" type="slidenum">
              <a:rPr lang="en-IN" smtClean="0"/>
              <a:t>‹#›</a:t>
            </a:fld>
            <a:endParaRPr lang="en-IN" dirty="0"/>
          </a:p>
        </p:txBody>
      </p:sp>
    </p:spTree>
    <p:extLst>
      <p:ext uri="{BB962C8B-B14F-4D97-AF65-F5344CB8AC3E}">
        <p14:creationId xmlns:p14="http://schemas.microsoft.com/office/powerpoint/2010/main" val="553405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AEE6AB9-F338-4D7A-B09F-37A504A5B547}" type="datetimeFigureOut">
              <a:rPr lang="en-IN" smtClean="0"/>
              <a:t>04-07-2022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CF39FD8-DD72-484B-9FE0-FA03392F6278}" type="slidenum">
              <a:rPr lang="en-IN" smtClean="0"/>
              <a:t>‹#›</a:t>
            </a:fld>
            <a:endParaRPr lang="en-IN" dirty="0"/>
          </a:p>
        </p:txBody>
      </p:sp>
    </p:spTree>
    <p:extLst>
      <p:ext uri="{BB962C8B-B14F-4D97-AF65-F5344CB8AC3E}">
        <p14:creationId xmlns:p14="http://schemas.microsoft.com/office/powerpoint/2010/main" val="4097674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AEE6AB9-F338-4D7A-B09F-37A504A5B547}" type="datetimeFigureOut">
              <a:rPr lang="en-IN" smtClean="0"/>
              <a:t>04-07-2022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CF39FD8-DD72-484B-9FE0-FA03392F6278}" type="slidenum">
              <a:rPr lang="en-IN" smtClean="0"/>
              <a:t>‹#›</a:t>
            </a:fld>
            <a:endParaRPr lang="en-IN" dirty="0"/>
          </a:p>
        </p:txBody>
      </p:sp>
    </p:spTree>
    <p:extLst>
      <p:ext uri="{BB962C8B-B14F-4D97-AF65-F5344CB8AC3E}">
        <p14:creationId xmlns:p14="http://schemas.microsoft.com/office/powerpoint/2010/main" val="4023415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8" name="Title 7"/>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1572323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7584" y="274638"/>
            <a:ext cx="7303684" cy="922114"/>
          </a:xfrm>
          <a:prstGeom prst="rect">
            <a:avLst/>
          </a:prstGeom>
        </p:spPr>
        <p:txBody>
          <a:bodyPr vert="horz" lIns="91440" tIns="45720" rIns="91440" bIns="45720" rtlCol="0" anchor="ctr">
            <a:normAutofit/>
          </a:bodyPr>
          <a:lstStyle/>
          <a:p>
            <a:r>
              <a:rPr lang="en-US" dirty="0" smtClean="0"/>
              <a:t>Click to edit Master title style</a:t>
            </a:r>
            <a:endParaRPr lang="en-IN"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EE6AB9-F338-4D7A-B09F-37A504A5B547}" type="datetimeFigureOut">
              <a:rPr lang="en-IN" smtClean="0"/>
              <a:t>04-07-2022</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F39FD8-DD72-484B-9FE0-FA03392F6278}" type="slidenum">
              <a:rPr lang="en-IN" smtClean="0"/>
              <a:t>‹#›</a:t>
            </a:fld>
            <a:endParaRPr lang="en-IN" dirty="0"/>
          </a:p>
        </p:txBody>
      </p:sp>
      <p:pic>
        <p:nvPicPr>
          <p:cNvPr id="7" name="Picture 6"/>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332656"/>
            <a:ext cx="761281" cy="591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descr="C:\Users\nishant\Desktop\desktop 28 feb 2022\company_logo_1595423641.png"/>
          <p:cNvPicPr>
            <a:picLocks noChangeAspect="1" noChangeArrowheads="1"/>
          </p:cNvPicPr>
          <p:nvPr userDrawn="1"/>
        </p:nvPicPr>
        <p:blipFill rotWithShape="1">
          <a:blip r:embed="rId15">
            <a:extLst>
              <a:ext uri="{28A0092B-C50C-407E-A947-70E740481C1C}">
                <a14:useLocalDpi xmlns:a14="http://schemas.microsoft.com/office/drawing/2010/main" val="0"/>
              </a:ext>
            </a:extLst>
          </a:blip>
          <a:srcRect l="13589" r="765"/>
          <a:stretch/>
        </p:blipFill>
        <p:spPr bwMode="auto">
          <a:xfrm>
            <a:off x="8131268" y="332657"/>
            <a:ext cx="1012732" cy="591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515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32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just" defTabSz="914400" rtl="0" eaLnBrk="1" latinLnBrk="0" hangingPunct="1">
        <a:lnSpc>
          <a:spcPct val="150000"/>
        </a:lnSpc>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just" defTabSz="914400" rtl="0" eaLnBrk="1" latinLnBrk="0" hangingPunct="1">
        <a:lnSpc>
          <a:spcPct val="150000"/>
        </a:lnSpc>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150000"/>
        </a:lnSpc>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150000"/>
        </a:lnSpc>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150000"/>
        </a:lnSpc>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www.ibm.com/cloud/learn/iaas-paas-saas" TargetMode="External"/><Relationship Id="rId2" Type="http://schemas.openxmlformats.org/officeDocument/2006/relationships/hyperlink" Target="https://www.ibm.com/cloud/learn/virtualization-a-complete-guide"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smtClean="0"/>
              <a:t>UNIT 1	</a:t>
            </a:r>
            <a:endParaRPr lang="en-IN" b="1" dirty="0"/>
          </a:p>
        </p:txBody>
      </p:sp>
      <p:sp>
        <p:nvSpPr>
          <p:cNvPr id="3" name="Subtitle 2"/>
          <p:cNvSpPr>
            <a:spLocks noGrp="1"/>
          </p:cNvSpPr>
          <p:nvPr>
            <p:ph type="subTitle" idx="1"/>
          </p:nvPr>
        </p:nvSpPr>
        <p:spPr/>
        <p:txBody>
          <a:bodyPr>
            <a:normAutofit/>
          </a:bodyPr>
          <a:lstStyle/>
          <a:p>
            <a:r>
              <a:rPr lang="en-IN" sz="3600" b="1" dirty="0">
                <a:solidFill>
                  <a:schemeClr val="tx1"/>
                </a:solidFill>
              </a:rPr>
              <a:t>Introduction DBMS </a:t>
            </a:r>
            <a:r>
              <a:rPr lang="en-IN" sz="3600" b="1" dirty="0" smtClean="0">
                <a:solidFill>
                  <a:schemeClr val="tx1"/>
                </a:solidFill>
              </a:rPr>
              <a:t>                                       </a:t>
            </a:r>
            <a:r>
              <a:rPr lang="en-IN" sz="3600" b="1" dirty="0">
                <a:solidFill>
                  <a:schemeClr val="tx1"/>
                </a:solidFill>
              </a:rPr>
              <a:t>Concepts &amp; Architectures</a:t>
            </a:r>
            <a:endParaRPr lang="en-IN" sz="3600" dirty="0">
              <a:solidFill>
                <a:schemeClr val="tx1"/>
              </a:solidFill>
            </a:endParaRPr>
          </a:p>
        </p:txBody>
      </p:sp>
    </p:spTree>
    <p:extLst>
      <p:ext uri="{BB962C8B-B14F-4D97-AF65-F5344CB8AC3E}">
        <p14:creationId xmlns:p14="http://schemas.microsoft.com/office/powerpoint/2010/main" val="3844109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idx="1"/>
          </p:nvPr>
        </p:nvSpPr>
        <p:spPr bwMode="auto">
          <a:xfrm>
            <a:off x="152400" y="838200"/>
            <a:ext cx="8763000" cy="1243013"/>
          </a:xfrm>
          <a:ln>
            <a:miter lim="800000"/>
            <a:headEnd/>
            <a:tailEnd/>
          </a:ln>
          <a:effectLst>
            <a:outerShdw dist="35921" dir="2700000" algn="ctr" rotWithShape="0">
              <a:schemeClr val="bg2"/>
            </a:outerShdw>
          </a:effectLst>
        </p:spPr>
        <p:txBody>
          <a:bodyPr vert="horz" wrap="square" lIns="91440" tIns="45720" rIns="91440" bIns="45720" numCol="1" anchor="t" anchorCtr="0" compatLnSpc="1">
            <a:prstTxWarp prst="textNoShape">
              <a:avLst/>
            </a:prstTxWarp>
            <a:normAutofit fontScale="62500" lnSpcReduction="20000"/>
          </a:bodyPr>
          <a:lstStyle/>
          <a:p>
            <a:pPr marL="0" indent="0" algn="ctr" eaLnBrk="1" hangingPunct="1">
              <a:spcBef>
                <a:spcPct val="0"/>
              </a:spcBef>
              <a:buClr>
                <a:srgbClr val="FF0066"/>
              </a:buClr>
              <a:buFontTx/>
              <a:buNone/>
              <a:defRPr/>
            </a:pPr>
            <a:r>
              <a:rPr lang="en-US" altLang="en-US" sz="2400" dirty="0" smtClean="0"/>
              <a:t> </a:t>
            </a:r>
          </a:p>
          <a:p>
            <a:pPr marL="0" indent="0" algn="ctr">
              <a:buFont typeface="Arial" pitchFamily="34" charset="0"/>
              <a:buNone/>
              <a:defRPr/>
            </a:pPr>
            <a:r>
              <a:rPr lang="en-IN" altLang="en-US" sz="2800" b="1" dirty="0" smtClean="0">
                <a:solidFill>
                  <a:srgbClr val="7030A0"/>
                </a:solidFill>
              </a:rPr>
              <a:t> </a:t>
            </a:r>
            <a:r>
              <a:rPr lang="en-IN" altLang="en-US" sz="2800" kern="0" dirty="0" smtClean="0">
                <a:solidFill>
                  <a:srgbClr val="C00000"/>
                </a:solidFill>
                <a:latin typeface="Georgia" pitchFamily="18" charset="0"/>
              </a:rPr>
              <a:t>First Year </a:t>
            </a:r>
            <a:r>
              <a:rPr lang="en-IN" altLang="en-US" sz="2800" kern="0" dirty="0">
                <a:solidFill>
                  <a:srgbClr val="C00000"/>
                </a:solidFill>
                <a:latin typeface="Georgia" pitchFamily="18" charset="0"/>
              </a:rPr>
              <a:t>of </a:t>
            </a:r>
            <a:r>
              <a:rPr lang="en-IN" altLang="en-US" sz="2800" kern="0" dirty="0" smtClean="0">
                <a:solidFill>
                  <a:srgbClr val="C00000"/>
                </a:solidFill>
                <a:latin typeface="Georgia" pitchFamily="18" charset="0"/>
              </a:rPr>
              <a:t>Master of Computer Application   </a:t>
            </a:r>
            <a:endParaRPr lang="en-IN" altLang="en-US" sz="2800" kern="0" dirty="0">
              <a:solidFill>
                <a:srgbClr val="C00000"/>
              </a:solidFill>
              <a:latin typeface="Georgia" pitchFamily="18" charset="0"/>
            </a:endParaRPr>
          </a:p>
          <a:p>
            <a:pPr marL="0" indent="0" algn="ctr">
              <a:buNone/>
              <a:defRPr/>
            </a:pPr>
            <a:r>
              <a:rPr lang="en-IN" altLang="en-US" sz="2800" kern="0" dirty="0">
                <a:solidFill>
                  <a:srgbClr val="C00000"/>
                </a:solidFill>
                <a:latin typeface="Georgia" pitchFamily="18" charset="0"/>
              </a:rPr>
              <a:t>Advanced </a:t>
            </a:r>
            <a:r>
              <a:rPr lang="en-IN" altLang="en-US" sz="2800" kern="0" dirty="0" smtClean="0">
                <a:solidFill>
                  <a:srgbClr val="C00000"/>
                </a:solidFill>
                <a:latin typeface="Georgia" pitchFamily="18" charset="0"/>
              </a:rPr>
              <a:t>DBMS (IT-24</a:t>
            </a:r>
            <a:r>
              <a:rPr lang="en-IN" altLang="en-US" sz="2800" kern="0" dirty="0">
                <a:solidFill>
                  <a:srgbClr val="C00000"/>
                </a:solidFill>
                <a:latin typeface="Georgia" pitchFamily="18" charset="0"/>
              </a:rPr>
              <a:t>) </a:t>
            </a:r>
            <a:endParaRPr lang="en-US" altLang="en-US" sz="2800" kern="0" dirty="0">
              <a:solidFill>
                <a:srgbClr val="C00000"/>
              </a:solidFill>
              <a:latin typeface="Georgia" pitchFamily="18" charset="0"/>
            </a:endParaRPr>
          </a:p>
        </p:txBody>
      </p:sp>
      <p:sp>
        <p:nvSpPr>
          <p:cNvPr id="8" name="Rectangle 5"/>
          <p:cNvSpPr txBox="1">
            <a:spLocks noChangeArrowheads="1"/>
          </p:cNvSpPr>
          <p:nvPr/>
        </p:nvSpPr>
        <p:spPr bwMode="auto">
          <a:xfrm>
            <a:off x="342900" y="2438400"/>
            <a:ext cx="8382000" cy="2971800"/>
          </a:xfrm>
          <a:prstGeom prst="rect">
            <a:avLst/>
          </a:prstGeom>
          <a:noFill/>
          <a:ln w="9525">
            <a:noFill/>
            <a:miter lim="800000"/>
            <a:headEnd/>
            <a:tailEnd/>
          </a:ln>
          <a:effectLst>
            <a:outerShdw dist="35921" dir="2700000" algn="ctr" rotWithShape="0">
              <a:schemeClr val="bg2"/>
            </a:outerShdw>
          </a:effectLst>
        </p:spPr>
        <p:txBody>
          <a:bodyPr/>
          <a:lstStyle/>
          <a:p>
            <a:pPr algn="ctr" eaLnBrk="1" hangingPunct="1">
              <a:spcBef>
                <a:spcPts val="0"/>
              </a:spcBef>
              <a:buClr>
                <a:srgbClr val="FF0066"/>
              </a:buClr>
              <a:defRPr/>
            </a:pPr>
            <a:r>
              <a:rPr lang="en-US" sz="5400" i="1" kern="0" dirty="0">
                <a:solidFill>
                  <a:srgbClr val="FF0000"/>
                </a:solidFill>
                <a:latin typeface="Georgia" pitchFamily="18" charset="0"/>
              </a:rPr>
              <a:t> </a:t>
            </a:r>
            <a:r>
              <a:rPr lang="en-US" sz="2800" b="1" kern="0" dirty="0">
                <a:solidFill>
                  <a:srgbClr val="00B050"/>
                </a:solidFill>
                <a:latin typeface="Georgia" pitchFamily="18" charset="0"/>
              </a:rPr>
              <a:t>Mr. </a:t>
            </a:r>
            <a:r>
              <a:rPr lang="en-US" sz="2800" b="1" kern="0" dirty="0" smtClean="0">
                <a:solidFill>
                  <a:srgbClr val="00B050"/>
                </a:solidFill>
                <a:latin typeface="Georgia" pitchFamily="18" charset="0"/>
              </a:rPr>
              <a:t>N. N. </a:t>
            </a:r>
            <a:r>
              <a:rPr lang="en-US" sz="2800" b="1" kern="0" dirty="0" err="1" smtClean="0">
                <a:solidFill>
                  <a:srgbClr val="00B050"/>
                </a:solidFill>
                <a:latin typeface="Georgia" pitchFamily="18" charset="0"/>
              </a:rPr>
              <a:t>Pachpor</a:t>
            </a:r>
            <a:endParaRPr lang="en-US" sz="2000" b="1" kern="0" dirty="0">
              <a:solidFill>
                <a:srgbClr val="00B050"/>
              </a:solidFill>
              <a:latin typeface="Georgia" pitchFamily="18" charset="0"/>
            </a:endParaRPr>
          </a:p>
          <a:p>
            <a:pPr algn="ctr" eaLnBrk="1" hangingPunct="1">
              <a:spcBef>
                <a:spcPts val="0"/>
              </a:spcBef>
              <a:buClr>
                <a:srgbClr val="FF0066"/>
              </a:buClr>
              <a:defRPr/>
            </a:pPr>
            <a:r>
              <a:rPr lang="en-US" sz="2000" kern="0" dirty="0">
                <a:solidFill>
                  <a:srgbClr val="FF0000"/>
                </a:solidFill>
                <a:latin typeface="Georgia" pitchFamily="18" charset="0"/>
              </a:rPr>
              <a:t> </a:t>
            </a:r>
            <a:r>
              <a:rPr lang="en-US" sz="2000" kern="0" dirty="0">
                <a:solidFill>
                  <a:srgbClr val="0070C0"/>
                </a:solidFill>
                <a:latin typeface="Georgia" pitchFamily="18" charset="0"/>
              </a:rPr>
              <a:t>Assistant Professor </a:t>
            </a:r>
          </a:p>
          <a:p>
            <a:pPr algn="ctr" eaLnBrk="1" hangingPunct="1">
              <a:spcBef>
                <a:spcPts val="0"/>
              </a:spcBef>
              <a:buClr>
                <a:srgbClr val="FF0066"/>
              </a:buClr>
              <a:defRPr/>
            </a:pPr>
            <a:r>
              <a:rPr lang="en-US" kern="0" dirty="0">
                <a:solidFill>
                  <a:srgbClr val="0070C0"/>
                </a:solidFill>
                <a:latin typeface="Georgia" pitchFamily="18" charset="0"/>
              </a:rPr>
              <a:t>Dept. </a:t>
            </a:r>
            <a:r>
              <a:rPr lang="en-US" kern="0" dirty="0" smtClean="0">
                <a:solidFill>
                  <a:srgbClr val="0070C0"/>
                </a:solidFill>
                <a:latin typeface="Georgia" pitchFamily="18" charset="0"/>
              </a:rPr>
              <a:t>of Master of Computer Application </a:t>
            </a:r>
            <a:endParaRPr lang="en-US" kern="0" dirty="0">
              <a:solidFill>
                <a:srgbClr val="0070C0"/>
              </a:solidFill>
              <a:latin typeface="Georgia" pitchFamily="18" charset="0"/>
            </a:endParaRPr>
          </a:p>
          <a:p>
            <a:pPr algn="ctr" eaLnBrk="1" hangingPunct="1">
              <a:lnSpc>
                <a:spcPct val="150000"/>
              </a:lnSpc>
              <a:spcBef>
                <a:spcPts val="0"/>
              </a:spcBef>
              <a:buClr>
                <a:srgbClr val="FF0066"/>
              </a:buClr>
              <a:defRPr/>
            </a:pPr>
            <a:r>
              <a:rPr lang="en-US" sz="2400" kern="0" dirty="0" smtClean="0">
                <a:solidFill>
                  <a:srgbClr val="C00000"/>
                </a:solidFill>
                <a:latin typeface="Georgia" pitchFamily="18" charset="0"/>
              </a:rPr>
              <a:t>IIMS, CHINCHWAD</a:t>
            </a:r>
          </a:p>
          <a:p>
            <a:pPr algn="ctr" eaLnBrk="1" hangingPunct="1">
              <a:lnSpc>
                <a:spcPct val="150000"/>
              </a:lnSpc>
              <a:spcBef>
                <a:spcPts val="0"/>
              </a:spcBef>
              <a:buClr>
                <a:srgbClr val="FF0066"/>
              </a:buClr>
              <a:defRPr/>
            </a:pPr>
            <a:r>
              <a:rPr lang="en-US" sz="2400" kern="0" dirty="0">
                <a:latin typeface="Georgia" pitchFamily="18" charset="0"/>
              </a:rPr>
              <a:t>n</a:t>
            </a:r>
            <a:r>
              <a:rPr lang="en-US" sz="2400" kern="0" dirty="0" smtClean="0">
                <a:latin typeface="Georgia" pitchFamily="18" charset="0"/>
              </a:rPr>
              <a:t>ishant.pachpor@iims.ac.in</a:t>
            </a:r>
          </a:p>
          <a:p>
            <a:pPr algn="ctr" eaLnBrk="1" hangingPunct="1">
              <a:lnSpc>
                <a:spcPct val="150000"/>
              </a:lnSpc>
              <a:spcBef>
                <a:spcPts val="0"/>
              </a:spcBef>
              <a:buClr>
                <a:srgbClr val="FF0066"/>
              </a:buClr>
              <a:defRPr/>
            </a:pPr>
            <a:r>
              <a:rPr lang="en-US" sz="2400" kern="0" dirty="0" smtClean="0">
                <a:latin typeface="Georgia" pitchFamily="18" charset="0"/>
              </a:rPr>
              <a:t>Cell</a:t>
            </a:r>
            <a:r>
              <a:rPr lang="en-US" sz="2400" kern="0" dirty="0">
                <a:latin typeface="Georgia" pitchFamily="18" charset="0"/>
              </a:rPr>
              <a:t>. +</a:t>
            </a:r>
            <a:r>
              <a:rPr lang="en-US" sz="2400" kern="0" dirty="0">
                <a:latin typeface="Times New Roman" panose="02020603050405020304" pitchFamily="18" charset="0"/>
                <a:cs typeface="Times New Roman" panose="02020603050405020304" pitchFamily="18" charset="0"/>
              </a:rPr>
              <a:t>91 9421888425</a:t>
            </a:r>
          </a:p>
        </p:txBody>
      </p:sp>
      <p:sp>
        <p:nvSpPr>
          <p:cNvPr id="5" name="Rectangle 4"/>
          <p:cNvSpPr/>
          <p:nvPr/>
        </p:nvSpPr>
        <p:spPr>
          <a:xfrm>
            <a:off x="103188" y="111125"/>
            <a:ext cx="7745412" cy="555625"/>
          </a:xfrm>
          <a:prstGeom prst="rect">
            <a:avLst/>
          </a:prstGeom>
        </p:spPr>
        <p:txBody>
          <a:bodyPr>
            <a:spAutoFit/>
          </a:bodyPr>
          <a:lstStyle/>
          <a:p>
            <a:pPr algn="ctr">
              <a:lnSpc>
                <a:spcPct val="115000"/>
              </a:lnSpc>
              <a:spcAft>
                <a:spcPts val="0"/>
              </a:spcAft>
              <a:defRPr/>
            </a:pPr>
            <a:r>
              <a:rPr lang="en-US" sz="2800" dirty="0">
                <a:solidFill>
                  <a:srgbClr val="C00000"/>
                </a:solidFill>
                <a:latin typeface="+mj-lt"/>
              </a:rPr>
              <a:t>Welcome</a:t>
            </a:r>
            <a:endParaRPr lang="en-IN" sz="2800" dirty="0"/>
          </a:p>
        </p:txBody>
      </p:sp>
    </p:spTree>
    <p:extLst>
      <p:ext uri="{BB962C8B-B14F-4D97-AF65-F5344CB8AC3E}">
        <p14:creationId xmlns:p14="http://schemas.microsoft.com/office/powerpoint/2010/main" val="41355657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ntr" presetSubtype="0" fill="hold" nodeType="afterEffect">
                                  <p:stCondLst>
                                    <p:cond delay="0"/>
                                  </p:stCondLst>
                                  <p:iterate type="lt">
                                    <p:tmPct val="10000"/>
                                  </p:iterate>
                                  <p:childTnLst>
                                    <p:set>
                                      <p:cBhvr>
                                        <p:cTn id="6" dur="1" fill="hold">
                                          <p:stCondLst>
                                            <p:cond delay="0"/>
                                          </p:stCondLst>
                                        </p:cTn>
                                        <p:tgtEl>
                                          <p:spTgt spid="7">
                                            <p:txEl>
                                              <p:pRg st="0" end="0"/>
                                            </p:txEl>
                                          </p:spTgt>
                                        </p:tgtEl>
                                        <p:attrNameLst>
                                          <p:attrName>style.visibility</p:attrName>
                                        </p:attrNameLst>
                                      </p:cBhvr>
                                      <p:to>
                                        <p:strVal val="visible"/>
                                      </p:to>
                                    </p:set>
                                    <p:anim calcmode="discrete" valueType="clr">
                                      <p:cBhvr override="childStyle">
                                        <p:cTn id="7" dur="1000"/>
                                        <p:tgtEl>
                                          <p:spTgt spid="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1000"/>
                                        <p:tgtEl>
                                          <p:spTgt spid="7">
                                            <p:txEl>
                                              <p:pRg st="0" end="0"/>
                                            </p:txEl>
                                          </p:spTgt>
                                        </p:tgtEl>
                                        <p:attrNameLst>
                                          <p:attrName>fillcolor</p:attrName>
                                        </p:attrNameLst>
                                      </p:cBhvr>
                                      <p:tavLst>
                                        <p:tav tm="0">
                                          <p:val>
                                            <p:clrVal>
                                              <a:schemeClr val="accent2"/>
                                            </p:clrVal>
                                          </p:val>
                                        </p:tav>
                                        <p:tav tm="50000">
                                          <p:val>
                                            <p:clrVal>
                                              <a:schemeClr val="hlink"/>
                                            </p:clrVal>
                                          </p:val>
                                        </p:tav>
                                      </p:tavLst>
                                    </p:anim>
                                    <p:set>
                                      <p:cBhvr>
                                        <p:cTn id="9" dur="1000"/>
                                        <p:tgtEl>
                                          <p:spTgt spid="7">
                                            <p:txEl>
                                              <p:pRg st="0" end="0"/>
                                            </p:txEl>
                                          </p:spTgt>
                                        </p:tgtEl>
                                        <p:attrNameLst>
                                          <p:attrName>fill.type</p:attrName>
                                        </p:attrNameLst>
                                      </p:cBhvr>
                                      <p:to>
                                        <p:strVal val="solid"/>
                                      </p:to>
                                    </p:set>
                                  </p:childTnLst>
                                </p:cTn>
                              </p:par>
                            </p:childTnLst>
                          </p:cTn>
                        </p:par>
                        <p:par>
                          <p:cTn id="10" fill="hold" nodeType="afterGroup">
                            <p:stCondLst>
                              <p:cond delay="900"/>
                            </p:stCondLst>
                            <p:childTnLst>
                              <p:par>
                                <p:cTn id="11" presetID="27" presetClass="entr" presetSubtype="0" fill="hold" nodeType="afterEffect">
                                  <p:stCondLst>
                                    <p:cond delay="0"/>
                                  </p:stCondLst>
                                  <p:iterate type="lt">
                                    <p:tmPct val="10000"/>
                                  </p:iterate>
                                  <p:childTnLst>
                                    <p:set>
                                      <p:cBhvr>
                                        <p:cTn id="12" dur="1" fill="hold">
                                          <p:stCondLst>
                                            <p:cond delay="0"/>
                                          </p:stCondLst>
                                        </p:cTn>
                                        <p:tgtEl>
                                          <p:spTgt spid="8">
                                            <p:txEl>
                                              <p:pRg st="0" end="0"/>
                                            </p:txEl>
                                          </p:spTgt>
                                        </p:tgtEl>
                                        <p:attrNameLst>
                                          <p:attrName>style.visibility</p:attrName>
                                        </p:attrNameLst>
                                      </p:cBhvr>
                                      <p:to>
                                        <p:strVal val="visible"/>
                                      </p:to>
                                    </p:set>
                                    <p:anim calcmode="discrete" valueType="clr">
                                      <p:cBhvr override="childStyle">
                                        <p:cTn id="13" dur="1000"/>
                                        <p:tgtEl>
                                          <p:spTgt spid="8">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 dur="1000"/>
                                        <p:tgtEl>
                                          <p:spTgt spid="8">
                                            <p:txEl>
                                              <p:pRg st="0" end="0"/>
                                            </p:txEl>
                                          </p:spTgt>
                                        </p:tgtEl>
                                        <p:attrNameLst>
                                          <p:attrName>fillcolor</p:attrName>
                                        </p:attrNameLst>
                                      </p:cBhvr>
                                      <p:tavLst>
                                        <p:tav tm="0">
                                          <p:val>
                                            <p:clrVal>
                                              <a:schemeClr val="accent2"/>
                                            </p:clrVal>
                                          </p:val>
                                        </p:tav>
                                        <p:tav tm="50000">
                                          <p:val>
                                            <p:clrVal>
                                              <a:schemeClr val="hlink"/>
                                            </p:clrVal>
                                          </p:val>
                                        </p:tav>
                                      </p:tavLst>
                                    </p:anim>
                                    <p:set>
                                      <p:cBhvr>
                                        <p:cTn id="15" dur="1000"/>
                                        <p:tgtEl>
                                          <p:spTgt spid="8">
                                            <p:txEl>
                                              <p:pRg st="0" end="0"/>
                                            </p:txEl>
                                          </p:spTgt>
                                        </p:tgtEl>
                                        <p:attrNameLst>
                                          <p:attrName>fill.type</p:attrName>
                                        </p:attrNameLst>
                                      </p:cBhvr>
                                      <p:to>
                                        <p:strVal val="solid"/>
                                      </p:to>
                                    </p:set>
                                  </p:childTnLst>
                                </p:cTn>
                              </p:par>
                            </p:childTnLst>
                          </p:cTn>
                        </p:par>
                        <p:par>
                          <p:cTn id="16" fill="hold" nodeType="afterGroup">
                            <p:stCondLst>
                              <p:cond delay="3200"/>
                            </p:stCondLst>
                            <p:childTnLst>
                              <p:par>
                                <p:cTn id="17" presetID="27" presetClass="entr" presetSubtype="0" fill="hold" nodeType="afterEffect">
                                  <p:stCondLst>
                                    <p:cond delay="0"/>
                                  </p:stCondLst>
                                  <p:iterate type="lt">
                                    <p:tmPct val="10000"/>
                                  </p:iterate>
                                  <p:childTnLst>
                                    <p:set>
                                      <p:cBhvr>
                                        <p:cTn id="18" dur="1" fill="hold">
                                          <p:stCondLst>
                                            <p:cond delay="0"/>
                                          </p:stCondLst>
                                        </p:cTn>
                                        <p:tgtEl>
                                          <p:spTgt spid="8">
                                            <p:txEl>
                                              <p:pRg st="1" end="1"/>
                                            </p:txEl>
                                          </p:spTgt>
                                        </p:tgtEl>
                                        <p:attrNameLst>
                                          <p:attrName>style.visibility</p:attrName>
                                        </p:attrNameLst>
                                      </p:cBhvr>
                                      <p:to>
                                        <p:strVal val="visible"/>
                                      </p:to>
                                    </p:set>
                                    <p:anim calcmode="discrete" valueType="clr">
                                      <p:cBhvr override="childStyle">
                                        <p:cTn id="19" dur="1000"/>
                                        <p:tgtEl>
                                          <p:spTgt spid="8">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1000"/>
                                        <p:tgtEl>
                                          <p:spTgt spid="8">
                                            <p:txEl>
                                              <p:pRg st="1" end="1"/>
                                            </p:txEl>
                                          </p:spTgt>
                                        </p:tgtEl>
                                        <p:attrNameLst>
                                          <p:attrName>fillcolor</p:attrName>
                                        </p:attrNameLst>
                                      </p:cBhvr>
                                      <p:tavLst>
                                        <p:tav tm="0">
                                          <p:val>
                                            <p:clrVal>
                                              <a:schemeClr val="accent2"/>
                                            </p:clrVal>
                                          </p:val>
                                        </p:tav>
                                        <p:tav tm="50000">
                                          <p:val>
                                            <p:clrVal>
                                              <a:schemeClr val="hlink"/>
                                            </p:clrVal>
                                          </p:val>
                                        </p:tav>
                                      </p:tavLst>
                                    </p:anim>
                                    <p:set>
                                      <p:cBhvr>
                                        <p:cTn id="21" dur="1000"/>
                                        <p:tgtEl>
                                          <p:spTgt spid="8">
                                            <p:txEl>
                                              <p:pRg st="1" end="1"/>
                                            </p:txEl>
                                          </p:spTgt>
                                        </p:tgtEl>
                                        <p:attrNameLst>
                                          <p:attrName>fill.type</p:attrName>
                                        </p:attrNameLst>
                                      </p:cBhvr>
                                      <p:to>
                                        <p:strVal val="solid"/>
                                      </p:to>
                                    </p:set>
                                  </p:childTnLst>
                                </p:cTn>
                              </p:par>
                            </p:childTnLst>
                          </p:cTn>
                        </p:par>
                        <p:par>
                          <p:cTn id="22" fill="hold" nodeType="afterGroup">
                            <p:stCondLst>
                              <p:cond delay="5900"/>
                            </p:stCondLst>
                            <p:childTnLst>
                              <p:par>
                                <p:cTn id="23" presetID="27" presetClass="entr" presetSubtype="0" fill="hold" nodeType="afterEffect">
                                  <p:stCondLst>
                                    <p:cond delay="0"/>
                                  </p:stCondLst>
                                  <p:iterate type="lt">
                                    <p:tmPct val="10000"/>
                                  </p:iterate>
                                  <p:childTnLst>
                                    <p:set>
                                      <p:cBhvr>
                                        <p:cTn id="24" dur="1" fill="hold">
                                          <p:stCondLst>
                                            <p:cond delay="0"/>
                                          </p:stCondLst>
                                        </p:cTn>
                                        <p:tgtEl>
                                          <p:spTgt spid="8">
                                            <p:txEl>
                                              <p:pRg st="2" end="2"/>
                                            </p:txEl>
                                          </p:spTgt>
                                        </p:tgtEl>
                                        <p:attrNameLst>
                                          <p:attrName>style.visibility</p:attrName>
                                        </p:attrNameLst>
                                      </p:cBhvr>
                                      <p:to>
                                        <p:strVal val="visible"/>
                                      </p:to>
                                    </p:set>
                                    <p:anim calcmode="discrete" valueType="clr">
                                      <p:cBhvr override="childStyle">
                                        <p:cTn id="25" dur="1000"/>
                                        <p:tgtEl>
                                          <p:spTgt spid="8">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6" dur="1000"/>
                                        <p:tgtEl>
                                          <p:spTgt spid="8">
                                            <p:txEl>
                                              <p:pRg st="2" end="2"/>
                                            </p:txEl>
                                          </p:spTgt>
                                        </p:tgtEl>
                                        <p:attrNameLst>
                                          <p:attrName>fillcolor</p:attrName>
                                        </p:attrNameLst>
                                      </p:cBhvr>
                                      <p:tavLst>
                                        <p:tav tm="0">
                                          <p:val>
                                            <p:clrVal>
                                              <a:schemeClr val="accent2"/>
                                            </p:clrVal>
                                          </p:val>
                                        </p:tav>
                                        <p:tav tm="50000">
                                          <p:val>
                                            <p:clrVal>
                                              <a:schemeClr val="hlink"/>
                                            </p:clrVal>
                                          </p:val>
                                        </p:tav>
                                      </p:tavLst>
                                    </p:anim>
                                    <p:set>
                                      <p:cBhvr>
                                        <p:cTn id="27" dur="1000"/>
                                        <p:tgtEl>
                                          <p:spTgt spid="8">
                                            <p:txEl>
                                              <p:pRg st="2" end="2"/>
                                            </p:txEl>
                                          </p:spTgt>
                                        </p:tgtEl>
                                        <p:attrNameLst>
                                          <p:attrName>fill.type</p:attrName>
                                        </p:attrNameLst>
                                      </p:cBhvr>
                                      <p:to>
                                        <p:strVal val="solid"/>
                                      </p:to>
                                    </p:set>
                                  </p:childTnLst>
                                </p:cTn>
                              </p:par>
                            </p:childTnLst>
                          </p:cTn>
                        </p:par>
                        <p:par>
                          <p:cTn id="28" fill="hold">
                            <p:stCondLst>
                              <p:cond delay="10200"/>
                            </p:stCondLst>
                            <p:childTnLst>
                              <p:par>
                                <p:cTn id="29" presetID="27" presetClass="entr" presetSubtype="0" fill="hold" nodeType="afterEffect">
                                  <p:stCondLst>
                                    <p:cond delay="0"/>
                                  </p:stCondLst>
                                  <p:iterate type="lt">
                                    <p:tmPct val="10000"/>
                                  </p:iterate>
                                  <p:childTnLst>
                                    <p:set>
                                      <p:cBhvr>
                                        <p:cTn id="30" dur="1" fill="hold">
                                          <p:stCondLst>
                                            <p:cond delay="0"/>
                                          </p:stCondLst>
                                        </p:cTn>
                                        <p:tgtEl>
                                          <p:spTgt spid="8">
                                            <p:txEl>
                                              <p:pRg st="3" end="3"/>
                                            </p:txEl>
                                          </p:spTgt>
                                        </p:tgtEl>
                                        <p:attrNameLst>
                                          <p:attrName>style.visibility</p:attrName>
                                        </p:attrNameLst>
                                      </p:cBhvr>
                                      <p:to>
                                        <p:strVal val="visible"/>
                                      </p:to>
                                    </p:set>
                                    <p:anim calcmode="discrete" valueType="clr">
                                      <p:cBhvr override="childStyle">
                                        <p:cTn id="31" dur="1000"/>
                                        <p:tgtEl>
                                          <p:spTgt spid="8">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1000"/>
                                        <p:tgtEl>
                                          <p:spTgt spid="8">
                                            <p:txEl>
                                              <p:pRg st="3" end="3"/>
                                            </p:txEl>
                                          </p:spTgt>
                                        </p:tgtEl>
                                        <p:attrNameLst>
                                          <p:attrName>fillcolor</p:attrName>
                                        </p:attrNameLst>
                                      </p:cBhvr>
                                      <p:tavLst>
                                        <p:tav tm="0">
                                          <p:val>
                                            <p:clrVal>
                                              <a:schemeClr val="accent2"/>
                                            </p:clrVal>
                                          </p:val>
                                        </p:tav>
                                        <p:tav tm="50000">
                                          <p:val>
                                            <p:clrVal>
                                              <a:schemeClr val="hlink"/>
                                            </p:clrVal>
                                          </p:val>
                                        </p:tav>
                                      </p:tavLst>
                                    </p:anim>
                                    <p:set>
                                      <p:cBhvr>
                                        <p:cTn id="33" dur="1000"/>
                                        <p:tgtEl>
                                          <p:spTgt spid="8">
                                            <p:txEl>
                                              <p:pRg st="3" end="3"/>
                                            </p:txEl>
                                          </p:spTgt>
                                        </p:tgtEl>
                                        <p:attrNameLst>
                                          <p:attrName>fill.type</p:attrName>
                                        </p:attrNameLst>
                                      </p:cBhvr>
                                      <p:to>
                                        <p:strVal val="solid"/>
                                      </p:to>
                                    </p:set>
                                  </p:childTnLst>
                                </p:cTn>
                              </p:par>
                            </p:childTnLst>
                          </p:cTn>
                        </p:par>
                        <p:par>
                          <p:cTn id="34" fill="hold">
                            <p:stCondLst>
                              <p:cond delay="12500"/>
                            </p:stCondLst>
                            <p:childTnLst>
                              <p:par>
                                <p:cTn id="35" presetID="27" presetClass="entr" presetSubtype="0" fill="hold" nodeType="afterEffect">
                                  <p:stCondLst>
                                    <p:cond delay="0"/>
                                  </p:stCondLst>
                                  <p:iterate type="lt">
                                    <p:tmPct val="10000"/>
                                  </p:iterate>
                                  <p:childTnLst>
                                    <p:set>
                                      <p:cBhvr>
                                        <p:cTn id="36" dur="1" fill="hold">
                                          <p:stCondLst>
                                            <p:cond delay="0"/>
                                          </p:stCondLst>
                                        </p:cTn>
                                        <p:tgtEl>
                                          <p:spTgt spid="8">
                                            <p:txEl>
                                              <p:pRg st="4" end="4"/>
                                            </p:txEl>
                                          </p:spTgt>
                                        </p:tgtEl>
                                        <p:attrNameLst>
                                          <p:attrName>style.visibility</p:attrName>
                                        </p:attrNameLst>
                                      </p:cBhvr>
                                      <p:to>
                                        <p:strVal val="visible"/>
                                      </p:to>
                                    </p:set>
                                    <p:anim calcmode="discrete" valueType="clr">
                                      <p:cBhvr override="childStyle">
                                        <p:cTn id="37" dur="1000"/>
                                        <p:tgtEl>
                                          <p:spTgt spid="8">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8" dur="1000"/>
                                        <p:tgtEl>
                                          <p:spTgt spid="8">
                                            <p:txEl>
                                              <p:pRg st="4" end="4"/>
                                            </p:txEl>
                                          </p:spTgt>
                                        </p:tgtEl>
                                        <p:attrNameLst>
                                          <p:attrName>fillcolor</p:attrName>
                                        </p:attrNameLst>
                                      </p:cBhvr>
                                      <p:tavLst>
                                        <p:tav tm="0">
                                          <p:val>
                                            <p:clrVal>
                                              <a:schemeClr val="accent2"/>
                                            </p:clrVal>
                                          </p:val>
                                        </p:tav>
                                        <p:tav tm="50000">
                                          <p:val>
                                            <p:clrVal>
                                              <a:schemeClr val="hlink"/>
                                            </p:clrVal>
                                          </p:val>
                                        </p:tav>
                                      </p:tavLst>
                                    </p:anim>
                                    <p:set>
                                      <p:cBhvr>
                                        <p:cTn id="39" dur="1000"/>
                                        <p:tgtEl>
                                          <p:spTgt spid="8">
                                            <p:txEl>
                                              <p:pRg st="4" end="4"/>
                                            </p:txEl>
                                          </p:spTgt>
                                        </p:tgtEl>
                                        <p:attrNameLst>
                                          <p:attrName>fill.type</p:attrName>
                                        </p:attrNameLst>
                                      </p:cBhvr>
                                      <p:to>
                                        <p:strVal val="solid"/>
                                      </p:to>
                                    </p:set>
                                  </p:childTnLst>
                                </p:cTn>
                              </p:par>
                            </p:childTnLst>
                          </p:cTn>
                        </p:par>
                        <p:par>
                          <p:cTn id="40" fill="hold" nodeType="afterGroup">
                            <p:stCondLst>
                              <p:cond delay="16000"/>
                            </p:stCondLst>
                            <p:childTnLst>
                              <p:par>
                                <p:cTn id="41" presetID="27" presetClass="entr" presetSubtype="0" fill="hold" nodeType="afterEffect">
                                  <p:stCondLst>
                                    <p:cond delay="0"/>
                                  </p:stCondLst>
                                  <p:iterate type="lt">
                                    <p:tmPct val="10000"/>
                                  </p:iterate>
                                  <p:childTnLst>
                                    <p:set>
                                      <p:cBhvr>
                                        <p:cTn id="42" dur="1" fill="hold">
                                          <p:stCondLst>
                                            <p:cond delay="0"/>
                                          </p:stCondLst>
                                        </p:cTn>
                                        <p:tgtEl>
                                          <p:spTgt spid="8">
                                            <p:txEl>
                                              <p:pRg st="5" end="5"/>
                                            </p:txEl>
                                          </p:spTgt>
                                        </p:tgtEl>
                                        <p:attrNameLst>
                                          <p:attrName>style.visibility</p:attrName>
                                        </p:attrNameLst>
                                      </p:cBhvr>
                                      <p:to>
                                        <p:strVal val="visible"/>
                                      </p:to>
                                    </p:set>
                                    <p:anim calcmode="discrete" valueType="clr">
                                      <p:cBhvr override="childStyle">
                                        <p:cTn id="43" dur="1000"/>
                                        <p:tgtEl>
                                          <p:spTgt spid="8">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4" dur="1000"/>
                                        <p:tgtEl>
                                          <p:spTgt spid="8">
                                            <p:txEl>
                                              <p:pRg st="5" end="5"/>
                                            </p:txEl>
                                          </p:spTgt>
                                        </p:tgtEl>
                                        <p:attrNameLst>
                                          <p:attrName>fillcolor</p:attrName>
                                        </p:attrNameLst>
                                      </p:cBhvr>
                                      <p:tavLst>
                                        <p:tav tm="0">
                                          <p:val>
                                            <p:clrVal>
                                              <a:schemeClr val="accent2"/>
                                            </p:clrVal>
                                          </p:val>
                                        </p:tav>
                                        <p:tav tm="50000">
                                          <p:val>
                                            <p:clrVal>
                                              <a:schemeClr val="hlink"/>
                                            </p:clrVal>
                                          </p:val>
                                        </p:tav>
                                      </p:tavLst>
                                    </p:anim>
                                    <p:set>
                                      <p:cBhvr>
                                        <p:cTn id="45" dur="1000"/>
                                        <p:tgtEl>
                                          <p:spTgt spid="8">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251520" y="603247"/>
            <a:ext cx="8064895"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a:r>
              <a:rPr lang="en-IN" altLang="en-US" sz="1400" b="1" dirty="0" smtClean="0">
                <a:solidFill>
                  <a:srgbClr val="000000"/>
                </a:solidFill>
                <a:latin typeface="Times New Roman" pitchFamily="18" charset="0"/>
                <a:cs typeface="Calibri" pitchFamily="34" charset="0"/>
              </a:rPr>
              <a:t>Contents:  </a:t>
            </a:r>
            <a:r>
              <a:rPr lang="en-IN" sz="1400" b="1" dirty="0" smtClean="0"/>
              <a:t>Principle </a:t>
            </a:r>
            <a:r>
              <a:rPr lang="en-IN" sz="1400" b="1" dirty="0"/>
              <a:t>of Layering </a:t>
            </a:r>
            <a:r>
              <a:rPr lang="en-IN" sz="1400" b="1" dirty="0" smtClean="0"/>
              <a:t>concept :-</a:t>
            </a:r>
            <a:r>
              <a:rPr lang="en-IN" sz="1400" b="1" dirty="0"/>
              <a:t>Introduction DBMS – Concepts &amp; Architectures</a:t>
            </a:r>
            <a:br>
              <a:rPr lang="en-IN" sz="1400" b="1" dirty="0"/>
            </a:br>
            <a:r>
              <a:rPr lang="en-US" sz="1400" dirty="0"/>
              <a:t>1.1 Database and Need for DBMS, Characteristics </a:t>
            </a:r>
            <a:r>
              <a:rPr lang="en-US" sz="1400" dirty="0" smtClean="0"/>
              <a:t>of </a:t>
            </a:r>
            <a:r>
              <a:rPr lang="en-IN" sz="1400" dirty="0" smtClean="0"/>
              <a:t>DBMS</a:t>
            </a:r>
            <a:r>
              <a:rPr lang="en-IN" sz="1400" dirty="0"/>
              <a:t/>
            </a:r>
            <a:br>
              <a:rPr lang="en-IN" sz="1400" dirty="0"/>
            </a:br>
            <a:r>
              <a:rPr lang="en-IN" sz="1400" dirty="0"/>
              <a:t>1.2 Database 3-tier schema (ANSI/SPARC) </a:t>
            </a:r>
            <a:r>
              <a:rPr lang="en-IN" sz="1400" dirty="0" smtClean="0"/>
              <a:t>and system </a:t>
            </a:r>
            <a:r>
              <a:rPr lang="en-IN" sz="1400" dirty="0"/>
              <a:t>architecture of DBMS</a:t>
            </a:r>
            <a:br>
              <a:rPr lang="en-IN" sz="1400" dirty="0"/>
            </a:br>
            <a:r>
              <a:rPr lang="en-US" sz="1400" dirty="0"/>
              <a:t>1.3 Views of data- Schemas and instances, </a:t>
            </a:r>
            <a:r>
              <a:rPr lang="en-US" sz="1400" dirty="0" smtClean="0"/>
              <a:t>Data </a:t>
            </a:r>
            <a:r>
              <a:rPr lang="en-IN" sz="1400" dirty="0" smtClean="0"/>
              <a:t>Independence</a:t>
            </a:r>
            <a:r>
              <a:rPr lang="en-IN" sz="1400" dirty="0"/>
              <a:t/>
            </a:r>
            <a:br>
              <a:rPr lang="en-IN" sz="1400" dirty="0"/>
            </a:br>
            <a:r>
              <a:rPr lang="en-US" sz="1400" dirty="0"/>
              <a:t>1.4 Centralized, Client-Server system, </a:t>
            </a:r>
            <a:r>
              <a:rPr lang="en-US" sz="1400" dirty="0" smtClean="0"/>
              <a:t>Transaction servers</a:t>
            </a:r>
            <a:r>
              <a:rPr lang="en-US" sz="1400" dirty="0"/>
              <a:t>, Data servers, Cloud based </a:t>
            </a:r>
            <a:r>
              <a:rPr lang="en-US" sz="1400" dirty="0" smtClean="0"/>
              <a:t>servers</a:t>
            </a:r>
            <a:endParaRPr lang="en-IN" altLang="en-US" sz="1400" dirty="0">
              <a:solidFill>
                <a:srgbClr val="000000"/>
              </a:solidFill>
              <a:latin typeface="Times New Roman" pitchFamily="18" charset="0"/>
              <a:ea typeface="Calibri" pitchFamily="34" charset="0"/>
              <a:cs typeface="Times New Roman" pitchFamily="18" charset="0"/>
            </a:endParaRPr>
          </a:p>
        </p:txBody>
      </p:sp>
      <p:sp>
        <p:nvSpPr>
          <p:cNvPr id="5" name="Rectangle 4"/>
          <p:cNvSpPr/>
          <p:nvPr/>
        </p:nvSpPr>
        <p:spPr>
          <a:xfrm>
            <a:off x="103188" y="111125"/>
            <a:ext cx="8069212" cy="492122"/>
          </a:xfrm>
          <a:prstGeom prst="rect">
            <a:avLst/>
          </a:prstGeom>
        </p:spPr>
        <p:txBody>
          <a:bodyPr wrap="square">
            <a:spAutoFit/>
          </a:bodyPr>
          <a:lstStyle/>
          <a:p>
            <a:pPr algn="ctr">
              <a:lnSpc>
                <a:spcPct val="115000"/>
              </a:lnSpc>
              <a:spcAft>
                <a:spcPts val="0"/>
              </a:spcAft>
              <a:defRPr/>
            </a:pPr>
            <a:r>
              <a:rPr lang="en-US" sz="2400" b="1" dirty="0" smtClean="0">
                <a:solidFill>
                  <a:srgbClr val="C00000"/>
                </a:solidFill>
                <a:latin typeface="+mj-lt"/>
                <a:ea typeface="Calibri" panose="020F0502020204030204" pitchFamily="34" charset="0"/>
              </a:rPr>
              <a:t>Unit-I</a:t>
            </a:r>
            <a:r>
              <a:rPr lang="en-US" sz="2400" b="1" dirty="0">
                <a:solidFill>
                  <a:srgbClr val="C00000"/>
                </a:solidFill>
                <a:latin typeface="+mj-lt"/>
                <a:ea typeface="Calibri" panose="020F0502020204030204" pitchFamily="34" charset="0"/>
              </a:rPr>
              <a:t>:  Introduction DBMS – Concepts &amp; Architectures</a:t>
            </a:r>
            <a:endParaRPr lang="en-IN" sz="2400" b="1" dirty="0"/>
          </a:p>
        </p:txBody>
      </p:sp>
      <p:sp>
        <p:nvSpPr>
          <p:cNvPr id="7" name="Rectangle 4"/>
          <p:cNvSpPr>
            <a:spLocks noChangeArrowheads="1"/>
          </p:cNvSpPr>
          <p:nvPr/>
        </p:nvSpPr>
        <p:spPr bwMode="auto">
          <a:xfrm>
            <a:off x="120650" y="1844824"/>
            <a:ext cx="8797925" cy="824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IN" altLang="en-US" sz="1400" b="1" i="1" dirty="0" smtClean="0">
                <a:latin typeface="Times New Roman" panose="02020603050405020304" pitchFamily="18" charset="0"/>
                <a:cs typeface="Times New Roman" panose="02020603050405020304" pitchFamily="18" charset="0"/>
              </a:rPr>
              <a:t>Unit Objectives and outcomes: </a:t>
            </a:r>
            <a:r>
              <a:rPr lang="en-IN" altLang="en-US" sz="1400" i="1" dirty="0" smtClean="0">
                <a:latin typeface="Times New Roman" panose="02020603050405020304" pitchFamily="18" charset="0"/>
                <a:cs typeface="Times New Roman" panose="02020603050405020304" pitchFamily="18" charset="0"/>
              </a:rPr>
              <a:t>On completion the students will be able to:</a:t>
            </a:r>
            <a:endParaRPr lang="en-IN" altLang="en-US" sz="1400" dirty="0" smtClean="0">
              <a:latin typeface="Cambria" panose="02040503050406030204" pitchFamily="18" charset="0"/>
            </a:endParaRPr>
          </a:p>
          <a:p>
            <a:pPr lvl="1">
              <a:lnSpc>
                <a:spcPct val="120000"/>
              </a:lnSpc>
              <a:buFont typeface="Calibri" panose="020F0502020204030204" pitchFamily="34" charset="0"/>
              <a:buAutoNum type="arabicPeriod"/>
              <a:defRPr/>
            </a:pPr>
            <a:r>
              <a:rPr lang="en-US" altLang="en-US" sz="1400" dirty="0" smtClean="0">
                <a:latin typeface="Cambria" panose="02040503050406030204" pitchFamily="18" charset="0"/>
              </a:rPr>
              <a:t>To </a:t>
            </a:r>
            <a:r>
              <a:rPr lang="en-US" altLang="en-US" sz="1400" dirty="0">
                <a:latin typeface="Cambria" panose="02040503050406030204" pitchFamily="18" charset="0"/>
              </a:rPr>
              <a:t>understand core concepts of database management system and its types</a:t>
            </a:r>
            <a:endParaRPr lang="en-IN" altLang="en-US" sz="1400" dirty="0" smtClean="0">
              <a:latin typeface="Cambria" panose="02040503050406030204" pitchFamily="18" charset="0"/>
            </a:endParaRPr>
          </a:p>
          <a:p>
            <a:pPr marL="457200" lvl="1" indent="0">
              <a:lnSpc>
                <a:spcPct val="120000"/>
              </a:lnSpc>
              <a:defRPr/>
            </a:pPr>
            <a:endParaRPr lang="en-IN" altLang="en-US" sz="1400" dirty="0" smtClean="0">
              <a:latin typeface="Cambria" panose="02040503050406030204" pitchFamily="18" charset="0"/>
            </a:endParaRPr>
          </a:p>
        </p:txBody>
      </p:sp>
      <p:sp>
        <p:nvSpPr>
          <p:cNvPr id="8" name="Rectangle 6"/>
          <p:cNvSpPr>
            <a:spLocks noChangeArrowheads="1"/>
          </p:cNvSpPr>
          <p:nvPr/>
        </p:nvSpPr>
        <p:spPr bwMode="auto">
          <a:xfrm>
            <a:off x="114449" y="3238649"/>
            <a:ext cx="8601075"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631825" indent="-34290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a:lnSpc>
                <a:spcPct val="115000"/>
              </a:lnSpc>
            </a:pPr>
            <a:r>
              <a:rPr lang="en-IN" altLang="en-US" sz="1400" b="1" i="1" dirty="0">
                <a:latin typeface="Times New Roman" pitchFamily="18" charset="0"/>
                <a:cs typeface="Times New Roman" pitchFamily="18" charset="0"/>
              </a:rPr>
              <a:t>Unit outcomes </a:t>
            </a:r>
            <a:r>
              <a:rPr lang="en-IN" altLang="en-US" sz="1400" b="1" dirty="0">
                <a:latin typeface="Times New Roman" pitchFamily="18" charset="0"/>
                <a:cs typeface="Times New Roman" pitchFamily="18" charset="0"/>
              </a:rPr>
              <a:t>: </a:t>
            </a:r>
            <a:r>
              <a:rPr lang="en-IN" altLang="en-US" sz="1400" dirty="0">
                <a:latin typeface="Times New Roman" pitchFamily="18" charset="0"/>
                <a:cs typeface="Times New Roman" pitchFamily="18" charset="0"/>
              </a:rPr>
              <a:t>On completion the students will  be able to  </a:t>
            </a:r>
            <a:endParaRPr lang="en-IN" altLang="en-US" sz="1400" dirty="0">
              <a:latin typeface="Calibri" pitchFamily="34" charset="0"/>
              <a:cs typeface="Times New Roman" pitchFamily="18" charset="0"/>
            </a:endParaRPr>
          </a:p>
          <a:p>
            <a:pPr lvl="1">
              <a:lnSpc>
                <a:spcPct val="120000"/>
              </a:lnSpc>
              <a:buFont typeface="Calibri" pitchFamily="34" charset="0"/>
              <a:buAutoNum type="arabicPeriod"/>
            </a:pPr>
            <a:endParaRPr lang="en-IN" altLang="en-US" sz="1400" dirty="0">
              <a:latin typeface="Cambria" pitchFamily="18" charset="0"/>
            </a:endParaRPr>
          </a:p>
          <a:p>
            <a:pPr lvl="1">
              <a:lnSpc>
                <a:spcPct val="120000"/>
              </a:lnSpc>
              <a:buFont typeface="Calibri" pitchFamily="34" charset="0"/>
              <a:buAutoNum type="arabicPeriod"/>
            </a:pPr>
            <a:endParaRPr lang="en-IN" altLang="en-US" sz="1400" dirty="0">
              <a:latin typeface="Cambria" pitchFamily="18" charset="0"/>
            </a:endParaRPr>
          </a:p>
          <a:p>
            <a:pPr lvl="1">
              <a:lnSpc>
                <a:spcPct val="120000"/>
              </a:lnSpc>
              <a:buFont typeface="Calibri" pitchFamily="34" charset="0"/>
              <a:buAutoNum type="arabicPeriod"/>
            </a:pPr>
            <a:endParaRPr lang="en-US" altLang="en-US" sz="1400" dirty="0">
              <a:latin typeface="Cambria" pitchFamily="18" charset="0"/>
            </a:endParaRPr>
          </a:p>
        </p:txBody>
      </p:sp>
      <p:sp>
        <p:nvSpPr>
          <p:cNvPr id="9" name="Content Placeholder 2"/>
          <p:cNvSpPr txBox="1">
            <a:spLocks/>
          </p:cNvSpPr>
          <p:nvPr/>
        </p:nvSpPr>
        <p:spPr>
          <a:xfrm>
            <a:off x="177800" y="5489575"/>
            <a:ext cx="8937625" cy="91757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Font typeface="Arial" panose="020B0604020202020204" pitchFamily="34" charset="0"/>
              <a:buNone/>
              <a:defRPr/>
            </a:pPr>
            <a:r>
              <a:rPr lang="en-US" sz="1400" dirty="0" smtClean="0">
                <a:latin typeface="Times New Roman" panose="02020603050405020304" pitchFamily="18" charset="0"/>
                <a:cs typeface="Times New Roman" panose="02020603050405020304" pitchFamily="18" charset="0"/>
              </a:rPr>
              <a:t> </a:t>
            </a:r>
            <a:r>
              <a:rPr lang="en-US" sz="1400" b="1" dirty="0" smtClean="0">
                <a:latin typeface="Times New Roman" panose="02020603050405020304" pitchFamily="18" charset="0"/>
                <a:cs typeface="Times New Roman" panose="02020603050405020304" pitchFamily="18" charset="0"/>
              </a:rPr>
              <a:t>Books used </a:t>
            </a:r>
          </a:p>
          <a:p>
            <a:pPr>
              <a:spcBef>
                <a:spcPct val="0"/>
              </a:spcBef>
              <a:buFont typeface="Arial" panose="020B0604020202020204" pitchFamily="34" charset="0"/>
              <a:buAutoNum type="arabicPeriod"/>
              <a:defRPr/>
            </a:pPr>
            <a:r>
              <a:rPr lang="en-US" sz="1400" dirty="0">
                <a:latin typeface="Times New Roman" panose="02020603050405020304" pitchFamily="18" charset="0"/>
                <a:cs typeface="Times New Roman" panose="02020603050405020304" pitchFamily="18" charset="0"/>
              </a:rPr>
              <a:t>Introduction to database systems C.J. Date, Pearson</a:t>
            </a:r>
            <a:r>
              <a:rPr lang="en-US" sz="1400" dirty="0" smtClean="0">
                <a:latin typeface="Times New Roman" panose="02020603050405020304" pitchFamily="18" charset="0"/>
                <a:cs typeface="Times New Roman" panose="02020603050405020304" pitchFamily="18" charset="0"/>
              </a:rPr>
              <a:t>.</a:t>
            </a:r>
          </a:p>
          <a:p>
            <a:pPr>
              <a:spcBef>
                <a:spcPct val="0"/>
              </a:spcBef>
              <a:buFont typeface="Arial" panose="020B0604020202020204" pitchFamily="34" charset="0"/>
              <a:buAutoNum type="arabicPeriod"/>
              <a:defRPr/>
            </a:pPr>
            <a:r>
              <a:rPr lang="en-US" sz="1400" dirty="0">
                <a:latin typeface="Times New Roman" panose="02020603050405020304" pitchFamily="18" charset="0"/>
                <a:cs typeface="Times New Roman" panose="02020603050405020304" pitchFamily="18" charset="0"/>
              </a:rPr>
              <a:t>Database System Concepts by Abraham </a:t>
            </a:r>
            <a:r>
              <a:rPr lang="en-US" sz="1400" dirty="0" err="1">
                <a:latin typeface="Times New Roman" panose="02020603050405020304" pitchFamily="18" charset="0"/>
                <a:cs typeface="Times New Roman" panose="02020603050405020304" pitchFamily="18" charset="0"/>
              </a:rPr>
              <a:t>Silberschatz</a:t>
            </a:r>
            <a:r>
              <a:rPr lang="en-US" sz="1400" dirty="0">
                <a:latin typeface="Times New Roman" panose="02020603050405020304" pitchFamily="18" charset="0"/>
                <a:cs typeface="Times New Roman" panose="02020603050405020304" pitchFamily="18" charset="0"/>
              </a:rPr>
              <a:t>, H. </a:t>
            </a:r>
            <a:r>
              <a:rPr lang="en-US" sz="1400" dirty="0" err="1">
                <a:latin typeface="Times New Roman" panose="02020603050405020304" pitchFamily="18" charset="0"/>
                <a:cs typeface="Times New Roman" panose="02020603050405020304" pitchFamily="18" charset="0"/>
              </a:rPr>
              <a:t>Korth</a:t>
            </a:r>
            <a:r>
              <a:rPr lang="en-US" sz="1400" dirty="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Sudarshan</a:t>
            </a:r>
            <a:endParaRPr lang="en-US" sz="1400" dirty="0" smtClean="0">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AutoNum type="arabicPeriod"/>
              <a:defRPr/>
            </a:pPr>
            <a:r>
              <a:rPr lang="en-IN" sz="1400" dirty="0"/>
              <a:t>Database Management System by Raghu Ramakrishnan / Johannes </a:t>
            </a:r>
            <a:r>
              <a:rPr lang="en-IN" sz="1400"/>
              <a:t>Gherke</a:t>
            </a:r>
            <a:endParaRPr lang="en-US" sz="1400" dirty="0" smtClean="0">
              <a:latin typeface="Times New Roman" panose="02020603050405020304" pitchFamily="18" charset="0"/>
              <a:cs typeface="Times New Roman" panose="02020603050405020304" pitchFamily="18" charset="0"/>
            </a:endParaRPr>
          </a:p>
        </p:txBody>
      </p:sp>
      <p:sp>
        <p:nvSpPr>
          <p:cNvPr id="10" name="Rectangle 7"/>
          <p:cNvSpPr>
            <a:spLocks noChangeArrowheads="1"/>
          </p:cNvSpPr>
          <p:nvPr/>
        </p:nvSpPr>
        <p:spPr bwMode="auto">
          <a:xfrm>
            <a:off x="168275" y="4419600"/>
            <a:ext cx="8797925" cy="72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a:lnSpc>
                <a:spcPct val="115000"/>
              </a:lnSpc>
            </a:pPr>
            <a:r>
              <a:rPr lang="en-IN" altLang="en-US" b="1" dirty="0">
                <a:latin typeface="Times New Roman" pitchFamily="18" charset="0"/>
                <a:cs typeface="Times New Roman" pitchFamily="18" charset="0"/>
              </a:rPr>
              <a:t>Outcome Mapping: </a:t>
            </a:r>
            <a:r>
              <a:rPr lang="en-US" altLang="en-US" dirty="0">
                <a:latin typeface="Times New Roman" pitchFamily="18" charset="0"/>
                <a:cs typeface="Times New Roman" pitchFamily="18" charset="0"/>
              </a:rPr>
              <a:t> </a:t>
            </a:r>
          </a:p>
          <a:p>
            <a:pPr algn="just">
              <a:lnSpc>
                <a:spcPct val="115000"/>
              </a:lnSpc>
            </a:pPr>
            <a:r>
              <a:rPr lang="en-US" altLang="en-US" dirty="0">
                <a:latin typeface="Times New Roman" pitchFamily="18" charset="0"/>
                <a:cs typeface="Times New Roman" pitchFamily="18" charset="0"/>
              </a:rPr>
              <a:t>PEOs: 		POs:			COs:  </a:t>
            </a:r>
            <a:r>
              <a:rPr lang="en-US" altLang="en-US" dirty="0" smtClean="0">
                <a:latin typeface="Times New Roman" pitchFamily="18" charset="0"/>
                <a:cs typeface="Times New Roman" pitchFamily="18" charset="0"/>
              </a:rPr>
              <a:t>CO1</a:t>
            </a:r>
            <a:r>
              <a:rPr lang="en-US" altLang="en-US" dirty="0">
                <a:latin typeface="Times New Roman" pitchFamily="18" charset="0"/>
                <a:cs typeface="Times New Roman" pitchFamily="18" charset="0"/>
              </a:rPr>
              <a:t>		PSOs:</a:t>
            </a:r>
            <a:endParaRPr lang="en-IN" altLang="en-US" dirty="0"/>
          </a:p>
        </p:txBody>
      </p:sp>
    </p:spTree>
    <p:extLst>
      <p:ext uri="{BB962C8B-B14F-4D97-AF65-F5344CB8AC3E}">
        <p14:creationId xmlns:p14="http://schemas.microsoft.com/office/powerpoint/2010/main" val="38604011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Introduction DBMS </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What is Data?</a:t>
            </a:r>
          </a:p>
          <a:p>
            <a:pPr lvl="1"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is a collection of a distinct small unit of information. It can be used in a variety of forms like text, numbers, media, bytes, etc. it can be stored in pieces of paper or electronic memory, etc.</a:t>
            </a:r>
          </a:p>
          <a:p>
            <a:pPr lvl="1"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Word 'Data' is originated from the word '</a:t>
            </a:r>
            <a:r>
              <a:rPr lang="en-US" sz="2000" b="1" dirty="0">
                <a:solidFill>
                  <a:srgbClr val="FF0000"/>
                </a:solidFill>
                <a:latin typeface="Times New Roman" panose="02020603050405020304" pitchFamily="18" charset="0"/>
                <a:cs typeface="Times New Roman" panose="02020603050405020304" pitchFamily="18" charset="0"/>
              </a:rPr>
              <a:t>datum</a:t>
            </a:r>
            <a:r>
              <a:rPr lang="en-US" sz="2000" dirty="0">
                <a:latin typeface="Times New Roman" panose="02020603050405020304" pitchFamily="18" charset="0"/>
                <a:cs typeface="Times New Roman" panose="02020603050405020304" pitchFamily="18" charset="0"/>
              </a:rPr>
              <a:t>' that means 'single piece of information.' It is plural of the word datum.</a:t>
            </a:r>
          </a:p>
          <a:p>
            <a:pPr lvl="1"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computing, Data is information that can be translated into a form for efficient movement and processing. Data is interchangeable.</a:t>
            </a:r>
          </a:p>
          <a:p>
            <a:pPr lvl="1">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1026" name="Picture 2" descr="What is Data? | Data in Science Experiments | Twink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73935" y="0"/>
            <a:ext cx="3466156" cy="2253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561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What is Database?</a:t>
            </a:r>
          </a:p>
        </p:txBody>
      </p:sp>
      <p:sp>
        <p:nvSpPr>
          <p:cNvPr id="3" name="Content Placeholder 2"/>
          <p:cNvSpPr>
            <a:spLocks noGrp="1"/>
          </p:cNvSpPr>
          <p:nvPr>
            <p:ph idx="1"/>
          </p:nvPr>
        </p:nvSpPr>
        <p:spPr/>
        <p:txBody>
          <a:bodyPr>
            <a:normAutofit fontScale="92500" lnSpcReduction="10000"/>
          </a:bodyPr>
          <a:lstStyle/>
          <a:p>
            <a:pPr algn="just"/>
            <a:r>
              <a:rPr lang="en-US" dirty="0" smtClean="0"/>
              <a:t>Database Management System or </a:t>
            </a:r>
            <a:r>
              <a:rPr lang="en-US" b="1" dirty="0" smtClean="0">
                <a:solidFill>
                  <a:srgbClr val="2832F8"/>
                </a:solidFill>
              </a:rPr>
              <a:t>DBMS</a:t>
            </a:r>
            <a:r>
              <a:rPr lang="en-US" dirty="0" smtClean="0"/>
              <a:t> in short refers to the technology of storing and retrieving users data with utmost efficiency along with appropriate security measures. </a:t>
            </a:r>
          </a:p>
          <a:p>
            <a:pPr algn="just"/>
            <a:r>
              <a:rPr lang="en-US" dirty="0" smtClean="0"/>
              <a:t>A</a:t>
            </a:r>
            <a:r>
              <a:rPr lang="en-US" dirty="0"/>
              <a:t> </a:t>
            </a:r>
            <a:r>
              <a:rPr lang="en-US" b="1" dirty="0"/>
              <a:t>database</a:t>
            </a:r>
            <a:r>
              <a:rPr lang="en-US" dirty="0"/>
              <a:t> is an organized collection of data, so that it can be easily accessed and managed.</a:t>
            </a:r>
          </a:p>
          <a:p>
            <a:pPr algn="just"/>
            <a:r>
              <a:rPr lang="en-US" dirty="0"/>
              <a:t>You can organize data into tables, rows, columns, and index it to make it easier to find relevant information</a:t>
            </a:r>
            <a:r>
              <a:rPr lang="en-US" dirty="0" smtClean="0"/>
              <a:t>.</a:t>
            </a:r>
          </a:p>
          <a:p>
            <a:pPr algn="just"/>
            <a:r>
              <a:rPr lang="en-US" b="1" dirty="0"/>
              <a:t>Database handlers</a:t>
            </a:r>
            <a:r>
              <a:rPr lang="en-US" dirty="0"/>
              <a:t> create a database in such a way that only one set of software program provides access of data to all the users.</a:t>
            </a:r>
          </a:p>
          <a:p>
            <a:pPr algn="just"/>
            <a:endParaRPr lang="en-IN" dirty="0"/>
          </a:p>
        </p:txBody>
      </p:sp>
    </p:spTree>
    <p:extLst>
      <p:ext uri="{BB962C8B-B14F-4D97-AF65-F5344CB8AC3E}">
        <p14:creationId xmlns:p14="http://schemas.microsoft.com/office/powerpoint/2010/main" val="6665046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What is Database</a:t>
            </a:r>
            <a:r>
              <a:rPr lang="en-IN" sz="3200" dirty="0" smtClean="0"/>
              <a:t>? (</a:t>
            </a:r>
            <a:r>
              <a:rPr lang="en-IN" sz="3200" dirty="0" err="1" smtClean="0"/>
              <a:t>cont</a:t>
            </a:r>
            <a:r>
              <a:rPr lang="en-IN" sz="3200" dirty="0" smtClean="0"/>
              <a:t>…)</a:t>
            </a:r>
            <a:endParaRPr lang="en-IN" sz="3200" dirty="0"/>
          </a:p>
        </p:txBody>
      </p:sp>
      <p:sp>
        <p:nvSpPr>
          <p:cNvPr id="3" name="Content Placeholder 2"/>
          <p:cNvSpPr>
            <a:spLocks noGrp="1"/>
          </p:cNvSpPr>
          <p:nvPr>
            <p:ph idx="1"/>
          </p:nvPr>
        </p:nvSpPr>
        <p:spPr/>
        <p:txBody>
          <a:bodyPr>
            <a:normAutofit fontScale="70000" lnSpcReduction="20000"/>
          </a:bodyPr>
          <a:lstStyle/>
          <a:p>
            <a:r>
              <a:rPr lang="en-US" dirty="0"/>
              <a:t>The </a:t>
            </a:r>
            <a:r>
              <a:rPr lang="en-US" b="1" dirty="0"/>
              <a:t>main purpose</a:t>
            </a:r>
            <a:r>
              <a:rPr lang="en-US" dirty="0"/>
              <a:t> of the database is to operate a large amount of information by storing, retrieving, and managing data.</a:t>
            </a:r>
          </a:p>
          <a:p>
            <a:r>
              <a:rPr lang="en-US" dirty="0"/>
              <a:t>There are many </a:t>
            </a:r>
            <a:r>
              <a:rPr lang="en-US" b="1" dirty="0"/>
              <a:t>dynamic websites</a:t>
            </a:r>
            <a:r>
              <a:rPr lang="en-US" dirty="0"/>
              <a:t> on the World Wide Web nowadays which are handled through databases. For example, a model that checks the availability of rooms in a hotel. It is an example of a dynamic website that uses a database.</a:t>
            </a:r>
          </a:p>
          <a:p>
            <a:r>
              <a:rPr lang="en-US" dirty="0"/>
              <a:t>There are many </a:t>
            </a:r>
            <a:r>
              <a:rPr lang="en-US" b="1" dirty="0"/>
              <a:t>databases available</a:t>
            </a:r>
            <a:r>
              <a:rPr lang="en-US" dirty="0"/>
              <a:t> like MySQL, Sybase, Oracle, </a:t>
            </a:r>
            <a:r>
              <a:rPr lang="en-US" dirty="0" err="1"/>
              <a:t>MongoDB</a:t>
            </a:r>
            <a:r>
              <a:rPr lang="en-US" dirty="0"/>
              <a:t>, Informix, </a:t>
            </a:r>
            <a:r>
              <a:rPr lang="en-US" dirty="0" err="1"/>
              <a:t>PostgreSQL</a:t>
            </a:r>
            <a:r>
              <a:rPr lang="en-US" dirty="0"/>
              <a:t>, SQL Server, etc.</a:t>
            </a:r>
          </a:p>
          <a:p>
            <a:r>
              <a:rPr lang="en-US" dirty="0"/>
              <a:t>Modern databases are managed by the database management system (DBMS).</a:t>
            </a:r>
          </a:p>
          <a:p>
            <a:r>
              <a:rPr lang="en-US" b="1" dirty="0"/>
              <a:t>SQL</a:t>
            </a:r>
            <a:r>
              <a:rPr lang="en-US" dirty="0"/>
              <a:t> or Structured Query Language is used to operate on the data stored in a database. </a:t>
            </a:r>
          </a:p>
          <a:p>
            <a:r>
              <a:rPr lang="en-US" dirty="0"/>
              <a:t>A cylindrical structure is used to display the image of a database.</a:t>
            </a:r>
          </a:p>
          <a:p>
            <a:pPr algn="just"/>
            <a:endParaRPr lang="en-IN" dirty="0"/>
          </a:p>
        </p:txBody>
      </p:sp>
      <p:pic>
        <p:nvPicPr>
          <p:cNvPr id="2050" name="Picture 2" descr="data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7765" y="5050674"/>
            <a:ext cx="1055414" cy="1521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38690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Evolution of </a:t>
            </a:r>
            <a:r>
              <a:rPr lang="en-IN" dirty="0" smtClean="0"/>
              <a:t>Databases</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t>The database has completed more than 50 years of journey of its evolution from flat-file system to relational and objects relational systems. It has gone through several generations</a:t>
            </a:r>
            <a:r>
              <a:rPr lang="en-US" dirty="0" smtClean="0"/>
              <a:t>.</a:t>
            </a:r>
          </a:p>
          <a:p>
            <a:r>
              <a:rPr lang="en-US" b="1" dirty="0">
                <a:solidFill>
                  <a:srgbClr val="2832F8"/>
                </a:solidFill>
              </a:rPr>
              <a:t>File-Based</a:t>
            </a:r>
          </a:p>
          <a:p>
            <a:pPr lvl="1" algn="just">
              <a:buFont typeface="Wingdings" panose="05000000000000000000" pitchFamily="2" charset="2"/>
              <a:buChar char="Ø"/>
            </a:pPr>
            <a:r>
              <a:rPr lang="en-US" dirty="0"/>
              <a:t>1968 was the year when File-Based database were introduced. In file-based databases, data was maintained in a flat file. Though files have many advantages, there are several limitations.</a:t>
            </a:r>
          </a:p>
          <a:p>
            <a:pPr lvl="1">
              <a:buFont typeface="Wingdings" panose="05000000000000000000" pitchFamily="2" charset="2"/>
              <a:buChar char="Ø"/>
            </a:pPr>
            <a:r>
              <a:rPr lang="en-US" dirty="0"/>
              <a:t>One of the major advantages is that the file system has various access methods, e.g., sequential, indexed, and random.</a:t>
            </a:r>
          </a:p>
          <a:p>
            <a:pPr lvl="1">
              <a:buFont typeface="Wingdings" panose="05000000000000000000" pitchFamily="2" charset="2"/>
              <a:buChar char="Ø"/>
            </a:pPr>
            <a:r>
              <a:rPr lang="en-US" dirty="0"/>
              <a:t>It requires extensive programming in a third-generation language such as COBOL, BASIC</a:t>
            </a:r>
            <a:r>
              <a:rPr lang="en-US" dirty="0" smtClean="0"/>
              <a:t>.</a:t>
            </a:r>
            <a:endParaRPr lang="en-US" dirty="0"/>
          </a:p>
        </p:txBody>
      </p:sp>
    </p:spTree>
    <p:extLst>
      <p:ext uri="{BB962C8B-B14F-4D97-AF65-F5344CB8AC3E}">
        <p14:creationId xmlns:p14="http://schemas.microsoft.com/office/powerpoint/2010/main" val="8692565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Evolution of </a:t>
            </a:r>
            <a:r>
              <a:rPr lang="en-IN" dirty="0" smtClean="0"/>
              <a:t>Databases (</a:t>
            </a:r>
            <a:r>
              <a:rPr lang="en-IN" dirty="0" err="1" smtClean="0"/>
              <a:t>cont</a:t>
            </a:r>
            <a:r>
              <a:rPr lang="en-IN" dirty="0" smtClean="0"/>
              <a:t>…)</a:t>
            </a:r>
            <a:endParaRPr lang="en-IN" dirty="0"/>
          </a:p>
        </p:txBody>
      </p:sp>
      <p:sp>
        <p:nvSpPr>
          <p:cNvPr id="3" name="Content Placeholder 2"/>
          <p:cNvSpPr>
            <a:spLocks noGrp="1"/>
          </p:cNvSpPr>
          <p:nvPr>
            <p:ph idx="1"/>
          </p:nvPr>
        </p:nvSpPr>
        <p:spPr/>
        <p:txBody>
          <a:bodyPr>
            <a:normAutofit lnSpcReduction="10000"/>
          </a:bodyPr>
          <a:lstStyle/>
          <a:p>
            <a:pPr algn="just"/>
            <a:r>
              <a:rPr lang="en-IN" dirty="0"/>
              <a:t>Hierarchical Data Model</a:t>
            </a:r>
          </a:p>
          <a:p>
            <a:pPr lvl="1" algn="just">
              <a:buFont typeface="Wingdings" panose="05000000000000000000" pitchFamily="2" charset="2"/>
              <a:buChar char="Ø"/>
            </a:pPr>
            <a:r>
              <a:rPr lang="en-US" dirty="0"/>
              <a:t>1968-1980 was the era of the Hierarchical Database. Prominent hierarchical database model was IBM's first DBMS. It was called IMS (Information Management System).</a:t>
            </a:r>
          </a:p>
          <a:p>
            <a:pPr lvl="1" algn="just">
              <a:buFont typeface="Wingdings" panose="05000000000000000000" pitchFamily="2" charset="2"/>
              <a:buChar char="Ø"/>
            </a:pPr>
            <a:r>
              <a:rPr lang="en-US" dirty="0"/>
              <a:t>In this model, files are related in a parent/child manner.</a:t>
            </a:r>
          </a:p>
          <a:p>
            <a:pPr lvl="1" algn="just">
              <a:buFont typeface="Wingdings" panose="05000000000000000000" pitchFamily="2" charset="2"/>
              <a:buChar char="Ø"/>
            </a:pPr>
            <a:r>
              <a:rPr lang="en-US" dirty="0"/>
              <a:t>Below diagram represents Hierarchical Data Model. </a:t>
            </a:r>
            <a:endParaRPr lang="en-US" dirty="0" smtClean="0"/>
          </a:p>
          <a:p>
            <a:pPr marL="457200" lvl="1" indent="0" algn="just">
              <a:buNone/>
            </a:pPr>
            <a:r>
              <a:rPr lang="en-US" dirty="0" smtClean="0"/>
              <a:t>   Small </a:t>
            </a:r>
            <a:r>
              <a:rPr lang="en-US" dirty="0"/>
              <a:t>circle represents objects.</a:t>
            </a:r>
          </a:p>
          <a:p>
            <a:pPr algn="just"/>
            <a:endParaRPr lang="en-US" dirty="0"/>
          </a:p>
        </p:txBody>
      </p:sp>
      <p:pic>
        <p:nvPicPr>
          <p:cNvPr id="3074" name="Picture 2" descr="databas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6891" y="4039987"/>
            <a:ext cx="2668385" cy="274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6349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Evolution of Databases (</a:t>
            </a:r>
            <a:r>
              <a:rPr lang="en-IN" dirty="0" err="1" smtClean="0"/>
              <a:t>cont</a:t>
            </a:r>
            <a:r>
              <a:rPr lang="en-IN" dirty="0" smtClean="0"/>
              <a:t>…)</a:t>
            </a:r>
            <a:endParaRPr lang="en-IN" dirty="0"/>
          </a:p>
        </p:txBody>
      </p:sp>
      <p:sp>
        <p:nvSpPr>
          <p:cNvPr id="3" name="Content Placeholder 2"/>
          <p:cNvSpPr>
            <a:spLocks noGrp="1"/>
          </p:cNvSpPr>
          <p:nvPr>
            <p:ph idx="1"/>
          </p:nvPr>
        </p:nvSpPr>
        <p:spPr/>
        <p:txBody>
          <a:bodyPr>
            <a:normAutofit fontScale="70000" lnSpcReduction="20000"/>
          </a:bodyPr>
          <a:lstStyle/>
          <a:p>
            <a:r>
              <a:rPr lang="en-US" b="1" dirty="0">
                <a:solidFill>
                  <a:srgbClr val="2832F8"/>
                </a:solidFill>
              </a:rPr>
              <a:t>Network data model</a:t>
            </a:r>
          </a:p>
          <a:p>
            <a:pPr lvl="1" algn="just">
              <a:buFont typeface="Wingdings" panose="05000000000000000000" pitchFamily="2" charset="2"/>
              <a:buChar char="Ø"/>
            </a:pPr>
            <a:r>
              <a:rPr lang="en-US" b="1" dirty="0"/>
              <a:t>Charles Bachman</a:t>
            </a:r>
            <a:r>
              <a:rPr lang="en-US" dirty="0"/>
              <a:t> developed the first DBMS at Honeywell called Integrated Data Store (IDS). It was developed in the early 1960s, but it was standardized in 1971 by the CODASYL group (Conference on Data Systems Languages).</a:t>
            </a:r>
          </a:p>
          <a:p>
            <a:pPr lvl="1" algn="just">
              <a:buFont typeface="Wingdings" panose="05000000000000000000" pitchFamily="2" charset="2"/>
              <a:buChar char="Ø"/>
            </a:pPr>
            <a:r>
              <a:rPr lang="en-US" dirty="0"/>
              <a:t>In this model, files are related as owners and members, like to the common network model.</a:t>
            </a:r>
          </a:p>
          <a:p>
            <a:pPr lvl="1" algn="just">
              <a:buFont typeface="Wingdings" panose="05000000000000000000" pitchFamily="2" charset="2"/>
              <a:buChar char="Ø"/>
            </a:pPr>
            <a:r>
              <a:rPr lang="en-US" b="1" dirty="0"/>
              <a:t>Network data model identified the following components:</a:t>
            </a:r>
            <a:endParaRPr lang="en-US" dirty="0"/>
          </a:p>
          <a:p>
            <a:pPr lvl="1" algn="just">
              <a:buFont typeface="Wingdings" panose="05000000000000000000" pitchFamily="2" charset="2"/>
              <a:buChar char="Ø"/>
            </a:pPr>
            <a:r>
              <a:rPr lang="en-US" dirty="0"/>
              <a:t>Network schema (Database organization)</a:t>
            </a:r>
          </a:p>
          <a:p>
            <a:pPr lvl="1" algn="just">
              <a:buFont typeface="Wingdings" panose="05000000000000000000" pitchFamily="2" charset="2"/>
              <a:buChar char="Ø"/>
            </a:pPr>
            <a:r>
              <a:rPr lang="en-US" dirty="0"/>
              <a:t>Sub-schema (views of database per user)</a:t>
            </a:r>
          </a:p>
          <a:p>
            <a:pPr lvl="1" algn="just">
              <a:buFont typeface="Wingdings" panose="05000000000000000000" pitchFamily="2" charset="2"/>
              <a:buChar char="Ø"/>
            </a:pPr>
            <a:r>
              <a:rPr lang="en-US" dirty="0"/>
              <a:t>Data management language (procedural)</a:t>
            </a:r>
          </a:p>
          <a:p>
            <a:pPr algn="just"/>
            <a:endParaRPr lang="en-US" dirty="0"/>
          </a:p>
        </p:txBody>
      </p:sp>
    </p:spTree>
    <p:extLst>
      <p:ext uri="{BB962C8B-B14F-4D97-AF65-F5344CB8AC3E}">
        <p14:creationId xmlns:p14="http://schemas.microsoft.com/office/powerpoint/2010/main" val="40016108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Evolution of Databases (</a:t>
            </a:r>
            <a:r>
              <a:rPr lang="en-IN" dirty="0" err="1" smtClean="0"/>
              <a:t>cont</a:t>
            </a:r>
            <a:r>
              <a:rPr lang="en-IN" dirty="0" smtClean="0"/>
              <a:t>…)</a:t>
            </a:r>
            <a:endParaRPr lang="en-IN" dirty="0"/>
          </a:p>
        </p:txBody>
      </p:sp>
      <p:sp>
        <p:nvSpPr>
          <p:cNvPr id="3" name="Content Placeholder 2"/>
          <p:cNvSpPr>
            <a:spLocks noGrp="1"/>
          </p:cNvSpPr>
          <p:nvPr>
            <p:ph idx="1"/>
          </p:nvPr>
        </p:nvSpPr>
        <p:spPr/>
        <p:txBody>
          <a:bodyPr>
            <a:normAutofit fontScale="70000" lnSpcReduction="20000"/>
          </a:bodyPr>
          <a:lstStyle/>
          <a:p>
            <a:r>
              <a:rPr lang="en-US" b="1" dirty="0">
                <a:solidFill>
                  <a:srgbClr val="2832F8"/>
                </a:solidFill>
              </a:rPr>
              <a:t>Relational Database</a:t>
            </a:r>
          </a:p>
          <a:p>
            <a:pPr lvl="1">
              <a:buFont typeface="Wingdings" panose="05000000000000000000" pitchFamily="2" charset="2"/>
              <a:buChar char="Ø"/>
            </a:pPr>
            <a:r>
              <a:rPr lang="en-US" b="1" dirty="0"/>
              <a:t>1970 - Present:</a:t>
            </a:r>
            <a:r>
              <a:rPr lang="en-US" dirty="0"/>
              <a:t> It is the era of Relational Database and Database Management. In 1970, the relational model was proposed by </a:t>
            </a:r>
            <a:r>
              <a:rPr lang="en-US" b="1" dirty="0">
                <a:solidFill>
                  <a:srgbClr val="FF0000"/>
                </a:solidFill>
              </a:rPr>
              <a:t>E.F. </a:t>
            </a:r>
            <a:r>
              <a:rPr lang="en-US" b="1" dirty="0" err="1">
                <a:solidFill>
                  <a:srgbClr val="FF0000"/>
                </a:solidFill>
              </a:rPr>
              <a:t>Codd</a:t>
            </a:r>
            <a:r>
              <a:rPr lang="en-US" b="1" dirty="0">
                <a:solidFill>
                  <a:srgbClr val="FF0000"/>
                </a:solidFill>
              </a:rPr>
              <a:t>.</a:t>
            </a:r>
          </a:p>
          <a:p>
            <a:pPr lvl="1">
              <a:buFont typeface="Wingdings" panose="05000000000000000000" pitchFamily="2" charset="2"/>
              <a:buChar char="Ø"/>
            </a:pPr>
            <a:r>
              <a:rPr lang="en-US" dirty="0"/>
              <a:t>Relational database model has two main terminologies called instance and schema.</a:t>
            </a:r>
          </a:p>
          <a:p>
            <a:pPr lvl="1">
              <a:buFont typeface="Wingdings" panose="05000000000000000000" pitchFamily="2" charset="2"/>
              <a:buChar char="Ø"/>
            </a:pPr>
            <a:r>
              <a:rPr lang="en-US" dirty="0"/>
              <a:t>The instance is a table with rows or columns</a:t>
            </a:r>
          </a:p>
          <a:p>
            <a:pPr lvl="1">
              <a:buFont typeface="Wingdings" panose="05000000000000000000" pitchFamily="2" charset="2"/>
              <a:buChar char="Ø"/>
            </a:pPr>
            <a:r>
              <a:rPr lang="en-US" dirty="0"/>
              <a:t>Schema specifies the structure like name of the relation, type of each column and name.</a:t>
            </a:r>
          </a:p>
          <a:p>
            <a:pPr lvl="1">
              <a:buFont typeface="Wingdings" panose="05000000000000000000" pitchFamily="2" charset="2"/>
              <a:buChar char="Ø"/>
            </a:pPr>
            <a:r>
              <a:rPr lang="en-US" dirty="0" smtClean="0"/>
              <a:t>The </a:t>
            </a:r>
            <a:r>
              <a:rPr lang="en-US" dirty="0"/>
              <a:t>first internet database application had been created in </a:t>
            </a:r>
            <a:r>
              <a:rPr lang="en-US" dirty="0">
                <a:solidFill>
                  <a:srgbClr val="2832F8"/>
                </a:solidFill>
              </a:rPr>
              <a:t>1995.</a:t>
            </a:r>
          </a:p>
          <a:p>
            <a:pPr lvl="1">
              <a:buFont typeface="Wingdings" panose="05000000000000000000" pitchFamily="2" charset="2"/>
              <a:buChar char="Ø"/>
            </a:pPr>
            <a:r>
              <a:rPr lang="en-US" dirty="0"/>
              <a:t>During the era of the relational database, many more models had introduced like object-oriented model, object-relational model, etc.</a:t>
            </a:r>
          </a:p>
          <a:p>
            <a:pPr algn="just"/>
            <a:endParaRPr lang="en-US" dirty="0"/>
          </a:p>
        </p:txBody>
      </p:sp>
    </p:spTree>
    <p:extLst>
      <p:ext uri="{BB962C8B-B14F-4D97-AF65-F5344CB8AC3E}">
        <p14:creationId xmlns:p14="http://schemas.microsoft.com/office/powerpoint/2010/main" val="36082868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Evolution of Databases (</a:t>
            </a:r>
            <a:r>
              <a:rPr lang="en-IN" dirty="0" err="1" smtClean="0"/>
              <a:t>cont</a:t>
            </a:r>
            <a:r>
              <a:rPr lang="en-IN" dirty="0" smtClean="0"/>
              <a:t>…)</a:t>
            </a:r>
            <a:endParaRPr lang="en-IN" dirty="0"/>
          </a:p>
        </p:txBody>
      </p:sp>
      <p:sp>
        <p:nvSpPr>
          <p:cNvPr id="3" name="Content Placeholder 2"/>
          <p:cNvSpPr>
            <a:spLocks noGrp="1"/>
          </p:cNvSpPr>
          <p:nvPr>
            <p:ph idx="1"/>
          </p:nvPr>
        </p:nvSpPr>
        <p:spPr/>
        <p:txBody>
          <a:bodyPr>
            <a:normAutofit fontScale="70000" lnSpcReduction="20000"/>
          </a:bodyPr>
          <a:lstStyle/>
          <a:p>
            <a:pPr algn="just"/>
            <a:r>
              <a:rPr lang="en-IN" dirty="0"/>
              <a:t>Cloud database</a:t>
            </a:r>
          </a:p>
          <a:p>
            <a:pPr lvl="1">
              <a:buFont typeface="Wingdings" panose="05000000000000000000" pitchFamily="2" charset="2"/>
              <a:buChar char="Ø"/>
            </a:pPr>
            <a:r>
              <a:rPr lang="en-IN" dirty="0"/>
              <a:t>Cloud database facilitates you to store, manage, and retrieve their structured, unstructured data via a cloud platform. This data is accessible over the Internet. Cloud databases are also called a database as service (</a:t>
            </a:r>
            <a:r>
              <a:rPr lang="en-IN" dirty="0" err="1"/>
              <a:t>DBaaS</a:t>
            </a:r>
            <a:r>
              <a:rPr lang="en-IN" dirty="0"/>
              <a:t>) because they are offered as a managed service.</a:t>
            </a:r>
          </a:p>
          <a:p>
            <a:pPr lvl="1">
              <a:buFont typeface="Wingdings" panose="05000000000000000000" pitchFamily="2" charset="2"/>
              <a:buChar char="Ø"/>
            </a:pPr>
            <a:r>
              <a:rPr lang="en-IN" b="1" dirty="0"/>
              <a:t>Some best cloud options are:</a:t>
            </a:r>
            <a:endParaRPr lang="en-IN" dirty="0"/>
          </a:p>
          <a:p>
            <a:pPr lvl="1">
              <a:buFont typeface="Wingdings" panose="05000000000000000000" pitchFamily="2" charset="2"/>
              <a:buChar char="Ø"/>
            </a:pPr>
            <a:r>
              <a:rPr lang="en-IN" dirty="0"/>
              <a:t>AWS (Amazon Web Services)</a:t>
            </a:r>
          </a:p>
          <a:p>
            <a:pPr lvl="1">
              <a:buFont typeface="Wingdings" panose="05000000000000000000" pitchFamily="2" charset="2"/>
              <a:buChar char="Ø"/>
            </a:pPr>
            <a:r>
              <a:rPr lang="en-IN" dirty="0"/>
              <a:t>Snowflake Computing</a:t>
            </a:r>
          </a:p>
          <a:p>
            <a:pPr lvl="1">
              <a:buFont typeface="Wingdings" panose="05000000000000000000" pitchFamily="2" charset="2"/>
              <a:buChar char="Ø"/>
            </a:pPr>
            <a:r>
              <a:rPr lang="en-IN" dirty="0"/>
              <a:t>Oracle Database Cloud Services</a:t>
            </a:r>
          </a:p>
          <a:p>
            <a:pPr lvl="1">
              <a:buFont typeface="Wingdings" panose="05000000000000000000" pitchFamily="2" charset="2"/>
              <a:buChar char="Ø"/>
            </a:pPr>
            <a:r>
              <a:rPr lang="en-IN" dirty="0"/>
              <a:t>Microsoft SQL server</a:t>
            </a:r>
          </a:p>
          <a:p>
            <a:pPr lvl="1">
              <a:buFont typeface="Wingdings" panose="05000000000000000000" pitchFamily="2" charset="2"/>
              <a:buChar char="Ø"/>
            </a:pPr>
            <a:r>
              <a:rPr lang="en-IN" dirty="0"/>
              <a:t>Google cloud spanner</a:t>
            </a:r>
          </a:p>
          <a:p>
            <a:pPr algn="just"/>
            <a:endParaRPr lang="en-US" dirty="0"/>
          </a:p>
        </p:txBody>
      </p:sp>
    </p:spTree>
    <p:extLst>
      <p:ext uri="{BB962C8B-B14F-4D97-AF65-F5344CB8AC3E}">
        <p14:creationId xmlns:p14="http://schemas.microsoft.com/office/powerpoint/2010/main" val="37807450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Evolution of Databases (</a:t>
            </a:r>
            <a:r>
              <a:rPr lang="en-IN" dirty="0" err="1" smtClean="0"/>
              <a:t>cont</a:t>
            </a:r>
            <a:r>
              <a:rPr lang="en-IN" dirty="0" smtClean="0"/>
              <a:t>…)</a:t>
            </a:r>
            <a:endParaRPr lang="en-IN" dirty="0"/>
          </a:p>
        </p:txBody>
      </p:sp>
      <p:sp>
        <p:nvSpPr>
          <p:cNvPr id="3" name="Content Placeholder 2"/>
          <p:cNvSpPr>
            <a:spLocks noGrp="1"/>
          </p:cNvSpPr>
          <p:nvPr>
            <p:ph idx="1"/>
          </p:nvPr>
        </p:nvSpPr>
        <p:spPr/>
        <p:txBody>
          <a:bodyPr>
            <a:normAutofit fontScale="70000" lnSpcReduction="20000"/>
          </a:bodyPr>
          <a:lstStyle/>
          <a:p>
            <a:r>
              <a:rPr lang="en-US" b="1" dirty="0" err="1"/>
              <a:t>NoSQL</a:t>
            </a:r>
            <a:r>
              <a:rPr lang="en-US" b="1" dirty="0"/>
              <a:t> Database</a:t>
            </a:r>
          </a:p>
          <a:p>
            <a:pPr lvl="1" algn="just">
              <a:buFont typeface="Wingdings" panose="05000000000000000000" pitchFamily="2" charset="2"/>
              <a:buChar char="Ø"/>
            </a:pPr>
            <a:r>
              <a:rPr lang="en-US" dirty="0"/>
              <a:t>A </a:t>
            </a:r>
            <a:r>
              <a:rPr lang="en-US" dirty="0" err="1"/>
              <a:t>NoSQL</a:t>
            </a:r>
            <a:r>
              <a:rPr lang="en-US" dirty="0"/>
              <a:t> database is an approach to design such databases that can accommodate a wide variety of data models. </a:t>
            </a:r>
            <a:r>
              <a:rPr lang="en-US" dirty="0" err="1"/>
              <a:t>NoSQL</a:t>
            </a:r>
            <a:r>
              <a:rPr lang="en-US" dirty="0"/>
              <a:t> stands for "not only SQL." It is an alternative to traditional relational databases in which data is placed in tables, and data schema is perfectly designed before the database is built.</a:t>
            </a:r>
          </a:p>
          <a:p>
            <a:pPr lvl="1" algn="just">
              <a:buFont typeface="Wingdings" panose="05000000000000000000" pitchFamily="2" charset="2"/>
              <a:buChar char="Ø"/>
            </a:pPr>
            <a:r>
              <a:rPr lang="en-US" dirty="0" err="1"/>
              <a:t>NoSQL</a:t>
            </a:r>
            <a:r>
              <a:rPr lang="en-US" dirty="0"/>
              <a:t> databases are useful for a large set of distributed data.</a:t>
            </a:r>
          </a:p>
          <a:p>
            <a:pPr lvl="1" algn="just">
              <a:buFont typeface="Wingdings" panose="05000000000000000000" pitchFamily="2" charset="2"/>
              <a:buChar char="Ø"/>
            </a:pPr>
            <a:r>
              <a:rPr lang="en-US" dirty="0"/>
              <a:t>Some examples of </a:t>
            </a:r>
            <a:r>
              <a:rPr lang="en-US" dirty="0" err="1"/>
              <a:t>NoSQL</a:t>
            </a:r>
            <a:r>
              <a:rPr lang="en-US" dirty="0"/>
              <a:t> database system with their category are:</a:t>
            </a:r>
          </a:p>
          <a:p>
            <a:pPr lvl="1" algn="just">
              <a:buFont typeface="Wingdings" panose="05000000000000000000" pitchFamily="2" charset="2"/>
              <a:buChar char="Ø"/>
            </a:pPr>
            <a:r>
              <a:rPr lang="en-US" dirty="0" err="1"/>
              <a:t>MongoDB</a:t>
            </a:r>
            <a:r>
              <a:rPr lang="en-US" dirty="0"/>
              <a:t>, </a:t>
            </a:r>
            <a:r>
              <a:rPr lang="en-US" dirty="0" err="1"/>
              <a:t>CouchDB</a:t>
            </a:r>
            <a:r>
              <a:rPr lang="en-US" dirty="0"/>
              <a:t>, </a:t>
            </a:r>
            <a:r>
              <a:rPr lang="en-US" dirty="0" err="1"/>
              <a:t>Cloudant</a:t>
            </a:r>
            <a:r>
              <a:rPr lang="en-US" dirty="0"/>
              <a:t> </a:t>
            </a:r>
            <a:r>
              <a:rPr lang="en-US" b="1" dirty="0"/>
              <a:t>(Document-based)</a:t>
            </a:r>
            <a:endParaRPr lang="en-US" dirty="0"/>
          </a:p>
          <a:p>
            <a:pPr lvl="1" algn="just">
              <a:buFont typeface="Wingdings" panose="05000000000000000000" pitchFamily="2" charset="2"/>
              <a:buChar char="Ø"/>
            </a:pPr>
            <a:r>
              <a:rPr lang="en-US" dirty="0" err="1"/>
              <a:t>Memcached</a:t>
            </a:r>
            <a:r>
              <a:rPr lang="en-US" dirty="0"/>
              <a:t>, </a:t>
            </a:r>
            <a:r>
              <a:rPr lang="en-US" dirty="0" err="1"/>
              <a:t>Redis</a:t>
            </a:r>
            <a:r>
              <a:rPr lang="en-US" dirty="0"/>
              <a:t>, Coherence </a:t>
            </a:r>
            <a:r>
              <a:rPr lang="en-US" b="1" dirty="0"/>
              <a:t>(key-value store)</a:t>
            </a:r>
            <a:endParaRPr lang="en-US" dirty="0"/>
          </a:p>
          <a:p>
            <a:pPr lvl="1">
              <a:buFont typeface="Wingdings" panose="05000000000000000000" pitchFamily="2" charset="2"/>
              <a:buChar char="Ø"/>
            </a:pPr>
            <a:r>
              <a:rPr lang="en-US" dirty="0" err="1"/>
              <a:t>HBase</a:t>
            </a:r>
            <a:r>
              <a:rPr lang="en-US" dirty="0"/>
              <a:t>, Big Table, </a:t>
            </a:r>
            <a:r>
              <a:rPr lang="en-US" dirty="0" err="1"/>
              <a:t>Accumulo</a:t>
            </a:r>
            <a:r>
              <a:rPr lang="en-US" dirty="0"/>
              <a:t> </a:t>
            </a:r>
            <a:r>
              <a:rPr lang="en-US" b="1" dirty="0"/>
              <a:t>(Tabular)</a:t>
            </a:r>
            <a:endParaRPr lang="en-US" dirty="0"/>
          </a:p>
        </p:txBody>
      </p:sp>
    </p:spTree>
    <p:extLst>
      <p:ext uri="{BB962C8B-B14F-4D97-AF65-F5344CB8AC3E}">
        <p14:creationId xmlns:p14="http://schemas.microsoft.com/office/powerpoint/2010/main" val="19142167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Need </a:t>
            </a:r>
            <a:r>
              <a:rPr lang="en-US" dirty="0"/>
              <a:t>for DBMS</a:t>
            </a:r>
            <a:endParaRPr lang="en-IN" dirty="0"/>
          </a:p>
        </p:txBody>
      </p:sp>
      <p:sp>
        <p:nvSpPr>
          <p:cNvPr id="3" name="Content Placeholder 2"/>
          <p:cNvSpPr>
            <a:spLocks noGrp="1"/>
          </p:cNvSpPr>
          <p:nvPr>
            <p:ph idx="1"/>
          </p:nvPr>
        </p:nvSpPr>
        <p:spPr/>
        <p:txBody>
          <a:bodyPr/>
          <a:lstStyle/>
          <a:p>
            <a:r>
              <a:rPr lang="en-US" dirty="0"/>
              <a:t>DBMS is useful in the following ways</a:t>
            </a:r>
            <a:r>
              <a:rPr lang="en-US" dirty="0" smtClean="0"/>
              <a:t>:</a:t>
            </a:r>
          </a:p>
          <a:p>
            <a:pPr lvl="1"/>
            <a:r>
              <a:rPr lang="en-IN" dirty="0"/>
              <a:t>Ease of Accessing </a:t>
            </a:r>
            <a:r>
              <a:rPr lang="en-IN" dirty="0" smtClean="0"/>
              <a:t>Data</a:t>
            </a:r>
          </a:p>
          <a:p>
            <a:pPr lvl="1"/>
            <a:r>
              <a:rPr lang="en-US" dirty="0"/>
              <a:t>Storage and Management of </a:t>
            </a:r>
            <a:r>
              <a:rPr lang="en-US" dirty="0" smtClean="0"/>
              <a:t>Data</a:t>
            </a:r>
          </a:p>
          <a:p>
            <a:pPr lvl="1"/>
            <a:r>
              <a:rPr lang="en-US" dirty="0"/>
              <a:t>  Easy and Efficient File </a:t>
            </a:r>
            <a:r>
              <a:rPr lang="en-US" dirty="0" smtClean="0"/>
              <a:t>Management</a:t>
            </a:r>
          </a:p>
          <a:p>
            <a:pPr lvl="1"/>
            <a:r>
              <a:rPr lang="en-IN" dirty="0"/>
              <a:t> Avoiding duplicates and </a:t>
            </a:r>
            <a:r>
              <a:rPr lang="en-IN" dirty="0" smtClean="0"/>
              <a:t>Redundancy</a:t>
            </a:r>
          </a:p>
          <a:p>
            <a:pPr lvl="1"/>
            <a:r>
              <a:rPr lang="en-IN" dirty="0"/>
              <a:t>Concurrent Data </a:t>
            </a:r>
            <a:r>
              <a:rPr lang="en-IN" dirty="0" smtClean="0"/>
              <a:t>Accessing</a:t>
            </a:r>
          </a:p>
          <a:p>
            <a:pPr lvl="1"/>
            <a:r>
              <a:rPr lang="en-IN" dirty="0"/>
              <a:t>  Database Integrity</a:t>
            </a:r>
          </a:p>
        </p:txBody>
      </p:sp>
    </p:spTree>
    <p:extLst>
      <p:ext uri="{BB962C8B-B14F-4D97-AF65-F5344CB8AC3E}">
        <p14:creationId xmlns:p14="http://schemas.microsoft.com/office/powerpoint/2010/main" val="24383303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Need </a:t>
            </a:r>
            <a:r>
              <a:rPr lang="en-US" dirty="0"/>
              <a:t>for </a:t>
            </a:r>
            <a:r>
              <a:rPr lang="en-US" dirty="0" smtClean="0"/>
              <a:t>DBMS (</a:t>
            </a:r>
            <a:r>
              <a:rPr lang="en-US" dirty="0" err="1" smtClean="0"/>
              <a:t>cont</a:t>
            </a:r>
            <a:r>
              <a:rPr lang="en-US" dirty="0" smtClean="0"/>
              <a:t>…)</a:t>
            </a:r>
            <a:endParaRPr lang="en-IN" dirty="0"/>
          </a:p>
        </p:txBody>
      </p:sp>
      <p:sp>
        <p:nvSpPr>
          <p:cNvPr id="3" name="Content Placeholder 2"/>
          <p:cNvSpPr>
            <a:spLocks noGrp="1"/>
          </p:cNvSpPr>
          <p:nvPr>
            <p:ph idx="1"/>
          </p:nvPr>
        </p:nvSpPr>
        <p:spPr/>
        <p:txBody>
          <a:bodyPr>
            <a:normAutofit fontScale="85000" lnSpcReduction="20000"/>
          </a:bodyPr>
          <a:lstStyle/>
          <a:p>
            <a:pPr lvl="1"/>
            <a:r>
              <a:rPr lang="en-IN" dirty="0" smtClean="0"/>
              <a:t>Ease </a:t>
            </a:r>
            <a:r>
              <a:rPr lang="en-IN" dirty="0"/>
              <a:t>of Accessing </a:t>
            </a:r>
            <a:r>
              <a:rPr lang="en-IN" dirty="0" smtClean="0"/>
              <a:t>Data</a:t>
            </a:r>
          </a:p>
          <a:p>
            <a:pPr lvl="2" algn="just"/>
            <a:r>
              <a:rPr lang="en-US" dirty="0"/>
              <a:t>In the file system, different files are created for each user containing which data they can access. Also, in the file system, for the user to extract data, there is a need for code or application. </a:t>
            </a:r>
            <a:endParaRPr lang="en-US" dirty="0" smtClean="0"/>
          </a:p>
          <a:p>
            <a:pPr lvl="2" algn="just"/>
            <a:r>
              <a:rPr lang="en-US" dirty="0" smtClean="0"/>
              <a:t>DBMS </a:t>
            </a:r>
            <a:r>
              <a:rPr lang="en-US" dirty="0"/>
              <a:t>removes redundancy by granting access to users and decides which and how many parts of data is accessible to them from the database. Users can get easy access to data and can also specify the type of data they want to extract. In DBMS, users through queries can get easy access to data.</a:t>
            </a:r>
          </a:p>
          <a:p>
            <a:pPr lvl="2" algn="just"/>
            <a:r>
              <a:rPr lang="en-US" dirty="0"/>
              <a:t> </a:t>
            </a:r>
          </a:p>
          <a:p>
            <a:pPr lvl="1"/>
            <a:endParaRPr lang="en-IN" dirty="0" smtClean="0"/>
          </a:p>
        </p:txBody>
      </p:sp>
    </p:spTree>
    <p:extLst>
      <p:ext uri="{BB962C8B-B14F-4D97-AF65-F5344CB8AC3E}">
        <p14:creationId xmlns:p14="http://schemas.microsoft.com/office/powerpoint/2010/main" val="13464518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Need </a:t>
            </a:r>
            <a:r>
              <a:rPr lang="en-US" dirty="0"/>
              <a:t>for </a:t>
            </a:r>
            <a:r>
              <a:rPr lang="en-US" dirty="0" smtClean="0"/>
              <a:t>DBMS (</a:t>
            </a:r>
            <a:r>
              <a:rPr lang="en-US" dirty="0" err="1" smtClean="0"/>
              <a:t>cont</a:t>
            </a:r>
            <a:r>
              <a:rPr lang="en-US" dirty="0" smtClean="0"/>
              <a:t>…)</a:t>
            </a:r>
            <a:endParaRPr lang="en-IN" dirty="0"/>
          </a:p>
        </p:txBody>
      </p:sp>
      <p:sp>
        <p:nvSpPr>
          <p:cNvPr id="3" name="Content Placeholder 2"/>
          <p:cNvSpPr>
            <a:spLocks noGrp="1"/>
          </p:cNvSpPr>
          <p:nvPr>
            <p:ph idx="1"/>
          </p:nvPr>
        </p:nvSpPr>
        <p:spPr/>
        <p:txBody>
          <a:bodyPr>
            <a:normAutofit fontScale="92500"/>
          </a:bodyPr>
          <a:lstStyle/>
          <a:p>
            <a:r>
              <a:rPr lang="en-US" b="1" i="1" dirty="0"/>
              <a:t>Storage and Management of Data</a:t>
            </a:r>
            <a:endParaRPr lang="en-US" dirty="0"/>
          </a:p>
          <a:p>
            <a:pPr lvl="1" algn="just"/>
            <a:r>
              <a:rPr lang="en-US" dirty="0"/>
              <a:t>Data cannot be stored in the form of objects in the file system. </a:t>
            </a:r>
            <a:endParaRPr lang="en-US" dirty="0" smtClean="0"/>
          </a:p>
          <a:p>
            <a:pPr lvl="1" algn="just"/>
            <a:r>
              <a:rPr lang="en-US" dirty="0" smtClean="0"/>
              <a:t>The </a:t>
            </a:r>
            <a:r>
              <a:rPr lang="en-US" dirty="0"/>
              <a:t>data in the practical world is generally stored in the form of objects and not files</a:t>
            </a:r>
            <a:r>
              <a:rPr lang="en-US" dirty="0" smtClean="0"/>
              <a:t>.</a:t>
            </a:r>
          </a:p>
          <a:p>
            <a:pPr lvl="1" algn="just"/>
            <a:r>
              <a:rPr lang="en-US" dirty="0" smtClean="0"/>
              <a:t>In </a:t>
            </a:r>
            <a:r>
              <a:rPr lang="en-US" dirty="0"/>
              <a:t>DBMS, the data can be directly stored in the form of objects. In DBMS, user can query the database whereas in file system level code is written for handling, saving, and scanning of data.</a:t>
            </a:r>
          </a:p>
          <a:p>
            <a:r>
              <a:rPr lang="en-US" dirty="0"/>
              <a:t> </a:t>
            </a:r>
          </a:p>
          <a:p>
            <a:pPr lvl="1"/>
            <a:endParaRPr lang="en-IN" dirty="0" smtClean="0"/>
          </a:p>
        </p:txBody>
      </p:sp>
    </p:spTree>
    <p:extLst>
      <p:ext uri="{BB962C8B-B14F-4D97-AF65-F5344CB8AC3E}">
        <p14:creationId xmlns:p14="http://schemas.microsoft.com/office/powerpoint/2010/main" val="35232485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Need </a:t>
            </a:r>
            <a:r>
              <a:rPr lang="en-US" dirty="0"/>
              <a:t>for </a:t>
            </a:r>
            <a:r>
              <a:rPr lang="en-US" dirty="0" smtClean="0"/>
              <a:t>DBMS (</a:t>
            </a:r>
            <a:r>
              <a:rPr lang="en-US" dirty="0" err="1" smtClean="0"/>
              <a:t>cont</a:t>
            </a:r>
            <a:r>
              <a:rPr lang="en-US" dirty="0" smtClean="0"/>
              <a:t>…)</a:t>
            </a:r>
            <a:endParaRPr lang="en-IN" dirty="0"/>
          </a:p>
        </p:txBody>
      </p:sp>
      <p:sp>
        <p:nvSpPr>
          <p:cNvPr id="3" name="Content Placeholder 2"/>
          <p:cNvSpPr>
            <a:spLocks noGrp="1"/>
          </p:cNvSpPr>
          <p:nvPr>
            <p:ph idx="1"/>
          </p:nvPr>
        </p:nvSpPr>
        <p:spPr/>
        <p:txBody>
          <a:bodyPr>
            <a:normAutofit/>
          </a:bodyPr>
          <a:lstStyle/>
          <a:p>
            <a:r>
              <a:rPr lang="en-US" b="1" i="1" dirty="0"/>
              <a:t>Easy and Efficient File Management</a:t>
            </a:r>
            <a:endParaRPr lang="en-US" dirty="0"/>
          </a:p>
          <a:p>
            <a:pPr lvl="1" algn="just"/>
            <a:r>
              <a:rPr lang="en-US" dirty="0"/>
              <a:t>In the file system, the entire database runs for every query operation as files are indexed. It takes a lot of time compared to DBMS, where objects are indexed based on the attribute of data. The complex management of memory becomes easy to handle. With this, retrieval of data is faster than the traditional file system.</a:t>
            </a:r>
          </a:p>
          <a:p>
            <a:pPr lvl="2" algn="just"/>
            <a:endParaRPr lang="en-IN" dirty="0" smtClean="0"/>
          </a:p>
        </p:txBody>
      </p:sp>
    </p:spTree>
    <p:extLst>
      <p:ext uri="{BB962C8B-B14F-4D97-AF65-F5344CB8AC3E}">
        <p14:creationId xmlns:p14="http://schemas.microsoft.com/office/powerpoint/2010/main" val="11715294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Need </a:t>
            </a:r>
            <a:r>
              <a:rPr lang="en-US" dirty="0"/>
              <a:t>for </a:t>
            </a:r>
            <a:r>
              <a:rPr lang="en-US" dirty="0" smtClean="0"/>
              <a:t>DBMS (</a:t>
            </a:r>
            <a:r>
              <a:rPr lang="en-US" dirty="0" err="1" smtClean="0"/>
              <a:t>cont</a:t>
            </a:r>
            <a:r>
              <a:rPr lang="en-US" dirty="0" smtClean="0"/>
              <a:t>…)</a:t>
            </a:r>
            <a:endParaRPr lang="en-IN" dirty="0"/>
          </a:p>
        </p:txBody>
      </p:sp>
      <p:sp>
        <p:nvSpPr>
          <p:cNvPr id="3" name="Content Placeholder 2"/>
          <p:cNvSpPr>
            <a:spLocks noGrp="1"/>
          </p:cNvSpPr>
          <p:nvPr>
            <p:ph idx="1"/>
          </p:nvPr>
        </p:nvSpPr>
        <p:spPr/>
        <p:txBody>
          <a:bodyPr>
            <a:normAutofit fontScale="92500" lnSpcReduction="10000"/>
          </a:bodyPr>
          <a:lstStyle/>
          <a:p>
            <a:r>
              <a:rPr lang="en-US" b="1" i="1" dirty="0"/>
              <a:t>Avoiding duplicates and Redundancy</a:t>
            </a:r>
            <a:endParaRPr lang="en-US" dirty="0"/>
          </a:p>
          <a:p>
            <a:pPr lvl="1" algn="just"/>
            <a:r>
              <a:rPr lang="en-US" dirty="0"/>
              <a:t>Redundancy means repetition of the same data. In the file system, the storage of data might take place multiple times. Like, if a student is pursuing two courses in the same institution say English and Science, then his general information might get stored in both the English </a:t>
            </a:r>
            <a:r>
              <a:rPr lang="en-US" dirty="0" err="1"/>
              <a:t>dept</a:t>
            </a:r>
            <a:r>
              <a:rPr lang="en-US" dirty="0"/>
              <a:t> as well as Science dept. It results in prolonged hours of accessing and storing data. It further results in the inconsistency of data in both departments. Data normalization is used in DBMS to avoid duplicate data.</a:t>
            </a:r>
          </a:p>
          <a:p>
            <a:pPr lvl="3" algn="just"/>
            <a:endParaRPr lang="en-IN" dirty="0" smtClean="0"/>
          </a:p>
        </p:txBody>
      </p:sp>
    </p:spTree>
    <p:extLst>
      <p:ext uri="{BB962C8B-B14F-4D97-AF65-F5344CB8AC3E}">
        <p14:creationId xmlns:p14="http://schemas.microsoft.com/office/powerpoint/2010/main" val="38843126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Characteristics </a:t>
            </a:r>
            <a:r>
              <a:rPr lang="en-IN" dirty="0" smtClean="0"/>
              <a:t>of  DBMS</a:t>
            </a:r>
            <a:endParaRPr lang="en-IN" dirty="0"/>
          </a:p>
        </p:txBody>
      </p:sp>
      <p:sp>
        <p:nvSpPr>
          <p:cNvPr id="3" name="Content Placeholder 2"/>
          <p:cNvSpPr>
            <a:spLocks noGrp="1"/>
          </p:cNvSpPr>
          <p:nvPr>
            <p:ph idx="1"/>
          </p:nvPr>
        </p:nvSpPr>
        <p:spPr>
          <a:xfrm>
            <a:off x="628650" y="1144386"/>
            <a:ext cx="7886700" cy="4957763"/>
          </a:xfrm>
        </p:spPr>
        <p:txBody>
          <a:bodyPr>
            <a:noAutofit/>
          </a:bodyPr>
          <a:lstStyle/>
          <a:p>
            <a:pPr>
              <a:buFont typeface="Wingdings" panose="05000000000000000000" pitchFamily="2" charset="2"/>
              <a:buChar char="Ø"/>
            </a:pPr>
            <a:r>
              <a:rPr lang="en-IN" sz="2000" dirty="0" smtClean="0"/>
              <a:t>Real World Entity</a:t>
            </a:r>
          </a:p>
          <a:p>
            <a:pPr>
              <a:buFont typeface="Wingdings" panose="05000000000000000000" pitchFamily="2" charset="2"/>
              <a:buChar char="Ø"/>
            </a:pPr>
            <a:r>
              <a:rPr lang="en-IN" sz="2000" dirty="0"/>
              <a:t>Self-Describing Nature</a:t>
            </a:r>
          </a:p>
          <a:p>
            <a:pPr>
              <a:buFont typeface="Wingdings" panose="05000000000000000000" pitchFamily="2" charset="2"/>
              <a:buChar char="Ø"/>
            </a:pPr>
            <a:r>
              <a:rPr lang="en-IN" sz="2000" dirty="0"/>
              <a:t>Support ACID Properties</a:t>
            </a:r>
          </a:p>
          <a:p>
            <a:pPr>
              <a:buFont typeface="Wingdings" panose="05000000000000000000" pitchFamily="2" charset="2"/>
              <a:buChar char="Ø"/>
            </a:pPr>
            <a:r>
              <a:rPr lang="en-IN" sz="2000" dirty="0"/>
              <a:t>Concurrent Use of Database</a:t>
            </a:r>
          </a:p>
          <a:p>
            <a:pPr>
              <a:buFont typeface="Wingdings" panose="05000000000000000000" pitchFamily="2" charset="2"/>
              <a:buChar char="Ø"/>
            </a:pPr>
            <a:r>
              <a:rPr lang="en-US" sz="2000" dirty="0"/>
              <a:t>Insulation Between Data and Program</a:t>
            </a:r>
          </a:p>
          <a:p>
            <a:pPr>
              <a:buFont typeface="Wingdings" panose="05000000000000000000" pitchFamily="2" charset="2"/>
              <a:buChar char="Ø"/>
            </a:pPr>
            <a:r>
              <a:rPr lang="en-IN" sz="2000" dirty="0"/>
              <a:t>Transactions</a:t>
            </a:r>
          </a:p>
          <a:p>
            <a:pPr>
              <a:buFont typeface="Wingdings" panose="05000000000000000000" pitchFamily="2" charset="2"/>
              <a:buChar char="Ø"/>
            </a:pPr>
            <a:endParaRPr lang="en-IN" sz="2000" dirty="0"/>
          </a:p>
        </p:txBody>
      </p:sp>
      <p:sp>
        <p:nvSpPr>
          <p:cNvPr id="5" name="Rectangle 4"/>
          <p:cNvSpPr/>
          <p:nvPr/>
        </p:nvSpPr>
        <p:spPr>
          <a:xfrm>
            <a:off x="4405746" y="1219201"/>
            <a:ext cx="4572000" cy="3323987"/>
          </a:xfrm>
          <a:prstGeom prst="rect">
            <a:avLst/>
          </a:prstGeom>
        </p:spPr>
        <p:txBody>
          <a:bodyPr>
            <a:spAutoFit/>
          </a:bodyPr>
          <a:lstStyle/>
          <a:p>
            <a:pPr marL="285750" indent="-285750">
              <a:lnSpc>
                <a:spcPct val="150000"/>
              </a:lnSpc>
              <a:buFont typeface="Wingdings" panose="05000000000000000000" pitchFamily="2" charset="2"/>
              <a:buChar char="Ø"/>
            </a:pPr>
            <a:r>
              <a:rPr lang="en-IN" sz="2000" dirty="0" smtClean="0"/>
              <a:t>Data Persistence</a:t>
            </a:r>
          </a:p>
          <a:p>
            <a:pPr marL="285750" indent="-285750">
              <a:lnSpc>
                <a:spcPct val="150000"/>
              </a:lnSpc>
              <a:buFont typeface="Wingdings" panose="05000000000000000000" pitchFamily="2" charset="2"/>
              <a:buChar char="Ø"/>
            </a:pPr>
            <a:r>
              <a:rPr lang="en-IN" sz="2000" dirty="0" smtClean="0"/>
              <a:t>Backup and Recovery</a:t>
            </a:r>
          </a:p>
          <a:p>
            <a:pPr marL="285750" indent="-285750">
              <a:lnSpc>
                <a:spcPct val="150000"/>
              </a:lnSpc>
              <a:buFont typeface="Wingdings" panose="05000000000000000000" pitchFamily="2" charset="2"/>
              <a:buChar char="Ø"/>
            </a:pPr>
            <a:r>
              <a:rPr lang="en-IN" sz="2000" dirty="0" smtClean="0"/>
              <a:t>Data Integrity</a:t>
            </a:r>
          </a:p>
          <a:p>
            <a:pPr marL="285750" indent="-285750">
              <a:lnSpc>
                <a:spcPct val="150000"/>
              </a:lnSpc>
              <a:buFont typeface="Wingdings" panose="05000000000000000000" pitchFamily="2" charset="2"/>
              <a:buChar char="Ø"/>
            </a:pPr>
            <a:r>
              <a:rPr lang="en-IN" sz="2000" dirty="0" smtClean="0"/>
              <a:t>Multiple Views</a:t>
            </a:r>
          </a:p>
          <a:p>
            <a:pPr marL="285750" indent="-285750">
              <a:lnSpc>
                <a:spcPct val="150000"/>
              </a:lnSpc>
              <a:buFont typeface="Wingdings" panose="05000000000000000000" pitchFamily="2" charset="2"/>
              <a:buChar char="Ø"/>
            </a:pPr>
            <a:r>
              <a:rPr lang="en-US" sz="2000" dirty="0" smtClean="0"/>
              <a:t>Stores Any Kind of Data</a:t>
            </a:r>
          </a:p>
          <a:p>
            <a:pPr marL="285750" indent="-285750">
              <a:lnSpc>
                <a:spcPct val="150000"/>
              </a:lnSpc>
              <a:buFont typeface="Wingdings" panose="05000000000000000000" pitchFamily="2" charset="2"/>
              <a:buChar char="Ø"/>
            </a:pPr>
            <a:r>
              <a:rPr lang="en-IN" sz="2000" dirty="0" smtClean="0"/>
              <a:t>Security</a:t>
            </a:r>
          </a:p>
          <a:p>
            <a:pPr marL="285750" indent="-285750">
              <a:lnSpc>
                <a:spcPct val="150000"/>
              </a:lnSpc>
              <a:buFont typeface="Wingdings" panose="05000000000000000000" pitchFamily="2" charset="2"/>
              <a:buChar char="Ø"/>
            </a:pPr>
            <a:r>
              <a:rPr lang="en-IN" sz="2000" dirty="0" smtClean="0"/>
              <a:t>Cost</a:t>
            </a:r>
            <a:endParaRPr lang="en-IN" sz="2000" dirty="0"/>
          </a:p>
        </p:txBody>
      </p:sp>
    </p:spTree>
    <p:extLst>
      <p:ext uri="{BB962C8B-B14F-4D97-AF65-F5344CB8AC3E}">
        <p14:creationId xmlns:p14="http://schemas.microsoft.com/office/powerpoint/2010/main" val="31712711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Characteristics </a:t>
            </a:r>
            <a:r>
              <a:rPr lang="en-IN" dirty="0" smtClean="0"/>
              <a:t>of  DBMS(</a:t>
            </a:r>
            <a:r>
              <a:rPr lang="en-IN" dirty="0" err="1" smtClean="0"/>
              <a:t>cont</a:t>
            </a:r>
            <a:r>
              <a:rPr lang="en-IN" dirty="0" smtClean="0"/>
              <a:t>…)</a:t>
            </a:r>
            <a:endParaRPr lang="en-IN" dirty="0"/>
          </a:p>
        </p:txBody>
      </p:sp>
      <p:sp>
        <p:nvSpPr>
          <p:cNvPr id="3" name="Content Placeholder 2"/>
          <p:cNvSpPr>
            <a:spLocks noGrp="1"/>
          </p:cNvSpPr>
          <p:nvPr>
            <p:ph idx="1"/>
          </p:nvPr>
        </p:nvSpPr>
        <p:spPr>
          <a:xfrm>
            <a:off x="628650" y="1144386"/>
            <a:ext cx="7886700" cy="4957763"/>
          </a:xfrm>
        </p:spPr>
        <p:txBody>
          <a:bodyPr>
            <a:noAutofit/>
          </a:bodyPr>
          <a:lstStyle/>
          <a:p>
            <a:pPr>
              <a:buFont typeface="Wingdings" panose="05000000000000000000" pitchFamily="2" charset="2"/>
              <a:buChar char="Ø"/>
            </a:pPr>
            <a:r>
              <a:rPr lang="en-IN" sz="2000" b="1" dirty="0" smtClean="0"/>
              <a:t>Real World Entity</a:t>
            </a:r>
          </a:p>
          <a:p>
            <a:pPr algn="just" fontAlgn="base"/>
            <a:r>
              <a:rPr lang="en-US" dirty="0"/>
              <a:t>DBMS </a:t>
            </a:r>
            <a:r>
              <a:rPr lang="en-US" dirty="0" smtClean="0"/>
              <a:t>real-world </a:t>
            </a:r>
            <a:r>
              <a:rPr lang="en-US" dirty="0"/>
              <a:t>entities are used to design its architecture. Also, behavior and attributes are used by DBMS</a:t>
            </a:r>
            <a:r>
              <a:rPr lang="en-US" dirty="0" smtClean="0"/>
              <a:t>.</a:t>
            </a:r>
          </a:p>
          <a:p>
            <a:pPr algn="just" fontAlgn="base">
              <a:buFont typeface="Wingdings" panose="05000000000000000000" pitchFamily="2" charset="2"/>
              <a:buChar char="Ø"/>
            </a:pPr>
            <a:r>
              <a:rPr lang="en-US" dirty="0" smtClean="0"/>
              <a:t> </a:t>
            </a:r>
            <a:r>
              <a:rPr lang="en-US" b="1" dirty="0" smtClean="0"/>
              <a:t>2</a:t>
            </a:r>
            <a:r>
              <a:rPr lang="en-US" b="1" dirty="0"/>
              <a:t>. </a:t>
            </a:r>
            <a:r>
              <a:rPr lang="en-US" sz="2000" b="1" dirty="0"/>
              <a:t>Self-Describing Nature</a:t>
            </a:r>
            <a:endParaRPr lang="en-US" b="1" dirty="0"/>
          </a:p>
          <a:p>
            <a:pPr lvl="1">
              <a:buFont typeface="Wingdings" panose="05000000000000000000" pitchFamily="2" charset="2"/>
              <a:buChar char="Ø"/>
            </a:pPr>
            <a:endParaRPr lang="en-US" sz="2000" dirty="0" smtClean="0"/>
          </a:p>
          <a:p>
            <a:pPr lvl="1">
              <a:buFont typeface="Wingdings" panose="05000000000000000000" pitchFamily="2" charset="2"/>
              <a:buChar char="Ø"/>
            </a:pPr>
            <a:endParaRPr lang="en-IN" sz="2000" dirty="0" smtClean="0"/>
          </a:p>
        </p:txBody>
      </p:sp>
    </p:spTree>
    <p:extLst>
      <p:ext uri="{BB962C8B-B14F-4D97-AF65-F5344CB8AC3E}">
        <p14:creationId xmlns:p14="http://schemas.microsoft.com/office/powerpoint/2010/main" val="6271855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Function of DBMS 	</a:t>
            </a:r>
            <a:endParaRPr lang="en-IN"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IN" b="1" dirty="0" smtClean="0">
                <a:solidFill>
                  <a:srgbClr val="FF0066"/>
                </a:solidFill>
              </a:rPr>
              <a:t>Data Security &amp; data Integrity </a:t>
            </a:r>
          </a:p>
          <a:p>
            <a:pPr>
              <a:buFont typeface="Wingdings" panose="05000000000000000000" pitchFamily="2" charset="2"/>
              <a:buChar char="Ø"/>
            </a:pPr>
            <a:r>
              <a:rPr lang="en-IN" b="1" dirty="0" smtClean="0">
                <a:solidFill>
                  <a:srgbClr val="FF0066"/>
                </a:solidFill>
              </a:rPr>
              <a:t>Data Definition       </a:t>
            </a:r>
            <a:r>
              <a:rPr lang="en-IN" dirty="0" smtClean="0"/>
              <a:t>: - Define the Structure of  DBMS </a:t>
            </a:r>
          </a:p>
          <a:p>
            <a:pPr>
              <a:buFont typeface="Wingdings" panose="05000000000000000000" pitchFamily="2" charset="2"/>
              <a:buChar char="Ø"/>
            </a:pPr>
            <a:r>
              <a:rPr lang="en-IN" b="1" dirty="0" smtClean="0">
                <a:solidFill>
                  <a:srgbClr val="FF0066"/>
                </a:solidFill>
              </a:rPr>
              <a:t>Data Manipulation </a:t>
            </a:r>
            <a:r>
              <a:rPr lang="en-IN" dirty="0" smtClean="0"/>
              <a:t>:- It Contains  Manipulation of data i.e. Inserting, modifying, and deleting function. </a:t>
            </a:r>
          </a:p>
          <a:p>
            <a:pPr>
              <a:buFont typeface="Wingdings" panose="05000000000000000000" pitchFamily="2" charset="2"/>
              <a:buChar char="Ø"/>
            </a:pPr>
            <a:r>
              <a:rPr lang="en-IN" b="1" dirty="0" smtClean="0">
                <a:solidFill>
                  <a:srgbClr val="FF0066"/>
                </a:solidFill>
              </a:rPr>
              <a:t>Data Recovery        </a:t>
            </a:r>
            <a:r>
              <a:rPr lang="en-IN" dirty="0" smtClean="0"/>
              <a:t>:- After system failure to recover data in the database. </a:t>
            </a:r>
          </a:p>
          <a:p>
            <a:pPr>
              <a:buFont typeface="Wingdings" panose="05000000000000000000" pitchFamily="2" charset="2"/>
              <a:buChar char="Ø"/>
            </a:pPr>
            <a:r>
              <a:rPr lang="en-IN" b="1" dirty="0" smtClean="0">
                <a:solidFill>
                  <a:srgbClr val="FF0066"/>
                </a:solidFill>
              </a:rPr>
              <a:t>Concurrency  </a:t>
            </a:r>
            <a:r>
              <a:rPr lang="en-IN" b="1" dirty="0" smtClean="0"/>
              <a:t> </a:t>
            </a:r>
            <a:r>
              <a:rPr lang="en-IN" dirty="0" smtClean="0"/>
              <a:t>     :- Handle concurrent access of multiple user</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17347987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Database Languages</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Read, Update, Manipulate, and Store data in a database using Database Languages. The following are the database languages −</a:t>
            </a:r>
            <a:endParaRPr lang="en-IN" dirty="0" smtClean="0"/>
          </a:p>
          <a:p>
            <a:pPr lvl="1">
              <a:buFont typeface="Wingdings" panose="05000000000000000000" pitchFamily="2" charset="2"/>
              <a:buChar char="Ø"/>
            </a:pPr>
            <a:r>
              <a:rPr lang="en-IN" b="1" dirty="0" smtClean="0">
                <a:solidFill>
                  <a:srgbClr val="FF0066"/>
                </a:solidFill>
              </a:rPr>
              <a:t>Data Definition Language </a:t>
            </a:r>
          </a:p>
          <a:p>
            <a:pPr lvl="1">
              <a:buFont typeface="Wingdings" panose="05000000000000000000" pitchFamily="2" charset="2"/>
              <a:buChar char="Ø"/>
            </a:pPr>
            <a:r>
              <a:rPr lang="en-IN" b="1" dirty="0" smtClean="0">
                <a:solidFill>
                  <a:srgbClr val="FF0066"/>
                </a:solidFill>
              </a:rPr>
              <a:t>Data  Manipulation Language </a:t>
            </a:r>
          </a:p>
          <a:p>
            <a:pPr lvl="1">
              <a:buFont typeface="Wingdings" panose="05000000000000000000" pitchFamily="2" charset="2"/>
              <a:buChar char="Ø"/>
            </a:pPr>
            <a:r>
              <a:rPr lang="en-IN" b="1" dirty="0">
                <a:solidFill>
                  <a:srgbClr val="FF0066"/>
                </a:solidFill>
              </a:rPr>
              <a:t>Data Control Language</a:t>
            </a:r>
          </a:p>
          <a:p>
            <a:pPr lvl="1">
              <a:buFont typeface="Wingdings" panose="05000000000000000000" pitchFamily="2" charset="2"/>
              <a:buChar char="Ø"/>
            </a:pPr>
            <a:r>
              <a:rPr lang="en-IN" b="1" dirty="0">
                <a:solidFill>
                  <a:srgbClr val="FF0066"/>
                </a:solidFill>
              </a:rPr>
              <a:t>Transaction Control Language</a:t>
            </a:r>
          </a:p>
        </p:txBody>
      </p:sp>
    </p:spTree>
    <p:extLst>
      <p:ext uri="{BB962C8B-B14F-4D97-AF65-F5344CB8AC3E}">
        <p14:creationId xmlns:p14="http://schemas.microsoft.com/office/powerpoint/2010/main" val="11053788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Database Languages (</a:t>
            </a:r>
            <a:r>
              <a:rPr lang="en-IN" dirty="0" err="1" smtClean="0"/>
              <a:t>cont</a:t>
            </a:r>
            <a:r>
              <a:rPr lang="en-IN" dirty="0" smtClean="0"/>
              <a:t>…)</a:t>
            </a:r>
            <a:endParaRPr lang="en-IN" dirty="0"/>
          </a:p>
        </p:txBody>
      </p:sp>
      <p:sp>
        <p:nvSpPr>
          <p:cNvPr id="3" name="Content Placeholder 2"/>
          <p:cNvSpPr>
            <a:spLocks noGrp="1"/>
          </p:cNvSpPr>
          <p:nvPr>
            <p:ph idx="1"/>
          </p:nvPr>
        </p:nvSpPr>
        <p:spPr/>
        <p:txBody>
          <a:bodyPr>
            <a:normAutofit fontScale="92500" lnSpcReduction="20000"/>
          </a:bodyPr>
          <a:lstStyle/>
          <a:p>
            <a:r>
              <a:rPr lang="en-US" b="1" dirty="0"/>
              <a:t>Data Definition Language</a:t>
            </a:r>
          </a:p>
          <a:p>
            <a:r>
              <a:rPr lang="en-US" dirty="0"/>
              <a:t>The language is used to create database, tables, alter them, etc. With this, you can also rename the database, or drop them. It specifies the database schema.</a:t>
            </a:r>
          </a:p>
          <a:p>
            <a:pPr lvl="1"/>
            <a:r>
              <a:rPr lang="en-US" dirty="0"/>
              <a:t>The DDL statements include −</a:t>
            </a:r>
          </a:p>
          <a:p>
            <a:pPr lvl="1"/>
            <a:r>
              <a:rPr lang="en-US" b="1" dirty="0"/>
              <a:t>CREATE</a:t>
            </a:r>
            <a:r>
              <a:rPr lang="en-US" dirty="0"/>
              <a:t>:  Create new database, table, etc.</a:t>
            </a:r>
          </a:p>
          <a:p>
            <a:pPr lvl="1"/>
            <a:r>
              <a:rPr lang="en-US" b="1" dirty="0"/>
              <a:t>ALTER</a:t>
            </a:r>
            <a:r>
              <a:rPr lang="en-US" dirty="0"/>
              <a:t>: Alter existing database, table, etc.</a:t>
            </a:r>
          </a:p>
          <a:p>
            <a:pPr lvl="1"/>
            <a:r>
              <a:rPr lang="en-US" b="1" dirty="0"/>
              <a:t>DROP</a:t>
            </a:r>
            <a:r>
              <a:rPr lang="en-US" dirty="0"/>
              <a:t>: Drop the database</a:t>
            </a:r>
          </a:p>
          <a:p>
            <a:pPr lvl="1"/>
            <a:r>
              <a:rPr lang="en-US" b="1" dirty="0"/>
              <a:t>RENAME</a:t>
            </a:r>
            <a:r>
              <a:rPr lang="en-US" dirty="0"/>
              <a:t>: Set a new name for the table.</a:t>
            </a:r>
          </a:p>
          <a:p>
            <a:pPr>
              <a:buFont typeface="Wingdings" panose="05000000000000000000" pitchFamily="2" charset="2"/>
              <a:buChar char="§"/>
            </a:pPr>
            <a:endParaRPr lang="en-IN" b="1" dirty="0">
              <a:solidFill>
                <a:srgbClr val="FF0066"/>
              </a:solidFill>
            </a:endParaRPr>
          </a:p>
        </p:txBody>
      </p:sp>
    </p:spTree>
    <p:extLst>
      <p:ext uri="{BB962C8B-B14F-4D97-AF65-F5344CB8AC3E}">
        <p14:creationId xmlns:p14="http://schemas.microsoft.com/office/powerpoint/2010/main" val="2878820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Database Languages (</a:t>
            </a:r>
            <a:r>
              <a:rPr lang="en-IN" dirty="0" err="1" smtClean="0"/>
              <a:t>cont</a:t>
            </a:r>
            <a:r>
              <a:rPr lang="en-IN" dirty="0" smtClean="0"/>
              <a:t>…)</a:t>
            </a:r>
            <a:endParaRPr lang="en-IN" dirty="0"/>
          </a:p>
        </p:txBody>
      </p:sp>
      <p:sp>
        <p:nvSpPr>
          <p:cNvPr id="3" name="Content Placeholder 2"/>
          <p:cNvSpPr>
            <a:spLocks noGrp="1"/>
          </p:cNvSpPr>
          <p:nvPr>
            <p:ph idx="1"/>
          </p:nvPr>
        </p:nvSpPr>
        <p:spPr/>
        <p:txBody>
          <a:bodyPr>
            <a:normAutofit fontScale="92500"/>
          </a:bodyPr>
          <a:lstStyle/>
          <a:p>
            <a:r>
              <a:rPr lang="en-IN" b="1" dirty="0"/>
              <a:t>Data Manipulation Language</a:t>
            </a:r>
          </a:p>
          <a:p>
            <a:r>
              <a:rPr lang="en-IN" dirty="0"/>
              <a:t>The language used to manipulate the database like inserting data, updating table, retrieving record  from a table, etc. is known as Data Manipulation Language −</a:t>
            </a:r>
          </a:p>
          <a:p>
            <a:pPr lvl="1"/>
            <a:r>
              <a:rPr lang="en-IN" b="1" dirty="0"/>
              <a:t>SELECT</a:t>
            </a:r>
            <a:r>
              <a:rPr lang="en-IN" dirty="0"/>
              <a:t>: Retrieve data from the database</a:t>
            </a:r>
          </a:p>
          <a:p>
            <a:pPr lvl="1"/>
            <a:r>
              <a:rPr lang="en-IN" b="1" dirty="0"/>
              <a:t>INSERT</a:t>
            </a:r>
            <a:r>
              <a:rPr lang="en-IN" dirty="0"/>
              <a:t>: Insert data</a:t>
            </a:r>
          </a:p>
          <a:p>
            <a:pPr lvl="1"/>
            <a:r>
              <a:rPr lang="en-IN" b="1" dirty="0"/>
              <a:t>UPDATE</a:t>
            </a:r>
            <a:r>
              <a:rPr lang="en-IN" dirty="0"/>
              <a:t>:  Update data</a:t>
            </a:r>
          </a:p>
          <a:p>
            <a:pPr lvl="1"/>
            <a:r>
              <a:rPr lang="en-IN" b="1" dirty="0"/>
              <a:t>DELETE</a:t>
            </a:r>
            <a:r>
              <a:rPr lang="en-IN" dirty="0"/>
              <a:t>: Delete all records</a:t>
            </a:r>
          </a:p>
        </p:txBody>
      </p:sp>
    </p:spTree>
    <p:extLst>
      <p:ext uri="{BB962C8B-B14F-4D97-AF65-F5344CB8AC3E}">
        <p14:creationId xmlns:p14="http://schemas.microsoft.com/office/powerpoint/2010/main" val="16993723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Database Languages (</a:t>
            </a:r>
            <a:r>
              <a:rPr lang="en-IN" dirty="0" err="1" smtClean="0"/>
              <a:t>cont</a:t>
            </a:r>
            <a:r>
              <a:rPr lang="en-IN" dirty="0" smtClean="0"/>
              <a:t>…)</a:t>
            </a:r>
            <a:endParaRPr lang="en-IN" dirty="0"/>
          </a:p>
        </p:txBody>
      </p:sp>
      <p:sp>
        <p:nvSpPr>
          <p:cNvPr id="3" name="Content Placeholder 2"/>
          <p:cNvSpPr>
            <a:spLocks noGrp="1"/>
          </p:cNvSpPr>
          <p:nvPr>
            <p:ph idx="1"/>
          </p:nvPr>
        </p:nvSpPr>
        <p:spPr/>
        <p:txBody>
          <a:bodyPr>
            <a:normAutofit/>
          </a:bodyPr>
          <a:lstStyle/>
          <a:p>
            <a:r>
              <a:rPr lang="en-US" b="1" dirty="0"/>
              <a:t>Data Control Language</a:t>
            </a:r>
          </a:p>
          <a:p>
            <a:r>
              <a:rPr lang="en-US" dirty="0"/>
              <a:t>Grant privilege to a user using the GRANT statement. In the same way, revoke the privilege using the REVOKE statement. Both of these statements come under the Data Control Language (DCL). −</a:t>
            </a:r>
          </a:p>
          <a:p>
            <a:pPr lvl="1"/>
            <a:r>
              <a:rPr lang="en-US" b="1" dirty="0"/>
              <a:t>GRANT</a:t>
            </a:r>
            <a:r>
              <a:rPr lang="en-US" dirty="0"/>
              <a:t>: Give privilege to access the database.</a:t>
            </a:r>
          </a:p>
          <a:p>
            <a:pPr lvl="1"/>
            <a:r>
              <a:rPr lang="en-US" b="1" dirty="0"/>
              <a:t>REVOKE: </a:t>
            </a:r>
            <a:r>
              <a:rPr lang="en-US" dirty="0"/>
              <a:t>Take back the privilege to access the database.</a:t>
            </a:r>
          </a:p>
        </p:txBody>
      </p:sp>
    </p:spTree>
    <p:extLst>
      <p:ext uri="{BB962C8B-B14F-4D97-AF65-F5344CB8AC3E}">
        <p14:creationId xmlns:p14="http://schemas.microsoft.com/office/powerpoint/2010/main" val="5449426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Database Languages (</a:t>
            </a:r>
            <a:r>
              <a:rPr lang="en-IN" dirty="0" err="1" smtClean="0"/>
              <a:t>cont</a:t>
            </a:r>
            <a:r>
              <a:rPr lang="en-IN" dirty="0" smtClean="0"/>
              <a:t>…)</a:t>
            </a:r>
            <a:endParaRPr lang="en-IN" dirty="0"/>
          </a:p>
        </p:txBody>
      </p:sp>
      <p:sp>
        <p:nvSpPr>
          <p:cNvPr id="3" name="Content Placeholder 2"/>
          <p:cNvSpPr>
            <a:spLocks noGrp="1"/>
          </p:cNvSpPr>
          <p:nvPr>
            <p:ph idx="1"/>
          </p:nvPr>
        </p:nvSpPr>
        <p:spPr/>
        <p:txBody>
          <a:bodyPr>
            <a:normAutofit/>
          </a:bodyPr>
          <a:lstStyle/>
          <a:p>
            <a:r>
              <a:rPr lang="en-US" b="1" dirty="0"/>
              <a:t>Transaction Control Language</a:t>
            </a:r>
          </a:p>
          <a:p>
            <a:r>
              <a:rPr lang="en-US" dirty="0"/>
              <a:t>Manage transactions in the Database using the Transaction Control Language −</a:t>
            </a:r>
          </a:p>
          <a:p>
            <a:pPr lvl="1"/>
            <a:r>
              <a:rPr lang="en-US" b="1" dirty="0"/>
              <a:t>COMMIT</a:t>
            </a:r>
            <a:r>
              <a:rPr lang="en-US" dirty="0"/>
              <a:t>: Save the work.</a:t>
            </a:r>
          </a:p>
          <a:p>
            <a:pPr lvl="1"/>
            <a:r>
              <a:rPr lang="en-US" b="1" dirty="0"/>
              <a:t>SAVEPOINT</a:t>
            </a:r>
            <a:r>
              <a:rPr lang="en-US" dirty="0"/>
              <a:t>: Set a point in transaction to rollback later</a:t>
            </a:r>
          </a:p>
          <a:p>
            <a:pPr lvl="1"/>
            <a:r>
              <a:rPr lang="en-US" b="1" dirty="0"/>
              <a:t>ROLLBACK</a:t>
            </a:r>
            <a:r>
              <a:rPr lang="en-US" dirty="0"/>
              <a:t>: Restores since last commit</a:t>
            </a:r>
          </a:p>
          <a:p>
            <a:pPr marL="914400" lvl="2" indent="0">
              <a:buNone/>
            </a:pPr>
            <a:endParaRPr lang="en-US" dirty="0"/>
          </a:p>
        </p:txBody>
      </p:sp>
    </p:spTree>
    <p:extLst>
      <p:ext uri="{BB962C8B-B14F-4D97-AF65-F5344CB8AC3E}">
        <p14:creationId xmlns:p14="http://schemas.microsoft.com/office/powerpoint/2010/main" val="14835462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Database 3-tier schema (ANSI/SPARC) and</a:t>
            </a:r>
            <a:br>
              <a:rPr lang="en-IN" dirty="0"/>
            </a:br>
            <a:r>
              <a:rPr lang="en-IN" dirty="0"/>
              <a:t>system architecture of DBMS</a:t>
            </a:r>
          </a:p>
        </p:txBody>
      </p:sp>
      <p:sp>
        <p:nvSpPr>
          <p:cNvPr id="3" name="Content Placeholder 2"/>
          <p:cNvSpPr>
            <a:spLocks noGrp="1"/>
          </p:cNvSpPr>
          <p:nvPr>
            <p:ph idx="1"/>
          </p:nvPr>
        </p:nvSpPr>
        <p:spPr>
          <a:xfrm>
            <a:off x="467544" y="1412776"/>
            <a:ext cx="8229600" cy="4925144"/>
          </a:xfrm>
        </p:spPr>
        <p:txBody>
          <a:bodyPr>
            <a:noAutofit/>
          </a:bodyPr>
          <a:lstStyle/>
          <a:p>
            <a:r>
              <a:rPr lang="en-US" sz="2000" dirty="0" smtClean="0"/>
              <a:t>ANSI </a:t>
            </a:r>
            <a:r>
              <a:rPr lang="en-US" sz="2000" dirty="0"/>
              <a:t>SPARC THREE-TIER architecture has main three levels:</a:t>
            </a:r>
          </a:p>
          <a:p>
            <a:pPr lvl="1">
              <a:buFont typeface="Wingdings" panose="05000000000000000000" pitchFamily="2" charset="2"/>
              <a:buChar char="Ø"/>
            </a:pPr>
            <a:r>
              <a:rPr lang="en-US" sz="2000" b="1" dirty="0">
                <a:solidFill>
                  <a:srgbClr val="FF0066"/>
                </a:solidFill>
              </a:rPr>
              <a:t>Internal Level</a:t>
            </a:r>
            <a:endParaRPr lang="en-US" sz="2000" dirty="0">
              <a:solidFill>
                <a:srgbClr val="FF0066"/>
              </a:solidFill>
            </a:endParaRPr>
          </a:p>
          <a:p>
            <a:pPr lvl="1">
              <a:buFont typeface="Wingdings" panose="05000000000000000000" pitchFamily="2" charset="2"/>
              <a:buChar char="Ø"/>
            </a:pPr>
            <a:r>
              <a:rPr lang="en-US" sz="2000" b="1" dirty="0">
                <a:solidFill>
                  <a:srgbClr val="FF0066"/>
                </a:solidFill>
              </a:rPr>
              <a:t>Conceptual Level</a:t>
            </a:r>
            <a:endParaRPr lang="en-US" sz="2000" dirty="0">
              <a:solidFill>
                <a:srgbClr val="FF0066"/>
              </a:solidFill>
            </a:endParaRPr>
          </a:p>
          <a:p>
            <a:pPr lvl="1">
              <a:buFont typeface="Wingdings" panose="05000000000000000000" pitchFamily="2" charset="2"/>
              <a:buChar char="Ø"/>
            </a:pPr>
            <a:r>
              <a:rPr lang="en-US" sz="2000" b="1" dirty="0">
                <a:solidFill>
                  <a:srgbClr val="FF0066"/>
                </a:solidFill>
              </a:rPr>
              <a:t>External Level</a:t>
            </a:r>
            <a:endParaRPr lang="en-US" sz="2000" dirty="0">
              <a:solidFill>
                <a:srgbClr val="FF0066"/>
              </a:solidFill>
            </a:endParaRPr>
          </a:p>
          <a:p>
            <a:r>
              <a:rPr lang="en-US" sz="2000" dirty="0"/>
              <a:t>These three levels provide </a:t>
            </a:r>
            <a:endParaRPr lang="en-US" sz="2000" dirty="0" smtClean="0"/>
          </a:p>
          <a:p>
            <a:pPr lvl="1"/>
            <a:r>
              <a:rPr lang="en-US" sz="2000" dirty="0" smtClean="0"/>
              <a:t>data </a:t>
            </a:r>
            <a:r>
              <a:rPr lang="en-US" sz="2000" dirty="0"/>
              <a:t>abstraction ;means hide the low level complexities from end users </a:t>
            </a:r>
            <a:endParaRPr lang="en-US" sz="2000" dirty="0" smtClean="0"/>
          </a:p>
          <a:p>
            <a:pPr lvl="1"/>
            <a:r>
              <a:rPr lang="en-US" sz="2000" dirty="0" smtClean="0"/>
              <a:t>A </a:t>
            </a:r>
            <a:r>
              <a:rPr lang="en-US" sz="2000" dirty="0"/>
              <a:t>database system should be efficient in performance and convenient </a:t>
            </a:r>
            <a:r>
              <a:rPr lang="en-US" sz="2000" dirty="0" smtClean="0"/>
              <a:t>in use.</a:t>
            </a:r>
          </a:p>
          <a:p>
            <a:pPr lvl="1"/>
            <a:r>
              <a:rPr lang="en-US" sz="2000" dirty="0" smtClean="0"/>
              <a:t>Using </a:t>
            </a:r>
            <a:r>
              <a:rPr lang="en-US" sz="2000" dirty="0"/>
              <a:t>these three </a:t>
            </a:r>
            <a:r>
              <a:rPr lang="en-US" sz="2000" dirty="0" smtClean="0"/>
              <a:t>levels, it </a:t>
            </a:r>
            <a:r>
              <a:rPr lang="en-US" sz="2000" dirty="0"/>
              <a:t>is possible to use complex structures at internal level for efficient operations and to provide simpler convenient interface at external level.</a:t>
            </a:r>
          </a:p>
          <a:p>
            <a:endParaRPr lang="en-IN" sz="2000" dirty="0"/>
          </a:p>
        </p:txBody>
      </p:sp>
    </p:spTree>
    <p:extLst>
      <p:ext uri="{BB962C8B-B14F-4D97-AF65-F5344CB8AC3E}">
        <p14:creationId xmlns:p14="http://schemas.microsoft.com/office/powerpoint/2010/main" val="10898121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Database 3-tier schema (ANSI/SPARC) and</a:t>
            </a:r>
            <a:br>
              <a:rPr lang="en-IN" dirty="0"/>
            </a:br>
            <a:r>
              <a:rPr lang="en-IN" dirty="0"/>
              <a:t>system architecture of DBMS</a:t>
            </a:r>
          </a:p>
        </p:txBody>
      </p:sp>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1440" t="12904" r="15196" b="12660"/>
          <a:stretch/>
        </p:blipFill>
        <p:spPr bwMode="auto">
          <a:xfrm>
            <a:off x="827584" y="1340768"/>
            <a:ext cx="6943168" cy="5229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8281505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Database 3-tier schema (ANSI/SPARC) and</a:t>
            </a:r>
            <a:br>
              <a:rPr lang="en-IN" dirty="0"/>
            </a:br>
            <a:r>
              <a:rPr lang="en-IN" dirty="0"/>
              <a:t>system architecture of DBMS</a:t>
            </a:r>
          </a:p>
        </p:txBody>
      </p:sp>
      <p:sp>
        <p:nvSpPr>
          <p:cNvPr id="3" name="Content Placeholder 2"/>
          <p:cNvSpPr>
            <a:spLocks noGrp="1"/>
          </p:cNvSpPr>
          <p:nvPr>
            <p:ph idx="1"/>
          </p:nvPr>
        </p:nvSpPr>
        <p:spPr/>
        <p:txBody>
          <a:bodyPr>
            <a:normAutofit fontScale="92500" lnSpcReduction="20000"/>
          </a:bodyPr>
          <a:lstStyle/>
          <a:p>
            <a:r>
              <a:rPr lang="en-US" b="1" i="1" dirty="0"/>
              <a:t>1. Internal level:</a:t>
            </a:r>
          </a:p>
          <a:p>
            <a:pPr lvl="1">
              <a:buFont typeface="Wingdings" panose="05000000000000000000" pitchFamily="2" charset="2"/>
              <a:buChar char="Ø"/>
            </a:pPr>
            <a:r>
              <a:rPr lang="en-US" dirty="0"/>
              <a:t>This is the lowest level of data abstraction.</a:t>
            </a:r>
          </a:p>
          <a:p>
            <a:pPr lvl="1">
              <a:buFont typeface="Wingdings" panose="05000000000000000000" pitchFamily="2" charset="2"/>
              <a:buChar char="Ø"/>
            </a:pPr>
            <a:r>
              <a:rPr lang="en-US" dirty="0"/>
              <a:t>It describes How the data are actually stored on storage devices.</a:t>
            </a:r>
          </a:p>
          <a:p>
            <a:pPr lvl="1">
              <a:buFont typeface="Wingdings" panose="05000000000000000000" pitchFamily="2" charset="2"/>
              <a:buChar char="Ø"/>
            </a:pPr>
            <a:r>
              <a:rPr lang="en-US" dirty="0"/>
              <a:t>It is also known as physical level.</a:t>
            </a:r>
          </a:p>
          <a:p>
            <a:pPr lvl="1">
              <a:buFont typeface="Wingdings" panose="05000000000000000000" pitchFamily="2" charset="2"/>
              <a:buChar char="Ø"/>
            </a:pPr>
            <a:r>
              <a:rPr lang="en-US" dirty="0"/>
              <a:t>It provides internal view of physical storage of data.</a:t>
            </a:r>
          </a:p>
          <a:p>
            <a:pPr lvl="1">
              <a:buFont typeface="Wingdings" panose="05000000000000000000" pitchFamily="2" charset="2"/>
              <a:buChar char="Ø"/>
            </a:pPr>
            <a:r>
              <a:rPr lang="en-US" dirty="0"/>
              <a:t>It deals with complex low level data structures</a:t>
            </a:r>
            <a:r>
              <a:rPr lang="en-US" dirty="0" smtClean="0"/>
              <a:t>, file </a:t>
            </a:r>
            <a:r>
              <a:rPr lang="en-US" dirty="0"/>
              <a:t>structures and access methods in detail.</a:t>
            </a:r>
          </a:p>
          <a:p>
            <a:pPr lvl="1">
              <a:buFont typeface="Wingdings" panose="05000000000000000000" pitchFamily="2" charset="2"/>
              <a:buChar char="Ø"/>
            </a:pPr>
            <a:r>
              <a:rPr lang="en-US" dirty="0"/>
              <a:t>It also deals with Data Compression and Encryption techniques</a:t>
            </a:r>
            <a:r>
              <a:rPr lang="en-US" dirty="0" smtClean="0"/>
              <a:t>, if </a:t>
            </a:r>
            <a:r>
              <a:rPr lang="en-US" dirty="0"/>
              <a:t>used.</a:t>
            </a:r>
          </a:p>
          <a:p>
            <a:endParaRPr lang="en-IN" b="1" dirty="0"/>
          </a:p>
        </p:txBody>
      </p:sp>
    </p:spTree>
    <p:extLst>
      <p:ext uri="{BB962C8B-B14F-4D97-AF65-F5344CB8AC3E}">
        <p14:creationId xmlns:p14="http://schemas.microsoft.com/office/powerpoint/2010/main" val="343546326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Database 3-tier schema (ANSI/SPARC) and</a:t>
            </a:r>
            <a:br>
              <a:rPr lang="en-IN" dirty="0"/>
            </a:br>
            <a:r>
              <a:rPr lang="en-IN" dirty="0"/>
              <a:t>system architecture of DBMS</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2132856"/>
            <a:ext cx="8015627"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98455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Database 3-tier schema (ANSI/SPARC) and</a:t>
            </a:r>
            <a:br>
              <a:rPr lang="en-IN" dirty="0"/>
            </a:br>
            <a:r>
              <a:rPr lang="en-IN" dirty="0"/>
              <a:t>system architecture of DBMS</a:t>
            </a:r>
          </a:p>
        </p:txBody>
      </p:sp>
      <p:sp>
        <p:nvSpPr>
          <p:cNvPr id="3" name="Content Placeholder 2"/>
          <p:cNvSpPr>
            <a:spLocks noGrp="1"/>
          </p:cNvSpPr>
          <p:nvPr>
            <p:ph idx="1"/>
          </p:nvPr>
        </p:nvSpPr>
        <p:spPr>
          <a:xfrm>
            <a:off x="457200" y="1600200"/>
            <a:ext cx="8363272" cy="4781128"/>
          </a:xfrm>
        </p:spPr>
        <p:txBody>
          <a:bodyPr>
            <a:normAutofit fontScale="92500" lnSpcReduction="10000"/>
          </a:bodyPr>
          <a:lstStyle/>
          <a:p>
            <a:r>
              <a:rPr lang="en-US" b="1" i="1" dirty="0"/>
              <a:t>Conceptual level:</a:t>
            </a:r>
          </a:p>
          <a:p>
            <a:pPr lvl="1"/>
            <a:r>
              <a:rPr lang="en-US" dirty="0"/>
              <a:t>This is the next higher level than internal level of data abstraction.</a:t>
            </a:r>
          </a:p>
          <a:p>
            <a:pPr lvl="1"/>
            <a:r>
              <a:rPr lang="en-US" dirty="0"/>
              <a:t>It describes What data are stored in the database and What relationships exist among those data.</a:t>
            </a:r>
          </a:p>
          <a:p>
            <a:pPr lvl="1"/>
            <a:r>
              <a:rPr lang="en-US" dirty="0"/>
              <a:t>It is also known as Logical level.</a:t>
            </a:r>
          </a:p>
          <a:p>
            <a:pPr lvl="1"/>
            <a:r>
              <a:rPr lang="en-US" dirty="0"/>
              <a:t>It hides low level complexities of physical storage.</a:t>
            </a:r>
          </a:p>
          <a:p>
            <a:pPr lvl="1"/>
            <a:r>
              <a:rPr lang="en-US" dirty="0"/>
              <a:t>Database administrator and designers work at this level to determine What data to keep in database.</a:t>
            </a:r>
          </a:p>
          <a:p>
            <a:pPr lvl="1"/>
            <a:r>
              <a:rPr lang="en-US" dirty="0"/>
              <a:t>Application developers also work on this level.</a:t>
            </a:r>
          </a:p>
        </p:txBody>
      </p:sp>
    </p:spTree>
    <p:extLst>
      <p:ext uri="{BB962C8B-B14F-4D97-AF65-F5344CB8AC3E}">
        <p14:creationId xmlns:p14="http://schemas.microsoft.com/office/powerpoint/2010/main" val="27598321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Database 3-tier schema (ANSI/SPARC) and</a:t>
            </a:r>
            <a:br>
              <a:rPr lang="en-IN" dirty="0"/>
            </a:br>
            <a:r>
              <a:rPr lang="en-IN" dirty="0"/>
              <a:t>system architecture of DBMS</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30279" y="2276872"/>
            <a:ext cx="7166181"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610658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Database 3-tier schema (ANSI/SPARC) and</a:t>
            </a:r>
            <a:br>
              <a:rPr lang="en-IN" dirty="0"/>
            </a:br>
            <a:r>
              <a:rPr lang="en-IN" dirty="0"/>
              <a:t>system architecture of DBMS</a:t>
            </a:r>
          </a:p>
        </p:txBody>
      </p:sp>
      <p:sp>
        <p:nvSpPr>
          <p:cNvPr id="3" name="Content Placeholder 2"/>
          <p:cNvSpPr>
            <a:spLocks noGrp="1"/>
          </p:cNvSpPr>
          <p:nvPr>
            <p:ph idx="1"/>
          </p:nvPr>
        </p:nvSpPr>
        <p:spPr>
          <a:xfrm>
            <a:off x="467544" y="1700808"/>
            <a:ext cx="8363272" cy="4896544"/>
          </a:xfrm>
        </p:spPr>
        <p:txBody>
          <a:bodyPr>
            <a:normAutofit fontScale="62500" lnSpcReduction="20000"/>
          </a:bodyPr>
          <a:lstStyle/>
          <a:p>
            <a:r>
              <a:rPr lang="en-US" sz="3200" b="1" i="1" dirty="0"/>
              <a:t>External Level:</a:t>
            </a:r>
          </a:p>
          <a:p>
            <a:pPr lvl="1"/>
            <a:r>
              <a:rPr lang="en-US" sz="3800" dirty="0"/>
              <a:t>This is the highest level of data abstraction.</a:t>
            </a:r>
          </a:p>
          <a:p>
            <a:pPr lvl="1"/>
            <a:r>
              <a:rPr lang="en-US" sz="3800" dirty="0"/>
              <a:t>It describes only part of the entire database that a end user concern.</a:t>
            </a:r>
          </a:p>
          <a:p>
            <a:pPr lvl="1"/>
            <a:r>
              <a:rPr lang="en-US" sz="3800" dirty="0"/>
              <a:t>It is also known as an view level.</a:t>
            </a:r>
          </a:p>
          <a:p>
            <a:pPr lvl="1"/>
            <a:r>
              <a:rPr lang="en-US" sz="3800" dirty="0"/>
              <a:t>End users need to access only part of the database rather than entire database.</a:t>
            </a:r>
          </a:p>
          <a:p>
            <a:pPr lvl="1"/>
            <a:r>
              <a:rPr lang="en-US" sz="3800" dirty="0"/>
              <a:t>Different user need different views of </a:t>
            </a:r>
            <a:r>
              <a:rPr lang="en-US" sz="3800" dirty="0" smtClean="0"/>
              <a:t>database. And </a:t>
            </a:r>
            <a:r>
              <a:rPr lang="en-US" sz="3800" dirty="0" err="1"/>
              <a:t>so,there</a:t>
            </a:r>
            <a:r>
              <a:rPr lang="en-US" sz="3800" dirty="0"/>
              <a:t> can be many view level abstractions of the same database</a:t>
            </a:r>
            <a:r>
              <a:rPr lang="en-US" sz="3800" dirty="0" smtClean="0"/>
              <a:t>.</a:t>
            </a:r>
            <a:endParaRPr lang="en-US" sz="3800" dirty="0"/>
          </a:p>
        </p:txBody>
      </p:sp>
    </p:spTree>
    <p:extLst>
      <p:ext uri="{BB962C8B-B14F-4D97-AF65-F5344CB8AC3E}">
        <p14:creationId xmlns:p14="http://schemas.microsoft.com/office/powerpoint/2010/main" val="37328138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Database 3-tier schema (ANSI/SPARC) and</a:t>
            </a:r>
            <a:br>
              <a:rPr lang="en-IN" dirty="0"/>
            </a:br>
            <a:r>
              <a:rPr lang="en-IN" dirty="0"/>
              <a:t>system architecture of DBMS</a:t>
            </a:r>
          </a:p>
        </p:txBody>
      </p:sp>
      <p:pic>
        <p:nvPicPr>
          <p:cNvPr id="512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8313" y="2420888"/>
            <a:ext cx="8362950" cy="20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112610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Types of DBMS </a:t>
            </a:r>
            <a:r>
              <a:rPr lang="en-IN" dirty="0" smtClean="0"/>
              <a:t>Architecture</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9632" y="1697617"/>
            <a:ext cx="6146055" cy="4018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68008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1-Tier </a:t>
            </a:r>
            <a:r>
              <a:rPr lang="en-IN" dirty="0" smtClean="0"/>
              <a:t>Architecture</a:t>
            </a:r>
            <a:endParaRPr lang="en-IN" dirty="0"/>
          </a:p>
        </p:txBody>
      </p:sp>
      <p:sp>
        <p:nvSpPr>
          <p:cNvPr id="3" name="Content Placeholder 2"/>
          <p:cNvSpPr>
            <a:spLocks noGrp="1"/>
          </p:cNvSpPr>
          <p:nvPr>
            <p:ph idx="1"/>
          </p:nvPr>
        </p:nvSpPr>
        <p:spPr/>
        <p:txBody>
          <a:bodyPr>
            <a:normAutofit lnSpcReduction="10000"/>
          </a:bodyPr>
          <a:lstStyle/>
          <a:p>
            <a:r>
              <a:rPr lang="en-US" dirty="0"/>
              <a:t>In this architecture, the database is directly available to the user. It means the user can directly sit on the DBMS and uses it.</a:t>
            </a:r>
          </a:p>
          <a:p>
            <a:r>
              <a:rPr lang="en-US" dirty="0"/>
              <a:t>Any changes done here will directly be done on the database itself. It doesn't provide a handy tool for end users.</a:t>
            </a:r>
          </a:p>
          <a:p>
            <a:r>
              <a:rPr lang="en-US" dirty="0"/>
              <a:t>The 1-Tier architecture is used for development of the local application, where programmers can directly communicate with the database for the quick response.</a:t>
            </a:r>
          </a:p>
          <a:p>
            <a:pPr marL="0" indent="0">
              <a:buNone/>
            </a:pPr>
            <a:endParaRPr lang="en-IN" dirty="0"/>
          </a:p>
        </p:txBody>
      </p:sp>
    </p:spTree>
    <p:extLst>
      <p:ext uri="{BB962C8B-B14F-4D97-AF65-F5344CB8AC3E}">
        <p14:creationId xmlns:p14="http://schemas.microsoft.com/office/powerpoint/2010/main" val="6431656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2-Tier </a:t>
            </a:r>
            <a:r>
              <a:rPr lang="en-IN" dirty="0" smtClean="0"/>
              <a:t>Architecture</a:t>
            </a:r>
            <a:endParaRPr lang="en-IN" dirty="0"/>
          </a:p>
        </p:txBody>
      </p:sp>
      <p:pic>
        <p:nvPicPr>
          <p:cNvPr id="2050" name="Picture 2" descr="DBMS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772816"/>
            <a:ext cx="5203837" cy="367240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915816" y="5805264"/>
            <a:ext cx="2327240" cy="369332"/>
          </a:xfrm>
          <a:prstGeom prst="rect">
            <a:avLst/>
          </a:prstGeom>
        </p:spPr>
        <p:txBody>
          <a:bodyPr wrap="none">
            <a:spAutoFit/>
          </a:bodyPr>
          <a:lstStyle/>
          <a:p>
            <a:r>
              <a:rPr lang="en-IN" b="1" dirty="0"/>
              <a:t>Fig: 2-tier Architecture</a:t>
            </a:r>
            <a:endParaRPr lang="en-IN" dirty="0"/>
          </a:p>
        </p:txBody>
      </p:sp>
    </p:spTree>
    <p:extLst>
      <p:ext uri="{BB962C8B-B14F-4D97-AF65-F5344CB8AC3E}">
        <p14:creationId xmlns:p14="http://schemas.microsoft.com/office/powerpoint/2010/main" val="271747643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3-Tier </a:t>
            </a:r>
            <a:r>
              <a:rPr lang="en-IN" dirty="0" smtClean="0"/>
              <a:t>Architecture</a:t>
            </a:r>
            <a:endParaRPr lang="en-IN" dirty="0"/>
          </a:p>
        </p:txBody>
      </p:sp>
      <p:sp>
        <p:nvSpPr>
          <p:cNvPr id="3" name="Content Placeholder 2"/>
          <p:cNvSpPr>
            <a:spLocks noGrp="1"/>
          </p:cNvSpPr>
          <p:nvPr>
            <p:ph idx="1"/>
          </p:nvPr>
        </p:nvSpPr>
        <p:spPr/>
        <p:txBody>
          <a:bodyPr>
            <a:normAutofit fontScale="92500" lnSpcReduction="10000"/>
          </a:bodyPr>
          <a:lstStyle/>
          <a:p>
            <a:r>
              <a:rPr lang="en-US" dirty="0"/>
              <a:t>The 3-Tier architecture contains another layer between the client and server. In this architecture, client can't directly communicate with the server.</a:t>
            </a:r>
          </a:p>
          <a:p>
            <a:r>
              <a:rPr lang="en-US" dirty="0"/>
              <a:t>The application on the client-end interacts with an application server which further communicates with the database system.</a:t>
            </a:r>
          </a:p>
          <a:p>
            <a:r>
              <a:rPr lang="en-US" dirty="0"/>
              <a:t>End user has no idea about the existence of the database beyond the application server. The database also has no idea about any other user beyond the application.</a:t>
            </a:r>
          </a:p>
          <a:p>
            <a:r>
              <a:rPr lang="en-US" dirty="0"/>
              <a:t>The 3-Tier architecture is used in case of large web application.</a:t>
            </a:r>
          </a:p>
          <a:p>
            <a:pPr marL="0" indent="0">
              <a:buNone/>
            </a:pPr>
            <a:endParaRPr lang="en-IN" dirty="0"/>
          </a:p>
        </p:txBody>
      </p:sp>
    </p:spTree>
    <p:extLst>
      <p:ext uri="{BB962C8B-B14F-4D97-AF65-F5344CB8AC3E}">
        <p14:creationId xmlns:p14="http://schemas.microsoft.com/office/powerpoint/2010/main" val="9844632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2-Tier </a:t>
            </a:r>
            <a:r>
              <a:rPr lang="en-IN" dirty="0" smtClean="0"/>
              <a:t>Architecture</a:t>
            </a:r>
            <a:endParaRPr lang="en-IN" dirty="0"/>
          </a:p>
        </p:txBody>
      </p:sp>
      <p:sp>
        <p:nvSpPr>
          <p:cNvPr id="3" name="Content Placeholder 2"/>
          <p:cNvSpPr>
            <a:spLocks noGrp="1"/>
          </p:cNvSpPr>
          <p:nvPr>
            <p:ph idx="1"/>
          </p:nvPr>
        </p:nvSpPr>
        <p:spPr>
          <a:xfrm>
            <a:off x="467544" y="1412776"/>
            <a:ext cx="8229600" cy="4525963"/>
          </a:xfrm>
        </p:spPr>
        <p:txBody>
          <a:bodyPr>
            <a:normAutofit fontScale="85000" lnSpcReduction="10000"/>
          </a:bodyPr>
          <a:lstStyle/>
          <a:p>
            <a:r>
              <a:rPr lang="en-US" dirty="0"/>
              <a:t>The 2-Tier architecture is same as basic client-server. In the two-tier architecture, applications on the client end can directly communicate with the database at the server side. For this interaction, API's like: </a:t>
            </a:r>
            <a:r>
              <a:rPr lang="en-US" b="1" dirty="0"/>
              <a:t>ODBC</a:t>
            </a:r>
            <a:r>
              <a:rPr lang="en-US" dirty="0"/>
              <a:t>, </a:t>
            </a:r>
            <a:r>
              <a:rPr lang="en-US" b="1" dirty="0"/>
              <a:t>JDBC</a:t>
            </a:r>
            <a:r>
              <a:rPr lang="en-US" dirty="0"/>
              <a:t> are used.</a:t>
            </a:r>
          </a:p>
          <a:p>
            <a:r>
              <a:rPr lang="en-US" dirty="0"/>
              <a:t>The user interfaces and application programs are run on the client-side.</a:t>
            </a:r>
          </a:p>
          <a:p>
            <a:r>
              <a:rPr lang="en-US" dirty="0"/>
              <a:t>The server side is responsible to provide the functionalities like: query processing and transaction management.</a:t>
            </a:r>
          </a:p>
          <a:p>
            <a:r>
              <a:rPr lang="en-US" dirty="0"/>
              <a:t>To communicate with the DBMS, client-side application establishes a connection with the server side.</a:t>
            </a:r>
          </a:p>
          <a:p>
            <a:endParaRPr lang="en-IN" dirty="0"/>
          </a:p>
        </p:txBody>
      </p:sp>
      <p:pic>
        <p:nvPicPr>
          <p:cNvPr id="2050" name="Picture 2" descr="DBMS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5338" y="5085184"/>
            <a:ext cx="2512097" cy="1772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480988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3-Tier </a:t>
            </a:r>
            <a:r>
              <a:rPr lang="en-IN" dirty="0" smtClean="0"/>
              <a:t>Architecture</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3688" y="1268760"/>
            <a:ext cx="4833515" cy="5090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411760" y="6459482"/>
            <a:ext cx="2327240" cy="369332"/>
          </a:xfrm>
          <a:prstGeom prst="rect">
            <a:avLst/>
          </a:prstGeom>
        </p:spPr>
        <p:txBody>
          <a:bodyPr wrap="none">
            <a:spAutoFit/>
          </a:bodyPr>
          <a:lstStyle/>
          <a:p>
            <a:r>
              <a:rPr lang="en-IN" b="1" dirty="0"/>
              <a:t>Fig: 3-tier Architecture</a:t>
            </a:r>
            <a:endParaRPr lang="en-IN" dirty="0"/>
          </a:p>
        </p:txBody>
      </p:sp>
    </p:spTree>
    <p:extLst>
      <p:ext uri="{BB962C8B-B14F-4D97-AF65-F5344CB8AC3E}">
        <p14:creationId xmlns:p14="http://schemas.microsoft.com/office/powerpoint/2010/main" val="15584729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View of Data in </a:t>
            </a:r>
            <a:r>
              <a:rPr lang="en-US" dirty="0" smtClean="0"/>
              <a:t>DBMS</a:t>
            </a:r>
            <a:endParaRPr lang="en-IN"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1600200"/>
            <a:ext cx="7128791"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3661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View of Data in </a:t>
            </a:r>
            <a:r>
              <a:rPr lang="en-US" b="1" dirty="0" smtClean="0"/>
              <a:t>DBMS</a:t>
            </a:r>
            <a:endParaRPr lang="en-IN" dirty="0"/>
          </a:p>
        </p:txBody>
      </p:sp>
      <p:sp>
        <p:nvSpPr>
          <p:cNvPr id="3" name="Content Placeholder 2"/>
          <p:cNvSpPr>
            <a:spLocks noGrp="1"/>
          </p:cNvSpPr>
          <p:nvPr>
            <p:ph idx="1"/>
          </p:nvPr>
        </p:nvSpPr>
        <p:spPr/>
        <p:txBody>
          <a:bodyPr>
            <a:normAutofit fontScale="92500"/>
          </a:bodyPr>
          <a:lstStyle/>
          <a:p>
            <a:r>
              <a:rPr lang="en-US" dirty="0"/>
              <a:t>Abstraction is one of the main features of database systems. Hiding irrelevant details from user and providing abstract view of data to users, helps in easy and efficient </a:t>
            </a:r>
            <a:r>
              <a:rPr lang="en-US" b="1" dirty="0"/>
              <a:t>user-database</a:t>
            </a:r>
            <a:r>
              <a:rPr lang="en-US" dirty="0"/>
              <a:t> interaction. </a:t>
            </a:r>
            <a:endParaRPr lang="en-US" dirty="0" smtClean="0"/>
          </a:p>
          <a:p>
            <a:r>
              <a:rPr lang="en-US" dirty="0"/>
              <a:t> </a:t>
            </a:r>
            <a:r>
              <a:rPr lang="en-US" dirty="0" smtClean="0"/>
              <a:t>Three </a:t>
            </a:r>
            <a:r>
              <a:rPr lang="en-US" dirty="0"/>
              <a:t>level of DBMS architecture, The top level of that architecture is “view level”. The view level provides the “view of data” to the users and hides the irrelevant details such as data relationship, database schema, constraints, security </a:t>
            </a:r>
            <a:r>
              <a:rPr lang="en-US" dirty="0" err="1"/>
              <a:t>etc</a:t>
            </a:r>
            <a:r>
              <a:rPr lang="en-US" dirty="0"/>
              <a:t> from the user.</a:t>
            </a:r>
            <a:endParaRPr lang="en-IN" dirty="0"/>
          </a:p>
        </p:txBody>
      </p:sp>
    </p:spTree>
    <p:extLst>
      <p:ext uri="{BB962C8B-B14F-4D97-AF65-F5344CB8AC3E}">
        <p14:creationId xmlns:p14="http://schemas.microsoft.com/office/powerpoint/2010/main" val="18932877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Data Abstraction in </a:t>
            </a:r>
            <a:r>
              <a:rPr lang="en-IN" b="1" dirty="0" smtClean="0"/>
              <a:t>DBMS</a:t>
            </a:r>
            <a:endParaRPr lang="en-IN" dirty="0"/>
          </a:p>
        </p:txBody>
      </p:sp>
      <p:sp>
        <p:nvSpPr>
          <p:cNvPr id="3" name="Content Placeholder 2"/>
          <p:cNvSpPr>
            <a:spLocks noGrp="1"/>
          </p:cNvSpPr>
          <p:nvPr>
            <p:ph idx="1"/>
          </p:nvPr>
        </p:nvSpPr>
        <p:spPr>
          <a:xfrm>
            <a:off x="467544" y="1196752"/>
            <a:ext cx="8229600" cy="4525963"/>
          </a:xfrm>
        </p:spPr>
        <p:txBody>
          <a:bodyPr/>
          <a:lstStyle/>
          <a:p>
            <a:r>
              <a:rPr lang="en-US" dirty="0"/>
              <a:t>Database systems are made-up of complex data structures. To ease the user interaction with database, the developers hide internal irrelevant details from users. This process of hiding irrelevant details from user is called data abstraction.</a:t>
            </a:r>
            <a:endParaRPr lang="en-IN"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215" t="21348" r="14189"/>
          <a:stretch/>
        </p:blipFill>
        <p:spPr bwMode="auto">
          <a:xfrm>
            <a:off x="1187624" y="3356992"/>
            <a:ext cx="6336704" cy="3242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02709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Data Abstraction in </a:t>
            </a:r>
            <a:r>
              <a:rPr lang="en-IN" b="1" dirty="0" smtClean="0"/>
              <a:t>DBMS (Cont..)</a:t>
            </a:r>
            <a:endParaRPr lang="en-IN" dirty="0"/>
          </a:p>
        </p:txBody>
      </p:sp>
      <p:sp>
        <p:nvSpPr>
          <p:cNvPr id="3" name="Content Placeholder 2"/>
          <p:cNvSpPr>
            <a:spLocks noGrp="1"/>
          </p:cNvSpPr>
          <p:nvPr>
            <p:ph idx="1"/>
          </p:nvPr>
        </p:nvSpPr>
        <p:spPr>
          <a:xfrm>
            <a:off x="467544" y="1196752"/>
            <a:ext cx="8229600" cy="4525963"/>
          </a:xfrm>
        </p:spPr>
        <p:txBody>
          <a:bodyPr>
            <a:normAutofit fontScale="92500"/>
          </a:bodyPr>
          <a:lstStyle/>
          <a:p>
            <a:r>
              <a:rPr lang="en-US" b="1" dirty="0"/>
              <a:t>We have three levels of abstraction</a:t>
            </a:r>
            <a:r>
              <a:rPr lang="en-US" dirty="0" smtClean="0"/>
              <a:t>:</a:t>
            </a:r>
          </a:p>
          <a:p>
            <a:r>
              <a:rPr lang="en-US" b="1" dirty="0" smtClean="0"/>
              <a:t>Physical </a:t>
            </a:r>
            <a:r>
              <a:rPr lang="en-US" b="1" dirty="0"/>
              <a:t>level</a:t>
            </a:r>
            <a:r>
              <a:rPr lang="en-US" dirty="0"/>
              <a:t>: This is the lowest level of data abstraction. It describes how data is actually stored in database. You can get the complex data structure details at this level.</a:t>
            </a:r>
          </a:p>
          <a:p>
            <a:r>
              <a:rPr lang="en-US" b="1" dirty="0"/>
              <a:t>Logical level</a:t>
            </a:r>
            <a:r>
              <a:rPr lang="en-US" dirty="0"/>
              <a:t>: This is the middle level of 3-level data abstraction architecture. It describes what data is stored in database.</a:t>
            </a:r>
          </a:p>
          <a:p>
            <a:r>
              <a:rPr lang="en-US" b="1" dirty="0"/>
              <a:t>View level</a:t>
            </a:r>
            <a:r>
              <a:rPr lang="en-US" dirty="0"/>
              <a:t>: Highest level of data abstraction. This level describes the user interaction with database system.</a:t>
            </a:r>
          </a:p>
          <a:p>
            <a:endParaRPr lang="en-IN" dirty="0"/>
          </a:p>
        </p:txBody>
      </p:sp>
    </p:spTree>
    <p:extLst>
      <p:ext uri="{BB962C8B-B14F-4D97-AF65-F5344CB8AC3E}">
        <p14:creationId xmlns:p14="http://schemas.microsoft.com/office/powerpoint/2010/main" val="42268195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Data Abstraction in </a:t>
            </a:r>
            <a:r>
              <a:rPr lang="en-IN" b="1" dirty="0" smtClean="0"/>
              <a:t>DBMS (Cont..)</a:t>
            </a:r>
            <a:endParaRPr lang="en-IN" dirty="0"/>
          </a:p>
        </p:txBody>
      </p:sp>
      <p:sp>
        <p:nvSpPr>
          <p:cNvPr id="3" name="Content Placeholder 2"/>
          <p:cNvSpPr>
            <a:spLocks noGrp="1"/>
          </p:cNvSpPr>
          <p:nvPr>
            <p:ph idx="1"/>
          </p:nvPr>
        </p:nvSpPr>
        <p:spPr>
          <a:xfrm>
            <a:off x="467544" y="1196752"/>
            <a:ext cx="8229600" cy="4525963"/>
          </a:xfrm>
        </p:spPr>
        <p:txBody>
          <a:bodyPr>
            <a:normAutofit fontScale="92500" lnSpcReduction="10000"/>
          </a:bodyPr>
          <a:lstStyle/>
          <a:p>
            <a:pPr>
              <a:buFont typeface="Wingdings" panose="05000000000000000000" pitchFamily="2" charset="2"/>
              <a:buChar char="Ø"/>
            </a:pPr>
            <a:r>
              <a:rPr lang="en-US" b="1" dirty="0"/>
              <a:t>Example</a:t>
            </a:r>
            <a:r>
              <a:rPr lang="en-US" dirty="0"/>
              <a:t>: Let’s say we are storing customer information in a customer table. At </a:t>
            </a:r>
            <a:r>
              <a:rPr lang="en-US" b="1" dirty="0"/>
              <a:t>physical level</a:t>
            </a:r>
            <a:r>
              <a:rPr lang="en-US" dirty="0"/>
              <a:t> these records can be described as blocks of storage (bytes, gigabytes, terabytes etc.) in memory. These details are often hidden from the programmers</a:t>
            </a:r>
            <a:r>
              <a:rPr lang="en-US" dirty="0" smtClean="0"/>
              <a:t>.</a:t>
            </a:r>
          </a:p>
          <a:p>
            <a:pPr>
              <a:buFont typeface="Wingdings" panose="05000000000000000000" pitchFamily="2" charset="2"/>
              <a:buChar char="Ø"/>
            </a:pPr>
            <a:r>
              <a:rPr lang="en-US" dirty="0"/>
              <a:t>At the </a:t>
            </a:r>
            <a:r>
              <a:rPr lang="en-US" b="1" dirty="0"/>
              <a:t>logical level</a:t>
            </a:r>
            <a:r>
              <a:rPr lang="en-US" dirty="0"/>
              <a:t> these records can be described as fields and attributes along with their data types, their relationship among each other can be logically implemented. The programmers generally work at this level because they are aware of such things about database systems.</a:t>
            </a:r>
            <a:endParaRPr lang="en-IN" dirty="0"/>
          </a:p>
        </p:txBody>
      </p:sp>
    </p:spTree>
    <p:extLst>
      <p:ext uri="{BB962C8B-B14F-4D97-AF65-F5344CB8AC3E}">
        <p14:creationId xmlns:p14="http://schemas.microsoft.com/office/powerpoint/2010/main" val="16472109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Data Abstraction in </a:t>
            </a:r>
            <a:r>
              <a:rPr lang="en-IN" b="1" dirty="0" smtClean="0"/>
              <a:t>DBMS (Cont..)</a:t>
            </a:r>
            <a:endParaRPr lang="en-IN" dirty="0"/>
          </a:p>
        </p:txBody>
      </p:sp>
      <p:sp>
        <p:nvSpPr>
          <p:cNvPr id="3" name="Content Placeholder 2"/>
          <p:cNvSpPr>
            <a:spLocks noGrp="1"/>
          </p:cNvSpPr>
          <p:nvPr>
            <p:ph idx="1"/>
          </p:nvPr>
        </p:nvSpPr>
        <p:spPr>
          <a:xfrm>
            <a:off x="467544" y="1196752"/>
            <a:ext cx="8229600" cy="4525963"/>
          </a:xfrm>
        </p:spPr>
        <p:txBody>
          <a:bodyPr>
            <a:normAutofit/>
          </a:bodyPr>
          <a:lstStyle/>
          <a:p>
            <a:pPr>
              <a:buFont typeface="Wingdings" panose="05000000000000000000" pitchFamily="2" charset="2"/>
              <a:buChar char="Ø"/>
            </a:pPr>
            <a:r>
              <a:rPr lang="en-US" dirty="0"/>
              <a:t>At </a:t>
            </a:r>
            <a:r>
              <a:rPr lang="en-US" b="1" dirty="0"/>
              <a:t>view level</a:t>
            </a:r>
            <a:r>
              <a:rPr lang="en-US" dirty="0"/>
              <a:t>, user just interact with system with the help of GUI and enter the details at the screen, they are not aware of how the data is stored and what data is stored; such details are hidden from them.</a:t>
            </a:r>
            <a:endParaRPr lang="en-IN" dirty="0"/>
          </a:p>
        </p:txBody>
      </p:sp>
    </p:spTree>
    <p:extLst>
      <p:ext uri="{BB962C8B-B14F-4D97-AF65-F5344CB8AC3E}">
        <p14:creationId xmlns:p14="http://schemas.microsoft.com/office/powerpoint/2010/main" val="34045521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Instance and schema in </a:t>
            </a:r>
            <a:r>
              <a:rPr lang="en-IN" b="1" dirty="0" smtClean="0"/>
              <a:t>DBMS</a:t>
            </a:r>
            <a:endParaRPr lang="en-IN" dirty="0"/>
          </a:p>
        </p:txBody>
      </p:sp>
      <p:sp>
        <p:nvSpPr>
          <p:cNvPr id="3" name="Content Placeholder 2"/>
          <p:cNvSpPr>
            <a:spLocks noGrp="1"/>
          </p:cNvSpPr>
          <p:nvPr>
            <p:ph idx="1"/>
          </p:nvPr>
        </p:nvSpPr>
        <p:spPr/>
        <p:txBody>
          <a:bodyPr>
            <a:normAutofit fontScale="92500"/>
          </a:bodyPr>
          <a:lstStyle/>
          <a:p>
            <a:r>
              <a:rPr lang="en-US" b="1" dirty="0"/>
              <a:t>Definition of schema</a:t>
            </a:r>
            <a:r>
              <a:rPr lang="en-US" dirty="0"/>
              <a:t>: Design of a database is called the schema. Schema is of three types: Physical schema, logical schema and view </a:t>
            </a:r>
            <a:r>
              <a:rPr lang="en-US" dirty="0" smtClean="0"/>
              <a:t>schema</a:t>
            </a:r>
          </a:p>
          <a:p>
            <a:r>
              <a:rPr lang="en-US" b="1" dirty="0"/>
              <a:t>For example: </a:t>
            </a:r>
            <a:r>
              <a:rPr lang="en-US" dirty="0"/>
              <a:t>In the following diagram, we have a schema that shows the relationship between three tables: Course, Student and Section. The diagram only shows the design of the database, it doesn’t show the data present in those tables. Schema is only a structural view(design) of a database as shown in the diagram below.</a:t>
            </a:r>
            <a:endParaRPr lang="en-IN" dirty="0"/>
          </a:p>
        </p:txBody>
      </p:sp>
    </p:spTree>
    <p:extLst>
      <p:ext uri="{BB962C8B-B14F-4D97-AF65-F5344CB8AC3E}">
        <p14:creationId xmlns:p14="http://schemas.microsoft.com/office/powerpoint/2010/main" val="20592053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Instance and schema in </a:t>
            </a:r>
            <a:r>
              <a:rPr lang="en-IN" b="1" dirty="0" smtClean="0"/>
              <a:t>DBMS(</a:t>
            </a:r>
            <a:r>
              <a:rPr lang="en-IN" b="1" dirty="0" err="1" smtClean="0"/>
              <a:t>cont</a:t>
            </a:r>
            <a:r>
              <a:rPr lang="en-IN" b="1" dirty="0" smtClean="0"/>
              <a:t>…)</a:t>
            </a:r>
            <a:endParaRPr lang="en-IN" dirty="0"/>
          </a:p>
        </p:txBody>
      </p:sp>
      <p:sp>
        <p:nvSpPr>
          <p:cNvPr id="3" name="Content Placeholder 2"/>
          <p:cNvSpPr>
            <a:spLocks noGrp="1"/>
          </p:cNvSpPr>
          <p:nvPr>
            <p:ph idx="1"/>
          </p:nvPr>
        </p:nvSpPr>
        <p:spPr>
          <a:xfrm>
            <a:off x="4572000" y="1600200"/>
            <a:ext cx="4320480" cy="4525963"/>
          </a:xfrm>
        </p:spPr>
        <p:txBody>
          <a:bodyPr>
            <a:normAutofit/>
          </a:bodyPr>
          <a:lstStyle/>
          <a:p>
            <a:r>
              <a:rPr lang="en-US" dirty="0"/>
              <a:t>The design of a database at physical level is called </a:t>
            </a:r>
            <a:r>
              <a:rPr lang="en-US" b="1" dirty="0"/>
              <a:t>physical schema</a:t>
            </a:r>
            <a:r>
              <a:rPr lang="en-US" dirty="0"/>
              <a:t>, how the data stored in blocks of storage is described at this </a:t>
            </a:r>
            <a:r>
              <a:rPr lang="en-US" dirty="0" smtClean="0"/>
              <a:t>level</a:t>
            </a:r>
          </a:p>
        </p:txBody>
      </p:sp>
      <p:pic>
        <p:nvPicPr>
          <p:cNvPr id="2050" name="Picture 2" descr="DBMS Schem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8" y="1196752"/>
            <a:ext cx="4557562"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7566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Instance and schema in </a:t>
            </a:r>
            <a:r>
              <a:rPr lang="en-IN" b="1" dirty="0" smtClean="0"/>
              <a:t>DBMS(</a:t>
            </a:r>
            <a:r>
              <a:rPr lang="en-IN" b="1" dirty="0" err="1" smtClean="0"/>
              <a:t>cont</a:t>
            </a:r>
            <a:r>
              <a:rPr lang="en-IN" b="1" dirty="0" smtClean="0"/>
              <a:t>…)</a:t>
            </a:r>
            <a:endParaRPr lang="en-IN" dirty="0"/>
          </a:p>
        </p:txBody>
      </p:sp>
      <p:sp>
        <p:nvSpPr>
          <p:cNvPr id="3" name="Content Placeholder 2"/>
          <p:cNvSpPr>
            <a:spLocks noGrp="1"/>
          </p:cNvSpPr>
          <p:nvPr>
            <p:ph idx="1"/>
          </p:nvPr>
        </p:nvSpPr>
        <p:spPr>
          <a:xfrm>
            <a:off x="683568" y="1600200"/>
            <a:ext cx="8208912" cy="4525963"/>
          </a:xfrm>
        </p:spPr>
        <p:txBody>
          <a:bodyPr>
            <a:normAutofit lnSpcReduction="10000"/>
          </a:bodyPr>
          <a:lstStyle/>
          <a:p>
            <a:r>
              <a:rPr lang="en-US" dirty="0"/>
              <a:t>Design of database at logical level is called </a:t>
            </a:r>
            <a:r>
              <a:rPr lang="en-US" b="1" dirty="0"/>
              <a:t>logical schema</a:t>
            </a:r>
            <a:r>
              <a:rPr lang="en-US" dirty="0"/>
              <a:t>, programmers and database administrators work at this level, at this level data can be described as certain types of data records gets stored in data structures, however the internal details such as implementation of data structure is hidden at this level (available at physical level</a:t>
            </a:r>
            <a:r>
              <a:rPr lang="en-US" dirty="0" smtClean="0"/>
              <a:t>).</a:t>
            </a:r>
          </a:p>
          <a:p>
            <a:r>
              <a:rPr lang="en-US" dirty="0" smtClean="0"/>
              <a:t>Design </a:t>
            </a:r>
            <a:r>
              <a:rPr lang="en-US" dirty="0"/>
              <a:t>of database at view level is called </a:t>
            </a:r>
            <a:r>
              <a:rPr lang="en-US" b="1" dirty="0"/>
              <a:t>view schema</a:t>
            </a:r>
            <a:r>
              <a:rPr lang="en-US" dirty="0"/>
              <a:t>. This generally describes end user interaction with database systems.</a:t>
            </a:r>
            <a:endParaRPr lang="en-IN" dirty="0"/>
          </a:p>
        </p:txBody>
      </p:sp>
    </p:spTree>
    <p:extLst>
      <p:ext uri="{BB962C8B-B14F-4D97-AF65-F5344CB8AC3E}">
        <p14:creationId xmlns:p14="http://schemas.microsoft.com/office/powerpoint/2010/main" val="23786351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DBMS </a:t>
            </a:r>
            <a:r>
              <a:rPr lang="en-IN" b="1" dirty="0" smtClean="0"/>
              <a:t>Instance</a:t>
            </a:r>
            <a:endParaRPr lang="en-IN" dirty="0"/>
          </a:p>
        </p:txBody>
      </p:sp>
      <p:sp>
        <p:nvSpPr>
          <p:cNvPr id="3" name="Content Placeholder 2"/>
          <p:cNvSpPr>
            <a:spLocks noGrp="1"/>
          </p:cNvSpPr>
          <p:nvPr>
            <p:ph idx="1"/>
          </p:nvPr>
        </p:nvSpPr>
        <p:spPr/>
        <p:txBody>
          <a:bodyPr/>
          <a:lstStyle/>
          <a:p>
            <a:r>
              <a:rPr lang="en-US" b="1" dirty="0"/>
              <a:t>Definition of instance</a:t>
            </a:r>
            <a:r>
              <a:rPr lang="en-US" dirty="0"/>
              <a:t>: The data stored in database at a particular moment of time is called </a:t>
            </a:r>
            <a:r>
              <a:rPr lang="en-US" b="1" dirty="0">
                <a:solidFill>
                  <a:srgbClr val="FF0066"/>
                </a:solidFill>
              </a:rPr>
              <a:t>instance of database</a:t>
            </a:r>
            <a:r>
              <a:rPr lang="en-US" dirty="0"/>
              <a:t>. Database schema defines the variable declarations in tables that belong to a particular database; the value of these variables at a moment of time is called the instance of that database</a:t>
            </a:r>
            <a:r>
              <a:rPr lang="en-US" dirty="0" smtClean="0"/>
              <a:t>.</a:t>
            </a:r>
          </a:p>
          <a:p>
            <a:endParaRPr lang="en-IN" dirty="0"/>
          </a:p>
        </p:txBody>
      </p:sp>
    </p:spTree>
    <p:extLst>
      <p:ext uri="{BB962C8B-B14F-4D97-AF65-F5344CB8AC3E}">
        <p14:creationId xmlns:p14="http://schemas.microsoft.com/office/powerpoint/2010/main" val="34036886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DBMS </a:t>
            </a:r>
            <a:r>
              <a:rPr lang="en-IN" b="1" dirty="0" smtClean="0"/>
              <a:t>Instance(</a:t>
            </a:r>
            <a:r>
              <a:rPr lang="en-IN" b="1" dirty="0" err="1" smtClean="0"/>
              <a:t>cont</a:t>
            </a:r>
            <a:r>
              <a:rPr lang="en-IN" b="1" dirty="0" smtClean="0"/>
              <a:t>…)</a:t>
            </a:r>
            <a:endParaRPr lang="en-IN" dirty="0"/>
          </a:p>
        </p:txBody>
      </p:sp>
      <p:sp>
        <p:nvSpPr>
          <p:cNvPr id="3" name="Content Placeholder 2"/>
          <p:cNvSpPr>
            <a:spLocks noGrp="1"/>
          </p:cNvSpPr>
          <p:nvPr>
            <p:ph idx="1"/>
          </p:nvPr>
        </p:nvSpPr>
        <p:spPr/>
        <p:txBody>
          <a:bodyPr>
            <a:normAutofit lnSpcReduction="10000"/>
          </a:bodyPr>
          <a:lstStyle/>
          <a:p>
            <a:r>
              <a:rPr lang="en-US" b="1" dirty="0"/>
              <a:t>For example, </a:t>
            </a:r>
            <a:r>
              <a:rPr lang="en-US" dirty="0"/>
              <a:t>lets say we have a single table student in the database, today the table has 100 records, so today the instance of the database has 100 records. </a:t>
            </a:r>
            <a:endParaRPr lang="en-US" dirty="0" smtClean="0"/>
          </a:p>
          <a:p>
            <a:r>
              <a:rPr lang="en-US" dirty="0" smtClean="0"/>
              <a:t>Lets </a:t>
            </a:r>
            <a:r>
              <a:rPr lang="en-US" dirty="0"/>
              <a:t>say we are going to add another 100 records in this table by tomorrow so the instance of database tomorrow will have 200 records in table. In short, at a particular moment the data stored in database is called the instance, that changes over time when we add or delete data from the database.</a:t>
            </a:r>
            <a:endParaRPr lang="en-IN" dirty="0"/>
          </a:p>
        </p:txBody>
      </p:sp>
    </p:spTree>
    <p:extLst>
      <p:ext uri="{BB962C8B-B14F-4D97-AF65-F5344CB8AC3E}">
        <p14:creationId xmlns:p14="http://schemas.microsoft.com/office/powerpoint/2010/main" val="20033101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Data </a:t>
            </a:r>
            <a:r>
              <a:rPr lang="en-IN" dirty="0" smtClean="0"/>
              <a:t>Independence</a:t>
            </a:r>
            <a:endParaRPr lang="en-IN" dirty="0"/>
          </a:p>
        </p:txBody>
      </p:sp>
      <p:sp>
        <p:nvSpPr>
          <p:cNvPr id="3" name="Content Placeholder 2"/>
          <p:cNvSpPr>
            <a:spLocks noGrp="1"/>
          </p:cNvSpPr>
          <p:nvPr>
            <p:ph idx="1"/>
          </p:nvPr>
        </p:nvSpPr>
        <p:spPr/>
        <p:txBody>
          <a:bodyPr>
            <a:normAutofit/>
          </a:bodyPr>
          <a:lstStyle/>
          <a:p>
            <a:r>
              <a:rPr lang="en-US" dirty="0"/>
              <a:t>Data independence defines the extent to which the data schema can be changed at one level without modifying the data schema at the next level. Data independence can be classified as shown below</a:t>
            </a:r>
            <a:r>
              <a:rPr lang="en-US" dirty="0" smtClean="0"/>
              <a:t>:</a:t>
            </a:r>
          </a:p>
          <a:p>
            <a:r>
              <a:rPr lang="en-IN" b="1" dirty="0"/>
              <a:t>Logical Data </a:t>
            </a:r>
            <a:r>
              <a:rPr lang="en-IN" b="1" dirty="0" smtClean="0"/>
              <a:t>Independence</a:t>
            </a:r>
          </a:p>
          <a:p>
            <a:r>
              <a:rPr lang="en-US" b="1" dirty="0"/>
              <a:t>Physical Data </a:t>
            </a:r>
            <a:r>
              <a:rPr lang="en-US" b="1" dirty="0" smtClean="0"/>
              <a:t>Independence</a:t>
            </a:r>
            <a:endParaRPr lang="en-IN" b="1" dirty="0"/>
          </a:p>
        </p:txBody>
      </p:sp>
    </p:spTree>
    <p:extLst>
      <p:ext uri="{BB962C8B-B14F-4D97-AF65-F5344CB8AC3E}">
        <p14:creationId xmlns:p14="http://schemas.microsoft.com/office/powerpoint/2010/main" val="7866119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Data </a:t>
            </a:r>
            <a:r>
              <a:rPr lang="en-IN" dirty="0" smtClean="0"/>
              <a:t>Independence</a:t>
            </a:r>
            <a:endParaRPr lang="en-IN" dirty="0"/>
          </a:p>
        </p:txBody>
      </p:sp>
      <p:sp>
        <p:nvSpPr>
          <p:cNvPr id="3" name="Content Placeholder 2"/>
          <p:cNvSpPr>
            <a:spLocks noGrp="1"/>
          </p:cNvSpPr>
          <p:nvPr>
            <p:ph idx="1"/>
          </p:nvPr>
        </p:nvSpPr>
        <p:spPr/>
        <p:txBody>
          <a:bodyPr>
            <a:normAutofit lnSpcReduction="10000"/>
          </a:bodyPr>
          <a:lstStyle/>
          <a:p>
            <a:r>
              <a:rPr lang="en-IN" b="1" dirty="0" smtClean="0"/>
              <a:t>Logical </a:t>
            </a:r>
            <a:r>
              <a:rPr lang="en-IN" b="1" dirty="0"/>
              <a:t>Data Independence:</a:t>
            </a:r>
          </a:p>
          <a:p>
            <a:pPr lvl="1"/>
            <a:r>
              <a:rPr lang="en-US" dirty="0"/>
              <a:t>Logical data independence describes the degree up to which the logical or conceptual schema can be changed without modifying the external schema</a:t>
            </a:r>
            <a:r>
              <a:rPr lang="en-US" dirty="0" smtClean="0"/>
              <a:t>.</a:t>
            </a:r>
          </a:p>
          <a:p>
            <a:pPr lvl="1"/>
            <a:r>
              <a:rPr lang="en-US" dirty="0"/>
              <a:t>the changes to data schema at the logical level are made either to </a:t>
            </a:r>
            <a:r>
              <a:rPr lang="en-US" b="1" dirty="0"/>
              <a:t>enlarge</a:t>
            </a:r>
            <a:r>
              <a:rPr lang="en-US" dirty="0"/>
              <a:t> or </a:t>
            </a:r>
            <a:r>
              <a:rPr lang="en-US" b="1" dirty="0"/>
              <a:t>reduce</a:t>
            </a:r>
            <a:r>
              <a:rPr lang="en-US" dirty="0"/>
              <a:t> the database by adding or deleting more entities, entity sets, or changing the constraints on data.</a:t>
            </a:r>
            <a:endParaRPr lang="en-IN" dirty="0"/>
          </a:p>
        </p:txBody>
      </p:sp>
    </p:spTree>
    <p:extLst>
      <p:ext uri="{BB962C8B-B14F-4D97-AF65-F5344CB8AC3E}">
        <p14:creationId xmlns:p14="http://schemas.microsoft.com/office/powerpoint/2010/main" val="18133068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Data </a:t>
            </a:r>
            <a:r>
              <a:rPr lang="en-IN" dirty="0" smtClean="0"/>
              <a:t>Independence (</a:t>
            </a:r>
            <a:r>
              <a:rPr lang="en-IN" dirty="0" err="1" smtClean="0"/>
              <a:t>cont</a:t>
            </a:r>
            <a:r>
              <a:rPr lang="en-IN" dirty="0" smtClean="0"/>
              <a:t>…)</a:t>
            </a:r>
            <a:endParaRPr lang="en-IN" dirty="0"/>
          </a:p>
        </p:txBody>
      </p:sp>
      <p:sp>
        <p:nvSpPr>
          <p:cNvPr id="3" name="Content Placeholder 2"/>
          <p:cNvSpPr>
            <a:spLocks noGrp="1"/>
          </p:cNvSpPr>
          <p:nvPr>
            <p:ph idx="1"/>
          </p:nvPr>
        </p:nvSpPr>
        <p:spPr/>
        <p:txBody>
          <a:bodyPr>
            <a:normAutofit lnSpcReduction="10000"/>
          </a:bodyPr>
          <a:lstStyle/>
          <a:p>
            <a:r>
              <a:rPr lang="en-US" b="1" dirty="0"/>
              <a:t>Physical Data Independence:</a:t>
            </a:r>
          </a:p>
          <a:p>
            <a:pPr lvl="1"/>
            <a:r>
              <a:rPr lang="en-US" dirty="0"/>
              <a:t>Physical data independence defines the extent up to which the data </a:t>
            </a:r>
            <a:r>
              <a:rPr lang="en-US" dirty="0" smtClean="0"/>
              <a:t>schema </a:t>
            </a:r>
            <a:r>
              <a:rPr lang="en-US" dirty="0"/>
              <a:t>can be changed at the physical or internal level without modifying the data schema at logical and view level.</a:t>
            </a:r>
          </a:p>
          <a:p>
            <a:pPr lvl="1"/>
            <a:r>
              <a:rPr lang="en-US" dirty="0" smtClean="0"/>
              <a:t>the </a:t>
            </a:r>
            <a:r>
              <a:rPr lang="en-US" dirty="0"/>
              <a:t>physical schema is changed if we add additional storage to the system or we reorganize some files to enhance the retrieval speed of the records</a:t>
            </a:r>
            <a:r>
              <a:rPr lang="en-US" dirty="0" smtClean="0"/>
              <a:t>.</a:t>
            </a:r>
            <a:endParaRPr lang="en-US" dirty="0"/>
          </a:p>
        </p:txBody>
      </p:sp>
    </p:spTree>
    <p:extLst>
      <p:ext uri="{BB962C8B-B14F-4D97-AF65-F5344CB8AC3E}">
        <p14:creationId xmlns:p14="http://schemas.microsoft.com/office/powerpoint/2010/main" val="35643414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Centralized DBMSs Architecture</a:t>
            </a:r>
          </a:p>
        </p:txBody>
      </p:sp>
      <p:sp>
        <p:nvSpPr>
          <p:cNvPr id="3" name="Content Placeholder 2"/>
          <p:cNvSpPr>
            <a:spLocks noGrp="1"/>
          </p:cNvSpPr>
          <p:nvPr>
            <p:ph idx="1"/>
          </p:nvPr>
        </p:nvSpPr>
        <p:spPr>
          <a:xfrm>
            <a:off x="467544" y="1268760"/>
            <a:ext cx="8229600" cy="4525963"/>
          </a:xfrm>
        </p:spPr>
        <p:txBody>
          <a:bodyPr/>
          <a:lstStyle/>
          <a:p>
            <a:r>
              <a:rPr lang="en-US" dirty="0"/>
              <a:t>A centralized database is stored at a single location such as a mainframe computer. It is maintained and modified from that location only and usually accessed using an internet connection such as a LAN or WAN. The centralized database is used by </a:t>
            </a:r>
            <a:r>
              <a:rPr lang="en-US" dirty="0" smtClean="0"/>
              <a:t>organizations </a:t>
            </a:r>
            <a:r>
              <a:rPr lang="en-US" dirty="0"/>
              <a:t>such as colleges, companies, banks etc.</a:t>
            </a:r>
          </a:p>
          <a:p>
            <a:r>
              <a:rPr lang="en-US" dirty="0"/>
              <a:t/>
            </a:r>
            <a:br>
              <a:rPr lang="en-US" dirty="0"/>
            </a:br>
            <a:endParaRPr lang="en-IN" dirty="0"/>
          </a:p>
        </p:txBody>
      </p:sp>
      <p:pic>
        <p:nvPicPr>
          <p:cNvPr id="7170" name="Picture 2" descr="https://www.tutorialspoint.com/assets/questions/media/10547/Centralized%20DDBMS.PNG"/>
          <p:cNvPicPr>
            <a:picLocks noChangeAspect="1" noChangeArrowheads="1"/>
          </p:cNvPicPr>
          <p:nvPr/>
        </p:nvPicPr>
        <p:blipFill rotWithShape="1">
          <a:blip r:embed="rId2">
            <a:extLst>
              <a:ext uri="{28A0092B-C50C-407E-A947-70E740481C1C}">
                <a14:useLocalDpi xmlns:a14="http://schemas.microsoft.com/office/drawing/2010/main" val="0"/>
              </a:ext>
            </a:extLst>
          </a:blip>
          <a:srcRect l="7496" r="12644"/>
          <a:stretch/>
        </p:blipFill>
        <p:spPr bwMode="auto">
          <a:xfrm>
            <a:off x="2008682" y="4149080"/>
            <a:ext cx="5803678" cy="2626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7061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Centralized DBMSs </a:t>
            </a:r>
            <a:r>
              <a:rPr lang="en-IN" dirty="0" smtClean="0"/>
              <a:t>Architecture (</a:t>
            </a:r>
            <a:r>
              <a:rPr lang="en-IN" dirty="0" err="1" smtClean="0"/>
              <a:t>cont</a:t>
            </a:r>
            <a:r>
              <a:rPr lang="en-IN" dirty="0" smtClean="0"/>
              <a:t>…)</a:t>
            </a:r>
            <a:endParaRPr lang="en-IN" dirty="0"/>
          </a:p>
        </p:txBody>
      </p:sp>
      <p:sp>
        <p:nvSpPr>
          <p:cNvPr id="3" name="Content Placeholder 2"/>
          <p:cNvSpPr>
            <a:spLocks noGrp="1"/>
          </p:cNvSpPr>
          <p:nvPr>
            <p:ph idx="1"/>
          </p:nvPr>
        </p:nvSpPr>
        <p:spPr>
          <a:xfrm>
            <a:off x="467544" y="1268760"/>
            <a:ext cx="8229600" cy="4525963"/>
          </a:xfrm>
        </p:spPr>
        <p:txBody>
          <a:bodyPr>
            <a:normAutofit fontScale="92500" lnSpcReduction="10000"/>
          </a:bodyPr>
          <a:lstStyle/>
          <a:p>
            <a:r>
              <a:rPr lang="en-US" dirty="0"/>
              <a:t> </a:t>
            </a:r>
            <a:r>
              <a:rPr lang="en-US" dirty="0" smtClean="0"/>
              <a:t>All </a:t>
            </a:r>
            <a:r>
              <a:rPr lang="en-US" dirty="0"/>
              <a:t>the information for the </a:t>
            </a:r>
            <a:r>
              <a:rPr lang="en-US" dirty="0" err="1"/>
              <a:t>organisation</a:t>
            </a:r>
            <a:r>
              <a:rPr lang="en-US" dirty="0"/>
              <a:t> is stored in a single database. This database is known as the </a:t>
            </a:r>
            <a:r>
              <a:rPr lang="en-US" b="1" dirty="0">
                <a:solidFill>
                  <a:srgbClr val="FF0066"/>
                </a:solidFill>
              </a:rPr>
              <a:t>centralized database</a:t>
            </a:r>
            <a:r>
              <a:rPr lang="en-US" b="1" dirty="0" smtClean="0">
                <a:solidFill>
                  <a:srgbClr val="FF0066"/>
                </a:solidFill>
              </a:rPr>
              <a:t>.</a:t>
            </a:r>
          </a:p>
          <a:p>
            <a:r>
              <a:rPr lang="en-IN" b="1" dirty="0"/>
              <a:t>Advantages</a:t>
            </a:r>
          </a:p>
          <a:p>
            <a:r>
              <a:rPr lang="en-US" dirty="0"/>
              <a:t>The data integrity is </a:t>
            </a:r>
            <a:r>
              <a:rPr lang="en-US" dirty="0" err="1"/>
              <a:t>maximised</a:t>
            </a:r>
            <a:r>
              <a:rPr lang="en-US" dirty="0"/>
              <a:t> as the whole database is stored at a single physical location. This means that it is easier to coordinate the data and it is as accurate and consistent as possible.</a:t>
            </a:r>
          </a:p>
          <a:p>
            <a:r>
              <a:rPr lang="en-US" dirty="0"/>
              <a:t>The data redundancy is minimal in the </a:t>
            </a:r>
            <a:r>
              <a:rPr lang="en-US" dirty="0" err="1"/>
              <a:t>centralised</a:t>
            </a:r>
            <a:r>
              <a:rPr lang="en-US" dirty="0"/>
              <a:t> database. All the data is stored together and not scattered across different locations. So, it is easier to make sure there is no redundant data available.</a:t>
            </a:r>
          </a:p>
          <a:p>
            <a:endParaRPr lang="en-IN" b="1" dirty="0">
              <a:solidFill>
                <a:srgbClr val="FF0066"/>
              </a:solidFill>
            </a:endParaRPr>
          </a:p>
        </p:txBody>
      </p:sp>
    </p:spTree>
    <p:extLst>
      <p:ext uri="{BB962C8B-B14F-4D97-AF65-F5344CB8AC3E}">
        <p14:creationId xmlns:p14="http://schemas.microsoft.com/office/powerpoint/2010/main" val="25000561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Centralized DBMSs </a:t>
            </a:r>
            <a:r>
              <a:rPr lang="en-IN" dirty="0" smtClean="0"/>
              <a:t>Architecture (</a:t>
            </a:r>
            <a:r>
              <a:rPr lang="en-IN" dirty="0" err="1" smtClean="0"/>
              <a:t>cont</a:t>
            </a:r>
            <a:r>
              <a:rPr lang="en-IN" dirty="0" smtClean="0"/>
              <a:t>…)</a:t>
            </a:r>
            <a:endParaRPr lang="en-IN" dirty="0"/>
          </a:p>
        </p:txBody>
      </p:sp>
      <p:sp>
        <p:nvSpPr>
          <p:cNvPr id="3" name="Content Placeholder 2"/>
          <p:cNvSpPr>
            <a:spLocks noGrp="1"/>
          </p:cNvSpPr>
          <p:nvPr>
            <p:ph idx="1"/>
          </p:nvPr>
        </p:nvSpPr>
        <p:spPr>
          <a:xfrm>
            <a:off x="467544" y="1268760"/>
            <a:ext cx="8229600" cy="4525963"/>
          </a:xfrm>
        </p:spPr>
        <p:txBody>
          <a:bodyPr>
            <a:normAutofit fontScale="92500"/>
          </a:bodyPr>
          <a:lstStyle/>
          <a:p>
            <a:r>
              <a:rPr lang="en-US" dirty="0"/>
              <a:t> </a:t>
            </a:r>
            <a:r>
              <a:rPr lang="en-IN" b="1" dirty="0" smtClean="0"/>
              <a:t>Advantages</a:t>
            </a:r>
          </a:p>
          <a:p>
            <a:r>
              <a:rPr lang="en-US" dirty="0"/>
              <a:t>A</a:t>
            </a:r>
            <a:r>
              <a:rPr lang="en-US" dirty="0" smtClean="0"/>
              <a:t>ll </a:t>
            </a:r>
            <a:r>
              <a:rPr lang="en-US" dirty="0"/>
              <a:t>the data is in one place, there can be stronger security measures around it. So, the </a:t>
            </a:r>
            <a:r>
              <a:rPr lang="en-US" dirty="0" err="1"/>
              <a:t>centralised</a:t>
            </a:r>
            <a:r>
              <a:rPr lang="en-US" dirty="0"/>
              <a:t> database is much more secure.</a:t>
            </a:r>
          </a:p>
          <a:p>
            <a:r>
              <a:rPr lang="en-US" dirty="0"/>
              <a:t>Data is easily portable because it is stored at the same place.</a:t>
            </a:r>
          </a:p>
          <a:p>
            <a:r>
              <a:rPr lang="en-US" dirty="0"/>
              <a:t>The centralized database is cheaper than other types of databases as it requires less power and maintenance.</a:t>
            </a:r>
          </a:p>
          <a:p>
            <a:r>
              <a:rPr lang="en-US" dirty="0"/>
              <a:t>All the information in the centralized database can be easily accessed from the same location and at the same time.</a:t>
            </a:r>
          </a:p>
          <a:p>
            <a:endParaRPr lang="en-IN" b="1" dirty="0"/>
          </a:p>
        </p:txBody>
      </p:sp>
    </p:spTree>
    <p:extLst>
      <p:ext uri="{BB962C8B-B14F-4D97-AF65-F5344CB8AC3E}">
        <p14:creationId xmlns:p14="http://schemas.microsoft.com/office/powerpoint/2010/main" val="28212881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Centralized DBMSs </a:t>
            </a:r>
            <a:r>
              <a:rPr lang="en-IN" dirty="0" smtClean="0"/>
              <a:t>Architecture (</a:t>
            </a:r>
            <a:r>
              <a:rPr lang="en-IN" dirty="0" err="1" smtClean="0"/>
              <a:t>cont</a:t>
            </a:r>
            <a:r>
              <a:rPr lang="en-IN" dirty="0" smtClean="0"/>
              <a:t>…)</a:t>
            </a:r>
            <a:endParaRPr lang="en-IN" dirty="0"/>
          </a:p>
        </p:txBody>
      </p:sp>
      <p:sp>
        <p:nvSpPr>
          <p:cNvPr id="3" name="Content Placeholder 2"/>
          <p:cNvSpPr>
            <a:spLocks noGrp="1"/>
          </p:cNvSpPr>
          <p:nvPr>
            <p:ph idx="1"/>
          </p:nvPr>
        </p:nvSpPr>
        <p:spPr>
          <a:xfrm>
            <a:off x="467544" y="1268760"/>
            <a:ext cx="8229600" cy="4525963"/>
          </a:xfrm>
        </p:spPr>
        <p:txBody>
          <a:bodyPr>
            <a:normAutofit fontScale="85000" lnSpcReduction="20000"/>
          </a:bodyPr>
          <a:lstStyle/>
          <a:p>
            <a:r>
              <a:rPr lang="en-US" b="1" dirty="0" smtClean="0"/>
              <a:t>Dis-</a:t>
            </a:r>
            <a:r>
              <a:rPr lang="en-US" b="1" dirty="0"/>
              <a:t> </a:t>
            </a:r>
            <a:r>
              <a:rPr lang="en-IN" b="1" dirty="0" smtClean="0"/>
              <a:t>Advantages</a:t>
            </a:r>
          </a:p>
          <a:p>
            <a:r>
              <a:rPr lang="en-US" dirty="0"/>
              <a:t>Since all the data is at one location, it takes more time to search and access it. If the network is slow, this process takes even more time.</a:t>
            </a:r>
          </a:p>
          <a:p>
            <a:r>
              <a:rPr lang="en-US" dirty="0"/>
              <a:t>There is a lot of data access traffic for the centralized database. This may create a bottleneck situation.</a:t>
            </a:r>
          </a:p>
          <a:p>
            <a:r>
              <a:rPr lang="en-US" dirty="0"/>
              <a:t>Since all the data is at the same location, if multiple users try to access it simultaneously it creates a problem. This may reduce the efficiency of the system.</a:t>
            </a:r>
          </a:p>
          <a:p>
            <a:r>
              <a:rPr lang="en-US" dirty="0"/>
              <a:t>If there are no database recovery measures in place and a system failure occurs, then all the data in the database will be destroyed</a:t>
            </a:r>
            <a:r>
              <a:rPr lang="en-US" dirty="0" smtClean="0"/>
              <a:t>.</a:t>
            </a:r>
            <a:endParaRPr lang="en-IN" b="1" dirty="0" smtClean="0"/>
          </a:p>
        </p:txBody>
      </p:sp>
    </p:spTree>
    <p:extLst>
      <p:ext uri="{BB962C8B-B14F-4D97-AF65-F5344CB8AC3E}">
        <p14:creationId xmlns:p14="http://schemas.microsoft.com/office/powerpoint/2010/main" val="15420067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Client-Server </a:t>
            </a:r>
            <a:r>
              <a:rPr lang="en-IN" dirty="0" smtClean="0"/>
              <a:t>Architecture</a:t>
            </a:r>
            <a:endParaRPr lang="en-IN" dirty="0"/>
          </a:p>
        </p:txBody>
      </p:sp>
      <p:sp>
        <p:nvSpPr>
          <p:cNvPr id="3" name="Content Placeholder 2"/>
          <p:cNvSpPr>
            <a:spLocks noGrp="1"/>
          </p:cNvSpPr>
          <p:nvPr>
            <p:ph idx="1"/>
          </p:nvPr>
        </p:nvSpPr>
        <p:spPr/>
        <p:txBody>
          <a:bodyPr/>
          <a:lstStyle/>
          <a:p>
            <a:r>
              <a:rPr lang="en-US" dirty="0"/>
              <a:t>Client-server architecture is a network model where every process or computer on a network is a server or a client</a:t>
            </a:r>
            <a:r>
              <a:rPr lang="en-US" dirty="0" smtClean="0"/>
              <a:t>.</a:t>
            </a:r>
          </a:p>
          <a:p>
            <a:r>
              <a:rPr lang="en-US" dirty="0" smtClean="0"/>
              <a:t> </a:t>
            </a:r>
            <a:r>
              <a:rPr lang="en-US" dirty="0"/>
              <a:t>The client-servers are the robust computers that are dedicated to managing the printers, disk drives, and network traffic. </a:t>
            </a:r>
            <a:endParaRPr lang="en-US" dirty="0" smtClean="0"/>
          </a:p>
          <a:p>
            <a:r>
              <a:rPr lang="en-US" dirty="0" smtClean="0"/>
              <a:t>Clients </a:t>
            </a:r>
            <a:r>
              <a:rPr lang="en-US" dirty="0"/>
              <a:t>are workstations or PCs on which the users run their applications. Clients mainly rely on the servers for resources, like devices, files, and processing power.</a:t>
            </a:r>
            <a:endParaRPr lang="en-IN" dirty="0"/>
          </a:p>
        </p:txBody>
      </p:sp>
    </p:spTree>
    <p:extLst>
      <p:ext uri="{BB962C8B-B14F-4D97-AF65-F5344CB8AC3E}">
        <p14:creationId xmlns:p14="http://schemas.microsoft.com/office/powerpoint/2010/main" val="4977470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Client-Server </a:t>
            </a:r>
            <a:r>
              <a:rPr lang="en-IN" dirty="0" smtClean="0"/>
              <a:t>Architecture (cont..)</a:t>
            </a:r>
            <a:endParaRPr lang="en-IN" dirty="0"/>
          </a:p>
        </p:txBody>
      </p:sp>
      <p:sp>
        <p:nvSpPr>
          <p:cNvPr id="3" name="Content Placeholder 2"/>
          <p:cNvSpPr>
            <a:spLocks noGrp="1"/>
          </p:cNvSpPr>
          <p:nvPr>
            <p:ph idx="1"/>
          </p:nvPr>
        </p:nvSpPr>
        <p:spPr/>
        <p:txBody>
          <a:bodyPr>
            <a:normAutofit fontScale="92500"/>
          </a:bodyPr>
          <a:lstStyle/>
          <a:p>
            <a:r>
              <a:rPr lang="en-IN" b="1" dirty="0"/>
              <a:t>What is Client-Server Architecture?</a:t>
            </a:r>
          </a:p>
          <a:p>
            <a:pPr fontAlgn="base"/>
            <a:r>
              <a:rPr lang="en-US" dirty="0"/>
              <a:t>A client-server architecture or model is an application network separating tasks between the clients and servers that live in the same system or have to communicate through a computer network</a:t>
            </a:r>
            <a:r>
              <a:rPr lang="en-US" dirty="0" smtClean="0"/>
              <a:t>.</a:t>
            </a:r>
          </a:p>
          <a:p>
            <a:pPr fontAlgn="base"/>
            <a:r>
              <a:rPr lang="en-US" dirty="0" smtClean="0"/>
              <a:t> </a:t>
            </a:r>
            <a:r>
              <a:rPr lang="en-US" dirty="0"/>
              <a:t>The server-client mainly relies on sending the request to another program to access the service made accessible by the server. </a:t>
            </a:r>
            <a:r>
              <a:rPr lang="en-US" dirty="0" smtClean="0"/>
              <a:t>Server </a:t>
            </a:r>
            <a:r>
              <a:rPr lang="en-US" dirty="0"/>
              <a:t>runs a few programs that share the resources with &amp; distribute work among the clients.</a:t>
            </a:r>
          </a:p>
          <a:p>
            <a:pPr marL="0" indent="0">
              <a:buNone/>
            </a:pPr>
            <a:endParaRPr lang="en-IN" dirty="0"/>
          </a:p>
        </p:txBody>
      </p:sp>
    </p:spTree>
    <p:extLst>
      <p:ext uri="{BB962C8B-B14F-4D97-AF65-F5344CB8AC3E}">
        <p14:creationId xmlns:p14="http://schemas.microsoft.com/office/powerpoint/2010/main" val="1632029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Client-Server </a:t>
            </a:r>
            <a:r>
              <a:rPr lang="en-IN" dirty="0" smtClean="0"/>
              <a:t>Architecture (cont..)</a:t>
            </a:r>
            <a:endParaRPr lang="en-IN" dirty="0"/>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7907" y="1600200"/>
            <a:ext cx="754818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08174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Client-Server </a:t>
            </a:r>
            <a:r>
              <a:rPr lang="en-IN" dirty="0" smtClean="0"/>
              <a:t>Architecture (cont..)</a:t>
            </a:r>
            <a:endParaRPr lang="en-IN" dirty="0"/>
          </a:p>
        </p:txBody>
      </p:sp>
      <p:sp>
        <p:nvSpPr>
          <p:cNvPr id="3" name="Content Placeholder 2"/>
          <p:cNvSpPr>
            <a:spLocks noGrp="1"/>
          </p:cNvSpPr>
          <p:nvPr>
            <p:ph idx="1"/>
          </p:nvPr>
        </p:nvSpPr>
        <p:spPr/>
        <p:txBody>
          <a:bodyPr/>
          <a:lstStyle/>
          <a:p>
            <a:pPr fontAlgn="base"/>
            <a:r>
              <a:rPr lang="en-US" b="1" dirty="0"/>
              <a:t>Client:</a:t>
            </a:r>
            <a:r>
              <a:rPr lang="en-US" dirty="0"/>
              <a:t> The word Client means an organization or an individual using a service. Even in the digital world Client is a Host (computer) that can receive information or using service from the Servers.</a:t>
            </a:r>
          </a:p>
          <a:p>
            <a:pPr fontAlgn="base"/>
            <a:r>
              <a:rPr lang="en-US" b="1" dirty="0"/>
              <a:t>Server:</a:t>
            </a:r>
            <a:r>
              <a:rPr lang="en-US" dirty="0"/>
              <a:t> Server means a person that serves something. The server, in the digital world, is the remote computer that offers information or access to services.</a:t>
            </a:r>
          </a:p>
          <a:p>
            <a:endParaRPr lang="en-IN" dirty="0"/>
          </a:p>
        </p:txBody>
      </p:sp>
    </p:spTree>
    <p:extLst>
      <p:ext uri="{BB962C8B-B14F-4D97-AF65-F5344CB8AC3E}">
        <p14:creationId xmlns:p14="http://schemas.microsoft.com/office/powerpoint/2010/main" val="13485121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Client-Server </a:t>
            </a:r>
            <a:r>
              <a:rPr lang="en-IN" dirty="0" smtClean="0"/>
              <a:t>Architecture (cont..)</a:t>
            </a:r>
            <a:endParaRPr lang="en-IN" dirty="0"/>
          </a:p>
        </p:txBody>
      </p:sp>
      <p:sp>
        <p:nvSpPr>
          <p:cNvPr id="3" name="Content Placeholder 2"/>
          <p:cNvSpPr>
            <a:spLocks noGrp="1"/>
          </p:cNvSpPr>
          <p:nvPr>
            <p:ph idx="1"/>
          </p:nvPr>
        </p:nvSpPr>
        <p:spPr>
          <a:xfrm>
            <a:off x="457200" y="1600200"/>
            <a:ext cx="8229600" cy="4781128"/>
          </a:xfrm>
        </p:spPr>
        <p:txBody>
          <a:bodyPr>
            <a:normAutofit fontScale="92500"/>
          </a:bodyPr>
          <a:lstStyle/>
          <a:p>
            <a:pPr fontAlgn="base"/>
            <a:r>
              <a:rPr lang="en-US" b="1" dirty="0"/>
              <a:t>Types of Client-Server Architecture</a:t>
            </a:r>
          </a:p>
          <a:p>
            <a:pPr fontAlgn="base"/>
            <a:r>
              <a:rPr lang="en-US" b="1" dirty="0"/>
              <a:t>1-Tier Architecture</a:t>
            </a:r>
          </a:p>
          <a:p>
            <a:pPr lvl="1"/>
            <a:r>
              <a:rPr lang="en-US" dirty="0"/>
              <a:t>All client or server configuration settings, UI environment, data logic, as well as marketing logic are there on the same system. </a:t>
            </a:r>
            <a:endParaRPr lang="en-US" dirty="0" smtClean="0"/>
          </a:p>
          <a:p>
            <a:pPr lvl="1"/>
            <a:r>
              <a:rPr lang="en-US" dirty="0" smtClean="0"/>
              <a:t>The </a:t>
            </a:r>
            <a:r>
              <a:rPr lang="en-US" dirty="0"/>
              <a:t>1-tier architecture services are quite reliable but tough tasks to handle as they have all data in various variance that will be allotted the complete replication of the whole work. 1-Tier architecture also has different layers.</a:t>
            </a:r>
            <a:endParaRPr lang="en-IN" dirty="0"/>
          </a:p>
        </p:txBody>
      </p:sp>
    </p:spTree>
    <p:extLst>
      <p:ext uri="{BB962C8B-B14F-4D97-AF65-F5344CB8AC3E}">
        <p14:creationId xmlns:p14="http://schemas.microsoft.com/office/powerpoint/2010/main" val="33903059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Client-Server </a:t>
            </a:r>
            <a:r>
              <a:rPr lang="en-IN" dirty="0" smtClean="0"/>
              <a:t>Architecture (cont..)</a:t>
            </a:r>
            <a:endParaRPr lang="en-IN" dirty="0"/>
          </a:p>
        </p:txBody>
      </p:sp>
      <p:sp>
        <p:nvSpPr>
          <p:cNvPr id="3" name="Content Placeholder 2"/>
          <p:cNvSpPr>
            <a:spLocks noGrp="1"/>
          </p:cNvSpPr>
          <p:nvPr>
            <p:ph idx="1"/>
          </p:nvPr>
        </p:nvSpPr>
        <p:spPr>
          <a:xfrm>
            <a:off x="457200" y="1600200"/>
            <a:ext cx="8229600" cy="4781128"/>
          </a:xfrm>
        </p:spPr>
        <p:txBody>
          <a:bodyPr>
            <a:normAutofit/>
          </a:bodyPr>
          <a:lstStyle/>
          <a:p>
            <a:pPr marL="0" indent="0" fontAlgn="base">
              <a:buNone/>
            </a:pPr>
            <a:r>
              <a:rPr lang="en-US" b="1" dirty="0" smtClean="0"/>
              <a:t>For </a:t>
            </a:r>
            <a:r>
              <a:rPr lang="en-US" b="1" dirty="0"/>
              <a:t>example –</a:t>
            </a:r>
            <a:r>
              <a:rPr lang="en-US" dirty="0"/>
              <a:t>Business, Presentation, Data Access layer using a single software package. Data will be saved on a local machine. Some applications manage 3 tiers like an MP3 player and MS Office; however, these applications are presented in a 1-tier architecture system.</a:t>
            </a:r>
            <a:endParaRPr lang="en-US" b="1" dirty="0"/>
          </a:p>
        </p:txBody>
      </p:sp>
      <p:sp>
        <p:nvSpPr>
          <p:cNvPr id="5" name="AutoShape 2" descr="1-Tier Architectu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936" y="4005064"/>
            <a:ext cx="3651395" cy="242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06269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Client-Server </a:t>
            </a:r>
            <a:r>
              <a:rPr lang="en-IN" dirty="0" smtClean="0"/>
              <a:t>Architecture (cont..)</a:t>
            </a:r>
            <a:endParaRPr lang="en-IN" dirty="0"/>
          </a:p>
        </p:txBody>
      </p:sp>
      <p:sp>
        <p:nvSpPr>
          <p:cNvPr id="3" name="Content Placeholder 2"/>
          <p:cNvSpPr>
            <a:spLocks noGrp="1"/>
          </p:cNvSpPr>
          <p:nvPr>
            <p:ph idx="1"/>
          </p:nvPr>
        </p:nvSpPr>
        <p:spPr>
          <a:xfrm>
            <a:off x="457200" y="1412776"/>
            <a:ext cx="5842992" cy="5328592"/>
          </a:xfrm>
        </p:spPr>
        <p:txBody>
          <a:bodyPr>
            <a:normAutofit lnSpcReduction="10000"/>
          </a:bodyPr>
          <a:lstStyle/>
          <a:p>
            <a:pPr marL="0" indent="0" fontAlgn="base">
              <a:buNone/>
            </a:pPr>
            <a:r>
              <a:rPr lang="en-IN" b="1" dirty="0"/>
              <a:t>2-Tier </a:t>
            </a:r>
            <a:r>
              <a:rPr lang="en-IN" b="1" dirty="0" smtClean="0"/>
              <a:t>Architecture</a:t>
            </a:r>
            <a:r>
              <a:rPr lang="en-US" dirty="0"/>
              <a:t> In 2-Tier Architecture, the UI is stored at the client machine, and the database gets stored on a server</a:t>
            </a:r>
            <a:r>
              <a:rPr lang="en-US" dirty="0" smtClean="0"/>
              <a:t>.</a:t>
            </a:r>
          </a:p>
          <a:p>
            <a:pPr marL="0" indent="0" fontAlgn="base">
              <a:buNone/>
            </a:pPr>
            <a:r>
              <a:rPr lang="en-US" dirty="0" smtClean="0"/>
              <a:t> </a:t>
            </a:r>
            <a:r>
              <a:rPr lang="en-US" dirty="0"/>
              <a:t>The business logic and database logic are filed at server or client but have to be well-maintained. Suppose Data Logic and Business Logic are collected at the client-side, it’s called fat client-server architecture. Suppose Data Logic and Business Logic are handled on a server, its thin client-server architecture.</a:t>
            </a:r>
            <a:endParaRPr lang="en-IN" b="1" dirty="0"/>
          </a:p>
          <a:p>
            <a:pPr marL="0" indent="0" fontAlgn="base">
              <a:buNone/>
            </a:pPr>
            <a:endParaRPr lang="en-US" b="1" dirty="0"/>
          </a:p>
        </p:txBody>
      </p:sp>
      <p:sp>
        <p:nvSpPr>
          <p:cNvPr id="5" name="AutoShape 2" descr="1-Tier Architectu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2-Tier Architectur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1617" y="1514512"/>
            <a:ext cx="2219325"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44695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Client-Server </a:t>
            </a:r>
            <a:r>
              <a:rPr lang="en-IN" dirty="0" smtClean="0"/>
              <a:t>Architecture (cont..)</a:t>
            </a:r>
            <a:endParaRPr lang="en-IN" dirty="0"/>
          </a:p>
        </p:txBody>
      </p:sp>
      <p:sp>
        <p:nvSpPr>
          <p:cNvPr id="3" name="Content Placeholder 2"/>
          <p:cNvSpPr>
            <a:spLocks noGrp="1"/>
          </p:cNvSpPr>
          <p:nvPr>
            <p:ph idx="1"/>
          </p:nvPr>
        </p:nvSpPr>
        <p:spPr>
          <a:xfrm>
            <a:off x="457200" y="1412776"/>
            <a:ext cx="8435280" cy="5328592"/>
          </a:xfrm>
        </p:spPr>
        <p:txBody>
          <a:bodyPr>
            <a:normAutofit/>
          </a:bodyPr>
          <a:lstStyle/>
          <a:p>
            <a:pPr fontAlgn="base"/>
            <a:r>
              <a:rPr lang="en-IN" b="1" dirty="0"/>
              <a:t>2-Tier </a:t>
            </a:r>
            <a:r>
              <a:rPr lang="en-IN" b="1" dirty="0" smtClean="0"/>
              <a:t>Architecture</a:t>
            </a:r>
          </a:p>
          <a:p>
            <a:pPr lvl="1" fontAlgn="base"/>
            <a:r>
              <a:rPr lang="en-US" dirty="0"/>
              <a:t>In 2-Tier architecture, server and client need to come in the direct incorporation. </a:t>
            </a:r>
            <a:r>
              <a:rPr lang="en-US" dirty="0" smtClean="0"/>
              <a:t>Suppose </a:t>
            </a:r>
            <a:r>
              <a:rPr lang="en-US" dirty="0"/>
              <a:t>a client provides any input to a server there must not be any intermediate. It is generally done for rapid results and to avoid confusion between various clients. For example, an online ticket reservations application uses this 2-Tier architecture.</a:t>
            </a:r>
            <a:endParaRPr lang="en-US" b="1" dirty="0"/>
          </a:p>
        </p:txBody>
      </p:sp>
      <p:sp>
        <p:nvSpPr>
          <p:cNvPr id="5" name="AutoShape 2" descr="1-Tier Architectu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2-Tier Architectur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7235642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Client-Server </a:t>
            </a:r>
            <a:r>
              <a:rPr lang="en-IN" dirty="0" smtClean="0"/>
              <a:t>Architecture (cont..)</a:t>
            </a:r>
            <a:endParaRPr lang="en-IN" dirty="0"/>
          </a:p>
        </p:txBody>
      </p:sp>
      <p:sp>
        <p:nvSpPr>
          <p:cNvPr id="3" name="Content Placeholder 2"/>
          <p:cNvSpPr>
            <a:spLocks noGrp="1"/>
          </p:cNvSpPr>
          <p:nvPr>
            <p:ph idx="1"/>
          </p:nvPr>
        </p:nvSpPr>
        <p:spPr>
          <a:xfrm>
            <a:off x="457200" y="1412776"/>
            <a:ext cx="8435280" cy="5328592"/>
          </a:xfrm>
        </p:spPr>
        <p:txBody>
          <a:bodyPr>
            <a:normAutofit/>
          </a:bodyPr>
          <a:lstStyle/>
          <a:p>
            <a:pPr fontAlgn="base"/>
            <a:r>
              <a:rPr lang="en-IN" b="1" dirty="0"/>
              <a:t>3-Tier </a:t>
            </a:r>
            <a:r>
              <a:rPr lang="en-IN" b="1" dirty="0" smtClean="0"/>
              <a:t>Architecture</a:t>
            </a:r>
          </a:p>
          <a:p>
            <a:pPr fontAlgn="base"/>
            <a:endParaRPr lang="en-US" b="1" dirty="0"/>
          </a:p>
          <a:p>
            <a:pPr fontAlgn="base"/>
            <a:endParaRPr lang="en-US" b="1" dirty="0" smtClean="0"/>
          </a:p>
          <a:p>
            <a:pPr fontAlgn="base"/>
            <a:endParaRPr lang="en-US" b="1" dirty="0"/>
          </a:p>
          <a:p>
            <a:pPr fontAlgn="base"/>
            <a:r>
              <a:rPr lang="en-US" dirty="0"/>
              <a:t>It consists of the presentation tier that is the User Interface layer, an application tier that is a service layer, which performs the detailed processing, and a data tier that consists of the database server, which stores information. </a:t>
            </a:r>
            <a:endParaRPr lang="en-US" b="1" dirty="0"/>
          </a:p>
        </p:txBody>
      </p:sp>
      <p:sp>
        <p:nvSpPr>
          <p:cNvPr id="5" name="AutoShape 2" descr="1-Tier Architectu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2-Tier Architectur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571" y="1556792"/>
            <a:ext cx="7832249"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36079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Client-Server </a:t>
            </a:r>
            <a:r>
              <a:rPr lang="en-IN" dirty="0" smtClean="0"/>
              <a:t>Architecture (cont..)</a:t>
            </a:r>
            <a:endParaRPr lang="en-IN" dirty="0"/>
          </a:p>
        </p:txBody>
      </p:sp>
      <p:sp>
        <p:nvSpPr>
          <p:cNvPr id="3" name="Content Placeholder 2"/>
          <p:cNvSpPr>
            <a:spLocks noGrp="1"/>
          </p:cNvSpPr>
          <p:nvPr>
            <p:ph idx="1"/>
          </p:nvPr>
        </p:nvSpPr>
        <p:spPr>
          <a:xfrm>
            <a:off x="457200" y="1412776"/>
            <a:ext cx="8435280" cy="5328592"/>
          </a:xfrm>
        </p:spPr>
        <p:txBody>
          <a:bodyPr>
            <a:normAutofit/>
          </a:bodyPr>
          <a:lstStyle/>
          <a:p>
            <a:pPr fontAlgn="base"/>
            <a:r>
              <a:rPr lang="en-IN" b="1" dirty="0"/>
              <a:t>3-Tier </a:t>
            </a:r>
            <a:r>
              <a:rPr lang="en-IN" b="1" dirty="0" smtClean="0"/>
              <a:t>Architecture</a:t>
            </a:r>
          </a:p>
          <a:p>
            <a:pPr fontAlgn="base"/>
            <a:r>
              <a:rPr lang="en-US" dirty="0"/>
              <a:t>Three-tier architecture can be split into 3 parts, the presentation layer (or Client Tier), the Application layer (or Business Tier), and the Database layer (or Data Tier). It works in the following ways: The Client system handles the Presentation layer; the Application server looks after the Application layer, and the Server system supervises the Database layer.</a:t>
            </a:r>
            <a:br>
              <a:rPr lang="en-US" dirty="0"/>
            </a:br>
            <a:endParaRPr lang="en-US" dirty="0"/>
          </a:p>
          <a:p>
            <a:pPr fontAlgn="base"/>
            <a:endParaRPr lang="en-US" b="1" dirty="0"/>
          </a:p>
          <a:p>
            <a:pPr fontAlgn="base"/>
            <a:endParaRPr lang="en-IN" b="1" dirty="0" smtClean="0"/>
          </a:p>
        </p:txBody>
      </p:sp>
      <p:sp>
        <p:nvSpPr>
          <p:cNvPr id="5" name="AutoShape 2" descr="1-Tier Architectu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2-Tier Architectur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246356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Client-Server </a:t>
            </a:r>
            <a:r>
              <a:rPr lang="en-IN" dirty="0" smtClean="0"/>
              <a:t>Architecture (cont..)</a:t>
            </a:r>
            <a:endParaRPr lang="en-IN" dirty="0"/>
          </a:p>
        </p:txBody>
      </p:sp>
      <p:sp>
        <p:nvSpPr>
          <p:cNvPr id="3" name="Content Placeholder 2"/>
          <p:cNvSpPr>
            <a:spLocks noGrp="1"/>
          </p:cNvSpPr>
          <p:nvPr>
            <p:ph idx="1"/>
          </p:nvPr>
        </p:nvSpPr>
        <p:spPr>
          <a:xfrm>
            <a:off x="457200" y="1412776"/>
            <a:ext cx="8435280" cy="5328592"/>
          </a:xfrm>
        </p:spPr>
        <p:txBody>
          <a:bodyPr>
            <a:normAutofit/>
          </a:bodyPr>
          <a:lstStyle/>
          <a:p>
            <a:pPr fontAlgn="base"/>
            <a:r>
              <a:rPr lang="en-IN" b="1" dirty="0"/>
              <a:t>N-Tier Architecture</a:t>
            </a:r>
          </a:p>
          <a:p>
            <a:pPr fontAlgn="base"/>
            <a:endParaRPr lang="en-US" b="1" dirty="0"/>
          </a:p>
          <a:p>
            <a:pPr fontAlgn="base"/>
            <a:endParaRPr lang="en-IN" b="1" dirty="0" smtClean="0"/>
          </a:p>
        </p:txBody>
      </p:sp>
      <p:sp>
        <p:nvSpPr>
          <p:cNvPr id="5" name="AutoShape 2" descr="1-Tier Architectu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2-Tier Architectur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070" y="2279650"/>
            <a:ext cx="8480402" cy="2661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23906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IN" b="1" dirty="0"/>
              <a:t>Advantages of Client-Server Architecture</a:t>
            </a:r>
            <a:br>
              <a:rPr lang="en-IN" b="1" dirty="0"/>
            </a:br>
            <a:endParaRPr lang="en-IN" dirty="0"/>
          </a:p>
        </p:txBody>
      </p:sp>
      <p:sp>
        <p:nvSpPr>
          <p:cNvPr id="3" name="Content Placeholder 2"/>
          <p:cNvSpPr>
            <a:spLocks noGrp="1"/>
          </p:cNvSpPr>
          <p:nvPr>
            <p:ph idx="1"/>
          </p:nvPr>
        </p:nvSpPr>
        <p:spPr/>
        <p:txBody>
          <a:bodyPr/>
          <a:lstStyle/>
          <a:p>
            <a:r>
              <a:rPr lang="en-US" dirty="0"/>
              <a:t>Cost-efficient needs less maintenance cost &amp; Data recovery is made possible</a:t>
            </a:r>
            <a:r>
              <a:rPr lang="en-US" dirty="0" smtClean="0"/>
              <a:t>.</a:t>
            </a:r>
          </a:p>
          <a:p>
            <a:pPr fontAlgn="base"/>
            <a:r>
              <a:rPr lang="en-US" dirty="0"/>
              <a:t>The capacity of the Client/Servers will be changed separately.</a:t>
            </a:r>
          </a:p>
          <a:p>
            <a:pPr fontAlgn="base"/>
            <a:r>
              <a:rPr lang="en-US" dirty="0"/>
              <a:t>Centralized system with data in one single place.</a:t>
            </a:r>
          </a:p>
          <a:p>
            <a:endParaRPr lang="en-IN" dirty="0"/>
          </a:p>
        </p:txBody>
      </p:sp>
    </p:spTree>
    <p:extLst>
      <p:ext uri="{BB962C8B-B14F-4D97-AF65-F5344CB8AC3E}">
        <p14:creationId xmlns:p14="http://schemas.microsoft.com/office/powerpoint/2010/main" val="30303153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Disadvantages of Client-Server </a:t>
            </a:r>
            <a:r>
              <a:rPr lang="en-IN" b="1" dirty="0" smtClean="0"/>
              <a:t>Architecture</a:t>
            </a:r>
            <a:endParaRPr lang="en-IN" dirty="0"/>
          </a:p>
        </p:txBody>
      </p:sp>
      <p:sp>
        <p:nvSpPr>
          <p:cNvPr id="3" name="Content Placeholder 2"/>
          <p:cNvSpPr>
            <a:spLocks noGrp="1"/>
          </p:cNvSpPr>
          <p:nvPr>
            <p:ph idx="1"/>
          </p:nvPr>
        </p:nvSpPr>
        <p:spPr/>
        <p:txBody>
          <a:bodyPr>
            <a:normAutofit lnSpcReduction="10000"/>
          </a:bodyPr>
          <a:lstStyle/>
          <a:p>
            <a:pPr fontAlgn="base"/>
            <a:r>
              <a:rPr lang="en-US" dirty="0"/>
              <a:t>Clients can be prone to viruses, worms, and Trojans if present in a Server/uploaded in the Server.</a:t>
            </a:r>
          </a:p>
          <a:p>
            <a:pPr fontAlgn="base"/>
            <a:r>
              <a:rPr lang="en-US" dirty="0"/>
              <a:t>The server can be prone to Denial of Service attacks.</a:t>
            </a:r>
          </a:p>
          <a:p>
            <a:pPr fontAlgn="base"/>
            <a:r>
              <a:rPr lang="en-US" dirty="0"/>
              <a:t>Data packets will be modified or spoofed during the transmission.</a:t>
            </a:r>
          </a:p>
          <a:p>
            <a:pPr fontAlgn="base"/>
            <a:r>
              <a:rPr lang="en-US" dirty="0"/>
              <a:t>Phishing and capturing login credentials and other useful info of user are quite common and Man in a Middle attack will be common.</a:t>
            </a:r>
          </a:p>
          <a:p>
            <a:endParaRPr lang="en-IN" dirty="0"/>
          </a:p>
        </p:txBody>
      </p:sp>
    </p:spTree>
    <p:extLst>
      <p:ext uri="{BB962C8B-B14F-4D97-AF65-F5344CB8AC3E}">
        <p14:creationId xmlns:p14="http://schemas.microsoft.com/office/powerpoint/2010/main" val="24812325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Examples of Client-Server </a:t>
            </a:r>
            <a:r>
              <a:rPr lang="en-IN" b="1" dirty="0" smtClean="0"/>
              <a:t>Architecture</a:t>
            </a:r>
            <a:endParaRPr lang="en-IN" dirty="0"/>
          </a:p>
        </p:txBody>
      </p:sp>
      <p:sp>
        <p:nvSpPr>
          <p:cNvPr id="3" name="Content Placeholder 2"/>
          <p:cNvSpPr>
            <a:spLocks noGrp="1"/>
          </p:cNvSpPr>
          <p:nvPr>
            <p:ph idx="1"/>
          </p:nvPr>
        </p:nvSpPr>
        <p:spPr>
          <a:xfrm>
            <a:off x="457200" y="1600200"/>
            <a:ext cx="8229600" cy="4709120"/>
          </a:xfrm>
        </p:spPr>
        <p:txBody>
          <a:bodyPr>
            <a:normAutofit fontScale="85000" lnSpcReduction="20000"/>
          </a:bodyPr>
          <a:lstStyle/>
          <a:p>
            <a:pPr fontAlgn="base"/>
            <a:r>
              <a:rPr lang="en-US" b="1" dirty="0"/>
              <a:t>Mail Servers:</a:t>
            </a:r>
            <a:r>
              <a:rPr lang="en-US" dirty="0"/>
              <a:t> Email servers can be used for sending &amp; receiving emails. Different software allows email handling.</a:t>
            </a:r>
          </a:p>
          <a:p>
            <a:pPr fontAlgn="base"/>
            <a:r>
              <a:rPr lang="en-US" b="1" dirty="0"/>
              <a:t>File Servers:</a:t>
            </a:r>
            <a:r>
              <a:rPr lang="en-US" dirty="0"/>
              <a:t> They are the centralized location for the files. For example, cloud services for Microsoft Office and Google docs will be accessed from your devices, and files that you save from the computer will be accessed from your phone. In this way, file stores will be centralized and accessed by multiple clients.</a:t>
            </a:r>
          </a:p>
          <a:p>
            <a:pPr fontAlgn="base"/>
            <a:r>
              <a:rPr lang="en-US" b="1" dirty="0"/>
              <a:t>Web Servers:</a:t>
            </a:r>
            <a:r>
              <a:rPr lang="en-US" dirty="0"/>
              <a:t> These servers will host different websites and these are high-performance computers where websites get hosted. The client is using, and the web server is a server system, which hosts these websites. The user or client requests resources or server’s site data through high-speed internet.</a:t>
            </a:r>
          </a:p>
          <a:p>
            <a:endParaRPr lang="en-IN" dirty="0"/>
          </a:p>
        </p:txBody>
      </p:sp>
    </p:spTree>
    <p:extLst>
      <p:ext uri="{BB962C8B-B14F-4D97-AF65-F5344CB8AC3E}">
        <p14:creationId xmlns:p14="http://schemas.microsoft.com/office/powerpoint/2010/main" val="40193159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servers</a:t>
            </a:r>
            <a:endParaRPr lang="en-IN" dirty="0"/>
          </a:p>
        </p:txBody>
      </p:sp>
      <p:sp>
        <p:nvSpPr>
          <p:cNvPr id="3" name="Content Placeholder 2"/>
          <p:cNvSpPr>
            <a:spLocks noGrp="1"/>
          </p:cNvSpPr>
          <p:nvPr>
            <p:ph idx="1"/>
          </p:nvPr>
        </p:nvSpPr>
        <p:spPr/>
        <p:txBody>
          <a:bodyPr>
            <a:normAutofit fontScale="92500"/>
          </a:bodyPr>
          <a:lstStyle/>
          <a:p>
            <a:r>
              <a:rPr lang="en-US" dirty="0"/>
              <a:t>A data server (DS) is a software program/platform used to provide database services like storing, processing and securing data. </a:t>
            </a:r>
          </a:p>
          <a:p>
            <a:r>
              <a:rPr lang="en-US" dirty="0"/>
              <a:t>A data server is also known as a database server</a:t>
            </a:r>
            <a:r>
              <a:rPr lang="en-US" dirty="0" smtClean="0"/>
              <a:t>.</a:t>
            </a:r>
          </a:p>
          <a:p>
            <a:r>
              <a:rPr lang="en-US" dirty="0"/>
              <a:t>A data server contains the installation of the database system. The hardware configuration of a data server varies for different databases. The database management system (DBMS) is accessed by other software or by front-end tools like SQL+ or Toad (for Oracle).</a:t>
            </a:r>
          </a:p>
          <a:p>
            <a:pPr marL="0" indent="0">
              <a:buNone/>
            </a:pPr>
            <a:endParaRPr lang="en-IN" dirty="0"/>
          </a:p>
        </p:txBody>
      </p:sp>
    </p:spTree>
    <p:extLst>
      <p:ext uri="{BB962C8B-B14F-4D97-AF65-F5344CB8AC3E}">
        <p14:creationId xmlns:p14="http://schemas.microsoft.com/office/powerpoint/2010/main" val="4020773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servers</a:t>
            </a:r>
            <a:endParaRPr lang="en-IN" dirty="0"/>
          </a:p>
        </p:txBody>
      </p:sp>
      <p:sp>
        <p:nvSpPr>
          <p:cNvPr id="3" name="Content Placeholder 2"/>
          <p:cNvSpPr>
            <a:spLocks noGrp="1"/>
          </p:cNvSpPr>
          <p:nvPr>
            <p:ph idx="1"/>
          </p:nvPr>
        </p:nvSpPr>
        <p:spPr/>
        <p:txBody>
          <a:bodyPr>
            <a:normAutofit fontScale="92500"/>
          </a:bodyPr>
          <a:lstStyle/>
          <a:p>
            <a:r>
              <a:rPr lang="en-US" dirty="0"/>
              <a:t> The primary function of a data server is to store data and provide access to the other systems. The basic access mechanism is to use query languages like SQL. The basic structures of query languages are similar with some variations depending upon the data system. A data system takes queries as input and converts it into a form understandable by the database, and then executes it to produce the desired output. Some of the widely used database servers include Oracle, SQL Server and DB2.</a:t>
            </a:r>
            <a:endParaRPr lang="en-IN" dirty="0"/>
          </a:p>
        </p:txBody>
      </p:sp>
    </p:spTree>
    <p:extLst>
      <p:ext uri="{BB962C8B-B14F-4D97-AF65-F5344CB8AC3E}">
        <p14:creationId xmlns:p14="http://schemas.microsoft.com/office/powerpoint/2010/main" val="30278561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What is a cloud server</a:t>
            </a:r>
            <a:r>
              <a:rPr lang="en-US" smtClean="0"/>
              <a:t>?</a:t>
            </a:r>
            <a:endParaRPr lang="en-IN"/>
          </a:p>
        </p:txBody>
      </p:sp>
      <p:sp>
        <p:nvSpPr>
          <p:cNvPr id="3" name="Content Placeholder 2"/>
          <p:cNvSpPr>
            <a:spLocks noGrp="1"/>
          </p:cNvSpPr>
          <p:nvPr>
            <p:ph idx="1"/>
          </p:nvPr>
        </p:nvSpPr>
        <p:spPr/>
        <p:txBody>
          <a:bodyPr/>
          <a:lstStyle/>
          <a:p>
            <a:r>
              <a:rPr lang="en-US" dirty="0"/>
              <a:t>A cloud server is powerful physical or virtual infrastructure that performs application- and information-processing storage. Cloud servers are created using </a:t>
            </a:r>
            <a:r>
              <a:rPr lang="en-US" dirty="0">
                <a:hlinkClick r:id="rId2"/>
              </a:rPr>
              <a:t>virtualization</a:t>
            </a:r>
            <a:r>
              <a:rPr lang="en-US" dirty="0"/>
              <a:t> software to divide a physical (bare metal) server into multiple virtual servers. Organizations use an </a:t>
            </a:r>
            <a:r>
              <a:rPr lang="en-US" dirty="0">
                <a:hlinkClick r:id="rId3"/>
              </a:rPr>
              <a:t>infrastructure-as-a-service (IaaS)</a:t>
            </a:r>
            <a:r>
              <a:rPr lang="en-US" dirty="0"/>
              <a:t> model to process workloads and store information. They can access virtual server functions remotely through an online interface.</a:t>
            </a:r>
            <a:endParaRPr lang="en-IN" dirty="0"/>
          </a:p>
        </p:txBody>
      </p:sp>
    </p:spTree>
    <p:extLst>
      <p:ext uri="{BB962C8B-B14F-4D97-AF65-F5344CB8AC3E}">
        <p14:creationId xmlns:p14="http://schemas.microsoft.com/office/powerpoint/2010/main" val="18146959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IN" dirty="0"/>
          </a:p>
        </p:txBody>
      </p:sp>
      <p:sp>
        <p:nvSpPr>
          <p:cNvPr id="3" name="Content Placeholder 2"/>
          <p:cNvSpPr>
            <a:spLocks noGrp="1"/>
          </p:cNvSpPr>
          <p:nvPr>
            <p:ph idx="1"/>
          </p:nvPr>
        </p:nvSpPr>
        <p:spPr/>
        <p:txBody>
          <a:bodyPr/>
          <a:lstStyle/>
          <a:p>
            <a:pPr marL="457200" indent="-457200">
              <a:buAutoNum type="arabicPeriod"/>
            </a:pPr>
            <a:r>
              <a:rPr lang="en-US" dirty="0" smtClean="0"/>
              <a:t>Enlist various Application of DBMS</a:t>
            </a:r>
          </a:p>
          <a:p>
            <a:pPr marL="457200" indent="-457200">
              <a:buAutoNum type="arabicPeriod"/>
            </a:pPr>
            <a:r>
              <a:rPr lang="en-US" dirty="0" smtClean="0"/>
              <a:t>Define data Schema and instance </a:t>
            </a:r>
            <a:endParaRPr lang="en-IN" dirty="0"/>
          </a:p>
        </p:txBody>
      </p:sp>
    </p:spTree>
    <p:extLst>
      <p:ext uri="{BB962C8B-B14F-4D97-AF65-F5344CB8AC3E}">
        <p14:creationId xmlns:p14="http://schemas.microsoft.com/office/powerpoint/2010/main" val="2618554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1077</TotalTime>
  <Words>3336</Words>
  <Application>Microsoft Office PowerPoint</Application>
  <PresentationFormat>On-screen Show (4:3)</PresentationFormat>
  <Paragraphs>347</Paragraphs>
  <Slides>75</Slides>
  <Notes>4</Notes>
  <HiddenSlides>0</HiddenSlides>
  <MMClips>0</MMClips>
  <ScaleCrop>false</ScaleCrop>
  <HeadingPairs>
    <vt:vector size="4" baseType="variant">
      <vt:variant>
        <vt:lpstr>Theme</vt:lpstr>
      </vt:variant>
      <vt:variant>
        <vt:i4>1</vt:i4>
      </vt:variant>
      <vt:variant>
        <vt:lpstr>Slide Titles</vt:lpstr>
      </vt:variant>
      <vt:variant>
        <vt:i4>75</vt:i4>
      </vt:variant>
    </vt:vector>
  </HeadingPairs>
  <TitlesOfParts>
    <vt:vector size="76" baseType="lpstr">
      <vt:lpstr>Office Theme</vt:lpstr>
      <vt:lpstr>UNIT 1 </vt:lpstr>
      <vt:lpstr>PowerPoint Presentation</vt:lpstr>
      <vt:lpstr>Contents:  Principle of Layering concept :-Introduction DBMS – Concepts &amp; Architectures 1.1 Database and Need for DBMS, Characteristics of DBMS 1.2 Database 3-tier schema (ANSI/SPARC) and system architecture of DBMS 1.3 Views of data- Schemas and instances, Data Independence 1.4 Centralized, Client-Server system, Transaction servers, Data servers, Cloud based servers</vt:lpstr>
      <vt:lpstr>Introduction DBMS </vt:lpstr>
      <vt:lpstr>What is Database?</vt:lpstr>
      <vt:lpstr>What is Database? (cont…)</vt:lpstr>
      <vt:lpstr>Evolution of Databases</vt:lpstr>
      <vt:lpstr>Evolution of Databases (cont…)</vt:lpstr>
      <vt:lpstr>Evolution of Databases (cont…)</vt:lpstr>
      <vt:lpstr>Evolution of Databases (cont…)</vt:lpstr>
      <vt:lpstr>Evolution of Databases (cont…)</vt:lpstr>
      <vt:lpstr>Evolution of Databases (cont…)</vt:lpstr>
      <vt:lpstr>Need for DBMS</vt:lpstr>
      <vt:lpstr>Need for DBMS (cont…)</vt:lpstr>
      <vt:lpstr>Need for DBMS (cont…)</vt:lpstr>
      <vt:lpstr>Need for DBMS (cont…)</vt:lpstr>
      <vt:lpstr>Need for DBMS (cont…)</vt:lpstr>
      <vt:lpstr>Characteristics of  DBMS</vt:lpstr>
      <vt:lpstr>Characteristics of  DBMS(cont…)</vt:lpstr>
      <vt:lpstr>Function of DBMS  </vt:lpstr>
      <vt:lpstr>Database Languages</vt:lpstr>
      <vt:lpstr>Database Languages (cont…)</vt:lpstr>
      <vt:lpstr>Database Languages (cont…)</vt:lpstr>
      <vt:lpstr>Database Languages (cont…)</vt:lpstr>
      <vt:lpstr>Database Languages (cont…)</vt:lpstr>
      <vt:lpstr>Database 3-tier schema (ANSI/SPARC) and system architecture of DBMS</vt:lpstr>
      <vt:lpstr>Database 3-tier schema (ANSI/SPARC) and system architecture of DBMS</vt:lpstr>
      <vt:lpstr>Database 3-tier schema (ANSI/SPARC) and system architecture of DBMS</vt:lpstr>
      <vt:lpstr>Database 3-tier schema (ANSI/SPARC) and system architecture of DBMS</vt:lpstr>
      <vt:lpstr>Database 3-tier schema (ANSI/SPARC) and system architecture of DBMS</vt:lpstr>
      <vt:lpstr>Database 3-tier schema (ANSI/SPARC) and system architecture of DBMS</vt:lpstr>
      <vt:lpstr>Database 3-tier schema (ANSI/SPARC) and system architecture of DBMS</vt:lpstr>
      <vt:lpstr>Database 3-tier schema (ANSI/SPARC) and system architecture of DBMS</vt:lpstr>
      <vt:lpstr>Types of DBMS Architecture</vt:lpstr>
      <vt:lpstr>1-Tier Architecture</vt:lpstr>
      <vt:lpstr>2-Tier Architecture</vt:lpstr>
      <vt:lpstr>3-Tier Architecture</vt:lpstr>
      <vt:lpstr>2-Tier Architecture</vt:lpstr>
      <vt:lpstr>3-Tier Architecture</vt:lpstr>
      <vt:lpstr>View of Data in DBMS</vt:lpstr>
      <vt:lpstr>View of Data in DBMS</vt:lpstr>
      <vt:lpstr>Data Abstraction in DBMS</vt:lpstr>
      <vt:lpstr>Data Abstraction in DBMS (Cont..)</vt:lpstr>
      <vt:lpstr>Data Abstraction in DBMS (Cont..)</vt:lpstr>
      <vt:lpstr>Data Abstraction in DBMS (Cont..)</vt:lpstr>
      <vt:lpstr>Instance and schema in DBMS</vt:lpstr>
      <vt:lpstr>Instance and schema in DBMS(cont…)</vt:lpstr>
      <vt:lpstr>Instance and schema in DBMS(cont…)</vt:lpstr>
      <vt:lpstr>DBMS Instance</vt:lpstr>
      <vt:lpstr>DBMS Instance(cont…)</vt:lpstr>
      <vt:lpstr>Data Independence</vt:lpstr>
      <vt:lpstr>Data Independence</vt:lpstr>
      <vt:lpstr>Data Independence (cont…)</vt:lpstr>
      <vt:lpstr>Centralized DBMSs Architecture</vt:lpstr>
      <vt:lpstr>Centralized DBMSs Architecture (cont…)</vt:lpstr>
      <vt:lpstr>Centralized DBMSs Architecture (cont…)</vt:lpstr>
      <vt:lpstr>Centralized DBMSs Architecture (cont…)</vt:lpstr>
      <vt:lpstr>Client-Server Architecture</vt:lpstr>
      <vt:lpstr>Client-Server Architecture (cont..)</vt:lpstr>
      <vt:lpstr>Client-Server Architecture (cont..)</vt:lpstr>
      <vt:lpstr>Client-Server Architecture (cont..)</vt:lpstr>
      <vt:lpstr>Client-Server Architecture (cont..)</vt:lpstr>
      <vt:lpstr>Client-Server Architecture (cont..)</vt:lpstr>
      <vt:lpstr>Client-Server Architecture (cont..)</vt:lpstr>
      <vt:lpstr>Client-Server Architecture (cont..)</vt:lpstr>
      <vt:lpstr>Client-Server Architecture (cont..)</vt:lpstr>
      <vt:lpstr>Client-Server Architecture (cont..)</vt:lpstr>
      <vt:lpstr>Client-Server Architecture (cont..)</vt:lpstr>
      <vt:lpstr>Advantages of Client-Server Architecture </vt:lpstr>
      <vt:lpstr>Disadvantages of Client-Server Architecture</vt:lpstr>
      <vt:lpstr>Examples of Client-Server Architecture</vt:lpstr>
      <vt:lpstr>Data servers</vt:lpstr>
      <vt:lpstr>Data servers</vt:lpstr>
      <vt:lpstr>What is a cloud server?</vt:lpstr>
      <vt:lpstr>Questions</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nishant</dc:creator>
  <cp:lastModifiedBy>nishant</cp:lastModifiedBy>
  <cp:revision>44</cp:revision>
  <dcterms:created xsi:type="dcterms:W3CDTF">2022-05-13T10:56:50Z</dcterms:created>
  <dcterms:modified xsi:type="dcterms:W3CDTF">2022-07-04T11:35:18Z</dcterms:modified>
</cp:coreProperties>
</file>