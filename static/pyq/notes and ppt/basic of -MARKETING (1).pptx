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marketing91.com/heterogeneity-in-service-marketing/" TargetMode="External"/><Relationship Id="rId3" Type="http://schemas.openxmlformats.org/officeDocument/2006/relationships/hyperlink" Target="http://www.marketing91.com/perishability-services-marketing/" TargetMode="External"/><Relationship Id="rId4" Type="http://schemas.openxmlformats.org/officeDocument/2006/relationships/hyperlink" Target="http://www.marketing91.com/ownership-service-marketing/" TargetMode="External"/><Relationship Id="rId5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50135" y="891285"/>
            <a:ext cx="3070860" cy="5791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999490">
              <a:lnSpc>
                <a:spcPct val="101699"/>
              </a:lnSpc>
              <a:spcBef>
                <a:spcPts val="6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CHAPTER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INTRODUCTION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MARKETING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1793493"/>
            <a:ext cx="5970270" cy="5387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DEFINITION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OF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MARKETING</a:t>
            </a:r>
            <a:endParaRPr sz="1200">
              <a:latin typeface="Calibri"/>
              <a:cs typeface="Calibri"/>
            </a:endParaRPr>
          </a:p>
          <a:p>
            <a:pPr marL="12700" marR="93345">
              <a:lnSpc>
                <a:spcPct val="1167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social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managerial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individuals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obtain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they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exchanging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others.</a:t>
            </a:r>
            <a:endParaRPr sz="1200">
              <a:latin typeface="Calibri"/>
              <a:cs typeface="Calibri"/>
            </a:endParaRPr>
          </a:p>
          <a:p>
            <a:pPr marL="5132705">
              <a:lnSpc>
                <a:spcPct val="100000"/>
              </a:lnSpc>
              <a:spcBef>
                <a:spcPts val="240"/>
              </a:spcBef>
            </a:pPr>
            <a:r>
              <a:rPr dirty="0" sz="1200" b="1">
                <a:latin typeface="Calibri"/>
                <a:cs typeface="Calibri"/>
              </a:rPr>
              <a:t>-Philip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Kotler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CUSTOMER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ORIENTATION</a:t>
            </a:r>
            <a:endParaRPr sz="1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purpose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maintain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satisfied,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profitable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customers.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</a:t>
            </a:r>
            <a:endParaRPr sz="1200">
              <a:latin typeface="Calibri"/>
              <a:cs typeface="Calibri"/>
            </a:endParaRPr>
          </a:p>
          <a:p>
            <a:pPr algn="just" marL="12700" marR="5080">
              <a:lnSpc>
                <a:spcPct val="1167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attracted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retained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met.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companies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today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have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customer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focus </a:t>
            </a:r>
            <a:r>
              <a:rPr dirty="0" sz="1100">
                <a:latin typeface="Calibri"/>
                <a:cs typeface="Calibri"/>
              </a:rPr>
              <a:t>(or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market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orientation).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implies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company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focuses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activities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products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consumer demands.</a:t>
            </a:r>
            <a:endParaRPr sz="11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220"/>
              </a:spcBef>
            </a:pP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stages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orientation</a:t>
            </a:r>
            <a:endParaRPr sz="1200">
              <a:latin typeface="Calibri"/>
              <a:cs typeface="Calibri"/>
            </a:endParaRPr>
          </a:p>
          <a:p>
            <a:pPr algn="just" marL="170180" indent="-157480">
              <a:lnSpc>
                <a:spcPct val="100000"/>
              </a:lnSpc>
              <a:spcBef>
                <a:spcPts val="25"/>
              </a:spcBef>
              <a:buAutoNum type="arabicParenR"/>
              <a:tabLst>
                <a:tab pos="170180" algn="l"/>
              </a:tabLst>
            </a:pPr>
            <a:r>
              <a:rPr dirty="0" sz="1200" spc="-10">
                <a:latin typeface="Calibri"/>
                <a:cs typeface="Calibri"/>
              </a:rPr>
              <a:t>Develop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Development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keeping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mind.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3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oriented.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development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cycle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minimal</a:t>
            </a:r>
            <a:endParaRPr sz="1200">
              <a:latin typeface="Calibri"/>
              <a:cs typeface="Calibri"/>
            </a:endParaRPr>
          </a:p>
          <a:p>
            <a:pPr marL="170180" indent="-157480">
              <a:lnSpc>
                <a:spcPct val="100000"/>
              </a:lnSpc>
              <a:spcBef>
                <a:spcPts val="25"/>
              </a:spcBef>
              <a:buAutoNum type="arabicParenR"/>
              <a:tabLst>
                <a:tab pos="170180" algn="l"/>
              </a:tabLst>
            </a:pPr>
            <a:r>
              <a:rPr dirty="0" sz="1200" spc="-10">
                <a:latin typeface="Calibri"/>
                <a:cs typeface="Calibri"/>
              </a:rPr>
              <a:t>Manufacture</a:t>
            </a:r>
            <a:endParaRPr sz="1200">
              <a:latin typeface="Calibri"/>
              <a:cs typeface="Calibri"/>
            </a:endParaRPr>
          </a:p>
          <a:p>
            <a:pPr lvl="1" marL="469265" marR="111760" indent="-228600">
              <a:lnSpc>
                <a:spcPct val="101699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manufacturing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Quality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compromised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Manufacturing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cycle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reduced</a:t>
            </a:r>
            <a:endParaRPr sz="1200">
              <a:latin typeface="Calibri"/>
              <a:cs typeface="Calibri"/>
            </a:endParaRPr>
          </a:p>
          <a:p>
            <a:pPr marL="170180" indent="-157480">
              <a:lnSpc>
                <a:spcPct val="100000"/>
              </a:lnSpc>
              <a:spcBef>
                <a:spcPts val="20"/>
              </a:spcBef>
              <a:buAutoNum type="arabicParenR"/>
              <a:tabLst>
                <a:tab pos="170180" algn="l"/>
              </a:tabLst>
            </a:pPr>
            <a:r>
              <a:rPr dirty="0" sz="1200" spc="-10">
                <a:latin typeface="Calibri"/>
                <a:cs typeface="Calibri"/>
              </a:rPr>
              <a:t>Market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Identifying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targeting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Processing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demand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early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possible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Customization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market</a:t>
            </a:r>
            <a:endParaRPr sz="1200">
              <a:latin typeface="Calibri"/>
              <a:cs typeface="Calibri"/>
            </a:endParaRPr>
          </a:p>
          <a:p>
            <a:pPr marL="170180" indent="-157480">
              <a:lnSpc>
                <a:spcPct val="100000"/>
              </a:lnSpc>
              <a:spcBef>
                <a:spcPts val="25"/>
              </a:spcBef>
              <a:buAutoNum type="arabicParenR"/>
              <a:tabLst>
                <a:tab pos="170180" algn="l"/>
              </a:tabLst>
            </a:pPr>
            <a:r>
              <a:rPr dirty="0" sz="1200" spc="-10">
                <a:latin typeface="Calibri"/>
                <a:cs typeface="Calibri"/>
              </a:rPr>
              <a:t>Deliver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Deliver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target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Reduce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time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money</a:t>
            </a:r>
            <a:r>
              <a:rPr dirty="0" sz="1200" spc="-10">
                <a:latin typeface="Calibri"/>
                <a:cs typeface="Calibri"/>
              </a:rPr>
              <a:t> products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37814" y="894080"/>
            <a:ext cx="20961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CORE</a:t>
            </a:r>
            <a:r>
              <a:rPr dirty="0" u="sng" sz="12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CONCEPTS</a:t>
            </a:r>
            <a:r>
              <a:rPr dirty="0" u="sng" sz="12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1200" spc="-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MARKETING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3864991"/>
            <a:ext cx="5742940" cy="518668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 spc="-10" b="1">
                <a:latin typeface="Calibri"/>
                <a:cs typeface="Calibri"/>
              </a:rPr>
              <a:t>NEEDS</a:t>
            </a:r>
            <a:endParaRPr sz="1200">
              <a:latin typeface="Calibri"/>
              <a:cs typeface="Calibri"/>
            </a:endParaRPr>
          </a:p>
          <a:p>
            <a:pPr algn="just" marL="240665" marR="5080">
              <a:lnSpc>
                <a:spcPct val="1171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what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require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live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healthy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life.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are </a:t>
            </a:r>
            <a:r>
              <a:rPr dirty="0" sz="1200">
                <a:latin typeface="Calibri"/>
                <a:cs typeface="Calibri"/>
              </a:rPr>
              <a:t>in-built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us.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e.g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good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food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eat,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fresh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air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breathe,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clean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water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drink.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 grow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 develop 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our </a:t>
            </a:r>
            <a:r>
              <a:rPr dirty="0" sz="1200">
                <a:latin typeface="Calibri"/>
                <a:cs typeface="Calibri"/>
              </a:rPr>
              <a:t>requirements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maturity.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acquired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needs.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E.g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need </a:t>
            </a:r>
            <a:r>
              <a:rPr dirty="0" sz="1200">
                <a:latin typeface="Calibri"/>
                <a:cs typeface="Calibri"/>
              </a:rPr>
              <a:t>love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family,friendship,etc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 spc="-10" b="1">
                <a:latin typeface="Calibri"/>
                <a:cs typeface="Calibri"/>
              </a:rPr>
              <a:t>WANTS</a:t>
            </a:r>
            <a:endParaRPr sz="1200">
              <a:latin typeface="Calibri"/>
              <a:cs typeface="Calibri"/>
            </a:endParaRPr>
          </a:p>
          <a:p>
            <a:pPr algn="just" marL="240665" marR="7620">
              <a:lnSpc>
                <a:spcPct val="1169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Wants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our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expression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satisfaction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needs.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situations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encounter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our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lives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different.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family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background,literacy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level,attitude,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thinking </a:t>
            </a:r>
            <a:r>
              <a:rPr dirty="0" sz="1200">
                <a:latin typeface="Calibri"/>
                <a:cs typeface="Calibri"/>
              </a:rPr>
              <a:t>pattern,social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status,etc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different.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Hence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though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our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same,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satisfy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different.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 spc="-10" b="1">
                <a:latin typeface="Calibri"/>
                <a:cs typeface="Calibri"/>
              </a:rPr>
              <a:t>DEMAND</a:t>
            </a:r>
            <a:endParaRPr sz="1200">
              <a:latin typeface="Calibri"/>
              <a:cs typeface="Calibri"/>
            </a:endParaRPr>
          </a:p>
          <a:p>
            <a:pPr algn="just" marL="240665" marR="6350">
              <a:lnSpc>
                <a:spcPct val="1171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Demand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willingness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satisfy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supported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ability.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term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demand </a:t>
            </a:r>
            <a:r>
              <a:rPr dirty="0" sz="1200">
                <a:latin typeface="Calibri"/>
                <a:cs typeface="Calibri"/>
              </a:rPr>
              <a:t>signifies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ability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willingness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buy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particular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commodity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time.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 spc="-10" b="1">
                <a:latin typeface="Calibri"/>
                <a:cs typeface="Calibri"/>
              </a:rPr>
              <a:t>PRODUCT</a:t>
            </a:r>
            <a:endParaRPr sz="1200">
              <a:latin typeface="Calibri"/>
              <a:cs typeface="Calibri"/>
            </a:endParaRPr>
          </a:p>
          <a:p>
            <a:pPr algn="just" marL="240665" marR="5715">
              <a:lnSpc>
                <a:spcPct val="1167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anything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offered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attention,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acquisition,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consumption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might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satisfy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wants.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belonging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following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categories: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54"/>
              </a:spcBef>
              <a:buChar char="-"/>
              <a:tabLst>
                <a:tab pos="697865" algn="l"/>
              </a:tabLst>
            </a:pPr>
            <a:r>
              <a:rPr dirty="0" sz="1200" spc="-10">
                <a:latin typeface="Calibri"/>
                <a:cs typeface="Calibri"/>
              </a:rPr>
              <a:t>Goods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697865" algn="l"/>
              </a:tabLst>
            </a:pPr>
            <a:r>
              <a:rPr dirty="0" sz="1200" spc="-10">
                <a:latin typeface="Calibri"/>
                <a:cs typeface="Calibri"/>
              </a:rPr>
              <a:t>Services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50"/>
              </a:spcBef>
              <a:buChar char="-"/>
              <a:tabLst>
                <a:tab pos="697865" algn="l"/>
              </a:tabLst>
            </a:pPr>
            <a:r>
              <a:rPr dirty="0" sz="1200" spc="-10">
                <a:latin typeface="Calibri"/>
                <a:cs typeface="Calibri"/>
              </a:rPr>
              <a:t>Events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697865" algn="l"/>
              </a:tabLst>
            </a:pPr>
            <a:r>
              <a:rPr dirty="0" sz="1200" spc="-10">
                <a:latin typeface="Calibri"/>
                <a:cs typeface="Calibri"/>
              </a:rPr>
              <a:t>Experiences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697865" algn="l"/>
              </a:tabLst>
            </a:pPr>
            <a:r>
              <a:rPr dirty="0" sz="1200" spc="-10">
                <a:latin typeface="Calibri"/>
                <a:cs typeface="Calibri"/>
              </a:rPr>
              <a:t>Persons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7859" y="1266444"/>
            <a:ext cx="2633231" cy="2293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63347"/>
            <a:ext cx="5734685" cy="1958339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697865" indent="-228600">
              <a:lnSpc>
                <a:spcPct val="100000"/>
              </a:lnSpc>
              <a:spcBef>
                <a:spcPts val="340"/>
              </a:spcBef>
              <a:buChar char="-"/>
              <a:tabLst>
                <a:tab pos="697865" algn="l"/>
              </a:tabLst>
            </a:pPr>
            <a:r>
              <a:rPr dirty="0" sz="1200" spc="-10">
                <a:latin typeface="Calibri"/>
                <a:cs typeface="Calibri"/>
              </a:rPr>
              <a:t>Places</a:t>
            </a:r>
            <a:endParaRPr sz="1200">
              <a:latin typeface="Calibri"/>
              <a:cs typeface="Calibri"/>
            </a:endParaRPr>
          </a:p>
          <a:p>
            <a:pPr marL="697865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697865" algn="l"/>
              </a:tabLst>
            </a:pPr>
            <a:r>
              <a:rPr dirty="0" sz="1200" spc="-10">
                <a:latin typeface="Calibri"/>
                <a:cs typeface="Calibri"/>
              </a:rPr>
              <a:t>Properties</a:t>
            </a:r>
            <a:endParaRPr sz="1200">
              <a:latin typeface="Calibri"/>
              <a:cs typeface="Calibri"/>
            </a:endParaRPr>
          </a:p>
          <a:p>
            <a:pPr marL="697865" indent="-228600">
              <a:lnSpc>
                <a:spcPct val="100000"/>
              </a:lnSpc>
              <a:spcBef>
                <a:spcPts val="254"/>
              </a:spcBef>
              <a:buChar char="-"/>
              <a:tabLst>
                <a:tab pos="697865" algn="l"/>
              </a:tabLst>
            </a:pPr>
            <a:r>
              <a:rPr dirty="0" sz="1200" spc="-10">
                <a:latin typeface="Calibri"/>
                <a:cs typeface="Calibri"/>
              </a:rPr>
              <a:t>Organizations</a:t>
            </a:r>
            <a:endParaRPr sz="1200">
              <a:latin typeface="Calibri"/>
              <a:cs typeface="Calibri"/>
            </a:endParaRPr>
          </a:p>
          <a:p>
            <a:pPr marL="697865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697865" algn="l"/>
              </a:tabLst>
            </a:pPr>
            <a:r>
              <a:rPr dirty="0" sz="1200" spc="-10">
                <a:latin typeface="Calibri"/>
                <a:cs typeface="Calibri"/>
              </a:rPr>
              <a:t>Information</a:t>
            </a:r>
            <a:endParaRPr sz="1200">
              <a:latin typeface="Calibri"/>
              <a:cs typeface="Calibri"/>
            </a:endParaRPr>
          </a:p>
          <a:p>
            <a:pPr marL="697865" indent="-228600">
              <a:lnSpc>
                <a:spcPct val="100000"/>
              </a:lnSpc>
              <a:spcBef>
                <a:spcPts val="250"/>
              </a:spcBef>
              <a:buChar char="-"/>
              <a:tabLst>
                <a:tab pos="697865" algn="l"/>
              </a:tabLst>
            </a:pPr>
            <a:r>
              <a:rPr dirty="0" sz="1200" spc="-10">
                <a:latin typeface="Calibri"/>
                <a:cs typeface="Calibri"/>
              </a:rPr>
              <a:t>Ideas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200" spc="-10" b="1">
                <a:latin typeface="Calibri"/>
                <a:cs typeface="Calibri"/>
              </a:rPr>
              <a:t>VALUE</a:t>
            </a:r>
            <a:endParaRPr sz="1200">
              <a:latin typeface="Calibri"/>
              <a:cs typeface="Calibri"/>
            </a:endParaRPr>
          </a:p>
          <a:p>
            <a:pPr marL="240665" marR="5080">
              <a:lnSpc>
                <a:spcPct val="1167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refers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difference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benefit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derives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acquiring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81430" y="3042031"/>
            <a:ext cx="1275715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6180" algn="l"/>
              </a:tabLst>
            </a:pP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Benefits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598805">
              <a:lnSpc>
                <a:spcPct val="100000"/>
              </a:lnSpc>
              <a:spcBef>
                <a:spcPts val="20"/>
              </a:spcBef>
            </a:pPr>
            <a:r>
              <a:rPr dirty="0" sz="1200" spc="-10">
                <a:latin typeface="Calibri"/>
                <a:cs typeface="Calibri"/>
              </a:rPr>
              <a:t>Costs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80543" y="3042031"/>
            <a:ext cx="3615690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3055">
              <a:lnSpc>
                <a:spcPct val="100000"/>
              </a:lnSpc>
              <a:spcBef>
                <a:spcPts val="100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Functional</a:t>
            </a:r>
            <a:r>
              <a:rPr dirty="0" u="sng" sz="1200" spc="-6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Benefits+</a:t>
            </a:r>
            <a:r>
              <a:rPr dirty="0" u="sng" sz="1200" spc="-5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Emotional</a:t>
            </a:r>
            <a:r>
              <a:rPr dirty="0" u="sng" sz="1200" spc="-5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Benefits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Monetary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+Time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Costs+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Energy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Costs+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Psychic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Costs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0604" y="3598291"/>
            <a:ext cx="5742305" cy="532066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4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20" b="1">
                <a:latin typeface="Calibri"/>
                <a:cs typeface="Calibri"/>
              </a:rPr>
              <a:t>COST</a:t>
            </a:r>
            <a:endParaRPr sz="1200">
              <a:latin typeface="Calibri"/>
              <a:cs typeface="Calibri"/>
            </a:endParaRPr>
          </a:p>
          <a:p>
            <a:pPr marL="240665" marR="6985">
              <a:lnSpc>
                <a:spcPct val="116700"/>
              </a:lnSpc>
            </a:pP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combination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economic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non-economic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investment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 makes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acquire,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consume,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maintain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disperse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product.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following</a:t>
            </a:r>
            <a:endParaRPr sz="1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250"/>
              </a:spcBef>
            </a:pP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various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customers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consider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before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purchase.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cost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50"/>
              </a:spcBef>
              <a:buChar char="-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Monetary</a:t>
            </a:r>
            <a:r>
              <a:rPr dirty="0" sz="1200" spc="-20">
                <a:latin typeface="Calibri"/>
                <a:cs typeface="Calibri"/>
              </a:rPr>
              <a:t> cost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0">
                <a:latin typeface="Calibri"/>
                <a:cs typeface="Calibri"/>
              </a:rPr>
              <a:t> cost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Energy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cost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54"/>
              </a:spcBef>
              <a:buChar char="-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Psychic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cost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Energy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cost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65"/>
              </a:spcBef>
              <a:buFont typeface="Calibri"/>
              <a:buChar char="-"/>
            </a:pP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 b="1">
                <a:latin typeface="Calibri"/>
                <a:cs typeface="Calibri"/>
              </a:rPr>
              <a:t>SATISFACTION</a:t>
            </a:r>
            <a:endParaRPr sz="1200">
              <a:latin typeface="Calibri"/>
              <a:cs typeface="Calibri"/>
            </a:endParaRPr>
          </a:p>
          <a:p>
            <a:pPr algn="just" marL="240665" marR="5080">
              <a:lnSpc>
                <a:spcPct val="116700"/>
              </a:lnSpc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is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the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gratification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8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fulfillment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of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need,</a:t>
            </a:r>
            <a:r>
              <a:rPr dirty="0" sz="1200" spc="-8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desire</a:t>
            </a:r>
            <a:r>
              <a:rPr dirty="0" sz="1200" spc="-8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appetite.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7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</a:t>
            </a:r>
            <a:r>
              <a:rPr dirty="0" sz="1100">
                <a:latin typeface="Calibri"/>
                <a:cs typeface="Calibri"/>
              </a:rPr>
              <a:t>easure</a:t>
            </a:r>
            <a:r>
              <a:rPr dirty="0" sz="1100" spc="-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6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how</a:t>
            </a:r>
            <a:r>
              <a:rPr dirty="0" sz="1100" spc="-7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 an</a:t>
            </a:r>
            <a:r>
              <a:rPr dirty="0" sz="1100">
                <a:latin typeface="Calibri"/>
                <a:cs typeface="Calibri"/>
              </a:rPr>
              <a:t>d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services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supplied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by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company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meet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surpass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customer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expectation.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is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seen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 spc="-15">
                <a:latin typeface="Calibri"/>
                <a:cs typeface="Calibri"/>
              </a:rPr>
              <a:t>key</a:t>
            </a:r>
            <a:r>
              <a:rPr dirty="0" sz="1100" spc="-5">
                <a:latin typeface="Calibri"/>
                <a:cs typeface="Calibri"/>
              </a:rPr>
              <a:t> performance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indicator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within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 b="1">
                <a:latin typeface="Calibri"/>
                <a:cs typeface="Calibri"/>
              </a:rPr>
              <a:t>EXCHANGE</a:t>
            </a:r>
            <a:endParaRPr sz="1200">
              <a:latin typeface="Calibri"/>
              <a:cs typeface="Calibri"/>
            </a:endParaRPr>
          </a:p>
          <a:p>
            <a:pPr marL="240665" marR="11430">
              <a:lnSpc>
                <a:spcPts val="1680"/>
              </a:lnSpc>
              <a:spcBef>
                <a:spcPts val="95"/>
              </a:spcBef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obtaining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desired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someone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offering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something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return.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exchange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following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conditions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satisfied.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160"/>
              </a:spcBef>
              <a:buChar char="-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parties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something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party</a:t>
            </a:r>
            <a:endParaRPr sz="12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250"/>
              </a:spcBef>
            </a:pPr>
            <a:r>
              <a:rPr dirty="0" sz="1200" spc="-50"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 b="1">
                <a:latin typeface="Calibri"/>
                <a:cs typeface="Calibri"/>
              </a:rPr>
              <a:t>TRANSACTION</a:t>
            </a:r>
            <a:endParaRPr sz="1200">
              <a:latin typeface="Calibri"/>
              <a:cs typeface="Calibri"/>
            </a:endParaRPr>
          </a:p>
          <a:p>
            <a:pPr marL="240665" marR="10160">
              <a:lnSpc>
                <a:spcPts val="1689"/>
              </a:lnSpc>
              <a:spcBef>
                <a:spcPts val="90"/>
              </a:spcBef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parties.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Transaction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soon</a:t>
            </a:r>
            <a:r>
              <a:rPr dirty="0" sz="1200" spc="-25">
                <a:latin typeface="Calibri"/>
                <a:cs typeface="Calibri"/>
              </a:rPr>
              <a:t> as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agreement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reached.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exchange.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63347"/>
            <a:ext cx="5739765" cy="387604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4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 b="1">
                <a:latin typeface="Calibri"/>
                <a:cs typeface="Calibri"/>
              </a:rPr>
              <a:t>MARKET</a:t>
            </a:r>
            <a:endParaRPr sz="1200">
              <a:latin typeface="Calibri"/>
              <a:cs typeface="Calibri"/>
            </a:endParaRPr>
          </a:p>
          <a:p>
            <a:pPr algn="just" marL="240665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</a:t>
            </a:r>
            <a:r>
              <a:rPr dirty="0" sz="1200" spc="20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physical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buyers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sellers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gather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buy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sell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goods.</a:t>
            </a:r>
            <a:endParaRPr sz="1200">
              <a:latin typeface="Calibri"/>
              <a:cs typeface="Calibri"/>
            </a:endParaRPr>
          </a:p>
          <a:p>
            <a:pPr algn="just" marL="240665" marR="6985">
              <a:lnSpc>
                <a:spcPct val="1167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Markets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defines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collection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buyers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sellers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transact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particular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class.eg.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money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markets.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Calibri"/>
              <a:cs typeface="Calibri"/>
            </a:endParaRPr>
          </a:p>
          <a:p>
            <a:pPr algn="ctr" marL="229235">
              <a:lnSpc>
                <a:spcPct val="100000"/>
              </a:lnSpc>
            </a:pP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PHILOSOPHIES</a:t>
            </a:r>
            <a:r>
              <a:rPr dirty="0" u="sng" sz="1200" spc="1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1200" spc="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MARKETING</a:t>
            </a:r>
            <a:r>
              <a:rPr dirty="0" u="sng" sz="1200" spc="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Calibri"/>
              <a:cs typeface="Calibri"/>
            </a:endParaRPr>
          </a:p>
          <a:p>
            <a:pPr algn="just" marL="240665" marR="7620">
              <a:lnSpc>
                <a:spcPct val="1167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five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alternative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organizations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conduct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marketing </a:t>
            </a:r>
            <a:r>
              <a:rPr dirty="0" sz="1200">
                <a:latin typeface="Calibri"/>
                <a:cs typeface="Calibri"/>
              </a:rPr>
              <a:t>activities: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production,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selling,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societal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concepts.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Calibri"/>
              <a:cs typeface="Calibri"/>
            </a:endParaRPr>
          </a:p>
          <a:p>
            <a:pPr lvl="1" marL="240665" indent="-113664">
              <a:lnSpc>
                <a:spcPct val="100000"/>
              </a:lnSpc>
              <a:buAutoNum type="romanUcParenR"/>
              <a:tabLst>
                <a:tab pos="240665" algn="l"/>
              </a:tabLst>
            </a:pP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PRODUCTION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CONCEPT</a:t>
            </a:r>
            <a:endParaRPr sz="1200">
              <a:latin typeface="Calibri"/>
              <a:cs typeface="Calibri"/>
            </a:endParaRPr>
          </a:p>
          <a:p>
            <a:pPr algn="just" marL="240665">
              <a:lnSpc>
                <a:spcPct val="100000"/>
              </a:lnSpc>
              <a:spcBef>
                <a:spcPts val="244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production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holds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customers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favor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  <a:p>
            <a:pPr algn="just" marL="240665" marR="8890">
              <a:lnSpc>
                <a:spcPct val="1167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highly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affordable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therefore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focus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improving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production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distribution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efficiency.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useful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when:</a:t>
            </a:r>
            <a:endParaRPr sz="1200">
              <a:latin typeface="Calibri"/>
              <a:cs typeface="Calibri"/>
            </a:endParaRPr>
          </a:p>
          <a:p>
            <a:pPr algn="just" lvl="2" marL="539115" indent="-298450">
              <a:lnSpc>
                <a:spcPct val="100000"/>
              </a:lnSpc>
              <a:spcBef>
                <a:spcPts val="240"/>
              </a:spcBef>
              <a:buAutoNum type="arabicParenR"/>
              <a:tabLst>
                <a:tab pos="539115" algn="l"/>
              </a:tabLst>
            </a:pPr>
            <a:r>
              <a:rPr dirty="0" sz="1200">
                <a:latin typeface="Calibri"/>
                <a:cs typeface="Calibri"/>
              </a:rPr>
              <a:t>Demand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exceeds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supply.</a:t>
            </a:r>
            <a:endParaRPr sz="1200">
              <a:latin typeface="Calibri"/>
              <a:cs typeface="Calibri"/>
            </a:endParaRPr>
          </a:p>
          <a:p>
            <a:pPr algn="just" lvl="2" marL="240665" marR="8890" indent="298450">
              <a:lnSpc>
                <a:spcPct val="116700"/>
              </a:lnSpc>
              <a:spcBef>
                <a:spcPts val="10"/>
              </a:spcBef>
              <a:buAutoNum type="arabicParenR"/>
              <a:tabLst>
                <a:tab pos="539115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product's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improved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productivity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down.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risk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focusing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narrowly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operations.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not </a:t>
            </a:r>
            <a:r>
              <a:rPr dirty="0" sz="1200">
                <a:latin typeface="Calibri"/>
                <a:cs typeface="Calibri"/>
              </a:rPr>
              <a:t>ignore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market.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6657213"/>
            <a:ext cx="5739765" cy="138557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200" b="1">
                <a:latin typeface="Calibri"/>
                <a:cs typeface="Calibri"/>
              </a:rPr>
              <a:t>II)</a:t>
            </a:r>
            <a:r>
              <a:rPr dirty="0" sz="1200" spc="4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PRODUCT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CONCEPT</a:t>
            </a:r>
            <a:endParaRPr sz="1200">
              <a:latin typeface="Calibri"/>
              <a:cs typeface="Calibri"/>
            </a:endParaRPr>
          </a:p>
          <a:p>
            <a:pPr algn="just" marL="240665" marR="5080">
              <a:lnSpc>
                <a:spcPct val="101699"/>
              </a:lnSpc>
              <a:spcBef>
                <a:spcPts val="229"/>
              </a:spcBef>
            </a:pPr>
            <a:r>
              <a:rPr dirty="0" sz="1200" spc="-1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concept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states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that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consumers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favor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offer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quality, </a:t>
            </a:r>
            <a:r>
              <a:rPr dirty="0" sz="1200">
                <a:latin typeface="Calibri"/>
                <a:cs typeface="Calibri"/>
              </a:rPr>
              <a:t>performance,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organization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therefore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devote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energy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making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continuous</a:t>
            </a:r>
            <a:r>
              <a:rPr dirty="0" sz="1200" spc="2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improvements.</a:t>
            </a:r>
            <a:r>
              <a:rPr dirty="0" sz="1200" spc="3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Organizations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practicing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assume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buy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highest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quality,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these </a:t>
            </a:r>
            <a:r>
              <a:rPr dirty="0" sz="1200">
                <a:latin typeface="Calibri"/>
                <a:cs typeface="Calibri"/>
              </a:rPr>
              <a:t>organizations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fail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because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attempt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study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wants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customers.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6326" y="5025487"/>
            <a:ext cx="5303877" cy="1244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2566162"/>
            <a:ext cx="5744210" cy="175577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200" b="1">
                <a:latin typeface="Calibri"/>
                <a:cs typeface="Calibri"/>
              </a:rPr>
              <a:t>III)</a:t>
            </a:r>
            <a:r>
              <a:rPr dirty="0" sz="1200" spc="1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SELLING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CONCEPT</a:t>
            </a:r>
            <a:endParaRPr sz="1200">
              <a:latin typeface="Calibri"/>
              <a:cs typeface="Calibri"/>
            </a:endParaRPr>
          </a:p>
          <a:p>
            <a:pPr algn="just" marL="12700" marR="5080">
              <a:lnSpc>
                <a:spcPct val="101800"/>
              </a:lnSpc>
              <a:spcBef>
                <a:spcPts val="215"/>
              </a:spcBef>
            </a:pPr>
            <a:r>
              <a:rPr dirty="0" sz="1200">
                <a:latin typeface="Calibri"/>
                <a:cs typeface="Calibri"/>
              </a:rPr>
              <a:t>Many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organizations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follow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selling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concept.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selling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concept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idea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consumers </a:t>
            </a:r>
            <a:r>
              <a:rPr dirty="0" sz="1200" spc="-5">
                <a:latin typeface="Calibri"/>
                <a:cs typeface="Calibri"/>
              </a:rPr>
              <a:t>will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not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buy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enough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of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organization's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products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unless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organization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undertakes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5">
                <a:latin typeface="Calibri"/>
                <a:cs typeface="Calibri"/>
              </a:rPr>
              <a:t>large-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scale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selling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and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promotion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effort.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This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concept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 spc="-15">
                <a:latin typeface="Calibri"/>
                <a:cs typeface="Calibri"/>
              </a:rPr>
              <a:t>is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typically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practiced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with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unsought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goods </a:t>
            </a:r>
            <a:r>
              <a:rPr dirty="0" sz="1200" spc="-5">
                <a:latin typeface="Calibri"/>
                <a:cs typeface="Calibri"/>
              </a:rPr>
              <a:t>(those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that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</a:t>
            </a:r>
            <a:r>
              <a:rPr dirty="0" sz="1200" spc="-5">
                <a:latin typeface="Calibri"/>
                <a:cs typeface="Calibri"/>
              </a:rPr>
              <a:t>yer</a:t>
            </a:r>
            <a:r>
              <a:rPr dirty="0" sz="1200">
                <a:latin typeface="Calibri"/>
                <a:cs typeface="Calibri"/>
              </a:rPr>
              <a:t>s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do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not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normally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think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of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</a:t>
            </a:r>
            <a:r>
              <a:rPr dirty="0" sz="1200">
                <a:latin typeface="Calibri"/>
                <a:cs typeface="Calibri"/>
              </a:rPr>
              <a:t>uy</a:t>
            </a:r>
            <a:r>
              <a:rPr dirty="0" sz="1200" spc="-5">
                <a:latin typeface="Calibri"/>
                <a:cs typeface="Calibri"/>
              </a:rPr>
              <a:t>i</a:t>
            </a:r>
            <a:r>
              <a:rPr dirty="0" sz="1200">
                <a:latin typeface="Calibri"/>
                <a:cs typeface="Calibri"/>
              </a:rPr>
              <a:t>n</a:t>
            </a:r>
            <a:r>
              <a:rPr dirty="0" sz="1200" spc="-5">
                <a:latin typeface="Calibri"/>
                <a:cs typeface="Calibri"/>
              </a:rPr>
              <a:t>g</a:t>
            </a:r>
            <a:r>
              <a:rPr dirty="0" sz="1200">
                <a:latin typeface="Calibri"/>
                <a:cs typeface="Calibri"/>
              </a:rPr>
              <a:t>.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be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15">
                <a:latin typeface="Calibri"/>
                <a:cs typeface="Calibri"/>
              </a:rPr>
              <a:t>with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this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concept,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organization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must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be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good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tracking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 spc="-15">
                <a:latin typeface="Calibri"/>
                <a:cs typeface="Calibri"/>
              </a:rPr>
              <a:t>down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the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interested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</a:t>
            </a:r>
            <a:r>
              <a:rPr dirty="0" sz="1200" spc="-5">
                <a:latin typeface="Calibri"/>
                <a:cs typeface="Calibri"/>
              </a:rPr>
              <a:t>yer</a:t>
            </a:r>
            <a:r>
              <a:rPr dirty="0" sz="1200">
                <a:latin typeface="Calibri"/>
                <a:cs typeface="Calibri"/>
              </a:rPr>
              <a:t>.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Industries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</a:t>
            </a:r>
            <a:r>
              <a:rPr dirty="0" sz="1200" spc="-10">
                <a:latin typeface="Calibri"/>
                <a:cs typeface="Calibri"/>
              </a:rPr>
              <a:t>h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use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concept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usually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overcapacity.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Their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aim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is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to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sell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what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make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</a:t>
            </a:r>
            <a:r>
              <a:rPr dirty="0" sz="1200" spc="-10">
                <a:latin typeface="Calibri"/>
                <a:cs typeface="Calibri"/>
              </a:rPr>
              <a:t>a</a:t>
            </a:r>
            <a:r>
              <a:rPr dirty="0" sz="1200">
                <a:latin typeface="Calibri"/>
                <a:cs typeface="Calibri"/>
              </a:rPr>
              <a:t>t</a:t>
            </a:r>
            <a:r>
              <a:rPr dirty="0" sz="1200" spc="-10">
                <a:latin typeface="Calibri"/>
                <a:cs typeface="Calibri"/>
              </a:rPr>
              <a:t>h</a:t>
            </a:r>
            <a:r>
              <a:rPr dirty="0" sz="1200">
                <a:latin typeface="Calibri"/>
                <a:cs typeface="Calibri"/>
              </a:rPr>
              <a:t>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</a:t>
            </a:r>
            <a:r>
              <a:rPr dirty="0" sz="1200" spc="-10">
                <a:latin typeface="Calibri"/>
                <a:cs typeface="Calibri"/>
              </a:rPr>
              <a:t>h</a:t>
            </a:r>
            <a:r>
              <a:rPr dirty="0" sz="1200" spc="-5">
                <a:latin typeface="Calibri"/>
                <a:cs typeface="Calibri"/>
              </a:rPr>
              <a:t>a</a:t>
            </a:r>
            <a:r>
              <a:rPr dirty="0" sz="1200">
                <a:latin typeface="Calibri"/>
                <a:cs typeface="Calibri"/>
              </a:rPr>
              <a:t>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make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5">
                <a:latin typeface="Calibri"/>
                <a:cs typeface="Calibri"/>
              </a:rPr>
              <a:t>what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will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sell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i</a:t>
            </a:r>
            <a:r>
              <a:rPr dirty="0" sz="1200">
                <a:latin typeface="Calibri"/>
                <a:cs typeface="Calibri"/>
              </a:rPr>
              <a:t>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market.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o</a:t>
            </a:r>
            <a:r>
              <a:rPr dirty="0" sz="1200" spc="5">
                <a:latin typeface="Calibri"/>
                <a:cs typeface="Calibri"/>
              </a:rPr>
              <a:t>n</a:t>
            </a:r>
            <a:r>
              <a:rPr dirty="0" sz="1200">
                <a:latin typeface="Calibri"/>
                <a:cs typeface="Calibri"/>
              </a:rPr>
              <a:t>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</a:t>
            </a:r>
            <a:r>
              <a:rPr dirty="0" sz="1200" spc="-5">
                <a:latin typeface="Calibri"/>
                <a:cs typeface="Calibri"/>
              </a:rPr>
              <a:t>ig</a:t>
            </a:r>
            <a:r>
              <a:rPr dirty="0" sz="1200">
                <a:latin typeface="Calibri"/>
                <a:cs typeface="Calibri"/>
              </a:rPr>
              <a:t>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risks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p</a:t>
            </a:r>
            <a:r>
              <a:rPr dirty="0" sz="1200">
                <a:latin typeface="Calibri"/>
                <a:cs typeface="Calibri"/>
              </a:rPr>
              <a:t>p</a:t>
            </a:r>
            <a:r>
              <a:rPr dirty="0" sz="1200" spc="-5">
                <a:latin typeface="Calibri"/>
                <a:cs typeface="Calibri"/>
              </a:rPr>
              <a:t>r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5">
                <a:latin typeface="Calibri"/>
                <a:cs typeface="Calibri"/>
              </a:rPr>
              <a:t>ac</a:t>
            </a:r>
            <a:r>
              <a:rPr dirty="0" sz="1200">
                <a:latin typeface="Calibri"/>
                <a:cs typeface="Calibri"/>
              </a:rPr>
              <a:t>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</a:t>
            </a:r>
            <a:r>
              <a:rPr dirty="0" sz="1200">
                <a:latin typeface="Calibri"/>
                <a:cs typeface="Calibri"/>
              </a:rPr>
              <a:t>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satisfaction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 </a:t>
            </a:r>
            <a:r>
              <a:rPr dirty="0" sz="1200" spc="-10">
                <a:latin typeface="Calibri"/>
                <a:cs typeface="Calibri"/>
              </a:rPr>
              <a:t>customers.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5797677"/>
            <a:ext cx="5742305" cy="323405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40"/>
              </a:spcBef>
              <a:buAutoNum type="romanUcParenR" startAt="4"/>
              <a:tabLst>
                <a:tab pos="240665" algn="l"/>
              </a:tabLst>
            </a:pP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MARKETING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CONCEPT</a:t>
            </a:r>
            <a:endParaRPr sz="1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entire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cycle-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beginning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as</a:t>
            </a:r>
            <a:endParaRPr sz="1200">
              <a:latin typeface="Calibri"/>
              <a:cs typeface="Calibri"/>
            </a:endParaRPr>
          </a:p>
          <a:p>
            <a:pPr algn="just" marL="12700" marR="5080">
              <a:lnSpc>
                <a:spcPct val="1169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cycle.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assumes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determination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consumer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satisfaction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those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wants.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According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concept,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organized </a:t>
            </a:r>
            <a:r>
              <a:rPr dirty="0" sz="1200">
                <a:latin typeface="Calibri"/>
                <a:cs typeface="Calibri"/>
              </a:rPr>
              <a:t>around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3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2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strive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anticipate,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stimulate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3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meet </a:t>
            </a:r>
            <a:r>
              <a:rPr dirty="0" sz="1200">
                <a:latin typeface="Calibri"/>
                <a:cs typeface="Calibri"/>
              </a:rPr>
              <a:t>customer’s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expectations.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AutoNum type="romanUcParenR" startAt="5"/>
              <a:tabLst>
                <a:tab pos="241300" algn="l"/>
              </a:tabLst>
            </a:pP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SOCIETAL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MARKETING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CONCEPT</a:t>
            </a:r>
            <a:endParaRPr sz="1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Societal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marketing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concept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holds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organization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marketing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strategy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by</a:t>
            </a:r>
            <a:endParaRPr sz="1200">
              <a:latin typeface="Calibri"/>
              <a:cs typeface="Calibri"/>
            </a:endParaRPr>
          </a:p>
          <a:p>
            <a:pPr algn="just" marL="12700" marR="8255">
              <a:lnSpc>
                <a:spcPct val="1169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keeping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wants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mind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consider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being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betterment</a:t>
            </a:r>
            <a:r>
              <a:rPr dirty="0" sz="1200" spc="3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3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society.</a:t>
            </a:r>
            <a:r>
              <a:rPr dirty="0" sz="1200" spc="3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3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days</a:t>
            </a:r>
            <a:r>
              <a:rPr dirty="0" sz="1200" spc="3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3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3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3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3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followed</a:t>
            </a:r>
            <a:r>
              <a:rPr dirty="0" sz="1200" spc="3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3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majority</a:t>
            </a:r>
            <a:r>
              <a:rPr dirty="0" sz="1200" spc="38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organizations including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MacDonald’s,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Unilever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and Procter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gamble.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marketing strategy </a:t>
            </a:r>
            <a:r>
              <a:rPr dirty="0" sz="1200">
                <a:latin typeface="Calibri"/>
                <a:cs typeface="Calibri"/>
              </a:rPr>
              <a:t>passes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2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positive</a:t>
            </a:r>
            <a:r>
              <a:rPr dirty="0" sz="1200" spc="2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stakeholder,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partners,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Government,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public.Those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organizations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working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strategy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communicating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8441" y="4486572"/>
            <a:ext cx="5356429" cy="108911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2983" y="1105474"/>
            <a:ext cx="5334918" cy="10747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63347"/>
            <a:ext cx="573659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profits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society.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063367" y="8823147"/>
            <a:ext cx="1645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7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P’S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12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MARKETING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MIX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4811" y="1501139"/>
            <a:ext cx="3352432" cy="266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2814192"/>
            <a:ext cx="5971540" cy="580453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200" spc="-10" b="1">
                <a:latin typeface="Calibri"/>
                <a:cs typeface="Calibri"/>
              </a:rPr>
              <a:t>PRODUCT</a:t>
            </a:r>
            <a:endParaRPr sz="1200">
              <a:latin typeface="Calibri"/>
              <a:cs typeface="Calibri"/>
            </a:endParaRPr>
          </a:p>
          <a:p>
            <a:pPr algn="just" marL="12700" marR="5715" indent="34925">
              <a:lnSpc>
                <a:spcPct val="1169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marketing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mix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intangible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nature.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Like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physical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soap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detergent,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cannot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measured.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Tourism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industry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education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industry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excellent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example.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  <a:hlinkClick r:id="rId2"/>
              </a:rPr>
              <a:t>heterogenous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  <a:hlinkClick r:id="rId3"/>
              </a:rPr>
              <a:t>perishable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cannot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  <a:hlinkClick r:id="rId4"/>
              </a:rPr>
              <a:t>owned</a:t>
            </a:r>
            <a:r>
              <a:rPr dirty="0" sz="1200">
                <a:latin typeface="Calibri"/>
                <a:cs typeface="Calibri"/>
              </a:rPr>
              <a:t>.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thus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care.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0" b="1">
                <a:latin typeface="Calibri"/>
                <a:cs typeface="Calibri"/>
              </a:rPr>
              <a:t>PLACE</a:t>
            </a:r>
            <a:endParaRPr sz="1200">
              <a:latin typeface="Calibri"/>
              <a:cs typeface="Calibri"/>
            </a:endParaRPr>
          </a:p>
          <a:p>
            <a:pPr algn="just" marL="12700" indent="34925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determine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going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located.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best</a:t>
            </a:r>
            <a:endParaRPr sz="1200">
              <a:latin typeface="Calibri"/>
              <a:cs typeface="Calibri"/>
            </a:endParaRPr>
          </a:p>
          <a:p>
            <a:pPr algn="just" marL="12700" marR="8890">
              <a:lnSpc>
                <a:spcPct val="1170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petrol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pump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highway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city.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minimum </a:t>
            </a:r>
            <a:r>
              <a:rPr dirty="0" sz="1200">
                <a:latin typeface="Calibri"/>
                <a:cs typeface="Calibri"/>
              </a:rPr>
              <a:t>traffic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wrong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location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petrol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pump.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Similarly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better </a:t>
            </a:r>
            <a:r>
              <a:rPr dirty="0" sz="1200">
                <a:latin typeface="Calibri"/>
                <a:cs typeface="Calibri"/>
              </a:rPr>
              <a:t>placed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hub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lot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companies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nearby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rather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being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placed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town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rural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area.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PROMOTION</a:t>
            </a:r>
            <a:endParaRPr sz="1200">
              <a:latin typeface="Calibri"/>
              <a:cs typeface="Calibri"/>
            </a:endParaRPr>
          </a:p>
          <a:p>
            <a:pPr algn="just" marL="12700" marR="5715" indent="34925">
              <a:lnSpc>
                <a:spcPct val="1169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Promotions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become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critical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factor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mix.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easy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be </a:t>
            </a:r>
            <a:r>
              <a:rPr dirty="0" sz="1200">
                <a:latin typeface="Calibri"/>
                <a:cs typeface="Calibri"/>
              </a:rPr>
              <a:t>duplicated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hence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generally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brand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sets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apart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counterpart.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lot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banks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telecom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companies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promoting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themselves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rigorously.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that?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because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competition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sector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generally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promotions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necessary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 spc="-10">
                <a:latin typeface="Calibri"/>
                <a:cs typeface="Calibri"/>
              </a:rPr>
              <a:t>survive.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PRICING</a:t>
            </a:r>
            <a:endParaRPr sz="1200">
              <a:latin typeface="Calibri"/>
              <a:cs typeface="Calibri"/>
            </a:endParaRPr>
          </a:p>
          <a:p>
            <a:pPr algn="just" marL="12700" indent="34925">
              <a:lnSpc>
                <a:spcPct val="100000"/>
              </a:lnSpc>
              <a:spcBef>
                <a:spcPts val="244"/>
              </a:spcBef>
            </a:pPr>
            <a:r>
              <a:rPr dirty="0" sz="1200">
                <a:latin typeface="Calibri"/>
                <a:cs typeface="Calibri"/>
              </a:rPr>
              <a:t>Pricing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rather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difficult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products.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algn="just" marL="12700" marR="5080">
              <a:lnSpc>
                <a:spcPct val="1169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restaurant owner,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food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 are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serving.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 will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pay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ambience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customers?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have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music?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Thus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elements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taken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consideration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while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costing.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Generally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pricing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involves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taking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consideration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labor,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material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overhead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costs.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By </a:t>
            </a:r>
            <a:r>
              <a:rPr dirty="0" sz="1200">
                <a:latin typeface="Calibri"/>
                <a:cs typeface="Calibri"/>
              </a:rPr>
              <a:t>adding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profit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pricing.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1160" y="1033272"/>
            <a:ext cx="4285488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3347"/>
            <a:ext cx="5970270" cy="4091304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200" spc="-10" b="1">
                <a:latin typeface="Calibri"/>
                <a:cs typeface="Calibri"/>
              </a:rPr>
              <a:t>PEOPLE</a:t>
            </a:r>
            <a:endParaRPr sz="1200">
              <a:latin typeface="Calibri"/>
              <a:cs typeface="Calibri"/>
            </a:endParaRPr>
          </a:p>
          <a:p>
            <a:pPr algn="just" marL="12700" indent="34925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elements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mix.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</a:t>
            </a:r>
            <a:endParaRPr sz="1200">
              <a:latin typeface="Calibri"/>
              <a:cs typeface="Calibri"/>
            </a:endParaRPr>
          </a:p>
          <a:p>
            <a:pPr algn="just" marL="12700" marR="12065">
              <a:lnSpc>
                <a:spcPct val="1171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engineers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 you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restaurant,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chef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service </a:t>
            </a:r>
            <a:r>
              <a:rPr dirty="0" sz="1200">
                <a:latin typeface="Calibri"/>
                <a:cs typeface="Calibri"/>
              </a:rPr>
              <a:t>staff defines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you. If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 are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banking,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employees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branch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behavior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towards </a:t>
            </a:r>
            <a:r>
              <a:rPr dirty="0" sz="1200">
                <a:latin typeface="Calibri"/>
                <a:cs typeface="Calibri"/>
              </a:rPr>
              <a:t>customers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break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organization.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PROCESS</a:t>
            </a:r>
            <a:endParaRPr sz="1200">
              <a:latin typeface="Calibri"/>
              <a:cs typeface="Calibri"/>
            </a:endParaRPr>
          </a:p>
          <a:p>
            <a:pPr algn="just" marL="12700" marR="7620">
              <a:lnSpc>
                <a:spcPct val="1169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delivered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customer.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Let’s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example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very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good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companies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McDonalds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FedEx.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Both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companies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thrive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reason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confidence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top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it,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demand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deliver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optimally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without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loss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quality.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utmost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importance.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PHYSICAL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EVIDENCE</a:t>
            </a:r>
            <a:endParaRPr sz="1200">
              <a:latin typeface="Calibri"/>
              <a:cs typeface="Calibri"/>
            </a:endParaRPr>
          </a:p>
          <a:p>
            <a:pPr algn="just" marL="12700" indent="34925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said</a:t>
            </a:r>
            <a:r>
              <a:rPr dirty="0" sz="1200" spc="3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before,</a:t>
            </a:r>
            <a:r>
              <a:rPr dirty="0" sz="12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intangible</a:t>
            </a:r>
            <a:r>
              <a:rPr dirty="0" sz="1200" spc="3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3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nature.</a:t>
            </a:r>
            <a:r>
              <a:rPr dirty="0" sz="1200" spc="3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However,</a:t>
            </a:r>
            <a:r>
              <a:rPr dirty="0" sz="1200" spc="3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3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3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better</a:t>
            </a:r>
            <a:r>
              <a:rPr dirty="0" sz="1200" spc="3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</a:t>
            </a:r>
            <a:endParaRPr sz="1200">
              <a:latin typeface="Calibri"/>
              <a:cs typeface="Calibri"/>
            </a:endParaRPr>
          </a:p>
          <a:p>
            <a:pPr algn="just" marL="12700" marR="10160">
              <a:lnSpc>
                <a:spcPct val="11690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experience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tangible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elements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also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</a:t>
            </a:r>
            <a:r>
              <a:rPr dirty="0" sz="1200" spc="-10">
                <a:latin typeface="Calibri"/>
                <a:cs typeface="Calibri"/>
              </a:rPr>
              <a:t>r</a:t>
            </a:r>
            <a:r>
              <a:rPr dirty="0" sz="1200" spc="-5">
                <a:latin typeface="Calibri"/>
                <a:cs typeface="Calibri"/>
              </a:rPr>
              <a:t>e</a:t>
            </a:r>
            <a:r>
              <a:rPr dirty="0" sz="1200">
                <a:latin typeface="Calibri"/>
                <a:cs typeface="Calibri"/>
              </a:rPr>
              <a:t>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with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the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service.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Take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a</a:t>
            </a:r>
            <a:r>
              <a:rPr dirty="0" sz="1200">
                <a:latin typeface="Calibri"/>
                <a:cs typeface="Calibri"/>
              </a:rPr>
              <a:t>n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example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of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restaurant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which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has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5">
                <a:latin typeface="Calibri"/>
                <a:cs typeface="Calibri"/>
              </a:rPr>
              <a:t> chairs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and tables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n</a:t>
            </a:r>
            <a:r>
              <a:rPr dirty="0" sz="1200">
                <a:latin typeface="Calibri"/>
                <a:cs typeface="Calibri"/>
              </a:rPr>
              <a:t>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good</a:t>
            </a:r>
            <a:r>
              <a:rPr dirty="0" sz="1200" spc="-5">
                <a:latin typeface="Calibri"/>
                <a:cs typeface="Calibri"/>
              </a:rPr>
              <a:t> food,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 </a:t>
            </a:r>
            <a:r>
              <a:rPr dirty="0" sz="1200" spc="-5">
                <a:latin typeface="Calibri"/>
                <a:cs typeface="Calibri"/>
              </a:rPr>
              <a:t>restaurant </a:t>
            </a:r>
            <a:r>
              <a:rPr dirty="0" sz="1200" spc="-10">
                <a:latin typeface="Calibri"/>
                <a:cs typeface="Calibri"/>
              </a:rPr>
              <a:t>which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5">
                <a:latin typeface="Calibri"/>
                <a:cs typeface="Calibri"/>
              </a:rPr>
              <a:t>has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ambient lig</a:t>
            </a:r>
            <a:r>
              <a:rPr dirty="0" sz="1200" spc="-10">
                <a:latin typeface="Calibri"/>
                <a:cs typeface="Calibri"/>
              </a:rPr>
              <a:t>h</a:t>
            </a:r>
            <a:r>
              <a:rPr dirty="0" sz="1200">
                <a:latin typeface="Calibri"/>
                <a:cs typeface="Calibri"/>
              </a:rPr>
              <a:t>t</a:t>
            </a:r>
            <a:r>
              <a:rPr dirty="0" sz="1200" spc="-5">
                <a:latin typeface="Calibri"/>
                <a:cs typeface="Calibri"/>
              </a:rPr>
              <a:t>i</a:t>
            </a:r>
            <a:r>
              <a:rPr dirty="0" sz="1200">
                <a:latin typeface="Calibri"/>
                <a:cs typeface="Calibri"/>
              </a:rPr>
              <a:t>ng,</a:t>
            </a:r>
            <a:r>
              <a:rPr dirty="0" sz="1200" spc="-10">
                <a:latin typeface="Calibri"/>
                <a:cs typeface="Calibri"/>
              </a:rPr>
              <a:t> nice</a:t>
            </a:r>
            <a:r>
              <a:rPr dirty="0" sz="1200" spc="-5">
                <a:latin typeface="Calibri"/>
                <a:cs typeface="Calibri"/>
              </a:rPr>
              <a:t> music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along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with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good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seating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arrangement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and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this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also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serves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good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food.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Which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one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will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o</a:t>
            </a:r>
            <a:r>
              <a:rPr dirty="0" sz="1200">
                <a:latin typeface="Calibri"/>
                <a:cs typeface="Calibri"/>
              </a:rPr>
              <a:t>u </a:t>
            </a:r>
            <a:r>
              <a:rPr dirty="0" sz="1200" spc="-5">
                <a:latin typeface="Calibri"/>
                <a:cs typeface="Calibri"/>
              </a:rPr>
              <a:t>prefer? </a:t>
            </a:r>
            <a:r>
              <a:rPr dirty="0" sz="1200" spc="-1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with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 </a:t>
            </a:r>
            <a:r>
              <a:rPr dirty="0" sz="1200" spc="-5">
                <a:latin typeface="Calibri"/>
                <a:cs typeface="Calibri"/>
              </a:rPr>
              <a:t>nice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ambience.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That’s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physical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evidence.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terms:created xsi:type="dcterms:W3CDTF">2024-12-12T11:30:08Z</dcterms:created>
  <dcterms:modified xsi:type="dcterms:W3CDTF">2024-12-12T11:30:08Z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2020-07-31T00:00:00Z</vt:filetime>
  </property>
  <property fmtid="{D5CDD505-2E9C-101B-9397-08002B2CF9AE}" pid="3" name="Creator">
    <vt:lpwstr>Microsoft® Word 2013</vt:lpwstr>
  </property>
  <property fmtid="{D5CDD505-2E9C-101B-9397-08002B2CF9AE}" pid="4" name="LastSaved">
    <vt:filetime>2024-12-12T00:00:00Z</vt:filetime>
  </property>
  <property fmtid="{D5CDD505-2E9C-101B-9397-08002B2CF9AE}" pid="5" name="Producer">
    <vt:lpwstr>Microsoft® Word 2013</vt:lpwstr>
  </property>
</Properties>
</file>