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56" r:id="rId5"/>
    <p:sldId id="261" r:id="rId6"/>
    <p:sldId id="262" r:id="rId7"/>
    <p:sldId id="263" r:id="rId8"/>
    <p:sldId id="264" r:id="rId9"/>
    <p:sldId id="265" r:id="rId10"/>
    <p:sldId id="266" r:id="rId11"/>
    <p:sldId id="268" r:id="rId12"/>
    <p:sldId id="267" r:id="rId13"/>
    <p:sldId id="269"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82" autoAdjust="0"/>
    <p:restoredTop sz="94579" autoAdjust="0"/>
  </p:normalViewPr>
  <p:slideViewPr>
    <p:cSldViewPr>
      <p:cViewPr varScale="1">
        <p:scale>
          <a:sx n="109" d="100"/>
          <a:sy n="109" d="100"/>
        </p:scale>
        <p:origin x="1668"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7828"/>
    </p:cViewPr>
  </p:sorterViewPr>
  <p:notesViewPr>
    <p:cSldViewPr>
      <p:cViewPr varScale="1">
        <p:scale>
          <a:sx n="53" d="100"/>
          <a:sy n="53" d="100"/>
        </p:scale>
        <p:origin x="-289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16D387-EF21-45B6-AA3C-6894DB3B0FE9}" type="datetimeFigureOut">
              <a:rPr lang="en-US" smtClean="0"/>
              <a:pPr/>
              <a:t>5/26/2022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052A5A-0C8F-4A81-A92E-FFA699E934D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8052A5A-0C8F-4A81-A92E-FFA699E934D8}"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BE3E1C-C536-4822-AB4C-668EBF46D2FA}" type="datetime1">
              <a:rPr lang="en-US" smtClean="0"/>
              <a:pPr/>
              <a:t>5/26/2022</a:t>
            </a:fld>
            <a:endParaRPr lang="en-US"/>
          </a:p>
        </p:txBody>
      </p:sp>
      <p:sp>
        <p:nvSpPr>
          <p:cNvPr id="5" name="Footer Placeholder 4"/>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FE317B-4413-4FCE-8687-8BE65728CB93}" type="datetime1">
              <a:rPr lang="en-US" smtClean="0"/>
              <a:pPr/>
              <a:t>5/26/2022</a:t>
            </a:fld>
            <a:endParaRPr lang="en-US"/>
          </a:p>
        </p:txBody>
      </p:sp>
      <p:sp>
        <p:nvSpPr>
          <p:cNvPr id="5" name="Footer Placeholder 4"/>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F17CCDD-F284-481F-B5FA-99931F638067}" type="datetime1">
              <a:rPr lang="en-US" smtClean="0"/>
              <a:pPr/>
              <a:t>5/26/2022</a:t>
            </a:fld>
            <a:endParaRPr lang="en-US"/>
          </a:p>
        </p:txBody>
      </p:sp>
      <p:sp>
        <p:nvSpPr>
          <p:cNvPr id="5" name="Footer Placeholder 4"/>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BB04610-A9F4-446E-9922-FB3ADF019CF9}" type="datetime1">
              <a:rPr lang="en-US" smtClean="0"/>
              <a:pPr/>
              <a:t>5/26/2022</a:t>
            </a:fld>
            <a:endParaRPr lang="en-US"/>
          </a:p>
        </p:txBody>
      </p:sp>
      <p:sp>
        <p:nvSpPr>
          <p:cNvPr id="6" name="Footer Placeholder 5"/>
          <p:cNvSpPr>
            <a:spLocks noGrp="1"/>
          </p:cNvSpPr>
          <p:nvPr>
            <p:ph type="ftr" sz="quarter" idx="11"/>
          </p:nvPr>
        </p:nvSpPr>
        <p:spPr/>
        <p:txBody>
          <a:bodyPr/>
          <a:lstStyle/>
          <a:p>
            <a:r>
              <a:rPr lang="en-US" smtClean="0"/>
              <a:t>Prof. Prashant Wadkar</a:t>
            </a:r>
            <a:endParaRPr lang="en-US"/>
          </a:p>
        </p:txBody>
      </p:sp>
      <p:sp>
        <p:nvSpPr>
          <p:cNvPr id="7" name="Slide Number Placeholder 6"/>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31C9D8F-AFF8-4EE2-A92C-C5638EB87901}" type="datetime1">
              <a:rPr lang="en-US" smtClean="0"/>
              <a:pPr/>
              <a:t>5/26/2022</a:t>
            </a:fld>
            <a:endParaRPr lang="en-US"/>
          </a:p>
        </p:txBody>
      </p:sp>
      <p:sp>
        <p:nvSpPr>
          <p:cNvPr id="8" name="Footer Placeholder 7"/>
          <p:cNvSpPr>
            <a:spLocks noGrp="1"/>
          </p:cNvSpPr>
          <p:nvPr>
            <p:ph type="ftr" sz="quarter" idx="11"/>
          </p:nvPr>
        </p:nvSpPr>
        <p:spPr/>
        <p:txBody>
          <a:bodyPr/>
          <a:lstStyle/>
          <a:p>
            <a:r>
              <a:rPr lang="en-US" smtClean="0"/>
              <a:t>Prof. Prashant Wadkar</a:t>
            </a:r>
            <a:endParaRPr lang="en-US"/>
          </a:p>
        </p:txBody>
      </p:sp>
      <p:sp>
        <p:nvSpPr>
          <p:cNvPr id="9" name="Slide Number Placeholder 8"/>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7C2645-837F-419D-9B72-0141D6044BFD}"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5" name="Slide Number Placeholder 4"/>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B25C34-8550-4364-8C03-F40660D7AE17}" type="datetime1">
              <a:rPr lang="en-US" smtClean="0"/>
              <a:pPr/>
              <a:t>5/26/2022</a:t>
            </a:fld>
            <a:endParaRPr lang="en-US"/>
          </a:p>
        </p:txBody>
      </p:sp>
      <p:sp>
        <p:nvSpPr>
          <p:cNvPr id="3" name="Footer Placeholder 2"/>
          <p:cNvSpPr>
            <a:spLocks noGrp="1"/>
          </p:cNvSpPr>
          <p:nvPr>
            <p:ph type="ftr" sz="quarter" idx="11"/>
          </p:nvPr>
        </p:nvSpPr>
        <p:spPr/>
        <p:txBody>
          <a:bodyPr/>
          <a:lstStyle/>
          <a:p>
            <a:r>
              <a:rPr lang="en-US" smtClean="0"/>
              <a:t>Prof. Prashant Wadkar</a:t>
            </a:r>
            <a:endParaRPr lang="en-US"/>
          </a:p>
        </p:txBody>
      </p:sp>
      <p:sp>
        <p:nvSpPr>
          <p:cNvPr id="4" name="Slide Number Placeholder 3"/>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EEF7D2-56F2-479F-8CB2-DE7DB69F4F31}" type="datetime1">
              <a:rPr lang="en-US" smtClean="0"/>
              <a:pPr/>
              <a:t>5/26/2022</a:t>
            </a:fld>
            <a:endParaRPr lang="en-US"/>
          </a:p>
        </p:txBody>
      </p:sp>
      <p:sp>
        <p:nvSpPr>
          <p:cNvPr id="6" name="Footer Placeholder 5"/>
          <p:cNvSpPr>
            <a:spLocks noGrp="1"/>
          </p:cNvSpPr>
          <p:nvPr>
            <p:ph type="ftr" sz="quarter" idx="11"/>
          </p:nvPr>
        </p:nvSpPr>
        <p:spPr/>
        <p:txBody>
          <a:bodyPr/>
          <a:lstStyle/>
          <a:p>
            <a:r>
              <a:rPr lang="en-US" smtClean="0"/>
              <a:t>Prof. Prashant Wadkar</a:t>
            </a:r>
            <a:endParaRPr lang="en-US"/>
          </a:p>
        </p:txBody>
      </p:sp>
      <p:sp>
        <p:nvSpPr>
          <p:cNvPr id="7" name="Slide Number Placeholder 6"/>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3AE664-3F01-4178-A47C-FC6B1C1C4410}" type="datetime1">
              <a:rPr lang="en-US" smtClean="0"/>
              <a:pPr/>
              <a:t>5/26/2022</a:t>
            </a:fld>
            <a:endParaRPr lang="en-US"/>
          </a:p>
        </p:txBody>
      </p:sp>
      <p:sp>
        <p:nvSpPr>
          <p:cNvPr id="6" name="Footer Placeholder 5"/>
          <p:cNvSpPr>
            <a:spLocks noGrp="1"/>
          </p:cNvSpPr>
          <p:nvPr>
            <p:ph type="ftr" sz="quarter" idx="11"/>
          </p:nvPr>
        </p:nvSpPr>
        <p:spPr/>
        <p:txBody>
          <a:bodyPr/>
          <a:lstStyle/>
          <a:p>
            <a:r>
              <a:rPr lang="en-US" smtClean="0"/>
              <a:t>Prof. Prashant Wadkar</a:t>
            </a:r>
            <a:endParaRPr lang="en-US"/>
          </a:p>
        </p:txBody>
      </p:sp>
      <p:sp>
        <p:nvSpPr>
          <p:cNvPr id="7" name="Slide Number Placeholder 6"/>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2897CD8-C7B1-4928-88FD-05F908F3396E}" type="datetime1">
              <a:rPr lang="en-US" smtClean="0"/>
              <a:pPr/>
              <a:t>5/26/2022</a:t>
            </a:fld>
            <a:endParaRPr lang="en-US"/>
          </a:p>
        </p:txBody>
      </p:sp>
      <p:sp>
        <p:nvSpPr>
          <p:cNvPr id="5" name="Footer Placeholder 4"/>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0384B6-D3AD-418A-8162-3A529C890254}" type="datetime1">
              <a:rPr lang="en-US" smtClean="0"/>
              <a:pPr/>
              <a:t>5/26/2022</a:t>
            </a:fld>
            <a:endParaRPr lang="en-US"/>
          </a:p>
        </p:txBody>
      </p:sp>
      <p:sp>
        <p:nvSpPr>
          <p:cNvPr id="5" name="Footer Placeholder 4"/>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p:txBody>
          <a:bodyPr/>
          <a:lstStyle/>
          <a:p>
            <a:fld id="{025C76C4-C5C4-4BD3-AB93-373A4602CB5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7339D-D6F6-4206-B5ED-39C2600C272A}" type="datetime1">
              <a:rPr lang="en-US" smtClean="0"/>
              <a:pPr/>
              <a:t>5/26/2022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Prof. Prashant Wadkar</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5C76C4-C5C4-4BD3-AB93-373A4602CB55}" type="slidenum">
              <a:rPr lang="en-US" smtClean="0"/>
              <a:pPr/>
              <a:t>‹#›</a:t>
            </a:fld>
            <a:endParaRPr lang="en-US"/>
          </a:p>
        </p:txBody>
      </p:sp>
      <p:pic>
        <p:nvPicPr>
          <p:cNvPr id="8" name="Picture 7" descr="https://lh6.googleusercontent.com/OMYAKg7g5iTluy6Gm9oz11TBw9XDvGEc0iuGBsazQynb_Ge2-h_vIzXSxLyyptW3o18f8nQ5iqT_dncNkiM8Mg2TqEFuDiLkWPU34O_qdnu_h9AX0YoZR6FsgliVM5GVErjSTiUtQYk--ijioWo"/>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9422"/>
            <a:ext cx="933450" cy="495300"/>
          </a:xfrm>
          <a:prstGeom prst="rect">
            <a:avLst/>
          </a:prstGeom>
          <a:noFill/>
          <a:ln>
            <a:noFill/>
          </a:ln>
        </p:spPr>
      </p:pic>
      <p:pic>
        <p:nvPicPr>
          <p:cNvPr id="9" name="Picture 8" descr="https://lh5.googleusercontent.com/fi_CkP4gEpRIcq45Ri6OYrRymdb737vzfiHelqC4oyeyHrdwBu0SLcFru6_j2vKckbM8cTvgQ1uem3JzQi5bIenaHtNcTz7qXJ0YHF1hbDMy5zWOKTznyocTa3OKiunGpz89s4dvgeCFZr2Ua2s"/>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8401050" y="50372"/>
            <a:ext cx="666750" cy="533400"/>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1905000"/>
            <a:ext cx="8077200" cy="3200400"/>
          </a:xfrm>
        </p:spPr>
        <p:txBody>
          <a:bodyPr>
            <a:noAutofit/>
          </a:bodyPr>
          <a:lstStyle/>
          <a:p>
            <a:r>
              <a:rPr lang="en-US" sz="3600" b="1" dirty="0" smtClean="0">
                <a:solidFill>
                  <a:srgbClr val="FF0000"/>
                </a:solidFill>
                <a:latin typeface="Times New Roman" pitchFamily="18" charset="0"/>
                <a:cs typeface="Times New Roman" pitchFamily="18" charset="0"/>
              </a:rPr>
              <a:t>Course : MCA </a:t>
            </a:r>
            <a:r>
              <a:rPr lang="en-US" sz="3600" b="1" dirty="0" err="1" smtClean="0">
                <a:solidFill>
                  <a:srgbClr val="FF0000"/>
                </a:solidFill>
                <a:latin typeface="Times New Roman" pitchFamily="18" charset="0"/>
                <a:cs typeface="Times New Roman" pitchFamily="18" charset="0"/>
              </a:rPr>
              <a:t>Sem</a:t>
            </a:r>
            <a:r>
              <a:rPr lang="en-US" sz="3600" b="1" dirty="0" smtClean="0">
                <a:solidFill>
                  <a:srgbClr val="FF0000"/>
                </a:solidFill>
                <a:latin typeface="Times New Roman" pitchFamily="18" charset="0"/>
                <a:cs typeface="Times New Roman" pitchFamily="18" charset="0"/>
              </a:rPr>
              <a:t> II</a:t>
            </a:r>
          </a:p>
          <a:p>
            <a:endParaRPr lang="en-US" sz="3600" b="1" dirty="0" smtClean="0">
              <a:solidFill>
                <a:schemeClr val="tx1"/>
              </a:solidFill>
              <a:latin typeface="Times New Roman" pitchFamily="18" charset="0"/>
              <a:cs typeface="Times New Roman" pitchFamily="18" charset="0"/>
            </a:endParaRPr>
          </a:p>
          <a:p>
            <a:r>
              <a:rPr lang="en-US" sz="3600" b="1" dirty="0" smtClean="0">
                <a:solidFill>
                  <a:srgbClr val="0070C0"/>
                </a:solidFill>
                <a:latin typeface="Times New Roman" pitchFamily="18" charset="0"/>
                <a:cs typeface="Times New Roman" pitchFamily="18" charset="0"/>
              </a:rPr>
              <a:t>Subject : Python Programming</a:t>
            </a:r>
          </a:p>
          <a:p>
            <a:r>
              <a:rPr lang="en-US" sz="1800" b="1" dirty="0" smtClean="0">
                <a:solidFill>
                  <a:schemeClr val="tx1"/>
                </a:solidFill>
                <a:latin typeface="Times New Roman" pitchFamily="18" charset="0"/>
                <a:cs typeface="Times New Roman" pitchFamily="18" charset="0"/>
              </a:rPr>
              <a:t>( Subject Code: IT21 )</a:t>
            </a:r>
            <a:endParaRPr lang="en-US" sz="1800" b="1" dirty="0">
              <a:solidFill>
                <a:schemeClr val="tx1"/>
              </a:solidFill>
              <a:latin typeface="Times New Roman" pitchFamily="18" charset="0"/>
              <a:cs typeface="Times New Roman" pitchFamily="18" charset="0"/>
            </a:endParaRPr>
          </a:p>
        </p:txBody>
      </p:sp>
      <p:sp>
        <p:nvSpPr>
          <p:cNvPr id="5" name="Date Placeholder 4"/>
          <p:cNvSpPr>
            <a:spLocks noGrp="1"/>
          </p:cNvSpPr>
          <p:nvPr>
            <p:ph type="dt" sz="half" idx="10"/>
          </p:nvPr>
        </p:nvSpPr>
        <p:spPr/>
        <p:txBody>
          <a:bodyPr/>
          <a:lstStyle/>
          <a:p>
            <a:fld id="{FB4EB148-F81A-4F41-8369-2A7843DD5B9F}"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p:txBody>
          <a:bodyPr/>
          <a:lstStyle/>
          <a:p>
            <a:fld id="{025C76C4-C5C4-4BD3-AB93-373A4602CB55}"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533400"/>
          </a:xfrm>
        </p:spPr>
        <p:txBody>
          <a:bodyPr>
            <a:normAutofit fontScale="90000"/>
          </a:bodyPr>
          <a:lstStyle/>
          <a:p>
            <a:r>
              <a:rPr lang="en-US" dirty="0">
                <a:solidFill>
                  <a:srgbClr val="FF0000"/>
                </a:solidFill>
              </a:rPr>
              <a:t>Python Editors</a:t>
            </a:r>
            <a:r>
              <a:rPr lang="en-US" dirty="0"/>
              <a:t/>
            </a:r>
            <a:br>
              <a:rPr lang="en-US" dirty="0"/>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2</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978042465"/>
              </p:ext>
            </p:extLst>
          </p:nvPr>
        </p:nvGraphicFramePr>
        <p:xfrm>
          <a:off x="152400" y="914400"/>
          <a:ext cx="8991600" cy="5441950"/>
        </p:xfrm>
        <a:graphic>
          <a:graphicData uri="http://schemas.openxmlformats.org/drawingml/2006/table">
            <a:tbl>
              <a:tblPr firstRow="1" bandRow="1">
                <a:tableStyleId>{5C22544A-7EE6-4342-B048-85BDC9FD1C3A}</a:tableStyleId>
              </a:tblPr>
              <a:tblGrid>
                <a:gridCol w="1685925">
                  <a:extLst>
                    <a:ext uri="{9D8B030D-6E8A-4147-A177-3AD203B41FA5}">
                      <a16:colId xmlns:a16="http://schemas.microsoft.com/office/drawing/2014/main" val="1169528027"/>
                    </a:ext>
                  </a:extLst>
                </a:gridCol>
                <a:gridCol w="5780314">
                  <a:extLst>
                    <a:ext uri="{9D8B030D-6E8A-4147-A177-3AD203B41FA5}">
                      <a16:colId xmlns:a16="http://schemas.microsoft.com/office/drawing/2014/main" val="813097886"/>
                    </a:ext>
                  </a:extLst>
                </a:gridCol>
                <a:gridCol w="1525361">
                  <a:extLst>
                    <a:ext uri="{9D8B030D-6E8A-4147-A177-3AD203B41FA5}">
                      <a16:colId xmlns:a16="http://schemas.microsoft.com/office/drawing/2014/main" val="1135610104"/>
                    </a:ext>
                  </a:extLst>
                </a:gridCol>
              </a:tblGrid>
              <a:tr h="371848">
                <a:tc>
                  <a:txBody>
                    <a:bodyPr/>
                    <a:lstStyle/>
                    <a:p>
                      <a:pPr algn="ctr"/>
                      <a:r>
                        <a:rPr lang="en-US" sz="1800" dirty="0" smtClean="0">
                          <a:solidFill>
                            <a:srgbClr val="FFC000"/>
                          </a:solidFill>
                        </a:rPr>
                        <a:t>Python Editors</a:t>
                      </a:r>
                      <a:endParaRPr lang="en-IN" dirty="0">
                        <a:solidFill>
                          <a:srgbClr val="FFC000"/>
                        </a:solidFill>
                      </a:endParaRPr>
                    </a:p>
                  </a:txBody>
                  <a:tcPr/>
                </a:tc>
                <a:tc>
                  <a:txBody>
                    <a:bodyPr/>
                    <a:lstStyle/>
                    <a:p>
                      <a:pPr algn="ctr"/>
                      <a:r>
                        <a:rPr lang="en-US" sz="1800" dirty="0" smtClean="0">
                          <a:solidFill>
                            <a:srgbClr val="FFC000"/>
                          </a:solidFill>
                        </a:rPr>
                        <a:t>Description</a:t>
                      </a:r>
                      <a:endParaRPr lang="en-IN" dirty="0">
                        <a:solidFill>
                          <a:srgbClr val="FFC000"/>
                        </a:solidFill>
                      </a:endParaRPr>
                    </a:p>
                  </a:txBody>
                  <a:tcPr/>
                </a:tc>
                <a:tc>
                  <a:txBody>
                    <a:bodyPr/>
                    <a:lstStyle/>
                    <a:p>
                      <a:pPr algn="ctr"/>
                      <a:r>
                        <a:rPr lang="en-US" dirty="0" smtClean="0">
                          <a:solidFill>
                            <a:srgbClr val="FFC000"/>
                          </a:solidFill>
                        </a:rPr>
                        <a:t>Logo</a:t>
                      </a:r>
                      <a:endParaRPr lang="en-IN" dirty="0">
                        <a:solidFill>
                          <a:srgbClr val="FFC000"/>
                        </a:solidFill>
                      </a:endParaRPr>
                    </a:p>
                  </a:txBody>
                  <a:tcPr/>
                </a:tc>
                <a:extLst>
                  <a:ext uri="{0D108BD9-81ED-4DB2-BD59-A6C34878D82A}">
                    <a16:rowId xmlns:a16="http://schemas.microsoft.com/office/drawing/2014/main" val="3852329725"/>
                  </a:ext>
                </a:extLst>
              </a:tr>
              <a:tr h="1473962">
                <a:tc>
                  <a:txBody>
                    <a:bodyPr/>
                    <a:lstStyle/>
                    <a:p>
                      <a:r>
                        <a:rPr lang="en-US" sz="1800" dirty="0" smtClean="0">
                          <a:solidFill>
                            <a:schemeClr val="tx1"/>
                          </a:solidFill>
                        </a:rPr>
                        <a:t>IDLE</a:t>
                      </a:r>
                      <a:endParaRPr lang="en-IN" dirty="0">
                        <a:solidFill>
                          <a:schemeClr val="tx1"/>
                        </a:solidFill>
                      </a:endParaRPr>
                    </a:p>
                  </a:txBody>
                  <a:tcPr/>
                </a:tc>
                <a:tc>
                  <a:txBody>
                    <a:bodyPr/>
                    <a:lstStyle/>
                    <a:p>
                      <a:r>
                        <a:rPr lang="en-US" sz="1800" dirty="0" smtClean="0">
                          <a:solidFill>
                            <a:schemeClr val="tx1"/>
                          </a:solidFill>
                        </a:rPr>
                        <a:t>IDLE (</a:t>
                      </a:r>
                      <a:r>
                        <a:rPr lang="en-US" sz="1800" dirty="0" err="1" smtClean="0">
                          <a:solidFill>
                            <a:schemeClr val="tx1"/>
                          </a:solidFill>
                        </a:rPr>
                        <a:t>Integratedand</a:t>
                      </a:r>
                      <a:r>
                        <a:rPr lang="en-US" sz="1800" dirty="0" smtClean="0">
                          <a:solidFill>
                            <a:schemeClr val="tx1"/>
                          </a:solidFill>
                        </a:rPr>
                        <a:t> Learning Environment) is a popular Integrated Development Environment written in Python and it has been integrated with the default language. Mainly used by beginner's level developers who want to practice Python development</a:t>
                      </a:r>
                      <a:endParaRPr lang="en-IN" dirty="0">
                        <a:solidFill>
                          <a:schemeClr val="tx1"/>
                        </a:solidFill>
                      </a:endParaRPr>
                    </a:p>
                  </a:txBody>
                  <a:tcPr/>
                </a:tc>
                <a:tc>
                  <a:txBody>
                    <a:bodyPr/>
                    <a:lstStyle/>
                    <a:p>
                      <a:endParaRPr lang="en-IN" dirty="0"/>
                    </a:p>
                  </a:txBody>
                  <a:tcPr/>
                </a:tc>
                <a:extLst>
                  <a:ext uri="{0D108BD9-81ED-4DB2-BD59-A6C34878D82A}">
                    <a16:rowId xmlns:a16="http://schemas.microsoft.com/office/drawing/2014/main" val="936719172"/>
                  </a:ext>
                </a:extLst>
              </a:tr>
              <a:tr h="1750330">
                <a:tc>
                  <a:txBody>
                    <a:bodyPr/>
                    <a:lstStyle/>
                    <a:p>
                      <a:r>
                        <a:rPr lang="en-US" sz="1800" dirty="0" err="1" smtClean="0">
                          <a:solidFill>
                            <a:schemeClr val="tx1"/>
                          </a:solidFill>
                        </a:rPr>
                        <a:t>PyCharm</a:t>
                      </a:r>
                      <a:endParaRPr lang="en-IN" dirty="0">
                        <a:solidFill>
                          <a:schemeClr val="tx1"/>
                        </a:solidFill>
                      </a:endParaRPr>
                    </a:p>
                  </a:txBody>
                  <a:tcPr/>
                </a:tc>
                <a:tc>
                  <a:txBody>
                    <a:bodyPr/>
                    <a:lstStyle/>
                    <a:p>
                      <a:r>
                        <a:rPr lang="en-US" sz="1800" dirty="0" err="1" smtClean="0">
                          <a:solidFill>
                            <a:schemeClr val="tx1"/>
                          </a:solidFill>
                        </a:rPr>
                        <a:t>LogoPyCharmPyCharm</a:t>
                      </a:r>
                      <a:r>
                        <a:rPr lang="en-US" sz="1800" dirty="0" smtClean="0">
                          <a:solidFill>
                            <a:schemeClr val="tx1"/>
                          </a:solidFill>
                        </a:rPr>
                        <a:t> is one of the widely used Python IDE which was created by Jet Brains. With </a:t>
                      </a:r>
                      <a:r>
                        <a:rPr lang="en-US" sz="1800" dirty="0" err="1" smtClean="0">
                          <a:solidFill>
                            <a:schemeClr val="tx1"/>
                          </a:solidFill>
                        </a:rPr>
                        <a:t>PyCharm</a:t>
                      </a:r>
                      <a:r>
                        <a:rPr lang="en-US" sz="1800" dirty="0" smtClean="0">
                          <a:solidFill>
                            <a:schemeClr val="tx1"/>
                          </a:solidFill>
                        </a:rPr>
                        <a:t>, the developers can write a neat and maintainable code. It helps to be more productive and gives smart assistance to the developers. It takes care of the routine tasks by saving time and thereby increasing profit accordingly</a:t>
                      </a:r>
                      <a:endParaRPr lang="en-IN" dirty="0">
                        <a:solidFill>
                          <a:schemeClr val="tx1"/>
                        </a:solidFill>
                      </a:endParaRPr>
                    </a:p>
                  </a:txBody>
                  <a:tcPr/>
                </a:tc>
                <a:tc>
                  <a:txBody>
                    <a:bodyPr/>
                    <a:lstStyle/>
                    <a:p>
                      <a:endParaRPr lang="en-IN" dirty="0"/>
                    </a:p>
                  </a:txBody>
                  <a:tcPr/>
                </a:tc>
                <a:extLst>
                  <a:ext uri="{0D108BD9-81ED-4DB2-BD59-A6C34878D82A}">
                    <a16:rowId xmlns:a16="http://schemas.microsoft.com/office/drawing/2014/main" val="2389287203"/>
                  </a:ext>
                </a:extLst>
              </a:tr>
              <a:tr h="1473962">
                <a:tc>
                  <a:txBody>
                    <a:bodyPr/>
                    <a:lstStyle/>
                    <a:p>
                      <a:r>
                        <a:rPr lang="en-US" sz="1800" dirty="0" err="1" smtClean="0">
                          <a:solidFill>
                            <a:schemeClr val="tx1"/>
                          </a:solidFill>
                        </a:rPr>
                        <a:t>Spyder</a:t>
                      </a:r>
                      <a:endParaRPr lang="en-IN" dirty="0">
                        <a:solidFill>
                          <a:schemeClr val="tx1"/>
                        </a:solidFill>
                      </a:endParaRPr>
                    </a:p>
                  </a:txBody>
                  <a:tcPr/>
                </a:tc>
                <a:tc>
                  <a:txBody>
                    <a:bodyPr/>
                    <a:lstStyle/>
                    <a:p>
                      <a:r>
                        <a:rPr lang="en-US" sz="1800" dirty="0" smtClean="0">
                          <a:solidFill>
                            <a:schemeClr val="tx1"/>
                          </a:solidFill>
                        </a:rPr>
                        <a:t>It was mainly developed for scientists and engineers to provide a powerful scientific environment for Python. It offers an advanced level of edit, debug, and data exploration features. It is very extensible and has a good plugin system and API</a:t>
                      </a:r>
                      <a:endParaRPr lang="en-IN" dirty="0">
                        <a:solidFill>
                          <a:schemeClr val="tx1"/>
                        </a:solidFill>
                      </a:endParaRPr>
                    </a:p>
                  </a:txBody>
                  <a:tcPr/>
                </a:tc>
                <a:tc>
                  <a:txBody>
                    <a:bodyPr/>
                    <a:lstStyle/>
                    <a:p>
                      <a:endParaRPr lang="en-IN" dirty="0"/>
                    </a:p>
                  </a:txBody>
                  <a:tcPr/>
                </a:tc>
                <a:extLst>
                  <a:ext uri="{0D108BD9-81ED-4DB2-BD59-A6C34878D82A}">
                    <a16:rowId xmlns:a16="http://schemas.microsoft.com/office/drawing/2014/main" val="1281173740"/>
                  </a:ext>
                </a:extLst>
              </a:tr>
              <a:tr h="371848">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0354090"/>
                  </a:ext>
                </a:extLst>
              </a:tr>
            </a:tbl>
          </a:graphicData>
        </a:graphic>
      </p:graphicFrame>
      <p:pic>
        <p:nvPicPr>
          <p:cNvPr id="8" name="Picture 7"/>
          <p:cNvPicPr>
            <a:picLocks noChangeAspect="1"/>
          </p:cNvPicPr>
          <p:nvPr/>
        </p:nvPicPr>
        <p:blipFill>
          <a:blip r:embed="rId2"/>
          <a:stretch>
            <a:fillRect/>
          </a:stretch>
        </p:blipFill>
        <p:spPr>
          <a:xfrm>
            <a:off x="7620000" y="3058506"/>
            <a:ext cx="1257191" cy="1141037"/>
          </a:xfrm>
          <a:prstGeom prst="rect">
            <a:avLst/>
          </a:prstGeom>
        </p:spPr>
      </p:pic>
      <p:pic>
        <p:nvPicPr>
          <p:cNvPr id="10" name="Picture 9"/>
          <p:cNvPicPr>
            <a:picLocks noChangeAspect="1"/>
          </p:cNvPicPr>
          <p:nvPr/>
        </p:nvPicPr>
        <p:blipFill>
          <a:blip r:embed="rId3"/>
          <a:stretch>
            <a:fillRect/>
          </a:stretch>
        </p:blipFill>
        <p:spPr>
          <a:xfrm>
            <a:off x="7737231" y="1447800"/>
            <a:ext cx="1327638" cy="1129352"/>
          </a:xfrm>
          <a:prstGeom prst="rect">
            <a:avLst/>
          </a:prstGeom>
        </p:spPr>
      </p:pic>
      <p:pic>
        <p:nvPicPr>
          <p:cNvPr id="11" name="Picture 10"/>
          <p:cNvPicPr>
            <a:picLocks noChangeAspect="1"/>
          </p:cNvPicPr>
          <p:nvPr/>
        </p:nvPicPr>
        <p:blipFill>
          <a:blip r:embed="rId4"/>
          <a:stretch>
            <a:fillRect/>
          </a:stretch>
        </p:blipFill>
        <p:spPr>
          <a:xfrm>
            <a:off x="7726316" y="4708307"/>
            <a:ext cx="1237990" cy="111305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533400"/>
          </a:xfrm>
        </p:spPr>
        <p:txBody>
          <a:bodyPr>
            <a:normAutofit fontScale="90000"/>
          </a:bodyPr>
          <a:lstStyle/>
          <a:p>
            <a:r>
              <a:rPr lang="en-US" dirty="0">
                <a:solidFill>
                  <a:srgbClr val="FF0000"/>
                </a:solidFill>
              </a:rPr>
              <a:t>Python Editors</a:t>
            </a:r>
            <a:r>
              <a:rPr lang="en-US" dirty="0"/>
              <a:t/>
            </a:r>
            <a:br>
              <a:rPr lang="en-US" dirty="0"/>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3</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smtClean="0">
              <a:solidFill>
                <a:srgbClr val="FF0000"/>
              </a:solidFill>
            </a:endParaRPr>
          </a:p>
          <a:p>
            <a:pPr algn="just"/>
            <a:endParaRPr lang="en-US" sz="2000" dirty="0" smtClean="0">
              <a:solidFill>
                <a:srgbClr val="7030A0"/>
              </a:solidFill>
            </a:endParaRPr>
          </a:p>
          <a:p>
            <a:pPr algn="just"/>
            <a:endParaRPr lang="en-US" sz="2000" dirty="0" smtClean="0">
              <a:solidFill>
                <a:srgbClr val="7030A0"/>
              </a:solidFill>
            </a:endParaRPr>
          </a:p>
          <a:p>
            <a:pPr algn="just"/>
            <a:endParaRPr lang="en-US" sz="2000" b="1" dirty="0" smtClean="0"/>
          </a:p>
          <a:p>
            <a:pPr algn="just"/>
            <a:endParaRPr lang="en-US" sz="2000" dirty="0" smtClean="0"/>
          </a:p>
          <a:p>
            <a:pPr algn="just"/>
            <a:endParaRPr lang="en-US" sz="2000" b="1" dirty="0" smtClean="0"/>
          </a:p>
          <a:p>
            <a:pPr algn="just"/>
            <a:endParaRPr lang="en-US" sz="2000" b="1" dirty="0"/>
          </a:p>
        </p:txBody>
      </p:sp>
      <p:graphicFrame>
        <p:nvGraphicFramePr>
          <p:cNvPr id="7" name="Table 6"/>
          <p:cNvGraphicFramePr>
            <a:graphicFrameLocks noGrp="1"/>
          </p:cNvGraphicFramePr>
          <p:nvPr>
            <p:extLst>
              <p:ext uri="{D42A27DB-BD31-4B8C-83A1-F6EECF244321}">
                <p14:modId xmlns:p14="http://schemas.microsoft.com/office/powerpoint/2010/main" val="1615833787"/>
              </p:ext>
            </p:extLst>
          </p:nvPr>
        </p:nvGraphicFramePr>
        <p:xfrm>
          <a:off x="381000" y="1143003"/>
          <a:ext cx="8534400" cy="3395668"/>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1169528027"/>
                    </a:ext>
                  </a:extLst>
                </a:gridCol>
                <a:gridCol w="5486400">
                  <a:extLst>
                    <a:ext uri="{9D8B030D-6E8A-4147-A177-3AD203B41FA5}">
                      <a16:colId xmlns:a16="http://schemas.microsoft.com/office/drawing/2014/main" val="813097886"/>
                    </a:ext>
                  </a:extLst>
                </a:gridCol>
                <a:gridCol w="1447800">
                  <a:extLst>
                    <a:ext uri="{9D8B030D-6E8A-4147-A177-3AD203B41FA5}">
                      <a16:colId xmlns:a16="http://schemas.microsoft.com/office/drawing/2014/main" val="1135610104"/>
                    </a:ext>
                  </a:extLst>
                </a:gridCol>
              </a:tblGrid>
              <a:tr h="371954">
                <a:tc>
                  <a:txBody>
                    <a:bodyPr/>
                    <a:lstStyle/>
                    <a:p>
                      <a:pPr algn="ctr"/>
                      <a:r>
                        <a:rPr lang="en-US" sz="1800" dirty="0" smtClean="0">
                          <a:solidFill>
                            <a:srgbClr val="FFC000"/>
                          </a:solidFill>
                        </a:rPr>
                        <a:t>Python Editors</a:t>
                      </a:r>
                      <a:endParaRPr lang="en-IN" dirty="0">
                        <a:solidFill>
                          <a:srgbClr val="FFC000"/>
                        </a:solidFill>
                      </a:endParaRPr>
                    </a:p>
                  </a:txBody>
                  <a:tcPr/>
                </a:tc>
                <a:tc>
                  <a:txBody>
                    <a:bodyPr/>
                    <a:lstStyle/>
                    <a:p>
                      <a:pPr algn="ctr"/>
                      <a:r>
                        <a:rPr lang="en-US" sz="1800" dirty="0" smtClean="0">
                          <a:solidFill>
                            <a:srgbClr val="FFC000"/>
                          </a:solidFill>
                        </a:rPr>
                        <a:t>Description</a:t>
                      </a:r>
                      <a:endParaRPr lang="en-IN" dirty="0">
                        <a:solidFill>
                          <a:srgbClr val="FFC000"/>
                        </a:solidFill>
                      </a:endParaRPr>
                    </a:p>
                  </a:txBody>
                  <a:tcPr/>
                </a:tc>
                <a:tc>
                  <a:txBody>
                    <a:bodyPr/>
                    <a:lstStyle/>
                    <a:p>
                      <a:pPr algn="ctr"/>
                      <a:r>
                        <a:rPr lang="en-US" dirty="0" smtClean="0">
                          <a:solidFill>
                            <a:srgbClr val="FFC000"/>
                          </a:solidFill>
                        </a:rPr>
                        <a:t>Logo</a:t>
                      </a:r>
                      <a:endParaRPr lang="en-IN" dirty="0">
                        <a:solidFill>
                          <a:srgbClr val="FFC000"/>
                        </a:solidFill>
                      </a:endParaRPr>
                    </a:p>
                  </a:txBody>
                  <a:tcPr/>
                </a:tc>
                <a:extLst>
                  <a:ext uri="{0D108BD9-81ED-4DB2-BD59-A6C34878D82A}">
                    <a16:rowId xmlns:a16="http://schemas.microsoft.com/office/drawing/2014/main" val="3852329725"/>
                  </a:ext>
                </a:extLst>
              </a:tr>
              <a:tr h="1423687">
                <a:tc>
                  <a:txBody>
                    <a:bodyPr/>
                    <a:lstStyle/>
                    <a:p>
                      <a:r>
                        <a:rPr lang="en-US" sz="1800" dirty="0" err="1" smtClean="0">
                          <a:solidFill>
                            <a:schemeClr val="tx1"/>
                          </a:solidFill>
                        </a:rPr>
                        <a:t>PyDev</a:t>
                      </a:r>
                      <a:endParaRPr lang="en-IN" dirty="0">
                        <a:solidFill>
                          <a:schemeClr val="tx1"/>
                        </a:solidFill>
                      </a:endParaRPr>
                    </a:p>
                  </a:txBody>
                  <a:tcPr/>
                </a:tc>
                <a:tc>
                  <a:txBody>
                    <a:bodyPr/>
                    <a:lstStyle/>
                    <a:p>
                      <a:r>
                        <a:rPr lang="en-US" sz="1800" dirty="0" err="1" smtClean="0">
                          <a:solidFill>
                            <a:schemeClr val="tx1"/>
                          </a:solidFill>
                        </a:rPr>
                        <a:t>PyDev</a:t>
                      </a:r>
                      <a:r>
                        <a:rPr lang="en-US" sz="1800" dirty="0" smtClean="0">
                          <a:solidFill>
                            <a:schemeClr val="tx1"/>
                          </a:solidFill>
                        </a:rPr>
                        <a:t> is an outside plugin for Eclipse. It is basically an IDE that is used for Python development. It is linear in size. It mainly focuses on the refactoring of python code, debugging in the graphical pattern, analysis of code etc. It is a strong Python interpreter</a:t>
                      </a:r>
                      <a:endParaRPr lang="en-IN" dirty="0">
                        <a:solidFill>
                          <a:schemeClr val="tx1"/>
                        </a:solidFill>
                      </a:endParaRPr>
                    </a:p>
                  </a:txBody>
                  <a:tcPr/>
                </a:tc>
                <a:tc>
                  <a:txBody>
                    <a:bodyPr/>
                    <a:lstStyle/>
                    <a:p>
                      <a:endParaRPr lang="en-IN" dirty="0"/>
                    </a:p>
                  </a:txBody>
                  <a:tcPr/>
                </a:tc>
                <a:extLst>
                  <a:ext uri="{0D108BD9-81ED-4DB2-BD59-A6C34878D82A}">
                    <a16:rowId xmlns:a16="http://schemas.microsoft.com/office/drawing/2014/main" val="1174127530"/>
                  </a:ext>
                </a:extLst>
              </a:tr>
              <a:tr h="371954">
                <a:tc>
                  <a:txBody>
                    <a:bodyPr/>
                    <a:lstStyle/>
                    <a:p>
                      <a:r>
                        <a:rPr lang="en-US" dirty="0" err="1" smtClean="0">
                          <a:solidFill>
                            <a:schemeClr val="tx1"/>
                          </a:solidFill>
                        </a:rPr>
                        <a:t>Jupyter</a:t>
                      </a:r>
                      <a:r>
                        <a:rPr lang="en-US" dirty="0" smtClean="0">
                          <a:solidFill>
                            <a:schemeClr val="tx1"/>
                          </a:solidFill>
                        </a:rPr>
                        <a:t> Notebook </a:t>
                      </a:r>
                      <a:endParaRPr lang="en-IN" dirty="0">
                        <a:solidFill>
                          <a:schemeClr val="tx1"/>
                        </a:solidFill>
                      </a:endParaRPr>
                    </a:p>
                  </a:txBody>
                  <a:tcPr/>
                </a:tc>
                <a:tc>
                  <a:txBody>
                    <a:bodyPr/>
                    <a:lstStyle/>
                    <a:p>
                      <a:r>
                        <a:rPr lang="en-US" dirty="0" smtClean="0">
                          <a:solidFill>
                            <a:schemeClr val="tx1"/>
                          </a:solidFill>
                        </a:rPr>
                        <a:t>The </a:t>
                      </a:r>
                      <a:r>
                        <a:rPr lang="en-US" dirty="0" err="1" smtClean="0">
                          <a:solidFill>
                            <a:schemeClr val="tx1"/>
                          </a:solidFill>
                        </a:rPr>
                        <a:t>Jupyter</a:t>
                      </a:r>
                      <a:r>
                        <a:rPr lang="en-US" dirty="0" smtClean="0">
                          <a:solidFill>
                            <a:schemeClr val="tx1"/>
                          </a:solidFill>
                        </a:rPr>
                        <a:t> Notebook is a browser-based graphical interface to the </a:t>
                      </a:r>
                      <a:r>
                        <a:rPr lang="en-US" dirty="0" err="1" smtClean="0">
                          <a:solidFill>
                            <a:schemeClr val="tx1"/>
                          </a:solidFill>
                        </a:rPr>
                        <a:t>IPython</a:t>
                      </a:r>
                      <a:r>
                        <a:rPr lang="en-US" dirty="0" smtClean="0">
                          <a:solidFill>
                            <a:schemeClr val="tx1"/>
                          </a:solidFill>
                        </a:rPr>
                        <a:t> shell. Allows us to create and share documents that contain live code, equations, visualizations and narrative text.</a:t>
                      </a:r>
                      <a:endParaRPr lang="en-IN" dirty="0">
                        <a:solidFill>
                          <a:schemeClr val="tx1"/>
                        </a:solidFill>
                      </a:endParaRPr>
                    </a:p>
                  </a:txBody>
                  <a:tcPr/>
                </a:tc>
                <a:tc>
                  <a:txBody>
                    <a:bodyPr/>
                    <a:lstStyle/>
                    <a:p>
                      <a:endParaRPr lang="en-IN" dirty="0"/>
                    </a:p>
                  </a:txBody>
                  <a:tcPr/>
                </a:tc>
                <a:extLst>
                  <a:ext uri="{0D108BD9-81ED-4DB2-BD59-A6C34878D82A}">
                    <a16:rowId xmlns:a16="http://schemas.microsoft.com/office/drawing/2014/main" val="260354090"/>
                  </a:ext>
                </a:extLst>
              </a:tr>
              <a:tr h="371954">
                <a:tc>
                  <a:txBody>
                    <a:bodyPr/>
                    <a:lstStyle/>
                    <a:p>
                      <a:endParaRPr lang="en-IN" dirty="0">
                        <a:solidFill>
                          <a:schemeClr val="tx1"/>
                        </a:solidFill>
                      </a:endParaRPr>
                    </a:p>
                  </a:txBody>
                  <a:tcPr/>
                </a:tc>
                <a:tc>
                  <a:txBody>
                    <a:bodyPr/>
                    <a:lstStyle/>
                    <a:p>
                      <a:endParaRPr lang="en-IN" dirty="0">
                        <a:solidFill>
                          <a:schemeClr val="tx1"/>
                        </a:solidFill>
                      </a:endParaRPr>
                    </a:p>
                  </a:txBody>
                  <a:tcPr/>
                </a:tc>
                <a:tc>
                  <a:txBody>
                    <a:bodyPr/>
                    <a:lstStyle/>
                    <a:p>
                      <a:endParaRPr lang="en-IN" dirty="0"/>
                    </a:p>
                  </a:txBody>
                  <a:tcPr/>
                </a:tc>
                <a:extLst>
                  <a:ext uri="{0D108BD9-81ED-4DB2-BD59-A6C34878D82A}">
                    <a16:rowId xmlns:a16="http://schemas.microsoft.com/office/drawing/2014/main" val="3328841699"/>
                  </a:ext>
                </a:extLst>
              </a:tr>
            </a:tbl>
          </a:graphicData>
        </a:graphic>
      </p:graphicFrame>
      <p:pic>
        <p:nvPicPr>
          <p:cNvPr id="8" name="Picture 7"/>
          <p:cNvPicPr>
            <a:picLocks noChangeAspect="1"/>
          </p:cNvPicPr>
          <p:nvPr/>
        </p:nvPicPr>
        <p:blipFill>
          <a:blip r:embed="rId2"/>
          <a:stretch>
            <a:fillRect/>
          </a:stretch>
        </p:blipFill>
        <p:spPr>
          <a:xfrm>
            <a:off x="7620000" y="1696567"/>
            <a:ext cx="1143000" cy="1013498"/>
          </a:xfrm>
          <a:prstGeom prst="rect">
            <a:avLst/>
          </a:prstGeom>
        </p:spPr>
      </p:pic>
      <p:pic>
        <p:nvPicPr>
          <p:cNvPr id="10" name="Picture 9"/>
          <p:cNvPicPr>
            <a:picLocks noChangeAspect="1"/>
          </p:cNvPicPr>
          <p:nvPr/>
        </p:nvPicPr>
        <p:blipFill>
          <a:blip r:embed="rId3"/>
          <a:stretch>
            <a:fillRect/>
          </a:stretch>
        </p:blipFill>
        <p:spPr>
          <a:xfrm>
            <a:off x="7620000" y="3075415"/>
            <a:ext cx="1047619" cy="1009524"/>
          </a:xfrm>
          <a:prstGeom prst="rect">
            <a:avLst/>
          </a:prstGeom>
        </p:spPr>
      </p:pic>
    </p:spTree>
    <p:extLst>
      <p:ext uri="{BB962C8B-B14F-4D97-AF65-F5344CB8AC3E}">
        <p14:creationId xmlns:p14="http://schemas.microsoft.com/office/powerpoint/2010/main" val="18460222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98037"/>
            <a:ext cx="7772400" cy="533400"/>
          </a:xfrm>
        </p:spPr>
        <p:txBody>
          <a:bodyPr>
            <a:normAutofit fontScale="90000"/>
          </a:bodyPr>
          <a:lstStyle/>
          <a:p>
            <a:r>
              <a:rPr lang="en-US" dirty="0">
                <a:solidFill>
                  <a:srgbClr val="FF0000"/>
                </a:solidFill>
              </a:rPr>
              <a:t>Limitations of </a:t>
            </a:r>
            <a:r>
              <a:rPr lang="en-US" dirty="0" smtClean="0">
                <a:solidFill>
                  <a:srgbClr val="FF0000"/>
                </a:solidFill>
              </a:rPr>
              <a:t>Python</a:t>
            </a:r>
            <a:r>
              <a:rPr lang="en-US" dirty="0">
                <a:solidFill>
                  <a:srgbClr val="FF0000"/>
                </a:solidFill>
              </a:rPr>
              <a:t/>
            </a:r>
            <a:br>
              <a:rPr lang="en-US" dirty="0">
                <a:solidFill>
                  <a:srgbClr val="FF0000"/>
                </a:solidFill>
              </a:rPr>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4</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smtClean="0">
              <a:solidFill>
                <a:srgbClr val="FF0000"/>
              </a:solidFill>
            </a:endParaRPr>
          </a:p>
          <a:p>
            <a:pPr algn="just"/>
            <a:endParaRPr lang="en-US" sz="2000" dirty="0" smtClean="0">
              <a:solidFill>
                <a:srgbClr val="7030A0"/>
              </a:solidFill>
            </a:endParaRPr>
          </a:p>
          <a:p>
            <a:pPr algn="just"/>
            <a:endParaRPr lang="en-US" sz="2000" dirty="0" smtClean="0">
              <a:solidFill>
                <a:srgbClr val="7030A0"/>
              </a:solidFill>
            </a:endParaRPr>
          </a:p>
          <a:p>
            <a:pPr algn="just"/>
            <a:endParaRPr lang="en-US" sz="2000" b="1" dirty="0" smtClean="0"/>
          </a:p>
          <a:p>
            <a:pPr algn="just"/>
            <a:endParaRPr lang="en-US" sz="2000" dirty="0" smtClean="0"/>
          </a:p>
          <a:p>
            <a:pPr algn="just"/>
            <a:endParaRPr lang="en-US" sz="2000" b="1" dirty="0" smtClean="0"/>
          </a:p>
          <a:p>
            <a:pPr algn="just"/>
            <a:endParaRPr lang="en-US" sz="2000" b="1" dirty="0"/>
          </a:p>
        </p:txBody>
      </p:sp>
      <p:sp>
        <p:nvSpPr>
          <p:cNvPr id="8" name="Rectangle 7"/>
          <p:cNvSpPr/>
          <p:nvPr/>
        </p:nvSpPr>
        <p:spPr>
          <a:xfrm>
            <a:off x="990600" y="1449022"/>
            <a:ext cx="7315200" cy="2308324"/>
          </a:xfrm>
          <a:prstGeom prst="rect">
            <a:avLst/>
          </a:prstGeom>
        </p:spPr>
        <p:txBody>
          <a:bodyPr wrap="square">
            <a:spAutoFit/>
          </a:bodyPr>
          <a:lstStyle/>
          <a:p>
            <a:pPr marL="342900" indent="-342900" algn="just">
              <a:buFont typeface="+mj-lt"/>
              <a:buAutoNum type="arabicPeriod"/>
            </a:pPr>
            <a:r>
              <a:rPr lang="en-US" dirty="0" smtClean="0"/>
              <a:t>Python </a:t>
            </a:r>
            <a:r>
              <a:rPr lang="en-US" dirty="0"/>
              <a:t>is an interpreter based language. Therefore, it is a bit slower than </a:t>
            </a:r>
            <a:r>
              <a:rPr lang="en-US" dirty="0" smtClean="0"/>
              <a:t>compiler based </a:t>
            </a:r>
            <a:r>
              <a:rPr lang="en-US" dirty="0"/>
              <a:t>languages</a:t>
            </a:r>
            <a:r>
              <a:rPr lang="en-US" dirty="0" smtClean="0"/>
              <a:t>.</a:t>
            </a:r>
          </a:p>
          <a:p>
            <a:pPr marL="342900" indent="-342900" algn="just">
              <a:buFont typeface="+mj-lt"/>
              <a:buAutoNum type="arabicPeriod"/>
            </a:pPr>
            <a:r>
              <a:rPr lang="en-US" dirty="0" smtClean="0"/>
              <a:t>Python </a:t>
            </a:r>
            <a:r>
              <a:rPr lang="en-US" dirty="0"/>
              <a:t>is a high level language like C/C++/Java. It also uses many layers to communicate with the operating system and the computer hardware</a:t>
            </a:r>
            <a:r>
              <a:rPr lang="en-US" dirty="0" smtClean="0"/>
              <a:t>.</a:t>
            </a:r>
          </a:p>
          <a:p>
            <a:pPr marL="342900" indent="-342900" algn="just">
              <a:buFont typeface="+mj-lt"/>
              <a:buAutoNum type="arabicPeriod"/>
            </a:pPr>
            <a:r>
              <a:rPr lang="en-US" dirty="0" smtClean="0"/>
              <a:t>Graphics </a:t>
            </a:r>
            <a:r>
              <a:rPr lang="en-US" dirty="0"/>
              <a:t>intensive applications such as games make the program to run slower. </a:t>
            </a:r>
            <a:endParaRPr lang="en-US" dirty="0" smtClean="0"/>
          </a:p>
          <a:p>
            <a:pPr marL="342900" indent="-342900" algn="just">
              <a:buFont typeface="+mj-lt"/>
              <a:buAutoNum type="arabicPeriod"/>
            </a:pPr>
            <a:r>
              <a:rPr lang="en-US" dirty="0" smtClean="0"/>
              <a:t>Due </a:t>
            </a:r>
            <a:r>
              <a:rPr lang="en-US" dirty="0"/>
              <a:t>to the flexibility of the data types, Python's memory consumption is also high.</a:t>
            </a:r>
          </a:p>
        </p:txBody>
      </p:sp>
    </p:spTree>
    <p:extLst>
      <p:ext uri="{BB962C8B-B14F-4D97-AF65-F5344CB8AC3E}">
        <p14:creationId xmlns:p14="http://schemas.microsoft.com/office/powerpoint/2010/main" val="2417198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0"/>
            <a:ext cx="7772400" cy="533400"/>
          </a:xfrm>
        </p:spPr>
        <p:txBody>
          <a:bodyPr>
            <a:normAutofit fontScale="90000"/>
          </a:bodyPr>
          <a:lstStyle/>
          <a:p>
            <a:r>
              <a:rPr lang="en-US" dirty="0" smtClean="0">
                <a:solidFill>
                  <a:srgbClr val="FF0000"/>
                </a:solidFill>
              </a:rPr>
              <a:t>Python Program Stricture</a:t>
            </a:r>
            <a:r>
              <a:rPr lang="en-US" dirty="0">
                <a:solidFill>
                  <a:srgbClr val="FF0000"/>
                </a:solidFill>
              </a:rPr>
              <a:t/>
            </a:r>
            <a:br>
              <a:rPr lang="en-US" dirty="0">
                <a:solidFill>
                  <a:srgbClr val="FF0000"/>
                </a:solidFill>
              </a:rPr>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5</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smtClean="0">
              <a:solidFill>
                <a:srgbClr val="FF0000"/>
              </a:solidFill>
            </a:endParaRPr>
          </a:p>
          <a:p>
            <a:pPr algn="just"/>
            <a:endParaRPr lang="en-US" sz="2000" dirty="0" smtClean="0">
              <a:solidFill>
                <a:srgbClr val="7030A0"/>
              </a:solidFill>
            </a:endParaRPr>
          </a:p>
          <a:p>
            <a:pPr algn="just"/>
            <a:endParaRPr lang="en-US" sz="2000" dirty="0" smtClean="0">
              <a:solidFill>
                <a:srgbClr val="7030A0"/>
              </a:solidFill>
            </a:endParaRPr>
          </a:p>
          <a:p>
            <a:pPr algn="just"/>
            <a:endParaRPr lang="en-US" sz="2000" b="1" dirty="0" smtClean="0"/>
          </a:p>
          <a:p>
            <a:pPr algn="just"/>
            <a:endParaRPr lang="en-US" sz="2000" dirty="0" smtClean="0"/>
          </a:p>
          <a:p>
            <a:pPr algn="just"/>
            <a:endParaRPr lang="en-US" sz="2000" b="1" dirty="0" smtClean="0"/>
          </a:p>
          <a:p>
            <a:pPr algn="just"/>
            <a:endParaRPr lang="en-US" sz="2000" b="1" dirty="0"/>
          </a:p>
        </p:txBody>
      </p:sp>
      <p:pic>
        <p:nvPicPr>
          <p:cNvPr id="7" name="Picture 6"/>
          <p:cNvPicPr>
            <a:picLocks noChangeAspect="1"/>
          </p:cNvPicPr>
          <p:nvPr/>
        </p:nvPicPr>
        <p:blipFill>
          <a:blip r:embed="rId2"/>
          <a:stretch>
            <a:fillRect/>
          </a:stretch>
        </p:blipFill>
        <p:spPr>
          <a:xfrm>
            <a:off x="2133600" y="1110745"/>
            <a:ext cx="5390476" cy="5723809"/>
          </a:xfrm>
          <a:prstGeom prst="rect">
            <a:avLst/>
          </a:prstGeom>
        </p:spPr>
      </p:pic>
    </p:spTree>
    <p:extLst>
      <p:ext uri="{BB962C8B-B14F-4D97-AF65-F5344CB8AC3E}">
        <p14:creationId xmlns:p14="http://schemas.microsoft.com/office/powerpoint/2010/main" val="34605489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806734"/>
            <a:ext cx="7772400" cy="533400"/>
          </a:xfrm>
        </p:spPr>
        <p:txBody>
          <a:bodyPr>
            <a:normAutofit fontScale="90000"/>
          </a:bodyPr>
          <a:lstStyle/>
          <a:p>
            <a:r>
              <a:rPr lang="en-IN" dirty="0">
                <a:solidFill>
                  <a:srgbClr val="FF0000"/>
                </a:solidFill>
              </a:rPr>
              <a:t>Running </a:t>
            </a:r>
            <a:r>
              <a:rPr lang="en-IN" dirty="0" smtClean="0">
                <a:solidFill>
                  <a:srgbClr val="FF0000"/>
                </a:solidFill>
              </a:rPr>
              <a:t>Python on IDLE</a:t>
            </a:r>
            <a:r>
              <a:rPr lang="en-US" dirty="0">
                <a:solidFill>
                  <a:srgbClr val="FF0000"/>
                </a:solidFill>
              </a:rPr>
              <a:t/>
            </a:r>
            <a:br>
              <a:rPr lang="en-US" dirty="0">
                <a:solidFill>
                  <a:srgbClr val="FF0000"/>
                </a:solidFill>
              </a:rPr>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6</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smtClean="0">
              <a:solidFill>
                <a:srgbClr val="FF0000"/>
              </a:solidFill>
            </a:endParaRPr>
          </a:p>
          <a:p>
            <a:pPr algn="just"/>
            <a:endParaRPr lang="en-US" sz="2000" dirty="0" smtClean="0">
              <a:solidFill>
                <a:srgbClr val="7030A0"/>
              </a:solidFill>
            </a:endParaRPr>
          </a:p>
          <a:p>
            <a:pPr algn="just"/>
            <a:endParaRPr lang="en-US" sz="2000" dirty="0" smtClean="0">
              <a:solidFill>
                <a:srgbClr val="7030A0"/>
              </a:solidFill>
            </a:endParaRPr>
          </a:p>
          <a:p>
            <a:pPr algn="just"/>
            <a:endParaRPr lang="en-US" sz="2000" b="1" dirty="0" smtClean="0"/>
          </a:p>
          <a:p>
            <a:pPr algn="just"/>
            <a:endParaRPr lang="en-US" sz="2000" dirty="0" smtClean="0"/>
          </a:p>
          <a:p>
            <a:pPr algn="just"/>
            <a:endParaRPr lang="en-US" sz="2000" b="1" dirty="0" smtClean="0"/>
          </a:p>
          <a:p>
            <a:pPr algn="just"/>
            <a:endParaRPr lang="en-US" sz="2000" b="1" dirty="0"/>
          </a:p>
        </p:txBody>
      </p:sp>
      <p:sp>
        <p:nvSpPr>
          <p:cNvPr id="8" name="Rectangle 7"/>
          <p:cNvSpPr/>
          <p:nvPr/>
        </p:nvSpPr>
        <p:spPr>
          <a:xfrm>
            <a:off x="609600" y="1170087"/>
            <a:ext cx="8305800" cy="4801314"/>
          </a:xfrm>
          <a:prstGeom prst="rect">
            <a:avLst/>
          </a:prstGeom>
        </p:spPr>
        <p:txBody>
          <a:bodyPr wrap="square">
            <a:spAutoFit/>
          </a:bodyPr>
          <a:lstStyle/>
          <a:p>
            <a:r>
              <a:rPr lang="en-IN" dirty="0"/>
              <a:t>1.1.6 Running Python </a:t>
            </a:r>
            <a:r>
              <a:rPr lang="en-IN" dirty="0" smtClean="0"/>
              <a:t>Script Python </a:t>
            </a:r>
            <a:r>
              <a:rPr lang="en-IN" dirty="0"/>
              <a:t>has two basic modes, namely </a:t>
            </a:r>
            <a:r>
              <a:rPr lang="en-IN" b="1" dirty="0">
                <a:solidFill>
                  <a:srgbClr val="FF0000"/>
                </a:solidFill>
              </a:rPr>
              <a:t>normal</a:t>
            </a:r>
            <a:r>
              <a:rPr lang="en-IN" b="1" dirty="0"/>
              <a:t> </a:t>
            </a:r>
            <a:r>
              <a:rPr lang="en-IN" dirty="0"/>
              <a:t>and </a:t>
            </a:r>
            <a:r>
              <a:rPr lang="en-IN" b="1" dirty="0">
                <a:solidFill>
                  <a:srgbClr val="FF0000"/>
                </a:solidFill>
              </a:rPr>
              <a:t>interactive. </a:t>
            </a:r>
            <a:endParaRPr lang="en-IN" b="1" dirty="0" smtClean="0">
              <a:solidFill>
                <a:srgbClr val="FF0000"/>
              </a:solidFill>
            </a:endParaRPr>
          </a:p>
          <a:p>
            <a:r>
              <a:rPr lang="en-IN" dirty="0" smtClean="0"/>
              <a:t>The </a:t>
            </a:r>
            <a:r>
              <a:rPr lang="en-IN" dirty="0"/>
              <a:t>normal script mode is the mode where the scripted and finished </a:t>
            </a:r>
            <a:r>
              <a:rPr lang="en-IN" dirty="0" err="1"/>
              <a:t>py</a:t>
            </a:r>
            <a:r>
              <a:rPr lang="en-IN" dirty="0"/>
              <a:t> files </a:t>
            </a:r>
            <a:r>
              <a:rPr lang="en-IN" dirty="0" smtClean="0"/>
              <a:t>are run </a:t>
            </a:r>
            <a:r>
              <a:rPr lang="en-IN" dirty="0"/>
              <a:t>in the Python interpreter</a:t>
            </a:r>
            <a:r>
              <a:rPr lang="en-IN" dirty="0" smtClean="0"/>
              <a:t>. </a:t>
            </a:r>
          </a:p>
          <a:p>
            <a:r>
              <a:rPr lang="en-IN" dirty="0" smtClean="0"/>
              <a:t>The </a:t>
            </a:r>
            <a:r>
              <a:rPr lang="en-IN" dirty="0"/>
              <a:t>interactive mode is a command line shell which gives immediate feedback for each statement, while running previously fed statements in active memory</a:t>
            </a:r>
            <a:r>
              <a:rPr lang="en-IN" dirty="0" smtClean="0"/>
              <a:t>. As </a:t>
            </a:r>
            <a:r>
              <a:rPr lang="en-IN" dirty="0"/>
              <a:t>new lines are fed into the interpreter, the fed program is evaluated both in </a:t>
            </a:r>
            <a:r>
              <a:rPr lang="en-IN" dirty="0" smtClean="0"/>
              <a:t>part and </a:t>
            </a:r>
            <a:r>
              <a:rPr lang="en-IN" dirty="0"/>
              <a:t>in whole</a:t>
            </a:r>
            <a:r>
              <a:rPr lang="en-IN" dirty="0" smtClean="0"/>
              <a:t>.</a:t>
            </a:r>
          </a:p>
          <a:p>
            <a:pPr marL="342900" indent="-342900">
              <a:buAutoNum type="arabicPeriod"/>
            </a:pPr>
            <a:r>
              <a:rPr lang="en-IN" b="1" dirty="0" smtClean="0">
                <a:solidFill>
                  <a:srgbClr val="FF0000"/>
                </a:solidFill>
              </a:rPr>
              <a:t>Interactive </a:t>
            </a:r>
            <a:r>
              <a:rPr lang="en-IN" b="1" dirty="0">
                <a:solidFill>
                  <a:srgbClr val="FF0000"/>
                </a:solidFill>
              </a:rPr>
              <a:t>Mode: </a:t>
            </a:r>
            <a:r>
              <a:rPr lang="en-IN" dirty="0"/>
              <a:t>Interactive mode is used for quickly and conveniently running single line or blocks of code. Here's an example using the Python shell that comes with a basic Python installation. The "&gt;&gt;&gt;" indicates that the shell is ready to accept interactive commands. For example, if we want to print the statement "Interactive Mode", simply type the appropriate code and hit enter</a:t>
            </a:r>
            <a:r>
              <a:rPr lang="en-IN" dirty="0" smtClean="0"/>
              <a:t>. </a:t>
            </a:r>
          </a:p>
          <a:p>
            <a:pPr marL="342900" indent="-342900">
              <a:buAutoNum type="arabicPeriod"/>
            </a:pPr>
            <a:r>
              <a:rPr lang="en-IN" b="1" dirty="0" smtClean="0">
                <a:solidFill>
                  <a:srgbClr val="FF0000"/>
                </a:solidFill>
              </a:rPr>
              <a:t>Script </a:t>
            </a:r>
            <a:r>
              <a:rPr lang="en-IN" b="1" dirty="0">
                <a:solidFill>
                  <a:srgbClr val="FF0000"/>
                </a:solidFill>
              </a:rPr>
              <a:t>Mode: </a:t>
            </a:r>
            <a:r>
              <a:rPr lang="en-IN" dirty="0"/>
              <a:t>In the standard Python shell, we can go to "File"→ "New File" (or just hit Ctrl + N) to pull up a blank script to write the code. Then save the script with a ".</a:t>
            </a:r>
            <a:r>
              <a:rPr lang="en-IN" dirty="0" err="1"/>
              <a:t>py</a:t>
            </a:r>
            <a:r>
              <a:rPr lang="en-IN" dirty="0"/>
              <a:t>" extension. We can save it anywhere we want for now. though we may want to make a folder somewhere to store the code as we test Python output. To run the script, either select "Run"→ "Run Module" or press F5</a:t>
            </a:r>
          </a:p>
        </p:txBody>
      </p:sp>
    </p:spTree>
    <p:extLst>
      <p:ext uri="{BB962C8B-B14F-4D97-AF65-F5344CB8AC3E}">
        <p14:creationId xmlns:p14="http://schemas.microsoft.com/office/powerpoint/2010/main" val="18476946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806734"/>
            <a:ext cx="7772400" cy="533400"/>
          </a:xfrm>
        </p:spPr>
        <p:txBody>
          <a:bodyPr>
            <a:normAutofit fontScale="90000"/>
          </a:bodyPr>
          <a:lstStyle/>
          <a:p>
            <a:r>
              <a:rPr lang="en-IN" dirty="0" smtClean="0">
                <a:solidFill>
                  <a:srgbClr val="FF0000"/>
                </a:solidFill>
              </a:rPr>
              <a:t>Roll of Python in Data Science</a:t>
            </a:r>
            <a:r>
              <a:rPr lang="en-US" dirty="0">
                <a:solidFill>
                  <a:srgbClr val="FF0000"/>
                </a:solidFill>
              </a:rPr>
              <a:t/>
            </a:r>
            <a:br>
              <a:rPr lang="en-US" dirty="0">
                <a:solidFill>
                  <a:srgbClr val="FF0000"/>
                </a:solidFill>
              </a:rPr>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7</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smtClean="0">
              <a:solidFill>
                <a:srgbClr val="FF0000"/>
              </a:solidFill>
            </a:endParaRPr>
          </a:p>
          <a:p>
            <a:pPr algn="just"/>
            <a:endParaRPr lang="en-US" sz="2000" dirty="0" smtClean="0">
              <a:solidFill>
                <a:srgbClr val="7030A0"/>
              </a:solidFill>
            </a:endParaRPr>
          </a:p>
          <a:p>
            <a:pPr algn="just"/>
            <a:endParaRPr lang="en-US" sz="2000" dirty="0" smtClean="0">
              <a:solidFill>
                <a:srgbClr val="7030A0"/>
              </a:solidFill>
            </a:endParaRPr>
          </a:p>
          <a:p>
            <a:pPr algn="just"/>
            <a:endParaRPr lang="en-US" sz="2000" b="1" dirty="0" smtClean="0"/>
          </a:p>
          <a:p>
            <a:pPr algn="just"/>
            <a:endParaRPr lang="en-US" sz="2000" dirty="0" smtClean="0"/>
          </a:p>
          <a:p>
            <a:pPr algn="just"/>
            <a:endParaRPr lang="en-US" sz="2000" b="1" dirty="0" smtClean="0"/>
          </a:p>
          <a:p>
            <a:pPr algn="just"/>
            <a:endParaRPr lang="en-US" sz="2000" b="1" dirty="0"/>
          </a:p>
        </p:txBody>
      </p:sp>
      <p:sp>
        <p:nvSpPr>
          <p:cNvPr id="8" name="Rectangle 7"/>
          <p:cNvSpPr/>
          <p:nvPr/>
        </p:nvSpPr>
        <p:spPr>
          <a:xfrm>
            <a:off x="609600" y="1170087"/>
            <a:ext cx="8305800" cy="4524315"/>
          </a:xfrm>
          <a:prstGeom prst="rect">
            <a:avLst/>
          </a:prstGeom>
        </p:spPr>
        <p:txBody>
          <a:bodyPr wrap="square">
            <a:spAutoFit/>
          </a:bodyPr>
          <a:lstStyle/>
          <a:p>
            <a:pPr algn="just"/>
            <a:r>
              <a:rPr lang="en-US" dirty="0" smtClean="0"/>
              <a:t>Artificial </a:t>
            </a:r>
            <a:r>
              <a:rPr lang="en-US" dirty="0"/>
              <a:t>Intelligence (AI) is an area of computer science that gives priority t creating intelligent machines that can work like human-beings such as speech recognition, visual perception, translation, and even decision making. </a:t>
            </a:r>
            <a:r>
              <a:rPr lang="en-US" dirty="0" err="1" smtClean="0"/>
              <a:t>NumPy</a:t>
            </a:r>
            <a:r>
              <a:rPr lang="en-US" dirty="0" smtClean="0"/>
              <a:t> </a:t>
            </a:r>
            <a:r>
              <a:rPr lang="en-US" dirty="0"/>
              <a:t>for scientific computation, </a:t>
            </a:r>
            <a:r>
              <a:rPr lang="en-US" dirty="0" err="1"/>
              <a:t>PyBrain</a:t>
            </a:r>
            <a:r>
              <a:rPr lang="en-US" dirty="0"/>
              <a:t> for Python Machine Language, </a:t>
            </a:r>
            <a:r>
              <a:rPr lang="en-US" dirty="0" err="1"/>
              <a:t>SciPy</a:t>
            </a:r>
            <a:r>
              <a:rPr lang="en-US" dirty="0"/>
              <a:t> for advanced Computing, are the libraries to make Python is the suitable language for AL. IDE (Integrated Development Environment) supports to avoid struggles of developers with the use of many algorithms. Python has various library packages to develop and decode the Al project and </a:t>
            </a:r>
            <a:r>
              <a:rPr lang="en-US" dirty="0" err="1"/>
              <a:t>DataScience</a:t>
            </a:r>
            <a:r>
              <a:rPr lang="en-US" dirty="0"/>
              <a:t>. Some of the specialized packages as follows</a:t>
            </a:r>
            <a:r>
              <a:rPr lang="en-US" dirty="0" smtClean="0"/>
              <a:t>:</a:t>
            </a:r>
          </a:p>
          <a:p>
            <a:pPr algn="just"/>
            <a:endParaRPr lang="en-US" dirty="0" smtClean="0"/>
          </a:p>
          <a:p>
            <a:pPr marL="342900" indent="-342900" algn="just">
              <a:buFontTx/>
              <a:buAutoNum type="arabicPeriod"/>
            </a:pPr>
            <a:r>
              <a:rPr lang="en-US" dirty="0" err="1" smtClean="0">
                <a:solidFill>
                  <a:srgbClr val="FF0000"/>
                </a:solidFill>
              </a:rPr>
              <a:t>NumPy</a:t>
            </a:r>
            <a:r>
              <a:rPr lang="en-US" dirty="0">
                <a:solidFill>
                  <a:srgbClr val="FF0000"/>
                </a:solidFill>
              </a:rPr>
              <a:t>: </a:t>
            </a:r>
            <a:r>
              <a:rPr lang="en-US" dirty="0" err="1"/>
              <a:t>NumPy</a:t>
            </a:r>
            <a:r>
              <a:rPr lang="en-US" dirty="0"/>
              <a:t> stands for Numerical Python. </a:t>
            </a:r>
            <a:r>
              <a:rPr lang="en-US" dirty="0" err="1"/>
              <a:t>NumPy</a:t>
            </a:r>
            <a:r>
              <a:rPr lang="en-US" dirty="0"/>
              <a:t> is a Python library </a:t>
            </a:r>
            <a:r>
              <a:rPr lang="en-US" dirty="0" err="1"/>
              <a:t>thatprovides</a:t>
            </a:r>
            <a:r>
              <a:rPr lang="en-US" dirty="0"/>
              <a:t> mathematical functions to handle large dimension arrays. It is used as </a:t>
            </a:r>
            <a:r>
              <a:rPr lang="en-US" dirty="0" err="1"/>
              <a:t>acontainer</a:t>
            </a:r>
            <a:r>
              <a:rPr lang="en-US" dirty="0"/>
              <a:t> for generic data comprising of an N-Dimensional Array </a:t>
            </a:r>
            <a:r>
              <a:rPr lang="en-US" dirty="0" err="1"/>
              <a:t>Object,Integrating</a:t>
            </a:r>
            <a:r>
              <a:rPr lang="en-US" dirty="0"/>
              <a:t> tools for C/C++ Codes, Random Number Capacity, and </a:t>
            </a:r>
            <a:r>
              <a:rPr lang="en-US" dirty="0" err="1"/>
              <a:t>otherfunctions</a:t>
            </a:r>
            <a:r>
              <a:rPr lang="en-US" dirty="0"/>
              <a:t>. The library provides vectorization of mathematical operations on </a:t>
            </a:r>
            <a:r>
              <a:rPr lang="en-US" dirty="0" err="1"/>
              <a:t>theNumpy</a:t>
            </a:r>
            <a:r>
              <a:rPr lang="en-US" dirty="0"/>
              <a:t> array type, which enhances performance and speeds up the </a:t>
            </a:r>
            <a:r>
              <a:rPr lang="en-US" dirty="0" smtClean="0"/>
              <a:t>execution</a:t>
            </a:r>
            <a:endParaRPr lang="en-US" dirty="0"/>
          </a:p>
          <a:p>
            <a:pPr marL="342900" indent="-342900">
              <a:buAutoNum type="arabicPeriod"/>
            </a:pPr>
            <a:endParaRPr lang="en-IN" dirty="0"/>
          </a:p>
        </p:txBody>
      </p:sp>
    </p:spTree>
    <p:extLst>
      <p:ext uri="{BB962C8B-B14F-4D97-AF65-F5344CB8AC3E}">
        <p14:creationId xmlns:p14="http://schemas.microsoft.com/office/powerpoint/2010/main" val="38076583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806734"/>
            <a:ext cx="7772400" cy="533400"/>
          </a:xfrm>
        </p:spPr>
        <p:txBody>
          <a:bodyPr>
            <a:normAutofit fontScale="90000"/>
          </a:bodyPr>
          <a:lstStyle/>
          <a:p>
            <a:r>
              <a:rPr lang="en-IN" dirty="0" smtClean="0">
                <a:solidFill>
                  <a:srgbClr val="FF0000"/>
                </a:solidFill>
              </a:rPr>
              <a:t>Roll of Python in Data Science</a:t>
            </a:r>
            <a:r>
              <a:rPr lang="en-US" dirty="0">
                <a:solidFill>
                  <a:srgbClr val="FF0000"/>
                </a:solidFill>
              </a:rPr>
              <a:t/>
            </a:r>
            <a:br>
              <a:rPr lang="en-US" dirty="0">
                <a:solidFill>
                  <a:srgbClr val="FF0000"/>
                </a:solidFill>
              </a:rPr>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8</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smtClean="0">
              <a:solidFill>
                <a:srgbClr val="FF0000"/>
              </a:solidFill>
            </a:endParaRPr>
          </a:p>
          <a:p>
            <a:pPr algn="just"/>
            <a:endParaRPr lang="en-US" sz="2000" dirty="0" smtClean="0">
              <a:solidFill>
                <a:srgbClr val="7030A0"/>
              </a:solidFill>
            </a:endParaRPr>
          </a:p>
          <a:p>
            <a:pPr algn="just"/>
            <a:endParaRPr lang="en-US" sz="2000" dirty="0" smtClean="0">
              <a:solidFill>
                <a:srgbClr val="7030A0"/>
              </a:solidFill>
            </a:endParaRPr>
          </a:p>
          <a:p>
            <a:pPr algn="just"/>
            <a:endParaRPr lang="en-US" sz="2000" b="1" dirty="0" smtClean="0"/>
          </a:p>
          <a:p>
            <a:pPr algn="just"/>
            <a:endParaRPr lang="en-US" sz="2000" dirty="0" smtClean="0"/>
          </a:p>
          <a:p>
            <a:pPr algn="just"/>
            <a:endParaRPr lang="en-US" sz="2000" b="1" dirty="0" smtClean="0"/>
          </a:p>
          <a:p>
            <a:pPr algn="just"/>
            <a:endParaRPr lang="en-US" sz="2000" b="1" dirty="0"/>
          </a:p>
        </p:txBody>
      </p:sp>
      <p:sp>
        <p:nvSpPr>
          <p:cNvPr id="8" name="Rectangle 7"/>
          <p:cNvSpPr/>
          <p:nvPr/>
        </p:nvSpPr>
        <p:spPr>
          <a:xfrm>
            <a:off x="609600" y="1170087"/>
            <a:ext cx="8305800" cy="2585323"/>
          </a:xfrm>
          <a:prstGeom prst="rect">
            <a:avLst/>
          </a:prstGeom>
        </p:spPr>
        <p:txBody>
          <a:bodyPr wrap="square">
            <a:spAutoFit/>
          </a:bodyPr>
          <a:lstStyle/>
          <a:p>
            <a:pPr algn="just"/>
            <a:r>
              <a:rPr lang="en-US" dirty="0" smtClean="0">
                <a:solidFill>
                  <a:srgbClr val="FF0000"/>
                </a:solidFill>
              </a:rPr>
              <a:t>2. Pandas</a:t>
            </a:r>
            <a:r>
              <a:rPr lang="en-US" dirty="0">
                <a:solidFill>
                  <a:srgbClr val="FF0000"/>
                </a:solidFill>
              </a:rPr>
              <a:t>: </a:t>
            </a:r>
            <a:r>
              <a:rPr lang="en-US" dirty="0"/>
              <a:t>It gives easy-to-use data structures and analytics tools for Python and it is an open-source library. Pandas is one of the most popular Python library for data manipulation and analysis. Pandas provide useful functions to manipulate large amount of structured data. Pandas provide the easiest method to perform analysis. It provides large data structures and manipulating numerical tables and time series data. Pandas is a perfect tool for data wrangling. Pandas is designed for quick and easy data manipulation, aggregation, and visualization. There are two data structures in Pandas: </a:t>
            </a:r>
            <a:r>
              <a:rPr lang="en-US" dirty="0" smtClean="0">
                <a:solidFill>
                  <a:srgbClr val="FF0000"/>
                </a:solidFill>
              </a:rPr>
              <a:t>Series</a:t>
            </a:r>
            <a:r>
              <a:rPr lang="en-US" dirty="0">
                <a:solidFill>
                  <a:srgbClr val="FF0000"/>
                </a:solidFill>
              </a:rPr>
              <a:t>: </a:t>
            </a:r>
            <a:r>
              <a:rPr lang="en-US" dirty="0"/>
              <a:t>It handles and stores data in one-dimensional data</a:t>
            </a:r>
            <a:r>
              <a:rPr lang="en-US" dirty="0" smtClean="0"/>
              <a:t>.</a:t>
            </a:r>
          </a:p>
          <a:p>
            <a:pPr algn="just"/>
            <a:r>
              <a:rPr lang="en-US" dirty="0" err="1" smtClean="0">
                <a:solidFill>
                  <a:srgbClr val="FF0000"/>
                </a:solidFill>
              </a:rPr>
              <a:t>DataFrame</a:t>
            </a:r>
            <a:r>
              <a:rPr lang="en-US" dirty="0"/>
              <a:t>: It handles and stores two-dimensional </a:t>
            </a:r>
            <a:r>
              <a:rPr lang="en-US" dirty="0" err="1" smtClean="0"/>
              <a:t>data.o</a:t>
            </a:r>
            <a:endParaRPr lang="en-IN" dirty="0"/>
          </a:p>
        </p:txBody>
      </p:sp>
    </p:spTree>
    <p:extLst>
      <p:ext uri="{BB962C8B-B14F-4D97-AF65-F5344CB8AC3E}">
        <p14:creationId xmlns:p14="http://schemas.microsoft.com/office/powerpoint/2010/main" val="3174121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806734"/>
            <a:ext cx="7772400" cy="533400"/>
          </a:xfrm>
        </p:spPr>
        <p:txBody>
          <a:bodyPr>
            <a:normAutofit fontScale="90000"/>
          </a:bodyPr>
          <a:lstStyle/>
          <a:p>
            <a:r>
              <a:rPr lang="en-IN" dirty="0" smtClean="0">
                <a:solidFill>
                  <a:srgbClr val="FF0000"/>
                </a:solidFill>
              </a:rPr>
              <a:t>Roll of Python in Data Science</a:t>
            </a:r>
            <a:r>
              <a:rPr lang="en-US" dirty="0">
                <a:solidFill>
                  <a:srgbClr val="FF0000"/>
                </a:solidFill>
              </a:rPr>
              <a:t/>
            </a:r>
            <a:br>
              <a:rPr lang="en-US" dirty="0">
                <a:solidFill>
                  <a:srgbClr val="FF0000"/>
                </a:solidFill>
              </a:rPr>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9</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smtClean="0">
              <a:solidFill>
                <a:srgbClr val="FF0000"/>
              </a:solidFill>
            </a:endParaRPr>
          </a:p>
          <a:p>
            <a:pPr algn="just"/>
            <a:endParaRPr lang="en-US" sz="2000" dirty="0" smtClean="0">
              <a:solidFill>
                <a:srgbClr val="7030A0"/>
              </a:solidFill>
            </a:endParaRPr>
          </a:p>
          <a:p>
            <a:pPr algn="just"/>
            <a:endParaRPr lang="en-US" sz="2000" dirty="0" smtClean="0">
              <a:solidFill>
                <a:srgbClr val="7030A0"/>
              </a:solidFill>
            </a:endParaRPr>
          </a:p>
          <a:p>
            <a:pPr algn="just"/>
            <a:endParaRPr lang="en-US" sz="2000" b="1" dirty="0" smtClean="0"/>
          </a:p>
          <a:p>
            <a:pPr algn="just"/>
            <a:endParaRPr lang="en-US" sz="2000" dirty="0" smtClean="0"/>
          </a:p>
          <a:p>
            <a:pPr algn="just"/>
            <a:endParaRPr lang="en-US" sz="2000" b="1" dirty="0" smtClean="0"/>
          </a:p>
          <a:p>
            <a:pPr algn="just"/>
            <a:endParaRPr lang="en-US" sz="2000" b="1" dirty="0"/>
          </a:p>
        </p:txBody>
      </p:sp>
      <p:sp>
        <p:nvSpPr>
          <p:cNvPr id="8" name="Rectangle 7"/>
          <p:cNvSpPr/>
          <p:nvPr/>
        </p:nvSpPr>
        <p:spPr>
          <a:xfrm>
            <a:off x="609600" y="1170087"/>
            <a:ext cx="8305800" cy="4247317"/>
          </a:xfrm>
          <a:prstGeom prst="rect">
            <a:avLst/>
          </a:prstGeom>
        </p:spPr>
        <p:txBody>
          <a:bodyPr wrap="square">
            <a:spAutoFit/>
          </a:bodyPr>
          <a:lstStyle/>
          <a:p>
            <a:pPr marL="342900" indent="-342900">
              <a:buAutoNum type="arabicPeriod"/>
            </a:pPr>
            <a:endParaRPr lang="en-US" dirty="0"/>
          </a:p>
          <a:p>
            <a:r>
              <a:rPr lang="en-US" dirty="0" smtClean="0">
                <a:solidFill>
                  <a:srgbClr val="FF0000"/>
                </a:solidFill>
              </a:rPr>
              <a:t>3. </a:t>
            </a:r>
            <a:r>
              <a:rPr lang="en-US" dirty="0" err="1" smtClean="0">
                <a:solidFill>
                  <a:srgbClr val="FF0000"/>
                </a:solidFill>
              </a:rPr>
              <a:t>Matplotlib</a:t>
            </a:r>
            <a:r>
              <a:rPr lang="en-US" dirty="0">
                <a:solidFill>
                  <a:srgbClr val="FF0000"/>
                </a:solidFill>
              </a:rPr>
              <a:t>: </a:t>
            </a:r>
            <a:r>
              <a:rPr lang="en-US" dirty="0"/>
              <a:t>It is a 2D plotting library to create publication-quality images. </a:t>
            </a:r>
            <a:r>
              <a:rPr lang="en-US" dirty="0" err="1"/>
              <a:t>Matplotlib</a:t>
            </a:r>
            <a:r>
              <a:rPr lang="en-US" dirty="0"/>
              <a:t> is another useful Python library for Data Visualization. </a:t>
            </a:r>
            <a:r>
              <a:rPr lang="en-US" dirty="0" err="1"/>
              <a:t>Matplotlib</a:t>
            </a:r>
            <a:r>
              <a:rPr lang="en-US" dirty="0"/>
              <a:t> allows making quick line graphs, pie charts, histograms, and other professional grade figures. </a:t>
            </a:r>
            <a:r>
              <a:rPr lang="en-US" dirty="0" err="1"/>
              <a:t>Matplotlib</a:t>
            </a:r>
            <a:r>
              <a:rPr lang="en-US" dirty="0"/>
              <a:t> has interactive features like zooming and planning and saving the Graph in graphics </a:t>
            </a:r>
            <a:r>
              <a:rPr lang="en-US" dirty="0" smtClean="0"/>
              <a:t>format.</a:t>
            </a:r>
          </a:p>
          <a:p>
            <a:r>
              <a:rPr lang="en-US" b="1" dirty="0" smtClean="0">
                <a:solidFill>
                  <a:srgbClr val="FF0000"/>
                </a:solidFill>
              </a:rPr>
              <a:t>4. </a:t>
            </a:r>
            <a:r>
              <a:rPr lang="en-US" b="1" dirty="0" err="1" smtClean="0">
                <a:solidFill>
                  <a:srgbClr val="FF0000"/>
                </a:solidFill>
              </a:rPr>
              <a:t>SciPy</a:t>
            </a:r>
            <a:r>
              <a:rPr lang="en-US" b="1" dirty="0">
                <a:solidFill>
                  <a:srgbClr val="FF0000"/>
                </a:solidFill>
              </a:rPr>
              <a:t>: </a:t>
            </a:r>
            <a:r>
              <a:rPr lang="en-US" dirty="0" err="1"/>
              <a:t>Scipy</a:t>
            </a:r>
            <a:r>
              <a:rPr lang="en-US" dirty="0"/>
              <a:t> is another popular Python library for data science and scientific computing. </a:t>
            </a:r>
            <a:r>
              <a:rPr lang="en-US" dirty="0" err="1"/>
              <a:t>Scipy</a:t>
            </a:r>
            <a:r>
              <a:rPr lang="en-US" dirty="0"/>
              <a:t> provides great functionality to scientific mathematics and computing programming. </a:t>
            </a:r>
            <a:r>
              <a:rPr lang="en-US" dirty="0" err="1"/>
              <a:t>SciPy</a:t>
            </a:r>
            <a:r>
              <a:rPr lang="en-US" dirty="0"/>
              <a:t> contains sub-modules for optimization, linear algebra, integration, interpolation, special functions, FFT, signal and image. processing, ODE solvers, </a:t>
            </a:r>
            <a:r>
              <a:rPr lang="en-US" dirty="0" err="1"/>
              <a:t>Statmodel</a:t>
            </a:r>
            <a:r>
              <a:rPr lang="en-US" dirty="0"/>
              <a:t> and other tasks common in science and engineering</a:t>
            </a:r>
            <a:r>
              <a:rPr lang="en-US" dirty="0" smtClean="0"/>
              <a:t>.</a:t>
            </a:r>
          </a:p>
          <a:p>
            <a:r>
              <a:rPr lang="en-US" dirty="0" smtClean="0">
                <a:solidFill>
                  <a:srgbClr val="FF0000"/>
                </a:solidFill>
              </a:rPr>
              <a:t>5. AIMA</a:t>
            </a:r>
            <a:r>
              <a:rPr lang="en-US" dirty="0">
                <a:solidFill>
                  <a:srgbClr val="FF0000"/>
                </a:solidFill>
              </a:rPr>
              <a:t>: </a:t>
            </a:r>
            <a:r>
              <a:rPr lang="en-US" dirty="0"/>
              <a:t>"Artificial Intelligence - A Modern Approach" by Russel and </a:t>
            </a:r>
            <a:r>
              <a:rPr lang="en-US" dirty="0" err="1"/>
              <a:t>Norvig</a:t>
            </a:r>
            <a:r>
              <a:rPr lang="en-US" dirty="0"/>
              <a:t> used for implementing algorithms for general AI. </a:t>
            </a:r>
            <a:endParaRPr lang="en-US" dirty="0" smtClean="0"/>
          </a:p>
          <a:p>
            <a:r>
              <a:rPr lang="en-US" dirty="0" smtClean="0">
                <a:solidFill>
                  <a:srgbClr val="FF0000"/>
                </a:solidFill>
              </a:rPr>
              <a:t>6. </a:t>
            </a:r>
            <a:r>
              <a:rPr lang="en-US" dirty="0" err="1">
                <a:solidFill>
                  <a:srgbClr val="FF0000"/>
                </a:solidFill>
              </a:rPr>
              <a:t>pyDatalog</a:t>
            </a:r>
            <a:r>
              <a:rPr lang="en-US" dirty="0">
                <a:solidFill>
                  <a:srgbClr val="FF0000"/>
                </a:solidFill>
              </a:rPr>
              <a:t>: </a:t>
            </a:r>
            <a:r>
              <a:rPr lang="en-US" dirty="0"/>
              <a:t>It is a logic programming engine in </a:t>
            </a:r>
            <a:r>
              <a:rPr lang="en-US" dirty="0" smtClean="0"/>
              <a:t>Python.</a:t>
            </a:r>
          </a:p>
          <a:p>
            <a:r>
              <a:rPr lang="en-US" dirty="0" smtClean="0">
                <a:solidFill>
                  <a:srgbClr val="FF0000"/>
                </a:solidFill>
              </a:rPr>
              <a:t>7. </a:t>
            </a:r>
            <a:r>
              <a:rPr lang="en-US" dirty="0" err="1" smtClean="0">
                <a:solidFill>
                  <a:srgbClr val="FF0000"/>
                </a:solidFill>
              </a:rPr>
              <a:t>EasyAI</a:t>
            </a:r>
            <a:r>
              <a:rPr lang="en-US" dirty="0">
                <a:solidFill>
                  <a:srgbClr val="FF0000"/>
                </a:solidFill>
              </a:rPr>
              <a:t>: </a:t>
            </a:r>
            <a:r>
              <a:rPr lang="en-US" dirty="0"/>
              <a:t>It used to create a simple Python engine for two-player games with AI. (Ex: </a:t>
            </a:r>
            <a:r>
              <a:rPr lang="en-US" dirty="0" err="1"/>
              <a:t>Negamax</a:t>
            </a:r>
            <a:r>
              <a:rPr lang="en-US" dirty="0" smtClean="0"/>
              <a:t>)</a:t>
            </a:r>
            <a:endParaRPr lang="en-IN" dirty="0"/>
          </a:p>
        </p:txBody>
      </p:sp>
    </p:spTree>
    <p:extLst>
      <p:ext uri="{BB962C8B-B14F-4D97-AF65-F5344CB8AC3E}">
        <p14:creationId xmlns:p14="http://schemas.microsoft.com/office/powerpoint/2010/main" val="3942499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806734"/>
            <a:ext cx="7772400" cy="533400"/>
          </a:xfrm>
        </p:spPr>
        <p:txBody>
          <a:bodyPr>
            <a:normAutofit fontScale="90000"/>
          </a:bodyPr>
          <a:lstStyle/>
          <a:p>
            <a:r>
              <a:rPr lang="en-IN" dirty="0" smtClean="0">
                <a:solidFill>
                  <a:srgbClr val="FF0000"/>
                </a:solidFill>
              </a:rPr>
              <a:t>Roll of Python in Data Science</a:t>
            </a:r>
            <a:r>
              <a:rPr lang="en-US" dirty="0">
                <a:solidFill>
                  <a:srgbClr val="FF0000"/>
                </a:solidFill>
              </a:rPr>
              <a:t/>
            </a:r>
            <a:br>
              <a:rPr lang="en-US" dirty="0">
                <a:solidFill>
                  <a:srgbClr val="FF0000"/>
                </a:solidFill>
              </a:rPr>
            </a:br>
            <a:endParaRPr lang="en-US" dirty="0"/>
          </a:p>
        </p:txBody>
      </p:sp>
      <p:sp>
        <p:nvSpPr>
          <p:cNvPr id="3" name="Subtitle 2"/>
          <p:cNvSpPr>
            <a:spLocks noGrp="1"/>
          </p:cNvSpPr>
          <p:nvPr>
            <p:ph type="subTitle" idx="1"/>
          </p:nvPr>
        </p:nvSpPr>
        <p:spPr/>
        <p:txBody>
          <a:bodyPr>
            <a:normAutofit/>
          </a:bodyPr>
          <a:lstStyle/>
          <a:p>
            <a:r>
              <a:rPr lang="en-US" dirty="0" smtClean="0"/>
              <a:t/>
            </a:r>
            <a:br>
              <a:rPr lang="en-US" dirty="0" smtClean="0"/>
            </a:br>
            <a:endParaRPr lang="en-US" dirty="0"/>
          </a:p>
        </p:txBody>
      </p:sp>
      <p:sp>
        <p:nvSpPr>
          <p:cNvPr id="5" name="Date Placeholder 4"/>
          <p:cNvSpPr>
            <a:spLocks noGrp="1"/>
          </p:cNvSpPr>
          <p:nvPr>
            <p:ph type="dt" sz="half" idx="10"/>
          </p:nvPr>
        </p:nvSpPr>
        <p:spPr/>
        <p:txBody>
          <a:bodyPr/>
          <a:lstStyle/>
          <a:p>
            <a:fld id="{AEADF7F4-C89D-4670-A5C4-12CF7472777A}" type="datetime1">
              <a:rPr lang="en-US" smtClean="0"/>
              <a:pPr/>
              <a:t>5/26/2022</a:t>
            </a:fld>
            <a:endParaRPr lang="en-US"/>
          </a:p>
        </p:txBody>
      </p:sp>
      <p:sp>
        <p:nvSpPr>
          <p:cNvPr id="4" name="Footer Placeholder 3"/>
          <p:cNvSpPr>
            <a:spLocks noGrp="1"/>
          </p:cNvSpPr>
          <p:nvPr>
            <p:ph type="ftr" sz="quarter" idx="11"/>
          </p:nvPr>
        </p:nvSpPr>
        <p:spPr/>
        <p:txBody>
          <a:bodyPr/>
          <a:lstStyle/>
          <a:p>
            <a:r>
              <a:rPr lang="en-US" smtClean="0"/>
              <a:t>Prof. Prashant Wadkar</a:t>
            </a:r>
            <a:endParaRPr lang="en-US"/>
          </a:p>
        </p:txBody>
      </p:sp>
      <p:sp>
        <p:nvSpPr>
          <p:cNvPr id="6" name="Slide Number Placeholder 5"/>
          <p:cNvSpPr>
            <a:spLocks noGrp="1"/>
          </p:cNvSpPr>
          <p:nvPr>
            <p:ph type="sldNum" sz="quarter" idx="12"/>
          </p:nvPr>
        </p:nvSpPr>
        <p:spPr>
          <a:xfrm>
            <a:off x="6553200" y="6248400"/>
            <a:ext cx="2133600" cy="365125"/>
          </a:xfrm>
        </p:spPr>
        <p:txBody>
          <a:bodyPr/>
          <a:lstStyle/>
          <a:p>
            <a:fld id="{025C76C4-C5C4-4BD3-AB93-373A4602CB55}" type="slidenum">
              <a:rPr lang="en-US" smtClean="0"/>
              <a:pPr/>
              <a:t>10</a:t>
            </a:fld>
            <a:endParaRPr lang="en-US" dirty="0"/>
          </a:p>
        </p:txBody>
      </p:sp>
      <p:sp>
        <p:nvSpPr>
          <p:cNvPr id="9" name="TextBox 8"/>
          <p:cNvSpPr txBox="1"/>
          <p:nvPr/>
        </p:nvSpPr>
        <p:spPr>
          <a:xfrm>
            <a:off x="838200" y="3580179"/>
            <a:ext cx="7315200" cy="2246769"/>
          </a:xfrm>
          <a:prstGeom prst="rect">
            <a:avLst/>
          </a:prstGeom>
          <a:noFill/>
        </p:spPr>
        <p:txBody>
          <a:bodyPr wrap="square" rtlCol="0">
            <a:spAutoFit/>
          </a:bodyPr>
          <a:lstStyle/>
          <a:p>
            <a:pPr algn="just"/>
            <a:endParaRPr lang="en-US" sz="2000" dirty="0" smtClean="0">
              <a:solidFill>
                <a:srgbClr val="FF0000"/>
              </a:solidFill>
            </a:endParaRPr>
          </a:p>
          <a:p>
            <a:pPr algn="just"/>
            <a:endParaRPr lang="en-US" sz="2000" dirty="0" smtClean="0">
              <a:solidFill>
                <a:srgbClr val="7030A0"/>
              </a:solidFill>
            </a:endParaRPr>
          </a:p>
          <a:p>
            <a:pPr algn="just"/>
            <a:endParaRPr lang="en-US" sz="2000" dirty="0" smtClean="0">
              <a:solidFill>
                <a:srgbClr val="7030A0"/>
              </a:solidFill>
            </a:endParaRPr>
          </a:p>
          <a:p>
            <a:pPr algn="just"/>
            <a:endParaRPr lang="en-US" sz="2000" b="1" dirty="0" smtClean="0"/>
          </a:p>
          <a:p>
            <a:pPr algn="just"/>
            <a:endParaRPr lang="en-US" sz="2000" dirty="0" smtClean="0"/>
          </a:p>
          <a:p>
            <a:pPr algn="just"/>
            <a:endParaRPr lang="en-US" sz="2000" b="1" dirty="0" smtClean="0"/>
          </a:p>
          <a:p>
            <a:pPr algn="just"/>
            <a:endParaRPr lang="en-US" sz="2000" b="1" dirty="0"/>
          </a:p>
        </p:txBody>
      </p:sp>
      <p:sp>
        <p:nvSpPr>
          <p:cNvPr id="8" name="Rectangle 7"/>
          <p:cNvSpPr/>
          <p:nvPr/>
        </p:nvSpPr>
        <p:spPr>
          <a:xfrm>
            <a:off x="609600" y="1170087"/>
            <a:ext cx="8305800" cy="4524315"/>
          </a:xfrm>
          <a:prstGeom prst="rect">
            <a:avLst/>
          </a:prstGeom>
        </p:spPr>
        <p:txBody>
          <a:bodyPr wrap="square">
            <a:spAutoFit/>
          </a:bodyPr>
          <a:lstStyle/>
          <a:p>
            <a:pPr marL="342900" indent="-342900">
              <a:buAutoNum type="arabicPeriod"/>
            </a:pPr>
            <a:endParaRPr lang="en-US" dirty="0"/>
          </a:p>
          <a:p>
            <a:pPr algn="just"/>
            <a:r>
              <a:rPr lang="en-US" dirty="0" smtClean="0">
                <a:solidFill>
                  <a:srgbClr val="FF0000"/>
                </a:solidFill>
              </a:rPr>
              <a:t>8. </a:t>
            </a:r>
            <a:r>
              <a:rPr lang="en-US" dirty="0" err="1" smtClean="0">
                <a:solidFill>
                  <a:srgbClr val="FF0000"/>
                </a:solidFill>
              </a:rPr>
              <a:t>PyBrain</a:t>
            </a:r>
            <a:r>
              <a:rPr lang="en-US" dirty="0">
                <a:solidFill>
                  <a:srgbClr val="FF0000"/>
                </a:solidFill>
              </a:rPr>
              <a:t>: </a:t>
            </a:r>
            <a:r>
              <a:rPr lang="en-US" dirty="0"/>
              <a:t>A flexible, simple but effective algorithm for Machine Learning </a:t>
            </a:r>
            <a:r>
              <a:rPr lang="en-US" dirty="0" err="1"/>
              <a:t>whichprovides</a:t>
            </a:r>
            <a:r>
              <a:rPr lang="en-US" dirty="0"/>
              <a:t> predefined environments to test and compare algorithms</a:t>
            </a:r>
            <a:r>
              <a:rPr lang="en-US" dirty="0" smtClean="0"/>
              <a:t>.</a:t>
            </a:r>
          </a:p>
          <a:p>
            <a:pPr algn="just"/>
            <a:r>
              <a:rPr lang="en-US" b="1" dirty="0" smtClean="0">
                <a:solidFill>
                  <a:srgbClr val="FF0000"/>
                </a:solidFill>
              </a:rPr>
              <a:t>9. </a:t>
            </a:r>
            <a:r>
              <a:rPr lang="en-US" b="1" dirty="0" err="1" smtClean="0">
                <a:solidFill>
                  <a:srgbClr val="FF0000"/>
                </a:solidFill>
              </a:rPr>
              <a:t>PyML</a:t>
            </a:r>
            <a:r>
              <a:rPr lang="en-US" b="1" dirty="0">
                <a:solidFill>
                  <a:srgbClr val="FF0000"/>
                </a:solidFill>
              </a:rPr>
              <a:t>: </a:t>
            </a:r>
            <a:r>
              <a:rPr lang="en-US" dirty="0"/>
              <a:t>It is a bilateral framework for SVMs and other kernel methods. And also </a:t>
            </a:r>
            <a:r>
              <a:rPr lang="en-US" dirty="0" err="1"/>
              <a:t>itsupported</a:t>
            </a:r>
            <a:r>
              <a:rPr lang="en-US" dirty="0"/>
              <a:t> on Linux and Mac OS X</a:t>
            </a:r>
            <a:r>
              <a:rPr lang="en-US" dirty="0" smtClean="0"/>
              <a:t>.</a:t>
            </a:r>
          </a:p>
          <a:p>
            <a:pPr algn="just"/>
            <a:r>
              <a:rPr lang="en-US" b="1" dirty="0" smtClean="0">
                <a:solidFill>
                  <a:srgbClr val="FF0000"/>
                </a:solidFill>
              </a:rPr>
              <a:t>10. </a:t>
            </a:r>
            <a:r>
              <a:rPr lang="en-US" b="1" dirty="0" err="1" smtClean="0">
                <a:solidFill>
                  <a:srgbClr val="FF0000"/>
                </a:solidFill>
              </a:rPr>
              <a:t>Scikit</a:t>
            </a:r>
            <a:r>
              <a:rPr lang="en-US" b="1" dirty="0" smtClean="0">
                <a:solidFill>
                  <a:srgbClr val="FF0000"/>
                </a:solidFill>
              </a:rPr>
              <a:t>-Learn</a:t>
            </a:r>
            <a:r>
              <a:rPr lang="en-US" b="1" dirty="0">
                <a:solidFill>
                  <a:srgbClr val="FF0000"/>
                </a:solidFill>
              </a:rPr>
              <a:t>/ </a:t>
            </a:r>
            <a:r>
              <a:rPr lang="en-US" b="1" dirty="0" err="1">
                <a:solidFill>
                  <a:srgbClr val="FF0000"/>
                </a:solidFill>
              </a:rPr>
              <a:t>Sklearn</a:t>
            </a:r>
            <a:r>
              <a:rPr lang="en-US" b="1" dirty="0">
                <a:solidFill>
                  <a:srgbClr val="FF0000"/>
                </a:solidFill>
              </a:rPr>
              <a:t>: </a:t>
            </a:r>
            <a:r>
              <a:rPr lang="en-US" dirty="0"/>
              <a:t>It is the most popular library for Machine Learning that is a highly effective tool for data analysis. </a:t>
            </a:r>
            <a:r>
              <a:rPr lang="en-US" dirty="0" err="1"/>
              <a:t>Sklearn</a:t>
            </a:r>
            <a:r>
              <a:rPr lang="en-US" dirty="0"/>
              <a:t> is built on </a:t>
            </a:r>
            <a:r>
              <a:rPr lang="en-US" dirty="0" err="1"/>
              <a:t>NumPy</a:t>
            </a:r>
            <a:r>
              <a:rPr lang="en-US" dirty="0"/>
              <a:t>, </a:t>
            </a:r>
            <a:r>
              <a:rPr lang="en-US" dirty="0" err="1"/>
              <a:t>SciPy</a:t>
            </a:r>
            <a:r>
              <a:rPr lang="en-US" dirty="0"/>
              <a:t>, and </a:t>
            </a:r>
            <a:r>
              <a:rPr lang="en-US" dirty="0" err="1"/>
              <a:t>matplotlib</a:t>
            </a:r>
            <a:r>
              <a:rPr lang="en-US" dirty="0"/>
              <a:t>. </a:t>
            </a:r>
            <a:r>
              <a:rPr lang="en-US" dirty="0" err="1"/>
              <a:t>Sklearn</a:t>
            </a:r>
            <a:r>
              <a:rPr lang="en-US" dirty="0"/>
              <a:t> provides easy and simple tools for data mining and data analysis. It provides a set of common machine learning algorithms to users through a consistent interface. </a:t>
            </a:r>
            <a:r>
              <a:rPr lang="en-US" dirty="0" err="1"/>
              <a:t>Scikit</a:t>
            </a:r>
            <a:r>
              <a:rPr lang="en-US" dirty="0"/>
              <a:t>-Learn help to quickly implement popular algorithms on datasets and solve real-world </a:t>
            </a:r>
            <a:r>
              <a:rPr lang="en-US" dirty="0" smtClean="0"/>
              <a:t>problems.</a:t>
            </a:r>
          </a:p>
          <a:p>
            <a:pPr algn="just"/>
            <a:r>
              <a:rPr lang="en-US" b="1" dirty="0" smtClean="0">
                <a:solidFill>
                  <a:srgbClr val="FF0000"/>
                </a:solidFill>
              </a:rPr>
              <a:t>11 .MDP-Toolkit</a:t>
            </a:r>
            <a:r>
              <a:rPr lang="en-US" b="1" dirty="0">
                <a:solidFill>
                  <a:srgbClr val="FF0000"/>
                </a:solidFill>
              </a:rPr>
              <a:t>: </a:t>
            </a:r>
            <a:r>
              <a:rPr lang="en-US" dirty="0"/>
              <a:t>It has both supervised and unsupervised learning algorithm </a:t>
            </a:r>
            <a:r>
              <a:rPr lang="en-US" dirty="0" err="1"/>
              <a:t>whichcan</a:t>
            </a:r>
            <a:r>
              <a:rPr lang="en-US" dirty="0"/>
              <a:t> be expanded to the use of network architecture</a:t>
            </a:r>
            <a:r>
              <a:rPr lang="en-US" dirty="0" smtClean="0"/>
              <a:t>.</a:t>
            </a:r>
          </a:p>
          <a:p>
            <a:pPr algn="just"/>
            <a:r>
              <a:rPr lang="en-US" b="1" dirty="0" smtClean="0">
                <a:solidFill>
                  <a:srgbClr val="FF0000"/>
                </a:solidFill>
              </a:rPr>
              <a:t>12. NLTK</a:t>
            </a:r>
            <a:r>
              <a:rPr lang="en-US" b="1" dirty="0">
                <a:solidFill>
                  <a:srgbClr val="FF0000"/>
                </a:solidFill>
              </a:rPr>
              <a:t>: </a:t>
            </a:r>
            <a:r>
              <a:rPr lang="en-US" dirty="0"/>
              <a:t>Natural Language Toolkit (NLTK) is used to do linguistic data and documentation for research and development in text analysis and Natural Language Processing</a:t>
            </a:r>
            <a:endParaRPr lang="en-IN" dirty="0"/>
          </a:p>
        </p:txBody>
      </p:sp>
    </p:spTree>
    <p:extLst>
      <p:ext uri="{BB962C8B-B14F-4D97-AF65-F5344CB8AC3E}">
        <p14:creationId xmlns:p14="http://schemas.microsoft.com/office/powerpoint/2010/main" val="30974953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499DAFF9993574D8983798955CD2BEA" ma:contentTypeVersion="14" ma:contentTypeDescription="Create a new document." ma:contentTypeScope="" ma:versionID="48f5fb8dbe05425fa1947feefa4b0df9">
  <xsd:schema xmlns:xsd="http://www.w3.org/2001/XMLSchema" xmlns:xs="http://www.w3.org/2001/XMLSchema" xmlns:p="http://schemas.microsoft.com/office/2006/metadata/properties" xmlns:ns2="90db47ee-53c7-47b8-8d9c-dc5d266bf6ed" xmlns:ns3="07860a32-7f92-4cf8-bff4-a36adff937bc" targetNamespace="http://schemas.microsoft.com/office/2006/metadata/properties" ma:root="true" ma:fieldsID="d4761581cbff816a69d94465ee0b7299" ns2:_="" ns3:_="">
    <xsd:import namespace="90db47ee-53c7-47b8-8d9c-dc5d266bf6ed"/>
    <xsd:import namespace="07860a32-7f92-4cf8-bff4-a36adff937b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3:TaxCatchAll" minOccurs="0"/>
                <xsd:element ref="ns2:MediaServiceGenerationTime" minOccurs="0"/>
                <xsd:element ref="ns2:MediaServiceEventHashCode"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db47ee-53c7-47b8-8d9c-dc5d266bf6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1702b86-8ab3-4945-be37-589f4ebcce2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7860a32-7f92-4cf8-bff4-a36adff93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aab492b-f257-43f7-a737-c5e7e5cadc57}" ma:internalName="TaxCatchAll" ma:showField="CatchAllData" ma:web="07860a32-7f92-4cf8-bff4-a36adff93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0db47ee-53c7-47b8-8d9c-dc5d266bf6ed">
      <Terms xmlns="http://schemas.microsoft.com/office/infopath/2007/PartnerControls"/>
    </lcf76f155ced4ddcb4097134ff3c332f>
    <TaxCatchAll xmlns="07860a32-7f92-4cf8-bff4-a36adff937bc" xsi:nil="true"/>
  </documentManagement>
</p:properties>
</file>

<file path=customXml/itemProps1.xml><?xml version="1.0" encoding="utf-8"?>
<ds:datastoreItem xmlns:ds="http://schemas.openxmlformats.org/officeDocument/2006/customXml" ds:itemID="{6091D9AB-77B7-4E21-9CC4-BF168E98AE3E}"/>
</file>

<file path=customXml/itemProps2.xml><?xml version="1.0" encoding="utf-8"?>
<ds:datastoreItem xmlns:ds="http://schemas.openxmlformats.org/officeDocument/2006/customXml" ds:itemID="{4E39B753-509E-4E8F-B195-FEC974D8A8B9}">
  <ds:schemaRefs>
    <ds:schemaRef ds:uri="http://schemas.microsoft.com/sharepoint/v3/contenttype/forms"/>
  </ds:schemaRefs>
</ds:datastoreItem>
</file>

<file path=customXml/itemProps3.xml><?xml version="1.0" encoding="utf-8"?>
<ds:datastoreItem xmlns:ds="http://schemas.openxmlformats.org/officeDocument/2006/customXml" ds:itemID="{A4666F43-DCA7-493E-9919-75D9D59D417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3813</TotalTime>
  <Words>1340</Words>
  <Application>Microsoft Office PowerPoint</Application>
  <PresentationFormat>On-screen Show (4:3)</PresentationFormat>
  <Paragraphs>135</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Python Editors </vt:lpstr>
      <vt:lpstr>Python Editors </vt:lpstr>
      <vt:lpstr>Limitations of Python </vt:lpstr>
      <vt:lpstr>Python Program Stricture </vt:lpstr>
      <vt:lpstr>Running Python on IDLE </vt:lpstr>
      <vt:lpstr>Roll of Python in Data Science </vt:lpstr>
      <vt:lpstr>Roll of Python in Data Science </vt:lpstr>
      <vt:lpstr>Roll of Python in Data Science </vt:lpstr>
      <vt:lpstr>Roll of Python in Data Science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prashant</dc:creator>
  <cp:lastModifiedBy>IIMS Faculty</cp:lastModifiedBy>
  <cp:revision>603</cp:revision>
  <dcterms:created xsi:type="dcterms:W3CDTF">2020-07-18T06:26:08Z</dcterms:created>
  <dcterms:modified xsi:type="dcterms:W3CDTF">2022-05-26T05:59:06Z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0x0101005499DAFF9993574D8983798955CD2BEA</vt:lpwstr>
  </property>
</Properties>
</file>