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2" r:id="rId1"/>
  </p:sldMasterIdLst>
  <p:notesMasterIdLst>
    <p:notesMasterId r:id="rId58"/>
  </p:notesMasterIdLst>
  <p:sldIdLst>
    <p:sldId id="321" r:id="rId2"/>
    <p:sldId id="257" r:id="rId3"/>
    <p:sldId id="345" r:id="rId4"/>
    <p:sldId id="434" r:id="rId5"/>
    <p:sldId id="437" r:id="rId6"/>
    <p:sldId id="435" r:id="rId7"/>
    <p:sldId id="438" r:id="rId8"/>
    <p:sldId id="318" r:id="rId9"/>
    <p:sldId id="346" r:id="rId10"/>
    <p:sldId id="347" r:id="rId11"/>
    <p:sldId id="348" r:id="rId12"/>
    <p:sldId id="349" r:id="rId13"/>
    <p:sldId id="350" r:id="rId14"/>
    <p:sldId id="356" r:id="rId15"/>
    <p:sldId id="355" r:id="rId16"/>
    <p:sldId id="363" r:id="rId17"/>
    <p:sldId id="359" r:id="rId18"/>
    <p:sldId id="357" r:id="rId19"/>
    <p:sldId id="354" r:id="rId20"/>
    <p:sldId id="353" r:id="rId21"/>
    <p:sldId id="351" r:id="rId22"/>
    <p:sldId id="364" r:id="rId23"/>
    <p:sldId id="366" r:id="rId24"/>
    <p:sldId id="365" r:id="rId25"/>
    <p:sldId id="352" r:id="rId26"/>
    <p:sldId id="373" r:id="rId27"/>
    <p:sldId id="383" r:id="rId28"/>
    <p:sldId id="386" r:id="rId29"/>
    <p:sldId id="439" r:id="rId30"/>
    <p:sldId id="400" r:id="rId31"/>
    <p:sldId id="401" r:id="rId32"/>
    <p:sldId id="402" r:id="rId33"/>
    <p:sldId id="404" r:id="rId34"/>
    <p:sldId id="405" r:id="rId35"/>
    <p:sldId id="406" r:id="rId36"/>
    <p:sldId id="407" r:id="rId37"/>
    <p:sldId id="410" r:id="rId38"/>
    <p:sldId id="415" r:id="rId39"/>
    <p:sldId id="416" r:id="rId40"/>
    <p:sldId id="419" r:id="rId41"/>
    <p:sldId id="361" r:id="rId42"/>
    <p:sldId id="362" r:id="rId43"/>
    <p:sldId id="420" r:id="rId44"/>
    <p:sldId id="421" r:id="rId45"/>
    <p:sldId id="422" r:id="rId46"/>
    <p:sldId id="424" r:id="rId47"/>
    <p:sldId id="425" r:id="rId48"/>
    <p:sldId id="426" r:id="rId49"/>
    <p:sldId id="427" r:id="rId50"/>
    <p:sldId id="428" r:id="rId51"/>
    <p:sldId id="429" r:id="rId52"/>
    <p:sldId id="432" r:id="rId53"/>
    <p:sldId id="431" r:id="rId54"/>
    <p:sldId id="430" r:id="rId55"/>
    <p:sldId id="433" r:id="rId56"/>
    <p:sldId id="305" r:id="rId5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18" d="100"/>
          <a:sy n="118" d="100"/>
        </p:scale>
        <p:origin x="-1434" y="2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234272D0-EE61-4E62-AED3-F6053191E7AF}" type="datetimeFigureOut">
              <a:rPr lang="en-IN" smtClean="0"/>
              <a:t>06-10-2022</a:t>
            </a:fld>
            <a:endParaRPr lang="en-IN"/>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05550CCE-468F-4399-86FC-3D5C3A67B288}" type="slidenum">
              <a:rPr lang="en-IN" smtClean="0"/>
              <a:t>‹#›</a:t>
            </a:fld>
            <a:endParaRPr lang="en-IN"/>
          </a:p>
        </p:txBody>
      </p:sp>
    </p:spTree>
    <p:extLst>
      <p:ext uri="{BB962C8B-B14F-4D97-AF65-F5344CB8AC3E}">
        <p14:creationId xmlns:p14="http://schemas.microsoft.com/office/powerpoint/2010/main" val="1781204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Grp="1" noChangeArrowheads="1"/>
          </p:cNvSpPr>
          <p:nvPr>
            <p:ph type="sldNum" sz="quarter" idx="5"/>
          </p:nvPr>
        </p:nvSpPr>
        <p:spPr>
          <a:ln/>
        </p:spPr>
        <p:txBody>
          <a:bodyPr/>
          <a:lstStyle/>
          <a:p>
            <a:fld id="{3357EE36-80F6-4F80-9AC5-D3F3A7928A4D}" type="slidenum">
              <a:rPr lang="en-US" altLang="en-US"/>
              <a:pPr/>
              <a:t>27</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FDC2AB2-F3B3-4F35-8D52-692BE97979C7}" type="slidenum">
              <a:rPr lang="en-US" altLang="en-US"/>
              <a:pPr/>
              <a:t>32</a:t>
            </a:fld>
            <a:endParaRPr lang="en-US" altLang="en-US"/>
          </a:p>
        </p:txBody>
      </p:sp>
      <p:sp>
        <p:nvSpPr>
          <p:cNvPr id="45058" name="Rectangle 2"/>
          <p:cNvSpPr>
            <a:spLocks noGrp="1" noRot="1" noChangeAspect="1" noChangeArrowheads="1" noTextEdit="1"/>
          </p:cNvSpPr>
          <p:nvPr>
            <p:ph type="sldImg"/>
          </p:nvPr>
        </p:nvSpPr>
        <p:spPr>
          <a:xfrm>
            <a:off x="2863850" y="519113"/>
            <a:ext cx="3416300" cy="2562225"/>
          </a:xfrm>
          <a:ln/>
        </p:spPr>
      </p:sp>
      <p:sp>
        <p:nvSpPr>
          <p:cNvPr id="45059" name="Rectangle 3"/>
          <p:cNvSpPr>
            <a:spLocks noGrp="1" noChangeArrowheads="1"/>
          </p:cNvSpPr>
          <p:nvPr>
            <p:ph type="body" idx="1"/>
          </p:nvPr>
        </p:nvSpPr>
        <p:spPr>
          <a:xfrm>
            <a:off x="1219200" y="3257550"/>
            <a:ext cx="6705600" cy="3086100"/>
          </a:xfrm>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4F146FB3-6110-47D2-9211-7E10DB9700F3}" type="slidenum">
              <a:rPr lang="en-US" altLang="en-US"/>
              <a:pPr/>
              <a:t>33</a:t>
            </a:fld>
            <a:endParaRPr lang="en-US" altLang="en-US"/>
          </a:p>
        </p:txBody>
      </p:sp>
      <p:sp>
        <p:nvSpPr>
          <p:cNvPr id="49154" name="Rectangle 2"/>
          <p:cNvSpPr>
            <a:spLocks noGrp="1" noRot="1" noChangeAspect="1" noChangeArrowheads="1" noTextEdit="1"/>
          </p:cNvSpPr>
          <p:nvPr>
            <p:ph type="sldImg"/>
          </p:nvPr>
        </p:nvSpPr>
        <p:spPr>
          <a:xfrm>
            <a:off x="2863850" y="519113"/>
            <a:ext cx="3416300" cy="2562225"/>
          </a:xfrm>
          <a:ln/>
        </p:spPr>
      </p:sp>
      <p:sp>
        <p:nvSpPr>
          <p:cNvPr id="49155" name="Rectangle 3"/>
          <p:cNvSpPr>
            <a:spLocks noGrp="1" noChangeArrowheads="1"/>
          </p:cNvSpPr>
          <p:nvPr>
            <p:ph type="body" idx="1"/>
          </p:nvPr>
        </p:nvSpPr>
        <p:spPr>
          <a:xfrm>
            <a:off x="1219200" y="3257550"/>
            <a:ext cx="6705600" cy="3086100"/>
          </a:xfrm>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46380ABE-41AD-4E53-A31D-E29082BD77A5}" type="slidenum">
              <a:rPr lang="en-US" altLang="en-US"/>
              <a:pPr/>
              <a:t>38</a:t>
            </a:fld>
            <a:endParaRPr lang="en-US" altLang="en-US"/>
          </a:p>
        </p:txBody>
      </p:sp>
      <p:sp>
        <p:nvSpPr>
          <p:cNvPr id="62466" name="Rectangle 2"/>
          <p:cNvSpPr>
            <a:spLocks noGrp="1" noRot="1" noChangeAspect="1" noChangeArrowheads="1" noTextEdit="1"/>
          </p:cNvSpPr>
          <p:nvPr>
            <p:ph type="sldImg"/>
          </p:nvPr>
        </p:nvSpPr>
        <p:spPr>
          <a:xfrm>
            <a:off x="2863850" y="519113"/>
            <a:ext cx="3416300" cy="2562225"/>
          </a:xfrm>
          <a:ln w="12700" cap="flat">
            <a:solidFill>
              <a:schemeClr val="tx1"/>
            </a:solidFill>
          </a:ln>
          <a:extLst>
            <a:ext uri="{909E8E84-426E-40DD-AFC4-6F175D3DCCD1}">
              <a14:hiddenFill xmlns:a14="http://schemas.microsoft.com/office/drawing/2010/main">
                <a:noFill/>
              </a14:hiddenFill>
            </a:ext>
          </a:extLst>
        </p:spPr>
      </p:sp>
      <p:sp>
        <p:nvSpPr>
          <p:cNvPr id="62467" name="Rectangle 3"/>
          <p:cNvSpPr>
            <a:spLocks noGrp="1" noChangeArrowheads="1"/>
          </p:cNvSpPr>
          <p:nvPr>
            <p:ph type="body" idx="1"/>
          </p:nvPr>
        </p:nvSpPr>
        <p:spPr>
          <a:xfrm>
            <a:off x="1219200" y="3257550"/>
            <a:ext cx="6705600" cy="3086100"/>
          </a:xfrm>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C2129699-011A-46D3-935B-3D01378961E0}" type="slidenum">
              <a:rPr lang="en-US" altLang="en-US"/>
              <a:pPr/>
              <a:t>40</a:t>
            </a:fld>
            <a:endParaRPr lang="en-US" altLang="en-US"/>
          </a:p>
        </p:txBody>
      </p:sp>
      <p:sp>
        <p:nvSpPr>
          <p:cNvPr id="68610" name="Rectangle 2"/>
          <p:cNvSpPr>
            <a:spLocks noGrp="1" noRot="1" noChangeAspect="1" noChangeArrowheads="1" noTextEdit="1"/>
          </p:cNvSpPr>
          <p:nvPr>
            <p:ph type="sldImg"/>
          </p:nvPr>
        </p:nvSpPr>
        <p:spPr>
          <a:xfrm>
            <a:off x="2863850" y="519113"/>
            <a:ext cx="3416300" cy="2562225"/>
          </a:xfrm>
          <a:ln w="12700" cap="flat">
            <a:solidFill>
              <a:schemeClr val="tx1"/>
            </a:solidFill>
          </a:ln>
          <a:extLst>
            <a:ext uri="{909E8E84-426E-40DD-AFC4-6F175D3DCCD1}">
              <a14:hiddenFill xmlns:a14="http://schemas.microsoft.com/office/drawing/2010/main">
                <a:noFill/>
              </a14:hiddenFill>
            </a:ext>
          </a:extLst>
        </p:spPr>
      </p:sp>
      <p:sp>
        <p:nvSpPr>
          <p:cNvPr id="68611" name="Rectangle 3"/>
          <p:cNvSpPr>
            <a:spLocks noGrp="1" noChangeArrowheads="1"/>
          </p:cNvSpPr>
          <p:nvPr>
            <p:ph type="body" idx="1"/>
          </p:nvPr>
        </p:nvSpPr>
        <p:spPr>
          <a:xfrm>
            <a:off x="1219200" y="3257550"/>
            <a:ext cx="6705600" cy="3086100"/>
          </a:xfrm>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t>10/6/2022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IN"/>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pPr marL="38100">
              <a:lnSpc>
                <a:spcPct val="100000"/>
              </a:lnSpc>
              <a:spcBef>
                <a:spcPts val="110"/>
              </a:spcBef>
            </a:pPr>
            <a:fld id="{81D60167-4931-47E6-BA6A-407CBD079E47}" type="slidenum">
              <a:rPr lang="en-IN" smtClean="0"/>
              <a:t>‹#›</a:t>
            </a:fld>
            <a:endParaRPr lang="en-IN"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t>10/6/2022</a:t>
            </a:fld>
            <a:endParaRPr lang="en-US"/>
          </a:p>
        </p:txBody>
      </p:sp>
      <p:sp>
        <p:nvSpPr>
          <p:cNvPr id="9" name="Slide Number Placeholder 8"/>
          <p:cNvSpPr>
            <a:spLocks noGrp="1"/>
          </p:cNvSpPr>
          <p:nvPr>
            <p:ph type="sldNum" sz="quarter" idx="15"/>
          </p:nvPr>
        </p:nvSpPr>
        <p:spPr/>
        <p:txBody>
          <a:bodyPr rtlCol="0"/>
          <a:lstStyle/>
          <a:p>
            <a:pPr marL="38100">
              <a:lnSpc>
                <a:spcPct val="100000"/>
              </a:lnSpc>
              <a:spcBef>
                <a:spcPts val="110"/>
              </a:spcBef>
            </a:pPr>
            <a:fld id="{81D60167-4931-47E6-BA6A-407CBD079E47}" type="slidenum">
              <a:rPr lang="en-IN" smtClean="0"/>
              <a:t>‹#›</a:t>
            </a:fld>
            <a:endParaRPr lang="en-IN" dirty="0"/>
          </a:p>
        </p:txBody>
      </p:sp>
      <p:sp>
        <p:nvSpPr>
          <p:cNvPr id="10" name="Footer Placeholder 9"/>
          <p:cNvSpPr>
            <a:spLocks noGrp="1"/>
          </p:cNvSpPr>
          <p:nvPr>
            <p:ph type="ftr" sz="quarter" idx="16"/>
          </p:nvPr>
        </p:nvSpPr>
        <p:spPr/>
        <p:txBody>
          <a:bodyPr rtlCol="0"/>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t>10/6/2022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IN"/>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pPr marL="38100">
              <a:lnSpc>
                <a:spcPct val="100000"/>
              </a:lnSpc>
              <a:spcBef>
                <a:spcPts val="110"/>
              </a:spcBef>
            </a:pPr>
            <a:fld id="{81D60167-4931-47E6-BA6A-407CBD079E47}" type="slidenum">
              <a:rPr lang="en-IN" smtClean="0"/>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t>10/6/2022</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100">
              <a:lnSpc>
                <a:spcPct val="100000"/>
              </a:lnSpc>
              <a:spcBef>
                <a:spcPts val="110"/>
              </a:spcBef>
            </a:pPr>
            <a:fld id="{81D60167-4931-47E6-BA6A-407CBD079E47}" type="slidenum">
              <a:rPr lang="en-IN" smtClean="0"/>
              <a:t>‹#›</a:t>
            </a:fld>
            <a:endParaRPr lang="en-IN" dirty="0"/>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t>10/6/2022</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38100">
              <a:lnSpc>
                <a:spcPct val="100000"/>
              </a:lnSpc>
              <a:spcBef>
                <a:spcPts val="110"/>
              </a:spcBef>
            </a:pPr>
            <a:fld id="{81D60167-4931-47E6-BA6A-407CBD079E47}" type="slidenum">
              <a:rPr lang="en-IN" smtClean="0"/>
              <a:t>‹#›</a:t>
            </a:fld>
            <a:endParaRPr lang="en-IN" dirty="0"/>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t>10/6/2022</a:t>
            </a:fld>
            <a:endParaRPr lang="en-US"/>
          </a:p>
        </p:txBody>
      </p:sp>
      <p:sp>
        <p:nvSpPr>
          <p:cNvPr id="7" name="Slide Number Placeholder 6"/>
          <p:cNvSpPr>
            <a:spLocks noGrp="1"/>
          </p:cNvSpPr>
          <p:nvPr>
            <p:ph type="sldNum" sz="quarter" idx="11"/>
          </p:nvPr>
        </p:nvSpPr>
        <p:spPr/>
        <p:txBody>
          <a:bodyPr rtlCol="0"/>
          <a:lstStyle/>
          <a:p>
            <a:pPr marL="38100">
              <a:lnSpc>
                <a:spcPct val="100000"/>
              </a:lnSpc>
              <a:spcBef>
                <a:spcPts val="110"/>
              </a:spcBef>
            </a:pPr>
            <a:fld id="{81D60167-4931-47E6-BA6A-407CBD079E47}" type="slidenum">
              <a:rPr lang="en-IN" smtClean="0"/>
              <a:t>‹#›</a:t>
            </a:fld>
            <a:endParaRPr lang="en-IN" dirty="0"/>
          </a:p>
        </p:txBody>
      </p:sp>
      <p:sp>
        <p:nvSpPr>
          <p:cNvPr id="8" name="Footer Placeholder 7"/>
          <p:cNvSpPr>
            <a:spLocks noGrp="1"/>
          </p:cNvSpPr>
          <p:nvPr>
            <p:ph type="ftr" sz="quarter" idx="12"/>
          </p:nvPr>
        </p:nvSpPr>
        <p:spPr/>
        <p:txBody>
          <a:bodyPr rtlCol="0"/>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10/6/2022</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38100">
              <a:lnSpc>
                <a:spcPct val="100000"/>
              </a:lnSpc>
              <a:spcBef>
                <a:spcPts val="110"/>
              </a:spcBef>
            </a:pPr>
            <a:fld id="{81D60167-4931-47E6-BA6A-407CBD079E47}"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t>10/6/2022</a:t>
            </a:fld>
            <a:endParaRPr lang="en-US"/>
          </a:p>
        </p:txBody>
      </p:sp>
      <p:sp>
        <p:nvSpPr>
          <p:cNvPr id="22" name="Slide Number Placeholder 21"/>
          <p:cNvSpPr>
            <a:spLocks noGrp="1"/>
          </p:cNvSpPr>
          <p:nvPr>
            <p:ph type="sldNum" sz="quarter" idx="15"/>
          </p:nvPr>
        </p:nvSpPr>
        <p:spPr/>
        <p:txBody>
          <a:bodyPr rtlCol="0"/>
          <a:lstStyle/>
          <a:p>
            <a:pPr marL="38100">
              <a:lnSpc>
                <a:spcPct val="100000"/>
              </a:lnSpc>
              <a:spcBef>
                <a:spcPts val="110"/>
              </a:spcBef>
            </a:pPr>
            <a:fld id="{81D60167-4931-47E6-BA6A-407CBD079E47}" type="slidenum">
              <a:rPr lang="en-IN" smtClean="0"/>
              <a:t>‹#›</a:t>
            </a:fld>
            <a:endParaRPr lang="en-IN" dirty="0"/>
          </a:p>
        </p:txBody>
      </p:sp>
      <p:sp>
        <p:nvSpPr>
          <p:cNvPr id="23" name="Footer Placeholder 22"/>
          <p:cNvSpPr>
            <a:spLocks noGrp="1"/>
          </p:cNvSpPr>
          <p:nvPr>
            <p:ph type="ftr" sz="quarter" idx="16"/>
          </p:nvPr>
        </p:nvSpPr>
        <p:spPr/>
        <p:txBody>
          <a:bodyPr rtlCol="0"/>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t>10/6/2022</a:t>
            </a:fld>
            <a:endParaRPr lang="en-US"/>
          </a:p>
        </p:txBody>
      </p:sp>
      <p:sp>
        <p:nvSpPr>
          <p:cNvPr id="18" name="Slide Number Placeholder 17"/>
          <p:cNvSpPr>
            <a:spLocks noGrp="1"/>
          </p:cNvSpPr>
          <p:nvPr>
            <p:ph type="sldNum" sz="quarter" idx="11"/>
          </p:nvPr>
        </p:nvSpPr>
        <p:spPr/>
        <p:txBody>
          <a:bodyPr rtlCol="0"/>
          <a:lstStyle/>
          <a:p>
            <a:pPr marL="38100">
              <a:lnSpc>
                <a:spcPct val="100000"/>
              </a:lnSpc>
              <a:spcBef>
                <a:spcPts val="110"/>
              </a:spcBef>
            </a:pPr>
            <a:fld id="{81D60167-4931-47E6-BA6A-407CBD079E47}" type="slidenum">
              <a:rPr lang="en-IN" smtClean="0"/>
              <a:t>‹#›</a:t>
            </a:fld>
            <a:endParaRPr lang="en-IN" dirty="0"/>
          </a:p>
        </p:txBody>
      </p:sp>
      <p:sp>
        <p:nvSpPr>
          <p:cNvPr id="21" name="Footer Placeholder 20"/>
          <p:cNvSpPr>
            <a:spLocks noGrp="1"/>
          </p:cNvSpPr>
          <p:nvPr>
            <p:ph type="ftr" sz="quarter" idx="12"/>
          </p:nvPr>
        </p:nvSpPr>
        <p:spPr/>
        <p:txBody>
          <a:bodyPr rtlCol="0"/>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10/6/2022</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ct val="100000"/>
              </a:lnSpc>
              <a:spcBef>
                <a:spcPts val="110"/>
              </a:spcBef>
            </a:pPr>
            <a:fld id="{81D60167-4931-47E6-BA6A-407CBD079E47}"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10/6/2022</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ct val="100000"/>
              </a:lnSpc>
              <a:spcBef>
                <a:spcPts val="110"/>
              </a:spcBef>
            </a:pPr>
            <a:fld id="{81D60167-4931-47E6-BA6A-407CBD079E47}"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t>10/6/2022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IN"/>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marL="38100">
              <a:lnSpc>
                <a:spcPct val="100000"/>
              </a:lnSpc>
              <a:spcBef>
                <a:spcPts val="110"/>
              </a:spcBef>
            </a:pPr>
            <a:fld id="{81D60167-4931-47E6-BA6A-407CBD079E47}"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905000"/>
            <a:ext cx="6629400" cy="1894362"/>
          </a:xfrm>
        </p:spPr>
        <p:txBody>
          <a:bodyPr>
            <a:normAutofit fontScale="90000"/>
          </a:bodyPr>
          <a:lstStyle/>
          <a:p>
            <a:pPr algn="ctr"/>
            <a:r>
              <a:rPr lang="en-IN" sz="3200" dirty="0" smtClean="0"/>
              <a:t>Software Testing and Quality </a:t>
            </a:r>
            <a:r>
              <a:rPr lang="en-IN" sz="3200" dirty="0"/>
              <a:t>Assurance</a:t>
            </a:r>
            <a:r>
              <a:rPr lang="en-US" dirty="0"/>
              <a:t/>
            </a:r>
            <a:br>
              <a:rPr lang="en-US" dirty="0"/>
            </a:br>
            <a:r>
              <a:rPr lang="en-US" dirty="0"/>
              <a:t/>
            </a:r>
            <a:br>
              <a:rPr lang="en-US" dirty="0"/>
            </a:br>
            <a:r>
              <a:rPr lang="en-US" sz="4000" dirty="0" smtClean="0"/>
              <a:t>Unit 1 </a:t>
            </a:r>
            <a:br>
              <a:rPr lang="en-US" sz="4000" dirty="0" smtClean="0"/>
            </a:br>
            <a:r>
              <a:rPr lang="en-IN" sz="3600" dirty="0" smtClean="0"/>
              <a:t> </a:t>
            </a:r>
            <a:r>
              <a:rPr lang="en-IN" sz="3600" dirty="0"/>
              <a:t>Software Quality Assurance Fundamentals </a:t>
            </a:r>
            <a:endParaRPr lang="en-US" sz="4000" dirty="0"/>
          </a:p>
        </p:txBody>
      </p:sp>
      <p:sp>
        <p:nvSpPr>
          <p:cNvPr id="3" name="Subtitle 2"/>
          <p:cNvSpPr>
            <a:spLocks noGrp="1"/>
          </p:cNvSpPr>
          <p:nvPr>
            <p:ph type="subTitle" idx="1"/>
          </p:nvPr>
        </p:nvSpPr>
        <p:spPr>
          <a:xfrm>
            <a:off x="2590800" y="4419600"/>
            <a:ext cx="6172200" cy="1371600"/>
          </a:xfrm>
        </p:spPr>
        <p:txBody>
          <a:bodyPr>
            <a:normAutofit/>
          </a:bodyPr>
          <a:lstStyle/>
          <a:p>
            <a:r>
              <a:rPr lang="en-US" dirty="0"/>
              <a:t>                                               </a:t>
            </a:r>
          </a:p>
          <a:p>
            <a:r>
              <a:rPr lang="en-US" dirty="0"/>
              <a:t>                                                                                   </a:t>
            </a:r>
          </a:p>
          <a:p>
            <a:r>
              <a:rPr lang="en-US" dirty="0"/>
              <a:t>                                         </a:t>
            </a:r>
            <a:r>
              <a:rPr lang="en-US" dirty="0" smtClean="0"/>
              <a:t>  </a:t>
            </a:r>
            <a:r>
              <a:rPr lang="en-US" dirty="0"/>
              <a:t>By :Mrs</a:t>
            </a:r>
            <a:r>
              <a:rPr lang="en-US" dirty="0" smtClean="0"/>
              <a:t>. </a:t>
            </a:r>
            <a:r>
              <a:rPr lang="en-US" dirty="0" err="1" smtClean="0"/>
              <a:t>Priya</a:t>
            </a:r>
            <a:r>
              <a:rPr lang="en-US" dirty="0" smtClean="0"/>
              <a:t> </a:t>
            </a:r>
            <a:r>
              <a:rPr lang="en-US" dirty="0" err="1"/>
              <a:t>Pawar</a:t>
            </a:r>
            <a:endParaRPr lang="en-US" dirty="0"/>
          </a:p>
        </p:txBody>
      </p:sp>
      <p:pic>
        <p:nvPicPr>
          <p:cNvPr id="4"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50636" y="152400"/>
            <a:ext cx="1035764" cy="7620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42608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9740" y="1533496"/>
            <a:ext cx="6703060" cy="3042500"/>
          </a:xfrm>
          <a:prstGeom prst="rect">
            <a:avLst/>
          </a:prstGeom>
        </p:spPr>
        <p:txBody>
          <a:bodyPr vert="horz" wrap="square" lIns="0" tIns="109855" rIns="0" bIns="0" rtlCol="0">
            <a:spAutoFit/>
          </a:bodyPr>
          <a:lstStyle/>
          <a:p>
            <a:pPr marL="355600" indent="-342900">
              <a:lnSpc>
                <a:spcPct val="100000"/>
              </a:lnSpc>
              <a:spcBef>
                <a:spcPts val="865"/>
              </a:spcBef>
              <a:buClr>
                <a:srgbClr val="666633"/>
              </a:buClr>
              <a:buFont typeface="Wingdings" panose="05000000000000000000" pitchFamily="2" charset="2"/>
              <a:buChar char="Ø"/>
              <a:tabLst>
                <a:tab pos="355600" algn="l"/>
              </a:tabLst>
            </a:pPr>
            <a:r>
              <a:rPr lang="en-US" sz="2400" dirty="0"/>
              <a:t>Definition of Quality, Quality Assurance, Quality </a:t>
            </a:r>
            <a:r>
              <a:rPr lang="en-US" sz="2400" dirty="0" smtClean="0"/>
              <a:t>Control</a:t>
            </a:r>
            <a:endParaRPr lang="en-US" sz="2400" dirty="0" smtClean="0"/>
          </a:p>
          <a:p>
            <a:pPr marL="355600" indent="-342900">
              <a:lnSpc>
                <a:spcPct val="100000"/>
              </a:lnSpc>
              <a:spcBef>
                <a:spcPts val="865"/>
              </a:spcBef>
              <a:buClr>
                <a:srgbClr val="666633"/>
              </a:buClr>
              <a:buFont typeface="Wingdings" panose="05000000000000000000" pitchFamily="2" charset="2"/>
              <a:buChar char="Ø"/>
              <a:tabLst>
                <a:tab pos="355600" algn="l"/>
              </a:tabLst>
            </a:pPr>
            <a:r>
              <a:rPr lang="en-US" sz="2400" dirty="0" smtClean="0"/>
              <a:t>Difference </a:t>
            </a:r>
            <a:r>
              <a:rPr lang="en-US" sz="2400" dirty="0"/>
              <a:t>between QA and QC, Software Quality Assurance </a:t>
            </a:r>
            <a:r>
              <a:rPr lang="en-US" sz="2400" dirty="0" smtClean="0"/>
              <a:t>Challenges</a:t>
            </a:r>
          </a:p>
          <a:p>
            <a:pPr marL="355600" indent="-342900">
              <a:lnSpc>
                <a:spcPct val="100000"/>
              </a:lnSpc>
              <a:spcBef>
                <a:spcPts val="865"/>
              </a:spcBef>
              <a:buClr>
                <a:srgbClr val="666633"/>
              </a:buClr>
              <a:buFont typeface="Wingdings" panose="05000000000000000000" pitchFamily="2" charset="2"/>
              <a:buChar char="Ø"/>
              <a:tabLst>
                <a:tab pos="355600" algn="l"/>
              </a:tabLst>
            </a:pPr>
            <a:r>
              <a:rPr lang="en-US" sz="2400" dirty="0"/>
              <a:t>Software Quality Assurance, SQA Planning &amp; Standards (ISO 9000, Six Sigma</a:t>
            </a:r>
            <a:r>
              <a:rPr lang="en-US" sz="2400" dirty="0" smtClean="0"/>
              <a:t>)</a:t>
            </a:r>
          </a:p>
          <a:p>
            <a:pPr marL="355600" indent="-342900">
              <a:lnSpc>
                <a:spcPct val="100000"/>
              </a:lnSpc>
              <a:spcBef>
                <a:spcPts val="865"/>
              </a:spcBef>
              <a:buClr>
                <a:srgbClr val="666633"/>
              </a:buClr>
              <a:buFont typeface="Wingdings" panose="05000000000000000000" pitchFamily="2" charset="2"/>
              <a:buChar char="Ø"/>
              <a:tabLst>
                <a:tab pos="355600" algn="l"/>
              </a:tabLst>
            </a:pPr>
            <a:r>
              <a:rPr lang="en-IN" sz="2400" dirty="0"/>
              <a:t>SQA </a:t>
            </a:r>
            <a:r>
              <a:rPr lang="en-IN" sz="2400" dirty="0" smtClean="0"/>
              <a:t>Activities</a:t>
            </a:r>
          </a:p>
        </p:txBody>
      </p:sp>
      <p:sp>
        <p:nvSpPr>
          <p:cNvPr id="3" name="object 3"/>
          <p:cNvSpPr txBox="1">
            <a:spLocks noGrp="1"/>
          </p:cNvSpPr>
          <p:nvPr>
            <p:ph type="title"/>
          </p:nvPr>
        </p:nvSpPr>
        <p:spPr>
          <a:xfrm>
            <a:off x="574992" y="655022"/>
            <a:ext cx="5715635" cy="505908"/>
          </a:xfrm>
          <a:prstGeom prst="rect">
            <a:avLst/>
          </a:prstGeom>
        </p:spPr>
        <p:txBody>
          <a:bodyPr vert="horz" wrap="square" lIns="0" tIns="13335" rIns="0" bIns="0" rtlCol="0">
            <a:spAutoFit/>
          </a:bodyPr>
          <a:lstStyle/>
          <a:p>
            <a:pPr marL="12700">
              <a:lnSpc>
                <a:spcPct val="100000"/>
              </a:lnSpc>
              <a:spcBef>
                <a:spcPts val="105"/>
              </a:spcBef>
            </a:pPr>
            <a:r>
              <a:rPr lang="en-US" sz="3200" b="1" spc="-5" dirty="0" smtClean="0">
                <a:latin typeface="Verdana"/>
                <a:cs typeface="Verdana"/>
              </a:rPr>
              <a:t>Points To BE COVERED</a:t>
            </a:r>
            <a:endParaRPr sz="3200" b="1" spc="-5" dirty="0">
              <a:latin typeface="Verdana"/>
              <a:cs typeface="Verdan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9740" y="1533496"/>
            <a:ext cx="6703060" cy="3042500"/>
          </a:xfrm>
          <a:prstGeom prst="rect">
            <a:avLst/>
          </a:prstGeom>
        </p:spPr>
        <p:txBody>
          <a:bodyPr vert="horz" wrap="square" lIns="0" tIns="109855" rIns="0" bIns="0" rtlCol="0">
            <a:spAutoFit/>
          </a:bodyPr>
          <a:lstStyle/>
          <a:p>
            <a:pPr marL="355600" indent="-342900">
              <a:lnSpc>
                <a:spcPct val="100000"/>
              </a:lnSpc>
              <a:spcBef>
                <a:spcPts val="865"/>
              </a:spcBef>
              <a:buClr>
                <a:srgbClr val="666633"/>
              </a:buClr>
              <a:buFont typeface="Wingdings" panose="05000000000000000000" pitchFamily="2" charset="2"/>
              <a:buChar char="Ø"/>
              <a:tabLst>
                <a:tab pos="355600" algn="l"/>
              </a:tabLst>
            </a:pPr>
            <a:r>
              <a:rPr lang="en-IN" sz="2400" dirty="0" smtClean="0"/>
              <a:t>Building </a:t>
            </a:r>
            <a:r>
              <a:rPr lang="en-IN" sz="2400" dirty="0"/>
              <a:t>Blocks of SQA </a:t>
            </a:r>
            <a:endParaRPr lang="en-IN" sz="2400" dirty="0" smtClean="0"/>
          </a:p>
          <a:p>
            <a:pPr marL="355600" indent="-342900">
              <a:lnSpc>
                <a:spcPct val="100000"/>
              </a:lnSpc>
              <a:spcBef>
                <a:spcPts val="865"/>
              </a:spcBef>
              <a:buClr>
                <a:srgbClr val="666633"/>
              </a:buClr>
              <a:buFont typeface="Wingdings" panose="05000000000000000000" pitchFamily="2" charset="2"/>
              <a:buChar char="Ø"/>
              <a:tabLst>
                <a:tab pos="355600" algn="l"/>
              </a:tabLst>
            </a:pPr>
            <a:r>
              <a:rPr lang="en-IN" sz="2400" dirty="0" smtClean="0"/>
              <a:t> Software Quality factors </a:t>
            </a:r>
          </a:p>
          <a:p>
            <a:pPr marL="355600" indent="-342900">
              <a:lnSpc>
                <a:spcPct val="100000"/>
              </a:lnSpc>
              <a:spcBef>
                <a:spcPts val="865"/>
              </a:spcBef>
              <a:buClr>
                <a:srgbClr val="666633"/>
              </a:buClr>
              <a:buFont typeface="Wingdings" panose="05000000000000000000" pitchFamily="2" charset="2"/>
              <a:buChar char="Ø"/>
              <a:tabLst>
                <a:tab pos="355600" algn="l"/>
              </a:tabLst>
            </a:pPr>
            <a:r>
              <a:rPr lang="en-IN" sz="2400" dirty="0" smtClean="0"/>
              <a:t>Software Quality Metrics: Process Metrics &amp; Product Metrics </a:t>
            </a:r>
          </a:p>
          <a:p>
            <a:pPr marL="355600" indent="-342900">
              <a:lnSpc>
                <a:spcPct val="100000"/>
              </a:lnSpc>
              <a:spcBef>
                <a:spcPts val="865"/>
              </a:spcBef>
              <a:buClr>
                <a:srgbClr val="666633"/>
              </a:buClr>
              <a:buFont typeface="Wingdings" panose="05000000000000000000" pitchFamily="2" charset="2"/>
              <a:buChar char="Ø"/>
              <a:tabLst>
                <a:tab pos="355600" algn="l"/>
              </a:tabLst>
            </a:pPr>
            <a:r>
              <a:rPr lang="en-IN" sz="2400" dirty="0" smtClean="0"/>
              <a:t> Software Reliability &amp; Reliability Measurement Factors: ROCOF, MTTF, MTTR, MTBF, POFOD, Availability</a:t>
            </a:r>
            <a:endParaRPr sz="2400" dirty="0">
              <a:latin typeface="Verdana"/>
              <a:cs typeface="Verdana"/>
            </a:endParaRPr>
          </a:p>
        </p:txBody>
      </p:sp>
      <p:sp>
        <p:nvSpPr>
          <p:cNvPr id="3" name="object 3"/>
          <p:cNvSpPr txBox="1">
            <a:spLocks noGrp="1"/>
          </p:cNvSpPr>
          <p:nvPr>
            <p:ph type="title"/>
          </p:nvPr>
        </p:nvSpPr>
        <p:spPr>
          <a:xfrm>
            <a:off x="574992" y="655022"/>
            <a:ext cx="5715635" cy="505908"/>
          </a:xfrm>
          <a:prstGeom prst="rect">
            <a:avLst/>
          </a:prstGeom>
        </p:spPr>
        <p:txBody>
          <a:bodyPr vert="horz" wrap="square" lIns="0" tIns="13335" rIns="0" bIns="0" rtlCol="0">
            <a:spAutoFit/>
          </a:bodyPr>
          <a:lstStyle/>
          <a:p>
            <a:pPr marL="12700">
              <a:lnSpc>
                <a:spcPct val="100000"/>
              </a:lnSpc>
              <a:spcBef>
                <a:spcPts val="105"/>
              </a:spcBef>
            </a:pPr>
            <a:r>
              <a:rPr lang="en-US" sz="3200" b="1" spc="-5" dirty="0" smtClean="0">
                <a:latin typeface="Verdana"/>
                <a:cs typeface="Verdana"/>
              </a:rPr>
              <a:t>Points To BE COVERED</a:t>
            </a:r>
            <a:endParaRPr sz="3200" b="1" spc="-5" dirty="0">
              <a:latin typeface="Verdana"/>
              <a:cs typeface="Verdana"/>
            </a:endParaRPr>
          </a:p>
        </p:txBody>
      </p:sp>
    </p:spTree>
    <p:extLst>
      <p:ext uri="{BB962C8B-B14F-4D97-AF65-F5344CB8AC3E}">
        <p14:creationId xmlns:p14="http://schemas.microsoft.com/office/powerpoint/2010/main" val="6694118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96200" cy="1143000"/>
          </a:xfrm>
        </p:spPr>
        <p:txBody>
          <a:bodyPr/>
          <a:lstStyle/>
          <a:p>
            <a:r>
              <a:rPr lang="en-IN" sz="3200" dirty="0"/>
              <a:t>Software Testing and Quality Assurance</a:t>
            </a:r>
            <a:endParaRPr lang="en-IN" dirty="0"/>
          </a:p>
        </p:txBody>
      </p:sp>
      <p:sp>
        <p:nvSpPr>
          <p:cNvPr id="3" name="Content Placeholder 2"/>
          <p:cNvSpPr>
            <a:spLocks noGrp="1"/>
          </p:cNvSpPr>
          <p:nvPr>
            <p:ph sz="quarter" idx="1"/>
          </p:nvPr>
        </p:nvSpPr>
        <p:spPr>
          <a:xfrm>
            <a:off x="457200" y="1449323"/>
            <a:ext cx="8077200" cy="4873752"/>
          </a:xfrm>
        </p:spPr>
        <p:txBody>
          <a:bodyPr>
            <a:normAutofit/>
          </a:bodyPr>
          <a:lstStyle/>
          <a:p>
            <a:pPr marL="0" indent="0">
              <a:lnSpc>
                <a:spcPct val="107000"/>
              </a:lnSpc>
              <a:spcBef>
                <a:spcPts val="1020"/>
              </a:spcBef>
              <a:spcAft>
                <a:spcPts val="1020"/>
              </a:spcAft>
              <a:buNone/>
            </a:pPr>
            <a:endParaRPr lang="en-US" sz="1800" b="1" dirty="0" smtClean="0"/>
          </a:p>
          <a:p>
            <a:pPr marL="0" indent="0">
              <a:lnSpc>
                <a:spcPct val="107000"/>
              </a:lnSpc>
              <a:spcBef>
                <a:spcPts val="1020"/>
              </a:spcBef>
              <a:spcAft>
                <a:spcPts val="1020"/>
              </a:spcAft>
              <a:buNone/>
            </a:pPr>
            <a:r>
              <a:rPr lang="en-US" sz="1800" b="1" dirty="0" smtClean="0"/>
              <a:t>Quality </a:t>
            </a:r>
            <a:r>
              <a:rPr lang="en-US" sz="1800" b="1" dirty="0"/>
              <a:t>Management – </a:t>
            </a:r>
            <a:r>
              <a:rPr lang="en-US" sz="1800" dirty="0"/>
              <a:t>Ensuring that required level of product quality is achieved</a:t>
            </a:r>
          </a:p>
          <a:p>
            <a:pPr marL="285750" indent="-285750">
              <a:lnSpc>
                <a:spcPct val="107000"/>
              </a:lnSpc>
              <a:spcBef>
                <a:spcPts val="1020"/>
              </a:spcBef>
              <a:spcAft>
                <a:spcPts val="1020"/>
              </a:spcAft>
              <a:buFont typeface="Wingdings" panose="05000000000000000000" pitchFamily="2" charset="2"/>
              <a:buChar char="Ø"/>
            </a:pPr>
            <a:r>
              <a:rPr lang="en-US" sz="1800" dirty="0"/>
              <a:t>Defining procedures and standards</a:t>
            </a:r>
          </a:p>
          <a:p>
            <a:pPr marL="285750" indent="-285750">
              <a:lnSpc>
                <a:spcPct val="107000"/>
              </a:lnSpc>
              <a:spcBef>
                <a:spcPts val="1020"/>
              </a:spcBef>
              <a:spcAft>
                <a:spcPts val="1020"/>
              </a:spcAft>
              <a:buFont typeface="Wingdings" panose="05000000000000000000" pitchFamily="2" charset="2"/>
              <a:buChar char="Ø"/>
            </a:pPr>
            <a:r>
              <a:rPr lang="en-US" sz="1800" dirty="0"/>
              <a:t>Applying procedures and standards to the product and process</a:t>
            </a:r>
          </a:p>
          <a:p>
            <a:pPr marL="285750" indent="-285750">
              <a:lnSpc>
                <a:spcPct val="107000"/>
              </a:lnSpc>
              <a:spcBef>
                <a:spcPts val="1020"/>
              </a:spcBef>
              <a:spcAft>
                <a:spcPts val="1020"/>
              </a:spcAft>
              <a:buFont typeface="Wingdings" panose="05000000000000000000" pitchFamily="2" charset="2"/>
              <a:buChar char="Ø"/>
            </a:pPr>
            <a:r>
              <a:rPr lang="en-US" sz="1800" dirty="0"/>
              <a:t>Checking that procedures are followed</a:t>
            </a:r>
          </a:p>
          <a:p>
            <a:pPr marL="285750" indent="-285750">
              <a:lnSpc>
                <a:spcPct val="107000"/>
              </a:lnSpc>
              <a:spcBef>
                <a:spcPts val="1020"/>
              </a:spcBef>
              <a:spcAft>
                <a:spcPts val="1020"/>
              </a:spcAft>
              <a:buFont typeface="Wingdings" panose="05000000000000000000" pitchFamily="2" charset="2"/>
              <a:buChar char="Ø"/>
            </a:pPr>
            <a:r>
              <a:rPr lang="en-US" sz="1800" dirty="0"/>
              <a:t>Collecting and analyzing various quality data Definition of Quality, Quality Assurance, Quality Control</a:t>
            </a:r>
            <a:endParaRPr lang="en-US" altLang="en-US" sz="1800" dirty="0"/>
          </a:p>
          <a:p>
            <a:pPr marL="0" indent="0">
              <a:buNone/>
            </a:pPr>
            <a:endParaRPr lang="en-US" sz="1800" dirty="0"/>
          </a:p>
          <a:p>
            <a:pPr marL="0" indent="0">
              <a:buNone/>
            </a:pPr>
            <a:endParaRPr lang="en-US" dirty="0" smtClean="0"/>
          </a:p>
        </p:txBody>
      </p:sp>
    </p:spTree>
    <p:extLst>
      <p:ext uri="{BB962C8B-B14F-4D97-AF65-F5344CB8AC3E}">
        <p14:creationId xmlns:p14="http://schemas.microsoft.com/office/powerpoint/2010/main" val="2422662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96200" cy="1143000"/>
          </a:xfrm>
        </p:spPr>
        <p:txBody>
          <a:bodyPr/>
          <a:lstStyle/>
          <a:p>
            <a:r>
              <a:rPr lang="en-US" sz="3200" dirty="0"/>
              <a:t>Definition of Quality, Quality Assurance, Quality Control</a:t>
            </a:r>
            <a:endParaRPr lang="en-IN" dirty="0"/>
          </a:p>
        </p:txBody>
      </p:sp>
      <p:sp>
        <p:nvSpPr>
          <p:cNvPr id="3" name="Content Placeholder 2"/>
          <p:cNvSpPr>
            <a:spLocks noGrp="1"/>
          </p:cNvSpPr>
          <p:nvPr>
            <p:ph sz="quarter" idx="1"/>
          </p:nvPr>
        </p:nvSpPr>
        <p:spPr>
          <a:xfrm>
            <a:off x="457200" y="1449323"/>
            <a:ext cx="8077200" cy="4873752"/>
          </a:xfrm>
        </p:spPr>
        <p:txBody>
          <a:bodyPr>
            <a:normAutofit/>
          </a:bodyPr>
          <a:lstStyle/>
          <a:p>
            <a:pPr marL="0" indent="0">
              <a:buNone/>
            </a:pPr>
            <a:r>
              <a:rPr lang="en-US" sz="1800" b="1" dirty="0"/>
              <a:t>Software quality </a:t>
            </a:r>
            <a:r>
              <a:rPr lang="en-US" sz="1800" dirty="0"/>
              <a:t>is defined as a field of study and practice that describes the desirable attributes of software products</a:t>
            </a:r>
            <a:r>
              <a:rPr lang="en-US" sz="1800" dirty="0"/>
              <a:t>.</a:t>
            </a:r>
          </a:p>
          <a:p>
            <a:pPr marL="0" indent="0">
              <a:buNone/>
            </a:pPr>
            <a:r>
              <a:rPr lang="en-US" sz="1800" dirty="0"/>
              <a:t>Quality </a:t>
            </a:r>
            <a:r>
              <a:rPr lang="en-US" sz="1800" dirty="0"/>
              <a:t>assurance and </a:t>
            </a:r>
            <a:r>
              <a:rPr lang="en-US" sz="1800" dirty="0"/>
              <a:t>Quality </a:t>
            </a:r>
            <a:r>
              <a:rPr lang="en-US" sz="1800" dirty="0"/>
              <a:t>control are two aspects of quality management. </a:t>
            </a:r>
            <a:endParaRPr lang="en-US" sz="1800" dirty="0"/>
          </a:p>
          <a:p>
            <a:pPr marL="0" indent="0">
              <a:buNone/>
            </a:pPr>
            <a:r>
              <a:rPr lang="en-US" sz="1800" dirty="0"/>
              <a:t>While </a:t>
            </a:r>
            <a:r>
              <a:rPr lang="en-US" sz="1800" dirty="0"/>
              <a:t>some quality assurance and quality control activities are interrelated, the two are defined differently. </a:t>
            </a:r>
            <a:endParaRPr lang="en-US" sz="1800" dirty="0"/>
          </a:p>
          <a:p>
            <a:pPr marL="0" indent="0">
              <a:buNone/>
            </a:pPr>
            <a:endParaRPr lang="en-US" dirty="0" smtClean="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698060"/>
            <a:ext cx="4419600" cy="2550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3230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143000"/>
          </a:xfrm>
        </p:spPr>
        <p:txBody>
          <a:bodyPr/>
          <a:lstStyle/>
          <a:p>
            <a:r>
              <a:rPr lang="en-US" sz="2800" dirty="0"/>
              <a:t>Definition </a:t>
            </a:r>
            <a:r>
              <a:rPr lang="en-US" sz="2800" dirty="0" smtClean="0"/>
              <a:t>of </a:t>
            </a:r>
            <a:r>
              <a:rPr lang="en-US" sz="2800" dirty="0"/>
              <a:t>Quality Assurance, Quality Control</a:t>
            </a:r>
            <a:endParaRPr lang="en-IN" dirty="0"/>
          </a:p>
        </p:txBody>
      </p:sp>
      <p:sp>
        <p:nvSpPr>
          <p:cNvPr id="3" name="Content Placeholder 2"/>
          <p:cNvSpPr>
            <a:spLocks noGrp="1"/>
          </p:cNvSpPr>
          <p:nvPr>
            <p:ph sz="quarter" idx="1"/>
          </p:nvPr>
        </p:nvSpPr>
        <p:spPr/>
        <p:txBody>
          <a:bodyPr>
            <a:normAutofit/>
          </a:bodyPr>
          <a:lstStyle/>
          <a:p>
            <a:pPr marL="0" indent="0">
              <a:buNone/>
            </a:pPr>
            <a:r>
              <a:rPr lang="en-US" sz="1900" b="1" dirty="0"/>
              <a:t>Quality </a:t>
            </a:r>
            <a:r>
              <a:rPr lang="en-US" sz="1900" b="1" dirty="0"/>
              <a:t>Assurance : </a:t>
            </a:r>
            <a:r>
              <a:rPr lang="en-US" sz="1900" dirty="0"/>
              <a:t>Quality </a:t>
            </a:r>
            <a:r>
              <a:rPr lang="en-US" sz="1900" dirty="0"/>
              <a:t>assurance can be defined as "part of quality management focused on providing confidence that quality requirements will be fulfilled." The confidence provided by quality assurance is twofold—internally to management and externally to customers, government agencies, regulators, certifiers, and third parties. </a:t>
            </a:r>
            <a:endParaRPr lang="en-US" sz="1900" dirty="0"/>
          </a:p>
          <a:p>
            <a:pPr marL="0" indent="0">
              <a:buNone/>
            </a:pPr>
            <a:endParaRPr lang="en-US" dirty="0"/>
          </a:p>
          <a:p>
            <a:pPr marL="0" indent="0">
              <a:buNone/>
            </a:pPr>
            <a:r>
              <a:rPr lang="en-US" sz="1900" b="1" dirty="0"/>
              <a:t>Quality </a:t>
            </a:r>
            <a:r>
              <a:rPr lang="en-US" sz="1900" b="1" dirty="0"/>
              <a:t>Control </a:t>
            </a:r>
            <a:r>
              <a:rPr lang="en-US" b="1" dirty="0" smtClean="0"/>
              <a:t>:</a:t>
            </a:r>
            <a:r>
              <a:rPr lang="en-US" sz="1900" dirty="0"/>
              <a:t>Quality </a:t>
            </a:r>
            <a:r>
              <a:rPr lang="en-US" sz="1900" dirty="0"/>
              <a:t>control can be defined as "part of quality management focused on fulfilling quality requirements." While quality assurance relates to how a process is performed or how a product is made, quality control is more the inspection aspect of quality management. An alternate definition is "the operational techniques and activities used to fulfill requirements for quality."</a:t>
            </a:r>
            <a:endParaRPr lang="en-IN" sz="1900" dirty="0"/>
          </a:p>
        </p:txBody>
      </p:sp>
    </p:spTree>
    <p:extLst>
      <p:ext uri="{BB962C8B-B14F-4D97-AF65-F5344CB8AC3E}">
        <p14:creationId xmlns:p14="http://schemas.microsoft.com/office/powerpoint/2010/main" val="3956131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143000"/>
          </a:xfrm>
        </p:spPr>
        <p:txBody>
          <a:bodyPr/>
          <a:lstStyle/>
          <a:p>
            <a:r>
              <a:rPr lang="en-US" sz="2800" dirty="0" smtClean="0"/>
              <a:t>Difference between Quality </a:t>
            </a:r>
            <a:r>
              <a:rPr lang="en-US" sz="2800" dirty="0"/>
              <a:t>Assurance, Quality Control</a:t>
            </a:r>
            <a:endParaRPr lang="en-IN" dirty="0"/>
          </a:p>
        </p:txBody>
      </p:sp>
      <p:sp>
        <p:nvSpPr>
          <p:cNvPr id="3" name="Content Placeholder 2"/>
          <p:cNvSpPr>
            <a:spLocks noGrp="1"/>
          </p:cNvSpPr>
          <p:nvPr>
            <p:ph sz="quarter" idx="1"/>
          </p:nvPr>
        </p:nvSpPr>
        <p:spPr/>
        <p:txBody>
          <a:bodyPr>
            <a:normAutofit/>
          </a:bodyPr>
          <a:lstStyle/>
          <a:p>
            <a:pPr marL="0" indent="0">
              <a:lnSpc>
                <a:spcPct val="107000"/>
              </a:lnSpc>
              <a:spcBef>
                <a:spcPts val="1020"/>
              </a:spcBef>
              <a:spcAft>
                <a:spcPts val="1020"/>
              </a:spcAft>
              <a:buNone/>
            </a:pPr>
            <a:r>
              <a:rPr lang="en-US" sz="1900" dirty="0"/>
              <a:t>QA is a preventive process, while QC is a corrective measure.</a:t>
            </a:r>
          </a:p>
          <a:p>
            <a:pPr marL="0" indent="0">
              <a:lnSpc>
                <a:spcPct val="107000"/>
              </a:lnSpc>
              <a:spcBef>
                <a:spcPts val="1020"/>
              </a:spcBef>
              <a:spcAft>
                <a:spcPts val="1020"/>
              </a:spcAft>
              <a:buNone/>
            </a:pPr>
            <a:r>
              <a:rPr lang="en-US" sz="1900" dirty="0"/>
              <a:t>Quality assurance is process-oriented; however, Quality control is product oriented. </a:t>
            </a:r>
          </a:p>
          <a:p>
            <a:pPr marL="0" indent="0">
              <a:lnSpc>
                <a:spcPct val="107000"/>
              </a:lnSpc>
              <a:spcBef>
                <a:spcPts val="1020"/>
              </a:spcBef>
              <a:spcAft>
                <a:spcPts val="1020"/>
              </a:spcAft>
              <a:buNone/>
            </a:pPr>
            <a:r>
              <a:rPr lang="en-US" sz="1900" dirty="0"/>
              <a:t>QA is focused on taking actions to create a good quality product, and QC is focused on resulting in a quality assured product.</a:t>
            </a:r>
          </a:p>
          <a:p>
            <a:pPr marL="0" indent="0">
              <a:lnSpc>
                <a:spcPct val="107000"/>
              </a:lnSpc>
              <a:spcBef>
                <a:spcPts val="1020"/>
              </a:spcBef>
              <a:spcAft>
                <a:spcPts val="1020"/>
              </a:spcAft>
              <a:buNone/>
            </a:pPr>
            <a:r>
              <a:rPr lang="en-US" sz="1900" dirty="0"/>
              <a:t>Quality Control (QC) It is a procedure that focuses on providing assurance that quality requested will be achieved. It is a procedure that focuses on fulfilling the quality requested. </a:t>
            </a:r>
          </a:p>
          <a:p>
            <a:pPr marL="0" indent="0">
              <a:lnSpc>
                <a:spcPct val="107000"/>
              </a:lnSpc>
              <a:spcBef>
                <a:spcPts val="1020"/>
              </a:spcBef>
              <a:spcAft>
                <a:spcPts val="1020"/>
              </a:spcAft>
              <a:buNone/>
            </a:pPr>
            <a:r>
              <a:rPr lang="en-US" sz="1900" dirty="0"/>
              <a:t>QA aims to prevent the defect. QC aims to identify and fix defects</a:t>
            </a:r>
            <a:endParaRPr lang="en-IN" sz="1900" dirty="0"/>
          </a:p>
        </p:txBody>
      </p:sp>
    </p:spTree>
    <p:extLst>
      <p:ext uri="{BB962C8B-B14F-4D97-AF65-F5344CB8AC3E}">
        <p14:creationId xmlns:p14="http://schemas.microsoft.com/office/powerpoint/2010/main" val="248424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239000" cy="563562"/>
          </a:xfrm>
        </p:spPr>
        <p:txBody>
          <a:bodyPr>
            <a:normAutofit/>
          </a:bodyPr>
          <a:lstStyle/>
          <a:p>
            <a:r>
              <a:rPr lang="en-US" sz="1800" dirty="0"/>
              <a:t>Difference between Quality Assurance, Quality Control</a:t>
            </a:r>
            <a:endParaRPr lang="en-US" b="1" dirty="0"/>
          </a:p>
        </p:txBody>
      </p:sp>
      <p:sp>
        <p:nvSpPr>
          <p:cNvPr id="3" name="Content Placeholder 2"/>
          <p:cNvSpPr>
            <a:spLocks noGrp="1"/>
          </p:cNvSpPr>
          <p:nvPr>
            <p:ph idx="1"/>
          </p:nvPr>
        </p:nvSpPr>
        <p:spPr>
          <a:xfrm>
            <a:off x="316924" y="1385051"/>
            <a:ext cx="7886700" cy="5024062"/>
          </a:xfrm>
        </p:spPr>
        <p:txBody>
          <a:bodyPr/>
          <a:lstStyle/>
          <a:p>
            <a:pPr marL="0" indent="0">
              <a:buNone/>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p:txBody>
      </p:sp>
      <p:sp>
        <p:nvSpPr>
          <p:cNvPr id="7" name="TextBox 6">
            <a:extLst>
              <a:ext uri="{FF2B5EF4-FFF2-40B4-BE49-F238E27FC236}">
                <a16:creationId xmlns:a16="http://schemas.microsoft.com/office/drawing/2014/main" xmlns="" id="{CEB05A01-1309-4973-0229-E4A05E6E9814}"/>
              </a:ext>
            </a:extLst>
          </p:cNvPr>
          <p:cNvSpPr txBox="1"/>
          <p:nvPr/>
        </p:nvSpPr>
        <p:spPr>
          <a:xfrm>
            <a:off x="316924" y="2028618"/>
            <a:ext cx="8064344" cy="276999"/>
          </a:xfrm>
          <a:prstGeom prst="rect">
            <a:avLst/>
          </a:prstGeom>
          <a:noFill/>
        </p:spPr>
        <p:txBody>
          <a:bodyPr wrap="square">
            <a:spAutoFit/>
          </a:bodyPr>
          <a:lstStyle/>
          <a:p>
            <a:endParaRPr lang="en-IN" sz="12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xmlns="" id="{688BFC02-2551-54F0-E711-8C34BD753D00}"/>
              </a:ext>
            </a:extLst>
          </p:cNvPr>
          <p:cNvSpPr txBox="1"/>
          <p:nvPr/>
        </p:nvSpPr>
        <p:spPr>
          <a:xfrm>
            <a:off x="363523" y="1554585"/>
            <a:ext cx="7978619" cy="892552"/>
          </a:xfrm>
          <a:prstGeom prst="rect">
            <a:avLst/>
          </a:prstGeom>
          <a:noFill/>
        </p:spPr>
        <p:txBody>
          <a:bodyPr wrap="square">
            <a:spAutoFit/>
          </a:bodyPr>
          <a:lstStyle/>
          <a:p>
            <a:endParaRPr lang="en-US" dirty="0">
              <a:solidFill>
                <a:srgbClr val="000000"/>
              </a:solidFill>
              <a:latin typeface="Nunito" pitchFamily="2" charset="0"/>
              <a:cs typeface="Times New Roman" panose="02020603050405020304" pitchFamily="18" charset="0"/>
            </a:endParaRPr>
          </a:p>
          <a:p>
            <a:r>
              <a:rPr lang="en-US" dirty="0">
                <a:solidFill>
                  <a:srgbClr val="000000"/>
                </a:solidFill>
                <a:latin typeface="Nunito" pitchFamily="2" charset="0"/>
                <a:cs typeface="Times New Roman" panose="02020603050405020304" pitchFamily="18" charset="0"/>
              </a:rPr>
              <a:t/>
            </a:r>
            <a:br>
              <a:rPr lang="en-US" dirty="0">
                <a:solidFill>
                  <a:srgbClr val="000000"/>
                </a:solidFill>
                <a:latin typeface="Nunito" pitchFamily="2" charset="0"/>
                <a:cs typeface="Times New Roman" panose="02020603050405020304" pitchFamily="18" charset="0"/>
              </a:rPr>
            </a:b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397" y="990600"/>
            <a:ext cx="784087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5919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a:t>
            </a:r>
            <a:r>
              <a:rPr lang="en-US" dirty="0"/>
              <a:t> </a:t>
            </a:r>
            <a:r>
              <a:rPr lang="en-US" b="1" dirty="0"/>
              <a:t>quality</a:t>
            </a:r>
            <a:r>
              <a:rPr lang="en-US" dirty="0"/>
              <a:t> </a:t>
            </a:r>
            <a:r>
              <a:rPr lang="en-US" b="1" dirty="0"/>
              <a:t>assurance</a:t>
            </a:r>
            <a:r>
              <a:rPr lang="en-US" dirty="0"/>
              <a:t> (</a:t>
            </a:r>
            <a:r>
              <a:rPr lang="en-US" b="1" dirty="0" smtClean="0"/>
              <a:t>SQA)</a:t>
            </a:r>
            <a:endParaRPr lang="en-IN" dirty="0"/>
          </a:p>
        </p:txBody>
      </p:sp>
      <p:sp>
        <p:nvSpPr>
          <p:cNvPr id="3" name="Content Placeholder 2"/>
          <p:cNvSpPr>
            <a:spLocks noGrp="1"/>
          </p:cNvSpPr>
          <p:nvPr>
            <p:ph sz="quarter" idx="1"/>
          </p:nvPr>
        </p:nvSpPr>
        <p:spPr>
          <a:xfrm>
            <a:off x="457200" y="1600200"/>
            <a:ext cx="7772400" cy="4873752"/>
          </a:xfrm>
        </p:spPr>
        <p:txBody>
          <a:bodyPr>
            <a:normAutofit lnSpcReduction="10000"/>
          </a:bodyPr>
          <a:lstStyle/>
          <a:p>
            <a:pPr marL="0" indent="0">
              <a:buNone/>
            </a:pPr>
            <a:r>
              <a:rPr lang="en-US" sz="1800" dirty="0"/>
              <a:t>Software quality assurance (SQA) is a process that assures that all software engineering processes, methods, activities, and work items are monitored and comply with the defined standards. These defined standards could be one or a combination of any like </a:t>
            </a:r>
          </a:p>
          <a:p>
            <a:pPr marL="0" indent="0">
              <a:buNone/>
            </a:pPr>
            <a:r>
              <a:rPr lang="en-US" sz="1800" dirty="0"/>
              <a:t>ISO 9000, CMMI model, ISO15504, etc</a:t>
            </a:r>
            <a:r>
              <a:rPr lang="en-US" sz="1800" dirty="0" smtClean="0"/>
              <a:t>.</a:t>
            </a:r>
          </a:p>
          <a:p>
            <a:pPr marL="0" indent="0">
              <a:buNone/>
            </a:pPr>
            <a:endParaRPr lang="en-US" sz="1800" b="1" dirty="0" smtClean="0"/>
          </a:p>
          <a:p>
            <a:pPr marL="0" indent="0">
              <a:buNone/>
            </a:pPr>
            <a:r>
              <a:rPr lang="en-US" sz="1800" b="1" dirty="0" smtClean="0"/>
              <a:t>The </a:t>
            </a:r>
            <a:r>
              <a:rPr lang="en-US" sz="1800" b="1" dirty="0"/>
              <a:t>SQA plan document consists of the below sections:</a:t>
            </a:r>
            <a:endParaRPr lang="en-US" sz="1800" dirty="0"/>
          </a:p>
          <a:p>
            <a:pPr marL="0" indent="0">
              <a:buNone/>
            </a:pPr>
            <a:r>
              <a:rPr lang="en-US" sz="1800" dirty="0"/>
              <a:t>Purpose section</a:t>
            </a:r>
          </a:p>
          <a:p>
            <a:pPr marL="0" indent="0">
              <a:buNone/>
            </a:pPr>
            <a:r>
              <a:rPr lang="en-US" sz="1800" dirty="0"/>
              <a:t>Reference section</a:t>
            </a:r>
          </a:p>
          <a:p>
            <a:pPr marL="0" indent="0">
              <a:buNone/>
            </a:pPr>
            <a:r>
              <a:rPr lang="en-US" sz="1800" dirty="0"/>
              <a:t>Software configuration management section</a:t>
            </a:r>
          </a:p>
          <a:p>
            <a:pPr marL="0" indent="0">
              <a:buNone/>
            </a:pPr>
            <a:r>
              <a:rPr lang="en-US" sz="1800" dirty="0"/>
              <a:t>Problem reporting and corrective action section</a:t>
            </a:r>
          </a:p>
          <a:p>
            <a:pPr marL="0" indent="0">
              <a:buNone/>
            </a:pPr>
            <a:r>
              <a:rPr lang="en-US" sz="1800" dirty="0"/>
              <a:t>Tools, technologies, and methodologies section</a:t>
            </a:r>
          </a:p>
          <a:p>
            <a:pPr marL="0" indent="0">
              <a:buNone/>
            </a:pPr>
            <a:r>
              <a:rPr lang="en-US" sz="1800" dirty="0"/>
              <a:t>Code control section</a:t>
            </a:r>
          </a:p>
          <a:p>
            <a:pPr marL="0" indent="0">
              <a:buNone/>
            </a:pPr>
            <a:r>
              <a:rPr lang="en-US" sz="1800" dirty="0"/>
              <a:t>Records: Collection, maintenance, and retention section</a:t>
            </a:r>
          </a:p>
          <a:p>
            <a:pPr marL="0" indent="0">
              <a:buNone/>
            </a:pPr>
            <a:r>
              <a:rPr lang="en-US" sz="1800" dirty="0"/>
              <a:t>Testing methodology</a:t>
            </a:r>
          </a:p>
          <a:p>
            <a:endParaRPr lang="en-IN" sz="1800" dirty="0"/>
          </a:p>
        </p:txBody>
      </p:sp>
    </p:spTree>
    <p:extLst>
      <p:ext uri="{BB962C8B-B14F-4D97-AF65-F5344CB8AC3E}">
        <p14:creationId xmlns:p14="http://schemas.microsoft.com/office/powerpoint/2010/main" val="3268330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SQA Elements </a:t>
            </a:r>
            <a:endParaRPr lang="en-IN" dirty="0"/>
          </a:p>
        </p:txBody>
      </p:sp>
      <p:sp>
        <p:nvSpPr>
          <p:cNvPr id="3" name="Content Placeholder 2"/>
          <p:cNvSpPr>
            <a:spLocks noGrp="1"/>
          </p:cNvSpPr>
          <p:nvPr>
            <p:ph sz="quarter" idx="1"/>
          </p:nvPr>
        </p:nvSpPr>
        <p:spPr>
          <a:xfrm>
            <a:off x="533400" y="1524000"/>
            <a:ext cx="7467600" cy="4873752"/>
          </a:xfrm>
        </p:spPr>
        <p:txBody>
          <a:bodyPr>
            <a:normAutofit fontScale="92500" lnSpcReduction="20000"/>
          </a:bodyPr>
          <a:lstStyle/>
          <a:p>
            <a:pPr marL="0" indent="0">
              <a:buNone/>
            </a:pPr>
            <a:r>
              <a:rPr lang="en-US" sz="1800" b="1" dirty="0"/>
              <a:t>SQA</a:t>
            </a:r>
            <a:r>
              <a:rPr lang="en-US" sz="1800" dirty="0"/>
              <a:t> includes all 4 </a:t>
            </a:r>
            <a:r>
              <a:rPr lang="en-US" sz="1800" dirty="0" smtClean="0"/>
              <a:t>elements :</a:t>
            </a:r>
          </a:p>
          <a:p>
            <a:pPr marL="0" indent="0">
              <a:buNone/>
            </a:pPr>
            <a:r>
              <a:rPr lang="en-US" sz="1800" b="1" dirty="0" smtClean="0"/>
              <a:t>Software </a:t>
            </a:r>
            <a:r>
              <a:rPr lang="en-US" sz="1800" b="1" dirty="0"/>
              <a:t>Quality Assurance </a:t>
            </a:r>
            <a:r>
              <a:rPr lang="en-US" sz="1800" dirty="0"/>
              <a:t>– E</a:t>
            </a:r>
            <a:r>
              <a:rPr lang="en-US" sz="1800" dirty="0" smtClean="0"/>
              <a:t>stablishment </a:t>
            </a:r>
            <a:r>
              <a:rPr lang="en-US" sz="1800" dirty="0"/>
              <a:t>of network of</a:t>
            </a:r>
          </a:p>
          <a:p>
            <a:pPr marL="0" indent="0">
              <a:buNone/>
            </a:pPr>
            <a:r>
              <a:rPr lang="en-US" sz="1800" dirty="0"/>
              <a:t>organizational procedures and standards leading to</a:t>
            </a:r>
          </a:p>
          <a:p>
            <a:pPr marL="0" indent="0">
              <a:buNone/>
            </a:pPr>
            <a:r>
              <a:rPr lang="en-US" sz="1800" dirty="0"/>
              <a:t>high-quality software</a:t>
            </a:r>
          </a:p>
          <a:p>
            <a:pPr marL="0" indent="0">
              <a:buNone/>
            </a:pPr>
            <a:endParaRPr lang="en-US" sz="1800" dirty="0"/>
          </a:p>
          <a:p>
            <a:pPr marL="0" indent="0">
              <a:buNone/>
            </a:pPr>
            <a:r>
              <a:rPr lang="en-US" sz="1800" b="1" dirty="0"/>
              <a:t>Software Quality Planning – </a:t>
            </a:r>
            <a:r>
              <a:rPr lang="en-US" sz="1800" dirty="0"/>
              <a:t>S</a:t>
            </a:r>
            <a:r>
              <a:rPr lang="en-US" sz="1800" dirty="0" smtClean="0"/>
              <a:t>election </a:t>
            </a:r>
            <a:r>
              <a:rPr lang="en-US" sz="1800" dirty="0"/>
              <a:t>of appropriate</a:t>
            </a:r>
          </a:p>
          <a:p>
            <a:pPr marL="0" indent="0">
              <a:buNone/>
            </a:pPr>
            <a:r>
              <a:rPr lang="en-US" sz="1800" dirty="0"/>
              <a:t>procedures and standards from this framework and adaptation</a:t>
            </a:r>
          </a:p>
          <a:p>
            <a:pPr marL="0" indent="0">
              <a:buNone/>
            </a:pPr>
            <a:r>
              <a:rPr lang="en-US" sz="1800" dirty="0"/>
              <a:t>of these to specific software project</a:t>
            </a:r>
          </a:p>
          <a:p>
            <a:pPr marL="0" indent="0">
              <a:buNone/>
            </a:pPr>
            <a:endParaRPr lang="en-US" sz="1800" dirty="0"/>
          </a:p>
          <a:p>
            <a:pPr marL="0" indent="0">
              <a:buNone/>
            </a:pPr>
            <a:r>
              <a:rPr lang="en-US" sz="1800" b="1" dirty="0"/>
              <a:t>Software Quality Control – </a:t>
            </a:r>
            <a:r>
              <a:rPr lang="en-US" sz="1800" dirty="0" smtClean="0"/>
              <a:t>Definition </a:t>
            </a:r>
            <a:r>
              <a:rPr lang="en-US" sz="1800" dirty="0"/>
              <a:t>and enactment of</a:t>
            </a:r>
          </a:p>
          <a:p>
            <a:pPr marL="0" indent="0">
              <a:buNone/>
            </a:pPr>
            <a:r>
              <a:rPr lang="en-US" sz="1800" dirty="0"/>
              <a:t>processes that ensure that project quality procedures and</a:t>
            </a:r>
          </a:p>
          <a:p>
            <a:pPr marL="0" indent="0">
              <a:buNone/>
            </a:pPr>
            <a:r>
              <a:rPr lang="en-US" sz="1800" dirty="0"/>
              <a:t>standards are being followed by the software development</a:t>
            </a:r>
          </a:p>
          <a:p>
            <a:pPr marL="0" indent="0">
              <a:buNone/>
            </a:pPr>
            <a:r>
              <a:rPr lang="en-US" sz="1800" dirty="0"/>
              <a:t>team</a:t>
            </a:r>
          </a:p>
          <a:p>
            <a:pPr marL="0" indent="0">
              <a:buNone/>
            </a:pPr>
            <a:endParaRPr lang="en-US" sz="1800" dirty="0"/>
          </a:p>
          <a:p>
            <a:pPr marL="0" indent="0">
              <a:buNone/>
            </a:pPr>
            <a:r>
              <a:rPr lang="en-US" sz="1800" b="1" dirty="0"/>
              <a:t>Software Quality Metrics – </a:t>
            </a:r>
            <a:r>
              <a:rPr lang="en-US" sz="1800" dirty="0"/>
              <a:t>C</a:t>
            </a:r>
            <a:r>
              <a:rPr lang="en-US" sz="1800" dirty="0" smtClean="0"/>
              <a:t>ollecting </a:t>
            </a:r>
            <a:r>
              <a:rPr lang="en-US" sz="1800" dirty="0"/>
              <a:t>and analyzing quality</a:t>
            </a:r>
          </a:p>
          <a:p>
            <a:pPr marL="0" indent="0">
              <a:buNone/>
            </a:pPr>
            <a:r>
              <a:rPr lang="en-US" sz="1800" dirty="0"/>
              <a:t>data to predict and control quality of the software product</a:t>
            </a:r>
          </a:p>
          <a:p>
            <a:pPr marL="0" indent="0">
              <a:buNone/>
            </a:pPr>
            <a:r>
              <a:rPr lang="en-US" sz="1800" dirty="0"/>
              <a:t>being developed</a:t>
            </a:r>
            <a:endParaRPr lang="en-IN" dirty="0"/>
          </a:p>
        </p:txBody>
      </p:sp>
    </p:spTree>
    <p:extLst>
      <p:ext uri="{BB962C8B-B14F-4D97-AF65-F5344CB8AC3E}">
        <p14:creationId xmlns:p14="http://schemas.microsoft.com/office/powerpoint/2010/main" val="3820780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Software Quality Assurance </a:t>
            </a:r>
            <a:r>
              <a:rPr lang="en-US" sz="3200" dirty="0" smtClean="0"/>
              <a:t>Plan</a:t>
            </a:r>
            <a:endParaRPr lang="en-IN" dirty="0"/>
          </a:p>
        </p:txBody>
      </p:sp>
      <p:sp>
        <p:nvSpPr>
          <p:cNvPr id="3" name="Content Placeholder 2"/>
          <p:cNvSpPr>
            <a:spLocks noGrp="1"/>
          </p:cNvSpPr>
          <p:nvPr>
            <p:ph sz="quarter" idx="1"/>
          </p:nvPr>
        </p:nvSpPr>
        <p:spPr/>
        <p:txBody>
          <a:bodyPr/>
          <a:lstStyle/>
          <a:p>
            <a:pPr marL="0" indent="0">
              <a:buNone/>
            </a:pPr>
            <a:r>
              <a:rPr lang="en-US" sz="1800" dirty="0" smtClean="0"/>
              <a:t>Abbreviated </a:t>
            </a:r>
            <a:r>
              <a:rPr lang="en-US" sz="1800" dirty="0"/>
              <a:t>as SQAP, the software quality assurance plan comprises the procedures, techniques, and tools that are employed to make sure that a product or service aligns with the requirements defined in the SRS(software requirement specification).</a:t>
            </a: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895600"/>
            <a:ext cx="5867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6820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1341438"/>
          </a:xfrm>
        </p:spPr>
        <p:txBody>
          <a:bodyPr>
            <a:normAutofit fontScale="90000"/>
          </a:bodyPr>
          <a:lstStyle/>
          <a:p>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SQA Planning &amp; Standards (ISO 9000, Six Sigma)</a:t>
            </a:r>
            <a:br>
              <a:rPr lang="en-US" sz="3200" dirty="0"/>
            </a:br>
            <a:endParaRPr lang="en-IN" dirty="0"/>
          </a:p>
        </p:txBody>
      </p:sp>
      <p:sp>
        <p:nvSpPr>
          <p:cNvPr id="3" name="Content Placeholder 2"/>
          <p:cNvSpPr>
            <a:spLocks noGrp="1"/>
          </p:cNvSpPr>
          <p:nvPr>
            <p:ph sz="quarter" idx="1"/>
          </p:nvPr>
        </p:nvSpPr>
        <p:spPr/>
        <p:txBody>
          <a:bodyPr/>
          <a:lstStyle/>
          <a:p>
            <a:pPr marL="0" indent="0">
              <a:buNone/>
            </a:pPr>
            <a:r>
              <a:rPr lang="en-US" sz="1800" dirty="0"/>
              <a:t>Software quality assurance (SQA) is a process that assures that all software engineering processes, methods, activities, and work items are monitored and comply with the defined standards. These defined standards could be one or a combination of any like ISO 9000, CMMI model, ISO15504, etc.</a:t>
            </a:r>
          </a:p>
          <a:p>
            <a:pPr marL="0" indent="0">
              <a:buNone/>
            </a:pPr>
            <a:r>
              <a:rPr lang="en-US" sz="1800" dirty="0"/>
              <a:t>SQA incorporates all software development processes starting from defining requirements to coding until release. Its prime goal is to ensure </a:t>
            </a:r>
            <a:r>
              <a:rPr lang="en-US" sz="1800" dirty="0" smtClean="0"/>
              <a:t>quality</a:t>
            </a:r>
          </a:p>
          <a:p>
            <a:pPr marL="0" indent="0">
              <a:buNone/>
            </a:pPr>
            <a:r>
              <a:rPr lang="en-US" sz="1800" dirty="0" smtClean="0"/>
              <a:t> </a:t>
            </a:r>
            <a:r>
              <a:rPr lang="en-US" sz="1800" b="1" dirty="0" smtClean="0"/>
              <a:t>1</a:t>
            </a:r>
            <a:r>
              <a:rPr lang="en-US" sz="1800" b="1" dirty="0"/>
              <a:t>) Creating an SQA Management Plan:</a:t>
            </a:r>
          </a:p>
          <a:p>
            <a:pPr marL="0" indent="0">
              <a:buNone/>
            </a:pPr>
            <a:r>
              <a:rPr lang="en-US" sz="1800" dirty="0"/>
              <a:t>The foremost activity includes laying down a proper plan regarding how the SQA will be carried out in your project.</a:t>
            </a:r>
          </a:p>
          <a:p>
            <a:pPr marL="0" indent="0">
              <a:buNone/>
            </a:pPr>
            <a:r>
              <a:rPr lang="en-US" sz="1800" dirty="0"/>
              <a:t>Along with what SQA approach you are going to follow, what engineering activities will be carried out, and it also includes ensuring that you have the right talent mix in your team.</a:t>
            </a:r>
          </a:p>
          <a:p>
            <a:endParaRPr lang="en-US" sz="1800" dirty="0"/>
          </a:p>
          <a:p>
            <a:pPr marL="0" indent="0">
              <a:buNone/>
            </a:pPr>
            <a:endParaRPr lang="en-IN" dirty="0"/>
          </a:p>
        </p:txBody>
      </p:sp>
    </p:spTree>
    <p:extLst>
      <p:ext uri="{BB962C8B-B14F-4D97-AF65-F5344CB8AC3E}">
        <p14:creationId xmlns:p14="http://schemas.microsoft.com/office/powerpoint/2010/main" val="3817599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SQA Activities</a:t>
            </a:r>
            <a:br>
              <a:rPr lang="en-US" dirty="0"/>
            </a:br>
            <a:endParaRPr lang="en-IN" dirty="0"/>
          </a:p>
        </p:txBody>
      </p:sp>
      <p:sp>
        <p:nvSpPr>
          <p:cNvPr id="3" name="Content Placeholder 2"/>
          <p:cNvSpPr>
            <a:spLocks noGrp="1"/>
          </p:cNvSpPr>
          <p:nvPr>
            <p:ph sz="quarter" idx="1"/>
          </p:nvPr>
        </p:nvSpPr>
        <p:spPr>
          <a:xfrm>
            <a:off x="457200" y="1219200"/>
            <a:ext cx="7696200" cy="5254752"/>
          </a:xfrm>
        </p:spPr>
        <p:txBody>
          <a:bodyPr>
            <a:noAutofit/>
          </a:bodyPr>
          <a:lstStyle/>
          <a:p>
            <a:pPr marL="0" indent="0">
              <a:buNone/>
            </a:pPr>
            <a:r>
              <a:rPr lang="en-US" sz="1800" b="1" dirty="0"/>
              <a:t>2) Setting the Checkpoints:</a:t>
            </a:r>
          </a:p>
          <a:p>
            <a:pPr marL="0" indent="0">
              <a:buNone/>
            </a:pPr>
            <a:r>
              <a:rPr lang="en-US" sz="1800" dirty="0"/>
              <a:t>The SQA team sets up different checkpoints according to which it evaluates the quality of the project activities at each checkpoint/project stage. This ensures regular quality inspection and working as per the schedule</a:t>
            </a:r>
            <a:r>
              <a:rPr lang="en-US" sz="1800" dirty="0" smtClean="0"/>
              <a:t>.</a:t>
            </a:r>
          </a:p>
          <a:p>
            <a:pPr marL="0" indent="0">
              <a:buNone/>
            </a:pPr>
            <a:r>
              <a:rPr lang="en-US" sz="1800" b="1" dirty="0"/>
              <a:t>3) Apply software Engineering Techniques</a:t>
            </a:r>
            <a:r>
              <a:rPr lang="en-US" sz="1800" dirty="0"/>
              <a:t>:</a:t>
            </a:r>
          </a:p>
          <a:p>
            <a:pPr marL="0" indent="0">
              <a:buNone/>
            </a:pPr>
            <a:r>
              <a:rPr lang="en-US" sz="1800" dirty="0"/>
              <a:t>Applying some software engineering techniques aids a software designer in achieving high-quality specifications. For gathering information, a designer may use techniques such as interviews and FAST (Functional Analysis System Technique).</a:t>
            </a:r>
          </a:p>
          <a:p>
            <a:pPr marL="0" indent="0">
              <a:buNone/>
            </a:pPr>
            <a:r>
              <a:rPr lang="en-US" sz="1800" dirty="0"/>
              <a:t>Later, based on the information gathered, the software designer can prepare the project estimation using techniques like WBS (work breakdown structure), SLOC (source line of codes), and FP(functional point) estimation.</a:t>
            </a:r>
          </a:p>
          <a:p>
            <a:pPr marL="0" indent="0">
              <a:buNone/>
            </a:pPr>
            <a:endParaRPr lang="en-US" sz="1800" dirty="0"/>
          </a:p>
        </p:txBody>
      </p:sp>
    </p:spTree>
    <p:extLst>
      <p:ext uri="{BB962C8B-B14F-4D97-AF65-F5344CB8AC3E}">
        <p14:creationId xmlns:p14="http://schemas.microsoft.com/office/powerpoint/2010/main" val="265348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r>
              <a:rPr lang="en-US" dirty="0"/>
              <a:t>SQA Activities</a:t>
            </a:r>
            <a:endParaRPr lang="en-IN" dirty="0"/>
          </a:p>
        </p:txBody>
      </p:sp>
      <p:sp>
        <p:nvSpPr>
          <p:cNvPr id="3" name="Content Placeholder 2"/>
          <p:cNvSpPr>
            <a:spLocks noGrp="1"/>
          </p:cNvSpPr>
          <p:nvPr>
            <p:ph sz="quarter" idx="1"/>
          </p:nvPr>
        </p:nvSpPr>
        <p:spPr>
          <a:xfrm>
            <a:off x="457200" y="1447800"/>
            <a:ext cx="7924800" cy="5635752"/>
          </a:xfrm>
        </p:spPr>
        <p:txBody>
          <a:bodyPr>
            <a:noAutofit/>
          </a:bodyPr>
          <a:lstStyle/>
          <a:p>
            <a:pPr marL="0" indent="0">
              <a:buNone/>
            </a:pPr>
            <a:r>
              <a:rPr lang="en-US" sz="1800" b="1" dirty="0"/>
              <a:t>4) Executing Formal Technical Reviews:</a:t>
            </a:r>
          </a:p>
          <a:p>
            <a:pPr marL="0" indent="0">
              <a:buNone/>
            </a:pPr>
            <a:r>
              <a:rPr lang="en-US" sz="1800" dirty="0"/>
              <a:t>An FTR is done to evaluate the quality and design of the prototype.</a:t>
            </a:r>
          </a:p>
          <a:p>
            <a:pPr marL="0" indent="0">
              <a:buNone/>
            </a:pPr>
            <a:r>
              <a:rPr lang="en-US" sz="1800" dirty="0"/>
              <a:t>In this process, a meeting is conducted with the technical staff to discuss the actual quality requirements of the software and the design quality of the prototype. This activity helps in detecting errors in the early phase of SDLC and reduces rework effort in the later phases</a:t>
            </a:r>
            <a:r>
              <a:rPr lang="en-US" sz="1800" dirty="0" smtClean="0"/>
              <a:t>.</a:t>
            </a:r>
          </a:p>
          <a:p>
            <a:pPr marL="0" indent="0">
              <a:buNone/>
            </a:pPr>
            <a:r>
              <a:rPr lang="en-US" sz="1800" b="1" dirty="0"/>
              <a:t>5) Having a Multi-Testing Strategy:</a:t>
            </a:r>
          </a:p>
          <a:p>
            <a:pPr marL="0" indent="0">
              <a:buNone/>
            </a:pPr>
            <a:r>
              <a:rPr lang="en-US" sz="1800" dirty="0"/>
              <a:t>By multi-testing strategy, we mean that one should not rely on any single testing approach, instead, multiple types of testing should be performed so that the software product can be tested well from all angles to ensure better quality.</a:t>
            </a:r>
          </a:p>
          <a:p>
            <a:pPr marL="0" indent="0">
              <a:buNone/>
            </a:pPr>
            <a:r>
              <a:rPr lang="en-US" sz="1800" b="1" dirty="0"/>
              <a:t>6) Enforcing Process Adherence:</a:t>
            </a:r>
          </a:p>
          <a:p>
            <a:pPr marL="0" indent="0">
              <a:buNone/>
            </a:pPr>
            <a:r>
              <a:rPr lang="en-US" sz="1800" dirty="0"/>
              <a:t>This activity insists on the need for process adherence during the software development process. The development process should also stick to the defined procedures.</a:t>
            </a:r>
          </a:p>
          <a:p>
            <a:pPr marL="0" indent="0">
              <a:buNone/>
            </a:pPr>
            <a:endParaRPr lang="en-IN" sz="1800" dirty="0"/>
          </a:p>
          <a:p>
            <a:pPr marL="0" indent="0">
              <a:buNone/>
            </a:pPr>
            <a:endParaRPr lang="en-IN" dirty="0"/>
          </a:p>
        </p:txBody>
      </p:sp>
    </p:spTree>
    <p:extLst>
      <p:ext uri="{BB962C8B-B14F-4D97-AF65-F5344CB8AC3E}">
        <p14:creationId xmlns:p14="http://schemas.microsoft.com/office/powerpoint/2010/main" val="3688077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US" dirty="0"/>
              <a:t>SQA Activities</a:t>
            </a:r>
            <a:endParaRPr lang="en-IN" dirty="0"/>
          </a:p>
        </p:txBody>
      </p:sp>
      <p:sp>
        <p:nvSpPr>
          <p:cNvPr id="3" name="Content Placeholder 2"/>
          <p:cNvSpPr>
            <a:spLocks noGrp="1"/>
          </p:cNvSpPr>
          <p:nvPr>
            <p:ph sz="quarter" idx="1"/>
          </p:nvPr>
        </p:nvSpPr>
        <p:spPr>
          <a:xfrm>
            <a:off x="457200" y="1219200"/>
            <a:ext cx="7772400" cy="5254752"/>
          </a:xfrm>
        </p:spPr>
        <p:txBody>
          <a:bodyPr>
            <a:normAutofit fontScale="92500" lnSpcReduction="20000"/>
          </a:bodyPr>
          <a:lstStyle/>
          <a:p>
            <a:pPr marL="0" indent="0">
              <a:buNone/>
            </a:pPr>
            <a:r>
              <a:rPr lang="en-US" sz="2900" b="1" dirty="0"/>
              <a:t>7) Controlling Change:</a:t>
            </a:r>
          </a:p>
          <a:p>
            <a:pPr marL="0" indent="0">
              <a:buNone/>
            </a:pPr>
            <a:r>
              <a:rPr lang="en-US" sz="2300" dirty="0"/>
              <a:t>In this activity, we use a mix of manual procedures and automated tools to have a mechanism for change control.</a:t>
            </a:r>
          </a:p>
          <a:p>
            <a:pPr marL="0" indent="0">
              <a:buNone/>
            </a:pPr>
            <a:r>
              <a:rPr lang="en-US" sz="2300" dirty="0"/>
              <a:t>By validating the change requests, evaluating the nature of change, and controlling the change effect, it is ensured that the software quality is maintained during the development and maintenance phases</a:t>
            </a:r>
            <a:r>
              <a:rPr lang="en-US" sz="2300" dirty="0"/>
              <a:t>.</a:t>
            </a:r>
          </a:p>
          <a:p>
            <a:pPr marL="0" indent="0">
              <a:buNone/>
            </a:pPr>
            <a:endParaRPr lang="en-US" sz="5500" dirty="0" smtClean="0"/>
          </a:p>
          <a:p>
            <a:pPr marL="0" indent="0">
              <a:buNone/>
            </a:pPr>
            <a:r>
              <a:rPr lang="en-US" sz="2900" b="1" dirty="0"/>
              <a:t>8) Measure Change Impact:</a:t>
            </a:r>
          </a:p>
          <a:p>
            <a:pPr marL="0" indent="0">
              <a:buNone/>
            </a:pPr>
            <a:r>
              <a:rPr lang="en-US" sz="2300" dirty="0"/>
              <a:t>If any defect is reported by the QA team, then the concerned team fixes the defect.</a:t>
            </a:r>
          </a:p>
          <a:p>
            <a:pPr marL="0" indent="0">
              <a:buNone/>
            </a:pPr>
            <a:r>
              <a:rPr lang="en-US" sz="2300" dirty="0"/>
              <a:t>After this, the QA team should determine the impact of the change which is brought by this defect fix. They need to test not only if the change has fixed the defect, but also if the change is compatible with the whole project.</a:t>
            </a:r>
          </a:p>
          <a:p>
            <a:endParaRPr lang="en-IN" dirty="0"/>
          </a:p>
        </p:txBody>
      </p:sp>
    </p:spTree>
    <p:extLst>
      <p:ext uri="{BB962C8B-B14F-4D97-AF65-F5344CB8AC3E}">
        <p14:creationId xmlns:p14="http://schemas.microsoft.com/office/powerpoint/2010/main" val="3104564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6934200" cy="944562"/>
          </a:xfrm>
        </p:spPr>
        <p:txBody>
          <a:bodyPr/>
          <a:lstStyle/>
          <a:p>
            <a:r>
              <a:rPr lang="en-US" dirty="0"/>
              <a:t>SQA Activities</a:t>
            </a:r>
            <a:endParaRPr lang="en-IN" dirty="0"/>
          </a:p>
        </p:txBody>
      </p:sp>
      <p:sp>
        <p:nvSpPr>
          <p:cNvPr id="3" name="Content Placeholder 2"/>
          <p:cNvSpPr>
            <a:spLocks noGrp="1"/>
          </p:cNvSpPr>
          <p:nvPr>
            <p:ph sz="quarter" idx="1"/>
          </p:nvPr>
        </p:nvSpPr>
        <p:spPr/>
        <p:txBody>
          <a:bodyPr>
            <a:normAutofit fontScale="70000" lnSpcReduction="20000"/>
          </a:bodyPr>
          <a:lstStyle/>
          <a:p>
            <a:pPr marL="0" indent="0">
              <a:buNone/>
            </a:pPr>
            <a:r>
              <a:rPr lang="en-US" dirty="0" smtClean="0"/>
              <a:t>8) For </a:t>
            </a:r>
            <a:r>
              <a:rPr lang="en-US" dirty="0"/>
              <a:t>this purpose, we use software quality metrics that allow managers and developers to observe the activities and proposed changes from the beginning till the end of SDLC and initiate corrective action wherever required.</a:t>
            </a:r>
          </a:p>
          <a:p>
            <a:pPr marL="0" indent="0">
              <a:buNone/>
            </a:pPr>
            <a:r>
              <a:rPr lang="en-US" dirty="0"/>
              <a:t>9) Performing SQA Audits:</a:t>
            </a:r>
          </a:p>
          <a:p>
            <a:pPr marL="0" indent="0">
              <a:buNone/>
            </a:pPr>
            <a:r>
              <a:rPr lang="en-US" dirty="0"/>
              <a:t>The SQA audit inspects the entire actual SDLC process followed by comparing it against the established process.</a:t>
            </a:r>
          </a:p>
          <a:p>
            <a:pPr marL="0" indent="0">
              <a:buNone/>
            </a:pPr>
            <a:r>
              <a:rPr lang="en-US" dirty="0"/>
              <a:t>It also checks whether whatever was reported by the team in the status reports was actually performed or not. This activity also exposes any non-compliance issues.</a:t>
            </a:r>
          </a:p>
          <a:p>
            <a:pPr marL="0" indent="0">
              <a:buNone/>
            </a:pPr>
            <a:r>
              <a:rPr lang="en-US" dirty="0"/>
              <a:t>10) Maintaining Records and Reports:</a:t>
            </a:r>
          </a:p>
          <a:p>
            <a:pPr marL="0" indent="0">
              <a:buNone/>
            </a:pPr>
            <a:r>
              <a:rPr lang="en-US" dirty="0"/>
              <a:t>It is crucial to keep the necessary documentation related to SQA and share the required SQA information with the stakeholders. The test results, audit results, review reports, change requests documentation, etc. should be kept for future reference.</a:t>
            </a:r>
          </a:p>
          <a:p>
            <a:pPr marL="0" indent="0">
              <a:buNone/>
            </a:pPr>
            <a:r>
              <a:rPr lang="en-US" dirty="0"/>
              <a:t>11) Manage Good Relations:</a:t>
            </a:r>
          </a:p>
          <a:p>
            <a:pPr marL="0" indent="0">
              <a:buNone/>
            </a:pPr>
            <a:r>
              <a:rPr lang="en-US" dirty="0"/>
              <a:t>In fact, it is very important to maintain harmony between the QA and the development team.</a:t>
            </a:r>
          </a:p>
          <a:p>
            <a:pPr marL="0" indent="0">
              <a:buNone/>
            </a:pPr>
            <a:r>
              <a:rPr lang="en-US" dirty="0"/>
              <a:t>We often hear that testers and developers often feel superior to each other. This should be avoided as it can affect the overall project quality.</a:t>
            </a:r>
          </a:p>
          <a:p>
            <a:endParaRPr lang="en-IN" dirty="0"/>
          </a:p>
          <a:p>
            <a:endParaRPr lang="en-IN" dirty="0"/>
          </a:p>
        </p:txBody>
      </p:sp>
    </p:spTree>
    <p:extLst>
      <p:ext uri="{BB962C8B-B14F-4D97-AF65-F5344CB8AC3E}">
        <p14:creationId xmlns:p14="http://schemas.microsoft.com/office/powerpoint/2010/main" val="1781128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SQA Planning &amp; Standards (ISO 9000, Six Sigma)</a:t>
            </a:r>
            <a:endParaRPr lang="en-IN" dirty="0"/>
          </a:p>
        </p:txBody>
      </p:sp>
      <p:sp>
        <p:nvSpPr>
          <p:cNvPr id="3" name="Content Placeholder 2"/>
          <p:cNvSpPr>
            <a:spLocks noGrp="1"/>
          </p:cNvSpPr>
          <p:nvPr>
            <p:ph sz="quarter" idx="1"/>
          </p:nvPr>
        </p:nvSpPr>
        <p:spPr>
          <a:xfrm>
            <a:off x="533400" y="838200"/>
            <a:ext cx="7391400" cy="5635752"/>
          </a:xfrm>
        </p:spPr>
        <p:txBody>
          <a:bodyPr>
            <a:normAutofit/>
          </a:bodyPr>
          <a:lstStyle/>
          <a:p>
            <a:pPr marL="0" indent="0">
              <a:buNone/>
            </a:pPr>
            <a:endParaRPr lang="en-US" sz="1800" b="1" dirty="0" smtClean="0"/>
          </a:p>
          <a:p>
            <a:pPr marL="0" indent="0">
              <a:buNone/>
            </a:pPr>
            <a:endParaRPr lang="en-US" sz="1800" b="1" dirty="0"/>
          </a:p>
          <a:p>
            <a:pPr marL="0" indent="0">
              <a:buNone/>
            </a:pPr>
            <a:r>
              <a:rPr lang="en-US" sz="1800" b="1" dirty="0" smtClean="0"/>
              <a:t>ISO </a:t>
            </a:r>
            <a:r>
              <a:rPr lang="en-US" sz="1800" b="1" dirty="0"/>
              <a:t>9000: </a:t>
            </a:r>
            <a:r>
              <a:rPr lang="en-US" sz="1800" dirty="0"/>
              <a:t>This standard is based on seven quality management principles which help the organizations to ensure that their products or services are aligned with the customer needs.</a:t>
            </a:r>
          </a:p>
          <a:p>
            <a:pPr marL="0" indent="0">
              <a:buNone/>
            </a:pPr>
            <a:r>
              <a:rPr lang="en-US" sz="1800" dirty="0"/>
              <a:t>7 principles of ISO 9000 are depicted in the below image:</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838152"/>
            <a:ext cx="6553200" cy="3486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3071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SQA Planning &amp; Standards (ISO 9000, Six Sigma)</a:t>
            </a:r>
            <a:endParaRPr lang="en-IN" dirty="0"/>
          </a:p>
        </p:txBody>
      </p:sp>
      <p:sp>
        <p:nvSpPr>
          <p:cNvPr id="3" name="Content Placeholder 2"/>
          <p:cNvSpPr>
            <a:spLocks noGrp="1"/>
          </p:cNvSpPr>
          <p:nvPr>
            <p:ph sz="quarter" idx="1"/>
          </p:nvPr>
        </p:nvSpPr>
        <p:spPr/>
        <p:txBody>
          <a:bodyPr>
            <a:normAutofit/>
          </a:bodyPr>
          <a:lstStyle/>
          <a:p>
            <a:pPr marL="0" indent="0">
              <a:buNone/>
            </a:pPr>
            <a:r>
              <a:rPr lang="en-US" sz="1800" dirty="0" smtClean="0"/>
              <a:t>This </a:t>
            </a:r>
            <a:r>
              <a:rPr lang="en-US" sz="1800" dirty="0"/>
              <a:t>activity is a blend of two sub-activities which are explained below in detail:</a:t>
            </a:r>
          </a:p>
          <a:p>
            <a:pPr marL="0" indent="0">
              <a:buNone/>
            </a:pPr>
            <a:r>
              <a:rPr lang="en-US" sz="1800" dirty="0"/>
              <a:t>(</a:t>
            </a:r>
            <a:r>
              <a:rPr lang="en-US" sz="1800" dirty="0" err="1"/>
              <a:t>i</a:t>
            </a:r>
            <a:r>
              <a:rPr lang="en-US" sz="1800" dirty="0"/>
              <a:t>) Product Evaluation:</a:t>
            </a:r>
          </a:p>
          <a:p>
            <a:pPr marL="0" indent="0">
              <a:buNone/>
            </a:pPr>
            <a:r>
              <a:rPr lang="en-US" sz="1800" dirty="0"/>
              <a:t>This activity confirms that the software product is meeting the requirements that were discovered in the project management plan. It ensures that the set standards for the project are followed correctly.</a:t>
            </a:r>
          </a:p>
          <a:p>
            <a:pPr marL="0" indent="0">
              <a:buNone/>
            </a:pPr>
            <a:r>
              <a:rPr lang="en-US" sz="1800" dirty="0"/>
              <a:t>(ii) Process Monitoring:</a:t>
            </a:r>
          </a:p>
          <a:p>
            <a:pPr marL="0" indent="0">
              <a:buNone/>
            </a:pPr>
            <a:r>
              <a:rPr lang="en-US" sz="1800" dirty="0"/>
              <a:t>This activity verifies if the correct steps were taken during software development. This is done by matching the actually taken steps against the </a:t>
            </a:r>
            <a:r>
              <a:rPr lang="en-US" sz="1800" dirty="0" smtClean="0"/>
              <a:t>documented </a:t>
            </a:r>
            <a:r>
              <a:rPr lang="en-US" sz="1800" dirty="0"/>
              <a:t>steps</a:t>
            </a:r>
            <a:r>
              <a:rPr lang="en-US" sz="1800" dirty="0" smtClean="0"/>
              <a:t>.</a:t>
            </a:r>
          </a:p>
          <a:p>
            <a:pPr marL="0" indent="0">
              <a:buNone/>
            </a:pPr>
            <a:endParaRPr lang="en-US" sz="1800" dirty="0"/>
          </a:p>
        </p:txBody>
      </p:sp>
    </p:spTree>
    <p:extLst>
      <p:ext uri="{BB962C8B-B14F-4D97-AF65-F5344CB8AC3E}">
        <p14:creationId xmlns:p14="http://schemas.microsoft.com/office/powerpoint/2010/main" val="1544941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SQA Planning &amp; Standards (ISO 9000, Six Sigma)</a:t>
            </a:r>
            <a:endParaRPr lang="en-IN" dirty="0"/>
          </a:p>
        </p:txBody>
      </p:sp>
      <p:sp>
        <p:nvSpPr>
          <p:cNvPr id="3" name="Content Placeholder 2"/>
          <p:cNvSpPr>
            <a:spLocks noGrp="1"/>
          </p:cNvSpPr>
          <p:nvPr>
            <p:ph sz="quarter" idx="1"/>
          </p:nvPr>
        </p:nvSpPr>
        <p:spPr>
          <a:xfrm>
            <a:off x="533400" y="1371600"/>
            <a:ext cx="7391400" cy="5102352"/>
          </a:xfrm>
        </p:spPr>
        <p:txBody>
          <a:bodyPr/>
          <a:lstStyle/>
          <a:p>
            <a:pPr marL="0" indent="0">
              <a:buNone/>
            </a:pPr>
            <a:r>
              <a:rPr lang="en-US" sz="1800" b="1" dirty="0"/>
              <a:t>CMMI level:</a:t>
            </a:r>
            <a:r>
              <a:rPr lang="en-US" sz="1800" dirty="0"/>
              <a:t> CMMI stands for Capability maturity model Integration. This model originated in software engineering. It can be employed to direct process improvement throughout a project, department, or entire organization.</a:t>
            </a:r>
          </a:p>
          <a:p>
            <a:pPr marL="0" indent="0">
              <a:buNone/>
            </a:pPr>
            <a:r>
              <a:rPr lang="en-US" sz="1800" dirty="0"/>
              <a:t>5 CMMI levels and their characteristics are described in the below image:</a:t>
            </a:r>
          </a:p>
          <a:p>
            <a:pPr marL="0" indent="0">
              <a:buNone/>
            </a:pPr>
            <a:r>
              <a:rPr lang="en-US" sz="1800" dirty="0"/>
              <a:t>An organization is appraised and awarded a maturity level rating (1-5) based on the type of appraisal.</a:t>
            </a: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191000"/>
            <a:ext cx="6400800" cy="246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723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a:t>
            </a:r>
            <a:r>
              <a:rPr lang="en-US" b="1" dirty="0" err="1"/>
              <a:t>TMMi</a:t>
            </a:r>
            <a:r>
              <a:rPr lang="en-US" b="1" dirty="0"/>
              <a:t> </a:t>
            </a:r>
            <a:r>
              <a:rPr lang="en-US" b="1" dirty="0" smtClean="0"/>
              <a:t>levels :</a:t>
            </a:r>
            <a:endParaRPr lang="en-IN" dirty="0"/>
          </a:p>
        </p:txBody>
      </p:sp>
      <p:sp>
        <p:nvSpPr>
          <p:cNvPr id="6" name="Rectangle 5"/>
          <p:cNvSpPr/>
          <p:nvPr/>
        </p:nvSpPr>
        <p:spPr>
          <a:xfrm>
            <a:off x="838200" y="1600200"/>
            <a:ext cx="6781800" cy="1477328"/>
          </a:xfrm>
          <a:prstGeom prst="rect">
            <a:avLst/>
          </a:prstGeom>
        </p:spPr>
        <p:txBody>
          <a:bodyPr wrap="square">
            <a:spAutoFit/>
          </a:bodyPr>
          <a:lstStyle/>
          <a:p>
            <a:r>
              <a:rPr lang="en-US" dirty="0"/>
              <a:t>An organization is appraised and awarded a maturity level rating (1-5) based on the type of appraisal.</a:t>
            </a:r>
          </a:p>
          <a:p>
            <a:r>
              <a:rPr lang="en-US" b="1" dirty="0"/>
              <a:t>Test Maturity Model integration (</a:t>
            </a:r>
            <a:r>
              <a:rPr lang="en-US" b="1" dirty="0" err="1"/>
              <a:t>TMMi</a:t>
            </a:r>
            <a:r>
              <a:rPr lang="en-US" b="1" dirty="0"/>
              <a:t>):</a:t>
            </a:r>
            <a:r>
              <a:rPr lang="en-US" dirty="0"/>
              <a:t> Based on </a:t>
            </a:r>
            <a:r>
              <a:rPr lang="en-US" dirty="0" err="1"/>
              <a:t>CMMi</a:t>
            </a:r>
            <a:r>
              <a:rPr lang="en-US" dirty="0"/>
              <a:t>, this model focuses on maturity levels in software quality management and testing.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1" y="3017838"/>
            <a:ext cx="5486399" cy="3419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6139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dirty="0" smtClean="0"/>
              <a:t/>
            </a:r>
            <a:br>
              <a:rPr lang="en-US" dirty="0" smtClean="0"/>
            </a:br>
            <a:endParaRPr lang="en-IN" dirty="0"/>
          </a:p>
        </p:txBody>
      </p:sp>
      <p:pic>
        <p:nvPicPr>
          <p:cNvPr id="205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09600" y="1424200"/>
            <a:ext cx="7315200" cy="504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0508" y="609600"/>
            <a:ext cx="7775292" cy="553998"/>
          </a:xfrm>
          <a:prstGeom prst="rect">
            <a:avLst/>
          </a:prstGeom>
        </p:spPr>
        <p:txBody>
          <a:bodyPr wrap="square">
            <a:spAutoFit/>
          </a:bodyPr>
          <a:lstStyle/>
          <a:p>
            <a:r>
              <a:rPr lang="en-IN" sz="3000" b="1" cap="small" dirty="0" err="1">
                <a:solidFill>
                  <a:schemeClr val="tx2"/>
                </a:solidFill>
                <a:latin typeface="+mj-lt"/>
                <a:ea typeface="+mj-ea"/>
                <a:cs typeface="+mj-cs"/>
              </a:rPr>
              <a:t>Diffrence</a:t>
            </a:r>
            <a:r>
              <a:rPr lang="en-IN" sz="3000" b="1" cap="small" dirty="0">
                <a:solidFill>
                  <a:schemeClr val="tx2"/>
                </a:solidFill>
                <a:latin typeface="+mj-lt"/>
                <a:ea typeface="+mj-ea"/>
                <a:cs typeface="+mj-cs"/>
              </a:rPr>
              <a:t> Between </a:t>
            </a:r>
            <a:r>
              <a:rPr lang="en-IN" sz="3000" b="1" cap="small" dirty="0" err="1">
                <a:solidFill>
                  <a:schemeClr val="tx2"/>
                </a:solidFill>
                <a:latin typeface="+mj-lt"/>
                <a:ea typeface="+mj-ea"/>
                <a:cs typeface="+mj-cs"/>
              </a:rPr>
              <a:t>iso</a:t>
            </a:r>
            <a:r>
              <a:rPr lang="en-IN" sz="3000" b="1" cap="small" dirty="0">
                <a:solidFill>
                  <a:schemeClr val="tx2"/>
                </a:solidFill>
                <a:latin typeface="+mj-lt"/>
                <a:ea typeface="+mj-ea"/>
                <a:cs typeface="+mj-cs"/>
              </a:rPr>
              <a:t> and six sigma</a:t>
            </a:r>
          </a:p>
        </p:txBody>
      </p:sp>
    </p:spTree>
    <p:extLst>
      <p:ext uri="{BB962C8B-B14F-4D97-AF65-F5344CB8AC3E}">
        <p14:creationId xmlns:p14="http://schemas.microsoft.com/office/powerpoint/2010/main" val="2732627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six sigma</a:t>
            </a:r>
            <a:br>
              <a:rPr lang="en-IN" b="1" dirty="0"/>
            </a:br>
            <a:endParaRPr lang="en-IN" dirty="0"/>
          </a:p>
        </p:txBody>
      </p:sp>
      <p:sp>
        <p:nvSpPr>
          <p:cNvPr id="3" name="Content Placeholder 2"/>
          <p:cNvSpPr>
            <a:spLocks noGrp="1"/>
          </p:cNvSpPr>
          <p:nvPr>
            <p:ph sz="quarter" idx="1"/>
          </p:nvPr>
        </p:nvSpPr>
        <p:spPr>
          <a:xfrm>
            <a:off x="457200" y="990600"/>
            <a:ext cx="8077200" cy="5483352"/>
          </a:xfrm>
        </p:spPr>
        <p:txBody>
          <a:bodyPr>
            <a:normAutofit/>
          </a:bodyPr>
          <a:lstStyle/>
          <a:p>
            <a:pPr marL="0" indent="0">
              <a:buNone/>
            </a:pPr>
            <a:r>
              <a:rPr lang="en-US" sz="1800" dirty="0"/>
              <a:t>Six Sigma not only helped large organizations but can be used for smaller firms to save on loss on capital and effectively manage time-schedules. The first quality assurance benefit from Six Sigma is the quality approach that no methodology has been able to replicate in terms of the results compared to what Six Sigma has been able to provide over the years. </a:t>
            </a:r>
            <a:endParaRPr lang="en-US" sz="1800" dirty="0" smtClean="0"/>
          </a:p>
          <a:p>
            <a:pPr marL="0" indent="0">
              <a:buNone/>
            </a:pPr>
            <a:r>
              <a:rPr lang="en-US" sz="1800" dirty="0"/>
              <a:t>Six sigma’s quality assurance methodology has set the benchmark for excellence by raising the standards in a way that can implement quality assurance management. </a:t>
            </a:r>
          </a:p>
          <a:p>
            <a:pPr marL="0" indent="0">
              <a:buNone/>
            </a:pPr>
            <a:r>
              <a:rPr lang="en-US" sz="1800" dirty="0"/>
              <a:t>The quality assurance system works well in every sector that requires QA services,</a:t>
            </a:r>
          </a:p>
          <a:p>
            <a:pPr marL="0" indent="0">
              <a:buNone/>
            </a:pPr>
            <a:r>
              <a:rPr lang="en-US" sz="1800" dirty="0"/>
              <a:t> • Quality assurance in Healthcare</a:t>
            </a:r>
          </a:p>
          <a:p>
            <a:pPr marL="0" indent="0">
              <a:buNone/>
            </a:pPr>
            <a:r>
              <a:rPr lang="en-US" sz="1800" dirty="0"/>
              <a:t> • Quality assurance in Retail</a:t>
            </a:r>
          </a:p>
          <a:p>
            <a:pPr marL="0" indent="0">
              <a:buNone/>
            </a:pPr>
            <a:r>
              <a:rPr lang="en-US" sz="1800" dirty="0"/>
              <a:t> • Quality assurance in BPO</a:t>
            </a:r>
          </a:p>
          <a:p>
            <a:pPr marL="0" indent="0">
              <a:buNone/>
            </a:pPr>
            <a:r>
              <a:rPr lang="en-US" sz="1800" dirty="0"/>
              <a:t> • Quality assurance in Manufacturing</a:t>
            </a:r>
          </a:p>
          <a:p>
            <a:pPr marL="0" indent="0">
              <a:buNone/>
            </a:pPr>
            <a:r>
              <a:rPr lang="en-US" sz="1800" dirty="0"/>
              <a:t> • Quality assurance in education</a:t>
            </a:r>
          </a:p>
          <a:p>
            <a:pPr marL="0" indent="0">
              <a:buNone/>
            </a:pPr>
            <a:r>
              <a:rPr lang="en-US" sz="1800" dirty="0"/>
              <a:t> • Quality assurance in pharmacy</a:t>
            </a:r>
          </a:p>
          <a:p>
            <a:endParaRPr lang="en-IN" sz="1800" dirty="0"/>
          </a:p>
        </p:txBody>
      </p:sp>
    </p:spTree>
    <p:extLst>
      <p:ext uri="{BB962C8B-B14F-4D97-AF65-F5344CB8AC3E}">
        <p14:creationId xmlns:p14="http://schemas.microsoft.com/office/powerpoint/2010/main" val="1603881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Quality Assurance (SQA) activities:</a:t>
            </a:r>
            <a:r>
              <a:rPr lang="en-US" dirty="0"/>
              <a:t> </a:t>
            </a:r>
            <a:endParaRPr lang="en-IN" dirty="0"/>
          </a:p>
        </p:txBody>
      </p:sp>
      <p:sp>
        <p:nvSpPr>
          <p:cNvPr id="3" name="Content Placeholder 2"/>
          <p:cNvSpPr>
            <a:spLocks noGrp="1"/>
          </p:cNvSpPr>
          <p:nvPr>
            <p:ph sz="quarter" idx="1"/>
          </p:nvPr>
        </p:nvSpPr>
        <p:spPr/>
        <p:txBody>
          <a:bodyPr>
            <a:normAutofit fontScale="92500" lnSpcReduction="10000"/>
          </a:bodyPr>
          <a:lstStyle/>
          <a:p>
            <a:pPr marL="0" indent="0" fontAlgn="base">
              <a:buNone/>
            </a:pPr>
            <a:r>
              <a:rPr lang="en-US" dirty="0"/>
              <a:t/>
            </a:r>
            <a:br>
              <a:rPr lang="en-US" dirty="0"/>
            </a:br>
            <a:r>
              <a:rPr lang="en-US" dirty="0"/>
              <a:t>Software Quality Assurance is composed of a variety of tasks associated with two different fields: </a:t>
            </a:r>
            <a:br>
              <a:rPr lang="en-US" dirty="0"/>
            </a:br>
            <a:r>
              <a:rPr lang="en-US" dirty="0"/>
              <a:t> </a:t>
            </a:r>
          </a:p>
          <a:p>
            <a:pPr marL="0" indent="0" fontAlgn="base">
              <a:buNone/>
            </a:pPr>
            <a:r>
              <a:rPr lang="en-US" b="1" dirty="0"/>
              <a:t>(</a:t>
            </a:r>
            <a:r>
              <a:rPr lang="en-US" b="1" dirty="0" err="1"/>
              <a:t>i</a:t>
            </a:r>
            <a:r>
              <a:rPr lang="en-US" b="1" dirty="0"/>
              <a:t>)</a:t>
            </a:r>
            <a:r>
              <a:rPr lang="en-US" dirty="0"/>
              <a:t> The software engineers who do technical work. </a:t>
            </a:r>
          </a:p>
          <a:p>
            <a:pPr marL="0" indent="0" fontAlgn="base">
              <a:buNone/>
            </a:pPr>
            <a:r>
              <a:rPr lang="en-US" b="1" dirty="0"/>
              <a:t>(ii)</a:t>
            </a:r>
            <a:r>
              <a:rPr lang="en-US" dirty="0"/>
              <a:t> SQA group that has responsibility for quality assurance planning, oversight, record keeping, analysis, and reporting. </a:t>
            </a:r>
            <a:br>
              <a:rPr lang="en-US" dirty="0"/>
            </a:br>
            <a:r>
              <a:rPr lang="en-US" dirty="0"/>
              <a:t> </a:t>
            </a:r>
          </a:p>
          <a:p>
            <a:pPr marL="0" indent="0" fontAlgn="base">
              <a:buNone/>
            </a:pPr>
            <a:r>
              <a:rPr lang="en-US" dirty="0"/>
              <a:t>Basically, software engineers address quality (and perform quality assurance and quality control activities) by applying solid technical methods and measures, conducting formal technical reviews, and performing well-planned software testing. </a:t>
            </a:r>
            <a:br>
              <a:rPr lang="en-US" dirty="0"/>
            </a:br>
            <a:r>
              <a:rPr lang="en-US" dirty="0"/>
              <a:t> </a:t>
            </a:r>
          </a:p>
          <a:p>
            <a:endParaRPr lang="en-IN" dirty="0"/>
          </a:p>
        </p:txBody>
      </p:sp>
    </p:spTree>
    <p:extLst>
      <p:ext uri="{BB962C8B-B14F-4D97-AF65-F5344CB8AC3E}">
        <p14:creationId xmlns:p14="http://schemas.microsoft.com/office/powerpoint/2010/main" val="868669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a:xfrm>
            <a:off x="609600" y="457200"/>
            <a:ext cx="7848600" cy="6016752"/>
          </a:xfrm>
        </p:spPr>
        <p:txBody>
          <a:bodyPr>
            <a:normAutofit lnSpcReduction="10000"/>
          </a:bodyPr>
          <a:lstStyle/>
          <a:p>
            <a:pPr marL="0" indent="0" fontAlgn="base">
              <a:buNone/>
            </a:pPr>
            <a:r>
              <a:rPr lang="en-US" sz="3000" b="1" cap="small" dirty="0">
                <a:solidFill>
                  <a:schemeClr val="tx2"/>
                </a:solidFill>
                <a:latin typeface="+mj-lt"/>
                <a:ea typeface="+mj-ea"/>
                <a:cs typeface="+mj-cs"/>
              </a:rPr>
              <a:t>SQA P</a:t>
            </a:r>
            <a:r>
              <a:rPr lang="en-US" sz="3000" b="1" cap="small" dirty="0">
                <a:solidFill>
                  <a:schemeClr val="tx2"/>
                </a:solidFill>
                <a:latin typeface="+mj-lt"/>
                <a:ea typeface="+mj-ea"/>
                <a:cs typeface="+mj-cs"/>
              </a:rPr>
              <a:t>lan </a:t>
            </a:r>
            <a:r>
              <a:rPr lang="en-US" sz="3000" b="1" cap="small" dirty="0">
                <a:solidFill>
                  <a:schemeClr val="tx2"/>
                </a:solidFill>
                <a:latin typeface="+mj-lt"/>
                <a:ea typeface="+mj-ea"/>
                <a:cs typeface="+mj-cs"/>
              </a:rPr>
              <a:t>for a P</a:t>
            </a:r>
            <a:r>
              <a:rPr lang="en-US" sz="3000" b="1" cap="small" dirty="0">
                <a:solidFill>
                  <a:schemeClr val="tx2"/>
                </a:solidFill>
                <a:latin typeface="+mj-lt"/>
                <a:ea typeface="+mj-ea"/>
                <a:cs typeface="+mj-cs"/>
              </a:rPr>
              <a:t>roject :</a:t>
            </a:r>
            <a:r>
              <a:rPr lang="en-US" dirty="0"/>
              <a:t/>
            </a:r>
            <a:br>
              <a:rPr lang="en-US" dirty="0"/>
            </a:br>
            <a:endParaRPr lang="en-US" dirty="0" smtClean="0"/>
          </a:p>
          <a:p>
            <a:pPr marL="0" indent="0" fontAlgn="base">
              <a:buNone/>
            </a:pPr>
            <a:endParaRPr lang="en-US" dirty="0"/>
          </a:p>
          <a:p>
            <a:pPr marL="0" indent="0" fontAlgn="base">
              <a:buNone/>
            </a:pPr>
            <a:r>
              <a:rPr lang="en-US" dirty="0" smtClean="0"/>
              <a:t>This </a:t>
            </a:r>
            <a:r>
              <a:rPr lang="en-US" dirty="0"/>
              <a:t>type of plan is developed during project planning and is reviewed by all interested parties. The quality assurance activities performed by the software engineering team and the SQA group are governed by the plan. </a:t>
            </a:r>
            <a:endParaRPr lang="en-US" dirty="0" smtClean="0"/>
          </a:p>
          <a:p>
            <a:pPr marL="0" indent="0" fontAlgn="base">
              <a:buNone/>
            </a:pPr>
            <a:r>
              <a:rPr lang="en-US" dirty="0" smtClean="0"/>
              <a:t>The </a:t>
            </a:r>
            <a:r>
              <a:rPr lang="en-US" dirty="0"/>
              <a:t>plan identifies: evaluations to </a:t>
            </a:r>
            <a:r>
              <a:rPr lang="en-US" dirty="0" smtClean="0"/>
              <a:t>be performed</a:t>
            </a:r>
            <a:r>
              <a:rPr lang="en-US" dirty="0"/>
              <a:t> </a:t>
            </a:r>
            <a:r>
              <a:rPr lang="en-US" dirty="0" smtClean="0"/>
              <a:t>audits </a:t>
            </a:r>
            <a:r>
              <a:rPr lang="en-US" dirty="0"/>
              <a:t>and reviews to be performed </a:t>
            </a:r>
          </a:p>
          <a:p>
            <a:pPr marL="0" indent="0" fontAlgn="base">
              <a:buNone/>
            </a:pPr>
            <a:r>
              <a:rPr lang="en-US" dirty="0"/>
              <a:t>standards that are applicable to the project </a:t>
            </a:r>
          </a:p>
          <a:p>
            <a:pPr marL="0" indent="0" fontAlgn="base">
              <a:buNone/>
            </a:pPr>
            <a:r>
              <a:rPr lang="en-US" dirty="0"/>
              <a:t>procedures for error reporting and tracking </a:t>
            </a:r>
          </a:p>
          <a:p>
            <a:pPr marL="0" indent="0" fontAlgn="base">
              <a:buNone/>
            </a:pPr>
            <a:r>
              <a:rPr lang="en-US" dirty="0"/>
              <a:t>all the documents to be produced by the SQA group </a:t>
            </a:r>
          </a:p>
          <a:p>
            <a:pPr marL="0" indent="0" fontAlgn="base">
              <a:buNone/>
            </a:pPr>
            <a:r>
              <a:rPr lang="en-US" dirty="0"/>
              <a:t>the total amount of feedback provided to the software project team </a:t>
            </a:r>
            <a:br>
              <a:rPr lang="en-US" dirty="0"/>
            </a:br>
            <a:r>
              <a:rPr lang="en-US" dirty="0"/>
              <a:t> </a:t>
            </a:r>
          </a:p>
          <a:p>
            <a:endParaRPr lang="en-IN" dirty="0"/>
          </a:p>
        </p:txBody>
      </p:sp>
    </p:spTree>
    <p:extLst>
      <p:ext uri="{BB962C8B-B14F-4D97-AF65-F5344CB8AC3E}">
        <p14:creationId xmlns:p14="http://schemas.microsoft.com/office/powerpoint/2010/main" val="612249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quality </a:t>
            </a:r>
            <a:r>
              <a:rPr lang="en-US" b="1" dirty="0" smtClean="0"/>
              <a:t>metrics :</a:t>
            </a:r>
            <a:br>
              <a:rPr lang="en-US" b="1" dirty="0" smtClean="0"/>
            </a:br>
            <a:endParaRPr lang="en-IN" dirty="0"/>
          </a:p>
        </p:txBody>
      </p:sp>
      <p:sp>
        <p:nvSpPr>
          <p:cNvPr id="3" name="Content Placeholder 2"/>
          <p:cNvSpPr>
            <a:spLocks noGrp="1"/>
          </p:cNvSpPr>
          <p:nvPr>
            <p:ph sz="quarter" idx="1"/>
          </p:nvPr>
        </p:nvSpPr>
        <p:spPr>
          <a:xfrm>
            <a:off x="381000" y="1143000"/>
            <a:ext cx="8382000" cy="5330952"/>
          </a:xfrm>
        </p:spPr>
        <p:txBody>
          <a:bodyPr>
            <a:normAutofit fontScale="92500" lnSpcReduction="20000"/>
          </a:bodyPr>
          <a:lstStyle/>
          <a:p>
            <a:pPr marL="0" indent="0">
              <a:buNone/>
            </a:pPr>
            <a:r>
              <a:rPr lang="en-US" b="1" dirty="0"/>
              <a:t>Software quality metrics</a:t>
            </a:r>
            <a:r>
              <a:rPr lang="en-US" dirty="0"/>
              <a:t> are a subset of software metrics that focus on the quality aspects of the product, process, and project. These are more closely associated with process and product metrics than with project metrics.</a:t>
            </a:r>
          </a:p>
          <a:p>
            <a:pPr marL="0" indent="0">
              <a:buNone/>
            </a:pPr>
            <a:r>
              <a:rPr lang="en-US" dirty="0"/>
              <a:t>Software quality metrics can be further divided into three categories −</a:t>
            </a:r>
          </a:p>
          <a:p>
            <a:pPr>
              <a:buFont typeface="Wingdings" panose="05000000000000000000" pitchFamily="2" charset="2"/>
              <a:buChar char="Ø"/>
            </a:pPr>
            <a:r>
              <a:rPr lang="en-US" dirty="0"/>
              <a:t>Product quality metrics</a:t>
            </a:r>
          </a:p>
          <a:p>
            <a:pPr>
              <a:buFont typeface="Wingdings" panose="05000000000000000000" pitchFamily="2" charset="2"/>
              <a:buChar char="Ø"/>
            </a:pPr>
            <a:r>
              <a:rPr lang="en-US" dirty="0"/>
              <a:t>In-process quality metrics</a:t>
            </a:r>
          </a:p>
          <a:p>
            <a:pPr>
              <a:buFont typeface="Wingdings" panose="05000000000000000000" pitchFamily="2" charset="2"/>
              <a:buChar char="Ø"/>
            </a:pPr>
            <a:r>
              <a:rPr lang="en-US" dirty="0"/>
              <a:t>Maintenance quality metrics</a:t>
            </a:r>
          </a:p>
          <a:p>
            <a:pPr>
              <a:buFont typeface="Wingdings" panose="05000000000000000000" pitchFamily="2" charset="2"/>
              <a:buChar char="Ø"/>
            </a:pPr>
            <a:r>
              <a:rPr lang="en-US" dirty="0"/>
              <a:t>Product Quality Metrics</a:t>
            </a:r>
          </a:p>
          <a:p>
            <a:pPr>
              <a:buFont typeface="Wingdings" panose="05000000000000000000" pitchFamily="2" charset="2"/>
              <a:buChar char="Ø"/>
            </a:pPr>
            <a:r>
              <a:rPr lang="en-US" dirty="0"/>
              <a:t>This metrics include the following −</a:t>
            </a:r>
          </a:p>
          <a:p>
            <a:pPr>
              <a:buFont typeface="Wingdings" panose="05000000000000000000" pitchFamily="2" charset="2"/>
              <a:buChar char="Ø"/>
            </a:pPr>
            <a:r>
              <a:rPr lang="en-US" dirty="0"/>
              <a:t>Mean Time to Failure</a:t>
            </a:r>
          </a:p>
          <a:p>
            <a:pPr>
              <a:buFont typeface="Wingdings" panose="05000000000000000000" pitchFamily="2" charset="2"/>
              <a:buChar char="Ø"/>
            </a:pPr>
            <a:r>
              <a:rPr lang="en-US" dirty="0"/>
              <a:t>Defect Density</a:t>
            </a:r>
          </a:p>
          <a:p>
            <a:pPr>
              <a:buFont typeface="Wingdings" panose="05000000000000000000" pitchFamily="2" charset="2"/>
              <a:buChar char="Ø"/>
            </a:pPr>
            <a:r>
              <a:rPr lang="en-US" dirty="0"/>
              <a:t>Customer Problems</a:t>
            </a:r>
          </a:p>
          <a:p>
            <a:pPr>
              <a:buFont typeface="Wingdings" panose="05000000000000000000" pitchFamily="2" charset="2"/>
              <a:buChar char="Ø"/>
            </a:pPr>
            <a:r>
              <a:rPr lang="en-US" dirty="0"/>
              <a:t>Customer Satisfaction</a:t>
            </a:r>
          </a:p>
          <a:p>
            <a:endParaRPr lang="en-IN" dirty="0"/>
          </a:p>
        </p:txBody>
      </p:sp>
    </p:spTree>
    <p:extLst>
      <p:ext uri="{BB962C8B-B14F-4D97-AF65-F5344CB8AC3E}">
        <p14:creationId xmlns:p14="http://schemas.microsoft.com/office/powerpoint/2010/main" val="3603146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485158C1-DDAD-47B9-A7E9-4444DC236CFD}" type="slidenum">
              <a:rPr lang="en-US" altLang="en-US"/>
              <a:pPr/>
              <a:t>26</a:t>
            </a:fld>
            <a:endParaRPr lang="en-US" altLang="en-US"/>
          </a:p>
        </p:txBody>
      </p:sp>
      <p:sp>
        <p:nvSpPr>
          <p:cNvPr id="15362" name="Rectangle 2"/>
          <p:cNvSpPr>
            <a:spLocks noGrp="1" noChangeArrowheads="1"/>
          </p:cNvSpPr>
          <p:nvPr>
            <p:ph type="title"/>
          </p:nvPr>
        </p:nvSpPr>
        <p:spPr>
          <a:xfrm>
            <a:off x="228600" y="228600"/>
            <a:ext cx="7848600" cy="917575"/>
          </a:xfrm>
        </p:spPr>
        <p:txBody>
          <a:bodyPr>
            <a:normAutofit fontScale="90000"/>
          </a:bodyPr>
          <a:lstStyle/>
          <a:p>
            <a:pPr>
              <a:lnSpc>
                <a:spcPct val="75000"/>
              </a:lnSpc>
              <a:spcBef>
                <a:spcPct val="20000"/>
              </a:spcBef>
            </a:pPr>
            <a:r>
              <a:rPr lang="en-US" altLang="en-US" sz="4000" dirty="0"/>
              <a:t>Quality Assurance vs. Strategic Approach</a:t>
            </a:r>
          </a:p>
        </p:txBody>
      </p:sp>
      <p:sp>
        <p:nvSpPr>
          <p:cNvPr id="15363" name="Rectangle 3"/>
          <p:cNvSpPr>
            <a:spLocks noGrp="1" noChangeArrowheads="1"/>
          </p:cNvSpPr>
          <p:nvPr>
            <p:ph type="body" idx="1"/>
          </p:nvPr>
        </p:nvSpPr>
        <p:spPr>
          <a:xfrm>
            <a:off x="381000" y="1600200"/>
            <a:ext cx="7900987" cy="4941887"/>
          </a:xfrm>
        </p:spPr>
        <p:txBody>
          <a:bodyPr/>
          <a:lstStyle/>
          <a:p>
            <a:pPr>
              <a:buFont typeface="Wingdings" panose="05000000000000000000" pitchFamily="2" charset="2"/>
              <a:buChar char="Ø"/>
            </a:pPr>
            <a:r>
              <a:rPr lang="en-US" altLang="en-US" dirty="0"/>
              <a:t>Quality Assurance</a:t>
            </a:r>
          </a:p>
          <a:p>
            <a:pPr marL="365760" lvl="1" indent="0">
              <a:buNone/>
            </a:pPr>
            <a:r>
              <a:rPr lang="en-US" altLang="en-US" dirty="0"/>
              <a:t>Emphasis on finding and correcting defects before reaching market</a:t>
            </a:r>
          </a:p>
          <a:p>
            <a:pPr>
              <a:buFont typeface="Wingdings" panose="05000000000000000000" pitchFamily="2" charset="2"/>
              <a:buChar char="Ø"/>
            </a:pPr>
            <a:r>
              <a:rPr lang="en-US" altLang="en-US" dirty="0"/>
              <a:t>Strategic Approach</a:t>
            </a:r>
          </a:p>
          <a:p>
            <a:pPr marL="365760" lvl="1" indent="0">
              <a:buNone/>
            </a:pPr>
            <a:r>
              <a:rPr lang="en-US" altLang="en-US" dirty="0"/>
              <a:t>Proactive, focusing on preventing mistakes from occurring</a:t>
            </a:r>
          </a:p>
          <a:p>
            <a:pPr marL="365760" lvl="1" indent="0">
              <a:buNone/>
            </a:pPr>
            <a:r>
              <a:rPr lang="en-US" altLang="en-US" dirty="0"/>
              <a:t>Greater emphasis on customer satisfaction</a:t>
            </a:r>
          </a:p>
        </p:txBody>
      </p:sp>
    </p:spTree>
    <p:extLst>
      <p:ext uri="{BB962C8B-B14F-4D97-AF65-F5344CB8AC3E}">
        <p14:creationId xmlns:p14="http://schemas.microsoft.com/office/powerpoint/2010/main" val="3808111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left)">
                                      <p:cBhvr>
                                        <p:cTn id="7" dur="500"/>
                                        <p:tgtEl>
                                          <p:spTgt spid="1536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wipe(left)">
                                      <p:cBhvr>
                                        <p:cTn id="10" dur="500"/>
                                        <p:tgtEl>
                                          <p:spTgt spid="1536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Effect transition="in" filter="wipe(left)">
                                      <p:cBhvr>
                                        <p:cTn id="15" dur="500"/>
                                        <p:tgtEl>
                                          <p:spTgt spid="1536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363">
                                            <p:txEl>
                                              <p:pRg st="3" end="3"/>
                                            </p:txEl>
                                          </p:spTgt>
                                        </p:tgtEl>
                                        <p:attrNameLst>
                                          <p:attrName>style.visibility</p:attrName>
                                        </p:attrNameLst>
                                      </p:cBhvr>
                                      <p:to>
                                        <p:strVal val="visible"/>
                                      </p:to>
                                    </p:set>
                                    <p:animEffect transition="in" filter="wipe(left)">
                                      <p:cBhvr>
                                        <p:cTn id="18" dur="500"/>
                                        <p:tgtEl>
                                          <p:spTgt spid="15363">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5363">
                                            <p:txEl>
                                              <p:pRg st="4" end="4"/>
                                            </p:txEl>
                                          </p:spTgt>
                                        </p:tgtEl>
                                        <p:attrNameLst>
                                          <p:attrName>style.visibility</p:attrName>
                                        </p:attrNameLst>
                                      </p:cBhvr>
                                      <p:to>
                                        <p:strVal val="visible"/>
                                      </p:to>
                                    </p:set>
                                    <p:animEffect transition="in" filter="wipe(left)">
                                      <p:cBhvr>
                                        <p:cTn id="21" dur="500"/>
                                        <p:tgtEl>
                                          <p:spTgt spid="1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E4A2A531-30DA-45C1-8957-A8AA12942509}" type="slidenum">
              <a:rPr lang="en-US" altLang="en-US"/>
              <a:pPr/>
              <a:t>27</a:t>
            </a:fld>
            <a:endParaRPr lang="en-US" altLang="en-US"/>
          </a:p>
        </p:txBody>
      </p:sp>
      <p:sp>
        <p:nvSpPr>
          <p:cNvPr id="24578" name="Rectangle 2"/>
          <p:cNvSpPr>
            <a:spLocks noGrp="1" noChangeArrowheads="1"/>
          </p:cNvSpPr>
          <p:nvPr>
            <p:ph type="title"/>
          </p:nvPr>
        </p:nvSpPr>
        <p:spPr>
          <a:xfrm>
            <a:off x="762000" y="276225"/>
            <a:ext cx="7772400" cy="6604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b"/>
          <a:lstStyle/>
          <a:p>
            <a:r>
              <a:rPr lang="en-US" altLang="en-US" dirty="0"/>
              <a:t>Determinants of Quality</a:t>
            </a:r>
          </a:p>
        </p:txBody>
      </p:sp>
      <p:grpSp>
        <p:nvGrpSpPr>
          <p:cNvPr id="24579" name="Group 3"/>
          <p:cNvGrpSpPr>
            <a:grpSpLocks/>
          </p:cNvGrpSpPr>
          <p:nvPr/>
        </p:nvGrpSpPr>
        <p:grpSpPr bwMode="auto">
          <a:xfrm>
            <a:off x="2686050" y="3048000"/>
            <a:ext cx="6005513" cy="2801938"/>
            <a:chOff x="1692" y="1920"/>
            <a:chExt cx="3783" cy="1765"/>
          </a:xfrm>
        </p:grpSpPr>
        <p:grpSp>
          <p:nvGrpSpPr>
            <p:cNvPr id="24580" name="Group 4"/>
            <p:cNvGrpSpPr>
              <a:grpSpLocks/>
            </p:cNvGrpSpPr>
            <p:nvPr/>
          </p:nvGrpSpPr>
          <p:grpSpPr bwMode="auto">
            <a:xfrm>
              <a:off x="1692" y="1920"/>
              <a:ext cx="3783" cy="1765"/>
              <a:chOff x="1156" y="2118"/>
              <a:chExt cx="3783" cy="1765"/>
            </a:xfrm>
          </p:grpSpPr>
          <p:sp>
            <p:nvSpPr>
              <p:cNvPr id="24581" name="Rectangle 5"/>
              <p:cNvSpPr>
                <a:spLocks noChangeArrowheads="1"/>
              </p:cNvSpPr>
              <p:nvPr/>
            </p:nvSpPr>
            <p:spPr bwMode="auto">
              <a:xfrm>
                <a:off x="3830" y="2809"/>
                <a:ext cx="1106" cy="1071"/>
              </a:xfrm>
              <a:prstGeom prst="rect">
                <a:avLst/>
              </a:prstGeom>
              <a:solidFill>
                <a:srgbClr val="FFA285"/>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582" name="Freeform 6"/>
              <p:cNvSpPr>
                <a:spLocks/>
              </p:cNvSpPr>
              <p:nvPr/>
            </p:nvSpPr>
            <p:spPr bwMode="auto">
              <a:xfrm>
                <a:off x="1156" y="2118"/>
                <a:ext cx="2662" cy="1765"/>
              </a:xfrm>
              <a:custGeom>
                <a:avLst/>
                <a:gdLst>
                  <a:gd name="T0" fmla="*/ 2661 w 2662"/>
                  <a:gd name="T1" fmla="*/ 1764 h 1765"/>
                  <a:gd name="T2" fmla="*/ 0 w 2662"/>
                  <a:gd name="T3" fmla="*/ 0 h 1765"/>
                  <a:gd name="T4" fmla="*/ 2661 w 2662"/>
                  <a:gd name="T5" fmla="*/ 679 h 1765"/>
                  <a:gd name="T6" fmla="*/ 2661 w 2662"/>
                  <a:gd name="T7" fmla="*/ 1764 h 1765"/>
                </a:gdLst>
                <a:ahLst/>
                <a:cxnLst>
                  <a:cxn ang="0">
                    <a:pos x="T0" y="T1"/>
                  </a:cxn>
                  <a:cxn ang="0">
                    <a:pos x="T2" y="T3"/>
                  </a:cxn>
                  <a:cxn ang="0">
                    <a:pos x="T4" y="T5"/>
                  </a:cxn>
                  <a:cxn ang="0">
                    <a:pos x="T6" y="T7"/>
                  </a:cxn>
                </a:cxnLst>
                <a:rect l="0" t="0" r="r" b="b"/>
                <a:pathLst>
                  <a:path w="2662" h="1765">
                    <a:moveTo>
                      <a:pt x="2661" y="1764"/>
                    </a:moveTo>
                    <a:lnTo>
                      <a:pt x="0" y="0"/>
                    </a:lnTo>
                    <a:lnTo>
                      <a:pt x="2661" y="679"/>
                    </a:lnTo>
                    <a:lnTo>
                      <a:pt x="2661" y="1764"/>
                    </a:lnTo>
                  </a:path>
                </a:pathLst>
              </a:custGeom>
              <a:solidFill>
                <a:srgbClr val="FFA285"/>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583" name="Freeform 7"/>
              <p:cNvSpPr>
                <a:spLocks/>
              </p:cNvSpPr>
              <p:nvPr/>
            </p:nvSpPr>
            <p:spPr bwMode="auto">
              <a:xfrm>
                <a:off x="1156" y="2118"/>
                <a:ext cx="3783" cy="680"/>
              </a:xfrm>
              <a:custGeom>
                <a:avLst/>
                <a:gdLst>
                  <a:gd name="T0" fmla="*/ 3782 w 3783"/>
                  <a:gd name="T1" fmla="*/ 679 h 680"/>
                  <a:gd name="T2" fmla="*/ 2661 w 3783"/>
                  <a:gd name="T3" fmla="*/ 679 h 680"/>
                  <a:gd name="T4" fmla="*/ 0 w 3783"/>
                  <a:gd name="T5" fmla="*/ 0 h 680"/>
                  <a:gd name="T6" fmla="*/ 3782 w 3783"/>
                  <a:gd name="T7" fmla="*/ 679 h 680"/>
                </a:gdLst>
                <a:ahLst/>
                <a:cxnLst>
                  <a:cxn ang="0">
                    <a:pos x="T0" y="T1"/>
                  </a:cxn>
                  <a:cxn ang="0">
                    <a:pos x="T2" y="T3"/>
                  </a:cxn>
                  <a:cxn ang="0">
                    <a:pos x="T4" y="T5"/>
                  </a:cxn>
                  <a:cxn ang="0">
                    <a:pos x="T6" y="T7"/>
                  </a:cxn>
                </a:cxnLst>
                <a:rect l="0" t="0" r="r" b="b"/>
                <a:pathLst>
                  <a:path w="3783" h="680">
                    <a:moveTo>
                      <a:pt x="3782" y="679"/>
                    </a:moveTo>
                    <a:lnTo>
                      <a:pt x="2661" y="679"/>
                    </a:lnTo>
                    <a:lnTo>
                      <a:pt x="0" y="0"/>
                    </a:lnTo>
                    <a:lnTo>
                      <a:pt x="3782" y="679"/>
                    </a:lnTo>
                  </a:path>
                </a:pathLst>
              </a:custGeom>
              <a:solidFill>
                <a:srgbClr val="FFA285"/>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4584" name="Rectangle 8"/>
            <p:cNvSpPr>
              <a:spLocks noChangeArrowheads="1"/>
            </p:cNvSpPr>
            <p:nvPr/>
          </p:nvSpPr>
          <p:spPr bwMode="auto">
            <a:xfrm>
              <a:off x="4513" y="2936"/>
              <a:ext cx="911"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b="1">
                  <a:latin typeface="Times New Roman" pitchFamily="18" charset="0"/>
                </a:rPr>
                <a:t>Service</a:t>
              </a:r>
            </a:p>
          </p:txBody>
        </p:sp>
      </p:grpSp>
      <p:grpSp>
        <p:nvGrpSpPr>
          <p:cNvPr id="24585" name="Group 9"/>
          <p:cNvGrpSpPr>
            <a:grpSpLocks/>
          </p:cNvGrpSpPr>
          <p:nvPr/>
        </p:nvGrpSpPr>
        <p:grpSpPr bwMode="auto">
          <a:xfrm>
            <a:off x="914400" y="1143000"/>
            <a:ext cx="6249988" cy="2801938"/>
            <a:chOff x="576" y="720"/>
            <a:chExt cx="3798" cy="1765"/>
          </a:xfrm>
        </p:grpSpPr>
        <p:sp>
          <p:nvSpPr>
            <p:cNvPr id="24586" name="Rectangle 10"/>
            <p:cNvSpPr>
              <a:spLocks noChangeArrowheads="1"/>
            </p:cNvSpPr>
            <p:nvPr/>
          </p:nvSpPr>
          <p:spPr bwMode="auto">
            <a:xfrm>
              <a:off x="3250" y="1411"/>
              <a:ext cx="1106" cy="1071"/>
            </a:xfrm>
            <a:prstGeom prst="rect">
              <a:avLst/>
            </a:prstGeom>
            <a:solidFill>
              <a:srgbClr val="1693D8"/>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b="1">
                <a:solidFill>
                  <a:srgbClr val="94D2F4"/>
                </a:solidFill>
                <a:latin typeface="Times New Roman" pitchFamily="18" charset="0"/>
              </a:endParaRPr>
            </a:p>
          </p:txBody>
        </p:sp>
        <p:grpSp>
          <p:nvGrpSpPr>
            <p:cNvPr id="24587" name="Group 11"/>
            <p:cNvGrpSpPr>
              <a:grpSpLocks/>
            </p:cNvGrpSpPr>
            <p:nvPr/>
          </p:nvGrpSpPr>
          <p:grpSpPr bwMode="auto">
            <a:xfrm>
              <a:off x="576" y="720"/>
              <a:ext cx="3798" cy="1765"/>
              <a:chOff x="576" y="720"/>
              <a:chExt cx="3798" cy="1765"/>
            </a:xfrm>
          </p:grpSpPr>
          <p:sp>
            <p:nvSpPr>
              <p:cNvPr id="24588" name="Freeform 12"/>
              <p:cNvSpPr>
                <a:spLocks/>
              </p:cNvSpPr>
              <p:nvPr/>
            </p:nvSpPr>
            <p:spPr bwMode="auto">
              <a:xfrm>
                <a:off x="576" y="720"/>
                <a:ext cx="2662" cy="1765"/>
              </a:xfrm>
              <a:custGeom>
                <a:avLst/>
                <a:gdLst>
                  <a:gd name="T0" fmla="*/ 2661 w 2662"/>
                  <a:gd name="T1" fmla="*/ 1764 h 1765"/>
                  <a:gd name="T2" fmla="*/ 0 w 2662"/>
                  <a:gd name="T3" fmla="*/ 0 h 1765"/>
                  <a:gd name="T4" fmla="*/ 2661 w 2662"/>
                  <a:gd name="T5" fmla="*/ 679 h 1765"/>
                  <a:gd name="T6" fmla="*/ 2661 w 2662"/>
                  <a:gd name="T7" fmla="*/ 1764 h 1765"/>
                </a:gdLst>
                <a:ahLst/>
                <a:cxnLst>
                  <a:cxn ang="0">
                    <a:pos x="T0" y="T1"/>
                  </a:cxn>
                  <a:cxn ang="0">
                    <a:pos x="T2" y="T3"/>
                  </a:cxn>
                  <a:cxn ang="0">
                    <a:pos x="T4" y="T5"/>
                  </a:cxn>
                  <a:cxn ang="0">
                    <a:pos x="T6" y="T7"/>
                  </a:cxn>
                </a:cxnLst>
                <a:rect l="0" t="0" r="r" b="b"/>
                <a:pathLst>
                  <a:path w="2662" h="1765">
                    <a:moveTo>
                      <a:pt x="2661" y="1764"/>
                    </a:moveTo>
                    <a:lnTo>
                      <a:pt x="0" y="0"/>
                    </a:lnTo>
                    <a:lnTo>
                      <a:pt x="2661" y="679"/>
                    </a:lnTo>
                    <a:lnTo>
                      <a:pt x="2661" y="1764"/>
                    </a:lnTo>
                  </a:path>
                </a:pathLst>
              </a:custGeom>
              <a:solidFill>
                <a:srgbClr val="60606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24589" name="Group 13"/>
              <p:cNvGrpSpPr>
                <a:grpSpLocks/>
              </p:cNvGrpSpPr>
              <p:nvPr/>
            </p:nvGrpSpPr>
            <p:grpSpPr bwMode="auto">
              <a:xfrm>
                <a:off x="591" y="720"/>
                <a:ext cx="3783" cy="1534"/>
                <a:chOff x="591" y="720"/>
                <a:chExt cx="3783" cy="1534"/>
              </a:xfrm>
            </p:grpSpPr>
            <p:sp>
              <p:nvSpPr>
                <p:cNvPr id="24590" name="Freeform 14"/>
                <p:cNvSpPr>
                  <a:spLocks/>
                </p:cNvSpPr>
                <p:nvPr/>
              </p:nvSpPr>
              <p:spPr bwMode="auto">
                <a:xfrm>
                  <a:off x="591" y="720"/>
                  <a:ext cx="3783" cy="680"/>
                </a:xfrm>
                <a:custGeom>
                  <a:avLst/>
                  <a:gdLst>
                    <a:gd name="T0" fmla="*/ 3782 w 3783"/>
                    <a:gd name="T1" fmla="*/ 679 h 680"/>
                    <a:gd name="T2" fmla="*/ 2661 w 3783"/>
                    <a:gd name="T3" fmla="*/ 679 h 680"/>
                    <a:gd name="T4" fmla="*/ 0 w 3783"/>
                    <a:gd name="T5" fmla="*/ 0 h 680"/>
                    <a:gd name="T6" fmla="*/ 3782 w 3783"/>
                    <a:gd name="T7" fmla="*/ 679 h 680"/>
                  </a:gdLst>
                  <a:ahLst/>
                  <a:cxnLst>
                    <a:cxn ang="0">
                      <a:pos x="T0" y="T1"/>
                    </a:cxn>
                    <a:cxn ang="0">
                      <a:pos x="T2" y="T3"/>
                    </a:cxn>
                    <a:cxn ang="0">
                      <a:pos x="T4" y="T5"/>
                    </a:cxn>
                    <a:cxn ang="0">
                      <a:pos x="T6" y="T7"/>
                    </a:cxn>
                  </a:cxnLst>
                  <a:rect l="0" t="0" r="r" b="b"/>
                  <a:pathLst>
                    <a:path w="3783" h="680">
                      <a:moveTo>
                        <a:pt x="3782" y="679"/>
                      </a:moveTo>
                      <a:lnTo>
                        <a:pt x="2661" y="679"/>
                      </a:lnTo>
                      <a:lnTo>
                        <a:pt x="0" y="0"/>
                      </a:lnTo>
                      <a:lnTo>
                        <a:pt x="3782" y="679"/>
                      </a:lnTo>
                    </a:path>
                  </a:pathLst>
                </a:custGeom>
                <a:solidFill>
                  <a:srgbClr val="40404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591" name="Rectangle 15"/>
                <p:cNvSpPr>
                  <a:spLocks noChangeArrowheads="1"/>
                </p:cNvSpPr>
                <p:nvPr/>
              </p:nvSpPr>
              <p:spPr bwMode="auto">
                <a:xfrm>
                  <a:off x="3408" y="1584"/>
                  <a:ext cx="904"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3200" b="1" dirty="0">
                      <a:latin typeface="Times New Roman" pitchFamily="18" charset="0"/>
                    </a:rPr>
                    <a:t>Ease of</a:t>
                  </a:r>
                </a:p>
                <a:p>
                  <a:pPr algn="ctr"/>
                  <a:r>
                    <a:rPr lang="en-US" altLang="en-US" sz="3200" b="1" dirty="0">
                      <a:latin typeface="Times New Roman" pitchFamily="18" charset="0"/>
                    </a:rPr>
                    <a:t>use</a:t>
                  </a:r>
                </a:p>
              </p:txBody>
            </p:sp>
          </p:grpSp>
        </p:grpSp>
      </p:grpSp>
      <p:grpSp>
        <p:nvGrpSpPr>
          <p:cNvPr id="24592" name="Group 16"/>
          <p:cNvGrpSpPr>
            <a:grpSpLocks/>
          </p:cNvGrpSpPr>
          <p:nvPr/>
        </p:nvGrpSpPr>
        <p:grpSpPr bwMode="auto">
          <a:xfrm>
            <a:off x="2438400" y="3048000"/>
            <a:ext cx="4195763" cy="2801938"/>
            <a:chOff x="1692" y="1920"/>
            <a:chExt cx="2487" cy="1765"/>
          </a:xfrm>
        </p:grpSpPr>
        <p:grpSp>
          <p:nvGrpSpPr>
            <p:cNvPr id="24593" name="Group 17"/>
            <p:cNvGrpSpPr>
              <a:grpSpLocks/>
            </p:cNvGrpSpPr>
            <p:nvPr/>
          </p:nvGrpSpPr>
          <p:grpSpPr bwMode="auto">
            <a:xfrm>
              <a:off x="1692" y="1920"/>
              <a:ext cx="2242" cy="1765"/>
              <a:chOff x="1156" y="2118"/>
              <a:chExt cx="2242" cy="1765"/>
            </a:xfrm>
          </p:grpSpPr>
          <p:sp>
            <p:nvSpPr>
              <p:cNvPr id="24594" name="Rectangle 18"/>
              <p:cNvSpPr>
                <a:spLocks noChangeArrowheads="1"/>
              </p:cNvSpPr>
              <p:nvPr/>
            </p:nvSpPr>
            <p:spPr bwMode="auto">
              <a:xfrm>
                <a:off x="2289" y="2809"/>
                <a:ext cx="1106" cy="1071"/>
              </a:xfrm>
              <a:prstGeom prst="rect">
                <a:avLst/>
              </a:prstGeom>
              <a:solidFill>
                <a:srgbClr val="A3C145"/>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595" name="Freeform 19"/>
              <p:cNvSpPr>
                <a:spLocks/>
              </p:cNvSpPr>
              <p:nvPr/>
            </p:nvSpPr>
            <p:spPr bwMode="auto">
              <a:xfrm>
                <a:off x="1156" y="2118"/>
                <a:ext cx="1122" cy="1765"/>
              </a:xfrm>
              <a:custGeom>
                <a:avLst/>
                <a:gdLst>
                  <a:gd name="T0" fmla="*/ 1121 w 1122"/>
                  <a:gd name="T1" fmla="*/ 1764 h 1765"/>
                  <a:gd name="T2" fmla="*/ 0 w 1122"/>
                  <a:gd name="T3" fmla="*/ 0 h 1765"/>
                  <a:gd name="T4" fmla="*/ 1121 w 1122"/>
                  <a:gd name="T5" fmla="*/ 679 h 1765"/>
                  <a:gd name="T6" fmla="*/ 1121 w 1122"/>
                  <a:gd name="T7" fmla="*/ 1764 h 1765"/>
                </a:gdLst>
                <a:ahLst/>
                <a:cxnLst>
                  <a:cxn ang="0">
                    <a:pos x="T0" y="T1"/>
                  </a:cxn>
                  <a:cxn ang="0">
                    <a:pos x="T2" y="T3"/>
                  </a:cxn>
                  <a:cxn ang="0">
                    <a:pos x="T4" y="T5"/>
                  </a:cxn>
                  <a:cxn ang="0">
                    <a:pos x="T6" y="T7"/>
                  </a:cxn>
                </a:cxnLst>
                <a:rect l="0" t="0" r="r" b="b"/>
                <a:pathLst>
                  <a:path w="1122" h="1765">
                    <a:moveTo>
                      <a:pt x="1121" y="1764"/>
                    </a:moveTo>
                    <a:lnTo>
                      <a:pt x="0" y="0"/>
                    </a:lnTo>
                    <a:lnTo>
                      <a:pt x="1121" y="679"/>
                    </a:lnTo>
                    <a:lnTo>
                      <a:pt x="1121" y="1764"/>
                    </a:lnTo>
                  </a:path>
                </a:pathLst>
              </a:custGeom>
              <a:solidFill>
                <a:srgbClr val="A3C145"/>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596" name="Freeform 20"/>
              <p:cNvSpPr>
                <a:spLocks/>
              </p:cNvSpPr>
              <p:nvPr/>
            </p:nvSpPr>
            <p:spPr bwMode="auto">
              <a:xfrm>
                <a:off x="1156" y="2118"/>
                <a:ext cx="2242" cy="680"/>
              </a:xfrm>
              <a:custGeom>
                <a:avLst/>
                <a:gdLst>
                  <a:gd name="T0" fmla="*/ 2241 w 2242"/>
                  <a:gd name="T1" fmla="*/ 679 h 680"/>
                  <a:gd name="T2" fmla="*/ 1121 w 2242"/>
                  <a:gd name="T3" fmla="*/ 679 h 680"/>
                  <a:gd name="T4" fmla="*/ 0 w 2242"/>
                  <a:gd name="T5" fmla="*/ 0 h 680"/>
                  <a:gd name="T6" fmla="*/ 2241 w 2242"/>
                  <a:gd name="T7" fmla="*/ 679 h 680"/>
                </a:gdLst>
                <a:ahLst/>
                <a:cxnLst>
                  <a:cxn ang="0">
                    <a:pos x="T0" y="T1"/>
                  </a:cxn>
                  <a:cxn ang="0">
                    <a:pos x="T2" y="T3"/>
                  </a:cxn>
                  <a:cxn ang="0">
                    <a:pos x="T4" y="T5"/>
                  </a:cxn>
                  <a:cxn ang="0">
                    <a:pos x="T6" y="T7"/>
                  </a:cxn>
                </a:cxnLst>
                <a:rect l="0" t="0" r="r" b="b"/>
                <a:pathLst>
                  <a:path w="2242" h="680">
                    <a:moveTo>
                      <a:pt x="2241" y="679"/>
                    </a:moveTo>
                    <a:lnTo>
                      <a:pt x="1121" y="679"/>
                    </a:lnTo>
                    <a:lnTo>
                      <a:pt x="0" y="0"/>
                    </a:lnTo>
                    <a:lnTo>
                      <a:pt x="2241" y="679"/>
                    </a:lnTo>
                  </a:path>
                </a:pathLst>
              </a:custGeom>
              <a:solidFill>
                <a:srgbClr val="A3C145"/>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4597" name="Rectangle 21"/>
            <p:cNvSpPr>
              <a:spLocks noChangeArrowheads="1"/>
            </p:cNvSpPr>
            <p:nvPr/>
          </p:nvSpPr>
          <p:spPr bwMode="auto">
            <a:xfrm>
              <a:off x="2615" y="2684"/>
              <a:ext cx="1564"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r>
                <a:rPr lang="en-US" altLang="en-US" sz="3200" b="1" dirty="0">
                  <a:latin typeface="Times New Roman" pitchFamily="18" charset="0"/>
                </a:rPr>
                <a:t>Conforms</a:t>
              </a:r>
              <a:br>
                <a:rPr lang="en-US" altLang="en-US" sz="3200" b="1" dirty="0">
                  <a:latin typeface="Times New Roman" pitchFamily="18" charset="0"/>
                </a:rPr>
              </a:br>
              <a:r>
                <a:rPr lang="en-US" altLang="en-US" sz="3200" b="1" dirty="0">
                  <a:latin typeface="Times New Roman" pitchFamily="18" charset="0"/>
                </a:rPr>
                <a:t> to design</a:t>
              </a:r>
            </a:p>
          </p:txBody>
        </p:sp>
      </p:grpSp>
      <p:grpSp>
        <p:nvGrpSpPr>
          <p:cNvPr id="24598" name="Group 22"/>
          <p:cNvGrpSpPr>
            <a:grpSpLocks/>
          </p:cNvGrpSpPr>
          <p:nvPr/>
        </p:nvGrpSpPr>
        <p:grpSpPr bwMode="auto">
          <a:xfrm>
            <a:off x="938213" y="1143000"/>
            <a:ext cx="3559175" cy="2801938"/>
            <a:chOff x="576" y="720"/>
            <a:chExt cx="2242" cy="1765"/>
          </a:xfrm>
        </p:grpSpPr>
        <p:grpSp>
          <p:nvGrpSpPr>
            <p:cNvPr id="24599" name="Group 23"/>
            <p:cNvGrpSpPr>
              <a:grpSpLocks/>
            </p:cNvGrpSpPr>
            <p:nvPr/>
          </p:nvGrpSpPr>
          <p:grpSpPr bwMode="auto">
            <a:xfrm>
              <a:off x="576" y="720"/>
              <a:ext cx="2242" cy="1765"/>
              <a:chOff x="40" y="918"/>
              <a:chExt cx="2242" cy="1765"/>
            </a:xfrm>
          </p:grpSpPr>
          <p:sp>
            <p:nvSpPr>
              <p:cNvPr id="24600" name="Rectangle 24"/>
              <p:cNvSpPr>
                <a:spLocks noChangeArrowheads="1"/>
              </p:cNvSpPr>
              <p:nvPr/>
            </p:nvSpPr>
            <p:spPr bwMode="auto">
              <a:xfrm>
                <a:off x="1173" y="1609"/>
                <a:ext cx="1106" cy="1071"/>
              </a:xfrm>
              <a:prstGeom prst="rect">
                <a:avLst/>
              </a:prstGeom>
              <a:solidFill>
                <a:srgbClr val="FBD58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601" name="Freeform 25"/>
              <p:cNvSpPr>
                <a:spLocks/>
              </p:cNvSpPr>
              <p:nvPr/>
            </p:nvSpPr>
            <p:spPr bwMode="auto">
              <a:xfrm>
                <a:off x="40" y="918"/>
                <a:ext cx="1122" cy="1765"/>
              </a:xfrm>
              <a:custGeom>
                <a:avLst/>
                <a:gdLst>
                  <a:gd name="T0" fmla="*/ 1121 w 1122"/>
                  <a:gd name="T1" fmla="*/ 1764 h 1765"/>
                  <a:gd name="T2" fmla="*/ 0 w 1122"/>
                  <a:gd name="T3" fmla="*/ 0 h 1765"/>
                  <a:gd name="T4" fmla="*/ 1121 w 1122"/>
                  <a:gd name="T5" fmla="*/ 679 h 1765"/>
                  <a:gd name="T6" fmla="*/ 1121 w 1122"/>
                  <a:gd name="T7" fmla="*/ 1764 h 1765"/>
                </a:gdLst>
                <a:ahLst/>
                <a:cxnLst>
                  <a:cxn ang="0">
                    <a:pos x="T0" y="T1"/>
                  </a:cxn>
                  <a:cxn ang="0">
                    <a:pos x="T2" y="T3"/>
                  </a:cxn>
                  <a:cxn ang="0">
                    <a:pos x="T4" y="T5"/>
                  </a:cxn>
                  <a:cxn ang="0">
                    <a:pos x="T6" y="T7"/>
                  </a:cxn>
                </a:cxnLst>
                <a:rect l="0" t="0" r="r" b="b"/>
                <a:pathLst>
                  <a:path w="1122" h="1765">
                    <a:moveTo>
                      <a:pt x="1121" y="1764"/>
                    </a:moveTo>
                    <a:lnTo>
                      <a:pt x="0" y="0"/>
                    </a:lnTo>
                    <a:lnTo>
                      <a:pt x="1121" y="679"/>
                    </a:lnTo>
                    <a:lnTo>
                      <a:pt x="1121" y="1764"/>
                    </a:lnTo>
                  </a:path>
                </a:pathLst>
              </a:custGeom>
              <a:solidFill>
                <a:srgbClr val="FBD589"/>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602" name="Freeform 26"/>
              <p:cNvSpPr>
                <a:spLocks/>
              </p:cNvSpPr>
              <p:nvPr/>
            </p:nvSpPr>
            <p:spPr bwMode="auto">
              <a:xfrm>
                <a:off x="40" y="918"/>
                <a:ext cx="2242" cy="680"/>
              </a:xfrm>
              <a:custGeom>
                <a:avLst/>
                <a:gdLst>
                  <a:gd name="T0" fmla="*/ 2241 w 2242"/>
                  <a:gd name="T1" fmla="*/ 679 h 680"/>
                  <a:gd name="T2" fmla="*/ 1121 w 2242"/>
                  <a:gd name="T3" fmla="*/ 679 h 680"/>
                  <a:gd name="T4" fmla="*/ 0 w 2242"/>
                  <a:gd name="T5" fmla="*/ 0 h 680"/>
                  <a:gd name="T6" fmla="*/ 2241 w 2242"/>
                  <a:gd name="T7" fmla="*/ 679 h 680"/>
                </a:gdLst>
                <a:ahLst/>
                <a:cxnLst>
                  <a:cxn ang="0">
                    <a:pos x="T0" y="T1"/>
                  </a:cxn>
                  <a:cxn ang="0">
                    <a:pos x="T2" y="T3"/>
                  </a:cxn>
                  <a:cxn ang="0">
                    <a:pos x="T4" y="T5"/>
                  </a:cxn>
                  <a:cxn ang="0">
                    <a:pos x="T6" y="T7"/>
                  </a:cxn>
                </a:cxnLst>
                <a:rect l="0" t="0" r="r" b="b"/>
                <a:pathLst>
                  <a:path w="2242" h="680">
                    <a:moveTo>
                      <a:pt x="2241" y="679"/>
                    </a:moveTo>
                    <a:lnTo>
                      <a:pt x="1121" y="679"/>
                    </a:lnTo>
                    <a:lnTo>
                      <a:pt x="0" y="0"/>
                    </a:lnTo>
                    <a:lnTo>
                      <a:pt x="2241" y="679"/>
                    </a:lnTo>
                  </a:path>
                </a:pathLst>
              </a:custGeom>
              <a:solidFill>
                <a:srgbClr val="FBD589"/>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4603" name="Rectangle 27"/>
            <p:cNvSpPr>
              <a:spLocks noChangeArrowheads="1"/>
            </p:cNvSpPr>
            <p:nvPr/>
          </p:nvSpPr>
          <p:spPr bwMode="auto">
            <a:xfrm>
              <a:off x="1855" y="1724"/>
              <a:ext cx="85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b="1">
                  <a:latin typeface="Times New Roman" pitchFamily="18" charset="0"/>
                </a:rPr>
                <a:t>Design</a:t>
              </a:r>
            </a:p>
          </p:txBody>
        </p:sp>
      </p:grpSp>
    </p:spTree>
    <p:extLst>
      <p:ext uri="{BB962C8B-B14F-4D97-AF65-F5344CB8AC3E}">
        <p14:creationId xmlns:p14="http://schemas.microsoft.com/office/powerpoint/2010/main" val="217421985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4598"/>
                                        </p:tgtEl>
                                        <p:attrNameLst>
                                          <p:attrName>style.visibility</p:attrName>
                                        </p:attrNameLst>
                                      </p:cBhvr>
                                      <p:to>
                                        <p:strVal val="visible"/>
                                      </p:to>
                                    </p:set>
                                    <p:anim calcmode="lin" valueType="num">
                                      <p:cBhvr additive="base">
                                        <p:cTn id="7" dur="500" fill="hold"/>
                                        <p:tgtEl>
                                          <p:spTgt spid="24598"/>
                                        </p:tgtEl>
                                        <p:attrNameLst>
                                          <p:attrName>ppt_x</p:attrName>
                                        </p:attrNameLst>
                                      </p:cBhvr>
                                      <p:tavLst>
                                        <p:tav tm="0">
                                          <p:val>
                                            <p:strVal val="0-#ppt_w/2"/>
                                          </p:val>
                                        </p:tav>
                                        <p:tav tm="100000">
                                          <p:val>
                                            <p:strVal val="#ppt_x"/>
                                          </p:val>
                                        </p:tav>
                                      </p:tavLst>
                                    </p:anim>
                                    <p:anim calcmode="lin" valueType="num">
                                      <p:cBhvr additive="base">
                                        <p:cTn id="8" dur="500" fill="hold"/>
                                        <p:tgtEl>
                                          <p:spTgt spid="245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4592"/>
                                        </p:tgtEl>
                                        <p:attrNameLst>
                                          <p:attrName>style.visibility</p:attrName>
                                        </p:attrNameLst>
                                      </p:cBhvr>
                                      <p:to>
                                        <p:strVal val="visible"/>
                                      </p:to>
                                    </p:set>
                                    <p:anim calcmode="lin" valueType="num">
                                      <p:cBhvr additive="base">
                                        <p:cTn id="13" dur="500" fill="hold"/>
                                        <p:tgtEl>
                                          <p:spTgt spid="24592"/>
                                        </p:tgtEl>
                                        <p:attrNameLst>
                                          <p:attrName>ppt_x</p:attrName>
                                        </p:attrNameLst>
                                      </p:cBhvr>
                                      <p:tavLst>
                                        <p:tav tm="0">
                                          <p:val>
                                            <p:strVal val="0-#ppt_w/2"/>
                                          </p:val>
                                        </p:tav>
                                        <p:tav tm="100000">
                                          <p:val>
                                            <p:strVal val="#ppt_x"/>
                                          </p:val>
                                        </p:tav>
                                      </p:tavLst>
                                    </p:anim>
                                    <p:anim calcmode="lin" valueType="num">
                                      <p:cBhvr additive="base">
                                        <p:cTn id="14" dur="500" fill="hold"/>
                                        <p:tgtEl>
                                          <p:spTgt spid="245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4579"/>
                                        </p:tgtEl>
                                        <p:attrNameLst>
                                          <p:attrName>style.visibility</p:attrName>
                                        </p:attrNameLst>
                                      </p:cBhvr>
                                      <p:to>
                                        <p:strVal val="visible"/>
                                      </p:to>
                                    </p:set>
                                    <p:anim calcmode="lin" valueType="num">
                                      <p:cBhvr additive="base">
                                        <p:cTn id="19" dur="500" fill="hold"/>
                                        <p:tgtEl>
                                          <p:spTgt spid="24579"/>
                                        </p:tgtEl>
                                        <p:attrNameLst>
                                          <p:attrName>ppt_x</p:attrName>
                                        </p:attrNameLst>
                                      </p:cBhvr>
                                      <p:tavLst>
                                        <p:tav tm="0">
                                          <p:val>
                                            <p:strVal val="0-#ppt_w/2"/>
                                          </p:val>
                                        </p:tav>
                                        <p:tav tm="100000">
                                          <p:val>
                                            <p:strVal val="#ppt_x"/>
                                          </p:val>
                                        </p:tav>
                                      </p:tavLst>
                                    </p:anim>
                                    <p:anim calcmode="lin" valueType="num">
                                      <p:cBhvr additive="base">
                                        <p:cTn id="20" dur="500" fill="hold"/>
                                        <p:tgtEl>
                                          <p:spTgt spid="2457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4585"/>
                                        </p:tgtEl>
                                        <p:attrNameLst>
                                          <p:attrName>style.visibility</p:attrName>
                                        </p:attrNameLst>
                                      </p:cBhvr>
                                      <p:to>
                                        <p:strVal val="visible"/>
                                      </p:to>
                                    </p:set>
                                    <p:anim calcmode="lin" valueType="num">
                                      <p:cBhvr additive="base">
                                        <p:cTn id="25" dur="500" fill="hold"/>
                                        <p:tgtEl>
                                          <p:spTgt spid="24585"/>
                                        </p:tgtEl>
                                        <p:attrNameLst>
                                          <p:attrName>ppt_x</p:attrName>
                                        </p:attrNameLst>
                                      </p:cBhvr>
                                      <p:tavLst>
                                        <p:tav tm="0">
                                          <p:val>
                                            <p:strVal val="0-#ppt_w/2"/>
                                          </p:val>
                                        </p:tav>
                                        <p:tav tm="100000">
                                          <p:val>
                                            <p:strVal val="#ppt_x"/>
                                          </p:val>
                                        </p:tav>
                                      </p:tavLst>
                                    </p:anim>
                                    <p:anim calcmode="lin" valueType="num">
                                      <p:cBhvr additive="base">
                                        <p:cTn id="26" dur="500" fill="hold"/>
                                        <p:tgtEl>
                                          <p:spTgt spid="245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2D1E0BFF-FA3D-491A-A810-F7963AAF5467}" type="slidenum">
              <a:rPr lang="en-US" altLang="en-US"/>
              <a:pPr/>
              <a:t>28</a:t>
            </a:fld>
            <a:endParaRPr lang="en-US" altLang="en-US"/>
          </a:p>
        </p:txBody>
      </p:sp>
      <p:sp>
        <p:nvSpPr>
          <p:cNvPr id="27650" name="Rectangle 2"/>
          <p:cNvSpPr>
            <a:spLocks noGrp="1" noChangeArrowheads="1"/>
          </p:cNvSpPr>
          <p:nvPr>
            <p:ph type="body" idx="1"/>
          </p:nvPr>
        </p:nvSpPr>
        <p:spPr>
          <a:xfrm>
            <a:off x="533400" y="1219200"/>
            <a:ext cx="7686675" cy="5327650"/>
          </a:xfrm>
        </p:spPr>
        <p:txBody>
          <a:bodyPr>
            <a:normAutofit/>
          </a:bodyPr>
          <a:lstStyle/>
          <a:p>
            <a:pPr marL="0" indent="0">
              <a:lnSpc>
                <a:spcPct val="90000"/>
              </a:lnSpc>
              <a:buNone/>
            </a:pPr>
            <a:r>
              <a:rPr lang="en-US" altLang="en-US" sz="1800" dirty="0"/>
              <a:t>Top management</a:t>
            </a:r>
          </a:p>
          <a:p>
            <a:pPr marL="0" indent="0">
              <a:lnSpc>
                <a:spcPct val="90000"/>
              </a:lnSpc>
              <a:buNone/>
            </a:pPr>
            <a:r>
              <a:rPr lang="en-US" altLang="en-US" sz="1800" dirty="0"/>
              <a:t>Design</a:t>
            </a:r>
          </a:p>
          <a:p>
            <a:pPr marL="0" indent="0">
              <a:lnSpc>
                <a:spcPct val="90000"/>
              </a:lnSpc>
              <a:buNone/>
            </a:pPr>
            <a:r>
              <a:rPr lang="en-US" altLang="en-US" sz="1800" dirty="0"/>
              <a:t>Procurement</a:t>
            </a:r>
          </a:p>
          <a:p>
            <a:pPr marL="0" indent="0">
              <a:lnSpc>
                <a:spcPct val="90000"/>
              </a:lnSpc>
              <a:buNone/>
            </a:pPr>
            <a:r>
              <a:rPr lang="en-US" altLang="en-US" sz="1800" dirty="0"/>
              <a:t>Production/operations</a:t>
            </a:r>
          </a:p>
          <a:p>
            <a:pPr marL="0" indent="0">
              <a:lnSpc>
                <a:spcPct val="90000"/>
              </a:lnSpc>
              <a:buNone/>
            </a:pPr>
            <a:r>
              <a:rPr lang="en-US" altLang="en-US" sz="1800" dirty="0"/>
              <a:t>Quality assurance</a:t>
            </a:r>
          </a:p>
          <a:p>
            <a:pPr marL="0" indent="0">
              <a:lnSpc>
                <a:spcPct val="90000"/>
              </a:lnSpc>
              <a:buNone/>
            </a:pPr>
            <a:r>
              <a:rPr lang="en-US" altLang="en-US" sz="1800" dirty="0"/>
              <a:t>Packaging and shipping</a:t>
            </a:r>
          </a:p>
          <a:p>
            <a:pPr marL="0" indent="0">
              <a:lnSpc>
                <a:spcPct val="90000"/>
              </a:lnSpc>
              <a:buNone/>
            </a:pPr>
            <a:r>
              <a:rPr lang="en-US" altLang="en-US" sz="1800" dirty="0"/>
              <a:t>Marketing and sales</a:t>
            </a:r>
          </a:p>
          <a:p>
            <a:pPr marL="0" indent="0">
              <a:lnSpc>
                <a:spcPct val="90000"/>
              </a:lnSpc>
              <a:buNone/>
            </a:pPr>
            <a:r>
              <a:rPr lang="en-US" altLang="en-US" sz="1800" dirty="0"/>
              <a:t>Customer </a:t>
            </a:r>
            <a:r>
              <a:rPr lang="en-US" altLang="en-US" sz="1800" dirty="0" smtClean="0"/>
              <a:t>service</a:t>
            </a:r>
          </a:p>
          <a:p>
            <a:pPr marL="0" indent="0">
              <a:lnSpc>
                <a:spcPct val="90000"/>
              </a:lnSpc>
              <a:spcBef>
                <a:spcPct val="55000"/>
              </a:spcBef>
              <a:buNone/>
            </a:pPr>
            <a:endParaRPr lang="en-US" altLang="en-US" sz="1800" dirty="0" smtClean="0"/>
          </a:p>
          <a:p>
            <a:pPr marL="0" indent="0">
              <a:lnSpc>
                <a:spcPct val="90000"/>
              </a:lnSpc>
              <a:spcBef>
                <a:spcPct val="55000"/>
              </a:spcBef>
              <a:buNone/>
            </a:pPr>
            <a:r>
              <a:rPr lang="en-US" altLang="en-US" sz="1800" dirty="0" smtClean="0"/>
              <a:t>Failure </a:t>
            </a:r>
            <a:r>
              <a:rPr lang="en-US" altLang="en-US" sz="1800" dirty="0"/>
              <a:t>Costs - costs incurred by defective parts/products or faulty services.</a:t>
            </a:r>
          </a:p>
          <a:p>
            <a:pPr marL="0" indent="0">
              <a:lnSpc>
                <a:spcPct val="90000"/>
              </a:lnSpc>
              <a:spcBef>
                <a:spcPct val="55000"/>
              </a:spcBef>
              <a:buNone/>
            </a:pPr>
            <a:r>
              <a:rPr lang="en-US" altLang="en-US" sz="1800" dirty="0"/>
              <a:t>Internal Failure </a:t>
            </a:r>
            <a:r>
              <a:rPr lang="en-US" altLang="en-US" sz="1800" dirty="0" smtClean="0"/>
              <a:t>Costs :Costs </a:t>
            </a:r>
            <a:r>
              <a:rPr lang="en-US" altLang="en-US" sz="1800" dirty="0"/>
              <a:t>incurred to fix problems that are detected before the product/service is delivered to the customer.</a:t>
            </a:r>
          </a:p>
          <a:p>
            <a:pPr marL="0" indent="0">
              <a:lnSpc>
                <a:spcPct val="90000"/>
              </a:lnSpc>
              <a:spcBef>
                <a:spcPct val="55000"/>
              </a:spcBef>
              <a:buNone/>
            </a:pPr>
            <a:r>
              <a:rPr lang="en-US" altLang="en-US" sz="1800" dirty="0"/>
              <a:t>External Failure </a:t>
            </a:r>
            <a:r>
              <a:rPr lang="en-US" altLang="en-US" sz="1800" dirty="0" smtClean="0"/>
              <a:t>Costs :All </a:t>
            </a:r>
            <a:r>
              <a:rPr lang="en-US" altLang="en-US" sz="1800" dirty="0"/>
              <a:t>costs incurred to fix problems that are detected after the product/service is delivered to the customer.</a:t>
            </a:r>
          </a:p>
          <a:p>
            <a:pPr marL="0" indent="0">
              <a:lnSpc>
                <a:spcPct val="90000"/>
              </a:lnSpc>
              <a:buNone/>
            </a:pPr>
            <a:endParaRPr lang="en-US" altLang="en-US" sz="1800" dirty="0"/>
          </a:p>
        </p:txBody>
      </p:sp>
      <p:sp>
        <p:nvSpPr>
          <p:cNvPr id="27651" name="Rectangle 3"/>
          <p:cNvSpPr>
            <a:spLocks noGrp="1" noChangeArrowheads="1"/>
          </p:cNvSpPr>
          <p:nvPr>
            <p:ph type="title"/>
          </p:nvPr>
        </p:nvSpPr>
        <p:spPr>
          <a:xfrm>
            <a:off x="762000" y="198438"/>
            <a:ext cx="7772400" cy="735012"/>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b">
            <a:normAutofit fontScale="90000"/>
          </a:bodyPr>
          <a:lstStyle/>
          <a:p>
            <a:r>
              <a:rPr lang="en-US" altLang="en-US" dirty="0" smtClean="0"/>
              <a:t/>
            </a:r>
            <a:br>
              <a:rPr lang="en-US" altLang="en-US" dirty="0" smtClean="0"/>
            </a:br>
            <a:endParaRPr lang="en-US" altLang="en-US" b="1" dirty="0"/>
          </a:p>
        </p:txBody>
      </p:sp>
    </p:spTree>
    <p:extLst>
      <p:ext uri="{BB962C8B-B14F-4D97-AF65-F5344CB8AC3E}">
        <p14:creationId xmlns:p14="http://schemas.microsoft.com/office/powerpoint/2010/main" val="32766891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animEffect transition="in" filter="wipe(left)">
                                      <p:cBhvr>
                                        <p:cTn id="7" dur="500"/>
                                        <p:tgtEl>
                                          <p:spTgt spid="276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0">
                                            <p:txEl>
                                              <p:pRg st="1" end="1"/>
                                            </p:txEl>
                                          </p:spTgt>
                                        </p:tgtEl>
                                        <p:attrNameLst>
                                          <p:attrName>style.visibility</p:attrName>
                                        </p:attrNameLst>
                                      </p:cBhvr>
                                      <p:to>
                                        <p:strVal val="visible"/>
                                      </p:to>
                                    </p:set>
                                    <p:animEffect transition="in" filter="wipe(left)">
                                      <p:cBhvr>
                                        <p:cTn id="12" dur="500"/>
                                        <p:tgtEl>
                                          <p:spTgt spid="2765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0">
                                            <p:txEl>
                                              <p:pRg st="2" end="2"/>
                                            </p:txEl>
                                          </p:spTgt>
                                        </p:tgtEl>
                                        <p:attrNameLst>
                                          <p:attrName>style.visibility</p:attrName>
                                        </p:attrNameLst>
                                      </p:cBhvr>
                                      <p:to>
                                        <p:strVal val="visible"/>
                                      </p:to>
                                    </p:set>
                                    <p:animEffect transition="in" filter="wipe(left)">
                                      <p:cBhvr>
                                        <p:cTn id="17" dur="500"/>
                                        <p:tgtEl>
                                          <p:spTgt spid="2765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650">
                                            <p:txEl>
                                              <p:pRg st="3" end="3"/>
                                            </p:txEl>
                                          </p:spTgt>
                                        </p:tgtEl>
                                        <p:attrNameLst>
                                          <p:attrName>style.visibility</p:attrName>
                                        </p:attrNameLst>
                                      </p:cBhvr>
                                      <p:to>
                                        <p:strVal val="visible"/>
                                      </p:to>
                                    </p:set>
                                    <p:animEffect transition="in" filter="wipe(left)">
                                      <p:cBhvr>
                                        <p:cTn id="22" dur="500"/>
                                        <p:tgtEl>
                                          <p:spTgt spid="2765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650">
                                            <p:txEl>
                                              <p:pRg st="4" end="4"/>
                                            </p:txEl>
                                          </p:spTgt>
                                        </p:tgtEl>
                                        <p:attrNameLst>
                                          <p:attrName>style.visibility</p:attrName>
                                        </p:attrNameLst>
                                      </p:cBhvr>
                                      <p:to>
                                        <p:strVal val="visible"/>
                                      </p:to>
                                    </p:set>
                                    <p:animEffect transition="in" filter="wipe(left)">
                                      <p:cBhvr>
                                        <p:cTn id="27" dur="500"/>
                                        <p:tgtEl>
                                          <p:spTgt spid="2765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650">
                                            <p:txEl>
                                              <p:pRg st="5" end="5"/>
                                            </p:txEl>
                                          </p:spTgt>
                                        </p:tgtEl>
                                        <p:attrNameLst>
                                          <p:attrName>style.visibility</p:attrName>
                                        </p:attrNameLst>
                                      </p:cBhvr>
                                      <p:to>
                                        <p:strVal val="visible"/>
                                      </p:to>
                                    </p:set>
                                    <p:animEffect transition="in" filter="wipe(left)">
                                      <p:cBhvr>
                                        <p:cTn id="32" dur="500"/>
                                        <p:tgtEl>
                                          <p:spTgt spid="2765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650">
                                            <p:txEl>
                                              <p:pRg st="6" end="6"/>
                                            </p:txEl>
                                          </p:spTgt>
                                        </p:tgtEl>
                                        <p:attrNameLst>
                                          <p:attrName>style.visibility</p:attrName>
                                        </p:attrNameLst>
                                      </p:cBhvr>
                                      <p:to>
                                        <p:strVal val="visible"/>
                                      </p:to>
                                    </p:set>
                                    <p:animEffect transition="in" filter="wipe(left)">
                                      <p:cBhvr>
                                        <p:cTn id="37" dur="500"/>
                                        <p:tgtEl>
                                          <p:spTgt spid="2765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650">
                                            <p:txEl>
                                              <p:pRg st="7" end="7"/>
                                            </p:txEl>
                                          </p:spTgt>
                                        </p:tgtEl>
                                        <p:attrNameLst>
                                          <p:attrName>style.visibility</p:attrName>
                                        </p:attrNameLst>
                                      </p:cBhvr>
                                      <p:to>
                                        <p:strVal val="visible"/>
                                      </p:to>
                                    </p:set>
                                    <p:animEffect transition="in" filter="wipe(left)">
                                      <p:cBhvr>
                                        <p:cTn id="42" dur="500"/>
                                        <p:tgtEl>
                                          <p:spTgt spid="2765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650">
                                            <p:txEl>
                                              <p:pRg st="9" end="9"/>
                                            </p:txEl>
                                          </p:spTgt>
                                        </p:tgtEl>
                                        <p:attrNameLst>
                                          <p:attrName>style.visibility</p:attrName>
                                        </p:attrNameLst>
                                      </p:cBhvr>
                                      <p:to>
                                        <p:strVal val="visible"/>
                                      </p:to>
                                    </p:set>
                                    <p:animEffect transition="in" filter="wipe(left)">
                                      <p:cBhvr>
                                        <p:cTn id="47" dur="500"/>
                                        <p:tgtEl>
                                          <p:spTgt spid="27650">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650">
                                            <p:txEl>
                                              <p:pRg st="10" end="10"/>
                                            </p:txEl>
                                          </p:spTgt>
                                        </p:tgtEl>
                                        <p:attrNameLst>
                                          <p:attrName>style.visibility</p:attrName>
                                        </p:attrNameLst>
                                      </p:cBhvr>
                                      <p:to>
                                        <p:strVal val="visible"/>
                                      </p:to>
                                    </p:set>
                                    <p:animEffect transition="in" filter="wipe(left)">
                                      <p:cBhvr>
                                        <p:cTn id="52" dur="500"/>
                                        <p:tgtEl>
                                          <p:spTgt spid="27650">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650">
                                            <p:txEl>
                                              <p:pRg st="11" end="11"/>
                                            </p:txEl>
                                          </p:spTgt>
                                        </p:tgtEl>
                                        <p:attrNameLst>
                                          <p:attrName>style.visibility</p:attrName>
                                        </p:attrNameLst>
                                      </p:cBhvr>
                                      <p:to>
                                        <p:strVal val="visible"/>
                                      </p:to>
                                    </p:set>
                                    <p:animEffect transition="in" filter="wipe(left)">
                                      <p:cBhvr>
                                        <p:cTn id="57" dur="500"/>
                                        <p:tgtEl>
                                          <p:spTgt spid="27650">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ISO 9000 </a:t>
            </a:r>
            <a:r>
              <a:rPr lang="en-US" dirty="0" smtClean="0"/>
              <a:t>Standards </a:t>
            </a:r>
            <a:endParaRPr lang="en-IN" dirty="0"/>
          </a:p>
        </p:txBody>
      </p:sp>
      <p:sp>
        <p:nvSpPr>
          <p:cNvPr id="3" name="Content Placeholder 2"/>
          <p:cNvSpPr>
            <a:spLocks noGrp="1"/>
          </p:cNvSpPr>
          <p:nvPr>
            <p:ph sz="quarter" idx="1"/>
          </p:nvPr>
        </p:nvSpPr>
        <p:spPr>
          <a:xfrm>
            <a:off x="457200" y="1603248"/>
            <a:ext cx="3352800" cy="4873752"/>
          </a:xfrm>
        </p:spPr>
        <p:txBody>
          <a:bodyPr/>
          <a:lstStyle/>
          <a:p>
            <a:pPr>
              <a:lnSpc>
                <a:spcPct val="115000"/>
              </a:lnSpc>
              <a:spcBef>
                <a:spcPct val="50000"/>
              </a:spcBef>
              <a:buFont typeface="Wingdings" pitchFamily="2" charset="2"/>
              <a:buNone/>
            </a:pPr>
            <a:r>
              <a:rPr lang="en-US" altLang="en-US" b="1" dirty="0"/>
              <a:t>ISO 9000 Standards</a:t>
            </a:r>
            <a:endParaRPr lang="en-US" altLang="en-US" b="1" dirty="0" smtClean="0"/>
          </a:p>
          <a:p>
            <a:pPr>
              <a:lnSpc>
                <a:spcPct val="115000"/>
              </a:lnSpc>
              <a:spcBef>
                <a:spcPct val="50000"/>
              </a:spcBef>
              <a:buFont typeface="Wingdings" panose="05000000000000000000" pitchFamily="2" charset="2"/>
              <a:buChar char="Ø"/>
            </a:pPr>
            <a:r>
              <a:rPr lang="en-US" altLang="en-US" dirty="0" smtClean="0"/>
              <a:t>Requirements </a:t>
            </a:r>
            <a:endParaRPr lang="en-US" altLang="en-US" dirty="0"/>
          </a:p>
          <a:p>
            <a:pPr>
              <a:lnSpc>
                <a:spcPct val="115000"/>
              </a:lnSpc>
              <a:spcBef>
                <a:spcPct val="50000"/>
              </a:spcBef>
              <a:buFont typeface="Wingdings" panose="05000000000000000000" pitchFamily="2" charset="2"/>
              <a:buChar char="Ø"/>
            </a:pPr>
            <a:r>
              <a:rPr lang="en-US" altLang="en-US" dirty="0"/>
              <a:t>System requirements</a:t>
            </a:r>
          </a:p>
          <a:p>
            <a:pPr>
              <a:lnSpc>
                <a:spcPct val="115000"/>
              </a:lnSpc>
              <a:spcBef>
                <a:spcPct val="50000"/>
              </a:spcBef>
              <a:buFont typeface="Wingdings" panose="05000000000000000000" pitchFamily="2" charset="2"/>
              <a:buChar char="Ø"/>
            </a:pPr>
            <a:r>
              <a:rPr lang="en-US" altLang="en-US" dirty="0"/>
              <a:t>Management </a:t>
            </a:r>
          </a:p>
          <a:p>
            <a:pPr>
              <a:lnSpc>
                <a:spcPct val="115000"/>
              </a:lnSpc>
              <a:spcBef>
                <a:spcPct val="50000"/>
              </a:spcBef>
              <a:buFont typeface="Wingdings" panose="05000000000000000000" pitchFamily="2" charset="2"/>
              <a:buChar char="Ø"/>
            </a:pPr>
            <a:r>
              <a:rPr lang="en-US" altLang="en-US" dirty="0"/>
              <a:t>Resource</a:t>
            </a:r>
          </a:p>
          <a:p>
            <a:pPr>
              <a:lnSpc>
                <a:spcPct val="115000"/>
              </a:lnSpc>
              <a:spcBef>
                <a:spcPct val="50000"/>
              </a:spcBef>
              <a:buFont typeface="Wingdings" panose="05000000000000000000" pitchFamily="2" charset="2"/>
              <a:buChar char="Ø"/>
            </a:pPr>
            <a:r>
              <a:rPr lang="en-US" altLang="en-US" dirty="0"/>
              <a:t>Realization</a:t>
            </a:r>
          </a:p>
          <a:p>
            <a:pPr>
              <a:lnSpc>
                <a:spcPct val="115000"/>
              </a:lnSpc>
              <a:spcBef>
                <a:spcPct val="50000"/>
              </a:spcBef>
              <a:buFont typeface="Wingdings" panose="05000000000000000000" pitchFamily="2" charset="2"/>
              <a:buChar char="Ø"/>
            </a:pPr>
            <a:r>
              <a:rPr lang="en-US" altLang="en-US" dirty="0"/>
              <a:t>Remedial</a:t>
            </a:r>
          </a:p>
          <a:p>
            <a:endParaRPr lang="en-IN"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0473" y="1447800"/>
            <a:ext cx="33528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495800" y="1676401"/>
            <a:ext cx="3962400" cy="4431983"/>
          </a:xfrm>
          <a:prstGeom prst="rect">
            <a:avLst/>
          </a:prstGeom>
        </p:spPr>
        <p:txBody>
          <a:bodyPr wrap="square">
            <a:spAutoFit/>
          </a:bodyPr>
          <a:lstStyle/>
          <a:p>
            <a:r>
              <a:rPr lang="en-US" altLang="en-US" sz="2400" b="1" dirty="0"/>
              <a:t>ISO 9000 Quality Management Principles</a:t>
            </a:r>
            <a:endParaRPr lang="en-US" altLang="en-US" sz="2400" b="1" dirty="0"/>
          </a:p>
          <a:p>
            <a:endParaRPr lang="en-US" altLang="en-US" dirty="0"/>
          </a:p>
          <a:p>
            <a:pPr marL="342900" indent="-342900">
              <a:buFont typeface="Wingdings" panose="05000000000000000000" pitchFamily="2" charset="2"/>
              <a:buChar char="Ø"/>
            </a:pPr>
            <a:r>
              <a:rPr lang="en-US" altLang="en-US" sz="2400" dirty="0"/>
              <a:t>Customer focus</a:t>
            </a:r>
            <a:endParaRPr lang="en-US" altLang="en-US" sz="2400" dirty="0"/>
          </a:p>
          <a:p>
            <a:pPr marL="342900" indent="-342900">
              <a:buFont typeface="Wingdings" panose="05000000000000000000" pitchFamily="2" charset="2"/>
              <a:buChar char="Ø"/>
            </a:pPr>
            <a:r>
              <a:rPr lang="en-US" altLang="en-US" sz="2400" dirty="0"/>
              <a:t>Leadership</a:t>
            </a:r>
          </a:p>
          <a:p>
            <a:pPr marL="342900" indent="-342900">
              <a:buFont typeface="Wingdings" panose="05000000000000000000" pitchFamily="2" charset="2"/>
              <a:buChar char="Ø"/>
            </a:pPr>
            <a:r>
              <a:rPr lang="en-US" altLang="en-US" sz="2400" dirty="0"/>
              <a:t>People involvement</a:t>
            </a:r>
          </a:p>
          <a:p>
            <a:pPr marL="342900" indent="-342900">
              <a:buFont typeface="Wingdings" panose="05000000000000000000" pitchFamily="2" charset="2"/>
              <a:buChar char="Ø"/>
            </a:pPr>
            <a:r>
              <a:rPr lang="en-US" altLang="en-US" sz="2400" dirty="0"/>
              <a:t>Process approach</a:t>
            </a:r>
          </a:p>
          <a:p>
            <a:pPr marL="342900" indent="-342900">
              <a:buFont typeface="Wingdings" panose="05000000000000000000" pitchFamily="2" charset="2"/>
              <a:buChar char="Ø"/>
            </a:pPr>
            <a:r>
              <a:rPr lang="en-US" altLang="en-US" sz="2400" dirty="0"/>
              <a:t>A systems approach to management</a:t>
            </a:r>
          </a:p>
          <a:p>
            <a:pPr marL="342900" indent="-342900">
              <a:buFont typeface="Wingdings" panose="05000000000000000000" pitchFamily="2" charset="2"/>
              <a:buChar char="Ø"/>
            </a:pPr>
            <a:r>
              <a:rPr lang="en-US" altLang="en-US" sz="2400" dirty="0"/>
              <a:t>Continual improvement</a:t>
            </a:r>
          </a:p>
          <a:p>
            <a:pPr marL="342900" indent="-342900">
              <a:buFont typeface="Wingdings" panose="05000000000000000000" pitchFamily="2" charset="2"/>
              <a:buChar char="Ø"/>
            </a:pPr>
            <a:r>
              <a:rPr lang="en-US" altLang="en-US" sz="2400" dirty="0"/>
              <a:t>Factual approach to decision </a:t>
            </a:r>
            <a:r>
              <a:rPr lang="en-US" altLang="en-US" sz="2400" dirty="0" smtClean="0"/>
              <a:t>making</a:t>
            </a:r>
            <a:endParaRPr lang="en-US" altLang="en-US" sz="2400" dirty="0"/>
          </a:p>
        </p:txBody>
      </p:sp>
    </p:spTree>
    <p:extLst>
      <p:ext uri="{BB962C8B-B14F-4D97-AF65-F5344CB8AC3E}">
        <p14:creationId xmlns:p14="http://schemas.microsoft.com/office/powerpoint/2010/main" val="3103900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5C317D2E-C5C8-4EAA-BD64-F91377B0ACF7}" type="slidenum">
              <a:rPr lang="en-US" altLang="en-US"/>
              <a:pPr/>
              <a:t>30</a:t>
            </a:fld>
            <a:endParaRPr lang="en-US" altLang="en-US"/>
          </a:p>
        </p:txBody>
      </p:sp>
      <p:sp>
        <p:nvSpPr>
          <p:cNvPr id="41986" name="Rectangle 2"/>
          <p:cNvSpPr>
            <a:spLocks noGrp="1" noChangeArrowheads="1"/>
          </p:cNvSpPr>
          <p:nvPr>
            <p:ph type="title"/>
          </p:nvPr>
        </p:nvSpPr>
        <p:spPr/>
        <p:txBody>
          <a:bodyPr/>
          <a:lstStyle/>
          <a:p>
            <a:r>
              <a:rPr lang="en-US" altLang="en-US"/>
              <a:t>Total Quality Management</a:t>
            </a:r>
          </a:p>
        </p:txBody>
      </p:sp>
      <p:sp>
        <p:nvSpPr>
          <p:cNvPr id="41987" name="Rectangle 3"/>
          <p:cNvSpPr>
            <a:spLocks noGrp="1" noChangeArrowheads="1"/>
          </p:cNvSpPr>
          <p:nvPr>
            <p:ph type="body" idx="1"/>
          </p:nvPr>
        </p:nvSpPr>
        <p:spPr>
          <a:xfrm>
            <a:off x="728663" y="1238250"/>
            <a:ext cx="7881937" cy="4941888"/>
          </a:xfrm>
        </p:spPr>
        <p:txBody>
          <a:bodyPr/>
          <a:lstStyle/>
          <a:p>
            <a:pPr eaLnBrk="0" hangingPunct="0">
              <a:spcBef>
                <a:spcPct val="0"/>
              </a:spcBef>
              <a:buFont typeface="Wingdings" pitchFamily="2" charset="2"/>
              <a:buNone/>
            </a:pPr>
            <a:r>
              <a:rPr lang="en-US" altLang="en-US" dirty="0"/>
              <a:t>	A philosophy that involves  everyone in an organization in a continual effort to improve quality and achieve customer satisfaction.</a:t>
            </a:r>
          </a:p>
          <a:p>
            <a:endParaRPr lang="en-US" altLang="en-US" dirty="0"/>
          </a:p>
        </p:txBody>
      </p:sp>
      <p:sp>
        <p:nvSpPr>
          <p:cNvPr id="41988" name="AutoShape 4"/>
          <p:cNvSpPr>
            <a:spLocks noChangeArrowheads="1"/>
          </p:cNvSpPr>
          <p:nvPr/>
        </p:nvSpPr>
        <p:spPr bwMode="auto">
          <a:xfrm>
            <a:off x="3276600" y="3429000"/>
            <a:ext cx="990600" cy="685800"/>
          </a:xfrm>
          <a:prstGeom prst="chevron">
            <a:avLst>
              <a:gd name="adj" fmla="val 36111"/>
            </a:avLst>
          </a:prstGeom>
          <a:gradFill rotWithShape="0">
            <a:gsLst>
              <a:gs pos="0">
                <a:schemeClr val="bg1"/>
              </a:gs>
              <a:gs pos="100000">
                <a:schemeClr val="accent1"/>
              </a:gs>
            </a:gsLst>
            <a:path path="rect">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dirty="0">
                <a:latin typeface="Times New Roman" pitchFamily="18" charset="0"/>
              </a:rPr>
              <a:t>T</a:t>
            </a:r>
          </a:p>
        </p:txBody>
      </p:sp>
      <p:sp>
        <p:nvSpPr>
          <p:cNvPr id="41989" name="AutoShape 5"/>
          <p:cNvSpPr>
            <a:spLocks noChangeArrowheads="1"/>
          </p:cNvSpPr>
          <p:nvPr/>
        </p:nvSpPr>
        <p:spPr bwMode="auto">
          <a:xfrm>
            <a:off x="4038600" y="3429000"/>
            <a:ext cx="990600" cy="685800"/>
          </a:xfrm>
          <a:prstGeom prst="chevron">
            <a:avLst>
              <a:gd name="adj" fmla="val 36111"/>
            </a:avLst>
          </a:prstGeom>
          <a:gradFill rotWithShape="0">
            <a:gsLst>
              <a:gs pos="0">
                <a:schemeClr val="bg1"/>
              </a:gs>
              <a:gs pos="100000">
                <a:schemeClr val="accent1"/>
              </a:gs>
            </a:gsLst>
            <a:path path="rect">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dirty="0">
                <a:latin typeface="Times New Roman" pitchFamily="18" charset="0"/>
              </a:rPr>
              <a:t>Q</a:t>
            </a:r>
          </a:p>
        </p:txBody>
      </p:sp>
      <p:sp>
        <p:nvSpPr>
          <p:cNvPr id="41990" name="AutoShape 6"/>
          <p:cNvSpPr>
            <a:spLocks noChangeArrowheads="1"/>
          </p:cNvSpPr>
          <p:nvPr/>
        </p:nvSpPr>
        <p:spPr bwMode="auto">
          <a:xfrm>
            <a:off x="4800600" y="3429000"/>
            <a:ext cx="990600" cy="685800"/>
          </a:xfrm>
          <a:prstGeom prst="chevron">
            <a:avLst>
              <a:gd name="adj" fmla="val 36111"/>
            </a:avLst>
          </a:prstGeom>
          <a:gradFill rotWithShape="0">
            <a:gsLst>
              <a:gs pos="0">
                <a:schemeClr val="bg1"/>
              </a:gs>
              <a:gs pos="100000">
                <a:schemeClr val="accent1"/>
              </a:gs>
            </a:gsLst>
            <a:path path="rect">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dirty="0">
                <a:latin typeface="Times New Roman" pitchFamily="18" charset="0"/>
              </a:rPr>
              <a:t>M</a:t>
            </a:r>
          </a:p>
        </p:txBody>
      </p:sp>
    </p:spTree>
    <p:extLst>
      <p:ext uri="{BB962C8B-B14F-4D97-AF65-F5344CB8AC3E}">
        <p14:creationId xmlns:p14="http://schemas.microsoft.com/office/powerpoint/2010/main" val="852658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6D22BC87-D19F-4BBD-9BDC-02D731D9904C}" type="slidenum">
              <a:rPr lang="en-US" altLang="en-US"/>
              <a:pPr/>
              <a:t>31</a:t>
            </a:fld>
            <a:endParaRPr lang="en-US" altLang="en-US"/>
          </a:p>
        </p:txBody>
      </p:sp>
      <p:sp>
        <p:nvSpPr>
          <p:cNvPr id="43010" name="Rectangle 2"/>
          <p:cNvSpPr>
            <a:spLocks noGrp="1" noChangeArrowheads="1"/>
          </p:cNvSpPr>
          <p:nvPr>
            <p:ph type="body" idx="1"/>
          </p:nvPr>
        </p:nvSpPr>
        <p:spPr>
          <a:xfrm>
            <a:off x="682625" y="1489075"/>
            <a:ext cx="7726363" cy="4441825"/>
          </a:xfrm>
        </p:spPr>
        <p:txBody>
          <a:bodyPr/>
          <a:lstStyle/>
          <a:p>
            <a:pPr>
              <a:buFontTx/>
              <a:buAutoNum type="arabicPeriod"/>
            </a:pPr>
            <a:r>
              <a:rPr lang="en-US" altLang="en-US" dirty="0" smtClean="0"/>
              <a:t>Find out what the customer wants</a:t>
            </a:r>
          </a:p>
          <a:p>
            <a:pPr>
              <a:buFontTx/>
              <a:buAutoNum type="arabicPeriod"/>
            </a:pPr>
            <a:r>
              <a:rPr lang="en-US" altLang="en-US" dirty="0" smtClean="0"/>
              <a:t>Design a product or service that meets or exceeds customer wants</a:t>
            </a:r>
          </a:p>
          <a:p>
            <a:pPr>
              <a:buFontTx/>
              <a:buAutoNum type="arabicPeriod"/>
            </a:pPr>
            <a:r>
              <a:rPr lang="en-US" altLang="en-US" dirty="0" smtClean="0"/>
              <a:t>Design processes that facilitates doing the job right the first time</a:t>
            </a:r>
          </a:p>
          <a:p>
            <a:pPr>
              <a:buFontTx/>
              <a:buAutoNum type="arabicPeriod"/>
            </a:pPr>
            <a:r>
              <a:rPr lang="en-US" altLang="en-US" dirty="0" smtClean="0"/>
              <a:t>Keep track of results</a:t>
            </a:r>
          </a:p>
          <a:p>
            <a:pPr>
              <a:buFontTx/>
              <a:buAutoNum type="arabicPeriod"/>
            </a:pPr>
            <a:r>
              <a:rPr lang="en-US" altLang="en-US" dirty="0" smtClean="0"/>
              <a:t>Extend these concepts to suppliers</a:t>
            </a:r>
            <a:endParaRPr lang="en-US" altLang="en-US" dirty="0"/>
          </a:p>
        </p:txBody>
      </p:sp>
      <p:sp>
        <p:nvSpPr>
          <p:cNvPr id="43011" name="Rectangle 3"/>
          <p:cNvSpPr>
            <a:spLocks noGrp="1" noChangeArrowheads="1"/>
          </p:cNvSpPr>
          <p:nvPr>
            <p:ph type="title"/>
          </p:nvPr>
        </p:nvSpPr>
        <p:spPr>
          <a:xfrm>
            <a:off x="762000" y="214313"/>
            <a:ext cx="7772400" cy="608012"/>
          </a:xfrm>
          <a:noFill/>
          <a:ln/>
          <a:extLst>
            <a:ext uri="{909E8E84-426E-40DD-AFC4-6F175D3DCCD1}">
              <a14:hiddenFill xmlns:a14="http://schemas.microsoft.com/office/drawing/2010/main">
                <a:gradFill rotWithShape="0">
                  <a:gsLst>
                    <a:gs pos="0">
                      <a:srgbClr val="F1C5E7">
                        <a:gamma/>
                        <a:shade val="89804"/>
                        <a:invGamma/>
                      </a:srgbClr>
                    </a:gs>
                    <a:gs pos="100000">
                      <a:srgbClr val="F1C5E7"/>
                    </a:gs>
                  </a:gsLst>
                  <a:path path="shape">
                    <a:fillToRect l="50000" t="50000" r="50000" b="50000"/>
                  </a:path>
                </a:gradFill>
              </a14:hiddenFill>
            </a:ext>
            <a:ext uri="{91240B29-F687-4F45-9708-019B960494DF}">
              <a14:hiddenLine xmlns:a14="http://schemas.microsoft.com/office/drawing/2010/main" w="12700">
                <a:solidFill>
                  <a:srgbClr val="701A5C"/>
                </a:solidFill>
                <a:miter lim="800000"/>
                <a:headEnd/>
                <a:tailEnd/>
              </a14:hiddenLine>
            </a:ext>
          </a:extLst>
        </p:spPr>
        <p:txBody>
          <a:bodyPr/>
          <a:lstStyle/>
          <a:p>
            <a:r>
              <a:rPr lang="en-US" altLang="en-US"/>
              <a:t>The TQM Approach</a:t>
            </a:r>
            <a:endParaRPr lang="en-US" altLang="en-US" b="1"/>
          </a:p>
        </p:txBody>
      </p:sp>
    </p:spTree>
    <p:extLst>
      <p:ext uri="{BB962C8B-B14F-4D97-AF65-F5344CB8AC3E}">
        <p14:creationId xmlns:p14="http://schemas.microsoft.com/office/powerpoint/2010/main" val="2261471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animEffect transition="in" filter="wipe(left)">
                                      <p:cBhvr>
                                        <p:cTn id="7" dur="500"/>
                                        <p:tgtEl>
                                          <p:spTgt spid="430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0">
                                            <p:txEl>
                                              <p:pRg st="1" end="1"/>
                                            </p:txEl>
                                          </p:spTgt>
                                        </p:tgtEl>
                                        <p:attrNameLst>
                                          <p:attrName>style.visibility</p:attrName>
                                        </p:attrNameLst>
                                      </p:cBhvr>
                                      <p:to>
                                        <p:strVal val="visible"/>
                                      </p:to>
                                    </p:set>
                                    <p:animEffect transition="in" filter="wipe(left)">
                                      <p:cBhvr>
                                        <p:cTn id="12" dur="500"/>
                                        <p:tgtEl>
                                          <p:spTgt spid="430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0">
                                            <p:txEl>
                                              <p:pRg st="2" end="2"/>
                                            </p:txEl>
                                          </p:spTgt>
                                        </p:tgtEl>
                                        <p:attrNameLst>
                                          <p:attrName>style.visibility</p:attrName>
                                        </p:attrNameLst>
                                      </p:cBhvr>
                                      <p:to>
                                        <p:strVal val="visible"/>
                                      </p:to>
                                    </p:set>
                                    <p:animEffect transition="in" filter="wipe(left)">
                                      <p:cBhvr>
                                        <p:cTn id="17" dur="500"/>
                                        <p:tgtEl>
                                          <p:spTgt spid="430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10">
                                            <p:txEl>
                                              <p:pRg st="3" end="3"/>
                                            </p:txEl>
                                          </p:spTgt>
                                        </p:tgtEl>
                                        <p:attrNameLst>
                                          <p:attrName>style.visibility</p:attrName>
                                        </p:attrNameLst>
                                      </p:cBhvr>
                                      <p:to>
                                        <p:strVal val="visible"/>
                                      </p:to>
                                    </p:set>
                                    <p:animEffect transition="in" filter="wipe(left)">
                                      <p:cBhvr>
                                        <p:cTn id="22" dur="500"/>
                                        <p:tgtEl>
                                          <p:spTgt spid="430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10">
                                            <p:txEl>
                                              <p:pRg st="4" end="4"/>
                                            </p:txEl>
                                          </p:spTgt>
                                        </p:tgtEl>
                                        <p:attrNameLst>
                                          <p:attrName>style.visibility</p:attrName>
                                        </p:attrNameLst>
                                      </p:cBhvr>
                                      <p:to>
                                        <p:strVal val="visible"/>
                                      </p:to>
                                    </p:set>
                                    <p:animEffect transition="in" filter="wipe(left)">
                                      <p:cBhvr>
                                        <p:cTn id="27" dur="500"/>
                                        <p:tgtEl>
                                          <p:spTgt spid="430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8450716F-0B96-4AC1-8160-E5E76ECBE4F3}" type="slidenum">
              <a:rPr lang="en-US" altLang="en-US"/>
              <a:pPr/>
              <a:t>32</a:t>
            </a:fld>
            <a:endParaRPr lang="en-US" altLang="en-US"/>
          </a:p>
        </p:txBody>
      </p:sp>
      <p:sp>
        <p:nvSpPr>
          <p:cNvPr id="44034" name="Rectangle 2"/>
          <p:cNvSpPr>
            <a:spLocks noGrp="1" noChangeArrowheads="1"/>
          </p:cNvSpPr>
          <p:nvPr>
            <p:ph type="title"/>
          </p:nvPr>
        </p:nvSpPr>
        <p:spPr>
          <a:xfrm>
            <a:off x="762000" y="252413"/>
            <a:ext cx="7772400" cy="608012"/>
          </a:xfrm>
          <a:noFill/>
          <a:ln/>
          <a:extLst>
            <a:ext uri="{909E8E84-426E-40DD-AFC4-6F175D3DCCD1}">
              <a14:hiddenFill xmlns:a14="http://schemas.microsoft.com/office/drawing/2010/main">
                <a:gradFill rotWithShape="0">
                  <a:gsLst>
                    <a:gs pos="0">
                      <a:srgbClr val="F1C5E7">
                        <a:gamma/>
                        <a:shade val="89804"/>
                        <a:invGamma/>
                      </a:srgbClr>
                    </a:gs>
                    <a:gs pos="100000">
                      <a:srgbClr val="F1C5E7"/>
                    </a:gs>
                  </a:gsLst>
                  <a:path path="shape">
                    <a:fillToRect l="50000" t="50000" r="50000" b="50000"/>
                  </a:path>
                </a:gradFill>
              </a14:hiddenFill>
            </a:ext>
            <a:ext uri="{91240B29-F687-4F45-9708-019B960494DF}">
              <a14:hiddenLine xmlns:a14="http://schemas.microsoft.com/office/drawing/2010/main" w="12700">
                <a:solidFill>
                  <a:srgbClr val="701A5C"/>
                </a:solidFill>
                <a:miter lim="800000"/>
                <a:headEnd/>
                <a:tailEnd/>
              </a14:hiddenLine>
            </a:ext>
          </a:extLst>
        </p:spPr>
        <p:txBody>
          <a:bodyPr/>
          <a:lstStyle/>
          <a:p>
            <a:r>
              <a:rPr lang="en-US" altLang="en-US"/>
              <a:t>Elements of TQM</a:t>
            </a:r>
            <a:endParaRPr lang="en-US" altLang="en-US" b="1"/>
          </a:p>
        </p:txBody>
      </p:sp>
      <p:sp>
        <p:nvSpPr>
          <p:cNvPr id="44035" name="Rectangle 3"/>
          <p:cNvSpPr>
            <a:spLocks noGrp="1" noChangeArrowheads="1"/>
          </p:cNvSpPr>
          <p:nvPr>
            <p:ph type="body" idx="1"/>
          </p:nvPr>
        </p:nvSpPr>
        <p:spPr>
          <a:xfrm>
            <a:off x="857250" y="1295400"/>
            <a:ext cx="7891463" cy="5257800"/>
          </a:xfrm>
        </p:spPr>
        <p:txBody>
          <a:bodyPr/>
          <a:lstStyle/>
          <a:p>
            <a:pPr marL="609600" indent="-609600">
              <a:lnSpc>
                <a:spcPct val="90000"/>
              </a:lnSpc>
              <a:buFont typeface="Wingdings" pitchFamily="2" charset="2"/>
              <a:buAutoNum type="arabicPeriod"/>
            </a:pPr>
            <a:r>
              <a:rPr lang="en-US" altLang="en-US"/>
              <a:t>Continual improvement</a:t>
            </a:r>
          </a:p>
          <a:p>
            <a:pPr marL="609600" indent="-609600">
              <a:lnSpc>
                <a:spcPct val="90000"/>
              </a:lnSpc>
              <a:buFont typeface="Wingdings" pitchFamily="2" charset="2"/>
              <a:buAutoNum type="arabicPeriod"/>
            </a:pPr>
            <a:r>
              <a:rPr lang="en-US" altLang="en-US"/>
              <a:t>Competitive benchmarking</a:t>
            </a:r>
          </a:p>
          <a:p>
            <a:pPr marL="609600" indent="-609600">
              <a:lnSpc>
                <a:spcPct val="90000"/>
              </a:lnSpc>
              <a:buFont typeface="Wingdings" pitchFamily="2" charset="2"/>
              <a:buAutoNum type="arabicPeriod"/>
            </a:pPr>
            <a:r>
              <a:rPr lang="en-US" altLang="en-US"/>
              <a:t>Employee empowerment</a:t>
            </a:r>
          </a:p>
          <a:p>
            <a:pPr marL="609600" indent="-609600">
              <a:lnSpc>
                <a:spcPct val="90000"/>
              </a:lnSpc>
              <a:buFont typeface="Wingdings" pitchFamily="2" charset="2"/>
              <a:buAutoNum type="arabicPeriod"/>
            </a:pPr>
            <a:r>
              <a:rPr lang="en-US" altLang="en-US"/>
              <a:t>Team approach</a:t>
            </a:r>
          </a:p>
          <a:p>
            <a:pPr marL="609600" indent="-609600">
              <a:lnSpc>
                <a:spcPct val="90000"/>
              </a:lnSpc>
              <a:buFont typeface="Wingdings" pitchFamily="2" charset="2"/>
              <a:buAutoNum type="arabicPeriod"/>
            </a:pPr>
            <a:r>
              <a:rPr lang="en-US" altLang="en-US"/>
              <a:t>Decisions based on facts</a:t>
            </a:r>
          </a:p>
          <a:p>
            <a:pPr marL="609600" indent="-609600">
              <a:lnSpc>
                <a:spcPct val="90000"/>
              </a:lnSpc>
              <a:buFont typeface="Wingdings" pitchFamily="2" charset="2"/>
              <a:buAutoNum type="arabicPeriod"/>
            </a:pPr>
            <a:r>
              <a:rPr lang="en-US" altLang="en-US"/>
              <a:t>Knowledge of tools</a:t>
            </a:r>
          </a:p>
          <a:p>
            <a:pPr marL="609600" indent="-609600">
              <a:lnSpc>
                <a:spcPct val="90000"/>
              </a:lnSpc>
              <a:buFont typeface="Wingdings" pitchFamily="2" charset="2"/>
              <a:buAutoNum type="arabicPeriod"/>
            </a:pPr>
            <a:r>
              <a:rPr lang="en-US" altLang="en-US"/>
              <a:t>Supplier quality</a:t>
            </a:r>
          </a:p>
          <a:p>
            <a:pPr marL="609600" indent="-609600">
              <a:lnSpc>
                <a:spcPct val="90000"/>
              </a:lnSpc>
              <a:buFont typeface="Wingdings" pitchFamily="2" charset="2"/>
              <a:buAutoNum type="arabicPeriod"/>
            </a:pPr>
            <a:r>
              <a:rPr lang="en-US" altLang="en-US"/>
              <a:t>Champion</a:t>
            </a:r>
          </a:p>
          <a:p>
            <a:pPr marL="609600" indent="-609600">
              <a:lnSpc>
                <a:spcPct val="90000"/>
              </a:lnSpc>
              <a:buFont typeface="Wingdings" pitchFamily="2" charset="2"/>
              <a:buAutoNum type="arabicPeriod"/>
            </a:pPr>
            <a:r>
              <a:rPr lang="en-US" altLang="en-US"/>
              <a:t>Quality at the source</a:t>
            </a:r>
          </a:p>
          <a:p>
            <a:pPr marL="609600" indent="-609600">
              <a:lnSpc>
                <a:spcPct val="90000"/>
              </a:lnSpc>
              <a:buFont typeface="Wingdings" pitchFamily="2" charset="2"/>
              <a:buAutoNum type="arabicPeriod"/>
            </a:pPr>
            <a:r>
              <a:rPr lang="en-US" altLang="en-US"/>
              <a:t>Suppliers</a:t>
            </a:r>
          </a:p>
        </p:txBody>
      </p:sp>
    </p:spTree>
    <p:extLst>
      <p:ext uri="{BB962C8B-B14F-4D97-AF65-F5344CB8AC3E}">
        <p14:creationId xmlns:p14="http://schemas.microsoft.com/office/powerpoint/2010/main" val="7278874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iterate type="wd">
                                    <p:tmPct val="100000"/>
                                  </p:iterate>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3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300" fill="hold"/>
                                        <p:tgtEl>
                                          <p:spTgt spid="4403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iterate type="wd">
                                    <p:tmPct val="100000"/>
                                  </p:iterate>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3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4" dur="300" fill="hold"/>
                                        <p:tgtEl>
                                          <p:spTgt spid="44035">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iterate type="wd">
                                    <p:tmPct val="100000"/>
                                  </p:iterate>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additive="base">
                                        <p:cTn id="19" dur="3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20" dur="300" fill="hold"/>
                                        <p:tgtEl>
                                          <p:spTgt spid="44035">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iterate type="wd">
                                    <p:tmPct val="100000"/>
                                  </p:iterate>
                                  <p:childTnLst>
                                    <p:set>
                                      <p:cBhvr>
                                        <p:cTn id="24" dur="1" fill="hold">
                                          <p:stCondLst>
                                            <p:cond delay="0"/>
                                          </p:stCondLst>
                                        </p:cTn>
                                        <p:tgtEl>
                                          <p:spTgt spid="44035">
                                            <p:txEl>
                                              <p:pRg st="3" end="3"/>
                                            </p:txEl>
                                          </p:spTgt>
                                        </p:tgtEl>
                                        <p:attrNameLst>
                                          <p:attrName>style.visibility</p:attrName>
                                        </p:attrNameLst>
                                      </p:cBhvr>
                                      <p:to>
                                        <p:strVal val="visible"/>
                                      </p:to>
                                    </p:set>
                                    <p:anim calcmode="lin" valueType="num">
                                      <p:cBhvr additive="base">
                                        <p:cTn id="25" dur="3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6" dur="300" fill="hold"/>
                                        <p:tgtEl>
                                          <p:spTgt spid="44035">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iterate type="wd">
                                    <p:tmPct val="100000"/>
                                  </p:iterate>
                                  <p:childTnLst>
                                    <p:set>
                                      <p:cBhvr>
                                        <p:cTn id="30" dur="1" fill="hold">
                                          <p:stCondLst>
                                            <p:cond delay="0"/>
                                          </p:stCondLst>
                                        </p:cTn>
                                        <p:tgtEl>
                                          <p:spTgt spid="44035">
                                            <p:txEl>
                                              <p:pRg st="4" end="4"/>
                                            </p:txEl>
                                          </p:spTgt>
                                        </p:tgtEl>
                                        <p:attrNameLst>
                                          <p:attrName>style.visibility</p:attrName>
                                        </p:attrNameLst>
                                      </p:cBhvr>
                                      <p:to>
                                        <p:strVal val="visible"/>
                                      </p:to>
                                    </p:set>
                                    <p:anim calcmode="lin" valueType="num">
                                      <p:cBhvr additive="base">
                                        <p:cTn id="31" dur="300" fill="hold"/>
                                        <p:tgtEl>
                                          <p:spTgt spid="44035">
                                            <p:txEl>
                                              <p:pRg st="4" end="4"/>
                                            </p:txEl>
                                          </p:spTgt>
                                        </p:tgtEl>
                                        <p:attrNameLst>
                                          <p:attrName>ppt_x</p:attrName>
                                        </p:attrNameLst>
                                      </p:cBhvr>
                                      <p:tavLst>
                                        <p:tav tm="0">
                                          <p:val>
                                            <p:strVal val="#ppt_x"/>
                                          </p:val>
                                        </p:tav>
                                        <p:tav tm="100000">
                                          <p:val>
                                            <p:strVal val="#ppt_x"/>
                                          </p:val>
                                        </p:tav>
                                      </p:tavLst>
                                    </p:anim>
                                    <p:anim calcmode="lin" valueType="num">
                                      <p:cBhvr additive="base">
                                        <p:cTn id="32" dur="300" fill="hold"/>
                                        <p:tgtEl>
                                          <p:spTgt spid="44035">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grpId="0" nodeType="clickEffect">
                                  <p:stCondLst>
                                    <p:cond delay="0"/>
                                  </p:stCondLst>
                                  <p:iterate type="wd">
                                    <p:tmPct val="100000"/>
                                  </p:iterate>
                                  <p:childTnLst>
                                    <p:set>
                                      <p:cBhvr>
                                        <p:cTn id="36" dur="1" fill="hold">
                                          <p:stCondLst>
                                            <p:cond delay="0"/>
                                          </p:stCondLst>
                                        </p:cTn>
                                        <p:tgtEl>
                                          <p:spTgt spid="44035">
                                            <p:txEl>
                                              <p:pRg st="5" end="5"/>
                                            </p:txEl>
                                          </p:spTgt>
                                        </p:tgtEl>
                                        <p:attrNameLst>
                                          <p:attrName>style.visibility</p:attrName>
                                        </p:attrNameLst>
                                      </p:cBhvr>
                                      <p:to>
                                        <p:strVal val="visible"/>
                                      </p:to>
                                    </p:set>
                                    <p:anim calcmode="lin" valueType="num">
                                      <p:cBhvr additive="base">
                                        <p:cTn id="37" dur="300" fill="hold"/>
                                        <p:tgtEl>
                                          <p:spTgt spid="44035">
                                            <p:txEl>
                                              <p:pRg st="5" end="5"/>
                                            </p:txEl>
                                          </p:spTgt>
                                        </p:tgtEl>
                                        <p:attrNameLst>
                                          <p:attrName>ppt_x</p:attrName>
                                        </p:attrNameLst>
                                      </p:cBhvr>
                                      <p:tavLst>
                                        <p:tav tm="0">
                                          <p:val>
                                            <p:strVal val="#ppt_x"/>
                                          </p:val>
                                        </p:tav>
                                        <p:tav tm="100000">
                                          <p:val>
                                            <p:strVal val="#ppt_x"/>
                                          </p:val>
                                        </p:tav>
                                      </p:tavLst>
                                    </p:anim>
                                    <p:anim calcmode="lin" valueType="num">
                                      <p:cBhvr additive="base">
                                        <p:cTn id="38" dur="300" fill="hold"/>
                                        <p:tgtEl>
                                          <p:spTgt spid="44035">
                                            <p:txEl>
                                              <p:pRg st="5" end="5"/>
                                            </p:txEl>
                                          </p:spTgt>
                                        </p:tgtEl>
                                        <p:attrNameLst>
                                          <p:attrName>ppt_y</p:attrName>
                                        </p:attrNameLst>
                                      </p:cBhvr>
                                      <p:tavLst>
                                        <p:tav tm="0">
                                          <p:val>
                                            <p:strVal val="0-#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1" fill="hold" grpId="0" nodeType="clickEffect">
                                  <p:stCondLst>
                                    <p:cond delay="0"/>
                                  </p:stCondLst>
                                  <p:iterate type="wd">
                                    <p:tmPct val="100000"/>
                                  </p:iterate>
                                  <p:childTnLst>
                                    <p:set>
                                      <p:cBhvr>
                                        <p:cTn id="42" dur="1" fill="hold">
                                          <p:stCondLst>
                                            <p:cond delay="0"/>
                                          </p:stCondLst>
                                        </p:cTn>
                                        <p:tgtEl>
                                          <p:spTgt spid="44035">
                                            <p:txEl>
                                              <p:pRg st="6" end="6"/>
                                            </p:txEl>
                                          </p:spTgt>
                                        </p:tgtEl>
                                        <p:attrNameLst>
                                          <p:attrName>style.visibility</p:attrName>
                                        </p:attrNameLst>
                                      </p:cBhvr>
                                      <p:to>
                                        <p:strVal val="visible"/>
                                      </p:to>
                                    </p:set>
                                    <p:anim calcmode="lin" valueType="num">
                                      <p:cBhvr additive="base">
                                        <p:cTn id="43" dur="300" fill="hold"/>
                                        <p:tgtEl>
                                          <p:spTgt spid="44035">
                                            <p:txEl>
                                              <p:pRg st="6" end="6"/>
                                            </p:txEl>
                                          </p:spTgt>
                                        </p:tgtEl>
                                        <p:attrNameLst>
                                          <p:attrName>ppt_x</p:attrName>
                                        </p:attrNameLst>
                                      </p:cBhvr>
                                      <p:tavLst>
                                        <p:tav tm="0">
                                          <p:val>
                                            <p:strVal val="#ppt_x"/>
                                          </p:val>
                                        </p:tav>
                                        <p:tav tm="100000">
                                          <p:val>
                                            <p:strVal val="#ppt_x"/>
                                          </p:val>
                                        </p:tav>
                                      </p:tavLst>
                                    </p:anim>
                                    <p:anim calcmode="lin" valueType="num">
                                      <p:cBhvr additive="base">
                                        <p:cTn id="44" dur="300" fill="hold"/>
                                        <p:tgtEl>
                                          <p:spTgt spid="44035">
                                            <p:txEl>
                                              <p:pRg st="6" end="6"/>
                                            </p:txEl>
                                          </p:spTgt>
                                        </p:tgtEl>
                                        <p:attrNameLst>
                                          <p:attrName>ppt_y</p:attrName>
                                        </p:attrNameLst>
                                      </p:cBhvr>
                                      <p:tavLst>
                                        <p:tav tm="0">
                                          <p:val>
                                            <p:strVal val="0-#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1" fill="hold" grpId="0" nodeType="clickEffect">
                                  <p:stCondLst>
                                    <p:cond delay="0"/>
                                  </p:stCondLst>
                                  <p:iterate type="wd">
                                    <p:tmPct val="100000"/>
                                  </p:iterate>
                                  <p:childTnLst>
                                    <p:set>
                                      <p:cBhvr>
                                        <p:cTn id="48" dur="1" fill="hold">
                                          <p:stCondLst>
                                            <p:cond delay="0"/>
                                          </p:stCondLst>
                                        </p:cTn>
                                        <p:tgtEl>
                                          <p:spTgt spid="44035">
                                            <p:txEl>
                                              <p:pRg st="7" end="7"/>
                                            </p:txEl>
                                          </p:spTgt>
                                        </p:tgtEl>
                                        <p:attrNameLst>
                                          <p:attrName>style.visibility</p:attrName>
                                        </p:attrNameLst>
                                      </p:cBhvr>
                                      <p:to>
                                        <p:strVal val="visible"/>
                                      </p:to>
                                    </p:set>
                                    <p:anim calcmode="lin" valueType="num">
                                      <p:cBhvr additive="base">
                                        <p:cTn id="49" dur="300" fill="hold"/>
                                        <p:tgtEl>
                                          <p:spTgt spid="44035">
                                            <p:txEl>
                                              <p:pRg st="7" end="7"/>
                                            </p:txEl>
                                          </p:spTgt>
                                        </p:tgtEl>
                                        <p:attrNameLst>
                                          <p:attrName>ppt_x</p:attrName>
                                        </p:attrNameLst>
                                      </p:cBhvr>
                                      <p:tavLst>
                                        <p:tav tm="0">
                                          <p:val>
                                            <p:strVal val="#ppt_x"/>
                                          </p:val>
                                        </p:tav>
                                        <p:tav tm="100000">
                                          <p:val>
                                            <p:strVal val="#ppt_x"/>
                                          </p:val>
                                        </p:tav>
                                      </p:tavLst>
                                    </p:anim>
                                    <p:anim calcmode="lin" valueType="num">
                                      <p:cBhvr additive="base">
                                        <p:cTn id="50" dur="300" fill="hold"/>
                                        <p:tgtEl>
                                          <p:spTgt spid="44035">
                                            <p:txEl>
                                              <p:pRg st="7" end="7"/>
                                            </p:txEl>
                                          </p:spTgt>
                                        </p:tgtEl>
                                        <p:attrNameLst>
                                          <p:attrName>ppt_y</p:attrName>
                                        </p:attrNameLst>
                                      </p:cBhvr>
                                      <p:tavLst>
                                        <p:tav tm="0">
                                          <p:val>
                                            <p:strVal val="0-#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1" fill="hold" grpId="0" nodeType="clickEffect">
                                  <p:stCondLst>
                                    <p:cond delay="0"/>
                                  </p:stCondLst>
                                  <p:iterate type="wd">
                                    <p:tmPct val="100000"/>
                                  </p:iterate>
                                  <p:childTnLst>
                                    <p:set>
                                      <p:cBhvr>
                                        <p:cTn id="54" dur="1" fill="hold">
                                          <p:stCondLst>
                                            <p:cond delay="0"/>
                                          </p:stCondLst>
                                        </p:cTn>
                                        <p:tgtEl>
                                          <p:spTgt spid="44035">
                                            <p:txEl>
                                              <p:pRg st="8" end="8"/>
                                            </p:txEl>
                                          </p:spTgt>
                                        </p:tgtEl>
                                        <p:attrNameLst>
                                          <p:attrName>style.visibility</p:attrName>
                                        </p:attrNameLst>
                                      </p:cBhvr>
                                      <p:to>
                                        <p:strVal val="visible"/>
                                      </p:to>
                                    </p:set>
                                    <p:anim calcmode="lin" valueType="num">
                                      <p:cBhvr additive="base">
                                        <p:cTn id="55" dur="300" fill="hold"/>
                                        <p:tgtEl>
                                          <p:spTgt spid="44035">
                                            <p:txEl>
                                              <p:pRg st="8" end="8"/>
                                            </p:txEl>
                                          </p:spTgt>
                                        </p:tgtEl>
                                        <p:attrNameLst>
                                          <p:attrName>ppt_x</p:attrName>
                                        </p:attrNameLst>
                                      </p:cBhvr>
                                      <p:tavLst>
                                        <p:tav tm="0">
                                          <p:val>
                                            <p:strVal val="#ppt_x"/>
                                          </p:val>
                                        </p:tav>
                                        <p:tav tm="100000">
                                          <p:val>
                                            <p:strVal val="#ppt_x"/>
                                          </p:val>
                                        </p:tav>
                                      </p:tavLst>
                                    </p:anim>
                                    <p:anim calcmode="lin" valueType="num">
                                      <p:cBhvr additive="base">
                                        <p:cTn id="56" dur="300" fill="hold"/>
                                        <p:tgtEl>
                                          <p:spTgt spid="44035">
                                            <p:txEl>
                                              <p:pRg st="8" end="8"/>
                                            </p:txEl>
                                          </p:spTgt>
                                        </p:tgtEl>
                                        <p:attrNameLst>
                                          <p:attrName>ppt_y</p:attrName>
                                        </p:attrNameLst>
                                      </p:cBhvr>
                                      <p:tavLst>
                                        <p:tav tm="0">
                                          <p:val>
                                            <p:strVal val="0-#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1" fill="hold" grpId="0" nodeType="clickEffect">
                                  <p:stCondLst>
                                    <p:cond delay="0"/>
                                  </p:stCondLst>
                                  <p:iterate type="wd">
                                    <p:tmPct val="100000"/>
                                  </p:iterate>
                                  <p:childTnLst>
                                    <p:set>
                                      <p:cBhvr>
                                        <p:cTn id="60" dur="1" fill="hold">
                                          <p:stCondLst>
                                            <p:cond delay="0"/>
                                          </p:stCondLst>
                                        </p:cTn>
                                        <p:tgtEl>
                                          <p:spTgt spid="44035">
                                            <p:txEl>
                                              <p:pRg st="9" end="9"/>
                                            </p:txEl>
                                          </p:spTgt>
                                        </p:tgtEl>
                                        <p:attrNameLst>
                                          <p:attrName>style.visibility</p:attrName>
                                        </p:attrNameLst>
                                      </p:cBhvr>
                                      <p:to>
                                        <p:strVal val="visible"/>
                                      </p:to>
                                    </p:set>
                                    <p:anim calcmode="lin" valueType="num">
                                      <p:cBhvr additive="base">
                                        <p:cTn id="61" dur="300" fill="hold"/>
                                        <p:tgtEl>
                                          <p:spTgt spid="44035">
                                            <p:txEl>
                                              <p:pRg st="9" end="9"/>
                                            </p:txEl>
                                          </p:spTgt>
                                        </p:tgtEl>
                                        <p:attrNameLst>
                                          <p:attrName>ppt_x</p:attrName>
                                        </p:attrNameLst>
                                      </p:cBhvr>
                                      <p:tavLst>
                                        <p:tav tm="0">
                                          <p:val>
                                            <p:strVal val="#ppt_x"/>
                                          </p:val>
                                        </p:tav>
                                        <p:tav tm="100000">
                                          <p:val>
                                            <p:strVal val="#ppt_x"/>
                                          </p:val>
                                        </p:tav>
                                      </p:tavLst>
                                    </p:anim>
                                    <p:anim calcmode="lin" valueType="num">
                                      <p:cBhvr additive="base">
                                        <p:cTn id="62" dur="300" fill="hold"/>
                                        <p:tgtEl>
                                          <p:spTgt spid="44035">
                                            <p:txEl>
                                              <p:pRg st="9" end="9"/>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B800FAA5-7424-44C7-B08D-F4C6DF419591}" type="slidenum">
              <a:rPr lang="en-US" altLang="en-US"/>
              <a:pPr/>
              <a:t>33</a:t>
            </a:fld>
            <a:endParaRPr lang="en-US" altLang="en-US"/>
          </a:p>
        </p:txBody>
      </p:sp>
      <p:sp>
        <p:nvSpPr>
          <p:cNvPr id="48130" name="Rectangle 2"/>
          <p:cNvSpPr>
            <a:spLocks noGrp="1" noChangeArrowheads="1"/>
          </p:cNvSpPr>
          <p:nvPr>
            <p:ph type="title"/>
          </p:nvPr>
        </p:nvSpPr>
        <p:spPr>
          <a:xfrm>
            <a:off x="762000" y="139700"/>
            <a:ext cx="7772400" cy="708025"/>
          </a:xfrm>
          <a:noFill/>
          <a:ln/>
          <a:extLst>
            <a:ext uri="{909E8E84-426E-40DD-AFC4-6F175D3DCCD1}">
              <a14:hiddenFill xmlns:a14="http://schemas.microsoft.com/office/drawing/2010/main">
                <a:gradFill rotWithShape="0">
                  <a:gsLst>
                    <a:gs pos="0">
                      <a:srgbClr val="F1C5E7">
                        <a:gamma/>
                        <a:shade val="89804"/>
                        <a:invGamma/>
                      </a:srgbClr>
                    </a:gs>
                    <a:gs pos="100000">
                      <a:srgbClr val="F1C5E7"/>
                    </a:gs>
                  </a:gsLst>
                  <a:path path="shape">
                    <a:fillToRect l="50000" t="50000" r="50000" b="50000"/>
                  </a:path>
                </a:gradFill>
              </a14:hiddenFill>
            </a:ext>
            <a:ext uri="{91240B29-F687-4F45-9708-019B960494DF}">
              <a14:hiddenLine xmlns:a14="http://schemas.microsoft.com/office/drawing/2010/main" w="12700">
                <a:solidFill>
                  <a:srgbClr val="701A5C"/>
                </a:solidFill>
                <a:miter lim="800000"/>
                <a:headEnd/>
                <a:tailEnd/>
              </a14:hiddenLine>
            </a:ext>
          </a:extLst>
        </p:spPr>
        <p:txBody>
          <a:bodyPr/>
          <a:lstStyle/>
          <a:p>
            <a:r>
              <a:rPr lang="en-US" altLang="en-US"/>
              <a:t>Quality at the Source</a:t>
            </a:r>
            <a:endParaRPr lang="en-US" altLang="en-US" b="1"/>
          </a:p>
        </p:txBody>
      </p:sp>
      <p:sp>
        <p:nvSpPr>
          <p:cNvPr id="48131" name="Rectangle 3"/>
          <p:cNvSpPr>
            <a:spLocks noGrp="1" noChangeArrowheads="1"/>
          </p:cNvSpPr>
          <p:nvPr>
            <p:ph type="body" idx="1"/>
          </p:nvPr>
        </p:nvSpPr>
        <p:spPr>
          <a:xfrm>
            <a:off x="1062038" y="2847975"/>
            <a:ext cx="6589712" cy="1973263"/>
          </a:xfrm>
        </p:spPr>
        <p:txBody>
          <a:bodyPr>
            <a:normAutofit/>
          </a:bodyPr>
          <a:lstStyle/>
          <a:p>
            <a:pPr marL="0" indent="0" algn="ctr">
              <a:buFont typeface="Wingdings" pitchFamily="2" charset="2"/>
              <a:buNone/>
            </a:pPr>
            <a:endParaRPr lang="en-US" altLang="en-US" dirty="0" smtClean="0"/>
          </a:p>
          <a:p>
            <a:pPr marL="0" indent="0" algn="ctr">
              <a:buFont typeface="Wingdings" pitchFamily="2" charset="2"/>
              <a:buNone/>
            </a:pPr>
            <a:r>
              <a:rPr lang="en-US" altLang="en-US" dirty="0" smtClean="0"/>
              <a:t>The </a:t>
            </a:r>
            <a:r>
              <a:rPr lang="en-US" altLang="en-US" dirty="0"/>
              <a:t>philosophy of making each worker responsible for the quality of his or her work.</a:t>
            </a:r>
          </a:p>
        </p:txBody>
      </p:sp>
      <p:grpSp>
        <p:nvGrpSpPr>
          <p:cNvPr id="48132" name="Group 4"/>
          <p:cNvGrpSpPr>
            <a:grpSpLocks/>
          </p:cNvGrpSpPr>
          <p:nvPr/>
        </p:nvGrpSpPr>
        <p:grpSpPr bwMode="auto">
          <a:xfrm>
            <a:off x="997867" y="1606265"/>
            <a:ext cx="1524000" cy="990600"/>
            <a:chOff x="1432" y="1256"/>
            <a:chExt cx="1392" cy="1008"/>
          </a:xfrm>
        </p:grpSpPr>
        <p:sp>
          <p:nvSpPr>
            <p:cNvPr id="48133" name="Freeform 5"/>
            <p:cNvSpPr>
              <a:spLocks/>
            </p:cNvSpPr>
            <p:nvPr/>
          </p:nvSpPr>
          <p:spPr bwMode="auto">
            <a:xfrm>
              <a:off x="1432" y="1400"/>
              <a:ext cx="864" cy="672"/>
            </a:xfrm>
            <a:custGeom>
              <a:avLst/>
              <a:gdLst>
                <a:gd name="T0" fmla="*/ 0 w 864"/>
                <a:gd name="T1" fmla="*/ 0 h 672"/>
                <a:gd name="T2" fmla="*/ 864 w 864"/>
                <a:gd name="T3" fmla="*/ 528 h 672"/>
                <a:gd name="T4" fmla="*/ 864 w 864"/>
                <a:gd name="T5" fmla="*/ 672 h 672"/>
                <a:gd name="T6" fmla="*/ 0 w 864"/>
                <a:gd name="T7" fmla="*/ 144 h 672"/>
                <a:gd name="T8" fmla="*/ 0 w 864"/>
                <a:gd name="T9" fmla="*/ 0 h 672"/>
              </a:gdLst>
              <a:ahLst/>
              <a:cxnLst>
                <a:cxn ang="0">
                  <a:pos x="T0" y="T1"/>
                </a:cxn>
                <a:cxn ang="0">
                  <a:pos x="T2" y="T3"/>
                </a:cxn>
                <a:cxn ang="0">
                  <a:pos x="T4" y="T5"/>
                </a:cxn>
                <a:cxn ang="0">
                  <a:pos x="T6" y="T7"/>
                </a:cxn>
                <a:cxn ang="0">
                  <a:pos x="T8" y="T9"/>
                </a:cxn>
              </a:cxnLst>
              <a:rect l="0" t="0" r="r" b="b"/>
              <a:pathLst>
                <a:path w="864" h="672">
                  <a:moveTo>
                    <a:pt x="0" y="0"/>
                  </a:moveTo>
                  <a:lnTo>
                    <a:pt x="864" y="528"/>
                  </a:lnTo>
                  <a:lnTo>
                    <a:pt x="864" y="672"/>
                  </a:lnTo>
                  <a:lnTo>
                    <a:pt x="0" y="144"/>
                  </a:lnTo>
                  <a:lnTo>
                    <a:pt x="0" y="0"/>
                  </a:lnTo>
                  <a:close/>
                </a:path>
              </a:pathLst>
            </a:custGeom>
            <a:solidFill>
              <a:srgbClr val="008080"/>
            </a:solidFill>
            <a:ln w="12700">
              <a:solidFill>
                <a:srgbClr val="000000"/>
              </a:solidFill>
              <a:prstDash val="solid"/>
              <a:round/>
              <a:headEnd/>
              <a:tailEnd/>
            </a:ln>
          </p:spPr>
          <p:txBody>
            <a:bodyPr/>
            <a:lstStyle/>
            <a:p>
              <a:endParaRPr lang="en-IN"/>
            </a:p>
          </p:txBody>
        </p:sp>
        <p:sp>
          <p:nvSpPr>
            <p:cNvPr id="48134" name="Freeform 6"/>
            <p:cNvSpPr>
              <a:spLocks/>
            </p:cNvSpPr>
            <p:nvPr/>
          </p:nvSpPr>
          <p:spPr bwMode="auto">
            <a:xfrm>
              <a:off x="1432" y="1256"/>
              <a:ext cx="1392" cy="864"/>
            </a:xfrm>
            <a:custGeom>
              <a:avLst/>
              <a:gdLst>
                <a:gd name="T0" fmla="*/ 0 w 1392"/>
                <a:gd name="T1" fmla="*/ 144 h 864"/>
                <a:gd name="T2" fmla="*/ 336 w 1392"/>
                <a:gd name="T3" fmla="*/ 0 h 864"/>
                <a:gd name="T4" fmla="*/ 1152 w 1392"/>
                <a:gd name="T5" fmla="*/ 480 h 864"/>
                <a:gd name="T6" fmla="*/ 1392 w 1392"/>
                <a:gd name="T7" fmla="*/ 336 h 864"/>
                <a:gd name="T8" fmla="*/ 1392 w 1392"/>
                <a:gd name="T9" fmla="*/ 768 h 864"/>
                <a:gd name="T10" fmla="*/ 576 w 1392"/>
                <a:gd name="T11" fmla="*/ 864 h 864"/>
                <a:gd name="T12" fmla="*/ 864 w 1392"/>
                <a:gd name="T13" fmla="*/ 672 h 864"/>
                <a:gd name="T14" fmla="*/ 0 w 1392"/>
                <a:gd name="T15" fmla="*/ 144 h 8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2" h="864">
                  <a:moveTo>
                    <a:pt x="0" y="144"/>
                  </a:moveTo>
                  <a:lnTo>
                    <a:pt x="336" y="0"/>
                  </a:lnTo>
                  <a:lnTo>
                    <a:pt x="1152" y="480"/>
                  </a:lnTo>
                  <a:lnTo>
                    <a:pt x="1392" y="336"/>
                  </a:lnTo>
                  <a:lnTo>
                    <a:pt x="1392" y="768"/>
                  </a:lnTo>
                  <a:lnTo>
                    <a:pt x="576" y="864"/>
                  </a:lnTo>
                  <a:lnTo>
                    <a:pt x="864" y="672"/>
                  </a:lnTo>
                  <a:lnTo>
                    <a:pt x="0" y="144"/>
                  </a:lnTo>
                  <a:close/>
                </a:path>
              </a:pathLst>
            </a:custGeom>
            <a:solidFill>
              <a:srgbClr val="00FFFF"/>
            </a:solidFill>
            <a:ln w="12700">
              <a:solidFill>
                <a:srgbClr val="000000"/>
              </a:solidFill>
              <a:prstDash val="solid"/>
              <a:round/>
              <a:headEnd/>
              <a:tailEnd/>
            </a:ln>
          </p:spPr>
          <p:txBody>
            <a:bodyPr/>
            <a:lstStyle/>
            <a:p>
              <a:endParaRPr lang="en-IN"/>
            </a:p>
          </p:txBody>
        </p:sp>
        <p:sp>
          <p:nvSpPr>
            <p:cNvPr id="48135" name="Freeform 7"/>
            <p:cNvSpPr>
              <a:spLocks/>
            </p:cNvSpPr>
            <p:nvPr/>
          </p:nvSpPr>
          <p:spPr bwMode="auto">
            <a:xfrm>
              <a:off x="2008" y="2024"/>
              <a:ext cx="816" cy="240"/>
            </a:xfrm>
            <a:custGeom>
              <a:avLst/>
              <a:gdLst>
                <a:gd name="T0" fmla="*/ 0 w 816"/>
                <a:gd name="T1" fmla="*/ 96 h 240"/>
                <a:gd name="T2" fmla="*/ 816 w 816"/>
                <a:gd name="T3" fmla="*/ 0 h 240"/>
                <a:gd name="T4" fmla="*/ 816 w 816"/>
                <a:gd name="T5" fmla="*/ 144 h 240"/>
                <a:gd name="T6" fmla="*/ 0 w 816"/>
                <a:gd name="T7" fmla="*/ 240 h 240"/>
                <a:gd name="T8" fmla="*/ 0 w 816"/>
                <a:gd name="T9" fmla="*/ 96 h 240"/>
              </a:gdLst>
              <a:ahLst/>
              <a:cxnLst>
                <a:cxn ang="0">
                  <a:pos x="T0" y="T1"/>
                </a:cxn>
                <a:cxn ang="0">
                  <a:pos x="T2" y="T3"/>
                </a:cxn>
                <a:cxn ang="0">
                  <a:pos x="T4" y="T5"/>
                </a:cxn>
                <a:cxn ang="0">
                  <a:pos x="T6" y="T7"/>
                </a:cxn>
                <a:cxn ang="0">
                  <a:pos x="T8" y="T9"/>
                </a:cxn>
              </a:cxnLst>
              <a:rect l="0" t="0" r="r" b="b"/>
              <a:pathLst>
                <a:path w="816" h="240">
                  <a:moveTo>
                    <a:pt x="0" y="96"/>
                  </a:moveTo>
                  <a:lnTo>
                    <a:pt x="816" y="0"/>
                  </a:lnTo>
                  <a:lnTo>
                    <a:pt x="816" y="144"/>
                  </a:lnTo>
                  <a:lnTo>
                    <a:pt x="0" y="240"/>
                  </a:lnTo>
                  <a:lnTo>
                    <a:pt x="0" y="96"/>
                  </a:lnTo>
                  <a:close/>
                </a:path>
              </a:pathLst>
            </a:custGeom>
            <a:solidFill>
              <a:srgbClr val="008080"/>
            </a:solidFill>
            <a:ln w="12700">
              <a:solidFill>
                <a:srgbClr val="000000"/>
              </a:solidFill>
              <a:prstDash val="solid"/>
              <a:round/>
              <a:headEnd/>
              <a:tailEnd/>
            </a:ln>
          </p:spPr>
          <p:txBody>
            <a:bodyPr/>
            <a:lstStyle/>
            <a:p>
              <a:endParaRPr lang="en-IN"/>
            </a:p>
          </p:txBody>
        </p:sp>
      </p:grpSp>
      <p:grpSp>
        <p:nvGrpSpPr>
          <p:cNvPr id="48136" name="Group 8"/>
          <p:cNvGrpSpPr>
            <a:grpSpLocks/>
          </p:cNvGrpSpPr>
          <p:nvPr/>
        </p:nvGrpSpPr>
        <p:grpSpPr bwMode="auto">
          <a:xfrm>
            <a:off x="6438176" y="1590902"/>
            <a:ext cx="1828800" cy="1219200"/>
            <a:chOff x="3024" y="1256"/>
            <a:chExt cx="1392" cy="1008"/>
          </a:xfrm>
        </p:grpSpPr>
        <p:sp>
          <p:nvSpPr>
            <p:cNvPr id="48137" name="Freeform 9"/>
            <p:cNvSpPr>
              <a:spLocks/>
            </p:cNvSpPr>
            <p:nvPr/>
          </p:nvSpPr>
          <p:spPr bwMode="auto">
            <a:xfrm>
              <a:off x="3552" y="1400"/>
              <a:ext cx="864" cy="672"/>
            </a:xfrm>
            <a:custGeom>
              <a:avLst/>
              <a:gdLst>
                <a:gd name="T0" fmla="*/ 864 w 864"/>
                <a:gd name="T1" fmla="*/ 0 h 672"/>
                <a:gd name="T2" fmla="*/ 0 w 864"/>
                <a:gd name="T3" fmla="*/ 528 h 672"/>
                <a:gd name="T4" fmla="*/ 0 w 864"/>
                <a:gd name="T5" fmla="*/ 672 h 672"/>
                <a:gd name="T6" fmla="*/ 864 w 864"/>
                <a:gd name="T7" fmla="*/ 144 h 672"/>
                <a:gd name="T8" fmla="*/ 864 w 864"/>
                <a:gd name="T9" fmla="*/ 0 h 672"/>
              </a:gdLst>
              <a:ahLst/>
              <a:cxnLst>
                <a:cxn ang="0">
                  <a:pos x="T0" y="T1"/>
                </a:cxn>
                <a:cxn ang="0">
                  <a:pos x="T2" y="T3"/>
                </a:cxn>
                <a:cxn ang="0">
                  <a:pos x="T4" y="T5"/>
                </a:cxn>
                <a:cxn ang="0">
                  <a:pos x="T6" y="T7"/>
                </a:cxn>
                <a:cxn ang="0">
                  <a:pos x="T8" y="T9"/>
                </a:cxn>
              </a:cxnLst>
              <a:rect l="0" t="0" r="r" b="b"/>
              <a:pathLst>
                <a:path w="864" h="672">
                  <a:moveTo>
                    <a:pt x="864" y="0"/>
                  </a:moveTo>
                  <a:lnTo>
                    <a:pt x="0" y="528"/>
                  </a:lnTo>
                  <a:lnTo>
                    <a:pt x="0" y="672"/>
                  </a:lnTo>
                  <a:lnTo>
                    <a:pt x="864" y="144"/>
                  </a:lnTo>
                  <a:lnTo>
                    <a:pt x="864" y="0"/>
                  </a:lnTo>
                  <a:close/>
                </a:path>
              </a:pathLst>
            </a:custGeom>
            <a:solidFill>
              <a:srgbClr val="008080"/>
            </a:solidFill>
            <a:ln w="12700">
              <a:solidFill>
                <a:srgbClr val="000000"/>
              </a:solidFill>
              <a:prstDash val="solid"/>
              <a:round/>
              <a:headEnd/>
              <a:tailEnd/>
            </a:ln>
          </p:spPr>
          <p:txBody>
            <a:bodyPr/>
            <a:lstStyle/>
            <a:p>
              <a:endParaRPr lang="en-IN"/>
            </a:p>
          </p:txBody>
        </p:sp>
        <p:sp>
          <p:nvSpPr>
            <p:cNvPr id="48138" name="Freeform 10"/>
            <p:cNvSpPr>
              <a:spLocks/>
            </p:cNvSpPr>
            <p:nvPr/>
          </p:nvSpPr>
          <p:spPr bwMode="auto">
            <a:xfrm>
              <a:off x="3024" y="1256"/>
              <a:ext cx="1392" cy="864"/>
            </a:xfrm>
            <a:custGeom>
              <a:avLst/>
              <a:gdLst>
                <a:gd name="T0" fmla="*/ 1392 w 1392"/>
                <a:gd name="T1" fmla="*/ 144 h 864"/>
                <a:gd name="T2" fmla="*/ 1056 w 1392"/>
                <a:gd name="T3" fmla="*/ 0 h 864"/>
                <a:gd name="T4" fmla="*/ 240 w 1392"/>
                <a:gd name="T5" fmla="*/ 480 h 864"/>
                <a:gd name="T6" fmla="*/ 0 w 1392"/>
                <a:gd name="T7" fmla="*/ 336 h 864"/>
                <a:gd name="T8" fmla="*/ 0 w 1392"/>
                <a:gd name="T9" fmla="*/ 768 h 864"/>
                <a:gd name="T10" fmla="*/ 816 w 1392"/>
                <a:gd name="T11" fmla="*/ 864 h 864"/>
                <a:gd name="T12" fmla="*/ 528 w 1392"/>
                <a:gd name="T13" fmla="*/ 672 h 864"/>
                <a:gd name="T14" fmla="*/ 1392 w 1392"/>
                <a:gd name="T15" fmla="*/ 144 h 8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2" h="864">
                  <a:moveTo>
                    <a:pt x="1392" y="144"/>
                  </a:moveTo>
                  <a:lnTo>
                    <a:pt x="1056" y="0"/>
                  </a:lnTo>
                  <a:lnTo>
                    <a:pt x="240" y="480"/>
                  </a:lnTo>
                  <a:lnTo>
                    <a:pt x="0" y="336"/>
                  </a:lnTo>
                  <a:lnTo>
                    <a:pt x="0" y="768"/>
                  </a:lnTo>
                  <a:lnTo>
                    <a:pt x="816" y="864"/>
                  </a:lnTo>
                  <a:lnTo>
                    <a:pt x="528" y="672"/>
                  </a:lnTo>
                  <a:lnTo>
                    <a:pt x="1392" y="144"/>
                  </a:lnTo>
                  <a:close/>
                </a:path>
              </a:pathLst>
            </a:custGeom>
            <a:solidFill>
              <a:srgbClr val="00FFFF"/>
            </a:solidFill>
            <a:ln w="12700">
              <a:solidFill>
                <a:srgbClr val="000000"/>
              </a:solidFill>
              <a:prstDash val="solid"/>
              <a:round/>
              <a:headEnd/>
              <a:tailEnd/>
            </a:ln>
          </p:spPr>
          <p:txBody>
            <a:bodyPr/>
            <a:lstStyle/>
            <a:p>
              <a:endParaRPr lang="en-IN"/>
            </a:p>
          </p:txBody>
        </p:sp>
        <p:sp>
          <p:nvSpPr>
            <p:cNvPr id="48139" name="Freeform 11"/>
            <p:cNvSpPr>
              <a:spLocks/>
            </p:cNvSpPr>
            <p:nvPr/>
          </p:nvSpPr>
          <p:spPr bwMode="auto">
            <a:xfrm>
              <a:off x="3024" y="2024"/>
              <a:ext cx="816" cy="240"/>
            </a:xfrm>
            <a:custGeom>
              <a:avLst/>
              <a:gdLst>
                <a:gd name="T0" fmla="*/ 816 w 816"/>
                <a:gd name="T1" fmla="*/ 96 h 240"/>
                <a:gd name="T2" fmla="*/ 0 w 816"/>
                <a:gd name="T3" fmla="*/ 0 h 240"/>
                <a:gd name="T4" fmla="*/ 0 w 816"/>
                <a:gd name="T5" fmla="*/ 144 h 240"/>
                <a:gd name="T6" fmla="*/ 816 w 816"/>
                <a:gd name="T7" fmla="*/ 240 h 240"/>
                <a:gd name="T8" fmla="*/ 816 w 816"/>
                <a:gd name="T9" fmla="*/ 96 h 240"/>
              </a:gdLst>
              <a:ahLst/>
              <a:cxnLst>
                <a:cxn ang="0">
                  <a:pos x="T0" y="T1"/>
                </a:cxn>
                <a:cxn ang="0">
                  <a:pos x="T2" y="T3"/>
                </a:cxn>
                <a:cxn ang="0">
                  <a:pos x="T4" y="T5"/>
                </a:cxn>
                <a:cxn ang="0">
                  <a:pos x="T6" y="T7"/>
                </a:cxn>
                <a:cxn ang="0">
                  <a:pos x="T8" y="T9"/>
                </a:cxn>
              </a:cxnLst>
              <a:rect l="0" t="0" r="r" b="b"/>
              <a:pathLst>
                <a:path w="816" h="240">
                  <a:moveTo>
                    <a:pt x="816" y="96"/>
                  </a:moveTo>
                  <a:lnTo>
                    <a:pt x="0" y="0"/>
                  </a:lnTo>
                  <a:lnTo>
                    <a:pt x="0" y="144"/>
                  </a:lnTo>
                  <a:lnTo>
                    <a:pt x="816" y="240"/>
                  </a:lnTo>
                  <a:lnTo>
                    <a:pt x="816" y="96"/>
                  </a:lnTo>
                  <a:close/>
                </a:path>
              </a:pathLst>
            </a:custGeom>
            <a:solidFill>
              <a:srgbClr val="008080"/>
            </a:solidFill>
            <a:ln w="12700">
              <a:solidFill>
                <a:srgbClr val="000000"/>
              </a:solidFill>
              <a:prstDash val="solid"/>
              <a:round/>
              <a:headEnd/>
              <a:tailEnd/>
            </a:ln>
          </p:spPr>
          <p:txBody>
            <a:bodyPr/>
            <a:lstStyle/>
            <a:p>
              <a:endParaRPr lang="en-IN"/>
            </a:p>
          </p:txBody>
        </p:sp>
      </p:grpSp>
      <p:grpSp>
        <p:nvGrpSpPr>
          <p:cNvPr id="48140" name="Group 12"/>
          <p:cNvGrpSpPr>
            <a:grpSpLocks/>
          </p:cNvGrpSpPr>
          <p:nvPr/>
        </p:nvGrpSpPr>
        <p:grpSpPr bwMode="auto">
          <a:xfrm>
            <a:off x="769267" y="4306911"/>
            <a:ext cx="1752600" cy="1827213"/>
            <a:chOff x="1112" y="2288"/>
            <a:chExt cx="1727" cy="1535"/>
          </a:xfrm>
        </p:grpSpPr>
        <p:sp>
          <p:nvSpPr>
            <p:cNvPr id="48141" name="Freeform 13"/>
            <p:cNvSpPr>
              <a:spLocks/>
            </p:cNvSpPr>
            <p:nvPr/>
          </p:nvSpPr>
          <p:spPr bwMode="auto">
            <a:xfrm>
              <a:off x="1495" y="2764"/>
              <a:ext cx="1104" cy="1059"/>
            </a:xfrm>
            <a:custGeom>
              <a:avLst/>
              <a:gdLst>
                <a:gd name="T0" fmla="*/ 0 w 1104"/>
                <a:gd name="T1" fmla="*/ 795 h 1059"/>
                <a:gd name="T2" fmla="*/ 0 w 1104"/>
                <a:gd name="T3" fmla="*/ 1059 h 1059"/>
                <a:gd name="T4" fmla="*/ 1104 w 1104"/>
                <a:gd name="T5" fmla="*/ 159 h 1059"/>
                <a:gd name="T6" fmla="*/ 1104 w 1104"/>
                <a:gd name="T7" fmla="*/ 0 h 1059"/>
                <a:gd name="T8" fmla="*/ 0 w 1104"/>
                <a:gd name="T9" fmla="*/ 795 h 1059"/>
              </a:gdLst>
              <a:ahLst/>
              <a:cxnLst>
                <a:cxn ang="0">
                  <a:pos x="T0" y="T1"/>
                </a:cxn>
                <a:cxn ang="0">
                  <a:pos x="T2" y="T3"/>
                </a:cxn>
                <a:cxn ang="0">
                  <a:pos x="T4" y="T5"/>
                </a:cxn>
                <a:cxn ang="0">
                  <a:pos x="T6" y="T7"/>
                </a:cxn>
                <a:cxn ang="0">
                  <a:pos x="T8" y="T9"/>
                </a:cxn>
              </a:cxnLst>
              <a:rect l="0" t="0" r="r" b="b"/>
              <a:pathLst>
                <a:path w="1104" h="1059">
                  <a:moveTo>
                    <a:pt x="0" y="795"/>
                  </a:moveTo>
                  <a:lnTo>
                    <a:pt x="0" y="1059"/>
                  </a:lnTo>
                  <a:lnTo>
                    <a:pt x="1104" y="159"/>
                  </a:lnTo>
                  <a:lnTo>
                    <a:pt x="1104" y="0"/>
                  </a:lnTo>
                  <a:lnTo>
                    <a:pt x="0" y="795"/>
                  </a:lnTo>
                  <a:close/>
                </a:path>
              </a:pathLst>
            </a:custGeom>
            <a:solidFill>
              <a:srgbClr val="008080"/>
            </a:solidFill>
            <a:ln w="12700">
              <a:solidFill>
                <a:srgbClr val="000000"/>
              </a:solidFill>
              <a:prstDash val="solid"/>
              <a:round/>
              <a:headEnd/>
              <a:tailEnd/>
            </a:ln>
          </p:spPr>
          <p:txBody>
            <a:bodyPr/>
            <a:lstStyle/>
            <a:p>
              <a:endParaRPr lang="en-IN"/>
            </a:p>
          </p:txBody>
        </p:sp>
        <p:sp>
          <p:nvSpPr>
            <p:cNvPr id="48142" name="Freeform 14"/>
            <p:cNvSpPr>
              <a:spLocks/>
            </p:cNvSpPr>
            <p:nvPr/>
          </p:nvSpPr>
          <p:spPr bwMode="auto">
            <a:xfrm>
              <a:off x="2023" y="2288"/>
              <a:ext cx="240" cy="317"/>
            </a:xfrm>
            <a:custGeom>
              <a:avLst/>
              <a:gdLst>
                <a:gd name="T0" fmla="*/ 240 w 240"/>
                <a:gd name="T1" fmla="*/ 158 h 317"/>
                <a:gd name="T2" fmla="*/ 240 w 240"/>
                <a:gd name="T3" fmla="*/ 317 h 317"/>
                <a:gd name="T4" fmla="*/ 0 w 240"/>
                <a:gd name="T5" fmla="*/ 123 h 317"/>
                <a:gd name="T6" fmla="*/ 0 w 240"/>
                <a:gd name="T7" fmla="*/ 0 h 317"/>
                <a:gd name="T8" fmla="*/ 240 w 240"/>
                <a:gd name="T9" fmla="*/ 158 h 317"/>
              </a:gdLst>
              <a:ahLst/>
              <a:cxnLst>
                <a:cxn ang="0">
                  <a:pos x="T0" y="T1"/>
                </a:cxn>
                <a:cxn ang="0">
                  <a:pos x="T2" y="T3"/>
                </a:cxn>
                <a:cxn ang="0">
                  <a:pos x="T4" y="T5"/>
                </a:cxn>
                <a:cxn ang="0">
                  <a:pos x="T6" y="T7"/>
                </a:cxn>
                <a:cxn ang="0">
                  <a:pos x="T8" y="T9"/>
                </a:cxn>
              </a:cxnLst>
              <a:rect l="0" t="0" r="r" b="b"/>
              <a:pathLst>
                <a:path w="240" h="317">
                  <a:moveTo>
                    <a:pt x="240" y="158"/>
                  </a:moveTo>
                  <a:lnTo>
                    <a:pt x="240" y="317"/>
                  </a:lnTo>
                  <a:lnTo>
                    <a:pt x="0" y="123"/>
                  </a:lnTo>
                  <a:lnTo>
                    <a:pt x="0" y="0"/>
                  </a:lnTo>
                  <a:lnTo>
                    <a:pt x="240" y="158"/>
                  </a:lnTo>
                  <a:close/>
                </a:path>
              </a:pathLst>
            </a:custGeom>
            <a:solidFill>
              <a:srgbClr val="008080"/>
            </a:solidFill>
            <a:ln w="12700">
              <a:solidFill>
                <a:srgbClr val="000000"/>
              </a:solidFill>
              <a:prstDash val="solid"/>
              <a:round/>
              <a:headEnd/>
              <a:tailEnd/>
            </a:ln>
          </p:spPr>
          <p:txBody>
            <a:bodyPr/>
            <a:lstStyle/>
            <a:p>
              <a:endParaRPr lang="en-IN"/>
            </a:p>
          </p:txBody>
        </p:sp>
        <p:sp>
          <p:nvSpPr>
            <p:cNvPr id="48143" name="Freeform 15"/>
            <p:cNvSpPr>
              <a:spLocks/>
            </p:cNvSpPr>
            <p:nvPr/>
          </p:nvSpPr>
          <p:spPr bwMode="auto">
            <a:xfrm>
              <a:off x="1112" y="2288"/>
              <a:ext cx="1727" cy="1271"/>
            </a:xfrm>
            <a:custGeom>
              <a:avLst/>
              <a:gdLst>
                <a:gd name="T0" fmla="*/ 0 w 1727"/>
                <a:gd name="T1" fmla="*/ 794 h 1271"/>
                <a:gd name="T2" fmla="*/ 1151 w 1727"/>
                <a:gd name="T3" fmla="*/ 158 h 1271"/>
                <a:gd name="T4" fmla="*/ 911 w 1727"/>
                <a:gd name="T5" fmla="*/ 0 h 1271"/>
                <a:gd name="T6" fmla="*/ 1679 w 1727"/>
                <a:gd name="T7" fmla="*/ 52 h 1271"/>
                <a:gd name="T8" fmla="*/ 1727 w 1727"/>
                <a:gd name="T9" fmla="*/ 688 h 1271"/>
                <a:gd name="T10" fmla="*/ 1487 w 1727"/>
                <a:gd name="T11" fmla="*/ 476 h 1271"/>
                <a:gd name="T12" fmla="*/ 383 w 1727"/>
                <a:gd name="T13" fmla="*/ 1271 h 1271"/>
                <a:gd name="T14" fmla="*/ 0 w 1727"/>
                <a:gd name="T15" fmla="*/ 794 h 1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7" h="1271">
                  <a:moveTo>
                    <a:pt x="0" y="794"/>
                  </a:moveTo>
                  <a:lnTo>
                    <a:pt x="1151" y="158"/>
                  </a:lnTo>
                  <a:lnTo>
                    <a:pt x="911" y="0"/>
                  </a:lnTo>
                  <a:lnTo>
                    <a:pt x="1679" y="52"/>
                  </a:lnTo>
                  <a:lnTo>
                    <a:pt x="1727" y="688"/>
                  </a:lnTo>
                  <a:lnTo>
                    <a:pt x="1487" y="476"/>
                  </a:lnTo>
                  <a:lnTo>
                    <a:pt x="383" y="1271"/>
                  </a:lnTo>
                  <a:lnTo>
                    <a:pt x="0" y="794"/>
                  </a:lnTo>
                  <a:close/>
                </a:path>
              </a:pathLst>
            </a:custGeom>
            <a:solidFill>
              <a:srgbClr val="00FFFF"/>
            </a:solidFill>
            <a:ln w="12700">
              <a:solidFill>
                <a:srgbClr val="000000"/>
              </a:solidFill>
              <a:prstDash val="solid"/>
              <a:round/>
              <a:headEnd/>
              <a:tailEnd/>
            </a:ln>
          </p:spPr>
          <p:txBody>
            <a:bodyPr/>
            <a:lstStyle/>
            <a:p>
              <a:endParaRPr lang="en-IN"/>
            </a:p>
          </p:txBody>
        </p:sp>
        <p:sp>
          <p:nvSpPr>
            <p:cNvPr id="48144" name="Freeform 16"/>
            <p:cNvSpPr>
              <a:spLocks/>
            </p:cNvSpPr>
            <p:nvPr/>
          </p:nvSpPr>
          <p:spPr bwMode="auto">
            <a:xfrm>
              <a:off x="1112" y="3082"/>
              <a:ext cx="383" cy="741"/>
            </a:xfrm>
            <a:custGeom>
              <a:avLst/>
              <a:gdLst>
                <a:gd name="T0" fmla="*/ 0 w 383"/>
                <a:gd name="T1" fmla="*/ 0 h 741"/>
                <a:gd name="T2" fmla="*/ 383 w 383"/>
                <a:gd name="T3" fmla="*/ 477 h 741"/>
                <a:gd name="T4" fmla="*/ 383 w 383"/>
                <a:gd name="T5" fmla="*/ 741 h 741"/>
                <a:gd name="T6" fmla="*/ 0 w 383"/>
                <a:gd name="T7" fmla="*/ 238 h 741"/>
                <a:gd name="T8" fmla="*/ 0 w 383"/>
                <a:gd name="T9" fmla="*/ 0 h 741"/>
              </a:gdLst>
              <a:ahLst/>
              <a:cxnLst>
                <a:cxn ang="0">
                  <a:pos x="T0" y="T1"/>
                </a:cxn>
                <a:cxn ang="0">
                  <a:pos x="T2" y="T3"/>
                </a:cxn>
                <a:cxn ang="0">
                  <a:pos x="T4" y="T5"/>
                </a:cxn>
                <a:cxn ang="0">
                  <a:pos x="T6" y="T7"/>
                </a:cxn>
                <a:cxn ang="0">
                  <a:pos x="T8" y="T9"/>
                </a:cxn>
              </a:cxnLst>
              <a:rect l="0" t="0" r="r" b="b"/>
              <a:pathLst>
                <a:path w="383" h="741">
                  <a:moveTo>
                    <a:pt x="0" y="0"/>
                  </a:moveTo>
                  <a:lnTo>
                    <a:pt x="383" y="477"/>
                  </a:lnTo>
                  <a:lnTo>
                    <a:pt x="383" y="741"/>
                  </a:lnTo>
                  <a:lnTo>
                    <a:pt x="0" y="238"/>
                  </a:lnTo>
                  <a:lnTo>
                    <a:pt x="0" y="0"/>
                  </a:lnTo>
                  <a:close/>
                </a:path>
              </a:pathLst>
            </a:custGeom>
            <a:solidFill>
              <a:srgbClr val="008080"/>
            </a:solidFill>
            <a:ln w="12700">
              <a:solidFill>
                <a:srgbClr val="000000"/>
              </a:solidFill>
              <a:prstDash val="solid"/>
              <a:round/>
              <a:headEnd/>
              <a:tailEnd/>
            </a:ln>
          </p:spPr>
          <p:txBody>
            <a:bodyPr/>
            <a:lstStyle/>
            <a:p>
              <a:endParaRPr lang="en-IN"/>
            </a:p>
          </p:txBody>
        </p:sp>
        <p:sp>
          <p:nvSpPr>
            <p:cNvPr id="48145" name="Freeform 17"/>
            <p:cNvSpPr>
              <a:spLocks/>
            </p:cNvSpPr>
            <p:nvPr/>
          </p:nvSpPr>
          <p:spPr bwMode="auto">
            <a:xfrm>
              <a:off x="2599" y="2764"/>
              <a:ext cx="240" cy="391"/>
            </a:xfrm>
            <a:custGeom>
              <a:avLst/>
              <a:gdLst>
                <a:gd name="T0" fmla="*/ 0 w 240"/>
                <a:gd name="T1" fmla="*/ 0 h 391"/>
                <a:gd name="T2" fmla="*/ 0 w 240"/>
                <a:gd name="T3" fmla="*/ 159 h 391"/>
                <a:gd name="T4" fmla="*/ 240 w 240"/>
                <a:gd name="T5" fmla="*/ 391 h 391"/>
                <a:gd name="T6" fmla="*/ 240 w 240"/>
                <a:gd name="T7" fmla="*/ 212 h 391"/>
                <a:gd name="T8" fmla="*/ 0 w 240"/>
                <a:gd name="T9" fmla="*/ 0 h 391"/>
              </a:gdLst>
              <a:ahLst/>
              <a:cxnLst>
                <a:cxn ang="0">
                  <a:pos x="T0" y="T1"/>
                </a:cxn>
                <a:cxn ang="0">
                  <a:pos x="T2" y="T3"/>
                </a:cxn>
                <a:cxn ang="0">
                  <a:pos x="T4" y="T5"/>
                </a:cxn>
                <a:cxn ang="0">
                  <a:pos x="T6" y="T7"/>
                </a:cxn>
                <a:cxn ang="0">
                  <a:pos x="T8" y="T9"/>
                </a:cxn>
              </a:cxnLst>
              <a:rect l="0" t="0" r="r" b="b"/>
              <a:pathLst>
                <a:path w="240" h="391">
                  <a:moveTo>
                    <a:pt x="0" y="0"/>
                  </a:moveTo>
                  <a:lnTo>
                    <a:pt x="0" y="159"/>
                  </a:lnTo>
                  <a:lnTo>
                    <a:pt x="240" y="391"/>
                  </a:lnTo>
                  <a:lnTo>
                    <a:pt x="240" y="212"/>
                  </a:lnTo>
                  <a:lnTo>
                    <a:pt x="0" y="0"/>
                  </a:lnTo>
                  <a:close/>
                </a:path>
              </a:pathLst>
            </a:custGeom>
            <a:solidFill>
              <a:srgbClr val="008080"/>
            </a:solidFill>
            <a:ln w="12700">
              <a:solidFill>
                <a:srgbClr val="000000"/>
              </a:solidFill>
              <a:prstDash val="solid"/>
              <a:round/>
              <a:headEnd/>
              <a:tailEnd/>
            </a:ln>
          </p:spPr>
          <p:txBody>
            <a:bodyPr/>
            <a:lstStyle/>
            <a:p>
              <a:endParaRPr lang="en-IN"/>
            </a:p>
          </p:txBody>
        </p:sp>
      </p:grpSp>
      <p:grpSp>
        <p:nvGrpSpPr>
          <p:cNvPr id="48146" name="Group 18"/>
          <p:cNvGrpSpPr>
            <a:grpSpLocks/>
          </p:cNvGrpSpPr>
          <p:nvPr/>
        </p:nvGrpSpPr>
        <p:grpSpPr bwMode="auto">
          <a:xfrm>
            <a:off x="6154770" y="4425353"/>
            <a:ext cx="1751013" cy="1827212"/>
            <a:chOff x="2999" y="2288"/>
            <a:chExt cx="1727" cy="1535"/>
          </a:xfrm>
        </p:grpSpPr>
        <p:sp>
          <p:nvSpPr>
            <p:cNvPr id="48147" name="Freeform 19"/>
            <p:cNvSpPr>
              <a:spLocks/>
            </p:cNvSpPr>
            <p:nvPr/>
          </p:nvSpPr>
          <p:spPr bwMode="auto">
            <a:xfrm>
              <a:off x="3239" y="2764"/>
              <a:ext cx="1104" cy="1059"/>
            </a:xfrm>
            <a:custGeom>
              <a:avLst/>
              <a:gdLst>
                <a:gd name="T0" fmla="*/ 1104 w 1104"/>
                <a:gd name="T1" fmla="*/ 795 h 1059"/>
                <a:gd name="T2" fmla="*/ 1104 w 1104"/>
                <a:gd name="T3" fmla="*/ 1059 h 1059"/>
                <a:gd name="T4" fmla="*/ 0 w 1104"/>
                <a:gd name="T5" fmla="*/ 159 h 1059"/>
                <a:gd name="T6" fmla="*/ 0 w 1104"/>
                <a:gd name="T7" fmla="*/ 0 h 1059"/>
                <a:gd name="T8" fmla="*/ 1104 w 1104"/>
                <a:gd name="T9" fmla="*/ 795 h 1059"/>
              </a:gdLst>
              <a:ahLst/>
              <a:cxnLst>
                <a:cxn ang="0">
                  <a:pos x="T0" y="T1"/>
                </a:cxn>
                <a:cxn ang="0">
                  <a:pos x="T2" y="T3"/>
                </a:cxn>
                <a:cxn ang="0">
                  <a:pos x="T4" y="T5"/>
                </a:cxn>
                <a:cxn ang="0">
                  <a:pos x="T6" y="T7"/>
                </a:cxn>
                <a:cxn ang="0">
                  <a:pos x="T8" y="T9"/>
                </a:cxn>
              </a:cxnLst>
              <a:rect l="0" t="0" r="r" b="b"/>
              <a:pathLst>
                <a:path w="1104" h="1059">
                  <a:moveTo>
                    <a:pt x="1104" y="795"/>
                  </a:moveTo>
                  <a:lnTo>
                    <a:pt x="1104" y="1059"/>
                  </a:lnTo>
                  <a:lnTo>
                    <a:pt x="0" y="159"/>
                  </a:lnTo>
                  <a:lnTo>
                    <a:pt x="0" y="0"/>
                  </a:lnTo>
                  <a:lnTo>
                    <a:pt x="1104" y="795"/>
                  </a:lnTo>
                  <a:close/>
                </a:path>
              </a:pathLst>
            </a:custGeom>
            <a:solidFill>
              <a:srgbClr val="008080"/>
            </a:solidFill>
            <a:ln w="12700">
              <a:solidFill>
                <a:srgbClr val="000000"/>
              </a:solidFill>
              <a:prstDash val="solid"/>
              <a:round/>
              <a:headEnd/>
              <a:tailEnd/>
            </a:ln>
          </p:spPr>
          <p:txBody>
            <a:bodyPr/>
            <a:lstStyle/>
            <a:p>
              <a:endParaRPr lang="en-IN"/>
            </a:p>
          </p:txBody>
        </p:sp>
        <p:sp>
          <p:nvSpPr>
            <p:cNvPr id="48148" name="Freeform 20"/>
            <p:cNvSpPr>
              <a:spLocks/>
            </p:cNvSpPr>
            <p:nvPr/>
          </p:nvSpPr>
          <p:spPr bwMode="auto">
            <a:xfrm>
              <a:off x="3575" y="2288"/>
              <a:ext cx="240" cy="317"/>
            </a:xfrm>
            <a:custGeom>
              <a:avLst/>
              <a:gdLst>
                <a:gd name="T0" fmla="*/ 0 w 240"/>
                <a:gd name="T1" fmla="*/ 158 h 317"/>
                <a:gd name="T2" fmla="*/ 0 w 240"/>
                <a:gd name="T3" fmla="*/ 317 h 317"/>
                <a:gd name="T4" fmla="*/ 240 w 240"/>
                <a:gd name="T5" fmla="*/ 123 h 317"/>
                <a:gd name="T6" fmla="*/ 240 w 240"/>
                <a:gd name="T7" fmla="*/ 0 h 317"/>
                <a:gd name="T8" fmla="*/ 0 w 240"/>
                <a:gd name="T9" fmla="*/ 158 h 317"/>
              </a:gdLst>
              <a:ahLst/>
              <a:cxnLst>
                <a:cxn ang="0">
                  <a:pos x="T0" y="T1"/>
                </a:cxn>
                <a:cxn ang="0">
                  <a:pos x="T2" y="T3"/>
                </a:cxn>
                <a:cxn ang="0">
                  <a:pos x="T4" y="T5"/>
                </a:cxn>
                <a:cxn ang="0">
                  <a:pos x="T6" y="T7"/>
                </a:cxn>
                <a:cxn ang="0">
                  <a:pos x="T8" y="T9"/>
                </a:cxn>
              </a:cxnLst>
              <a:rect l="0" t="0" r="r" b="b"/>
              <a:pathLst>
                <a:path w="240" h="317">
                  <a:moveTo>
                    <a:pt x="0" y="158"/>
                  </a:moveTo>
                  <a:lnTo>
                    <a:pt x="0" y="317"/>
                  </a:lnTo>
                  <a:lnTo>
                    <a:pt x="240" y="123"/>
                  </a:lnTo>
                  <a:lnTo>
                    <a:pt x="240" y="0"/>
                  </a:lnTo>
                  <a:lnTo>
                    <a:pt x="0" y="158"/>
                  </a:lnTo>
                  <a:close/>
                </a:path>
              </a:pathLst>
            </a:custGeom>
            <a:solidFill>
              <a:srgbClr val="008080"/>
            </a:solidFill>
            <a:ln w="12700">
              <a:solidFill>
                <a:srgbClr val="000000"/>
              </a:solidFill>
              <a:prstDash val="solid"/>
              <a:round/>
              <a:headEnd/>
              <a:tailEnd/>
            </a:ln>
          </p:spPr>
          <p:txBody>
            <a:bodyPr/>
            <a:lstStyle/>
            <a:p>
              <a:endParaRPr lang="en-IN"/>
            </a:p>
          </p:txBody>
        </p:sp>
        <p:sp>
          <p:nvSpPr>
            <p:cNvPr id="48149" name="Freeform 21"/>
            <p:cNvSpPr>
              <a:spLocks/>
            </p:cNvSpPr>
            <p:nvPr/>
          </p:nvSpPr>
          <p:spPr bwMode="auto">
            <a:xfrm>
              <a:off x="2999" y="2288"/>
              <a:ext cx="1727" cy="1271"/>
            </a:xfrm>
            <a:custGeom>
              <a:avLst/>
              <a:gdLst>
                <a:gd name="T0" fmla="*/ 1727 w 1727"/>
                <a:gd name="T1" fmla="*/ 794 h 1271"/>
                <a:gd name="T2" fmla="*/ 576 w 1727"/>
                <a:gd name="T3" fmla="*/ 158 h 1271"/>
                <a:gd name="T4" fmla="*/ 816 w 1727"/>
                <a:gd name="T5" fmla="*/ 0 h 1271"/>
                <a:gd name="T6" fmla="*/ 48 w 1727"/>
                <a:gd name="T7" fmla="*/ 52 h 1271"/>
                <a:gd name="T8" fmla="*/ 0 w 1727"/>
                <a:gd name="T9" fmla="*/ 688 h 1271"/>
                <a:gd name="T10" fmla="*/ 240 w 1727"/>
                <a:gd name="T11" fmla="*/ 476 h 1271"/>
                <a:gd name="T12" fmla="*/ 1344 w 1727"/>
                <a:gd name="T13" fmla="*/ 1271 h 1271"/>
                <a:gd name="T14" fmla="*/ 1727 w 1727"/>
                <a:gd name="T15" fmla="*/ 794 h 1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7" h="1271">
                  <a:moveTo>
                    <a:pt x="1727" y="794"/>
                  </a:moveTo>
                  <a:lnTo>
                    <a:pt x="576" y="158"/>
                  </a:lnTo>
                  <a:lnTo>
                    <a:pt x="816" y="0"/>
                  </a:lnTo>
                  <a:lnTo>
                    <a:pt x="48" y="52"/>
                  </a:lnTo>
                  <a:lnTo>
                    <a:pt x="0" y="688"/>
                  </a:lnTo>
                  <a:lnTo>
                    <a:pt x="240" y="476"/>
                  </a:lnTo>
                  <a:lnTo>
                    <a:pt x="1344" y="1271"/>
                  </a:lnTo>
                  <a:lnTo>
                    <a:pt x="1727" y="794"/>
                  </a:lnTo>
                  <a:close/>
                </a:path>
              </a:pathLst>
            </a:custGeom>
            <a:solidFill>
              <a:srgbClr val="00FFFF"/>
            </a:solidFill>
            <a:ln w="12700">
              <a:solidFill>
                <a:srgbClr val="000000"/>
              </a:solidFill>
              <a:prstDash val="solid"/>
              <a:round/>
              <a:headEnd/>
              <a:tailEnd/>
            </a:ln>
          </p:spPr>
          <p:txBody>
            <a:bodyPr/>
            <a:lstStyle/>
            <a:p>
              <a:endParaRPr lang="en-IN"/>
            </a:p>
          </p:txBody>
        </p:sp>
        <p:sp>
          <p:nvSpPr>
            <p:cNvPr id="48150" name="Freeform 22"/>
            <p:cNvSpPr>
              <a:spLocks/>
            </p:cNvSpPr>
            <p:nvPr/>
          </p:nvSpPr>
          <p:spPr bwMode="auto">
            <a:xfrm>
              <a:off x="4343" y="3082"/>
              <a:ext cx="383" cy="741"/>
            </a:xfrm>
            <a:custGeom>
              <a:avLst/>
              <a:gdLst>
                <a:gd name="T0" fmla="*/ 383 w 383"/>
                <a:gd name="T1" fmla="*/ 0 h 741"/>
                <a:gd name="T2" fmla="*/ 0 w 383"/>
                <a:gd name="T3" fmla="*/ 477 h 741"/>
                <a:gd name="T4" fmla="*/ 0 w 383"/>
                <a:gd name="T5" fmla="*/ 741 h 741"/>
                <a:gd name="T6" fmla="*/ 383 w 383"/>
                <a:gd name="T7" fmla="*/ 238 h 741"/>
                <a:gd name="T8" fmla="*/ 383 w 383"/>
                <a:gd name="T9" fmla="*/ 0 h 741"/>
              </a:gdLst>
              <a:ahLst/>
              <a:cxnLst>
                <a:cxn ang="0">
                  <a:pos x="T0" y="T1"/>
                </a:cxn>
                <a:cxn ang="0">
                  <a:pos x="T2" y="T3"/>
                </a:cxn>
                <a:cxn ang="0">
                  <a:pos x="T4" y="T5"/>
                </a:cxn>
                <a:cxn ang="0">
                  <a:pos x="T6" y="T7"/>
                </a:cxn>
                <a:cxn ang="0">
                  <a:pos x="T8" y="T9"/>
                </a:cxn>
              </a:cxnLst>
              <a:rect l="0" t="0" r="r" b="b"/>
              <a:pathLst>
                <a:path w="383" h="741">
                  <a:moveTo>
                    <a:pt x="383" y="0"/>
                  </a:moveTo>
                  <a:lnTo>
                    <a:pt x="0" y="477"/>
                  </a:lnTo>
                  <a:lnTo>
                    <a:pt x="0" y="741"/>
                  </a:lnTo>
                  <a:lnTo>
                    <a:pt x="383" y="238"/>
                  </a:lnTo>
                  <a:lnTo>
                    <a:pt x="383" y="0"/>
                  </a:lnTo>
                  <a:close/>
                </a:path>
              </a:pathLst>
            </a:custGeom>
            <a:solidFill>
              <a:srgbClr val="008080"/>
            </a:solidFill>
            <a:ln w="12700">
              <a:solidFill>
                <a:srgbClr val="000000"/>
              </a:solidFill>
              <a:prstDash val="solid"/>
              <a:round/>
              <a:headEnd/>
              <a:tailEnd/>
            </a:ln>
          </p:spPr>
          <p:txBody>
            <a:bodyPr/>
            <a:lstStyle/>
            <a:p>
              <a:endParaRPr lang="en-IN"/>
            </a:p>
          </p:txBody>
        </p:sp>
        <p:sp>
          <p:nvSpPr>
            <p:cNvPr id="48151" name="Freeform 23"/>
            <p:cNvSpPr>
              <a:spLocks/>
            </p:cNvSpPr>
            <p:nvPr/>
          </p:nvSpPr>
          <p:spPr bwMode="auto">
            <a:xfrm>
              <a:off x="2999" y="2764"/>
              <a:ext cx="240" cy="391"/>
            </a:xfrm>
            <a:custGeom>
              <a:avLst/>
              <a:gdLst>
                <a:gd name="T0" fmla="*/ 240 w 240"/>
                <a:gd name="T1" fmla="*/ 0 h 391"/>
                <a:gd name="T2" fmla="*/ 240 w 240"/>
                <a:gd name="T3" fmla="*/ 159 h 391"/>
                <a:gd name="T4" fmla="*/ 0 w 240"/>
                <a:gd name="T5" fmla="*/ 391 h 391"/>
                <a:gd name="T6" fmla="*/ 0 w 240"/>
                <a:gd name="T7" fmla="*/ 212 h 391"/>
                <a:gd name="T8" fmla="*/ 240 w 240"/>
                <a:gd name="T9" fmla="*/ 0 h 391"/>
              </a:gdLst>
              <a:ahLst/>
              <a:cxnLst>
                <a:cxn ang="0">
                  <a:pos x="T0" y="T1"/>
                </a:cxn>
                <a:cxn ang="0">
                  <a:pos x="T2" y="T3"/>
                </a:cxn>
                <a:cxn ang="0">
                  <a:pos x="T4" y="T5"/>
                </a:cxn>
                <a:cxn ang="0">
                  <a:pos x="T6" y="T7"/>
                </a:cxn>
                <a:cxn ang="0">
                  <a:pos x="T8" y="T9"/>
                </a:cxn>
              </a:cxnLst>
              <a:rect l="0" t="0" r="r" b="b"/>
              <a:pathLst>
                <a:path w="240" h="391">
                  <a:moveTo>
                    <a:pt x="240" y="0"/>
                  </a:moveTo>
                  <a:lnTo>
                    <a:pt x="240" y="159"/>
                  </a:lnTo>
                  <a:lnTo>
                    <a:pt x="0" y="391"/>
                  </a:lnTo>
                  <a:lnTo>
                    <a:pt x="0" y="212"/>
                  </a:lnTo>
                  <a:lnTo>
                    <a:pt x="240" y="0"/>
                  </a:lnTo>
                  <a:close/>
                </a:path>
              </a:pathLst>
            </a:custGeom>
            <a:solidFill>
              <a:srgbClr val="008080"/>
            </a:solidFill>
            <a:ln w="12700">
              <a:solidFill>
                <a:srgbClr val="000000"/>
              </a:solidFill>
              <a:prstDash val="solid"/>
              <a:round/>
              <a:headEnd/>
              <a:tailEnd/>
            </a:ln>
          </p:spPr>
          <p:txBody>
            <a:bodyPr/>
            <a:lstStyle/>
            <a:p>
              <a:endParaRPr lang="en-IN"/>
            </a:p>
          </p:txBody>
        </p:sp>
      </p:grpSp>
    </p:spTree>
    <p:extLst>
      <p:ext uri="{BB962C8B-B14F-4D97-AF65-F5344CB8AC3E}">
        <p14:creationId xmlns:p14="http://schemas.microsoft.com/office/powerpoint/2010/main" val="52410015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0F2CCD0B-5AC3-4869-82EE-21A588297E37}" type="slidenum">
              <a:rPr lang="en-US" altLang="en-US"/>
              <a:pPr/>
              <a:t>34</a:t>
            </a:fld>
            <a:endParaRPr lang="en-US" altLang="en-US"/>
          </a:p>
        </p:txBody>
      </p:sp>
      <p:sp>
        <p:nvSpPr>
          <p:cNvPr id="50178" name="Rectangle 2"/>
          <p:cNvSpPr>
            <a:spLocks noGrp="1" noChangeArrowheads="1"/>
          </p:cNvSpPr>
          <p:nvPr>
            <p:ph type="title"/>
          </p:nvPr>
        </p:nvSpPr>
        <p:spPr>
          <a:xfrm>
            <a:off x="0" y="38100"/>
            <a:ext cx="9144000" cy="917575"/>
          </a:xfrm>
        </p:spPr>
        <p:txBody>
          <a:bodyPr/>
          <a:lstStyle/>
          <a:p>
            <a:r>
              <a:rPr lang="en-US" altLang="en-US"/>
              <a:t>Six Sigma</a:t>
            </a:r>
          </a:p>
        </p:txBody>
      </p:sp>
      <p:sp>
        <p:nvSpPr>
          <p:cNvPr id="50179" name="Rectangle 3"/>
          <p:cNvSpPr>
            <a:spLocks noGrp="1" noChangeArrowheads="1"/>
          </p:cNvSpPr>
          <p:nvPr>
            <p:ph type="body" idx="1"/>
          </p:nvPr>
        </p:nvSpPr>
        <p:spPr>
          <a:xfrm>
            <a:off x="704850" y="1509713"/>
            <a:ext cx="7893050" cy="4441825"/>
          </a:xfrm>
        </p:spPr>
        <p:txBody>
          <a:bodyPr/>
          <a:lstStyle/>
          <a:p>
            <a:pPr marL="0" indent="0">
              <a:buNone/>
            </a:pPr>
            <a:r>
              <a:rPr lang="en-US" altLang="en-US" dirty="0"/>
              <a:t>Statistically</a:t>
            </a:r>
          </a:p>
          <a:p>
            <a:pPr lvl="1"/>
            <a:r>
              <a:rPr lang="en-US" altLang="en-US" dirty="0"/>
              <a:t>Having no more than 3.4 defects per million</a:t>
            </a:r>
          </a:p>
          <a:p>
            <a:pPr marL="0" indent="0">
              <a:buNone/>
            </a:pPr>
            <a:r>
              <a:rPr lang="en-US" altLang="en-US" dirty="0"/>
              <a:t>Conceptually</a:t>
            </a:r>
          </a:p>
          <a:p>
            <a:pPr lvl="1"/>
            <a:r>
              <a:rPr lang="en-US" altLang="en-US" dirty="0"/>
              <a:t>Program designed to reduce defects</a:t>
            </a:r>
          </a:p>
          <a:p>
            <a:pPr lvl="1"/>
            <a:r>
              <a:rPr lang="en-US" altLang="en-US" dirty="0"/>
              <a:t>Requires the use of certain tools and techniques</a:t>
            </a:r>
          </a:p>
          <a:p>
            <a:pPr>
              <a:buFont typeface="Wingdings" pitchFamily="2" charset="2"/>
              <a:buNone/>
            </a:pPr>
            <a:endParaRPr lang="en-US" altLang="en-US" dirty="0"/>
          </a:p>
        </p:txBody>
      </p:sp>
      <p:sp>
        <p:nvSpPr>
          <p:cNvPr id="50180" name="Text Box 4"/>
          <p:cNvSpPr txBox="1">
            <a:spLocks noChangeArrowheads="1"/>
          </p:cNvSpPr>
          <p:nvPr/>
        </p:nvSpPr>
        <p:spPr bwMode="auto">
          <a:xfrm>
            <a:off x="609600" y="4267200"/>
            <a:ext cx="7468711" cy="138499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dirty="0"/>
              <a:t>Six sigma: A business process for improving</a:t>
            </a:r>
            <a:br>
              <a:rPr lang="en-US" altLang="en-US" sz="2800" dirty="0"/>
            </a:br>
            <a:r>
              <a:rPr lang="en-US" altLang="en-US" sz="2800" dirty="0"/>
              <a:t>quality, reducing costs, and increasing</a:t>
            </a:r>
            <a:br>
              <a:rPr lang="en-US" altLang="en-US" sz="2800" dirty="0"/>
            </a:br>
            <a:r>
              <a:rPr lang="en-US" altLang="en-US" sz="2800" dirty="0"/>
              <a:t>customer satisfaction.</a:t>
            </a:r>
          </a:p>
        </p:txBody>
      </p:sp>
    </p:spTree>
    <p:extLst>
      <p:ext uri="{BB962C8B-B14F-4D97-AF65-F5344CB8AC3E}">
        <p14:creationId xmlns:p14="http://schemas.microsoft.com/office/powerpoint/2010/main" val="656785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6A6446FE-8F90-41B7-B46F-33B3BF1276AC}" type="slidenum">
              <a:rPr lang="en-US" altLang="en-US"/>
              <a:pPr/>
              <a:t>35</a:t>
            </a:fld>
            <a:endParaRPr lang="en-US" altLang="en-US"/>
          </a:p>
        </p:txBody>
      </p:sp>
      <p:sp>
        <p:nvSpPr>
          <p:cNvPr id="51202" name="Rectangle 2"/>
          <p:cNvSpPr>
            <a:spLocks noGrp="1" noChangeArrowheads="1"/>
          </p:cNvSpPr>
          <p:nvPr>
            <p:ph type="title"/>
          </p:nvPr>
        </p:nvSpPr>
        <p:spPr>
          <a:xfrm>
            <a:off x="0" y="38100"/>
            <a:ext cx="9144000" cy="917575"/>
          </a:xfrm>
        </p:spPr>
        <p:txBody>
          <a:bodyPr/>
          <a:lstStyle/>
          <a:p>
            <a:r>
              <a:rPr lang="en-US" altLang="en-US"/>
              <a:t>Six Sigma Programs</a:t>
            </a:r>
          </a:p>
        </p:txBody>
      </p:sp>
      <p:sp>
        <p:nvSpPr>
          <p:cNvPr id="51203" name="Rectangle 3"/>
          <p:cNvSpPr>
            <a:spLocks noGrp="1" noChangeArrowheads="1"/>
          </p:cNvSpPr>
          <p:nvPr>
            <p:ph type="body" idx="1"/>
          </p:nvPr>
        </p:nvSpPr>
        <p:spPr>
          <a:xfrm>
            <a:off x="860425" y="1295400"/>
            <a:ext cx="7635875" cy="4724400"/>
          </a:xfrm>
        </p:spPr>
        <p:txBody>
          <a:bodyPr/>
          <a:lstStyle/>
          <a:p>
            <a:pPr marL="0" indent="0">
              <a:lnSpc>
                <a:spcPct val="90000"/>
              </a:lnSpc>
              <a:buNone/>
            </a:pPr>
            <a:r>
              <a:rPr lang="en-US" altLang="en-US" dirty="0"/>
              <a:t>Six Sigma programs </a:t>
            </a:r>
          </a:p>
          <a:p>
            <a:pPr marL="365760" lvl="1" indent="0">
              <a:lnSpc>
                <a:spcPct val="90000"/>
              </a:lnSpc>
              <a:buNone/>
            </a:pPr>
            <a:r>
              <a:rPr lang="en-US" altLang="en-US" dirty="0"/>
              <a:t>Improve quality</a:t>
            </a:r>
          </a:p>
          <a:p>
            <a:pPr marL="365760" lvl="1" indent="0">
              <a:lnSpc>
                <a:spcPct val="90000"/>
              </a:lnSpc>
              <a:buNone/>
            </a:pPr>
            <a:r>
              <a:rPr lang="en-US" altLang="en-US" dirty="0"/>
              <a:t>Save time</a:t>
            </a:r>
          </a:p>
          <a:p>
            <a:pPr marL="365760" lvl="1" indent="0">
              <a:lnSpc>
                <a:spcPct val="90000"/>
              </a:lnSpc>
              <a:buNone/>
            </a:pPr>
            <a:r>
              <a:rPr lang="en-US" altLang="en-US" dirty="0"/>
              <a:t>Cut costs</a:t>
            </a:r>
          </a:p>
          <a:p>
            <a:pPr>
              <a:lnSpc>
                <a:spcPct val="90000"/>
              </a:lnSpc>
              <a:buFont typeface="Wingdings" panose="05000000000000000000" pitchFamily="2" charset="2"/>
              <a:buChar char="Ø"/>
            </a:pPr>
            <a:r>
              <a:rPr lang="en-US" altLang="en-US" dirty="0"/>
              <a:t>Employed in </a:t>
            </a:r>
          </a:p>
          <a:p>
            <a:pPr marL="365760" lvl="1" indent="0">
              <a:lnSpc>
                <a:spcPct val="90000"/>
              </a:lnSpc>
              <a:buNone/>
            </a:pPr>
            <a:r>
              <a:rPr lang="en-US" altLang="en-US" dirty="0"/>
              <a:t>Design</a:t>
            </a:r>
          </a:p>
          <a:p>
            <a:pPr marL="365760" lvl="1" indent="0">
              <a:lnSpc>
                <a:spcPct val="90000"/>
              </a:lnSpc>
              <a:buNone/>
            </a:pPr>
            <a:r>
              <a:rPr lang="en-US" altLang="en-US" dirty="0"/>
              <a:t>Production</a:t>
            </a:r>
          </a:p>
          <a:p>
            <a:pPr marL="365760" lvl="1" indent="0">
              <a:lnSpc>
                <a:spcPct val="90000"/>
              </a:lnSpc>
              <a:buNone/>
            </a:pPr>
            <a:r>
              <a:rPr lang="en-US" altLang="en-US" dirty="0"/>
              <a:t>Service</a:t>
            </a:r>
          </a:p>
          <a:p>
            <a:pPr marL="365760" lvl="1" indent="0">
              <a:lnSpc>
                <a:spcPct val="90000"/>
              </a:lnSpc>
              <a:buNone/>
            </a:pPr>
            <a:r>
              <a:rPr lang="en-US" altLang="en-US" dirty="0"/>
              <a:t>Inventory management</a:t>
            </a:r>
          </a:p>
          <a:p>
            <a:pPr marL="365760" lvl="1" indent="0">
              <a:lnSpc>
                <a:spcPct val="90000"/>
              </a:lnSpc>
              <a:buNone/>
            </a:pPr>
            <a:r>
              <a:rPr lang="en-US" altLang="en-US" dirty="0"/>
              <a:t>Delivery</a:t>
            </a:r>
          </a:p>
        </p:txBody>
      </p:sp>
    </p:spTree>
    <p:extLst>
      <p:ext uri="{BB962C8B-B14F-4D97-AF65-F5344CB8AC3E}">
        <p14:creationId xmlns:p14="http://schemas.microsoft.com/office/powerpoint/2010/main" val="3003995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wipe(left)">
                                      <p:cBhvr>
                                        <p:cTn id="7" dur="500"/>
                                        <p:tgtEl>
                                          <p:spTgt spid="5120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1203">
                                            <p:txEl>
                                              <p:pRg st="1" end="1"/>
                                            </p:txEl>
                                          </p:spTgt>
                                        </p:tgtEl>
                                        <p:attrNameLst>
                                          <p:attrName>style.visibility</p:attrName>
                                        </p:attrNameLst>
                                      </p:cBhvr>
                                      <p:to>
                                        <p:strVal val="visible"/>
                                      </p:to>
                                    </p:set>
                                    <p:animEffect transition="in" filter="wipe(left)">
                                      <p:cBhvr>
                                        <p:cTn id="10" dur="500"/>
                                        <p:tgtEl>
                                          <p:spTgt spid="5120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1203">
                                            <p:txEl>
                                              <p:pRg st="2" end="2"/>
                                            </p:txEl>
                                          </p:spTgt>
                                        </p:tgtEl>
                                        <p:attrNameLst>
                                          <p:attrName>style.visibility</p:attrName>
                                        </p:attrNameLst>
                                      </p:cBhvr>
                                      <p:to>
                                        <p:strVal val="visible"/>
                                      </p:to>
                                    </p:set>
                                    <p:animEffect transition="in" filter="wipe(left)">
                                      <p:cBhvr>
                                        <p:cTn id="13" dur="500"/>
                                        <p:tgtEl>
                                          <p:spTgt spid="5120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1203">
                                            <p:txEl>
                                              <p:pRg st="3" end="3"/>
                                            </p:txEl>
                                          </p:spTgt>
                                        </p:tgtEl>
                                        <p:attrNameLst>
                                          <p:attrName>style.visibility</p:attrName>
                                        </p:attrNameLst>
                                      </p:cBhvr>
                                      <p:to>
                                        <p:strVal val="visible"/>
                                      </p:to>
                                    </p:set>
                                    <p:animEffect transition="in" filter="wipe(left)">
                                      <p:cBhvr>
                                        <p:cTn id="16" dur="500"/>
                                        <p:tgtEl>
                                          <p:spTgt spid="5120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203">
                                            <p:txEl>
                                              <p:pRg st="4" end="4"/>
                                            </p:txEl>
                                          </p:spTgt>
                                        </p:tgtEl>
                                        <p:attrNameLst>
                                          <p:attrName>style.visibility</p:attrName>
                                        </p:attrNameLst>
                                      </p:cBhvr>
                                      <p:to>
                                        <p:strVal val="visible"/>
                                      </p:to>
                                    </p:set>
                                    <p:animEffect transition="in" filter="wipe(left)">
                                      <p:cBhvr>
                                        <p:cTn id="21" dur="500"/>
                                        <p:tgtEl>
                                          <p:spTgt spid="51203">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1203">
                                            <p:txEl>
                                              <p:pRg st="5" end="5"/>
                                            </p:txEl>
                                          </p:spTgt>
                                        </p:tgtEl>
                                        <p:attrNameLst>
                                          <p:attrName>style.visibility</p:attrName>
                                        </p:attrNameLst>
                                      </p:cBhvr>
                                      <p:to>
                                        <p:strVal val="visible"/>
                                      </p:to>
                                    </p:set>
                                    <p:animEffect transition="in" filter="wipe(left)">
                                      <p:cBhvr>
                                        <p:cTn id="24" dur="500"/>
                                        <p:tgtEl>
                                          <p:spTgt spid="51203">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1203">
                                            <p:txEl>
                                              <p:pRg st="6" end="6"/>
                                            </p:txEl>
                                          </p:spTgt>
                                        </p:tgtEl>
                                        <p:attrNameLst>
                                          <p:attrName>style.visibility</p:attrName>
                                        </p:attrNameLst>
                                      </p:cBhvr>
                                      <p:to>
                                        <p:strVal val="visible"/>
                                      </p:to>
                                    </p:set>
                                    <p:animEffect transition="in" filter="wipe(left)">
                                      <p:cBhvr>
                                        <p:cTn id="27" dur="500"/>
                                        <p:tgtEl>
                                          <p:spTgt spid="51203">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1203">
                                            <p:txEl>
                                              <p:pRg st="7" end="7"/>
                                            </p:txEl>
                                          </p:spTgt>
                                        </p:tgtEl>
                                        <p:attrNameLst>
                                          <p:attrName>style.visibility</p:attrName>
                                        </p:attrNameLst>
                                      </p:cBhvr>
                                      <p:to>
                                        <p:strVal val="visible"/>
                                      </p:to>
                                    </p:set>
                                    <p:animEffect transition="in" filter="wipe(left)">
                                      <p:cBhvr>
                                        <p:cTn id="30" dur="500"/>
                                        <p:tgtEl>
                                          <p:spTgt spid="51203">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51203">
                                            <p:txEl>
                                              <p:pRg st="8" end="8"/>
                                            </p:txEl>
                                          </p:spTgt>
                                        </p:tgtEl>
                                        <p:attrNameLst>
                                          <p:attrName>style.visibility</p:attrName>
                                        </p:attrNameLst>
                                      </p:cBhvr>
                                      <p:to>
                                        <p:strVal val="visible"/>
                                      </p:to>
                                    </p:set>
                                    <p:animEffect transition="in" filter="wipe(left)">
                                      <p:cBhvr>
                                        <p:cTn id="33" dur="500"/>
                                        <p:tgtEl>
                                          <p:spTgt spid="51203">
                                            <p:txEl>
                                              <p:pRg st="8" end="8"/>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51203">
                                            <p:txEl>
                                              <p:pRg st="9" end="9"/>
                                            </p:txEl>
                                          </p:spTgt>
                                        </p:tgtEl>
                                        <p:attrNameLst>
                                          <p:attrName>style.visibility</p:attrName>
                                        </p:attrNameLst>
                                      </p:cBhvr>
                                      <p:to>
                                        <p:strVal val="visible"/>
                                      </p:to>
                                    </p:set>
                                    <p:animEffect transition="in" filter="wipe(left)">
                                      <p:cBhvr>
                                        <p:cTn id="36" dur="500"/>
                                        <p:tgtEl>
                                          <p:spTgt spid="512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A764B32D-906C-4CF3-8BD2-DCD318919FDA}" type="slidenum">
              <a:rPr lang="en-US" altLang="en-US"/>
              <a:pPr/>
              <a:t>36</a:t>
            </a:fld>
            <a:endParaRPr lang="en-US" altLang="en-US"/>
          </a:p>
        </p:txBody>
      </p:sp>
      <p:sp>
        <p:nvSpPr>
          <p:cNvPr id="52226" name="Rectangle 2"/>
          <p:cNvSpPr>
            <a:spLocks noGrp="1" noChangeArrowheads="1"/>
          </p:cNvSpPr>
          <p:nvPr>
            <p:ph type="title"/>
          </p:nvPr>
        </p:nvSpPr>
        <p:spPr>
          <a:xfrm>
            <a:off x="0" y="38100"/>
            <a:ext cx="9144000" cy="917575"/>
          </a:xfrm>
        </p:spPr>
        <p:txBody>
          <a:bodyPr/>
          <a:lstStyle/>
          <a:p>
            <a:r>
              <a:rPr lang="en-US" altLang="en-US"/>
              <a:t>Six Sigma Management</a:t>
            </a:r>
          </a:p>
        </p:txBody>
      </p:sp>
      <p:sp>
        <p:nvSpPr>
          <p:cNvPr id="52227" name="Rectangle 3"/>
          <p:cNvSpPr>
            <a:spLocks noGrp="1" noChangeArrowheads="1"/>
          </p:cNvSpPr>
          <p:nvPr>
            <p:ph type="body" idx="1"/>
          </p:nvPr>
        </p:nvSpPr>
        <p:spPr>
          <a:xfrm>
            <a:off x="704850" y="1489075"/>
            <a:ext cx="7969250" cy="4441825"/>
          </a:xfrm>
        </p:spPr>
        <p:txBody>
          <a:bodyPr/>
          <a:lstStyle/>
          <a:p>
            <a:pPr marL="0" indent="0">
              <a:buNone/>
            </a:pPr>
            <a:r>
              <a:rPr lang="en-US" altLang="en-US" dirty="0"/>
              <a:t>Providing strong leadership</a:t>
            </a:r>
          </a:p>
          <a:p>
            <a:pPr marL="0" indent="0">
              <a:buNone/>
            </a:pPr>
            <a:r>
              <a:rPr lang="en-US" altLang="en-US" dirty="0"/>
              <a:t>Defining performance metrics</a:t>
            </a:r>
          </a:p>
          <a:p>
            <a:pPr marL="0" indent="0">
              <a:buNone/>
            </a:pPr>
            <a:r>
              <a:rPr lang="en-US" altLang="en-US" dirty="0"/>
              <a:t>Selecting projects likely to succeed</a:t>
            </a:r>
          </a:p>
          <a:p>
            <a:pPr marL="0" indent="0">
              <a:buNone/>
            </a:pPr>
            <a:r>
              <a:rPr lang="en-US" altLang="en-US" dirty="0"/>
              <a:t>Selecting and training appropriate </a:t>
            </a:r>
            <a:r>
              <a:rPr lang="en-US" altLang="en-US" dirty="0" smtClean="0"/>
              <a:t>people</a:t>
            </a:r>
          </a:p>
          <a:p>
            <a:pPr marL="0" indent="0">
              <a:buNone/>
            </a:pPr>
            <a:r>
              <a:rPr lang="en-US" altLang="en-US" dirty="0"/>
              <a:t>Improving process performance</a:t>
            </a:r>
          </a:p>
          <a:p>
            <a:pPr marL="0" indent="0">
              <a:buNone/>
            </a:pPr>
            <a:r>
              <a:rPr lang="en-US" altLang="en-US" dirty="0"/>
              <a:t>Reducing variation</a:t>
            </a:r>
          </a:p>
          <a:p>
            <a:pPr marL="0" indent="0">
              <a:buNone/>
            </a:pPr>
            <a:r>
              <a:rPr lang="en-US" altLang="en-US" dirty="0"/>
              <a:t>Utilizing statistical models</a:t>
            </a:r>
          </a:p>
          <a:p>
            <a:pPr marL="0" indent="0">
              <a:buNone/>
            </a:pPr>
            <a:r>
              <a:rPr lang="en-US" altLang="en-US" dirty="0"/>
              <a:t>Designing a structured improvement strategy</a:t>
            </a:r>
          </a:p>
          <a:p>
            <a:pPr marL="0" indent="0">
              <a:buNone/>
            </a:pPr>
            <a:endParaRPr lang="en-US" altLang="en-US" dirty="0"/>
          </a:p>
        </p:txBody>
      </p:sp>
    </p:spTree>
    <p:extLst>
      <p:ext uri="{BB962C8B-B14F-4D97-AF65-F5344CB8AC3E}">
        <p14:creationId xmlns:p14="http://schemas.microsoft.com/office/powerpoint/2010/main" val="2472755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wipe(left)">
                                      <p:cBhvr>
                                        <p:cTn id="7" dur="500"/>
                                        <p:tgtEl>
                                          <p:spTgt spid="52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7">
                                            <p:txEl>
                                              <p:pRg st="1" end="1"/>
                                            </p:txEl>
                                          </p:spTgt>
                                        </p:tgtEl>
                                        <p:attrNameLst>
                                          <p:attrName>style.visibility</p:attrName>
                                        </p:attrNameLst>
                                      </p:cBhvr>
                                      <p:to>
                                        <p:strVal val="visible"/>
                                      </p:to>
                                    </p:set>
                                    <p:animEffect transition="in" filter="wipe(left)">
                                      <p:cBhvr>
                                        <p:cTn id="12" dur="500"/>
                                        <p:tgtEl>
                                          <p:spTgt spid="52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27">
                                            <p:txEl>
                                              <p:pRg st="2" end="2"/>
                                            </p:txEl>
                                          </p:spTgt>
                                        </p:tgtEl>
                                        <p:attrNameLst>
                                          <p:attrName>style.visibility</p:attrName>
                                        </p:attrNameLst>
                                      </p:cBhvr>
                                      <p:to>
                                        <p:strVal val="visible"/>
                                      </p:to>
                                    </p:set>
                                    <p:animEffect transition="in" filter="wipe(left)">
                                      <p:cBhvr>
                                        <p:cTn id="17" dur="500"/>
                                        <p:tgtEl>
                                          <p:spTgt spid="52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27">
                                            <p:txEl>
                                              <p:pRg st="3" end="3"/>
                                            </p:txEl>
                                          </p:spTgt>
                                        </p:tgtEl>
                                        <p:attrNameLst>
                                          <p:attrName>style.visibility</p:attrName>
                                        </p:attrNameLst>
                                      </p:cBhvr>
                                      <p:to>
                                        <p:strVal val="visible"/>
                                      </p:to>
                                    </p:set>
                                    <p:animEffect transition="in" filter="wipe(left)">
                                      <p:cBhvr>
                                        <p:cTn id="22" dur="500"/>
                                        <p:tgtEl>
                                          <p:spTgt spid="522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227">
                                            <p:txEl>
                                              <p:pRg st="4" end="4"/>
                                            </p:txEl>
                                          </p:spTgt>
                                        </p:tgtEl>
                                        <p:attrNameLst>
                                          <p:attrName>style.visibility</p:attrName>
                                        </p:attrNameLst>
                                      </p:cBhvr>
                                      <p:to>
                                        <p:strVal val="visible"/>
                                      </p:to>
                                    </p:set>
                                    <p:animEffect transition="in" filter="wipe(left)">
                                      <p:cBhvr>
                                        <p:cTn id="27" dur="500"/>
                                        <p:tgtEl>
                                          <p:spTgt spid="522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2227">
                                            <p:txEl>
                                              <p:pRg st="5" end="5"/>
                                            </p:txEl>
                                          </p:spTgt>
                                        </p:tgtEl>
                                        <p:attrNameLst>
                                          <p:attrName>style.visibility</p:attrName>
                                        </p:attrNameLst>
                                      </p:cBhvr>
                                      <p:to>
                                        <p:strVal val="visible"/>
                                      </p:to>
                                    </p:set>
                                    <p:animEffect transition="in" filter="wipe(left)">
                                      <p:cBhvr>
                                        <p:cTn id="32" dur="500"/>
                                        <p:tgtEl>
                                          <p:spTgt spid="5222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227">
                                            <p:txEl>
                                              <p:pRg st="6" end="6"/>
                                            </p:txEl>
                                          </p:spTgt>
                                        </p:tgtEl>
                                        <p:attrNameLst>
                                          <p:attrName>style.visibility</p:attrName>
                                        </p:attrNameLst>
                                      </p:cBhvr>
                                      <p:to>
                                        <p:strVal val="visible"/>
                                      </p:to>
                                    </p:set>
                                    <p:animEffect transition="in" filter="wipe(left)">
                                      <p:cBhvr>
                                        <p:cTn id="37" dur="500"/>
                                        <p:tgtEl>
                                          <p:spTgt spid="5222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2227">
                                            <p:txEl>
                                              <p:pRg st="7" end="7"/>
                                            </p:txEl>
                                          </p:spTgt>
                                        </p:tgtEl>
                                        <p:attrNameLst>
                                          <p:attrName>style.visibility</p:attrName>
                                        </p:attrNameLst>
                                      </p:cBhvr>
                                      <p:to>
                                        <p:strVal val="visible"/>
                                      </p:to>
                                    </p:set>
                                    <p:animEffect transition="in" filter="wipe(left)">
                                      <p:cBhvr>
                                        <p:cTn id="42" dur="500"/>
                                        <p:tgtEl>
                                          <p:spTgt spid="522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2DAB854F-1CAD-4847-919C-DEEC83328AC1}" type="slidenum">
              <a:rPr lang="en-US" altLang="en-US"/>
              <a:pPr/>
              <a:t>37</a:t>
            </a:fld>
            <a:endParaRPr lang="en-US" altLang="en-US"/>
          </a:p>
        </p:txBody>
      </p:sp>
      <p:sp>
        <p:nvSpPr>
          <p:cNvPr id="55298" name="Rectangle 2"/>
          <p:cNvSpPr>
            <a:spLocks noGrp="1" noChangeArrowheads="1"/>
          </p:cNvSpPr>
          <p:nvPr>
            <p:ph type="title"/>
          </p:nvPr>
        </p:nvSpPr>
        <p:spPr>
          <a:xfrm>
            <a:off x="0" y="38100"/>
            <a:ext cx="9144000" cy="917575"/>
          </a:xfrm>
        </p:spPr>
        <p:txBody>
          <a:bodyPr/>
          <a:lstStyle/>
          <a:p>
            <a:r>
              <a:rPr lang="en-US" altLang="en-US" dirty="0" smtClean="0"/>
              <a:t>  Six </a:t>
            </a:r>
            <a:r>
              <a:rPr lang="en-US" altLang="en-US" dirty="0"/>
              <a:t>Sigma Process</a:t>
            </a:r>
          </a:p>
        </p:txBody>
      </p:sp>
      <p:sp>
        <p:nvSpPr>
          <p:cNvPr id="55299" name="Rectangle 3"/>
          <p:cNvSpPr>
            <a:spLocks noGrp="1" noChangeArrowheads="1"/>
          </p:cNvSpPr>
          <p:nvPr>
            <p:ph type="body" idx="1"/>
          </p:nvPr>
        </p:nvSpPr>
        <p:spPr>
          <a:xfrm>
            <a:off x="862013" y="1230313"/>
            <a:ext cx="8053387" cy="4941887"/>
          </a:xfrm>
        </p:spPr>
        <p:txBody>
          <a:bodyPr/>
          <a:lstStyle/>
          <a:p>
            <a:pPr marL="0" indent="0">
              <a:buNone/>
            </a:pPr>
            <a:r>
              <a:rPr lang="en-US" altLang="en-US" dirty="0"/>
              <a:t>Define</a:t>
            </a:r>
          </a:p>
          <a:p>
            <a:pPr marL="0" indent="0">
              <a:buNone/>
            </a:pPr>
            <a:r>
              <a:rPr lang="en-US" altLang="en-US" dirty="0"/>
              <a:t>Measure</a:t>
            </a:r>
          </a:p>
          <a:p>
            <a:pPr marL="0" indent="0">
              <a:buNone/>
            </a:pPr>
            <a:r>
              <a:rPr lang="en-US" altLang="en-US" dirty="0"/>
              <a:t>Analyze</a:t>
            </a:r>
          </a:p>
          <a:p>
            <a:pPr marL="0" indent="0">
              <a:buNone/>
            </a:pPr>
            <a:r>
              <a:rPr lang="en-US" altLang="en-US" dirty="0"/>
              <a:t>Improve</a:t>
            </a:r>
          </a:p>
          <a:p>
            <a:pPr marL="0" indent="0">
              <a:buNone/>
            </a:pPr>
            <a:r>
              <a:rPr lang="en-US" altLang="en-US" dirty="0"/>
              <a:t>Control</a:t>
            </a:r>
          </a:p>
          <a:p>
            <a:endParaRPr lang="en-US" altLang="en-US" dirty="0"/>
          </a:p>
        </p:txBody>
      </p:sp>
      <p:sp>
        <p:nvSpPr>
          <p:cNvPr id="55300" name="Text Box 4"/>
          <p:cNvSpPr txBox="1">
            <a:spLocks noChangeArrowheads="1"/>
          </p:cNvSpPr>
          <p:nvPr/>
        </p:nvSpPr>
        <p:spPr bwMode="auto">
          <a:xfrm>
            <a:off x="4724400" y="2667000"/>
            <a:ext cx="2138363" cy="762000"/>
          </a:xfrm>
          <a:prstGeom prst="rect">
            <a:avLst/>
          </a:prstGeom>
          <a:noFill/>
          <a:ln>
            <a:noFill/>
          </a:ln>
          <a:effectLst/>
          <a:extLst>
            <a:ext uri="{909E8E84-426E-40DD-AFC4-6F175D3DCCD1}">
              <a14:hiddenFill xmlns:a14="http://schemas.microsoft.com/office/drawing/2010/main">
                <a:gradFill rotWithShape="0">
                  <a:gsLst>
                    <a:gs pos="0">
                      <a:schemeClr val="bg1"/>
                    </a:gs>
                    <a:gs pos="100000">
                      <a:schemeClr val="accent1"/>
                    </a:gs>
                  </a:gsLst>
                  <a:path path="shape">
                    <a:fillToRect l="50000" t="50000" r="50000" b="50000"/>
                  </a:path>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400" b="1" dirty="0">
                <a:solidFill>
                  <a:schemeClr val="tx2"/>
                </a:solidFill>
                <a:latin typeface="Times New Roman" pitchFamily="18" charset="0"/>
              </a:rPr>
              <a:t>DMAIC</a:t>
            </a: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886200"/>
            <a:ext cx="56388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8418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iterate type="wd">
                                    <p:tmPct val="100000"/>
                                  </p:iterate>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3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300" fill="hold"/>
                                        <p:tgtEl>
                                          <p:spTgt spid="5529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iterate type="wd">
                                    <p:tmPct val="100000"/>
                                  </p:iterate>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300" fill="hold"/>
                                        <p:tgtEl>
                                          <p:spTgt spid="55299">
                                            <p:txEl>
                                              <p:pRg st="1" end="1"/>
                                            </p:txEl>
                                          </p:spTgt>
                                        </p:tgtEl>
                                        <p:attrNameLst>
                                          <p:attrName>ppt_x</p:attrName>
                                        </p:attrNameLst>
                                      </p:cBhvr>
                                      <p:tavLst>
                                        <p:tav tm="0">
                                          <p:val>
                                            <p:strVal val="#ppt_x"/>
                                          </p:val>
                                        </p:tav>
                                        <p:tav tm="100000">
                                          <p:val>
                                            <p:strVal val="#ppt_x"/>
                                          </p:val>
                                        </p:tav>
                                      </p:tavLst>
                                    </p:anim>
                                    <p:anim calcmode="lin" valueType="num">
                                      <p:cBhvr additive="base">
                                        <p:cTn id="14" dur="300" fill="hold"/>
                                        <p:tgtEl>
                                          <p:spTgt spid="55299">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iterate type="wd">
                                    <p:tmPct val="100000"/>
                                  </p:iterate>
                                  <p:childTnLst>
                                    <p:set>
                                      <p:cBhvr>
                                        <p:cTn id="18" dur="1" fill="hold">
                                          <p:stCondLst>
                                            <p:cond delay="0"/>
                                          </p:stCondLst>
                                        </p:cTn>
                                        <p:tgtEl>
                                          <p:spTgt spid="55299">
                                            <p:txEl>
                                              <p:pRg st="2" end="2"/>
                                            </p:txEl>
                                          </p:spTgt>
                                        </p:tgtEl>
                                        <p:attrNameLst>
                                          <p:attrName>style.visibility</p:attrName>
                                        </p:attrNameLst>
                                      </p:cBhvr>
                                      <p:to>
                                        <p:strVal val="visible"/>
                                      </p:to>
                                    </p:set>
                                    <p:anim calcmode="lin" valueType="num">
                                      <p:cBhvr additive="base">
                                        <p:cTn id="19" dur="300" fill="hold"/>
                                        <p:tgtEl>
                                          <p:spTgt spid="55299">
                                            <p:txEl>
                                              <p:pRg st="2" end="2"/>
                                            </p:txEl>
                                          </p:spTgt>
                                        </p:tgtEl>
                                        <p:attrNameLst>
                                          <p:attrName>ppt_x</p:attrName>
                                        </p:attrNameLst>
                                      </p:cBhvr>
                                      <p:tavLst>
                                        <p:tav tm="0">
                                          <p:val>
                                            <p:strVal val="#ppt_x"/>
                                          </p:val>
                                        </p:tav>
                                        <p:tav tm="100000">
                                          <p:val>
                                            <p:strVal val="#ppt_x"/>
                                          </p:val>
                                        </p:tav>
                                      </p:tavLst>
                                    </p:anim>
                                    <p:anim calcmode="lin" valueType="num">
                                      <p:cBhvr additive="base">
                                        <p:cTn id="20" dur="300" fill="hold"/>
                                        <p:tgtEl>
                                          <p:spTgt spid="55299">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iterate type="wd">
                                    <p:tmPct val="100000"/>
                                  </p:iterate>
                                  <p:childTnLst>
                                    <p:set>
                                      <p:cBhvr>
                                        <p:cTn id="24" dur="1" fill="hold">
                                          <p:stCondLst>
                                            <p:cond delay="0"/>
                                          </p:stCondLst>
                                        </p:cTn>
                                        <p:tgtEl>
                                          <p:spTgt spid="55299">
                                            <p:txEl>
                                              <p:pRg st="3" end="3"/>
                                            </p:txEl>
                                          </p:spTgt>
                                        </p:tgtEl>
                                        <p:attrNameLst>
                                          <p:attrName>style.visibility</p:attrName>
                                        </p:attrNameLst>
                                      </p:cBhvr>
                                      <p:to>
                                        <p:strVal val="visible"/>
                                      </p:to>
                                    </p:set>
                                    <p:anim calcmode="lin" valueType="num">
                                      <p:cBhvr additive="base">
                                        <p:cTn id="25" dur="300" fill="hold"/>
                                        <p:tgtEl>
                                          <p:spTgt spid="55299">
                                            <p:txEl>
                                              <p:pRg st="3" end="3"/>
                                            </p:txEl>
                                          </p:spTgt>
                                        </p:tgtEl>
                                        <p:attrNameLst>
                                          <p:attrName>ppt_x</p:attrName>
                                        </p:attrNameLst>
                                      </p:cBhvr>
                                      <p:tavLst>
                                        <p:tav tm="0">
                                          <p:val>
                                            <p:strVal val="#ppt_x"/>
                                          </p:val>
                                        </p:tav>
                                        <p:tav tm="100000">
                                          <p:val>
                                            <p:strVal val="#ppt_x"/>
                                          </p:val>
                                        </p:tav>
                                      </p:tavLst>
                                    </p:anim>
                                    <p:anim calcmode="lin" valueType="num">
                                      <p:cBhvr additive="base">
                                        <p:cTn id="26" dur="300" fill="hold"/>
                                        <p:tgtEl>
                                          <p:spTgt spid="55299">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iterate type="wd">
                                    <p:tmPct val="100000"/>
                                  </p:iterate>
                                  <p:childTnLst>
                                    <p:set>
                                      <p:cBhvr>
                                        <p:cTn id="30" dur="1" fill="hold">
                                          <p:stCondLst>
                                            <p:cond delay="0"/>
                                          </p:stCondLst>
                                        </p:cTn>
                                        <p:tgtEl>
                                          <p:spTgt spid="55299">
                                            <p:txEl>
                                              <p:pRg st="4" end="4"/>
                                            </p:txEl>
                                          </p:spTgt>
                                        </p:tgtEl>
                                        <p:attrNameLst>
                                          <p:attrName>style.visibility</p:attrName>
                                        </p:attrNameLst>
                                      </p:cBhvr>
                                      <p:to>
                                        <p:strVal val="visible"/>
                                      </p:to>
                                    </p:set>
                                    <p:anim calcmode="lin" valueType="num">
                                      <p:cBhvr additive="base">
                                        <p:cTn id="31" dur="300" fill="hold"/>
                                        <p:tgtEl>
                                          <p:spTgt spid="55299">
                                            <p:txEl>
                                              <p:pRg st="4" end="4"/>
                                            </p:txEl>
                                          </p:spTgt>
                                        </p:tgtEl>
                                        <p:attrNameLst>
                                          <p:attrName>ppt_x</p:attrName>
                                        </p:attrNameLst>
                                      </p:cBhvr>
                                      <p:tavLst>
                                        <p:tav tm="0">
                                          <p:val>
                                            <p:strVal val="#ppt_x"/>
                                          </p:val>
                                        </p:tav>
                                        <p:tav tm="100000">
                                          <p:val>
                                            <p:strVal val="#ppt_x"/>
                                          </p:val>
                                        </p:tav>
                                      </p:tavLst>
                                    </p:anim>
                                    <p:anim calcmode="lin" valueType="num">
                                      <p:cBhvr additive="base">
                                        <p:cTn id="32" dur="300" fill="hold"/>
                                        <p:tgtEl>
                                          <p:spTgt spid="55299">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5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P spid="55300"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2"/>
          <p:cNvSpPr>
            <a:spLocks noGrp="1"/>
          </p:cNvSpPr>
          <p:nvPr>
            <p:ph type="sldNum" sz="quarter" idx="10"/>
          </p:nvPr>
        </p:nvSpPr>
        <p:spPr/>
        <p:txBody>
          <a:bodyPr/>
          <a:lstStyle/>
          <a:p>
            <a:r>
              <a:rPr lang="en-US" altLang="en-US"/>
              <a:t>9-</a:t>
            </a:r>
            <a:fld id="{33C983C4-1255-4145-BCE8-2BB206E95CA4}" type="slidenum">
              <a:rPr lang="en-US" altLang="en-US"/>
              <a:pPr/>
              <a:t>38</a:t>
            </a:fld>
            <a:endParaRPr lang="en-US" altLang="en-US"/>
          </a:p>
        </p:txBody>
      </p:sp>
      <p:sp>
        <p:nvSpPr>
          <p:cNvPr id="61442" name="Rectangle 2"/>
          <p:cNvSpPr>
            <a:spLocks noGrp="1" noChangeArrowheads="1"/>
          </p:cNvSpPr>
          <p:nvPr>
            <p:ph type="title"/>
          </p:nvPr>
        </p:nvSpPr>
        <p:spPr>
          <a:xfrm>
            <a:off x="762000" y="276225"/>
            <a:ext cx="7772400" cy="6350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b"/>
          <a:lstStyle/>
          <a:p>
            <a:r>
              <a:rPr lang="en-US" altLang="en-US"/>
              <a:t>The PDSA Cycle</a:t>
            </a:r>
            <a:endParaRPr lang="en-US" altLang="en-US" b="1"/>
          </a:p>
        </p:txBody>
      </p:sp>
      <p:grpSp>
        <p:nvGrpSpPr>
          <p:cNvPr id="61443" name="Group 3"/>
          <p:cNvGrpSpPr>
            <a:grpSpLocks/>
          </p:cNvGrpSpPr>
          <p:nvPr/>
        </p:nvGrpSpPr>
        <p:grpSpPr bwMode="auto">
          <a:xfrm>
            <a:off x="1371600" y="1143000"/>
            <a:ext cx="6400800" cy="5257800"/>
            <a:chOff x="1056" y="576"/>
            <a:chExt cx="4032" cy="3312"/>
          </a:xfrm>
        </p:grpSpPr>
        <p:sp useBgFill="1">
          <p:nvSpPr>
            <p:cNvPr id="61444" name="Rectangle 4"/>
            <p:cNvSpPr>
              <a:spLocks noChangeArrowheads="1"/>
            </p:cNvSpPr>
            <p:nvPr/>
          </p:nvSpPr>
          <p:spPr bwMode="auto">
            <a:xfrm>
              <a:off x="3541" y="576"/>
              <a:ext cx="587" cy="325"/>
            </a:xfrm>
            <a:prstGeom prst="rect">
              <a:avLst/>
            </a:prstGeom>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800" b="1"/>
                <a:t>Plan</a:t>
              </a:r>
            </a:p>
          </p:txBody>
        </p:sp>
        <p:sp useBgFill="1">
          <p:nvSpPr>
            <p:cNvPr id="61445" name="Rectangle 5"/>
            <p:cNvSpPr>
              <a:spLocks noChangeArrowheads="1"/>
            </p:cNvSpPr>
            <p:nvPr/>
          </p:nvSpPr>
          <p:spPr bwMode="auto">
            <a:xfrm>
              <a:off x="4674" y="2699"/>
              <a:ext cx="414" cy="325"/>
            </a:xfrm>
            <a:prstGeom prst="rect">
              <a:avLst/>
            </a:prstGeom>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800" b="1"/>
                <a:t>Do</a:t>
              </a:r>
              <a:endParaRPr lang="en-US" altLang="en-US" sz="2400"/>
            </a:p>
          </p:txBody>
        </p:sp>
        <p:sp useBgFill="1">
          <p:nvSpPr>
            <p:cNvPr id="61446" name="Rectangle 6"/>
            <p:cNvSpPr>
              <a:spLocks noChangeArrowheads="1"/>
            </p:cNvSpPr>
            <p:nvPr/>
          </p:nvSpPr>
          <p:spPr bwMode="auto">
            <a:xfrm>
              <a:off x="1789" y="3563"/>
              <a:ext cx="737" cy="325"/>
            </a:xfrm>
            <a:prstGeom prst="rect">
              <a:avLst/>
            </a:prstGeom>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800" b="1"/>
                <a:t>Study</a:t>
              </a:r>
            </a:p>
          </p:txBody>
        </p:sp>
        <p:sp useBgFill="1">
          <p:nvSpPr>
            <p:cNvPr id="61447" name="Rectangle 7"/>
            <p:cNvSpPr>
              <a:spLocks noChangeArrowheads="1"/>
            </p:cNvSpPr>
            <p:nvPr/>
          </p:nvSpPr>
          <p:spPr bwMode="auto">
            <a:xfrm>
              <a:off x="1056" y="1532"/>
              <a:ext cx="476" cy="325"/>
            </a:xfrm>
            <a:prstGeom prst="rect">
              <a:avLst/>
            </a:prstGeom>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800" b="1"/>
                <a:t>Act</a:t>
              </a:r>
            </a:p>
          </p:txBody>
        </p:sp>
        <p:graphicFrame>
          <p:nvGraphicFramePr>
            <p:cNvPr id="61448" name="Object 8"/>
            <p:cNvGraphicFramePr>
              <a:graphicFrameLocks/>
            </p:cNvGraphicFramePr>
            <p:nvPr/>
          </p:nvGraphicFramePr>
          <p:xfrm>
            <a:off x="1297" y="720"/>
            <a:ext cx="3599" cy="3120"/>
          </p:xfrm>
          <a:graphic>
            <a:graphicData uri="http://schemas.openxmlformats.org/presentationml/2006/ole">
              <mc:AlternateContent xmlns:mc="http://schemas.openxmlformats.org/markup-compatibility/2006">
                <mc:Choice xmlns:v="urn:schemas-microsoft-com:vml" Requires="v">
                  <p:oleObj spid="_x0000_s6161" name="Clip" r:id="rId4" imgW="3368520" imgH="3314520" progId="MS_ClipArt_Gallery.2">
                    <p:embed/>
                  </p:oleObj>
                </mc:Choice>
                <mc:Fallback>
                  <p:oleObj name="Clip" r:id="rId4" imgW="3368520" imgH="3314520" progId="MS_ClipArt_Gallery.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7" y="720"/>
                          <a:ext cx="3599" cy="3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1033706924"/>
      </p:ext>
    </p:extLst>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2"/>
          <p:cNvSpPr>
            <a:spLocks noGrp="1"/>
          </p:cNvSpPr>
          <p:nvPr>
            <p:ph type="sldNum" sz="quarter" idx="10"/>
          </p:nvPr>
        </p:nvSpPr>
        <p:spPr/>
        <p:txBody>
          <a:bodyPr/>
          <a:lstStyle/>
          <a:p>
            <a:r>
              <a:rPr lang="en-US" altLang="en-US"/>
              <a:t>9-</a:t>
            </a:r>
            <a:fld id="{BF1D0F7B-5E02-49B4-8F0B-F00D629F374F}" type="slidenum">
              <a:rPr lang="en-US" altLang="en-US"/>
              <a:pPr/>
              <a:t>39</a:t>
            </a:fld>
            <a:endParaRPr lang="en-US" altLang="en-US"/>
          </a:p>
        </p:txBody>
      </p:sp>
      <p:sp>
        <p:nvSpPr>
          <p:cNvPr id="64514" name="Rectangle 2"/>
          <p:cNvSpPr>
            <a:spLocks noGrp="1" noChangeArrowheads="1"/>
          </p:cNvSpPr>
          <p:nvPr>
            <p:ph type="title"/>
          </p:nvPr>
        </p:nvSpPr>
        <p:spPr>
          <a:xfrm>
            <a:off x="0" y="-19050"/>
            <a:ext cx="9144000" cy="822325"/>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b"/>
          <a:lstStyle/>
          <a:p>
            <a:r>
              <a:rPr lang="en-US" altLang="en-US"/>
              <a:t>The Process Improvement Cycle</a:t>
            </a:r>
            <a:endParaRPr lang="en-US" altLang="en-US" b="1"/>
          </a:p>
        </p:txBody>
      </p:sp>
      <p:grpSp>
        <p:nvGrpSpPr>
          <p:cNvPr id="64515" name="Group 3"/>
          <p:cNvGrpSpPr>
            <a:grpSpLocks/>
          </p:cNvGrpSpPr>
          <p:nvPr/>
        </p:nvGrpSpPr>
        <p:grpSpPr bwMode="auto">
          <a:xfrm>
            <a:off x="1530350" y="1143000"/>
            <a:ext cx="6242050" cy="5060950"/>
            <a:chOff x="964" y="720"/>
            <a:chExt cx="3932" cy="3188"/>
          </a:xfrm>
        </p:grpSpPr>
        <p:sp>
          <p:nvSpPr>
            <p:cNvPr id="64516" name="Oval 4"/>
            <p:cNvSpPr>
              <a:spLocks noChangeArrowheads="1"/>
            </p:cNvSpPr>
            <p:nvPr/>
          </p:nvSpPr>
          <p:spPr bwMode="auto">
            <a:xfrm>
              <a:off x="1540" y="912"/>
              <a:ext cx="2832" cy="2832"/>
            </a:xfrm>
            <a:prstGeom prst="ellipse">
              <a:avLst/>
            </a:prstGeom>
            <a:noFill/>
            <a:ln w="12700">
              <a:solidFill>
                <a:srgbClr val="701A5C"/>
              </a:solidFill>
              <a:round/>
              <a:headEnd/>
              <a:tailEnd/>
            </a:ln>
            <a:effectLst/>
            <a:extLst>
              <a:ext uri="{909E8E84-426E-40DD-AFC4-6F175D3DCCD1}">
                <a14:hiddenFill xmlns:a14="http://schemas.microsoft.com/office/drawing/2010/main">
                  <a:gradFill rotWithShape="0">
                    <a:gsLst>
                      <a:gs pos="0">
                        <a:srgbClr val="F1C5E7">
                          <a:gamma/>
                          <a:shade val="89804"/>
                          <a:invGamma/>
                        </a:srgbClr>
                      </a:gs>
                      <a:gs pos="100000">
                        <a:srgbClr val="F1C5E7"/>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17" name="AutoShape 5"/>
            <p:cNvSpPr>
              <a:spLocks noChangeArrowheads="1"/>
            </p:cNvSpPr>
            <p:nvPr/>
          </p:nvSpPr>
          <p:spPr bwMode="auto">
            <a:xfrm rot="1740049">
              <a:off x="3589" y="1064"/>
              <a:ext cx="336" cy="240"/>
            </a:xfrm>
            <a:prstGeom prst="rightArrow">
              <a:avLst>
                <a:gd name="adj1" fmla="val 50000"/>
                <a:gd name="adj2" fmla="val 35000"/>
              </a:avLst>
            </a:prstGeom>
            <a:gradFill rotWithShape="0">
              <a:gsLst>
                <a:gs pos="0">
                  <a:srgbClr val="F1C5E7">
                    <a:gamma/>
                    <a:shade val="89804"/>
                    <a:invGamma/>
                  </a:srgbClr>
                </a:gs>
                <a:gs pos="100000">
                  <a:srgbClr val="F1C5E7"/>
                </a:gs>
              </a:gsLst>
              <a:path path="rect">
                <a:fillToRect l="50000" t="50000" r="50000" b="50000"/>
              </a:path>
            </a:gradFill>
            <a:ln w="12700">
              <a:solidFill>
                <a:srgbClr val="701A5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18" name="AutoShape 6"/>
            <p:cNvSpPr>
              <a:spLocks noChangeArrowheads="1"/>
            </p:cNvSpPr>
            <p:nvPr/>
          </p:nvSpPr>
          <p:spPr bwMode="auto">
            <a:xfrm rot="-16241290">
              <a:off x="4228" y="2112"/>
              <a:ext cx="336" cy="240"/>
            </a:xfrm>
            <a:prstGeom prst="rightArrow">
              <a:avLst>
                <a:gd name="adj1" fmla="val 50000"/>
                <a:gd name="adj2" fmla="val 35000"/>
              </a:avLst>
            </a:prstGeom>
            <a:gradFill rotWithShape="0">
              <a:gsLst>
                <a:gs pos="0">
                  <a:srgbClr val="F1C5E7">
                    <a:gamma/>
                    <a:shade val="89804"/>
                    <a:invGamma/>
                  </a:srgbClr>
                </a:gs>
                <a:gs pos="100000">
                  <a:srgbClr val="F1C5E7"/>
                </a:gs>
              </a:gsLst>
              <a:path path="rect">
                <a:fillToRect l="50000" t="50000" r="50000" b="50000"/>
              </a:path>
            </a:gradFill>
            <a:ln w="12700">
              <a:solidFill>
                <a:srgbClr val="701A5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19" name="AutoShape 7"/>
            <p:cNvSpPr>
              <a:spLocks noChangeArrowheads="1"/>
            </p:cNvSpPr>
            <p:nvPr/>
          </p:nvSpPr>
          <p:spPr bwMode="auto">
            <a:xfrm rot="7637161">
              <a:off x="3844" y="3168"/>
              <a:ext cx="336" cy="240"/>
            </a:xfrm>
            <a:prstGeom prst="rightArrow">
              <a:avLst>
                <a:gd name="adj1" fmla="val 50000"/>
                <a:gd name="adj2" fmla="val 35000"/>
              </a:avLst>
            </a:prstGeom>
            <a:gradFill rotWithShape="0">
              <a:gsLst>
                <a:gs pos="0">
                  <a:srgbClr val="F1C5E7">
                    <a:gamma/>
                    <a:shade val="89804"/>
                    <a:invGamma/>
                  </a:srgbClr>
                </a:gs>
                <a:gs pos="100000">
                  <a:srgbClr val="F1C5E7"/>
                </a:gs>
              </a:gsLst>
              <a:path path="rect">
                <a:fillToRect l="50000" t="50000" r="50000" b="50000"/>
              </a:path>
            </a:gradFill>
            <a:ln w="12700">
              <a:solidFill>
                <a:srgbClr val="701A5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20" name="AutoShape 8"/>
            <p:cNvSpPr>
              <a:spLocks noChangeArrowheads="1"/>
            </p:cNvSpPr>
            <p:nvPr/>
          </p:nvSpPr>
          <p:spPr bwMode="auto">
            <a:xfrm rot="13587303">
              <a:off x="1828" y="3264"/>
              <a:ext cx="336" cy="240"/>
            </a:xfrm>
            <a:prstGeom prst="rightArrow">
              <a:avLst>
                <a:gd name="adj1" fmla="val 50000"/>
                <a:gd name="adj2" fmla="val 35000"/>
              </a:avLst>
            </a:prstGeom>
            <a:gradFill rotWithShape="0">
              <a:gsLst>
                <a:gs pos="0">
                  <a:srgbClr val="F1C5E7">
                    <a:gamma/>
                    <a:shade val="89804"/>
                    <a:invGamma/>
                  </a:srgbClr>
                </a:gs>
                <a:gs pos="100000">
                  <a:srgbClr val="F1C5E7"/>
                </a:gs>
              </a:gsLst>
              <a:path path="rect">
                <a:fillToRect l="50000" t="50000" r="50000" b="50000"/>
              </a:path>
            </a:gradFill>
            <a:ln w="12700">
              <a:solidFill>
                <a:srgbClr val="701A5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21" name="AutoShape 9"/>
            <p:cNvSpPr>
              <a:spLocks noChangeArrowheads="1"/>
            </p:cNvSpPr>
            <p:nvPr/>
          </p:nvSpPr>
          <p:spPr bwMode="auto">
            <a:xfrm rot="-5449260">
              <a:off x="1396" y="2304"/>
              <a:ext cx="336" cy="240"/>
            </a:xfrm>
            <a:prstGeom prst="rightArrow">
              <a:avLst>
                <a:gd name="adj1" fmla="val 50000"/>
                <a:gd name="adj2" fmla="val 35000"/>
              </a:avLst>
            </a:prstGeom>
            <a:gradFill rotWithShape="0">
              <a:gsLst>
                <a:gs pos="0">
                  <a:srgbClr val="F1C5E7">
                    <a:gamma/>
                    <a:shade val="89804"/>
                    <a:invGamma/>
                  </a:srgbClr>
                </a:gs>
                <a:gs pos="100000">
                  <a:srgbClr val="F1C5E7"/>
                </a:gs>
              </a:gsLst>
              <a:path path="rect">
                <a:fillToRect l="50000" t="50000" r="50000" b="50000"/>
              </a:path>
            </a:gradFill>
            <a:ln w="12700">
              <a:solidFill>
                <a:srgbClr val="701A5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22" name="AutoShape 10"/>
            <p:cNvSpPr>
              <a:spLocks noChangeArrowheads="1"/>
            </p:cNvSpPr>
            <p:nvPr/>
          </p:nvSpPr>
          <p:spPr bwMode="auto">
            <a:xfrm rot="-4086492">
              <a:off x="1540" y="1584"/>
              <a:ext cx="336" cy="240"/>
            </a:xfrm>
            <a:prstGeom prst="rightArrow">
              <a:avLst>
                <a:gd name="adj1" fmla="val 50000"/>
                <a:gd name="adj2" fmla="val 35000"/>
              </a:avLst>
            </a:prstGeom>
            <a:gradFill rotWithShape="0">
              <a:gsLst>
                <a:gs pos="0">
                  <a:srgbClr val="F1C5E7">
                    <a:gamma/>
                    <a:shade val="89804"/>
                    <a:invGamma/>
                  </a:srgbClr>
                </a:gs>
                <a:gs pos="100000">
                  <a:srgbClr val="F1C5E7"/>
                </a:gs>
              </a:gsLst>
              <a:path path="rect">
                <a:fillToRect l="50000" t="50000" r="50000" b="50000"/>
              </a:path>
            </a:gradFill>
            <a:ln w="12700">
              <a:solidFill>
                <a:srgbClr val="701A5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23" name="AutoShape 11"/>
            <p:cNvSpPr>
              <a:spLocks noChangeArrowheads="1"/>
            </p:cNvSpPr>
            <p:nvPr/>
          </p:nvSpPr>
          <p:spPr bwMode="auto">
            <a:xfrm rot="-1851953">
              <a:off x="2164" y="960"/>
              <a:ext cx="336" cy="240"/>
            </a:xfrm>
            <a:prstGeom prst="rightArrow">
              <a:avLst>
                <a:gd name="adj1" fmla="val 50000"/>
                <a:gd name="adj2" fmla="val 35000"/>
              </a:avLst>
            </a:prstGeom>
            <a:gradFill rotWithShape="0">
              <a:gsLst>
                <a:gs pos="0">
                  <a:srgbClr val="F1C5E7">
                    <a:gamma/>
                    <a:shade val="89804"/>
                    <a:invGamma/>
                  </a:srgbClr>
                </a:gs>
                <a:gs pos="100000">
                  <a:srgbClr val="F1C5E7"/>
                </a:gs>
              </a:gsLst>
              <a:path path="rect">
                <a:fillToRect l="50000" t="50000" r="50000" b="50000"/>
              </a:path>
            </a:gradFill>
            <a:ln w="12700">
              <a:solidFill>
                <a:srgbClr val="701A5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524" name="Text Box 12"/>
            <p:cNvSpPr txBox="1">
              <a:spLocks noChangeArrowheads="1"/>
            </p:cNvSpPr>
            <p:nvPr/>
          </p:nvSpPr>
          <p:spPr bwMode="auto">
            <a:xfrm>
              <a:off x="964" y="2688"/>
              <a:ext cx="1356"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701A5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Implement the</a:t>
              </a:r>
            </a:p>
            <a:p>
              <a:r>
                <a:rPr lang="en-US" altLang="en-US" b="1"/>
                <a:t>Improved process</a:t>
              </a:r>
            </a:p>
          </p:txBody>
        </p:sp>
        <p:sp>
          <p:nvSpPr>
            <p:cNvPr id="64525" name="Text Box 13"/>
            <p:cNvSpPr txBox="1">
              <a:spLocks noChangeArrowheads="1"/>
            </p:cNvSpPr>
            <p:nvPr/>
          </p:nvSpPr>
          <p:spPr bwMode="auto">
            <a:xfrm>
              <a:off x="2692" y="720"/>
              <a:ext cx="668"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701A5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Select a</a:t>
              </a:r>
            </a:p>
            <a:p>
              <a:r>
                <a:rPr lang="en-US" altLang="en-US" b="1"/>
                <a:t>process</a:t>
              </a:r>
            </a:p>
          </p:txBody>
        </p:sp>
        <p:sp>
          <p:nvSpPr>
            <p:cNvPr id="64526" name="Text Box 14"/>
            <p:cNvSpPr txBox="1">
              <a:spLocks noChangeArrowheads="1"/>
            </p:cNvSpPr>
            <p:nvPr/>
          </p:nvSpPr>
          <p:spPr bwMode="auto">
            <a:xfrm>
              <a:off x="3652" y="1536"/>
              <a:ext cx="124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701A5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Study/document</a:t>
              </a:r>
            </a:p>
          </p:txBody>
        </p:sp>
        <p:sp>
          <p:nvSpPr>
            <p:cNvPr id="64527" name="Text Box 15"/>
            <p:cNvSpPr txBox="1">
              <a:spLocks noChangeArrowheads="1"/>
            </p:cNvSpPr>
            <p:nvPr/>
          </p:nvSpPr>
          <p:spPr bwMode="auto">
            <a:xfrm>
              <a:off x="3844" y="2592"/>
              <a:ext cx="1020"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701A5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Seek ways to</a:t>
              </a:r>
            </a:p>
            <a:p>
              <a:r>
                <a:rPr lang="en-US" altLang="en-US" b="1"/>
                <a:t>Improve it</a:t>
              </a:r>
            </a:p>
          </p:txBody>
        </p:sp>
        <p:sp>
          <p:nvSpPr>
            <p:cNvPr id="64528" name="Text Box 16"/>
            <p:cNvSpPr txBox="1">
              <a:spLocks noChangeArrowheads="1"/>
            </p:cNvSpPr>
            <p:nvPr/>
          </p:nvSpPr>
          <p:spPr bwMode="auto">
            <a:xfrm>
              <a:off x="2340" y="3504"/>
              <a:ext cx="1356"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701A5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t>Design an</a:t>
              </a:r>
            </a:p>
            <a:p>
              <a:pPr algn="ctr"/>
              <a:r>
                <a:rPr lang="en-US" altLang="en-US" b="1"/>
                <a:t>Improved process</a:t>
              </a:r>
            </a:p>
          </p:txBody>
        </p:sp>
        <p:sp>
          <p:nvSpPr>
            <p:cNvPr id="64529" name="Text Box 17"/>
            <p:cNvSpPr txBox="1">
              <a:spLocks noChangeArrowheads="1"/>
            </p:cNvSpPr>
            <p:nvPr/>
          </p:nvSpPr>
          <p:spPr bwMode="auto">
            <a:xfrm>
              <a:off x="1156" y="1968"/>
              <a:ext cx="708"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701A5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Evaluate</a:t>
              </a:r>
            </a:p>
          </p:txBody>
        </p:sp>
        <p:sp>
          <p:nvSpPr>
            <p:cNvPr id="64530" name="Text Box 18"/>
            <p:cNvSpPr txBox="1">
              <a:spLocks noChangeArrowheads="1"/>
            </p:cNvSpPr>
            <p:nvPr/>
          </p:nvSpPr>
          <p:spPr bwMode="auto">
            <a:xfrm>
              <a:off x="1444" y="1248"/>
              <a:ext cx="820"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701A5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Document</a:t>
              </a:r>
            </a:p>
          </p:txBody>
        </p:sp>
      </p:grpSp>
      <p:sp>
        <p:nvSpPr>
          <p:cNvPr id="64531" name="Text Box 19"/>
          <p:cNvSpPr txBox="1">
            <a:spLocks noChangeArrowheads="1"/>
          </p:cNvSpPr>
          <p:nvPr/>
        </p:nvSpPr>
        <p:spPr bwMode="auto">
          <a:xfrm>
            <a:off x="133350" y="819150"/>
            <a:ext cx="1641475" cy="457200"/>
          </a:xfrm>
          <a:prstGeom prst="rect">
            <a:avLst/>
          </a:prstGeom>
          <a:noFill/>
          <a:ln>
            <a:noFill/>
          </a:ln>
          <a:effectLst/>
          <a:extLst>
            <a:ext uri="{909E8E84-426E-40DD-AFC4-6F175D3DCCD1}">
              <a14:hiddenFill xmlns:a14="http://schemas.microsoft.com/office/drawing/2010/main">
                <a:gradFill rotWithShape="0">
                  <a:gsLst>
                    <a:gs pos="0">
                      <a:schemeClr val="bg1"/>
                    </a:gs>
                    <a:gs pos="100000">
                      <a:schemeClr val="accent1"/>
                    </a:gs>
                  </a:gsLst>
                  <a:path path="shape">
                    <a:fillToRect l="50000" t="50000" r="50000" b="50000"/>
                  </a:path>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hlink"/>
                </a:solidFill>
              </a:rPr>
              <a:t>Figure. 9.3</a:t>
            </a:r>
          </a:p>
        </p:txBody>
      </p:sp>
    </p:spTree>
    <p:extLst>
      <p:ext uri="{BB962C8B-B14F-4D97-AF65-F5344CB8AC3E}">
        <p14:creationId xmlns:p14="http://schemas.microsoft.com/office/powerpoint/2010/main" val="14161243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86600" y="6553200"/>
            <a:ext cx="2133600" cy="476250"/>
          </a:xfrm>
          <a:prstGeom prst="rect">
            <a:avLst/>
          </a:prstGeom>
        </p:spPr>
        <p:txBody>
          <a:bodyPr/>
          <a:lstStyle/>
          <a:p>
            <a:r>
              <a:rPr lang="en-US" altLang="en-US"/>
              <a:t>9-</a:t>
            </a:r>
            <a:fld id="{00A8E170-CE09-4296-A557-AD21FFDFAF71}" type="slidenum">
              <a:rPr lang="en-US" altLang="en-US"/>
              <a:pPr/>
              <a:t>40</a:t>
            </a:fld>
            <a:endParaRPr lang="en-US" altLang="en-US"/>
          </a:p>
        </p:txBody>
      </p:sp>
      <p:sp>
        <p:nvSpPr>
          <p:cNvPr id="67586" name="Rectangle 2"/>
          <p:cNvSpPr>
            <a:spLocks noGrp="1" noChangeArrowheads="1"/>
          </p:cNvSpPr>
          <p:nvPr>
            <p:ph type="title"/>
          </p:nvPr>
        </p:nvSpPr>
        <p:spPr>
          <a:xfrm>
            <a:off x="762000" y="176213"/>
            <a:ext cx="7772400" cy="7366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b"/>
          <a:lstStyle/>
          <a:p>
            <a:r>
              <a:rPr lang="en-US" altLang="en-US" dirty="0" smtClean="0"/>
              <a:t>Other Basic </a:t>
            </a:r>
            <a:r>
              <a:rPr lang="en-US" altLang="en-US" dirty="0"/>
              <a:t>Quality Tools</a:t>
            </a:r>
            <a:endParaRPr lang="en-US" altLang="en-US" b="1" dirty="0"/>
          </a:p>
        </p:txBody>
      </p:sp>
      <p:sp>
        <p:nvSpPr>
          <p:cNvPr id="67587" name="Rectangle 3"/>
          <p:cNvSpPr>
            <a:spLocks noGrp="1" noChangeArrowheads="1"/>
          </p:cNvSpPr>
          <p:nvPr>
            <p:ph type="body" idx="1"/>
          </p:nvPr>
        </p:nvSpPr>
        <p:spPr>
          <a:xfrm>
            <a:off x="701675" y="1550988"/>
            <a:ext cx="7138988" cy="2960687"/>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rmAutofit fontScale="92500" lnSpcReduction="20000"/>
          </a:bodyPr>
          <a:lstStyle/>
          <a:p>
            <a:pPr>
              <a:lnSpc>
                <a:spcPct val="90000"/>
              </a:lnSpc>
              <a:spcBef>
                <a:spcPct val="35000"/>
              </a:spcBef>
              <a:buFont typeface="Wingdings" panose="05000000000000000000" pitchFamily="2" charset="2"/>
              <a:buChar char="Ø"/>
            </a:pPr>
            <a:r>
              <a:rPr lang="en-US" altLang="en-US" dirty="0" smtClean="0"/>
              <a:t>Flowcharts</a:t>
            </a:r>
            <a:endParaRPr lang="en-US" altLang="en-US" dirty="0"/>
          </a:p>
          <a:p>
            <a:pPr>
              <a:lnSpc>
                <a:spcPct val="90000"/>
              </a:lnSpc>
              <a:spcBef>
                <a:spcPct val="35000"/>
              </a:spcBef>
              <a:buFont typeface="Wingdings" panose="05000000000000000000" pitchFamily="2" charset="2"/>
              <a:buChar char="Ø"/>
            </a:pPr>
            <a:r>
              <a:rPr lang="en-US" altLang="en-US" dirty="0"/>
              <a:t>Check </a:t>
            </a:r>
            <a:r>
              <a:rPr lang="en-US" altLang="en-US" dirty="0" smtClean="0"/>
              <a:t>sheets</a:t>
            </a:r>
            <a:endParaRPr lang="en-US" altLang="en-US" dirty="0"/>
          </a:p>
          <a:p>
            <a:pPr>
              <a:lnSpc>
                <a:spcPct val="90000"/>
              </a:lnSpc>
              <a:spcBef>
                <a:spcPct val="35000"/>
              </a:spcBef>
              <a:buFont typeface="Wingdings" panose="05000000000000000000" pitchFamily="2" charset="2"/>
              <a:buChar char="Ø"/>
            </a:pPr>
            <a:r>
              <a:rPr lang="en-US" altLang="en-US" dirty="0" smtClean="0"/>
              <a:t>Histograms</a:t>
            </a:r>
            <a:endParaRPr lang="en-US" altLang="en-US" dirty="0"/>
          </a:p>
          <a:p>
            <a:pPr>
              <a:lnSpc>
                <a:spcPct val="90000"/>
              </a:lnSpc>
              <a:spcBef>
                <a:spcPct val="35000"/>
              </a:spcBef>
              <a:buFont typeface="Wingdings" panose="05000000000000000000" pitchFamily="2" charset="2"/>
              <a:buChar char="Ø"/>
            </a:pPr>
            <a:r>
              <a:rPr lang="en-US" altLang="en-US" dirty="0"/>
              <a:t>Pareto </a:t>
            </a:r>
            <a:r>
              <a:rPr lang="en-US" altLang="en-US" dirty="0" smtClean="0"/>
              <a:t>Charts</a:t>
            </a:r>
            <a:endParaRPr lang="en-US" altLang="en-US" dirty="0"/>
          </a:p>
          <a:p>
            <a:pPr>
              <a:lnSpc>
                <a:spcPct val="90000"/>
              </a:lnSpc>
              <a:spcBef>
                <a:spcPct val="35000"/>
              </a:spcBef>
              <a:buFont typeface="Wingdings" panose="05000000000000000000" pitchFamily="2" charset="2"/>
              <a:buChar char="Ø"/>
            </a:pPr>
            <a:r>
              <a:rPr lang="en-US" altLang="en-US" dirty="0"/>
              <a:t>Scatter </a:t>
            </a:r>
            <a:r>
              <a:rPr lang="en-US" altLang="en-US" dirty="0" smtClean="0"/>
              <a:t>diagrams</a:t>
            </a:r>
            <a:endParaRPr lang="en-US" altLang="en-US" dirty="0"/>
          </a:p>
          <a:p>
            <a:pPr>
              <a:lnSpc>
                <a:spcPct val="90000"/>
              </a:lnSpc>
              <a:spcBef>
                <a:spcPct val="35000"/>
              </a:spcBef>
              <a:buFont typeface="Wingdings" panose="05000000000000000000" pitchFamily="2" charset="2"/>
              <a:buChar char="Ø"/>
            </a:pPr>
            <a:r>
              <a:rPr lang="en-US" altLang="en-US" dirty="0"/>
              <a:t>Control charts</a:t>
            </a:r>
          </a:p>
          <a:p>
            <a:pPr>
              <a:lnSpc>
                <a:spcPct val="90000"/>
              </a:lnSpc>
              <a:spcBef>
                <a:spcPct val="35000"/>
              </a:spcBef>
              <a:buFont typeface="Wingdings" panose="05000000000000000000" pitchFamily="2" charset="2"/>
              <a:buChar char="Ø"/>
            </a:pPr>
            <a:r>
              <a:rPr lang="en-US" altLang="en-US" dirty="0"/>
              <a:t>Cause-and-effect diagrams</a:t>
            </a:r>
          </a:p>
          <a:p>
            <a:pPr>
              <a:lnSpc>
                <a:spcPct val="90000"/>
              </a:lnSpc>
              <a:spcBef>
                <a:spcPct val="35000"/>
              </a:spcBef>
              <a:buFont typeface="Wingdings" panose="05000000000000000000" pitchFamily="2" charset="2"/>
              <a:buChar char="Ø"/>
            </a:pPr>
            <a:r>
              <a:rPr lang="en-US" altLang="en-US" dirty="0"/>
              <a:t>Run charts</a:t>
            </a:r>
          </a:p>
        </p:txBody>
      </p:sp>
    </p:spTree>
    <p:extLst>
      <p:ext uri="{BB962C8B-B14F-4D97-AF65-F5344CB8AC3E}">
        <p14:creationId xmlns:p14="http://schemas.microsoft.com/office/powerpoint/2010/main" val="21340990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wipe(left)">
                                      <p:cBhvr>
                                        <p:cTn id="7" dur="500"/>
                                        <p:tgtEl>
                                          <p:spTgt spid="67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87">
                                            <p:txEl>
                                              <p:pRg st="1" end="1"/>
                                            </p:txEl>
                                          </p:spTgt>
                                        </p:tgtEl>
                                        <p:attrNameLst>
                                          <p:attrName>style.visibility</p:attrName>
                                        </p:attrNameLst>
                                      </p:cBhvr>
                                      <p:to>
                                        <p:strVal val="visible"/>
                                      </p:to>
                                    </p:set>
                                    <p:animEffect transition="in" filter="wipe(left)">
                                      <p:cBhvr>
                                        <p:cTn id="12" dur="500"/>
                                        <p:tgtEl>
                                          <p:spTgt spid="67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587">
                                            <p:txEl>
                                              <p:pRg st="2" end="2"/>
                                            </p:txEl>
                                          </p:spTgt>
                                        </p:tgtEl>
                                        <p:attrNameLst>
                                          <p:attrName>style.visibility</p:attrName>
                                        </p:attrNameLst>
                                      </p:cBhvr>
                                      <p:to>
                                        <p:strVal val="visible"/>
                                      </p:to>
                                    </p:set>
                                    <p:animEffect transition="in" filter="wipe(left)">
                                      <p:cBhvr>
                                        <p:cTn id="17" dur="500"/>
                                        <p:tgtEl>
                                          <p:spTgt spid="67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587">
                                            <p:txEl>
                                              <p:pRg st="3" end="3"/>
                                            </p:txEl>
                                          </p:spTgt>
                                        </p:tgtEl>
                                        <p:attrNameLst>
                                          <p:attrName>style.visibility</p:attrName>
                                        </p:attrNameLst>
                                      </p:cBhvr>
                                      <p:to>
                                        <p:strVal val="visible"/>
                                      </p:to>
                                    </p:set>
                                    <p:animEffect transition="in" filter="wipe(left)">
                                      <p:cBhvr>
                                        <p:cTn id="22" dur="500"/>
                                        <p:tgtEl>
                                          <p:spTgt spid="675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587">
                                            <p:txEl>
                                              <p:pRg st="4" end="4"/>
                                            </p:txEl>
                                          </p:spTgt>
                                        </p:tgtEl>
                                        <p:attrNameLst>
                                          <p:attrName>style.visibility</p:attrName>
                                        </p:attrNameLst>
                                      </p:cBhvr>
                                      <p:to>
                                        <p:strVal val="visible"/>
                                      </p:to>
                                    </p:set>
                                    <p:animEffect transition="in" filter="wipe(left)">
                                      <p:cBhvr>
                                        <p:cTn id="27" dur="500"/>
                                        <p:tgtEl>
                                          <p:spTgt spid="675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7587">
                                            <p:txEl>
                                              <p:pRg st="5" end="5"/>
                                            </p:txEl>
                                          </p:spTgt>
                                        </p:tgtEl>
                                        <p:attrNameLst>
                                          <p:attrName>style.visibility</p:attrName>
                                        </p:attrNameLst>
                                      </p:cBhvr>
                                      <p:to>
                                        <p:strVal val="visible"/>
                                      </p:to>
                                    </p:set>
                                    <p:animEffect transition="in" filter="wipe(left)">
                                      <p:cBhvr>
                                        <p:cTn id="32" dur="500"/>
                                        <p:tgtEl>
                                          <p:spTgt spid="6758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7587">
                                            <p:txEl>
                                              <p:pRg st="6" end="6"/>
                                            </p:txEl>
                                          </p:spTgt>
                                        </p:tgtEl>
                                        <p:attrNameLst>
                                          <p:attrName>style.visibility</p:attrName>
                                        </p:attrNameLst>
                                      </p:cBhvr>
                                      <p:to>
                                        <p:strVal val="visible"/>
                                      </p:to>
                                    </p:set>
                                    <p:animEffect transition="in" filter="wipe(left)">
                                      <p:cBhvr>
                                        <p:cTn id="37" dur="500"/>
                                        <p:tgtEl>
                                          <p:spTgt spid="6758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7587">
                                            <p:txEl>
                                              <p:pRg st="7" end="7"/>
                                            </p:txEl>
                                          </p:spTgt>
                                        </p:tgtEl>
                                        <p:attrNameLst>
                                          <p:attrName>style.visibility</p:attrName>
                                        </p:attrNameLst>
                                      </p:cBhvr>
                                      <p:to>
                                        <p:strVal val="visible"/>
                                      </p:to>
                                    </p:set>
                                    <p:animEffect transition="in" filter="wipe(left)">
                                      <p:cBhvr>
                                        <p:cTn id="42" dur="500"/>
                                        <p:tgtEl>
                                          <p:spTgt spid="675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Building Blocks of SQA </a:t>
            </a:r>
            <a:br>
              <a:rPr lang="en-IN" sz="3200" dirty="0"/>
            </a:br>
            <a:endParaRPr lang="en-IN" dirty="0"/>
          </a:p>
        </p:txBody>
      </p:sp>
      <p:sp>
        <p:nvSpPr>
          <p:cNvPr id="3" name="Content Placeholder 2"/>
          <p:cNvSpPr>
            <a:spLocks noGrp="1"/>
          </p:cNvSpPr>
          <p:nvPr>
            <p:ph sz="quarter" idx="1"/>
          </p:nvPr>
        </p:nvSpPr>
        <p:spPr/>
        <p:txBody>
          <a:bodyPr/>
          <a:lstStyle/>
          <a:p>
            <a:pPr marL="0" indent="0">
              <a:buNone/>
            </a:pPr>
            <a:r>
              <a:rPr lang="en-US" b="1" dirty="0"/>
              <a:t>Software Quality Assurance</a:t>
            </a:r>
            <a:r>
              <a:rPr lang="en-US" dirty="0"/>
              <a:t> (SQA) is a set of activities for ensuring quality in software engineering processes. It ensures that developed software meets and complies with the defined or standardized quality specifications. SQA is an ongoing process within the Software Development Life Cycle (SDLC) that routinely checks the developed software to ensure it meets the desired quality measures.</a:t>
            </a:r>
            <a:endParaRPr lang="en-IN" dirty="0"/>
          </a:p>
        </p:txBody>
      </p:sp>
    </p:spTree>
    <p:extLst>
      <p:ext uri="{BB962C8B-B14F-4D97-AF65-F5344CB8AC3E}">
        <p14:creationId xmlns:p14="http://schemas.microsoft.com/office/powerpoint/2010/main" val="35211052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a:t>
            </a:r>
            <a:r>
              <a:rPr lang="en-US" dirty="0"/>
              <a:t>of SQA System</a:t>
            </a:r>
            <a:br>
              <a:rPr lang="en-US" dirty="0"/>
            </a:br>
            <a:endParaRPr lang="en-IN" dirty="0"/>
          </a:p>
        </p:txBody>
      </p:sp>
      <p:sp>
        <p:nvSpPr>
          <p:cNvPr id="3" name="Content Placeholder 2"/>
          <p:cNvSpPr>
            <a:spLocks noGrp="1"/>
          </p:cNvSpPr>
          <p:nvPr>
            <p:ph sz="quarter" idx="1"/>
          </p:nvPr>
        </p:nvSpPr>
        <p:spPr>
          <a:xfrm>
            <a:off x="457200" y="1219200"/>
            <a:ext cx="7848600" cy="5254752"/>
          </a:xfrm>
        </p:spPr>
        <p:txBody>
          <a:bodyPr>
            <a:normAutofit fontScale="47500" lnSpcReduction="20000"/>
          </a:bodyPr>
          <a:lstStyle/>
          <a:p>
            <a:pPr marL="0" indent="0">
              <a:buNone/>
            </a:pPr>
            <a:r>
              <a:rPr lang="en-US" sz="3400" dirty="0"/>
              <a:t>An SQA system always combines a wide range of SQA components. These components can be classified into the following six classes −</a:t>
            </a:r>
          </a:p>
          <a:p>
            <a:pPr marL="0" indent="0">
              <a:buNone/>
            </a:pPr>
            <a:r>
              <a:rPr lang="en-US" sz="3400" b="1" dirty="0"/>
              <a:t>Pre-project components</a:t>
            </a:r>
          </a:p>
          <a:p>
            <a:pPr marL="0" indent="0">
              <a:buNone/>
            </a:pPr>
            <a:r>
              <a:rPr lang="en-US" sz="3400" dirty="0"/>
              <a:t>This assures that the project commitments have been clearly defined considering the resources required, the schedule and budget; and the development and quality plans have been correctly determined.</a:t>
            </a:r>
          </a:p>
          <a:p>
            <a:pPr marL="0" indent="0">
              <a:buNone/>
            </a:pPr>
            <a:r>
              <a:rPr lang="en-US" sz="3400" b="1" dirty="0"/>
              <a:t>Components of project life cycle activities assessment</a:t>
            </a:r>
          </a:p>
          <a:p>
            <a:pPr marL="0" indent="0">
              <a:buNone/>
            </a:pPr>
            <a:r>
              <a:rPr lang="en-US" sz="3400" dirty="0"/>
              <a:t>The project life cycle is composed of two stages: the development life cycle stage and the operation–maintenance stage.</a:t>
            </a:r>
          </a:p>
          <a:p>
            <a:pPr marL="0" indent="0">
              <a:buNone/>
            </a:pPr>
            <a:r>
              <a:rPr lang="en-US" sz="3400" dirty="0"/>
              <a:t>The development life cycle stage components detect design and programming errors. Its components are divided into the following sub-classes: Reviews, Expert opinions, and Software testing.</a:t>
            </a:r>
          </a:p>
          <a:p>
            <a:pPr marL="0" indent="0">
              <a:buNone/>
            </a:pPr>
            <a:r>
              <a:rPr lang="en-US" sz="3400" dirty="0"/>
              <a:t>The SQA components used during the operation–maintenance phase include specialized maintenance components as well as development life cycle components, which are applied mainly for functionality to improve the maintenance tasks.</a:t>
            </a:r>
          </a:p>
          <a:p>
            <a:pPr marL="0" indent="0">
              <a:buNone/>
            </a:pPr>
            <a:r>
              <a:rPr lang="en-US" sz="3400" b="1" dirty="0"/>
              <a:t>Components of infrastructure error prevention and improvement</a:t>
            </a:r>
          </a:p>
          <a:p>
            <a:pPr marL="0" indent="0">
              <a:buNone/>
            </a:pPr>
            <a:r>
              <a:rPr lang="en-US" sz="3400" dirty="0"/>
              <a:t>The main objective of these components, which is applied throughout the entire organization, is to eliminate or at least reduce the rate of errors, based on the organization’s accumulated SQA experience.</a:t>
            </a:r>
          </a:p>
          <a:p>
            <a:endParaRPr lang="en-IN" dirty="0"/>
          </a:p>
        </p:txBody>
      </p:sp>
    </p:spTree>
    <p:extLst>
      <p:ext uri="{BB962C8B-B14F-4D97-AF65-F5344CB8AC3E}">
        <p14:creationId xmlns:p14="http://schemas.microsoft.com/office/powerpoint/2010/main" val="2923902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sz="quarter" idx="1"/>
          </p:nvPr>
        </p:nvSpPr>
        <p:spPr>
          <a:xfrm>
            <a:off x="609600" y="1447800"/>
            <a:ext cx="7315200" cy="5026152"/>
          </a:xfrm>
        </p:spPr>
        <p:txBody>
          <a:bodyPr>
            <a:normAutofit fontScale="25000" lnSpcReduction="20000"/>
          </a:bodyPr>
          <a:lstStyle/>
          <a:p>
            <a:pPr marL="0" indent="0">
              <a:buNone/>
            </a:pPr>
            <a:r>
              <a:rPr lang="en-US" sz="6800" b="1" dirty="0"/>
              <a:t>Components of software quality management</a:t>
            </a:r>
          </a:p>
          <a:p>
            <a:pPr marL="0" indent="0">
              <a:buNone/>
            </a:pPr>
            <a:r>
              <a:rPr lang="en-US" sz="6800" dirty="0"/>
              <a:t>This class of components deal with several goals, such as the control of development and maintenance activities, and the introduction of early managerial support actions that mainly prevent or minimize schedule and budget failures and their outcomes.</a:t>
            </a:r>
          </a:p>
          <a:p>
            <a:pPr marL="0" indent="0">
              <a:buNone/>
            </a:pPr>
            <a:r>
              <a:rPr lang="en-US" sz="6800" b="1" dirty="0"/>
              <a:t>Components of standardization, certification, and SQA system assessment</a:t>
            </a:r>
          </a:p>
          <a:p>
            <a:pPr marL="0" indent="0">
              <a:buNone/>
            </a:pPr>
            <a:r>
              <a:rPr lang="en-US" sz="6800" dirty="0"/>
              <a:t>These components implement international professional and managerial standards within the organization. The main objectives of this class are utilization of international professional knowledge, improvement of coordination of the organizational quality systems with other organizations, and assessment of the achievements of quality systems according to a common scale. The various standards may be classified into two main groups: quality management standards and project process standards.</a:t>
            </a:r>
          </a:p>
          <a:p>
            <a:pPr marL="0" indent="0">
              <a:buNone/>
            </a:pPr>
            <a:r>
              <a:rPr lang="en-US" sz="6800" b="1" dirty="0"/>
              <a:t>Organizing for SQA – the human components</a:t>
            </a:r>
          </a:p>
          <a:p>
            <a:pPr marL="0" indent="0">
              <a:buNone/>
            </a:pPr>
            <a:r>
              <a:rPr lang="en-US" sz="6800" dirty="0"/>
              <a:t>The SQA organizational base includes managers, testing personnel, the SQA unit and the persons interested in software quality such as SQA trustees, SQA committee members, and SQA forum members. Their main objectives are to initiate and support the implementation of SQA components, detect deviations from SQA procedures and methodology, and suggest improvements.</a:t>
            </a:r>
          </a:p>
          <a:p>
            <a:endParaRPr lang="en-IN" dirty="0"/>
          </a:p>
        </p:txBody>
      </p:sp>
    </p:spTree>
    <p:extLst>
      <p:ext uri="{BB962C8B-B14F-4D97-AF65-F5344CB8AC3E}">
        <p14:creationId xmlns:p14="http://schemas.microsoft.com/office/powerpoint/2010/main" val="4221769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1265238"/>
          </a:xfrm>
        </p:spPr>
        <p:txBody>
          <a:bodyPr>
            <a:normAutofit fontScale="90000"/>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smtClean="0"/>
              <a:t>Pre-project </a:t>
            </a:r>
            <a:r>
              <a:rPr lang="en-US" b="1" dirty="0"/>
              <a:t>Software </a:t>
            </a:r>
            <a:r>
              <a:rPr lang="en-US" b="1" dirty="0" smtClean="0"/>
              <a:t>Quality Components</a:t>
            </a:r>
            <a:r>
              <a:rPr lang="en-US" b="1" dirty="0"/>
              <a:t/>
            </a:r>
            <a:br>
              <a:rPr lang="en-US" b="1" dirty="0"/>
            </a:br>
            <a:endParaRPr lang="en-IN" dirty="0"/>
          </a:p>
        </p:txBody>
      </p:sp>
      <p:sp>
        <p:nvSpPr>
          <p:cNvPr id="3" name="Content Placeholder 2"/>
          <p:cNvSpPr>
            <a:spLocks noGrp="1"/>
          </p:cNvSpPr>
          <p:nvPr>
            <p:ph sz="quarter" idx="1"/>
          </p:nvPr>
        </p:nvSpPr>
        <p:spPr>
          <a:xfrm>
            <a:off x="457200" y="1371600"/>
            <a:ext cx="7772400" cy="5102352"/>
          </a:xfrm>
        </p:spPr>
        <p:txBody>
          <a:bodyPr/>
          <a:lstStyle/>
          <a:p>
            <a:pPr marL="0" indent="0">
              <a:buNone/>
            </a:pPr>
            <a:r>
              <a:rPr lang="en-US" dirty="0" smtClean="0"/>
              <a:t>These </a:t>
            </a:r>
            <a:r>
              <a:rPr lang="en-US" dirty="0"/>
              <a:t>components help to improve the preliminary steps taken before starting a project. It includes </a:t>
            </a:r>
          </a:p>
          <a:p>
            <a:pPr marL="0" indent="0">
              <a:buNone/>
            </a:pPr>
            <a:endParaRPr lang="en-US" dirty="0" smtClean="0"/>
          </a:p>
          <a:p>
            <a:pPr marL="457200" indent="-457200">
              <a:buFont typeface="+mj-lt"/>
              <a:buAutoNum type="arabicPeriod"/>
            </a:pPr>
            <a:r>
              <a:rPr lang="en-US" dirty="0" smtClean="0"/>
              <a:t>Contract </a:t>
            </a:r>
            <a:r>
              <a:rPr lang="en-US" dirty="0"/>
              <a:t>Review</a:t>
            </a:r>
          </a:p>
          <a:p>
            <a:pPr marL="457200" indent="-457200">
              <a:buFont typeface="+mj-lt"/>
              <a:buAutoNum type="arabicPeriod"/>
            </a:pPr>
            <a:r>
              <a:rPr lang="en-US" dirty="0"/>
              <a:t>Development and Quality Plans</a:t>
            </a:r>
          </a:p>
          <a:p>
            <a:endParaRPr lang="en-IN" dirty="0"/>
          </a:p>
        </p:txBody>
      </p:sp>
    </p:spTree>
    <p:extLst>
      <p:ext uri="{BB962C8B-B14F-4D97-AF65-F5344CB8AC3E}">
        <p14:creationId xmlns:p14="http://schemas.microsoft.com/office/powerpoint/2010/main" val="700117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quality metrics </a:t>
            </a:r>
            <a:endParaRPr lang="en-IN" dirty="0"/>
          </a:p>
        </p:txBody>
      </p:sp>
      <p:sp>
        <p:nvSpPr>
          <p:cNvPr id="3" name="Content Placeholder 2"/>
          <p:cNvSpPr>
            <a:spLocks noGrp="1"/>
          </p:cNvSpPr>
          <p:nvPr>
            <p:ph sz="quarter" idx="1"/>
          </p:nvPr>
        </p:nvSpPr>
        <p:spPr>
          <a:xfrm>
            <a:off x="381000" y="1524000"/>
            <a:ext cx="7543800" cy="4949952"/>
          </a:xfrm>
        </p:spPr>
        <p:txBody>
          <a:bodyPr>
            <a:normAutofit fontScale="92500" lnSpcReduction="10000"/>
          </a:bodyPr>
          <a:lstStyle/>
          <a:p>
            <a:pPr marL="0" indent="0">
              <a:buNone/>
            </a:pPr>
            <a:r>
              <a:rPr lang="en-US" dirty="0" smtClean="0"/>
              <a:t>Product </a:t>
            </a:r>
            <a:r>
              <a:rPr lang="en-US" dirty="0"/>
              <a:t>quality metrics</a:t>
            </a:r>
          </a:p>
          <a:p>
            <a:pPr marL="0" indent="0">
              <a:buNone/>
            </a:pPr>
            <a:r>
              <a:rPr lang="en-US" dirty="0"/>
              <a:t>In-process quality metrics</a:t>
            </a:r>
          </a:p>
          <a:p>
            <a:pPr marL="0" indent="0">
              <a:buNone/>
            </a:pPr>
            <a:r>
              <a:rPr lang="en-US" dirty="0"/>
              <a:t>Maintenance quality metrics</a:t>
            </a:r>
          </a:p>
          <a:p>
            <a:pPr marL="0" indent="0">
              <a:buNone/>
            </a:pPr>
            <a:r>
              <a:rPr lang="en-US" dirty="0"/>
              <a:t>Product Quality Metrics</a:t>
            </a:r>
          </a:p>
          <a:p>
            <a:pPr marL="0" indent="0">
              <a:buNone/>
            </a:pPr>
            <a:endParaRPr lang="en-US" dirty="0"/>
          </a:p>
          <a:p>
            <a:pPr marL="0" indent="0">
              <a:buNone/>
            </a:pPr>
            <a:r>
              <a:rPr lang="en-US" dirty="0" smtClean="0"/>
              <a:t>This </a:t>
            </a:r>
            <a:r>
              <a:rPr lang="en-US" dirty="0"/>
              <a:t>metrics include the </a:t>
            </a:r>
            <a:endParaRPr lang="en-US" dirty="0" smtClean="0"/>
          </a:p>
          <a:p>
            <a:pPr marL="0" indent="0">
              <a:buNone/>
            </a:pPr>
            <a:r>
              <a:rPr lang="en-US" dirty="0" smtClean="0"/>
              <a:t>following −</a:t>
            </a:r>
          </a:p>
          <a:p>
            <a:pPr marL="0" indent="0">
              <a:buNone/>
            </a:pPr>
            <a:endParaRPr lang="en-US" dirty="0"/>
          </a:p>
          <a:p>
            <a:pPr marL="0" indent="0">
              <a:buNone/>
            </a:pPr>
            <a:r>
              <a:rPr lang="en-US" dirty="0"/>
              <a:t>Mean Time to Failure</a:t>
            </a:r>
          </a:p>
          <a:p>
            <a:pPr marL="0" indent="0">
              <a:buNone/>
            </a:pPr>
            <a:r>
              <a:rPr lang="en-US" dirty="0"/>
              <a:t>Defect Density</a:t>
            </a:r>
          </a:p>
          <a:p>
            <a:pPr marL="0" indent="0">
              <a:buNone/>
            </a:pPr>
            <a:r>
              <a:rPr lang="en-US" dirty="0"/>
              <a:t>Customer Problems</a:t>
            </a:r>
          </a:p>
          <a:p>
            <a:pPr marL="0" indent="0">
              <a:buNone/>
            </a:pPr>
            <a:r>
              <a:rPr lang="en-US" dirty="0"/>
              <a:t>Customer Satisfaction</a:t>
            </a:r>
          </a:p>
          <a:p>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524000"/>
            <a:ext cx="41910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6333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a:xfrm>
            <a:off x="457200" y="1447800"/>
            <a:ext cx="7467600" cy="5026152"/>
          </a:xfrm>
        </p:spPr>
        <p:txBody>
          <a:bodyPr>
            <a:normAutofit fontScale="92500"/>
          </a:bodyPr>
          <a:lstStyle/>
          <a:p>
            <a:pPr marL="0" indent="0">
              <a:buNone/>
            </a:pPr>
            <a:r>
              <a:rPr lang="en-US" b="1" dirty="0"/>
              <a:t>Mean Time to </a:t>
            </a:r>
            <a:r>
              <a:rPr lang="en-US" b="1" dirty="0" smtClean="0"/>
              <a:t>Failure :</a:t>
            </a:r>
            <a:r>
              <a:rPr lang="en-US" dirty="0" smtClean="0"/>
              <a:t>It </a:t>
            </a:r>
            <a:r>
              <a:rPr lang="en-US" dirty="0"/>
              <a:t>is the time between failures. This metric is mostly used with safety critical systems such as the airline traffic control systems, avionics, and weapons.</a:t>
            </a:r>
          </a:p>
          <a:p>
            <a:pPr marL="0" indent="0">
              <a:buNone/>
            </a:pPr>
            <a:r>
              <a:rPr lang="en-US" b="1" dirty="0"/>
              <a:t>Defect </a:t>
            </a:r>
            <a:r>
              <a:rPr lang="en-US" b="1" dirty="0" smtClean="0"/>
              <a:t>Density: </a:t>
            </a:r>
            <a:r>
              <a:rPr lang="en-US" dirty="0" smtClean="0"/>
              <a:t>It </a:t>
            </a:r>
            <a:r>
              <a:rPr lang="en-US" dirty="0"/>
              <a:t>measures the defects relative to the software size expressed as lines of code or function point, etc. i.e., it measures code quality per unit. This metric is used in many commercial software systems.</a:t>
            </a:r>
          </a:p>
          <a:p>
            <a:pPr marL="0" indent="0">
              <a:buNone/>
            </a:pPr>
            <a:r>
              <a:rPr lang="en-US" b="1" dirty="0"/>
              <a:t>Customer </a:t>
            </a:r>
            <a:r>
              <a:rPr lang="en-US" b="1" dirty="0" smtClean="0"/>
              <a:t>Problems: </a:t>
            </a:r>
            <a:r>
              <a:rPr lang="en-US" dirty="0" smtClean="0"/>
              <a:t>It </a:t>
            </a:r>
            <a:r>
              <a:rPr lang="en-US" dirty="0"/>
              <a:t>measures the problems that customers encounter when using the product. It contains the customer’s perspective towards the problem space of the software, which includes the non-defect oriented problems together with the defect problems</a:t>
            </a:r>
            <a:r>
              <a:rPr lang="en-US" dirty="0" smtClean="0"/>
              <a:t>.</a:t>
            </a:r>
            <a:endParaRPr lang="en-US" dirty="0"/>
          </a:p>
        </p:txBody>
      </p:sp>
    </p:spTree>
    <p:extLst>
      <p:ext uri="{BB962C8B-B14F-4D97-AF65-F5344CB8AC3E}">
        <p14:creationId xmlns:p14="http://schemas.microsoft.com/office/powerpoint/2010/main" val="839499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a:xfrm>
            <a:off x="533400" y="533400"/>
            <a:ext cx="7848600" cy="5940552"/>
          </a:xfrm>
        </p:spPr>
        <p:txBody>
          <a:bodyPr>
            <a:normAutofit fontScale="92500" lnSpcReduction="20000"/>
          </a:bodyPr>
          <a:lstStyle/>
          <a:p>
            <a:pPr marL="0" indent="0">
              <a:buNone/>
            </a:pPr>
            <a:r>
              <a:rPr lang="en-US" dirty="0"/>
              <a:t>Customer Satisfaction</a:t>
            </a:r>
          </a:p>
          <a:p>
            <a:pPr marL="0" indent="0">
              <a:buNone/>
            </a:pPr>
            <a:r>
              <a:rPr lang="en-US" dirty="0"/>
              <a:t>Customer satisfaction is often measured by customer survey data through the five-point scale −</a:t>
            </a:r>
          </a:p>
          <a:p>
            <a:pPr>
              <a:buFont typeface="Wingdings" panose="05000000000000000000" pitchFamily="2" charset="2"/>
              <a:buChar char="Ø"/>
            </a:pPr>
            <a:r>
              <a:rPr lang="en-US" dirty="0"/>
              <a:t>Very satisfied</a:t>
            </a:r>
          </a:p>
          <a:p>
            <a:pPr>
              <a:buFont typeface="Wingdings" panose="05000000000000000000" pitchFamily="2" charset="2"/>
              <a:buChar char="Ø"/>
            </a:pPr>
            <a:r>
              <a:rPr lang="en-US" dirty="0"/>
              <a:t>Satisfied</a:t>
            </a:r>
          </a:p>
          <a:p>
            <a:pPr>
              <a:buFont typeface="Wingdings" panose="05000000000000000000" pitchFamily="2" charset="2"/>
              <a:buChar char="Ø"/>
            </a:pPr>
            <a:r>
              <a:rPr lang="en-US" dirty="0"/>
              <a:t>Neutral</a:t>
            </a:r>
          </a:p>
          <a:p>
            <a:pPr>
              <a:buFont typeface="Wingdings" panose="05000000000000000000" pitchFamily="2" charset="2"/>
              <a:buChar char="Ø"/>
            </a:pPr>
            <a:r>
              <a:rPr lang="en-US" dirty="0"/>
              <a:t>Dissatisfied</a:t>
            </a:r>
          </a:p>
          <a:p>
            <a:pPr>
              <a:buFont typeface="Wingdings" panose="05000000000000000000" pitchFamily="2" charset="2"/>
              <a:buChar char="Ø"/>
            </a:pPr>
            <a:r>
              <a:rPr lang="en-US" dirty="0"/>
              <a:t>Very dissatisfied</a:t>
            </a:r>
          </a:p>
          <a:p>
            <a:pPr marL="0" indent="0">
              <a:buNone/>
            </a:pPr>
            <a:r>
              <a:rPr lang="en-US" dirty="0"/>
              <a:t>Satisfaction with the overall quality of the product and its specific dimensions is usually obtained through various methods of customer surveys. Based on the five-point-scale data, several metrics with slight variations can be constructed and used, depending on the purpose of analysis. For example −</a:t>
            </a:r>
          </a:p>
          <a:p>
            <a:pPr>
              <a:buFont typeface="Wingdings" panose="05000000000000000000" pitchFamily="2" charset="2"/>
              <a:buChar char="Ø"/>
            </a:pPr>
            <a:r>
              <a:rPr lang="en-US" dirty="0"/>
              <a:t>Percent of completely satisfied customers</a:t>
            </a:r>
          </a:p>
          <a:p>
            <a:pPr>
              <a:buFont typeface="Wingdings" panose="05000000000000000000" pitchFamily="2" charset="2"/>
              <a:buChar char="Ø"/>
            </a:pPr>
            <a:r>
              <a:rPr lang="en-US" dirty="0"/>
              <a:t>Percent of satisfied customers</a:t>
            </a:r>
          </a:p>
          <a:p>
            <a:pPr>
              <a:buFont typeface="Wingdings" panose="05000000000000000000" pitchFamily="2" charset="2"/>
              <a:buChar char="Ø"/>
            </a:pPr>
            <a:r>
              <a:rPr lang="en-US" dirty="0"/>
              <a:t>Percent of dis-satisfied customers</a:t>
            </a:r>
          </a:p>
          <a:p>
            <a:pPr>
              <a:buFont typeface="Wingdings" panose="05000000000000000000" pitchFamily="2" charset="2"/>
              <a:buChar char="Ø"/>
            </a:pPr>
            <a:r>
              <a:rPr lang="en-US" dirty="0"/>
              <a:t>Percent of non-satisfied customers</a:t>
            </a:r>
          </a:p>
          <a:p>
            <a:endParaRPr lang="en-IN" dirty="0"/>
          </a:p>
        </p:txBody>
      </p:sp>
    </p:spTree>
    <p:extLst>
      <p:ext uri="{BB962C8B-B14F-4D97-AF65-F5344CB8AC3E}">
        <p14:creationId xmlns:p14="http://schemas.microsoft.com/office/powerpoint/2010/main" val="750316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In-process Quality Metrics</a:t>
            </a:r>
            <a:br>
              <a:rPr lang="en-US" dirty="0"/>
            </a:br>
            <a:endParaRPr lang="en-IN" dirty="0"/>
          </a:p>
        </p:txBody>
      </p:sp>
      <p:sp>
        <p:nvSpPr>
          <p:cNvPr id="3" name="Content Placeholder 2"/>
          <p:cNvSpPr>
            <a:spLocks noGrp="1"/>
          </p:cNvSpPr>
          <p:nvPr>
            <p:ph sz="quarter" idx="1"/>
          </p:nvPr>
        </p:nvSpPr>
        <p:spPr/>
        <p:txBody>
          <a:bodyPr/>
          <a:lstStyle/>
          <a:p>
            <a:pPr marL="0" indent="0">
              <a:buNone/>
            </a:pPr>
            <a:r>
              <a:rPr lang="en-US" dirty="0" smtClean="0"/>
              <a:t>In-process </a:t>
            </a:r>
            <a:r>
              <a:rPr lang="en-US" dirty="0"/>
              <a:t>quality metrics deals with the tracking of defect arrival during formal machine testing for some organizations. This metric includes −</a:t>
            </a:r>
          </a:p>
          <a:p>
            <a:pPr>
              <a:buFont typeface="Wingdings" panose="05000000000000000000" pitchFamily="2" charset="2"/>
              <a:buChar char="Ø"/>
            </a:pPr>
            <a:r>
              <a:rPr lang="en-US" dirty="0"/>
              <a:t>Defect density during machine testing</a:t>
            </a:r>
          </a:p>
          <a:p>
            <a:pPr>
              <a:buFont typeface="Wingdings" panose="05000000000000000000" pitchFamily="2" charset="2"/>
              <a:buChar char="Ø"/>
            </a:pPr>
            <a:r>
              <a:rPr lang="en-US" dirty="0"/>
              <a:t>Defect arrival pattern during machine testing</a:t>
            </a:r>
          </a:p>
          <a:p>
            <a:pPr>
              <a:buFont typeface="Wingdings" panose="05000000000000000000" pitchFamily="2" charset="2"/>
              <a:buChar char="Ø"/>
            </a:pPr>
            <a:r>
              <a:rPr lang="en-US" dirty="0"/>
              <a:t>Phase-based defect removal pattern</a:t>
            </a:r>
          </a:p>
          <a:p>
            <a:pPr>
              <a:buFont typeface="Wingdings" panose="05000000000000000000" pitchFamily="2" charset="2"/>
              <a:buChar char="Ø"/>
            </a:pPr>
            <a:r>
              <a:rPr lang="en-US" dirty="0"/>
              <a:t>Defect removal effectiveness</a:t>
            </a:r>
          </a:p>
          <a:p>
            <a:endParaRPr lang="en-IN" dirty="0"/>
          </a:p>
        </p:txBody>
      </p:sp>
    </p:spTree>
    <p:extLst>
      <p:ext uri="{BB962C8B-B14F-4D97-AF65-F5344CB8AC3E}">
        <p14:creationId xmlns:p14="http://schemas.microsoft.com/office/powerpoint/2010/main" val="3887635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Maintenance Quality Metrics</a:t>
            </a:r>
            <a:br>
              <a:rPr lang="en-US" dirty="0"/>
            </a:br>
            <a:endParaRPr lang="en-IN" dirty="0"/>
          </a:p>
        </p:txBody>
      </p:sp>
      <p:sp>
        <p:nvSpPr>
          <p:cNvPr id="3" name="Content Placeholder 2"/>
          <p:cNvSpPr>
            <a:spLocks noGrp="1"/>
          </p:cNvSpPr>
          <p:nvPr>
            <p:ph sz="quarter" idx="1"/>
          </p:nvPr>
        </p:nvSpPr>
        <p:spPr>
          <a:xfrm>
            <a:off x="457200" y="1219200"/>
            <a:ext cx="7467600" cy="5254752"/>
          </a:xfrm>
        </p:spPr>
        <p:txBody>
          <a:bodyPr/>
          <a:lstStyle/>
          <a:p>
            <a:pPr marL="0" indent="0">
              <a:buNone/>
            </a:pPr>
            <a:r>
              <a:rPr lang="en-US" dirty="0" smtClean="0"/>
              <a:t>Although </a:t>
            </a:r>
            <a:r>
              <a:rPr lang="en-US" dirty="0"/>
              <a:t>much cannot be done to alter the quality of the product during this phase, following are the fixes that can be carried out to eliminate the defects as soon as possible with excellent fix quality</a:t>
            </a:r>
            <a:r>
              <a:rPr lang="en-US" dirty="0" smtClean="0"/>
              <a:t>.</a:t>
            </a:r>
          </a:p>
          <a:p>
            <a:pPr marL="0" indent="0">
              <a:buNone/>
            </a:pPr>
            <a:endParaRPr lang="en-US" dirty="0"/>
          </a:p>
          <a:p>
            <a:pPr>
              <a:buFont typeface="Wingdings" panose="05000000000000000000" pitchFamily="2" charset="2"/>
              <a:buChar char="Ø"/>
            </a:pPr>
            <a:r>
              <a:rPr lang="en-US" dirty="0"/>
              <a:t>Fix backlog and backlog management index</a:t>
            </a:r>
          </a:p>
          <a:p>
            <a:pPr>
              <a:buFont typeface="Wingdings" panose="05000000000000000000" pitchFamily="2" charset="2"/>
              <a:buChar char="Ø"/>
            </a:pPr>
            <a:r>
              <a:rPr lang="en-US" dirty="0"/>
              <a:t>Fix response time and fix responsiveness</a:t>
            </a:r>
          </a:p>
          <a:p>
            <a:pPr>
              <a:buFont typeface="Wingdings" panose="05000000000000000000" pitchFamily="2" charset="2"/>
              <a:buChar char="Ø"/>
            </a:pPr>
            <a:r>
              <a:rPr lang="en-US" dirty="0"/>
              <a:t>Percent delinquent fixes</a:t>
            </a:r>
          </a:p>
          <a:p>
            <a:pPr>
              <a:buFont typeface="Wingdings" panose="05000000000000000000" pitchFamily="2" charset="2"/>
              <a:buChar char="Ø"/>
            </a:pPr>
            <a:r>
              <a:rPr lang="en-US" dirty="0"/>
              <a:t>Fix quality</a:t>
            </a:r>
          </a:p>
          <a:p>
            <a:endParaRPr lang="en-IN" dirty="0"/>
          </a:p>
        </p:txBody>
      </p:sp>
    </p:spTree>
    <p:extLst>
      <p:ext uri="{BB962C8B-B14F-4D97-AF65-F5344CB8AC3E}">
        <p14:creationId xmlns:p14="http://schemas.microsoft.com/office/powerpoint/2010/main" val="8750280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Comparison metrics Product and Process</a:t>
            </a:r>
            <a:endParaRPr lang="en-IN" dirty="0"/>
          </a:p>
        </p:txBody>
      </p:sp>
      <p:pic>
        <p:nvPicPr>
          <p:cNvPr id="7171" name="Picture 3"/>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57200" y="1752600"/>
            <a:ext cx="3251638"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utoShape 6" descr="Software Metrics Software Engineering. - ppt downloa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9" descr="PDF] Notable Metrics in Software Testing | Semantic Schola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17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905000"/>
            <a:ext cx="43434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92071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467600" cy="1417638"/>
          </a:xfrm>
        </p:spPr>
        <p:txBody>
          <a:bodyPr>
            <a:normAutofit fontScale="90000"/>
          </a:bodyPr>
          <a:lstStyle/>
          <a:p>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smtClean="0"/>
              <a:t>Software </a:t>
            </a:r>
            <a:r>
              <a:rPr lang="en-US" sz="3200" dirty="0"/>
              <a:t>Reliability &amp; Reliability Measurement Factors</a:t>
            </a:r>
            <a:r>
              <a:rPr lang="en-US" sz="3200" dirty="0" smtClean="0"/>
              <a:t>:</a:t>
            </a:r>
            <a:r>
              <a:rPr lang="en-US" sz="3200" dirty="0">
                <a:latin typeface="Verdana"/>
                <a:cs typeface="Verdana"/>
              </a:rPr>
              <a:t/>
            </a:r>
            <a:br>
              <a:rPr lang="en-US" sz="3200" dirty="0">
                <a:latin typeface="Verdana"/>
                <a:cs typeface="Verdana"/>
              </a:rPr>
            </a:br>
            <a:endParaRPr lang="en-IN" dirty="0"/>
          </a:p>
        </p:txBody>
      </p:sp>
      <p:sp>
        <p:nvSpPr>
          <p:cNvPr id="3" name="Content Placeholder 2"/>
          <p:cNvSpPr>
            <a:spLocks noGrp="1"/>
          </p:cNvSpPr>
          <p:nvPr>
            <p:ph sz="quarter" idx="1"/>
          </p:nvPr>
        </p:nvSpPr>
        <p:spPr>
          <a:xfrm>
            <a:off x="381000" y="1295400"/>
            <a:ext cx="8229600" cy="5178552"/>
          </a:xfrm>
        </p:spPr>
        <p:txBody>
          <a:bodyPr>
            <a:normAutofit fontScale="85000" lnSpcReduction="20000"/>
          </a:bodyPr>
          <a:lstStyle/>
          <a:p>
            <a:pPr marL="0" indent="0">
              <a:buNone/>
            </a:pPr>
            <a:r>
              <a:rPr lang="en-US" b="1" dirty="0"/>
              <a:t>Software </a:t>
            </a:r>
            <a:r>
              <a:rPr lang="en-US" b="1" dirty="0" smtClean="0"/>
              <a:t>Reliability : </a:t>
            </a:r>
            <a:r>
              <a:rPr lang="en-US" dirty="0" smtClean="0"/>
              <a:t>Software </a:t>
            </a:r>
            <a:r>
              <a:rPr lang="en-US" dirty="0"/>
              <a:t>Reliability means </a:t>
            </a:r>
            <a:r>
              <a:rPr lang="en-US" b="1" dirty="0"/>
              <a:t>Operational reliability</a:t>
            </a:r>
            <a:r>
              <a:rPr lang="en-US" dirty="0"/>
              <a:t>. It is described as the ability of a system or component to perform its required functions under static conditions for a specific period.</a:t>
            </a:r>
          </a:p>
          <a:p>
            <a:pPr marL="0" indent="0">
              <a:buNone/>
            </a:pPr>
            <a:r>
              <a:rPr lang="en-US" b="1" dirty="0" smtClean="0"/>
              <a:t>Reliability </a:t>
            </a:r>
            <a:r>
              <a:rPr lang="en-US" b="1" dirty="0"/>
              <a:t>metrics</a:t>
            </a:r>
            <a:r>
              <a:rPr lang="en-US" dirty="0"/>
              <a:t> are used to quantitatively expressed the reliability of the software product. The option of which parameter is to be used depends upon the type of system to which it applies &amp; the requirements of the application domain</a:t>
            </a:r>
            <a:r>
              <a:rPr lang="en-US" dirty="0" smtClean="0"/>
              <a:t>.</a:t>
            </a:r>
          </a:p>
          <a:p>
            <a:pPr marL="0" indent="0">
              <a:buNone/>
            </a:pPr>
            <a:r>
              <a:rPr lang="en-US" dirty="0" smtClean="0"/>
              <a:t>Software </a:t>
            </a:r>
            <a:r>
              <a:rPr lang="en-US" dirty="0"/>
              <a:t>Reliability is </a:t>
            </a:r>
            <a:r>
              <a:rPr lang="en-US" b="1" dirty="0"/>
              <a:t>the probability of failure-free software operation for a specified period of time in a specified environment</a:t>
            </a:r>
            <a:r>
              <a:rPr lang="en-US" dirty="0"/>
              <a:t>.</a:t>
            </a:r>
            <a:endParaRPr lang="en-US" dirty="0"/>
          </a:p>
          <a:p>
            <a:pPr marL="0" indent="0">
              <a:buNone/>
            </a:pPr>
            <a:endParaRPr lang="en-US" dirty="0"/>
          </a:p>
          <a:p>
            <a:pPr marL="0" indent="0">
              <a:buNone/>
            </a:pPr>
            <a:r>
              <a:rPr lang="en-US" dirty="0" smtClean="0"/>
              <a:t>ROCOF</a:t>
            </a:r>
            <a:endParaRPr lang="en-US" dirty="0" smtClean="0"/>
          </a:p>
          <a:p>
            <a:pPr marL="0" indent="0">
              <a:buNone/>
            </a:pPr>
            <a:r>
              <a:rPr lang="en-US" dirty="0" smtClean="0"/>
              <a:t>MTTF</a:t>
            </a:r>
            <a:endParaRPr lang="en-US" dirty="0" smtClean="0"/>
          </a:p>
          <a:p>
            <a:pPr marL="0" indent="0">
              <a:buNone/>
            </a:pPr>
            <a:r>
              <a:rPr lang="en-US" dirty="0" smtClean="0"/>
              <a:t>MTTR</a:t>
            </a:r>
            <a:endParaRPr lang="en-US" dirty="0" smtClean="0"/>
          </a:p>
          <a:p>
            <a:pPr marL="0" indent="0">
              <a:buNone/>
            </a:pPr>
            <a:r>
              <a:rPr lang="en-US" dirty="0" smtClean="0"/>
              <a:t>MTBF</a:t>
            </a:r>
            <a:endParaRPr lang="en-US" dirty="0" smtClean="0"/>
          </a:p>
          <a:p>
            <a:pPr marL="0" indent="0">
              <a:buNone/>
            </a:pPr>
            <a:r>
              <a:rPr lang="en-US" dirty="0" smtClean="0"/>
              <a:t>POFOD</a:t>
            </a:r>
            <a:endParaRPr lang="en-US" dirty="0" smtClean="0"/>
          </a:p>
          <a:p>
            <a:pPr marL="0" indent="0">
              <a:buNone/>
            </a:pPr>
            <a:r>
              <a:rPr lang="en-US" dirty="0" smtClean="0"/>
              <a:t>Availability</a:t>
            </a:r>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962400"/>
            <a:ext cx="4648200" cy="251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0462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Reliability Measurement Factors</a:t>
            </a:r>
            <a:r>
              <a:rPr lang="en-US" sz="2800" dirty="0" smtClean="0"/>
              <a:t>:</a:t>
            </a:r>
            <a:br>
              <a:rPr lang="en-US" sz="2800" dirty="0" smtClean="0"/>
            </a:br>
            <a:endParaRPr lang="en-IN" dirty="0"/>
          </a:p>
        </p:txBody>
      </p:sp>
      <p:sp>
        <p:nvSpPr>
          <p:cNvPr id="3" name="Content Placeholder 2"/>
          <p:cNvSpPr>
            <a:spLocks noGrp="1"/>
          </p:cNvSpPr>
          <p:nvPr>
            <p:ph sz="quarter" idx="1"/>
          </p:nvPr>
        </p:nvSpPr>
        <p:spPr>
          <a:xfrm>
            <a:off x="457200" y="1219200"/>
            <a:ext cx="7772400" cy="5254752"/>
          </a:xfrm>
        </p:spPr>
        <p:txBody>
          <a:bodyPr>
            <a:normAutofit fontScale="92500"/>
          </a:bodyPr>
          <a:lstStyle/>
          <a:p>
            <a:pPr marL="0" indent="0" fontAlgn="base">
              <a:buNone/>
            </a:pPr>
            <a:r>
              <a:rPr lang="en-US" b="1" dirty="0"/>
              <a:t>Rate of occurrence of failure</a:t>
            </a:r>
            <a:r>
              <a:rPr lang="en-US" dirty="0"/>
              <a:t> (ROCOF) </a:t>
            </a:r>
            <a:r>
              <a:rPr lang="en-US" dirty="0" smtClean="0"/>
              <a:t>:</a:t>
            </a:r>
            <a:r>
              <a:rPr lang="en-US" sz="2300" dirty="0"/>
              <a:t>It </a:t>
            </a:r>
            <a:r>
              <a:rPr lang="en-US" sz="2300" dirty="0"/>
              <a:t>basically measures </a:t>
            </a:r>
            <a:r>
              <a:rPr lang="en-US" sz="2300" dirty="0"/>
              <a:t>how many </a:t>
            </a:r>
            <a:r>
              <a:rPr lang="en-US" sz="2300" dirty="0"/>
              <a:t>times the software product fails. ROCOF measure of a software product can be obtained by having the record of the behavior of a software product. ROCOF is basically the total number of failures occurring during the specified time interval</a:t>
            </a:r>
            <a:r>
              <a:rPr lang="en-US" sz="2300" dirty="0"/>
              <a:t>.</a:t>
            </a:r>
          </a:p>
          <a:p>
            <a:pPr marL="0" indent="0" fontAlgn="base">
              <a:buNone/>
            </a:pPr>
            <a:endParaRPr lang="en-US" b="1" dirty="0" smtClean="0"/>
          </a:p>
          <a:p>
            <a:pPr marL="0" indent="0" fontAlgn="base">
              <a:buNone/>
            </a:pPr>
            <a:r>
              <a:rPr lang="en-US" b="1" dirty="0" smtClean="0"/>
              <a:t>Mean </a:t>
            </a:r>
            <a:r>
              <a:rPr lang="en-US" b="1" dirty="0"/>
              <a:t>Time To Failure (MTTF) :</a:t>
            </a:r>
            <a:r>
              <a:rPr lang="en-US" dirty="0"/>
              <a:t/>
            </a:r>
            <a:br>
              <a:rPr lang="en-US" dirty="0"/>
            </a:br>
            <a:r>
              <a:rPr lang="en-US" sz="2300" dirty="0"/>
              <a:t>The average time between two successive failures is known as MTTF. It is obtained by observing a large number of failures in the software product. To measure MTTF, failure data for n failures is recorded.</a:t>
            </a:r>
            <a:br>
              <a:rPr lang="en-US" sz="2300" dirty="0"/>
            </a:br>
            <a:r>
              <a:rPr lang="en-US" sz="2300" dirty="0"/>
              <a:t>If the failures occur at the time instants T1, T2, …, </a:t>
            </a:r>
            <a:r>
              <a:rPr lang="en-US" sz="2300" dirty="0" err="1"/>
              <a:t>Tn</a:t>
            </a:r>
            <a:r>
              <a:rPr lang="en-US" sz="2300" dirty="0"/>
              <a:t> then </a:t>
            </a:r>
            <a:r>
              <a:rPr lang="en-US" sz="2300" b="1" dirty="0"/>
              <a:t>MTTF can be calculated as:</a:t>
            </a:r>
          </a:p>
          <a:p>
            <a:pPr marL="0" indent="0">
              <a:buNone/>
            </a:pPr>
            <a:r>
              <a:rPr lang="en-US" dirty="0"/>
              <a:t>MTTF = ( (T2 - T1) + (T3 - T2) + ... + (Tn+1 - </a:t>
            </a:r>
            <a:r>
              <a:rPr lang="en-US" dirty="0" err="1"/>
              <a:t>Tn</a:t>
            </a:r>
            <a:r>
              <a:rPr lang="en-US" dirty="0"/>
              <a:t>) ) / (n-1)</a:t>
            </a:r>
            <a:endParaRPr lang="en-IN" dirty="0"/>
          </a:p>
        </p:txBody>
      </p:sp>
    </p:spTree>
    <p:extLst>
      <p:ext uri="{BB962C8B-B14F-4D97-AF65-F5344CB8AC3E}">
        <p14:creationId xmlns:p14="http://schemas.microsoft.com/office/powerpoint/2010/main" val="3599278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Reliability Measurement Factors</a:t>
            </a:r>
            <a:r>
              <a:rPr lang="en-US" sz="2800" dirty="0" smtClean="0"/>
              <a:t>:</a:t>
            </a:r>
            <a:br>
              <a:rPr lang="en-US" sz="2800" dirty="0" smtClean="0"/>
            </a:br>
            <a:endParaRPr lang="en-IN" dirty="0"/>
          </a:p>
        </p:txBody>
      </p:sp>
      <p:sp>
        <p:nvSpPr>
          <p:cNvPr id="5" name="Content Placeholder 4"/>
          <p:cNvSpPr>
            <a:spLocks noGrp="1"/>
          </p:cNvSpPr>
          <p:nvPr>
            <p:ph sz="quarter" idx="1"/>
          </p:nvPr>
        </p:nvSpPr>
        <p:spPr/>
        <p:txBody>
          <a:bodyPr/>
          <a:lstStyle/>
          <a:p>
            <a:pPr marL="0" indent="0">
              <a:buNone/>
            </a:pPr>
            <a:r>
              <a:rPr lang="en-US" b="1" dirty="0"/>
              <a:t>Mean Time To Repair (MTTR) :</a:t>
            </a:r>
            <a:r>
              <a:rPr lang="en-US" dirty="0"/>
              <a:t/>
            </a:r>
            <a:br>
              <a:rPr lang="en-US" dirty="0"/>
            </a:br>
            <a:r>
              <a:rPr lang="en-US" sz="2100" dirty="0"/>
              <a:t>When the software fails, it requires sometime to fix the error. </a:t>
            </a:r>
            <a:r>
              <a:rPr lang="en-US" sz="2100" dirty="0"/>
              <a:t>MTTR is the measure of the average time system takes to find the errors that cause the failure and to fix them</a:t>
            </a:r>
            <a:r>
              <a:rPr lang="en-US" sz="2100" dirty="0" smtClean="0"/>
              <a:t>.</a:t>
            </a:r>
          </a:p>
          <a:p>
            <a:pPr marL="0" indent="0" fontAlgn="base">
              <a:buNone/>
            </a:pPr>
            <a:endParaRPr lang="en-US" sz="2000" b="1" dirty="0" smtClean="0"/>
          </a:p>
          <a:p>
            <a:pPr marL="0" indent="0" fontAlgn="base">
              <a:buNone/>
            </a:pPr>
            <a:r>
              <a:rPr lang="en-US" sz="2000" b="1" dirty="0" smtClean="0"/>
              <a:t>Mean </a:t>
            </a:r>
            <a:r>
              <a:rPr lang="en-US" sz="2000" b="1" dirty="0"/>
              <a:t>Time Between Failure (MTBR) :</a:t>
            </a:r>
            <a:r>
              <a:rPr lang="en-US" sz="2000" dirty="0"/>
              <a:t/>
            </a:r>
            <a:br>
              <a:rPr lang="en-US" sz="2000" dirty="0"/>
            </a:br>
            <a:r>
              <a:rPr lang="en-US" sz="2000" dirty="0"/>
              <a:t>MTBR attribute can be obtained by combining the MTTF and MTTR attributes.</a:t>
            </a:r>
          </a:p>
          <a:p>
            <a:pPr marL="0" indent="0">
              <a:buNone/>
            </a:pPr>
            <a:r>
              <a:rPr lang="en-US" sz="2000" dirty="0"/>
              <a:t>MTBF = MTTF + MTTR</a:t>
            </a:r>
            <a:endParaRPr lang="en-IN" sz="21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4572000"/>
            <a:ext cx="37338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052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Reliability Measurement Factors</a:t>
            </a:r>
            <a:r>
              <a:rPr lang="en-US" sz="2800" dirty="0" smtClean="0"/>
              <a:t>:</a:t>
            </a:r>
            <a:br>
              <a:rPr lang="en-US" sz="2800" dirty="0" smtClean="0"/>
            </a:br>
            <a:endParaRPr lang="en-IN" dirty="0"/>
          </a:p>
        </p:txBody>
      </p:sp>
      <p:sp>
        <p:nvSpPr>
          <p:cNvPr id="3" name="Content Placeholder 2"/>
          <p:cNvSpPr>
            <a:spLocks noGrp="1"/>
          </p:cNvSpPr>
          <p:nvPr>
            <p:ph sz="quarter" idx="1"/>
          </p:nvPr>
        </p:nvSpPr>
        <p:spPr/>
        <p:txBody>
          <a:bodyPr>
            <a:normAutofit/>
          </a:bodyPr>
          <a:lstStyle/>
          <a:p>
            <a:pPr marL="0" indent="0" fontAlgn="base">
              <a:buNone/>
            </a:pPr>
            <a:r>
              <a:rPr lang="en-US" b="1" dirty="0"/>
              <a:t>Probability of Failure on Demand (POFOD) :</a:t>
            </a:r>
            <a:r>
              <a:rPr lang="en-US" dirty="0"/>
              <a:t/>
            </a:r>
            <a:br>
              <a:rPr lang="en-US" dirty="0"/>
            </a:br>
            <a:r>
              <a:rPr lang="en-US" dirty="0"/>
              <a:t>This attribute does not involve time measurements like the other attributes. POFOD measures the behavior of the system failing when a service request is made.</a:t>
            </a:r>
          </a:p>
          <a:p>
            <a:pPr marL="0" indent="0" fontAlgn="base">
              <a:buNone/>
            </a:pPr>
            <a:r>
              <a:rPr lang="en-US" dirty="0"/>
              <a:t>For example, if POFOD measures 0.001 then it means that out of every 1000 one time the service requests would result in a failure</a:t>
            </a:r>
            <a:r>
              <a:rPr lang="en-US" dirty="0" smtClean="0"/>
              <a:t>.</a:t>
            </a:r>
            <a:endParaRPr lang="en-US" dirty="0"/>
          </a:p>
        </p:txBody>
      </p:sp>
    </p:spTree>
    <p:extLst>
      <p:ext uri="{BB962C8B-B14F-4D97-AF65-F5344CB8AC3E}">
        <p14:creationId xmlns:p14="http://schemas.microsoft.com/office/powerpoint/2010/main" val="2833540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Reliability Measurement Factors</a:t>
            </a:r>
            <a:r>
              <a:rPr lang="en-US" sz="2800" dirty="0" smtClean="0"/>
              <a:t>:</a:t>
            </a:r>
            <a:br>
              <a:rPr lang="en-US" sz="2800" dirty="0" smtClean="0"/>
            </a:br>
            <a:endParaRPr lang="en-IN" dirty="0"/>
          </a:p>
        </p:txBody>
      </p:sp>
      <p:sp>
        <p:nvSpPr>
          <p:cNvPr id="3" name="Content Placeholder 2"/>
          <p:cNvSpPr>
            <a:spLocks noGrp="1"/>
          </p:cNvSpPr>
          <p:nvPr>
            <p:ph sz="quarter" idx="1"/>
          </p:nvPr>
        </p:nvSpPr>
        <p:spPr/>
        <p:txBody>
          <a:bodyPr/>
          <a:lstStyle/>
          <a:p>
            <a:pPr marL="0" indent="0">
              <a:buNone/>
            </a:pPr>
            <a:r>
              <a:rPr lang="en-US" b="1" dirty="0"/>
              <a:t>Availability :</a:t>
            </a:r>
            <a:r>
              <a:rPr lang="en-US" dirty="0"/>
              <a:t/>
            </a:r>
            <a:br>
              <a:rPr lang="en-US" dirty="0"/>
            </a:br>
            <a:r>
              <a:rPr lang="en-US" dirty="0"/>
              <a:t>Availability of a system is a measure of possibility of availability of the system for use over a given period of time. It considers the number of failures occurring during a time interval. </a:t>
            </a:r>
            <a:endParaRPr lang="en-US" dirty="0" smtClean="0"/>
          </a:p>
          <a:p>
            <a:pPr marL="0" indent="0">
              <a:buNone/>
            </a:pPr>
            <a:r>
              <a:rPr lang="en-US" dirty="0" smtClean="0"/>
              <a:t>It </a:t>
            </a:r>
            <a:r>
              <a:rPr lang="en-US" dirty="0"/>
              <a:t>also takes into measure the down time of a system when a failure occurs. This attribute is important for systems which are supposed to be never down. This plays a vital role in telecommunication systems and operating systems. These systems need to run even during the repair time.</a:t>
            </a:r>
            <a:endParaRPr lang="en-IN" dirty="0"/>
          </a:p>
          <a:p>
            <a:endParaRPr lang="en-IN" dirty="0"/>
          </a:p>
        </p:txBody>
      </p:sp>
    </p:spTree>
    <p:extLst>
      <p:ext uri="{BB962C8B-B14F-4D97-AF65-F5344CB8AC3E}">
        <p14:creationId xmlns:p14="http://schemas.microsoft.com/office/powerpoint/2010/main" val="19876878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pic>
        <p:nvPicPr>
          <p:cNvPr id="3076" name="Picture 4" descr="Image result for thank you sli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7772399"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305093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1284</TotalTime>
  <Words>2532</Words>
  <Application>Microsoft Office PowerPoint</Application>
  <PresentationFormat>On-screen Show (4:3)</PresentationFormat>
  <Paragraphs>408</Paragraphs>
  <Slides>56</Slides>
  <Notes>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58" baseType="lpstr">
      <vt:lpstr>Oriel</vt:lpstr>
      <vt:lpstr>Clip</vt:lpstr>
      <vt:lpstr>Software Testing and Quality Assurance  Unit 1   Software Quality Assurance Fundamentals </vt:lpstr>
      <vt:lpstr>Points To BE COVERED</vt:lpstr>
      <vt:lpstr>Points To BE COVERED</vt:lpstr>
      <vt:lpstr>Software Testing and Quality Assurance</vt:lpstr>
      <vt:lpstr>Definition of Quality, Quality Assurance, Quality Control</vt:lpstr>
      <vt:lpstr>Definition of Quality Assurance, Quality Control</vt:lpstr>
      <vt:lpstr>Difference between Quality Assurance, Quality Control</vt:lpstr>
      <vt:lpstr>Difference between Quality Assurance, Quality Control</vt:lpstr>
      <vt:lpstr>Software quality assurance (SQA)</vt:lpstr>
      <vt:lpstr>SQA Elements </vt:lpstr>
      <vt:lpstr>Software Quality Assurance Plan</vt:lpstr>
      <vt:lpstr>     SQA Planning &amp; Standards (ISO 9000, Six Sigma) </vt:lpstr>
      <vt:lpstr>SQA Activities </vt:lpstr>
      <vt:lpstr>SQA Activities</vt:lpstr>
      <vt:lpstr>SQA Activities</vt:lpstr>
      <vt:lpstr>SQA Activities</vt:lpstr>
      <vt:lpstr>SQA Planning &amp; Standards (ISO 9000, Six Sigma)</vt:lpstr>
      <vt:lpstr>SQA Planning &amp; Standards (ISO 9000, Six Sigma)</vt:lpstr>
      <vt:lpstr>SQA Planning &amp; Standards (ISO 9000, Six Sigma)</vt:lpstr>
      <vt:lpstr>5 TMMi levels :</vt:lpstr>
      <vt:lpstr>      </vt:lpstr>
      <vt:lpstr>six sigma </vt:lpstr>
      <vt:lpstr>Software Quality Assurance (SQA) activities: </vt:lpstr>
      <vt:lpstr>PowerPoint Presentation</vt:lpstr>
      <vt:lpstr>Software quality metrics : </vt:lpstr>
      <vt:lpstr>Quality Assurance vs. Strategic Approach</vt:lpstr>
      <vt:lpstr>Determinants of Quality</vt:lpstr>
      <vt:lpstr> </vt:lpstr>
      <vt:lpstr>ISO 9000 Standards </vt:lpstr>
      <vt:lpstr>Total Quality Management</vt:lpstr>
      <vt:lpstr>The TQM Approach</vt:lpstr>
      <vt:lpstr>Elements of TQM</vt:lpstr>
      <vt:lpstr>Quality at the Source</vt:lpstr>
      <vt:lpstr>Six Sigma</vt:lpstr>
      <vt:lpstr>Six Sigma Programs</vt:lpstr>
      <vt:lpstr>Six Sigma Management</vt:lpstr>
      <vt:lpstr>  Six Sigma Process</vt:lpstr>
      <vt:lpstr>The PDSA Cycle</vt:lpstr>
      <vt:lpstr>The Process Improvement Cycle</vt:lpstr>
      <vt:lpstr>Other Basic Quality Tools</vt:lpstr>
      <vt:lpstr>Building Blocks of SQA  </vt:lpstr>
      <vt:lpstr>Components of SQA System </vt:lpstr>
      <vt:lpstr>PowerPoint Presentation</vt:lpstr>
      <vt:lpstr>          Pre-project Software Quality Components </vt:lpstr>
      <vt:lpstr>Software quality metrics </vt:lpstr>
      <vt:lpstr>PowerPoint Presentation</vt:lpstr>
      <vt:lpstr>PowerPoint Presentation</vt:lpstr>
      <vt:lpstr>In-process Quality Metrics </vt:lpstr>
      <vt:lpstr>Maintenance Quality Metrics </vt:lpstr>
      <vt:lpstr>Comparison metrics Product and Process</vt:lpstr>
      <vt:lpstr>     Software Reliability &amp; Reliability Measurement Factors: </vt:lpstr>
      <vt:lpstr>Reliability Measurement Factors: </vt:lpstr>
      <vt:lpstr>Reliability Measurement Factors: </vt:lpstr>
      <vt:lpstr>Reliability Measurement Factors: </vt:lpstr>
      <vt:lpstr>Reliability Measurement Factors: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dc:title>
  <dc:creator>Shivani</dc:creator>
  <cp:lastModifiedBy>IIMS Faculty</cp:lastModifiedBy>
  <cp:revision>112</cp:revision>
  <dcterms:created xsi:type="dcterms:W3CDTF">2022-06-06T05:35:33Z</dcterms:created>
  <dcterms:modified xsi:type="dcterms:W3CDTF">2022-10-06T11:10:42Z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2020-01-16T00:00:00Z</vt:filetime>
  </property>
  <property fmtid="{D5CDD505-2E9C-101B-9397-08002B2CF9AE}" pid="3" name="Creator">
    <vt:lpwstr>Microsoft® Office PowerPoint® 2007</vt:lpwstr>
  </property>
  <property fmtid="{D5CDD505-2E9C-101B-9397-08002B2CF9AE}" pid="4" name="LastSaved">
    <vt:filetime>2022-06-06T00:00:00Z</vt:filetime>
  </property>
</Properties>
</file>