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Default Extension="png" ContentType="image/png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02004" y="9896930"/>
            <a:ext cx="548640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164960" y="9896930"/>
            <a:ext cx="530225" cy="189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49925" cy="933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algn="ctr" marL="4445">
              <a:lnSpc>
                <a:spcPct val="100000"/>
              </a:lnSpc>
              <a:spcBef>
                <a:spcPts val="1839"/>
              </a:spcBef>
            </a:pPr>
            <a:r>
              <a:rPr dirty="0" sz="1800" b="1">
                <a:latin typeface="Calibri"/>
                <a:cs typeface="Calibri"/>
              </a:rPr>
              <a:t>Computer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business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dirty="0" sz="1400" b="1">
                <a:latin typeface="Calibri"/>
                <a:cs typeface="Calibri"/>
              </a:rPr>
              <a:t>Unit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-1</a:t>
            </a:r>
            <a:r>
              <a:rPr dirty="0" sz="1400" spc="-10" b="1">
                <a:latin typeface="Calibri"/>
                <a:cs typeface="Calibri"/>
              </a:rPr>
              <a:t> Introduction </a:t>
            </a:r>
            <a:r>
              <a:rPr dirty="0" sz="1400" b="1">
                <a:latin typeface="Calibri"/>
                <a:cs typeface="Calibri"/>
              </a:rPr>
              <a:t>to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Windows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122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windows10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introduced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2015.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compatible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ware,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peripherals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always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enabled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life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devise.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L="469900" marR="114935" indent="-229235">
              <a:lnSpc>
                <a:spcPct val="116799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instead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8.1.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switch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Wi-</a:t>
            </a:r>
            <a:r>
              <a:rPr dirty="0" sz="1200" spc="-25">
                <a:latin typeface="Calibri"/>
                <a:cs typeface="Calibri"/>
              </a:rPr>
              <a:t>fi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Bluetooth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off.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Cortana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desktop: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Cortana,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digital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assistant,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make</a:t>
            </a:r>
            <a:endParaRPr sz="1200">
              <a:latin typeface="Calibri"/>
              <a:cs typeface="Calibri"/>
            </a:endParaRPr>
          </a:p>
          <a:p>
            <a:pPr marL="469900" marR="123825">
              <a:lnSpc>
                <a:spcPct val="1167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lifting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finger.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photos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launch powerpoint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so.</a:t>
            </a:r>
            <a:endParaRPr sz="1200">
              <a:latin typeface="Calibri"/>
              <a:cs typeface="Calibri"/>
            </a:endParaRPr>
          </a:p>
          <a:p>
            <a:pPr marL="469900" marR="126364" indent="-229235">
              <a:lnSpc>
                <a:spcPct val="116700"/>
              </a:lnSpc>
              <a:spcBef>
                <a:spcPts val="5"/>
              </a:spcBef>
              <a:buAutoNum type="arabicPeriod" startAt="3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Xbox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streaming: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Gaming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windows10.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 only </a:t>
            </a:r>
            <a:r>
              <a:rPr dirty="0" sz="1200" spc="-25">
                <a:latin typeface="Calibri"/>
                <a:cs typeface="Calibri"/>
              </a:rPr>
              <a:t>do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great,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connect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across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60"/>
              </a:spcBef>
              <a:buAutoNum type="arabicPeriod" startAt="3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Xbox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windows10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devises.</a:t>
            </a:r>
            <a:endParaRPr sz="1200">
              <a:latin typeface="Calibri"/>
              <a:cs typeface="Calibri"/>
            </a:endParaRPr>
          </a:p>
          <a:p>
            <a:pPr marL="469900" marR="36830" indent="-229235">
              <a:lnSpc>
                <a:spcPct val="116700"/>
              </a:lnSpc>
              <a:buAutoNum type="arabicPeriod" startAt="3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Universal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universal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than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bundle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photos,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music,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maps,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people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calendar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 </a:t>
            </a:r>
            <a:r>
              <a:rPr dirty="0" sz="1200">
                <a:latin typeface="Calibri"/>
                <a:cs typeface="Calibri"/>
              </a:rPr>
              <a:t>devises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sync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automatically</a:t>
            </a:r>
            <a:r>
              <a:rPr dirty="0" sz="1200" spc="-25">
                <a:latin typeface="Calibri"/>
                <a:cs typeface="Calibri"/>
              </a:rPr>
              <a:t> via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dirty="0" sz="1200" spc="-10">
                <a:latin typeface="Calibri"/>
                <a:cs typeface="Calibri"/>
              </a:rPr>
              <a:t>onedrive.</a:t>
            </a:r>
            <a:endParaRPr sz="1200">
              <a:latin typeface="Calibri"/>
              <a:cs typeface="Calibri"/>
            </a:endParaRPr>
          </a:p>
          <a:p>
            <a:pPr marL="469900" marR="64135" indent="-229235">
              <a:lnSpc>
                <a:spcPct val="116700"/>
              </a:lnSpc>
              <a:buAutoNum type="arabicPeriod" startAt="6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Snap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snap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snap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assist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best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snap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snap 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screens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4"/>
              </a:spcBef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3.0.</a:t>
            </a:r>
            <a:endParaRPr sz="1200">
              <a:latin typeface="Calibri"/>
              <a:cs typeface="Calibri"/>
            </a:endParaRPr>
          </a:p>
          <a:p>
            <a:pPr marL="469900" marR="22860" indent="-229235">
              <a:lnSpc>
                <a:spcPct val="116700"/>
              </a:lnSpc>
              <a:buAutoNum type="arabicPeriod" startAt="7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Improvements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explorer: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bar.</a:t>
            </a:r>
            <a:endParaRPr sz="1200">
              <a:latin typeface="Calibri"/>
              <a:cs typeface="Calibri"/>
            </a:endParaRPr>
          </a:p>
          <a:p>
            <a:pPr algn="just" marL="469900" marR="190500" indent="-229235">
              <a:lnSpc>
                <a:spcPct val="116700"/>
              </a:lnSpc>
              <a:spcBef>
                <a:spcPts val="20"/>
              </a:spcBef>
              <a:buAutoNum type="arabicPeriod" startAt="7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Lots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enterprises: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plenty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enterprise,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customised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protection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corporate </a:t>
            </a:r>
            <a:r>
              <a:rPr dirty="0" sz="1200">
                <a:latin typeface="Calibri"/>
                <a:cs typeface="Calibri"/>
              </a:rPr>
              <a:t>data.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Mobile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devises.</a:t>
            </a:r>
            <a:endParaRPr sz="1200">
              <a:latin typeface="Calibri"/>
              <a:cs typeface="Calibri"/>
            </a:endParaRPr>
          </a:p>
          <a:p>
            <a:pPr algn="just" marL="469900" marR="155575" indent="-229235">
              <a:lnSpc>
                <a:spcPct val="116700"/>
              </a:lnSpc>
              <a:buAutoNum type="arabicPeriod" startAt="7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panel: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 </a:t>
            </a:r>
            <a:r>
              <a:rPr dirty="0" sz="1200">
                <a:latin typeface="Calibri"/>
                <a:cs typeface="Calibri"/>
              </a:rPr>
              <a:t>panel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things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bringing</a:t>
            </a:r>
            <a:r>
              <a:rPr dirty="0" sz="1200" spc="-20">
                <a:latin typeface="Calibri"/>
                <a:cs typeface="Calibri"/>
              </a:rPr>
              <a:t> them</a:t>
            </a:r>
            <a:endParaRPr sz="1200">
              <a:latin typeface="Calibri"/>
              <a:cs typeface="Calibri"/>
            </a:endParaRPr>
          </a:p>
          <a:p>
            <a:pPr algn="just" marL="469900" marR="43116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together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hunting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algn="just" marL="468630" marR="114935" indent="-227965">
              <a:lnSpc>
                <a:spcPct val="116700"/>
              </a:lnSpc>
              <a:buAutoNum type="arabicPeriod" startAt="10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desktop: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familiar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workspaces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Linux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Virtual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Desktops.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monitor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switch</a:t>
            </a:r>
            <a:endParaRPr sz="12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desktops.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426465"/>
            <a:ext cx="5272405" cy="8766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422909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closer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look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windows</a:t>
            </a:r>
            <a:endParaRPr sz="1400">
              <a:latin typeface="Calibri"/>
              <a:cs typeface="Calibri"/>
            </a:endParaRPr>
          </a:p>
          <a:p>
            <a:pPr marL="241300" marR="244475" indent="-228600">
              <a:lnSpc>
                <a:spcPct val="116799"/>
              </a:lnSpc>
              <a:spcBef>
                <a:spcPts val="80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 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taskbar.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by </a:t>
            </a:r>
            <a:r>
              <a:rPr dirty="0" sz="1200">
                <a:latin typeface="Calibri"/>
                <a:cs typeface="Calibri"/>
              </a:rPr>
              <a:t>pinning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regrouping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 </a:t>
            </a:r>
            <a:r>
              <a:rPr dirty="0" sz="1200">
                <a:latin typeface="Calibri"/>
                <a:cs typeface="Calibri"/>
              </a:rPr>
              <a:t>space,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resize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bigger.</a:t>
            </a:r>
            <a:endParaRPr sz="1200">
              <a:latin typeface="Calibri"/>
              <a:cs typeface="Calibri"/>
            </a:endParaRPr>
          </a:p>
          <a:p>
            <a:pPr marL="241300" marR="247015" indent="-228600">
              <a:lnSpc>
                <a:spcPct val="116700"/>
              </a:lnSpc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tips: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settings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often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all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apps.</a:t>
            </a:r>
            <a:endParaRPr sz="1200">
              <a:latin typeface="Calibri"/>
              <a:cs typeface="Calibri"/>
            </a:endParaRPr>
          </a:p>
          <a:p>
            <a:pPr marL="241300" marR="92075" indent="-228600">
              <a:lnSpc>
                <a:spcPct val="116700"/>
              </a:lnSpc>
              <a:buAutoNum type="arabicPeriod" startAt="3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start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full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lower</a:t>
            </a:r>
            <a:r>
              <a:rPr dirty="0" sz="1200" spc="-20">
                <a:latin typeface="Calibri"/>
                <a:cs typeface="Calibri"/>
              </a:rPr>
              <a:t> left </a:t>
            </a:r>
            <a:r>
              <a:rPr dirty="0" sz="1200">
                <a:latin typeface="Calibri"/>
                <a:cs typeface="Calibri"/>
              </a:rPr>
              <a:t>corner.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minimum,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jump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 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list.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 startAt="3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Pin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happening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world,</a:t>
            </a:r>
            <a:endParaRPr sz="1200">
              <a:latin typeface="Calibri"/>
              <a:cs typeface="Calibri"/>
            </a:endParaRPr>
          </a:p>
          <a:p>
            <a:pPr marL="241300" marR="74295">
              <a:lnSpc>
                <a:spcPct val="1169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appointment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weekend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weather.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added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 pin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resize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marL="241300" marR="143510" indent="-228600">
              <a:lnSpc>
                <a:spcPct val="116700"/>
              </a:lnSpc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pinned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until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appears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tile.</a:t>
            </a:r>
            <a:endParaRPr sz="1200">
              <a:latin typeface="Calibri"/>
              <a:cs typeface="Calibri"/>
            </a:endParaRPr>
          </a:p>
          <a:p>
            <a:pPr marL="241300" marR="91440" indent="-228600">
              <a:lnSpc>
                <a:spcPts val="1710"/>
              </a:lnSpc>
              <a:spcBef>
                <a:spcPts val="70"/>
              </a:spcBef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maximized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when </a:t>
            </a:r>
            <a:r>
              <a:rPr dirty="0" sz="1200" spc="-10">
                <a:latin typeface="Calibri"/>
                <a:cs typeface="Calibri"/>
              </a:rPr>
              <a:t>maximized,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fraction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  <a:p>
            <a:pPr marL="12700" marR="87630">
              <a:lnSpc>
                <a:spcPct val="116700"/>
              </a:lnSpc>
              <a:spcBef>
                <a:spcPts val="905"/>
              </a:spcBef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everything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0">
                <a:latin typeface="Calibri"/>
                <a:cs typeface="Calibri"/>
              </a:rPr>
              <a:t> icon </a:t>
            </a:r>
            <a:r>
              <a:rPr dirty="0" sz="1200" spc="-10">
                <a:latin typeface="Calibri"/>
                <a:cs typeface="Calibri"/>
              </a:rPr>
              <a:t>button,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&gt;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Personalization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&gt;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 Use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full </a:t>
            </a:r>
            <a:r>
              <a:rPr dirty="0" sz="1200" spc="-10"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explorer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previously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swiping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right </a:t>
            </a:r>
            <a:r>
              <a:rPr dirty="0" sz="1200">
                <a:latin typeface="Calibri"/>
                <a:cs typeface="Calibri"/>
              </a:rPr>
              <a:t>edge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tapping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mouse,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top-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entering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tapping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explorer.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Different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parts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explorer</a:t>
            </a:r>
            <a:endParaRPr sz="1200">
              <a:latin typeface="Calibri"/>
              <a:cs typeface="Calibri"/>
            </a:endParaRPr>
          </a:p>
          <a:p>
            <a:pPr marL="12700" marR="197485">
              <a:lnSpc>
                <a:spcPct val="116799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kinds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locations,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PC’s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network.</a:t>
            </a:r>
            <a:endParaRPr sz="1200">
              <a:latin typeface="Calibri"/>
              <a:cs typeface="Calibri"/>
            </a:endParaRPr>
          </a:p>
          <a:p>
            <a:pPr marL="12700" marR="40005" indent="33020">
              <a:lnSpc>
                <a:spcPct val="117300"/>
              </a:lnSpc>
              <a:spcBef>
                <a:spcPts val="1000"/>
              </a:spcBef>
            </a:pPr>
            <a:r>
              <a:rPr dirty="0" sz="1200">
                <a:latin typeface="Calibri"/>
                <a:cs typeface="Calibri"/>
              </a:rPr>
              <a:t>Back,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forward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forward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next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folder </a:t>
            </a:r>
            <a:r>
              <a:rPr dirty="0" sz="1200">
                <a:latin typeface="Calibri"/>
                <a:cs typeface="Calibri"/>
              </a:rPr>
              <a:t>you’re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saved.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426465"/>
            <a:ext cx="5283200" cy="9239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43434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algn="just" marL="12700" marR="18415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Ribbon: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ribbon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 copying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25">
                <a:latin typeface="Calibri"/>
                <a:cs typeface="Calibri"/>
              </a:rPr>
              <a:t> new </a:t>
            </a:r>
            <a:r>
              <a:rPr dirty="0" sz="1200">
                <a:latin typeface="Calibri"/>
                <a:cs typeface="Calibri"/>
              </a:rPr>
              <a:t>folders,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zipping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show </a:t>
            </a:r>
            <a:r>
              <a:rPr dirty="0" sz="1200">
                <a:latin typeface="Calibri"/>
                <a:cs typeface="Calibri"/>
              </a:rPr>
              <a:t>extra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items.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</a:t>
            </a:r>
            <a:endParaRPr sz="1200">
              <a:latin typeface="Calibri"/>
              <a:cs typeface="Calibri"/>
            </a:endParaRPr>
          </a:p>
          <a:p>
            <a:pPr algn="just" marL="12700" marR="4889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where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box.</a:t>
            </a:r>
            <a:endParaRPr sz="1200">
              <a:latin typeface="Calibri"/>
              <a:cs typeface="Calibri"/>
            </a:endParaRPr>
          </a:p>
          <a:p>
            <a:pPr marL="12700" marR="262255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10">
                <a:latin typeface="Calibri"/>
                <a:cs typeface="Calibri"/>
              </a:rPr>
              <a:t> headings: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headings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change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organised.</a:t>
            </a:r>
            <a:endParaRPr sz="1200">
              <a:latin typeface="Calibri"/>
              <a:cs typeface="Calibri"/>
            </a:endParaRPr>
          </a:p>
          <a:p>
            <a:pPr marL="12700" marR="10096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phrase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 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 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current folder</a:t>
            </a:r>
            <a:endParaRPr sz="1200">
              <a:latin typeface="Calibri"/>
              <a:cs typeface="Calibri"/>
            </a:endParaRPr>
          </a:p>
          <a:p>
            <a:pPr marL="12700" marR="10795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location,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size.</a:t>
            </a:r>
            <a:endParaRPr sz="1200">
              <a:latin typeface="Calibri"/>
              <a:cs typeface="Calibri"/>
            </a:endParaRPr>
          </a:p>
          <a:p>
            <a:pPr marL="12700" marR="12192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properties </a:t>
            </a:r>
            <a:r>
              <a:rPr dirty="0" sz="1200">
                <a:latin typeface="Calibri"/>
                <a:cs typeface="Calibri"/>
              </a:rPr>
              <a:t>associated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properties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file,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date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descriptive</a:t>
            </a:r>
            <a:r>
              <a:rPr dirty="0" sz="1200" spc="-20">
                <a:latin typeface="Calibri"/>
                <a:cs typeface="Calibri"/>
              </a:rPr>
              <a:t> tags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20">
                <a:latin typeface="Calibri"/>
                <a:cs typeface="Calibri"/>
              </a:rPr>
              <a:t>file.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Windows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  <a:p>
            <a:pPr marL="12700" marR="72390">
              <a:lnSpc>
                <a:spcPct val="116799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(2009)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planned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timeframe.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New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features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Windows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  <a:p>
            <a:pPr marL="241300" marR="222885" indent="-228600">
              <a:lnSpc>
                <a:spcPct val="117300"/>
              </a:lnSpc>
              <a:spcBef>
                <a:spcPts val="1000"/>
              </a:spcBef>
              <a:buAutoNum type="alphaLcParenR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themes: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colours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chrome,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mouse pointers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slideshow settings.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16700"/>
              </a:lnSpc>
              <a:buAutoNum type="alphaLcParenR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slideshow: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changes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designated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smooth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fading transaction.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lphaLcParenR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libraries: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libraries,</a:t>
            </a:r>
            <a:endParaRPr sz="1200">
              <a:latin typeface="Calibri"/>
              <a:cs typeface="Calibri"/>
            </a:endParaRPr>
          </a:p>
          <a:p>
            <a:pPr marL="241300" marR="1968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described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.library-ms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aggregates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various </a:t>
            </a:r>
            <a:r>
              <a:rPr dirty="0" sz="1200">
                <a:latin typeface="Calibri"/>
                <a:cs typeface="Calibri"/>
              </a:rPr>
              <a:t>locations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systems.</a:t>
            </a:r>
            <a:endParaRPr sz="1200">
              <a:latin typeface="Calibri"/>
              <a:cs typeface="Calibri"/>
            </a:endParaRPr>
          </a:p>
          <a:p>
            <a:pPr marL="241300" marR="67945" indent="-228600">
              <a:lnSpc>
                <a:spcPct val="116700"/>
              </a:lnSpc>
              <a:buAutoNum type="alphaLcParenR" startAt="4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Federated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federating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external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sources,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exposed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over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described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definition.</a:t>
            </a:r>
            <a:endParaRPr sz="1200">
              <a:latin typeface="Calibri"/>
              <a:cs typeface="Calibri"/>
            </a:endParaRPr>
          </a:p>
          <a:p>
            <a:pPr marL="241300" marR="79375" indent="-228600">
              <a:lnSpc>
                <a:spcPts val="1700"/>
              </a:lnSpc>
              <a:spcBef>
                <a:spcPts val="80"/>
              </a:spcBef>
              <a:buAutoNum type="alphaLcParenR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Thumbnail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ability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“peek”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thumbnail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Peeking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426465"/>
            <a:ext cx="5288280" cy="8824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43942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203200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thumbnail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hovers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turns</a:t>
            </a:r>
            <a:r>
              <a:rPr dirty="0" sz="1200" spc="-25">
                <a:latin typeface="Calibri"/>
                <a:cs typeface="Calibri"/>
              </a:rPr>
              <a:t> any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transparent.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AutoNum type="alphaLcParenR" startAt="6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Jump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icons</a:t>
            </a:r>
            <a:endParaRPr sz="1200">
              <a:latin typeface="Calibri"/>
              <a:cs typeface="Calibri"/>
            </a:endParaRPr>
          </a:p>
          <a:p>
            <a:pPr marL="241300" marR="266700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taskbar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 holding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towards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icon.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lphaLcParenR" startAt="7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adaptive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</a:t>
            </a:r>
            <a:endParaRPr sz="1200">
              <a:latin typeface="Calibri"/>
              <a:cs typeface="Calibri"/>
            </a:endParaRPr>
          </a:p>
          <a:p>
            <a:pPr marL="241300" marR="85725">
              <a:lnSpc>
                <a:spcPct val="116700"/>
              </a:lnSpc>
              <a:spcBef>
                <a:spcPts val="25"/>
              </a:spcBef>
            </a:pPr>
            <a:r>
              <a:rPr dirty="0" sz="1200" spc="-10">
                <a:latin typeface="Calibri"/>
                <a:cs typeface="Calibri"/>
              </a:rPr>
              <a:t>brightness,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laptop’s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laptop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 been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while.</a:t>
            </a:r>
            <a:endParaRPr sz="1200">
              <a:latin typeface="Calibri"/>
              <a:cs typeface="Calibri"/>
            </a:endParaRPr>
          </a:p>
          <a:p>
            <a:pPr marL="241300" marR="54610" indent="-228600">
              <a:lnSpc>
                <a:spcPct val="116700"/>
              </a:lnSpc>
              <a:buAutoNum type="alphaLcParenR" startAt="8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Devises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printers: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interface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accessible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AutoNum type="alphaLcParenR" startAt="8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adds</a:t>
            </a:r>
            <a:endParaRPr sz="1200">
              <a:latin typeface="Calibri"/>
              <a:cs typeface="Calibri"/>
            </a:endParaRPr>
          </a:p>
          <a:p>
            <a:pPr marL="241300" marR="10287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heterogeneous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 vendors.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16700"/>
              </a:lnSpc>
              <a:spcBef>
                <a:spcPts val="5"/>
              </a:spcBef>
              <a:buAutoNum type="alphaLcParenR" startAt="10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enterprise,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ultimate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professional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edition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incorporate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(VHD)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VHD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files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mounted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WIM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60"/>
              </a:spcBef>
            </a:pPr>
            <a:r>
              <a:rPr dirty="0" sz="1200" spc="-10">
                <a:latin typeface="Calibri"/>
                <a:cs typeface="Calibri"/>
              </a:rPr>
              <a:t>files.</a:t>
            </a:r>
            <a:endParaRPr sz="1200">
              <a:latin typeface="Calibri"/>
              <a:cs typeface="Calibri"/>
            </a:endParaRPr>
          </a:p>
          <a:p>
            <a:pPr marL="241300" marR="49530" indent="-228600">
              <a:lnSpc>
                <a:spcPct val="116700"/>
              </a:lnSpc>
              <a:buAutoNum type="alphaLcParenR" startAt="11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system-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partitioning: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partitioning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partitions,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first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booting,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locker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recovery </a:t>
            </a: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second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AutoNum type="alphaLcParenR" startAt="11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Multimedia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new</a:t>
            </a:r>
            <a:endParaRPr sz="1200">
              <a:latin typeface="Calibri"/>
              <a:cs typeface="Calibri"/>
            </a:endParaRPr>
          </a:p>
          <a:p>
            <a:pPr marL="241300" marR="1905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mini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guide,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scrub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option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tightly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regular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TV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guide.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 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QAM,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ATSC, </a:t>
            </a:r>
            <a:r>
              <a:rPr dirty="0" sz="1200">
                <a:latin typeface="Calibri"/>
                <a:cs typeface="Calibri"/>
              </a:rPr>
              <a:t>Cable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NTSC).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lphaLcParenR" startAt="13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Firewall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firewall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profiles.</a:t>
            </a:r>
            <a:endParaRPr sz="1200">
              <a:latin typeface="Calibri"/>
              <a:cs typeface="Calibri"/>
            </a:endParaRPr>
          </a:p>
          <a:p>
            <a:pPr marL="274320" indent="-261620">
              <a:lnSpc>
                <a:spcPct val="100000"/>
              </a:lnSpc>
              <a:spcBef>
                <a:spcPts val="240"/>
              </a:spcBef>
              <a:buAutoNum type="alphaLcParenR" startAt="13"/>
              <a:tabLst>
                <a:tab pos="274320" algn="l"/>
              </a:tabLst>
            </a:pPr>
            <a:r>
              <a:rPr dirty="0" sz="1200" spc="-10">
                <a:latin typeface="Calibri"/>
                <a:cs typeface="Calibri"/>
              </a:rPr>
              <a:t>Notification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area: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notification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redesigned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standard</a:t>
            </a:r>
            <a:endParaRPr sz="1200">
              <a:latin typeface="Calibri"/>
              <a:cs typeface="Calibri"/>
            </a:endParaRPr>
          </a:p>
          <a:p>
            <a:pPr marL="241300" marR="76200">
              <a:lnSpc>
                <a:spcPct val="1169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volume,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 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unless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chosen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shown.</a:t>
            </a:r>
            <a:endParaRPr sz="1200">
              <a:latin typeface="Calibri"/>
              <a:cs typeface="Calibri"/>
            </a:endParaRPr>
          </a:p>
          <a:p>
            <a:pPr marL="241300" marR="50800" indent="-228600">
              <a:lnSpc>
                <a:spcPct val="116700"/>
              </a:lnSpc>
              <a:buAutoNum type="alphaLcParenR" startAt="1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Aero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snap-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maximising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tiling: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dragged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maximize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dragged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Dragging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 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 take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half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allowing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  <a:p>
            <a:pPr marL="241300" marR="349885" indent="-228600">
              <a:lnSpc>
                <a:spcPct val="116700"/>
              </a:lnSpc>
              <a:buAutoNum type="alphaLcParenR" startAt="1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Aero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shake: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clutter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shaking </a:t>
            </a:r>
            <a:r>
              <a:rPr dirty="0" sz="1200">
                <a:latin typeface="Calibri"/>
                <a:cs typeface="Calibri"/>
              </a:rPr>
              <a:t>(dragging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forth)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mouse.</a:t>
            </a:r>
            <a:endParaRPr sz="1200">
              <a:latin typeface="Calibri"/>
              <a:cs typeface="Calibri"/>
            </a:endParaRPr>
          </a:p>
          <a:p>
            <a:pPr marL="241300" marR="90805" indent="-228600">
              <a:lnSpc>
                <a:spcPct val="116700"/>
              </a:lnSpc>
              <a:buAutoNum type="alphaLcParenR" startAt="1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windows7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new </a:t>
            </a:r>
            <a:r>
              <a:rPr dirty="0" sz="1200">
                <a:latin typeface="Calibri"/>
                <a:cs typeface="Calibri"/>
              </a:rPr>
              <a:t>functions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Wi-</a:t>
            </a:r>
            <a:r>
              <a:rPr dirty="0" sz="1200">
                <a:latin typeface="Calibri"/>
                <a:cs typeface="Calibri"/>
              </a:rPr>
              <a:t>Fi,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adapter</a:t>
            </a:r>
            <a:r>
              <a:rPr dirty="0" sz="1200" spc="-25">
                <a:latin typeface="Calibri"/>
                <a:cs typeface="Calibri"/>
              </a:rPr>
              <a:t> to</a:t>
            </a:r>
            <a:endParaRPr sz="1200">
              <a:latin typeface="Calibri"/>
              <a:cs typeface="Calibri"/>
            </a:endParaRPr>
          </a:p>
          <a:p>
            <a:pPr marL="241300" marR="89535">
              <a:lnSpc>
                <a:spcPct val="1169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act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both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hotspot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wireless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426465"/>
            <a:ext cx="5047615" cy="8903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5595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Desktop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screen</a:t>
            </a:r>
            <a:endParaRPr sz="1200">
              <a:latin typeface="Calibri"/>
              <a:cs typeface="Calibri"/>
            </a:endParaRPr>
          </a:p>
          <a:p>
            <a:pPr marL="12700" marR="17780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square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represents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conversation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“desktop”.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200" b="1">
                <a:latin typeface="Calibri"/>
                <a:cs typeface="Calibri"/>
              </a:rPr>
              <a:t>Parts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desktop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screen</a:t>
            </a:r>
            <a:endParaRPr sz="1200">
              <a:latin typeface="Calibri"/>
              <a:cs typeface="Calibri"/>
            </a:endParaRPr>
          </a:p>
          <a:p>
            <a:pPr marL="491490" marR="47625" indent="-229235">
              <a:lnSpc>
                <a:spcPct val="117100"/>
              </a:lnSpc>
              <a:spcBef>
                <a:spcPts val="6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Toaster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upper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toaster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useful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when </a:t>
            </a:r>
            <a:r>
              <a:rPr dirty="0" sz="1200">
                <a:latin typeface="Calibri"/>
                <a:cs typeface="Calibri"/>
              </a:rPr>
              <a:t>accessed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board.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toaster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window’s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shape,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position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prominence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(maximized,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normal, minimized)</a:t>
            </a:r>
            <a:endParaRPr sz="1200">
              <a:latin typeface="Calibri"/>
              <a:cs typeface="Calibri"/>
            </a:endParaRPr>
          </a:p>
          <a:p>
            <a:pPr marL="491490" marR="56515" indent="-229235">
              <a:lnSpc>
                <a:spcPct val="116700"/>
              </a:lnSpc>
              <a:spcBef>
                <a:spcPts val="7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directory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file.</a:t>
            </a:r>
            <a:endParaRPr sz="1200">
              <a:latin typeface="Calibri"/>
              <a:cs typeface="Calibri"/>
            </a:endParaRPr>
          </a:p>
          <a:p>
            <a:pPr marL="491490" marR="5080" indent="-229235">
              <a:lnSpc>
                <a:spcPct val="116700"/>
              </a:lnSpc>
              <a:spcBef>
                <a:spcPts val="70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because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 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 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intensity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20">
                <a:latin typeface="Calibri"/>
                <a:cs typeface="Calibri"/>
              </a:rPr>
              <a:t> bars.</a:t>
            </a:r>
            <a:endParaRPr sz="1200">
              <a:latin typeface="Calibri"/>
              <a:cs typeface="Calibri"/>
            </a:endParaRPr>
          </a:p>
          <a:p>
            <a:pPr marL="491490" marR="170180" indent="-229235">
              <a:lnSpc>
                <a:spcPct val="116700"/>
              </a:lnSpc>
              <a:spcBef>
                <a:spcPts val="9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corresponding</a:t>
            </a:r>
            <a:r>
              <a:rPr dirty="0" sz="1200">
                <a:latin typeface="Calibri"/>
                <a:cs typeface="Calibri"/>
              </a:rPr>
              <a:t> pull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491490" marR="31750" indent="-229235">
              <a:lnSpc>
                <a:spcPct val="116700"/>
              </a:lnSpc>
              <a:spcBef>
                <a:spcPts val="70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 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list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 fit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 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allocated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document,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arrows.</a:t>
            </a:r>
            <a:endParaRPr sz="1200">
              <a:latin typeface="Calibri"/>
              <a:cs typeface="Calibri"/>
            </a:endParaRPr>
          </a:p>
          <a:p>
            <a:pPr marL="491490" marR="5080" indent="-229235">
              <a:lnSpc>
                <a:spcPct val="116700"/>
              </a:lnSpc>
              <a:spcBef>
                <a:spcPts val="7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 spc="-10">
                <a:latin typeface="Calibri"/>
                <a:cs typeface="Calibri"/>
              </a:rPr>
              <a:t>Maximise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minimise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upper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maximise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enlarges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active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minimise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active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icon.</a:t>
            </a:r>
            <a:endParaRPr sz="1200">
              <a:latin typeface="Calibri"/>
              <a:cs typeface="Calibri"/>
            </a:endParaRPr>
          </a:p>
          <a:p>
            <a:pPr marL="491490" marR="131445" indent="-229235">
              <a:lnSpc>
                <a:spcPct val="116799"/>
              </a:lnSpc>
              <a:spcBef>
                <a:spcPts val="9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replaces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maximise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enlarge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previous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size.</a:t>
            </a:r>
            <a:endParaRPr sz="1200">
              <a:latin typeface="Calibri"/>
              <a:cs typeface="Calibri"/>
            </a:endParaRPr>
          </a:p>
          <a:p>
            <a:pPr marL="491490" marR="53975" indent="-229235">
              <a:lnSpc>
                <a:spcPct val="116700"/>
              </a:lnSpc>
              <a:spcBef>
                <a:spcPts val="70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outside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size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lengthening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shortening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border.</a:t>
            </a:r>
            <a:endParaRPr sz="1200">
              <a:latin typeface="Calibri"/>
              <a:cs typeface="Calibri"/>
            </a:endParaRPr>
          </a:p>
          <a:p>
            <a:pPr marL="491490" marR="67310" indent="-229235">
              <a:lnSpc>
                <a:spcPct val="116700"/>
              </a:lnSpc>
              <a:spcBef>
                <a:spcPts val="75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below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bar.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out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workspace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title.</a:t>
            </a:r>
            <a:endParaRPr sz="1200">
              <a:latin typeface="Calibri"/>
              <a:cs typeface="Calibri"/>
            </a:endParaRPr>
          </a:p>
          <a:p>
            <a:pPr marL="491490" marR="100965" indent="-229235">
              <a:lnSpc>
                <a:spcPct val="116700"/>
              </a:lnSpc>
              <a:spcBef>
                <a:spcPts val="70"/>
              </a:spcBef>
              <a:buFont typeface="Symbol"/>
              <a:buChar char=""/>
              <a:tabLst>
                <a:tab pos="491490" algn="l"/>
              </a:tabLst>
            </a:pP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taskbar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located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bottom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locations 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dragging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Normally 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time.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taskbar’s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currently running.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911097"/>
            <a:ext cx="5744210" cy="832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Start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button</a:t>
            </a:r>
            <a:endParaRPr sz="1200">
              <a:latin typeface="Calibri"/>
              <a:cs typeface="Calibri"/>
            </a:endParaRPr>
          </a:p>
          <a:p>
            <a:pPr algn="just" marL="12700" marR="76835">
              <a:lnSpc>
                <a:spcPct val="117300"/>
              </a:lnSpc>
              <a:spcBef>
                <a:spcPts val="97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taskbar,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bottom </a:t>
            </a:r>
            <a:r>
              <a:rPr dirty="0" sz="1200">
                <a:latin typeface="Calibri"/>
                <a:cs typeface="Calibri"/>
              </a:rPr>
              <a:t>half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launches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which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behaviour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Start</a:t>
            </a:r>
            <a:r>
              <a:rPr dirty="0" sz="1200" spc="-20" b="1">
                <a:latin typeface="Calibri"/>
                <a:cs typeface="Calibri"/>
              </a:rPr>
              <a:t> menu</a:t>
            </a:r>
            <a:endParaRPr sz="1200">
              <a:latin typeface="Calibri"/>
              <a:cs typeface="Calibri"/>
            </a:endParaRPr>
          </a:p>
          <a:p>
            <a:pPr algn="just" marL="12700" marR="8445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is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because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choices,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restaurant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Components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start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469900" marR="404495" indent="-229235">
              <a:lnSpc>
                <a:spcPct val="116900"/>
              </a:lnSpc>
              <a:spcBef>
                <a:spcPts val="1005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Programs-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Accessories.</a:t>
            </a:r>
            <a:endParaRPr sz="1200">
              <a:latin typeface="Calibri"/>
              <a:cs typeface="Calibri"/>
            </a:endParaRPr>
          </a:p>
          <a:p>
            <a:pPr marL="469900" marR="50800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Documents-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recently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documents.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 </a:t>
            </a:r>
            <a:r>
              <a:rPr dirty="0" sz="1200" spc="-20">
                <a:latin typeface="Calibri"/>
                <a:cs typeface="Calibri"/>
              </a:rPr>
              <a:t>file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opened,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My</a:t>
            </a:r>
            <a:r>
              <a:rPr dirty="0" sz="1200" spc="-10">
                <a:latin typeface="Calibri"/>
                <a:cs typeface="Calibri"/>
              </a:rPr>
              <a:t> Documents folder.</a:t>
            </a:r>
            <a:endParaRPr sz="1200">
              <a:latin typeface="Calibri"/>
              <a:cs typeface="Calibri"/>
            </a:endParaRPr>
          </a:p>
          <a:p>
            <a:pPr marL="469900" marR="205104" indent="-229235">
              <a:lnSpc>
                <a:spcPts val="1700"/>
              </a:lnSpc>
              <a:spcBef>
                <a:spcPts val="8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Setting: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cascading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folder, </a:t>
            </a:r>
            <a:r>
              <a:rPr dirty="0" sz="1200">
                <a:latin typeface="Calibri"/>
                <a:cs typeface="Calibri"/>
              </a:rPr>
              <a:t>printer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properties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dialog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dialog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box.</a:t>
            </a:r>
            <a:endParaRPr sz="1200">
              <a:latin typeface="Calibri"/>
              <a:cs typeface="Calibri"/>
            </a:endParaRPr>
          </a:p>
          <a:p>
            <a:pPr marL="469900" marR="254635" indent="-229235">
              <a:lnSpc>
                <a:spcPts val="1680"/>
              </a:lnSpc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Search: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Utility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  <a:p>
            <a:pPr marL="469900" marR="456565" indent="-229235">
              <a:lnSpc>
                <a:spcPts val="1680"/>
              </a:lnSpc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Help: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 integrate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table of</a:t>
            </a:r>
            <a:r>
              <a:rPr dirty="0" sz="1200" spc="-10">
                <a:latin typeface="Calibri"/>
                <a:cs typeface="Calibri"/>
              </a:rPr>
              <a:t> contents,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 index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search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easily.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Run: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dialog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25">
                <a:latin typeface="Calibri"/>
                <a:cs typeface="Calibri"/>
              </a:rPr>
              <a:t> or</a:t>
            </a:r>
            <a:endParaRPr sz="1200">
              <a:latin typeface="Calibri"/>
              <a:cs typeface="Calibri"/>
            </a:endParaRPr>
          </a:p>
          <a:p>
            <a:pPr marL="469900" marR="7810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resource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also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open.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Shutdown: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Shutdown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restart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20" b="1">
                <a:latin typeface="Calibri"/>
                <a:cs typeface="Calibri"/>
              </a:rPr>
              <a:t>Icon</a:t>
            </a:r>
            <a:endParaRPr sz="1200">
              <a:latin typeface="Calibri"/>
              <a:cs typeface="Calibri"/>
            </a:endParaRPr>
          </a:p>
          <a:p>
            <a:pPr algn="just" marL="12700" marR="12573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symbol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representing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element.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quickly.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Different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types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Icons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1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Desktop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icons</a:t>
            </a:r>
            <a:r>
              <a:rPr dirty="0" sz="1200" spc="-10">
                <a:latin typeface="Calibri"/>
                <a:cs typeface="Calibri"/>
              </a:rPr>
              <a:t>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depending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installed. Eg: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My </a:t>
            </a:r>
            <a:r>
              <a:rPr dirty="0" sz="1200">
                <a:latin typeface="Calibri"/>
                <a:cs typeface="Calibri"/>
              </a:rPr>
              <a:t>computer,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Neighbourhood,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bin.</a:t>
            </a:r>
            <a:endParaRPr sz="1200">
              <a:latin typeface="Calibri"/>
              <a:cs typeface="Calibri"/>
            </a:endParaRPr>
          </a:p>
          <a:p>
            <a:pPr algn="just" marL="12700" marR="358140">
              <a:lnSpc>
                <a:spcPct val="116799"/>
              </a:lnSpc>
              <a:spcBef>
                <a:spcPts val="1005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Document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icons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represents documents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shortcut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arrow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bottom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like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20">
                <a:latin typeface="Calibri"/>
                <a:cs typeface="Calibri"/>
              </a:rPr>
              <a:t> cut.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45480" cy="8476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12700" marR="256540">
              <a:lnSpc>
                <a:spcPct val="116700"/>
              </a:lnSpc>
              <a:spcBef>
                <a:spcPts val="1650"/>
              </a:spcBef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Shortcut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icons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shortcut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document,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Astronomy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shortcut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placed </a:t>
            </a:r>
            <a:r>
              <a:rPr dirty="0" sz="1200">
                <a:latin typeface="Calibri"/>
                <a:cs typeface="Calibri"/>
              </a:rPr>
              <a:t>wherever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it-on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Desktop,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10">
                <a:latin typeface="Calibri"/>
                <a:cs typeface="Calibri"/>
              </a:rPr>
              <a:t> area.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Windows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explorer</a:t>
            </a:r>
            <a:endParaRPr sz="1200">
              <a:latin typeface="Calibri"/>
              <a:cs typeface="Calibri"/>
            </a:endParaRPr>
          </a:p>
          <a:p>
            <a:pPr marL="12700" marR="6540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framework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 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subject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controversy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competing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claimed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was </a:t>
            </a:r>
            <a:r>
              <a:rPr dirty="0" sz="1200">
                <a:latin typeface="Calibri"/>
                <a:cs typeface="Calibri"/>
              </a:rPr>
              <a:t>involved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unfair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practices.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Parts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0" b="1">
                <a:latin typeface="Calibri"/>
                <a:cs typeface="Calibri"/>
              </a:rPr>
              <a:t> Windows Explorer</a:t>
            </a:r>
            <a:endParaRPr sz="1200">
              <a:latin typeface="Calibri"/>
              <a:cs typeface="Calibri"/>
            </a:endParaRPr>
          </a:p>
          <a:p>
            <a:pPr marL="241300" marR="64769" indent="-228600">
              <a:lnSpc>
                <a:spcPct val="116900"/>
              </a:lnSpc>
              <a:spcBef>
                <a:spcPts val="1005"/>
              </a:spcBef>
              <a:buAutoNum type="arabicParenR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multipurpose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16700"/>
              </a:lnSpc>
              <a:buAutoNum type="arabicParenR"/>
              <a:tabLst>
                <a:tab pos="241300" algn="l"/>
                <a:tab pos="274955" algn="l"/>
              </a:tabLst>
            </a:pPr>
            <a:r>
              <a:rPr dirty="0" sz="1200">
                <a:latin typeface="Calibri"/>
                <a:cs typeface="Calibri"/>
              </a:rPr>
              <a:t>	Status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XP. 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>
                <a:latin typeface="Calibri"/>
                <a:cs typeface="Calibri"/>
              </a:rPr>
              <a:t>useful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well.</a:t>
            </a:r>
            <a:r>
              <a:rPr dirty="0" sz="1200" spc="-25">
                <a:latin typeface="Calibri"/>
                <a:cs typeface="Calibri"/>
              </a:rPr>
              <a:t> In</a:t>
            </a:r>
            <a:endParaRPr sz="1200">
              <a:latin typeface="Calibri"/>
              <a:cs typeface="Calibri"/>
            </a:endParaRPr>
          </a:p>
          <a:p>
            <a:pPr marL="241300" marR="240029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rudimentary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file </a:t>
            </a:r>
            <a:r>
              <a:rPr dirty="0" sz="1200" spc="-10">
                <a:latin typeface="Calibri"/>
                <a:cs typeface="Calibri"/>
              </a:rPr>
              <a:t>type.</a:t>
            </a:r>
            <a:endParaRPr sz="1200">
              <a:latin typeface="Calibri"/>
              <a:cs typeface="Calibri"/>
            </a:endParaRPr>
          </a:p>
          <a:p>
            <a:pPr marL="241300" marR="9525" indent="-228600">
              <a:lnSpc>
                <a:spcPct val="116700"/>
              </a:lnSpc>
              <a:buAutoNum type="arabicParenR" startAt="3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move </a:t>
            </a:r>
            <a:r>
              <a:rPr dirty="0" sz="1200">
                <a:latin typeface="Calibri"/>
                <a:cs typeface="Calibri"/>
              </a:rPr>
              <a:t>straight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further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navigation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they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system.</a:t>
            </a:r>
            <a:endParaRPr sz="1200">
              <a:latin typeface="Calibri"/>
              <a:cs typeface="Calibri"/>
            </a:endParaRPr>
          </a:p>
          <a:p>
            <a:pPr marL="241300" marR="513080" indent="-228600">
              <a:lnSpc>
                <a:spcPct val="116700"/>
              </a:lnSpc>
              <a:spcBef>
                <a:spcPts val="25"/>
              </a:spcBef>
              <a:buAutoNum type="arabicParenR" startAt="3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Standard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standard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 Explorer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20">
                <a:latin typeface="Calibri"/>
                <a:cs typeface="Calibri"/>
              </a:rPr>
              <a:t> are:</a:t>
            </a:r>
            <a:endParaRPr sz="1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Back: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Navigates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10">
                <a:latin typeface="Calibri"/>
                <a:cs typeface="Calibri"/>
              </a:rPr>
              <a:t> page/folder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10">
                <a:latin typeface="Calibri"/>
                <a:cs typeface="Calibri"/>
              </a:rPr>
              <a:t> viewing.</a:t>
            </a:r>
            <a:endParaRPr sz="1200">
              <a:latin typeface="Calibri"/>
              <a:cs typeface="Calibri"/>
            </a:endParaRPr>
          </a:p>
          <a:p>
            <a:pPr lvl="1" marL="698500" marR="370205" indent="-228600">
              <a:lnSpc>
                <a:spcPct val="116700"/>
              </a:lnSpc>
              <a:buFont typeface="Wingdings"/>
              <a:buChar char="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Forward: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backwards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this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forward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of.</a:t>
            </a:r>
            <a:endParaRPr sz="1200">
              <a:latin typeface="Calibri"/>
              <a:cs typeface="Calibri"/>
            </a:endParaRPr>
          </a:p>
          <a:p>
            <a:pPr lvl="1" marL="698500" marR="102235" indent="-228600">
              <a:lnSpc>
                <a:spcPct val="116700"/>
              </a:lnSpc>
              <a:spcBef>
                <a:spcPts val="25"/>
              </a:spcBef>
              <a:buFont typeface="Wingdings"/>
              <a:buChar char="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Home: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as </a:t>
            </a:r>
            <a:r>
              <a:rPr dirty="0" sz="1200">
                <a:latin typeface="Calibri"/>
                <a:cs typeface="Calibri"/>
              </a:rPr>
              <a:t>specified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options.</a:t>
            </a:r>
            <a:endParaRPr sz="1200">
              <a:latin typeface="Calibri"/>
              <a:cs typeface="Calibri"/>
            </a:endParaRPr>
          </a:p>
          <a:p>
            <a:pPr lvl="1" marL="698500" marR="203200" indent="-228600">
              <a:lnSpc>
                <a:spcPct val="116700"/>
              </a:lnSpc>
              <a:buFont typeface="Wingdings"/>
              <a:buChar char=""/>
              <a:tabLst>
                <a:tab pos="698500" algn="l"/>
              </a:tabLst>
            </a:pPr>
            <a:r>
              <a:rPr dirty="0" sz="1200" spc="-10">
                <a:latin typeface="Calibri"/>
                <a:cs typeface="Calibri"/>
              </a:rPr>
              <a:t>Refresh: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refresh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 page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latest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refreshes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currently displayed.</a:t>
            </a:r>
            <a:endParaRPr sz="1200">
              <a:latin typeface="Calibri"/>
              <a:cs typeface="Calibri"/>
            </a:endParaRPr>
          </a:p>
          <a:p>
            <a:pPr lvl="1" marL="698500" marR="222250" indent="-228600">
              <a:lnSpc>
                <a:spcPct val="116700"/>
              </a:lnSpc>
              <a:spcBef>
                <a:spcPts val="25"/>
              </a:spcBef>
              <a:buFont typeface="Wingdings"/>
              <a:buChar char="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Search: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search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certain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files.</a:t>
            </a:r>
            <a:endParaRPr sz="1200">
              <a:latin typeface="Calibri"/>
              <a:cs typeface="Calibri"/>
            </a:endParaRPr>
          </a:p>
          <a:p>
            <a:pPr algn="just" lvl="1" marL="698500" marR="67945" indent="-228600">
              <a:lnSpc>
                <a:spcPct val="116700"/>
              </a:lnSpc>
              <a:buFont typeface="Wingdings"/>
              <a:buChar char="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Stop: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if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Explorer,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 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present.</a:t>
            </a:r>
            <a:endParaRPr sz="1200">
              <a:latin typeface="Calibri"/>
              <a:cs typeface="Calibri"/>
            </a:endParaRPr>
          </a:p>
          <a:p>
            <a:pPr algn="just" lvl="1" marL="698500" marR="342900" indent="-228600">
              <a:lnSpc>
                <a:spcPts val="1700"/>
              </a:lnSpc>
              <a:spcBef>
                <a:spcPts val="80"/>
              </a:spcBef>
              <a:buFont typeface="Wingdings"/>
              <a:buChar char="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Up: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Explorer;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5">
                <a:latin typeface="Calibri"/>
                <a:cs typeface="Calibri"/>
              </a:rPr>
              <a:t> one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43575" cy="8729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Viewing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options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Windows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Explorer</a:t>
            </a:r>
            <a:endParaRPr sz="1200">
              <a:latin typeface="Calibri"/>
              <a:cs typeface="Calibri"/>
            </a:endParaRPr>
          </a:p>
          <a:p>
            <a:pPr marL="469900" marR="70485">
              <a:lnSpc>
                <a:spcPct val="117600"/>
              </a:lnSpc>
              <a:spcBef>
                <a:spcPts val="969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variety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tool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variety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methods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are:</a:t>
            </a:r>
            <a:endParaRPr sz="1200">
              <a:latin typeface="Calibri"/>
              <a:cs typeface="Calibri"/>
            </a:endParaRPr>
          </a:p>
          <a:p>
            <a:pPr marL="926465" marR="5080" indent="-160655">
              <a:lnSpc>
                <a:spcPct val="116700"/>
              </a:lnSpc>
              <a:spcBef>
                <a:spcPts val="1005"/>
              </a:spcBef>
              <a:buFont typeface="Wingdings"/>
              <a:buChar char=""/>
              <a:tabLst>
                <a:tab pos="99441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Details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tightly displayed,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view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favourite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pictures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movies.</a:t>
            </a:r>
            <a:endParaRPr sz="1200">
              <a:latin typeface="Calibri"/>
              <a:cs typeface="Calibri"/>
            </a:endParaRPr>
          </a:p>
          <a:p>
            <a:pPr marL="926465" marR="560705" indent="-160655">
              <a:lnSpc>
                <a:spcPct val="116700"/>
              </a:lnSpc>
              <a:spcBef>
                <a:spcPts val="5"/>
              </a:spcBef>
              <a:buFont typeface="Wingdings"/>
              <a:buChar char=""/>
              <a:tabLst>
                <a:tab pos="99441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List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associated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  <a:p>
            <a:pPr marL="926465" marR="148590" indent="-160655">
              <a:lnSpc>
                <a:spcPct val="116700"/>
              </a:lnSpc>
              <a:spcBef>
                <a:spcPts val="20"/>
              </a:spcBef>
              <a:buFont typeface="Wingdings"/>
              <a:buChar char=""/>
              <a:tabLst>
                <a:tab pos="99441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Icon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associated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 </a:t>
            </a:r>
            <a:r>
              <a:rPr dirty="0" sz="1200" spc="-20">
                <a:latin typeface="Calibri"/>
                <a:cs typeface="Calibri"/>
              </a:rPr>
              <a:t>name.</a:t>
            </a:r>
            <a:endParaRPr sz="1200">
              <a:latin typeface="Calibri"/>
              <a:cs typeface="Calibri"/>
            </a:endParaRPr>
          </a:p>
          <a:p>
            <a:pPr marL="926465" indent="-16065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92646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Tiles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exception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</a:t>
            </a:r>
            <a:endParaRPr sz="1200">
              <a:latin typeface="Calibri"/>
              <a:cs typeface="Calibri"/>
            </a:endParaRPr>
          </a:p>
          <a:p>
            <a:pPr marL="994410" marR="97790">
              <a:lnSpc>
                <a:spcPct val="1167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along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type, </a:t>
            </a:r>
            <a:r>
              <a:rPr dirty="0" sz="1200">
                <a:latin typeface="Calibri"/>
                <a:cs typeface="Calibri"/>
              </a:rPr>
              <a:t>size,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picture,</a:t>
            </a:r>
            <a:r>
              <a:rPr dirty="0" sz="1200" spc="-10">
                <a:latin typeface="Calibri"/>
                <a:cs typeface="Calibri"/>
              </a:rPr>
              <a:t> dimensions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title.</a:t>
            </a:r>
            <a:endParaRPr sz="1200">
              <a:latin typeface="Calibri"/>
              <a:cs typeface="Calibri"/>
            </a:endParaRPr>
          </a:p>
          <a:p>
            <a:pPr marL="926465" marR="12700" indent="-160655">
              <a:lnSpc>
                <a:spcPct val="116700"/>
              </a:lnSpc>
              <a:spcBef>
                <a:spcPts val="25"/>
              </a:spcBef>
              <a:buFont typeface="Wingdings"/>
              <a:buChar char=""/>
              <a:tabLst>
                <a:tab pos="99441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Thumbnails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decides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multimedia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(BMP,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GIF,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JPG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etc),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movies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(MPG,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ASF,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AVI).</a:t>
            </a:r>
            <a:endParaRPr sz="1200">
              <a:latin typeface="Calibri"/>
              <a:cs typeface="Calibri"/>
            </a:endParaRPr>
          </a:p>
          <a:p>
            <a:pPr marL="926465" marR="330835" indent="-160655">
              <a:lnSpc>
                <a:spcPct val="116700"/>
              </a:lnSpc>
              <a:buFont typeface="Wingdings"/>
              <a:buChar char=""/>
              <a:tabLst>
                <a:tab pos="99441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Filmstrip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excellent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-25">
                <a:latin typeface="Calibri"/>
                <a:cs typeface="Calibri"/>
              </a:rPr>
              <a:t> at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once.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Windows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accessories</a:t>
            </a:r>
            <a:endParaRPr sz="1200">
              <a:latin typeface="Calibri"/>
              <a:cs typeface="Calibri"/>
            </a:endParaRPr>
          </a:p>
          <a:p>
            <a:pPr marL="12700" marR="5334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accessories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component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hierarchy.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provides </a:t>
            </a:r>
            <a:r>
              <a:rPr dirty="0" sz="1200">
                <a:latin typeface="Calibri"/>
                <a:cs typeface="Calibri"/>
              </a:rPr>
              <a:t>several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accessories,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 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 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Components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 </a:t>
            </a:r>
            <a:r>
              <a:rPr dirty="0" sz="1200" spc="-10" b="1">
                <a:latin typeface="Calibri"/>
                <a:cs typeface="Calibri"/>
              </a:rPr>
              <a:t>Windows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Accessories</a:t>
            </a:r>
            <a:endParaRPr sz="1200">
              <a:latin typeface="Calibri"/>
              <a:cs typeface="Calibri"/>
            </a:endParaRPr>
          </a:p>
          <a:p>
            <a:pPr marL="469900" marR="360680" indent="-229235">
              <a:lnSpc>
                <a:spcPct val="116700"/>
              </a:lnSpc>
              <a:spcBef>
                <a:spcPts val="1010"/>
              </a:spcBef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convenient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contact information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retrieval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Outlook,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Outlook </a:t>
            </a:r>
            <a:r>
              <a:rPr dirty="0" sz="1200" spc="-10">
                <a:latin typeface="Calibri"/>
                <a:cs typeface="Calibri"/>
              </a:rPr>
              <a:t>Express,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Meeting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  <a:p>
            <a:pPr marL="469900" marR="232410" indent="-229235">
              <a:lnSpc>
                <a:spcPct val="116700"/>
              </a:lnSpc>
              <a:spcBef>
                <a:spcPts val="20"/>
              </a:spcBef>
              <a:buAutoNum type="alphaLcParenR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Calculator: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Calculator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standard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calculations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scientific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advanced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scientific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statistical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calculations.</a:t>
            </a:r>
            <a:endParaRPr sz="1200">
              <a:latin typeface="Calibri"/>
              <a:cs typeface="Calibri"/>
            </a:endParaRPr>
          </a:p>
          <a:p>
            <a:pPr marL="469900" marR="55244" indent="-229235">
              <a:lnSpc>
                <a:spcPct val="116700"/>
              </a:lnSpc>
              <a:spcBef>
                <a:spcPts val="5"/>
              </a:spcBef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Command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MS-DOS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window.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MS-</a:t>
            </a:r>
            <a:r>
              <a:rPr dirty="0" sz="1200">
                <a:latin typeface="Calibri"/>
                <a:cs typeface="Calibri"/>
              </a:rPr>
              <a:t>DOS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session,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command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prompt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blinking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cursor.</a:t>
            </a:r>
            <a:endParaRPr sz="1200">
              <a:latin typeface="Calibri"/>
              <a:cs typeface="Calibri"/>
            </a:endParaRPr>
          </a:p>
          <a:p>
            <a:pPr marL="469900" marR="344805" indent="-229235">
              <a:lnSpc>
                <a:spcPct val="116799"/>
              </a:lnSpc>
              <a:spcBef>
                <a:spcPts val="20"/>
              </a:spcBef>
              <a:buAutoNum type="alphaLcParenR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WordPad: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 WordPad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notes,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memos,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fax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WordPad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25">
                <a:latin typeface="Calibri"/>
                <a:cs typeface="Calibri"/>
              </a:rPr>
              <a:t> by </a:t>
            </a:r>
            <a:r>
              <a:rPr dirty="0" sz="1200">
                <a:latin typeface="Calibri"/>
                <a:cs typeface="Calibri"/>
              </a:rPr>
              <a:t>default,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28335" cy="9278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730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15240" indent="-229235">
              <a:lnSpc>
                <a:spcPct val="116700"/>
              </a:lnSpc>
              <a:spcBef>
                <a:spcPts val="1650"/>
              </a:spcBef>
              <a:buAutoNum type="alphaLcParenR" startAt="5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Notepad: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Notepad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extension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.txt.</a:t>
            </a:r>
            <a:endParaRPr sz="1200">
              <a:latin typeface="Calibri"/>
              <a:cs typeface="Calibri"/>
            </a:endParaRPr>
          </a:p>
          <a:p>
            <a:pPr marL="469900" marR="197485" indent="-229235">
              <a:lnSpc>
                <a:spcPct val="116700"/>
              </a:lnSpc>
              <a:buAutoNum type="alphaLcParenR" startAt="5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paint: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Paint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black-and-</a:t>
            </a:r>
            <a:r>
              <a:rPr dirty="0" sz="1200">
                <a:latin typeface="Calibri"/>
                <a:cs typeface="Calibri"/>
              </a:rPr>
              <a:t>white 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color </a:t>
            </a:r>
            <a:r>
              <a:rPr dirty="0" sz="1200">
                <a:latin typeface="Calibri"/>
                <a:cs typeface="Calibri"/>
              </a:rPr>
              <a:t>drawings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bitmap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(.bmp)</a:t>
            </a:r>
            <a:r>
              <a:rPr dirty="0" sz="1200" spc="-10">
                <a:latin typeface="Calibri"/>
                <a:cs typeface="Calibri"/>
              </a:rPr>
              <a:t> files.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Files,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Folder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Drives.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99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collection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information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identified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 </a:t>
            </a:r>
            <a:r>
              <a:rPr dirty="0" sz="1200" spc="-20">
                <a:latin typeface="Calibri"/>
                <a:cs typeface="Calibri"/>
              </a:rPr>
              <a:t>name.</a:t>
            </a:r>
            <a:endParaRPr sz="1200">
              <a:latin typeface="Calibri"/>
              <a:cs typeface="Calibri"/>
            </a:endParaRPr>
          </a:p>
          <a:p>
            <a:pPr marL="12700" marR="60642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Folder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Directory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 spc="-10">
                <a:latin typeface="Calibri"/>
                <a:cs typeface="Calibri"/>
              </a:rPr>
              <a:t>collection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directories.</a:t>
            </a:r>
            <a:endParaRPr sz="1200">
              <a:latin typeface="Calibri"/>
              <a:cs typeface="Calibri"/>
            </a:endParaRPr>
          </a:p>
          <a:p>
            <a:pPr marL="12700" marR="10287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Drive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represents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where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manager</a:t>
            </a:r>
            <a:endParaRPr sz="1200">
              <a:latin typeface="Calibri"/>
              <a:cs typeface="Calibri"/>
            </a:endParaRPr>
          </a:p>
          <a:p>
            <a:pPr marL="12700" marR="14605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3.x,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on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replaced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introduction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95.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Program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manager</a:t>
            </a:r>
            <a:endParaRPr sz="1200">
              <a:latin typeface="Calibri"/>
              <a:cs typeface="Calibri"/>
            </a:endParaRPr>
          </a:p>
          <a:p>
            <a:pPr marL="12700" marR="601980">
              <a:lnSpc>
                <a:spcPct val="116799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 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execute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computer.</a:t>
            </a:r>
            <a:endParaRPr sz="1200">
              <a:latin typeface="Calibri"/>
              <a:cs typeface="Calibri"/>
            </a:endParaRPr>
          </a:p>
          <a:p>
            <a:pPr marL="12700" marR="4445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starts</a:t>
            </a:r>
            <a:r>
              <a:rPr dirty="0" sz="1200" spc="-10">
                <a:latin typeface="Calibri"/>
                <a:cs typeface="Calibri"/>
              </a:rPr>
              <a:t> automatically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starts</a:t>
            </a:r>
            <a:r>
              <a:rPr dirty="0" sz="1200" spc="-10">
                <a:latin typeface="Calibri"/>
                <a:cs typeface="Calibri"/>
              </a:rPr>
              <a:t> Microsoft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use.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management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features-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10" b="1">
                <a:latin typeface="Calibri"/>
                <a:cs typeface="Calibri"/>
              </a:rPr>
              <a:t> windows explorer</a:t>
            </a:r>
            <a:endParaRPr sz="1200">
              <a:latin typeface="Calibri"/>
              <a:cs typeface="Calibri"/>
            </a:endParaRPr>
          </a:p>
          <a:p>
            <a:pPr marL="12700" marR="3175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explorer’s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operations.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treated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identically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 both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“items”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includes</a:t>
            </a:r>
            <a:endParaRPr sz="1200">
              <a:latin typeface="Calibri"/>
              <a:cs typeface="Calibri"/>
            </a:endParaRPr>
          </a:p>
          <a:p>
            <a:pPr lvl="1" marL="598170" indent="-226060">
              <a:lnSpc>
                <a:spcPct val="100000"/>
              </a:lnSpc>
              <a:spcBef>
                <a:spcPts val="1245"/>
              </a:spcBef>
              <a:buFont typeface="Calibri"/>
              <a:buAutoNum type="arabicPeriod"/>
              <a:tabLst>
                <a:tab pos="598170" algn="l"/>
              </a:tabLst>
            </a:pP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 inserting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file:</a:t>
            </a:r>
            <a:endParaRPr sz="1200">
              <a:latin typeface="Calibri"/>
              <a:cs typeface="Calibri"/>
            </a:endParaRPr>
          </a:p>
          <a:p>
            <a:pPr lvl="2" marL="1083310" indent="-229235">
              <a:lnSpc>
                <a:spcPct val="100000"/>
              </a:lnSpc>
              <a:spcBef>
                <a:spcPts val="245"/>
              </a:spcBef>
              <a:buFont typeface="Calibri"/>
              <a:buAutoNum type="alphaLcParenR"/>
              <a:tabLst>
                <a:tab pos="108331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collapse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1082675" marR="21526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until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view.</a:t>
            </a:r>
            <a:endParaRPr sz="1200">
              <a:latin typeface="Calibri"/>
              <a:cs typeface="Calibri"/>
            </a:endParaRPr>
          </a:p>
          <a:p>
            <a:pPr lvl="2" marL="1083310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108331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lvl="2" marL="1083310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1083310" algn="l"/>
              </a:tabLst>
            </a:pP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pane.</a:t>
            </a:r>
            <a:endParaRPr sz="1200">
              <a:latin typeface="Calibri"/>
              <a:cs typeface="Calibri"/>
            </a:endParaRPr>
          </a:p>
          <a:p>
            <a:pPr lvl="2" marL="1083310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108331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explorer.</a:t>
            </a:r>
            <a:endParaRPr sz="1200">
              <a:latin typeface="Calibri"/>
              <a:cs typeface="Calibri"/>
            </a:endParaRPr>
          </a:p>
          <a:p>
            <a:pPr lvl="2" marL="1083310" indent="-229235">
              <a:lnSpc>
                <a:spcPct val="100000"/>
              </a:lnSpc>
              <a:spcBef>
                <a:spcPts val="265"/>
              </a:spcBef>
              <a:buFont typeface="Calibri"/>
              <a:buAutoNum type="alphaLcParenR" startAt="2"/>
              <a:tabLst>
                <a:tab pos="108331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sub-</a:t>
            </a:r>
            <a:r>
              <a:rPr dirty="0" sz="1200" spc="-10">
                <a:latin typeface="Calibri"/>
                <a:cs typeface="Calibri"/>
              </a:rPr>
              <a:t>options.</a:t>
            </a:r>
            <a:endParaRPr sz="1200">
              <a:latin typeface="Calibri"/>
              <a:cs typeface="Calibri"/>
            </a:endParaRPr>
          </a:p>
          <a:p>
            <a:pPr lvl="2" marL="1082675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1082675" algn="l"/>
              </a:tabLst>
            </a:pP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key.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4189" y="426465"/>
            <a:ext cx="4365625" cy="925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935" indent="-229235">
              <a:lnSpc>
                <a:spcPct val="100000"/>
              </a:lnSpc>
              <a:buFont typeface="Calibri"/>
              <a:buAutoNum type="arabicPeriod" startAt="2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</a:t>
            </a:r>
            <a:endParaRPr sz="1200">
              <a:latin typeface="Calibri"/>
              <a:cs typeface="Calibri"/>
            </a:endParaRPr>
          </a:p>
          <a:p>
            <a:pPr lvl="1" marL="698500" marR="74295" indent="-229235">
              <a:lnSpc>
                <a:spcPct val="116700"/>
              </a:lnSpc>
              <a:buFont typeface="Calibri"/>
              <a:buAutoNum type="alphaLcParenR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collapse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explorer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until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that</a:t>
            </a:r>
            <a:endParaRPr sz="12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240"/>
              </a:spcBef>
            </a:pPr>
            <a:r>
              <a:rPr dirty="0" sz="1200" spc="-10">
                <a:latin typeface="Calibri"/>
                <a:cs typeface="Calibri"/>
              </a:rPr>
              <a:t>contains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 comes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view.</a:t>
            </a:r>
            <a:endParaRPr sz="1200">
              <a:latin typeface="Calibri"/>
              <a:cs typeface="Calibri"/>
            </a:endParaRPr>
          </a:p>
          <a:p>
            <a:pPr lvl="1" marL="699135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6991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lvl="1" marL="698500" marR="296545" indent="-229235">
              <a:lnSpc>
                <a:spcPts val="1700"/>
              </a:lnSpc>
              <a:spcBef>
                <a:spcPts val="80"/>
              </a:spcBef>
              <a:buFont typeface="Calibri"/>
              <a:buAutoNum type="alphaLcParenR" startAt="2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scroll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bars 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until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name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lvl="1" marL="699135" indent="-229235">
              <a:lnSpc>
                <a:spcPct val="100000"/>
              </a:lnSpc>
              <a:spcBef>
                <a:spcPts val="145"/>
              </a:spcBef>
              <a:buFont typeface="Calibri"/>
              <a:buAutoNum type="alphaLcParenR" startAt="2"/>
              <a:tabLst>
                <a:tab pos="6991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lvl="1" marL="699135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699135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tab.</a:t>
            </a:r>
            <a:endParaRPr sz="12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2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20">
                <a:latin typeface="Calibri"/>
                <a:cs typeface="Calibri"/>
              </a:rPr>
              <a:t> tab.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Font typeface="Calibri"/>
              <a:buAutoNum type="arabicPeriod" startAt="2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Rename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</a:t>
            </a:r>
            <a:endParaRPr sz="1200">
              <a:latin typeface="Calibri"/>
              <a:cs typeface="Calibri"/>
            </a:endParaRPr>
          </a:p>
          <a:p>
            <a:pPr lvl="1" marL="720090" marR="106045" indent="-229235">
              <a:lnSpc>
                <a:spcPct val="116700"/>
              </a:lnSpc>
              <a:spcBef>
                <a:spcPts val="25"/>
              </a:spcBef>
              <a:buFont typeface="Calibri"/>
              <a:buAutoNum type="alphaLcParenR"/>
              <a:tabLst>
                <a:tab pos="72009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</a:t>
            </a:r>
            <a:r>
              <a:rPr dirty="0" sz="1200" spc="-25">
                <a:latin typeface="Calibri"/>
                <a:cs typeface="Calibri"/>
              </a:rPr>
              <a:t> you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rename.</a:t>
            </a:r>
            <a:endParaRPr sz="1200">
              <a:latin typeface="Calibri"/>
              <a:cs typeface="Calibri"/>
            </a:endParaRPr>
          </a:p>
          <a:p>
            <a:pPr lvl="1" marL="720090" marR="410845" indent="-229235">
              <a:lnSpc>
                <a:spcPct val="116700"/>
              </a:lnSpc>
              <a:spcBef>
                <a:spcPts val="5"/>
              </a:spcBef>
              <a:buFont typeface="Calibri"/>
              <a:buAutoNum type="alphaLcParenR"/>
              <a:tabLst>
                <a:tab pos="72009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 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item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rename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720725" indent="-22987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720725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rename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720090" marR="366395">
              <a:lnSpc>
                <a:spcPct val="1167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item’s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highlighted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blinking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cursor.</a:t>
            </a:r>
            <a:endParaRPr sz="1200">
              <a:latin typeface="Calibri"/>
              <a:cs typeface="Calibri"/>
            </a:endParaRPr>
          </a:p>
          <a:p>
            <a:pPr lvl="1" marL="720090" indent="-229235">
              <a:lnSpc>
                <a:spcPct val="100000"/>
              </a:lnSpc>
              <a:spcBef>
                <a:spcPts val="245"/>
              </a:spcBef>
              <a:buFont typeface="Calibri"/>
              <a:buAutoNum type="alphaLcParenR" startAt="4"/>
              <a:tabLst>
                <a:tab pos="720090" algn="l"/>
              </a:tabLst>
            </a:pP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item.</a:t>
            </a:r>
            <a:endParaRPr sz="1200">
              <a:latin typeface="Calibri"/>
              <a:cs typeface="Calibri"/>
            </a:endParaRPr>
          </a:p>
          <a:p>
            <a:pPr lvl="1" marL="720090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 startAt="4"/>
              <a:tabLst>
                <a:tab pos="720090" algn="l"/>
              </a:tabLst>
            </a:pPr>
            <a:r>
              <a:rPr dirty="0" sz="1200">
                <a:latin typeface="Calibri"/>
                <a:cs typeface="Calibri"/>
              </a:rPr>
              <a:t>Press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key.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Font typeface="Calibri"/>
              <a:buAutoNum type="arabicPeriod" startAt="2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folders</a:t>
            </a:r>
            <a:endParaRPr sz="1200">
              <a:latin typeface="Calibri"/>
              <a:cs typeface="Calibri"/>
            </a:endParaRPr>
          </a:p>
          <a:p>
            <a:pPr lvl="1" marL="927100" marR="78105" indent="-228600">
              <a:lnSpc>
                <a:spcPct val="116700"/>
              </a:lnSpc>
              <a:spcBef>
                <a:spcPts val="20"/>
              </a:spcBef>
              <a:buFont typeface="Calibri"/>
              <a:buAutoNum type="alphaLcParenR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delete.</a:t>
            </a:r>
            <a:endParaRPr sz="120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245"/>
              </a:spcBef>
              <a:buFont typeface="Calibri"/>
              <a:buAutoNum type="alphaLcParenR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deleted.</a:t>
            </a:r>
            <a:endParaRPr sz="1200">
              <a:latin typeface="Calibri"/>
              <a:cs typeface="Calibri"/>
            </a:endParaRPr>
          </a:p>
          <a:p>
            <a:pPr lvl="1" marL="927100" marR="47625" indent="-228600">
              <a:lnSpc>
                <a:spcPct val="116700"/>
              </a:lnSpc>
              <a:buFont typeface="Calibri"/>
              <a:buAutoNum type="alphaLcParenR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deletion.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9271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will</a:t>
            </a:r>
            <a:endParaRPr sz="1200">
              <a:latin typeface="Calibri"/>
              <a:cs typeface="Calibri"/>
            </a:endParaRPr>
          </a:p>
          <a:p>
            <a:pPr marL="927100" marR="80010">
              <a:lnSpc>
                <a:spcPct val="116799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them.</a:t>
            </a:r>
            <a:endParaRPr sz="1200">
              <a:latin typeface="Calibri"/>
              <a:cs typeface="Calibri"/>
            </a:endParaRPr>
          </a:p>
          <a:p>
            <a:pPr lvl="1" marL="927100" marR="5080" indent="-228600">
              <a:lnSpc>
                <a:spcPct val="116700"/>
              </a:lnSpc>
              <a:buFont typeface="Calibri"/>
              <a:buAutoNum type="alphaLcParenR" startAt="5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certain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cancel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operation,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Yes.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65"/>
              </a:spcBef>
              <a:buFont typeface="Calibri"/>
              <a:buAutoNum type="arabicPeriod" startAt="2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bin</a:t>
            </a:r>
            <a:endParaRPr sz="1200">
              <a:latin typeface="Calibri"/>
              <a:cs typeface="Calibri"/>
            </a:endParaRPr>
          </a:p>
          <a:p>
            <a:pPr lvl="1" marL="469900" marR="167640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 pane,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following restrictions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apply.</a:t>
            </a:r>
            <a:endParaRPr sz="1200">
              <a:latin typeface="Calibri"/>
              <a:cs typeface="Calibri"/>
            </a:endParaRPr>
          </a:p>
          <a:p>
            <a:pPr lvl="2" marL="927100" indent="-307975">
              <a:lnSpc>
                <a:spcPct val="100000"/>
              </a:lnSpc>
              <a:spcBef>
                <a:spcPts val="240"/>
              </a:spcBef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location.</a:t>
            </a:r>
            <a:endParaRPr sz="1200">
              <a:latin typeface="Calibri"/>
              <a:cs typeface="Calibri"/>
            </a:endParaRPr>
          </a:p>
          <a:p>
            <a:pPr lvl="2" marL="927100" marR="205104" indent="-344805">
              <a:lnSpc>
                <a:spcPct val="116799"/>
              </a:lnSpc>
              <a:spcBef>
                <a:spcPts val="25"/>
              </a:spcBef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entire folder.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restore.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4189" y="426465"/>
            <a:ext cx="4354195" cy="903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97155" indent="-228600">
              <a:lnSpc>
                <a:spcPct val="116700"/>
              </a:lnSpc>
              <a:spcBef>
                <a:spcPts val="1650"/>
              </a:spcBef>
              <a:buFont typeface="Calibri"/>
              <a:buAutoNum type="alphaLcParenR" startAt="3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want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restore.</a:t>
            </a:r>
            <a:endParaRPr sz="1200">
              <a:latin typeface="Calibri"/>
              <a:cs typeface="Calibri"/>
            </a:endParaRPr>
          </a:p>
          <a:p>
            <a:pPr marL="469900" marR="69850" indent="-228600">
              <a:lnSpc>
                <a:spcPts val="1680"/>
              </a:lnSpc>
              <a:spcBef>
                <a:spcPts val="95"/>
              </a:spcBef>
              <a:buFont typeface="Calibri"/>
              <a:buAutoNum type="alphaLcParenR" startAt="3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will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Font typeface="Calibri"/>
              <a:buAutoNum type="arabicPeriod" startAt="6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Empty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bin</a:t>
            </a:r>
            <a:endParaRPr sz="1200">
              <a:latin typeface="Calibri"/>
              <a:cs typeface="Calibri"/>
            </a:endParaRPr>
          </a:p>
          <a:p>
            <a:pPr lvl="1" marL="470534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Empty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bin.</a:t>
            </a:r>
            <a:endParaRPr sz="1200">
              <a:latin typeface="Calibri"/>
              <a:cs typeface="Calibri"/>
            </a:endParaRPr>
          </a:p>
          <a:p>
            <a:pPr lvl="2" marL="927100" marR="59055" indent="-307975">
              <a:lnSpc>
                <a:spcPct val="116700"/>
              </a:lnSpc>
              <a:spcBef>
                <a:spcPts val="25"/>
              </a:spcBef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 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2" marL="927100" indent="-344170">
              <a:lnSpc>
                <a:spcPct val="100000"/>
              </a:lnSpc>
              <a:spcBef>
                <a:spcPts val="244"/>
              </a:spcBef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2" marL="927100" marR="140335" indent="-381000">
              <a:lnSpc>
                <a:spcPct val="116700"/>
              </a:lnSpc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</a:t>
            </a:r>
            <a:r>
              <a:rPr dirty="0" sz="1200" spc="-10">
                <a:latin typeface="Calibri"/>
                <a:cs typeface="Calibri"/>
              </a:rPr>
              <a:t>restored.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6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Empty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bin.</a:t>
            </a:r>
            <a:endParaRPr sz="1200">
              <a:latin typeface="Calibri"/>
              <a:cs typeface="Calibri"/>
            </a:endParaRPr>
          </a:p>
          <a:p>
            <a:pPr lvl="2" marL="927100" indent="-307975">
              <a:lnSpc>
                <a:spcPct val="100000"/>
              </a:lnSpc>
              <a:spcBef>
                <a:spcPts val="240"/>
              </a:spcBef>
              <a:buFont typeface="Calibri"/>
              <a:buAutoNum type="romanLcPeriod"/>
              <a:tabLst>
                <a:tab pos="927100" algn="l"/>
              </a:tabLst>
            </a:pP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delete</a:t>
            </a:r>
            <a:endParaRPr sz="1200">
              <a:latin typeface="Calibri"/>
              <a:cs typeface="Calibri"/>
            </a:endParaRPr>
          </a:p>
          <a:p>
            <a:pPr marL="927100" marR="5080">
              <a:lnSpc>
                <a:spcPct val="1167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recycle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5">
                <a:latin typeface="Calibri"/>
                <a:cs typeface="Calibri"/>
              </a:rPr>
              <a:t> can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</a:t>
            </a:r>
            <a:r>
              <a:rPr dirty="0" sz="1200" spc="-10">
                <a:latin typeface="Calibri"/>
                <a:cs typeface="Calibri"/>
              </a:rPr>
              <a:t>restored.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65"/>
              </a:spcBef>
              <a:buFont typeface="Calibri"/>
              <a:buAutoNum type="arabicPeriod" startAt="7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Finding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folders</a:t>
            </a:r>
            <a:endParaRPr sz="1200">
              <a:latin typeface="Calibri"/>
              <a:cs typeface="Calibri"/>
            </a:endParaRPr>
          </a:p>
          <a:p>
            <a:pPr lvl="1" marL="470534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</a:t>
            </a:r>
            <a:endParaRPr sz="1200">
              <a:latin typeface="Calibri"/>
              <a:cs typeface="Calibri"/>
            </a:endParaRPr>
          </a:p>
          <a:p>
            <a:pPr lvl="1" marL="469900" marR="379095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folders.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</a:t>
            </a:r>
            <a:endParaRPr sz="1200">
              <a:latin typeface="Calibri"/>
              <a:cs typeface="Calibri"/>
            </a:endParaRPr>
          </a:p>
          <a:p>
            <a:pPr lvl="1" marL="470534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find.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65"/>
              </a:spcBef>
              <a:buFont typeface="Calibri"/>
              <a:buAutoNum type="arabicPeriod" startAt="7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folders</a:t>
            </a:r>
            <a:endParaRPr sz="1200">
              <a:latin typeface="Calibri"/>
              <a:cs typeface="Calibri"/>
            </a:endParaRPr>
          </a:p>
          <a:p>
            <a:pPr lvl="1" marL="469900" marR="284480" indent="-228600">
              <a:lnSpc>
                <a:spcPts val="1680"/>
              </a:lnSpc>
              <a:spcBef>
                <a:spcPts val="95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location.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145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copied.</a:t>
            </a:r>
            <a:endParaRPr sz="1200">
              <a:latin typeface="Calibri"/>
              <a:cs typeface="Calibri"/>
            </a:endParaRPr>
          </a:p>
          <a:p>
            <a:pPr lvl="1" marL="469900" marR="83820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65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469900" marR="504825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folder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to.</a:t>
            </a:r>
            <a:endParaRPr sz="1200">
              <a:latin typeface="Calibri"/>
              <a:cs typeface="Calibri"/>
            </a:endParaRPr>
          </a:p>
          <a:p>
            <a:pPr lvl="1" marL="469900" marR="171450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anywhere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470534" indent="-229235">
              <a:lnSpc>
                <a:spcPct val="100000"/>
              </a:lnSpc>
              <a:spcBef>
                <a:spcPts val="265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Font typeface="Calibri"/>
              <a:buAutoNum type="arabicPeriod" startAt="7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folders</a:t>
            </a:r>
            <a:endParaRPr sz="1200">
              <a:latin typeface="Calibri"/>
              <a:cs typeface="Calibri"/>
            </a:endParaRPr>
          </a:p>
          <a:p>
            <a:pPr lvl="1" marL="469900" marR="284480" indent="-228600">
              <a:lnSpc>
                <a:spcPct val="116700"/>
              </a:lnSpc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moved.</a:t>
            </a:r>
            <a:endParaRPr sz="1200">
              <a:latin typeface="Calibri"/>
              <a:cs typeface="Calibri"/>
            </a:endParaRPr>
          </a:p>
          <a:p>
            <a:pPr lvl="1" marL="469900" marR="87630" indent="-228600">
              <a:lnSpc>
                <a:spcPct val="116900"/>
              </a:lnSpc>
              <a:spcBef>
                <a:spcPts val="2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74189" y="426465"/>
            <a:ext cx="4242435" cy="304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121285" indent="-228600">
              <a:lnSpc>
                <a:spcPct val="116700"/>
              </a:lnSpc>
              <a:spcBef>
                <a:spcPts val="1650"/>
              </a:spcBef>
              <a:buFont typeface="Calibri"/>
              <a:buAutoNum type="alphaLcParenR" startAt="5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selected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to.</a:t>
            </a:r>
            <a:endParaRPr sz="1200">
              <a:latin typeface="Calibri"/>
              <a:cs typeface="Calibri"/>
            </a:endParaRPr>
          </a:p>
          <a:p>
            <a:pPr marL="469900" marR="5080" indent="-228600">
              <a:lnSpc>
                <a:spcPts val="1680"/>
              </a:lnSpc>
              <a:spcBef>
                <a:spcPts val="95"/>
              </a:spcBef>
              <a:buFont typeface="Calibri"/>
              <a:buAutoNum type="alphaLcParenR" startAt="5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background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Font typeface="Calibri"/>
              <a:buAutoNum type="alphaLcParenR" startAt="5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200" b="1">
                <a:latin typeface="Calibri"/>
                <a:cs typeface="Calibri"/>
              </a:rPr>
              <a:t>10.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folders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65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hide.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properties.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44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hidden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attributes.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apply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60"/>
              </a:spcBef>
              <a:buFont typeface="Calibri"/>
              <a:buAutoNum type="alphaLcParenR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152400" marR="143510" indent="128270">
              <a:lnSpc>
                <a:spcPct val="192700"/>
              </a:lnSpc>
              <a:spcBef>
                <a:spcPts val="670"/>
              </a:spcBef>
            </a:pPr>
            <a:r>
              <a:rPr dirty="0" sz="1100" b="1">
                <a:latin typeface="Calibri"/>
                <a:cs typeface="Calibri"/>
              </a:rPr>
              <a:t>Unit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50" b="1">
                <a:latin typeface="Calibri"/>
                <a:cs typeface="Calibri"/>
              </a:rPr>
              <a:t>2</a:t>
            </a:r>
            <a:r>
              <a:rPr dirty="0" sz="1100" b="1">
                <a:latin typeface="Calibri"/>
                <a:cs typeface="Calibri"/>
              </a:rPr>
              <a:t> MS</a:t>
            </a:r>
            <a:r>
              <a:rPr dirty="0" sz="1100" spc="-20" b="1">
                <a:latin typeface="Calibri"/>
                <a:cs typeface="Calibri"/>
              </a:rPr>
              <a:t> WORD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2004" y="1557655"/>
            <a:ext cx="5748020" cy="821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WORD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PROCESSOR</a:t>
            </a:r>
            <a:endParaRPr sz="1100">
              <a:latin typeface="Calibri"/>
              <a:cs typeface="Calibri"/>
            </a:endParaRPr>
          </a:p>
          <a:p>
            <a:pPr marL="12700" marR="808355">
              <a:lnSpc>
                <a:spcPct val="192800"/>
              </a:lnSpc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package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document.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program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enables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perform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functions. </a:t>
            </a:r>
            <a:r>
              <a:rPr dirty="0" sz="1100" b="1">
                <a:latin typeface="Calibri"/>
                <a:cs typeface="Calibri"/>
              </a:rPr>
              <a:t>Features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word</a:t>
            </a:r>
            <a:r>
              <a:rPr dirty="0" sz="1100" spc="-10" b="1">
                <a:latin typeface="Calibri"/>
                <a:cs typeface="Calibri"/>
              </a:rPr>
              <a:t> processor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creation,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storage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retrieval.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 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keyboard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disk.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Edit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images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anywhere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document.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Retrieve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disk.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 paragraphs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images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another.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Reduce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according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requirements.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style.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Search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particular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phrase.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Search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corrections.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various</a:t>
            </a:r>
            <a:r>
              <a:rPr dirty="0" sz="1100" spc="-10">
                <a:latin typeface="Calibri"/>
                <a:cs typeface="Calibri"/>
              </a:rPr>
              <a:t> formats.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Operations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word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processor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1225"/>
              </a:spcBef>
              <a:buAutoNum type="alphaL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 anywhere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document</a:t>
            </a:r>
            <a:endParaRPr sz="1100">
              <a:latin typeface="Calibri"/>
              <a:cs typeface="Calibri"/>
            </a:endParaRPr>
          </a:p>
          <a:p>
            <a:pPr lvl="1" marL="469900" marR="72390" indent="-229235">
              <a:lnSpc>
                <a:spcPct val="116399"/>
              </a:lnSpc>
              <a:buAutoNum type="alphaL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Delete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words, lines,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easily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strike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</a:t>
            </a:r>
            <a:r>
              <a:rPr dirty="0" sz="1100" spc="-10">
                <a:latin typeface="Calibri"/>
                <a:cs typeface="Calibri"/>
              </a:rPr>
              <a:t>paper.</a:t>
            </a:r>
            <a:endParaRPr sz="1100">
              <a:latin typeface="Calibri"/>
              <a:cs typeface="Calibri"/>
            </a:endParaRPr>
          </a:p>
          <a:p>
            <a:pPr lvl="1" marL="469900" marR="605790" indent="-229235">
              <a:lnSpc>
                <a:spcPct val="116399"/>
              </a:lnSpc>
              <a:spcBef>
                <a:spcPts val="25"/>
              </a:spcBef>
              <a:buAutoNum type="alphaL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remove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(cut)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document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(paste)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else.</a:t>
            </a:r>
            <a:endParaRPr sz="1100">
              <a:latin typeface="Calibri"/>
              <a:cs typeface="Calibri"/>
            </a:endParaRPr>
          </a:p>
          <a:p>
            <a:pPr lvl="1" marL="469900" marR="145415" indent="-229235">
              <a:lnSpc>
                <a:spcPts val="1560"/>
              </a:lnSpc>
              <a:spcBef>
                <a:spcPts val="70"/>
              </a:spcBef>
              <a:buAutoNum type="alphaL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Copy: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duplicate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 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piece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data,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duplicate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temporary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location.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120"/>
              </a:spcBef>
              <a:buAutoNum type="alphaL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various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word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20"/>
              </a:spcBef>
            </a:pP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read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just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 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fits.</a:t>
            </a:r>
            <a:endParaRPr sz="1100">
              <a:latin typeface="Calibri"/>
              <a:cs typeface="Calibri"/>
            </a:endParaRPr>
          </a:p>
          <a:p>
            <a:pPr lvl="1" marL="469900" marR="34925" indent="-229235">
              <a:lnSpc>
                <a:spcPct val="116399"/>
              </a:lnSpc>
              <a:spcBef>
                <a:spcPts val="25"/>
              </a:spcBef>
              <a:buAutoNum type="alphaLcPeriod" startAt="6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Search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supported 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character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another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wherever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lvl="1" marL="469900" marR="146050" indent="-229235">
              <a:lnSpc>
                <a:spcPts val="1560"/>
              </a:lnSpc>
              <a:spcBef>
                <a:spcPts val="65"/>
              </a:spcBef>
              <a:buAutoNum type="alphaLcPeriod" startAt="6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wrap: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causes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within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defined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margins.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125"/>
              </a:spcBef>
              <a:buAutoNum type="alphaLcPeriod" startAt="6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Print: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printer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get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hard</a:t>
            </a:r>
            <a:r>
              <a:rPr dirty="0" sz="1100" spc="-20">
                <a:latin typeface="Calibri"/>
                <a:cs typeface="Calibri"/>
              </a:rPr>
              <a:t> copy</a:t>
            </a:r>
            <a:endParaRPr sz="1100">
              <a:latin typeface="Calibri"/>
              <a:cs typeface="Calibri"/>
            </a:endParaRPr>
          </a:p>
          <a:p>
            <a:pPr lvl="1" marL="469900" marR="199390" indent="-229235">
              <a:lnSpc>
                <a:spcPts val="1560"/>
              </a:lnSpc>
              <a:spcBef>
                <a:spcPts val="70"/>
              </a:spcBef>
              <a:buAutoNum type="alphaLcPeriod" startAt="6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capabilities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allow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search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files.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125"/>
              </a:spcBef>
              <a:buAutoNum type="alphaLcPeriod" startAt="6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specification: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document.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bold,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italic,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underline,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style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etc.</a:t>
            </a:r>
            <a:endParaRPr sz="1100">
              <a:latin typeface="Calibri"/>
              <a:cs typeface="Calibri"/>
            </a:endParaRPr>
          </a:p>
          <a:p>
            <a:pPr lvl="1" marL="469900" marR="5080" indent="-229235">
              <a:lnSpc>
                <a:spcPct val="116599"/>
              </a:lnSpc>
              <a:spcBef>
                <a:spcPts val="20"/>
              </a:spcBef>
              <a:buAutoNum type="alphaLcPeriod" startAt="11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Foot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cross</a:t>
            </a:r>
            <a:r>
              <a:rPr dirty="0" sz="1100" spc="-10">
                <a:latin typeface="Calibri"/>
                <a:cs typeface="Calibri"/>
              </a:rPr>
              <a:t> references: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nad </a:t>
            </a:r>
            <a:r>
              <a:rPr dirty="0" sz="1100">
                <a:latin typeface="Calibri"/>
                <a:cs typeface="Calibri"/>
              </a:rPr>
              <a:t>enables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easily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references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9"/>
              </a:spcBef>
              <a:buAutoNum type="alphaLcPeriod" startAt="11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Graphics: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embed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illustrations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lvl="1" marL="469900" marR="84455" indent="-229235">
              <a:lnSpc>
                <a:spcPct val="116399"/>
              </a:lnSpc>
              <a:spcBef>
                <a:spcPts val="20"/>
              </a:spcBef>
              <a:buAutoNum type="alphaLcPeriod" startAt="11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Headers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footers: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processor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695315" cy="9090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096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59055">
              <a:lnSpc>
                <a:spcPct val="116399"/>
              </a:lnSpc>
              <a:spcBef>
                <a:spcPts val="1675"/>
              </a:spcBef>
            </a:pP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every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469900" marR="153035" indent="-229235">
              <a:lnSpc>
                <a:spcPts val="1560"/>
              </a:lnSpc>
              <a:spcBef>
                <a:spcPts val="70"/>
              </a:spcBef>
              <a:buAutoNum type="alphaLcPeriod" startAt="14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keeps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correct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 </a:t>
            </a:r>
            <a:r>
              <a:rPr dirty="0" sz="1100" spc="-2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AutoNum type="alphaLcPeriod" startAt="14"/>
              <a:tabLst>
                <a:tab pos="469900" algn="l"/>
              </a:tabLst>
            </a:pPr>
            <a:r>
              <a:rPr dirty="0" sz="1100" spc="-10">
                <a:latin typeface="Calibri"/>
                <a:cs typeface="Calibri"/>
              </a:rPr>
              <a:t>Layout: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 different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specify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9"/>
              </a:spcBef>
            </a:pPr>
            <a:r>
              <a:rPr dirty="0" sz="1100">
                <a:latin typeface="Calibri"/>
                <a:cs typeface="Calibri"/>
              </a:rPr>
              <a:t>various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paragraphs.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100" b="1">
                <a:latin typeface="Calibri"/>
                <a:cs typeface="Calibri"/>
              </a:rPr>
              <a:t>MS</a:t>
            </a:r>
            <a:r>
              <a:rPr dirty="0" sz="1100" spc="-20" b="1">
                <a:latin typeface="Calibri"/>
                <a:cs typeface="Calibri"/>
              </a:rPr>
              <a:t> WORD</a:t>
            </a:r>
            <a:endParaRPr sz="1100">
              <a:latin typeface="Calibri"/>
              <a:cs typeface="Calibri"/>
            </a:endParaRPr>
          </a:p>
          <a:p>
            <a:pPr marL="12700" marR="178435">
              <a:lnSpc>
                <a:spcPct val="118200"/>
              </a:lnSpc>
              <a:spcBef>
                <a:spcPts val="990"/>
              </a:spcBef>
            </a:pPr>
            <a:r>
              <a:rPr dirty="0" sz="1100">
                <a:latin typeface="Calibri"/>
                <a:cs typeface="Calibri"/>
              </a:rPr>
              <a:t>MS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computer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program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type,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modify,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future </a:t>
            </a:r>
            <a:r>
              <a:rPr dirty="0" sz="1100">
                <a:latin typeface="Calibri"/>
                <a:cs typeface="Calibri"/>
              </a:rPr>
              <a:t>revisions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retrievals.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100" b="1">
                <a:latin typeface="Calibri"/>
                <a:cs typeface="Calibri"/>
              </a:rPr>
              <a:t>Objectives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Word</a:t>
            </a:r>
            <a:endParaRPr sz="1100">
              <a:latin typeface="Calibri"/>
              <a:cs typeface="Calibri"/>
            </a:endParaRPr>
          </a:p>
          <a:p>
            <a:pPr algn="just" lvl="1" marL="469900" marR="140335" indent="-229235">
              <a:lnSpc>
                <a:spcPct val="1165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</a:t>
            </a:r>
            <a:r>
              <a:rPr dirty="0" sz="1100" spc="-10">
                <a:latin typeface="Calibri"/>
                <a:cs typeface="Calibri"/>
              </a:rPr>
              <a:t> errors </a:t>
            </a:r>
            <a:r>
              <a:rPr dirty="0" sz="1100">
                <a:latin typeface="Calibri"/>
                <a:cs typeface="Calibri"/>
              </a:rPr>
              <a:t>quickly.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grammatical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green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line.</a:t>
            </a:r>
            <a:endParaRPr sz="1100">
              <a:latin typeface="Calibri"/>
              <a:cs typeface="Calibri"/>
            </a:endParaRPr>
          </a:p>
          <a:p>
            <a:pPr lvl="1" marL="469900" marR="399415" indent="-229235">
              <a:lnSpc>
                <a:spcPct val="116399"/>
              </a:lnSpc>
              <a:spcBef>
                <a:spcPts val="2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Word’s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‘auto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format’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facility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symbols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special characters.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arrange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Word’s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features.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envelops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features.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MS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WORD-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2007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new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  <a:p>
            <a:pPr lvl="2" marL="469900" marR="131445" indent="-229235">
              <a:lnSpc>
                <a:spcPct val="116399"/>
              </a:lnSpc>
              <a:spcBef>
                <a:spcPts val="1005"/>
              </a:spcBef>
              <a:buAutoNum type="alphaLcParenR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interface: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officially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known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Fluent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interface,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core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applications: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Excel,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PowerPoint,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Access.</a:t>
            </a:r>
            <a:endParaRPr sz="1100">
              <a:latin typeface="Calibri"/>
              <a:cs typeface="Calibri"/>
            </a:endParaRPr>
          </a:p>
          <a:p>
            <a:pPr lvl="2" marL="469900" indent="-228600">
              <a:lnSpc>
                <a:spcPct val="100000"/>
              </a:lnSpc>
              <a:spcBef>
                <a:spcPts val="215"/>
              </a:spcBef>
              <a:buAutoNum type="alphaLcParenR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Ribbon: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Ribbon,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panel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houses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arrangement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469900" marR="133350">
              <a:lnSpc>
                <a:spcPct val="116399"/>
              </a:lnSpc>
              <a:spcBef>
                <a:spcPts val="30"/>
              </a:spcBef>
            </a:pPr>
            <a:r>
              <a:rPr dirty="0" sz="1100">
                <a:latin typeface="Calibri"/>
                <a:cs typeface="Calibri"/>
              </a:rPr>
              <a:t>icons,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 grouping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relevant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not </a:t>
            </a:r>
            <a:r>
              <a:rPr dirty="0" sz="1100">
                <a:latin typeface="Calibri"/>
                <a:cs typeface="Calibri"/>
              </a:rPr>
              <a:t>customizable.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Ribbon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Interface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task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oriented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Interface.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It </a:t>
            </a:r>
            <a:r>
              <a:rPr dirty="0" sz="1100">
                <a:latin typeface="Calibri"/>
                <a:cs typeface="Calibri"/>
              </a:rPr>
              <a:t>features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central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widely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known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Office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lvl="2" marL="469900" indent="-228600">
              <a:lnSpc>
                <a:spcPct val="100000"/>
              </a:lnSpc>
              <a:spcBef>
                <a:spcPts val="240"/>
              </a:spcBef>
              <a:buAutoNum type="alphaLcParenR" startAt="3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Contextual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tabs called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 only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certain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objects 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selected.</a:t>
            </a:r>
            <a:endParaRPr sz="1100">
              <a:latin typeface="Calibri"/>
              <a:cs typeface="Calibri"/>
            </a:endParaRPr>
          </a:p>
          <a:p>
            <a:pPr lvl="2" marL="469900" marR="168910" indent="-229235">
              <a:lnSpc>
                <a:spcPts val="1540"/>
              </a:lnSpc>
              <a:spcBef>
                <a:spcPts val="80"/>
              </a:spcBef>
              <a:buAutoNum type="alphaLcParenR" startAt="3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Live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preview: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temporarily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focused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when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 button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moused-over.</a:t>
            </a:r>
            <a:endParaRPr sz="1100">
              <a:latin typeface="Calibri"/>
              <a:cs typeface="Calibri"/>
            </a:endParaRPr>
          </a:p>
          <a:p>
            <a:pPr lvl="2" marL="469900" marR="5080" indent="-229235">
              <a:lnSpc>
                <a:spcPts val="1540"/>
              </a:lnSpc>
              <a:spcBef>
                <a:spcPts val="20"/>
              </a:spcBef>
              <a:buAutoNum type="alphaLcParenR" startAt="3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Mini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toolbar: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default)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text </a:t>
            </a:r>
            <a:r>
              <a:rPr dirty="0" sz="1100">
                <a:latin typeface="Calibri"/>
                <a:cs typeface="Calibri"/>
              </a:rPr>
              <a:t>is </a:t>
            </a:r>
            <a:r>
              <a:rPr dirty="0" sz="1100" spc="-10">
                <a:latin typeface="Calibri"/>
                <a:cs typeface="Calibri"/>
              </a:rPr>
              <a:t>selected.</a:t>
            </a:r>
            <a:endParaRPr sz="1100">
              <a:latin typeface="Calibri"/>
              <a:cs typeface="Calibri"/>
            </a:endParaRPr>
          </a:p>
          <a:p>
            <a:pPr lvl="2" marL="469900" indent="-228600">
              <a:lnSpc>
                <a:spcPct val="100000"/>
              </a:lnSpc>
              <a:spcBef>
                <a:spcPts val="125"/>
              </a:spcBef>
              <a:buAutoNum type="alphaLcParenR" startAt="3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Quick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toolbar: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title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20">
                <a:latin typeface="Calibri"/>
                <a:cs typeface="Calibri"/>
              </a:rPr>
              <a:t> used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Calibri"/>
                <a:cs typeface="Calibri"/>
              </a:rPr>
              <a:t>functions,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regardless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undo/redo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print.</a:t>
            </a:r>
            <a:endParaRPr sz="1100">
              <a:latin typeface="Calibri"/>
              <a:cs typeface="Calibri"/>
            </a:endParaRPr>
          </a:p>
          <a:p>
            <a:pPr lvl="2" marL="469900" marR="252095" indent="-229235">
              <a:lnSpc>
                <a:spcPts val="1540"/>
              </a:lnSpc>
              <a:spcBef>
                <a:spcPts val="85"/>
              </a:spcBef>
              <a:buAutoNum type="alphaLcParenR" startAt="7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PDF: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Initially,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promised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support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exporting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 </a:t>
            </a:r>
            <a:r>
              <a:rPr dirty="0" sz="1100" spc="-25">
                <a:latin typeface="Calibri"/>
                <a:cs typeface="Calibri"/>
              </a:rPr>
              <a:t>in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2007.</a:t>
            </a:r>
            <a:endParaRPr sz="1100">
              <a:latin typeface="Calibri"/>
              <a:cs typeface="Calibri"/>
            </a:endParaRPr>
          </a:p>
          <a:p>
            <a:pPr lvl="2" marL="469900" marR="19050" indent="-229235">
              <a:lnSpc>
                <a:spcPts val="1540"/>
              </a:lnSpc>
              <a:spcBef>
                <a:spcPts val="15"/>
              </a:spcBef>
              <a:buAutoNum type="alphaLcParenR" startAt="7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Themes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styles: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2007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emphasis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themes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styles.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start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MS-</a:t>
            </a:r>
            <a:r>
              <a:rPr dirty="0" sz="1100" spc="-20" b="1">
                <a:latin typeface="Calibri"/>
                <a:cs typeface="Calibri"/>
              </a:rPr>
              <a:t>WORD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Calibri"/>
                <a:cs typeface="Calibri"/>
              </a:rPr>
              <a:t>Start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→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Programs→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2007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20"/>
              </a:spcBef>
            </a:pPr>
            <a:r>
              <a:rPr dirty="0" sz="1100" b="1">
                <a:latin typeface="Calibri"/>
                <a:cs typeface="Calibri"/>
              </a:rPr>
              <a:t>Different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types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Bars</a:t>
            </a:r>
            <a:endParaRPr sz="1100">
              <a:latin typeface="Calibri"/>
              <a:cs typeface="Calibri"/>
            </a:endParaRPr>
          </a:p>
          <a:p>
            <a:pPr lvl="3" marL="698500" marR="381635" indent="-228600">
              <a:lnSpc>
                <a:spcPts val="1560"/>
              </a:lnSpc>
              <a:spcBef>
                <a:spcPts val="70"/>
              </a:spcBef>
              <a:buFont typeface="Calibri"/>
              <a:buAutoNum type="arabicPeriod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Title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tells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packages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running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which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currently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open.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426465"/>
            <a:ext cx="5227320" cy="20504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7846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130810" indent="-228600">
              <a:lnSpc>
                <a:spcPct val="116399"/>
              </a:lnSpc>
              <a:spcBef>
                <a:spcPts val="1675"/>
              </a:spcBef>
              <a:buFont typeface="Calibri"/>
              <a:buAutoNum type="arabicPeriod" startAt="2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traditional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style</a:t>
            </a:r>
            <a:r>
              <a:rPr dirty="0" sz="1100" spc="-10">
                <a:latin typeface="Calibri"/>
                <a:cs typeface="Calibri"/>
              </a:rPr>
              <a:t> drop-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any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title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available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title.</a:t>
            </a:r>
            <a:endParaRPr sz="1100">
              <a:latin typeface="Calibri"/>
              <a:cs typeface="Calibri"/>
            </a:endParaRPr>
          </a:p>
          <a:p>
            <a:pPr marL="241300" marR="5080" indent="-228600">
              <a:lnSpc>
                <a:spcPct val="116399"/>
              </a:lnSpc>
              <a:spcBef>
                <a:spcPts val="30"/>
              </a:spcBef>
              <a:buFont typeface="Calibri"/>
              <a:buAutoNum type="arabicPeriod" startAt="2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Standard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buttons,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drop-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controls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that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appearance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arrangement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executing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variety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commands.</a:t>
            </a:r>
            <a:endParaRPr sz="1100">
              <a:latin typeface="Calibri"/>
              <a:cs typeface="Calibri"/>
            </a:endParaRPr>
          </a:p>
          <a:p>
            <a:pPr marL="241300" marR="134620" indent="-228600">
              <a:lnSpc>
                <a:spcPct val="116399"/>
              </a:lnSpc>
              <a:spcBef>
                <a:spcPts val="20"/>
              </a:spcBef>
              <a:buFont typeface="Calibri"/>
              <a:buAutoNum type="arabicPeriod" startAt="2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icons 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look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list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icons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functions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530730" y="2624962"/>
          <a:ext cx="5266055" cy="3308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4344670"/>
              </a:tblGrid>
              <a:tr h="176530">
                <a:tc>
                  <a:txBody>
                    <a:bodyPr/>
                    <a:lstStyle/>
                    <a:p>
                      <a:pPr marL="66675">
                        <a:lnSpc>
                          <a:spcPts val="1295"/>
                        </a:lnSpc>
                      </a:pPr>
                      <a:r>
                        <a:rPr dirty="0" sz="1100" spc="-20" b="1">
                          <a:latin typeface="Calibri"/>
                          <a:cs typeface="Calibri"/>
                        </a:rPr>
                        <a:t>Icon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8790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Calibri"/>
                          <a:cs typeface="Calibri"/>
                        </a:rPr>
                        <a:t>Function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Style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menu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38455">
                        <a:lnSpc>
                          <a:spcPts val="134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Allows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define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group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paragraph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character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formats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style.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menu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7160">
                        <a:lnSpc>
                          <a:spcPts val="134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arrowhead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 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right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box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view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of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fonts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available.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Scroll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down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want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once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select.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size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white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box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enter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 value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font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9850" marR="115570">
                        <a:lnSpc>
                          <a:spcPct val="1018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arrowhead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 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right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box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 view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sizes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available.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clicking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once.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style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these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buttons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bold,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italic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underline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selected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text.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Alignment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aligned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left,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center,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right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justified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across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page.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spacing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Allows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you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set 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amount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space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between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another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line.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Numbering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27329">
                        <a:lnSpc>
                          <a:spcPts val="135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used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setoff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emphasize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sections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1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presented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by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dots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numbers.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marL="66675" marR="321945">
                        <a:lnSpc>
                          <a:spcPts val="134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Outside border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border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around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selected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text.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Highlight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28930">
                        <a:lnSpc>
                          <a:spcPts val="134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option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color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behind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selected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text.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color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shown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button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color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used.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 select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different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color,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click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arrowhead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next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button.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66675">
                        <a:lnSpc>
                          <a:spcPts val="129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Font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color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changes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color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text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359535" y="5896711"/>
            <a:ext cx="5243195" cy="335787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1300" marR="60325" indent="-228600">
              <a:lnSpc>
                <a:spcPct val="117000"/>
              </a:lnSpc>
              <a:spcBef>
                <a:spcPts val="90"/>
              </a:spcBef>
              <a:buFont typeface="Calibri"/>
              <a:buAutoNum type="arabicPeriod" startAt="5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Scroll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travel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anywhere,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down,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 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 ways: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horizontal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vertical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scroll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keyboard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pressing</a:t>
            </a:r>
            <a:r>
              <a:rPr dirty="0" sz="1100" spc="-10">
                <a:latin typeface="Calibri"/>
                <a:cs typeface="Calibri"/>
              </a:rPr>
              <a:t> PgUp, </a:t>
            </a:r>
            <a:r>
              <a:rPr dirty="0" sz="1100">
                <a:latin typeface="Calibri"/>
                <a:cs typeface="Calibri"/>
              </a:rPr>
              <a:t>PgDn,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home,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arrow</a:t>
            </a:r>
            <a:r>
              <a:rPr dirty="0" sz="1100" spc="-20">
                <a:latin typeface="Calibri"/>
                <a:cs typeface="Calibri"/>
              </a:rPr>
              <a:t> keys.</a:t>
            </a:r>
            <a:endParaRPr sz="1100">
              <a:latin typeface="Calibri"/>
              <a:cs typeface="Calibri"/>
            </a:endParaRPr>
          </a:p>
          <a:p>
            <a:pPr marL="241300" marR="83185" indent="-228600">
              <a:lnSpc>
                <a:spcPts val="1560"/>
              </a:lnSpc>
              <a:spcBef>
                <a:spcPts val="65"/>
              </a:spcBef>
              <a:buFont typeface="Calibri"/>
              <a:buAutoNum type="arabicPeriod" startAt="5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Status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status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normally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This </a:t>
            </a:r>
            <a:r>
              <a:rPr dirty="0" sz="1100">
                <a:latin typeface="Calibri"/>
                <a:cs typeface="Calibri"/>
              </a:rPr>
              <a:t>gives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work: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130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Current/total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220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</a:t>
            </a:r>
            <a:endParaRPr sz="1100">
              <a:latin typeface="Calibri"/>
              <a:cs typeface="Calibri"/>
            </a:endParaRPr>
          </a:p>
          <a:p>
            <a:pPr lvl="1" marL="1155700" indent="-2286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</a:t>
            </a:r>
            <a:endParaRPr sz="1100">
              <a:latin typeface="Calibri"/>
              <a:cs typeface="Calibri"/>
            </a:endParaRPr>
          </a:p>
          <a:p>
            <a:pPr marL="241300" marR="252729" indent="-228600">
              <a:lnSpc>
                <a:spcPct val="116399"/>
              </a:lnSpc>
              <a:buFont typeface="Calibri"/>
              <a:buAutoNum type="arabicPeriod" startAt="5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Ruler: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create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dimensions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required.</a:t>
            </a:r>
            <a:endParaRPr sz="1100">
              <a:latin typeface="Calibri"/>
              <a:cs typeface="Calibri"/>
            </a:endParaRPr>
          </a:p>
          <a:p>
            <a:pPr marL="241300" marR="5080" indent="-228600">
              <a:lnSpc>
                <a:spcPct val="116500"/>
              </a:lnSpc>
              <a:spcBef>
                <a:spcPts val="20"/>
              </a:spcBef>
              <a:buFont typeface="Calibri"/>
              <a:buAutoNum type="arabicPeriod" startAt="5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Cursor: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“Insertion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Pointer”,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denotes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graphics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or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type,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overwrite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looks</a:t>
            </a:r>
            <a:r>
              <a:rPr dirty="0" sz="1100" spc="-20">
                <a:latin typeface="Calibri"/>
                <a:cs typeface="Calibri"/>
              </a:rPr>
              <a:t> like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tall,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skinny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toothpick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keeps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blinking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easily.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9535" y="426465"/>
            <a:ext cx="5236845" cy="9170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38798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64769" indent="-228600">
              <a:lnSpc>
                <a:spcPct val="116399"/>
              </a:lnSpc>
              <a:spcBef>
                <a:spcPts val="1675"/>
              </a:spcBef>
              <a:buFont typeface="Calibri"/>
              <a:buAutoNum type="arabicPeriod" startAt="9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pointer: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looks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I-beam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freely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either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desired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choosing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either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toolbar.</a:t>
            </a:r>
            <a:endParaRPr sz="1100">
              <a:latin typeface="Calibri"/>
              <a:cs typeface="Calibri"/>
            </a:endParaRPr>
          </a:p>
          <a:p>
            <a:pPr marL="240029" marR="431165" indent="-227329">
              <a:lnSpc>
                <a:spcPct val="116399"/>
              </a:lnSpc>
              <a:spcBef>
                <a:spcPts val="30"/>
              </a:spcBef>
              <a:buFont typeface="Calibri"/>
              <a:buAutoNum type="arabicPeriod" startAt="9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Short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 </a:t>
            </a:r>
            <a:r>
              <a:rPr dirty="0" sz="1100" spc="-10">
                <a:latin typeface="Calibri"/>
                <a:cs typeface="Calibri"/>
              </a:rPr>
              <a:t>contains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contextually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relevant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selection.</a:t>
            </a:r>
            <a:endParaRPr sz="1100">
              <a:latin typeface="Calibri"/>
              <a:cs typeface="Calibri"/>
            </a:endParaRPr>
          </a:p>
          <a:p>
            <a:pPr marL="241300" marR="3890010">
              <a:lnSpc>
                <a:spcPts val="1560"/>
              </a:lnSpc>
              <a:spcBef>
                <a:spcPts val="65"/>
              </a:spcBef>
            </a:pPr>
            <a:r>
              <a:rPr dirty="0" sz="1100" b="1">
                <a:latin typeface="Calibri"/>
                <a:cs typeface="Calibri"/>
              </a:rPr>
              <a:t>Overviewof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menus 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File</a:t>
            </a:r>
            <a:r>
              <a:rPr dirty="0" u="sng" sz="11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Calibri"/>
              <a:cs typeface="Calibri"/>
            </a:endParaRPr>
          </a:p>
          <a:p>
            <a:pPr algn="just" lvl="1" marL="730885" indent="-227965">
              <a:lnSpc>
                <a:spcPct val="100000"/>
              </a:lnSpc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New: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blank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 algn="just" lvl="1" marL="73088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Open: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finds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existing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 algn="just" lvl="1" marL="730885" marR="125095" indent="-227965">
              <a:lnSpc>
                <a:spcPct val="116399"/>
              </a:lnSpc>
              <a:buFont typeface="Wingdings"/>
              <a:buChar char=""/>
              <a:tabLst>
                <a:tab pos="732155" algn="l"/>
              </a:tabLst>
            </a:pPr>
            <a:r>
              <a:rPr dirty="0" sz="1100">
                <a:latin typeface="Calibri"/>
                <a:cs typeface="Calibri"/>
              </a:rPr>
              <a:t>Close: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closes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without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exiting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contains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unsaved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prompted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closing.</a:t>
            </a:r>
            <a:endParaRPr sz="1100">
              <a:latin typeface="Calibri"/>
              <a:cs typeface="Calibri"/>
            </a:endParaRPr>
          </a:p>
          <a:p>
            <a:pPr algn="just" lvl="1" marL="730885" marR="24765" indent="-227965">
              <a:lnSpc>
                <a:spcPct val="116500"/>
              </a:lnSpc>
              <a:spcBef>
                <a:spcPts val="20"/>
              </a:spcBef>
              <a:buFont typeface="Wingdings"/>
              <a:buChar char=""/>
              <a:tabLst>
                <a:tab pos="732155" algn="l"/>
              </a:tabLst>
            </a:pPr>
            <a:r>
              <a:rPr dirty="0" sz="1100">
                <a:latin typeface="Calibri"/>
                <a:cs typeface="Calibri"/>
              </a:rPr>
              <a:t>Save: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10">
                <a:latin typeface="Calibri"/>
                <a:cs typeface="Calibri"/>
              </a:rPr>
              <a:t> current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In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name,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location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format.</a:t>
            </a:r>
            <a:endParaRPr sz="1100">
              <a:latin typeface="Calibri"/>
              <a:cs typeface="Calibri"/>
            </a:endParaRPr>
          </a:p>
          <a:p>
            <a:pPr algn="just" lvl="1" marL="73088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name,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format.</a:t>
            </a:r>
            <a:endParaRPr sz="1100">
              <a:latin typeface="Calibri"/>
              <a:cs typeface="Calibri"/>
            </a:endParaRPr>
          </a:p>
          <a:p>
            <a:pPr algn="just" lvl="1" marL="730885" marR="273685" indent="-227965">
              <a:lnSpc>
                <a:spcPct val="116399"/>
              </a:lnSpc>
              <a:buFont typeface="Wingdings"/>
              <a:buChar char=""/>
              <a:tabLst>
                <a:tab pos="732155" algn="l"/>
              </a:tabLst>
            </a:pP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HTML: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separate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for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 spc="-10">
                <a:latin typeface="Calibri"/>
                <a:cs typeface="Calibri"/>
              </a:rPr>
              <a:t>internet.</a:t>
            </a:r>
            <a:endParaRPr sz="1100">
              <a:latin typeface="Calibri"/>
              <a:cs typeface="Calibri"/>
            </a:endParaRPr>
          </a:p>
          <a:p>
            <a:pPr algn="just" lvl="1" marL="73088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Versions: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versions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 lvl="1" marL="730885" marR="48260" indent="-227965">
              <a:lnSpc>
                <a:spcPct val="116399"/>
              </a:lnSpc>
              <a:spcBef>
                <a:spcPts val="5"/>
              </a:spcBef>
              <a:buFont typeface="Wingdings"/>
              <a:buChar char=""/>
              <a:tabLst>
                <a:tab pos="732155" algn="l"/>
              </a:tabLst>
            </a:pP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setup: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source,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paper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orientation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other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layout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file.</a:t>
            </a:r>
            <a:endParaRPr sz="1100">
              <a:latin typeface="Calibri"/>
              <a:cs typeface="Calibri"/>
            </a:endParaRPr>
          </a:p>
          <a:p>
            <a:pPr lvl="1" marL="73088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preview: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preview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exactly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look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25">
                <a:latin typeface="Calibri"/>
                <a:cs typeface="Calibri"/>
              </a:rPr>
              <a:t> it.</a:t>
            </a:r>
            <a:endParaRPr sz="1100">
              <a:latin typeface="Calibri"/>
              <a:cs typeface="Calibri"/>
            </a:endParaRPr>
          </a:p>
          <a:p>
            <a:pPr lvl="1" marL="73088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Print: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fax.</a:t>
            </a:r>
            <a:endParaRPr sz="1100">
              <a:latin typeface="Calibri"/>
              <a:cs typeface="Calibri"/>
            </a:endParaRPr>
          </a:p>
          <a:p>
            <a:pPr lvl="1" marL="73088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Send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to: sends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 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recipient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 e-</a:t>
            </a:r>
            <a:r>
              <a:rPr dirty="0" sz="1100" spc="-10">
                <a:latin typeface="Calibri"/>
                <a:cs typeface="Calibri"/>
              </a:rPr>
              <a:t>mail.</a:t>
            </a:r>
            <a:endParaRPr sz="1100">
              <a:latin typeface="Calibri"/>
              <a:cs typeface="Calibri"/>
            </a:endParaRPr>
          </a:p>
          <a:p>
            <a:pPr lvl="1" marL="73088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Properties: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property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sheet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file.</a:t>
            </a:r>
            <a:endParaRPr sz="1100">
              <a:latin typeface="Calibri"/>
              <a:cs typeface="Calibri"/>
            </a:endParaRPr>
          </a:p>
          <a:p>
            <a:pPr lvl="1" marL="730885" indent="-227965">
              <a:lnSpc>
                <a:spcPct val="100000"/>
              </a:lnSpc>
              <a:spcBef>
                <a:spcPts val="220"/>
              </a:spcBef>
              <a:buFont typeface="Wingdings"/>
              <a:buChar char=""/>
              <a:tabLst>
                <a:tab pos="730885" algn="l"/>
              </a:tabLst>
            </a:pPr>
            <a:r>
              <a:rPr dirty="0" sz="1100">
                <a:latin typeface="Calibri"/>
                <a:cs typeface="Calibri"/>
              </a:rPr>
              <a:t>Exit: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closes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prompting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unsaved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Edit</a:t>
            </a:r>
            <a:r>
              <a:rPr dirty="0" u="sng" sz="11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469900" marR="145415" indent="-228600">
              <a:lnSpc>
                <a:spcPct val="116399"/>
              </a:lnSpc>
              <a:spcBef>
                <a:spcPts val="100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Undo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reverses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i.e.,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undoes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last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executed.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4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Repeat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reverses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i.e.,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restores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command.</a:t>
            </a:r>
            <a:endParaRPr sz="1100">
              <a:latin typeface="Calibri"/>
              <a:cs typeface="Calibri"/>
            </a:endParaRPr>
          </a:p>
          <a:p>
            <a:pPr marL="469900" marR="27305" indent="-228600">
              <a:lnSpc>
                <a:spcPct val="116399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Cut: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removes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clipboard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computer’s </a:t>
            </a:r>
            <a:r>
              <a:rPr dirty="0" sz="1100">
                <a:latin typeface="Calibri"/>
                <a:cs typeface="Calibri"/>
              </a:rPr>
              <a:t>memory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retrieved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again.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Copy: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clipboard.</a:t>
            </a:r>
            <a:endParaRPr sz="1100">
              <a:latin typeface="Calibri"/>
              <a:cs typeface="Calibri"/>
            </a:endParaRPr>
          </a:p>
          <a:p>
            <a:pPr marL="469900" marR="158750" indent="-228600">
              <a:lnSpc>
                <a:spcPts val="154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Paste: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clipboard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any </a:t>
            </a:r>
            <a:r>
              <a:rPr dirty="0" sz="1100" spc="-10">
                <a:latin typeface="Calibri"/>
                <a:cs typeface="Calibri"/>
              </a:rPr>
              <a:t>current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selection.</a:t>
            </a:r>
            <a:endParaRPr sz="1100">
              <a:latin typeface="Calibri"/>
              <a:cs typeface="Calibri"/>
            </a:endParaRPr>
          </a:p>
          <a:p>
            <a:pPr marL="469900" marR="36195" indent="-228600">
              <a:lnSpc>
                <a:spcPts val="1540"/>
              </a:lnSpc>
              <a:spcBef>
                <a:spcPts val="2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Paste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special: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links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embeds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clipboard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format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specify.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Paste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hyperlink: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clipboard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 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hyperlink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insertion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Calibri"/>
                <a:cs typeface="Calibri"/>
              </a:rPr>
              <a:t>point,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selection.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Clear: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without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clipboard.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4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graphics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window.</a:t>
            </a:r>
            <a:endParaRPr sz="1100">
              <a:latin typeface="Calibri"/>
              <a:cs typeface="Calibri"/>
            </a:endParaRPr>
          </a:p>
          <a:p>
            <a:pPr marL="469900" marR="15875" indent="-228600">
              <a:lnSpc>
                <a:spcPct val="1163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Find: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searches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footnotes,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endnotes 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mark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426465"/>
            <a:ext cx="5066665" cy="9309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7437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90805" indent="-228600">
              <a:lnSpc>
                <a:spcPct val="116399"/>
              </a:lnSpc>
              <a:spcBef>
                <a:spcPts val="167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Replace: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Searches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footnotes,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endnotes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or </a:t>
            </a:r>
            <a:r>
              <a:rPr dirty="0" sz="1100">
                <a:latin typeface="Calibri"/>
                <a:cs typeface="Calibri"/>
              </a:rPr>
              <a:t>comment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Goto: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don’t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column.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Links: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Reconnects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linked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source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renamed.</a:t>
            </a:r>
            <a:endParaRPr sz="1100">
              <a:latin typeface="Calibri"/>
              <a:cs typeface="Calibri"/>
            </a:endParaRPr>
          </a:p>
          <a:p>
            <a:pPr marL="241300" marR="5080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Objects: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color,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pattern,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properties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object.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View</a:t>
            </a:r>
            <a:r>
              <a:rPr dirty="0" u="sng" sz="11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241300" marR="234315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Normal: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Switches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normal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default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word </a:t>
            </a:r>
            <a:r>
              <a:rPr dirty="0" sz="1100">
                <a:latin typeface="Calibri"/>
                <a:cs typeface="Calibri"/>
              </a:rPr>
              <a:t>processing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tasks.</a:t>
            </a:r>
            <a:endParaRPr sz="1100">
              <a:latin typeface="Calibri"/>
              <a:cs typeface="Calibri"/>
            </a:endParaRPr>
          </a:p>
          <a:p>
            <a:pPr marL="241300" marR="45847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Online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layout: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layout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wraps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window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printed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241300" marR="330200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layout: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tries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achieve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see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 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get”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how </a:t>
            </a:r>
            <a:r>
              <a:rPr dirty="0" sz="1100">
                <a:latin typeface="Calibri"/>
                <a:cs typeface="Calibri"/>
              </a:rPr>
              <a:t>elements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graphics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Outline: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Switches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outline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examine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the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structure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classic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form.</a:t>
            </a:r>
            <a:endParaRPr sz="1100">
              <a:latin typeface="Calibri"/>
              <a:cs typeface="Calibri"/>
            </a:endParaRPr>
          </a:p>
          <a:p>
            <a:pPr marL="241300" marR="8763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Toolbar: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organize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0">
                <a:latin typeface="Calibri"/>
                <a:cs typeface="Calibri"/>
              </a:rPr>
              <a:t> that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quickly.</a:t>
            </a:r>
            <a:endParaRPr sz="1100">
              <a:latin typeface="Calibri"/>
              <a:cs typeface="Calibri"/>
            </a:endParaRPr>
          </a:p>
          <a:p>
            <a:pPr marL="241300" marR="14414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Ruler: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hides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horizontal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ruler,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objects,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indents,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settings.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Turns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off,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vertical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along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outlines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structure.</a:t>
            </a:r>
            <a:endParaRPr sz="1100">
              <a:latin typeface="Calibri"/>
              <a:cs typeface="Calibri"/>
            </a:endParaRPr>
          </a:p>
          <a:p>
            <a:pPr marL="241300" marR="10541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every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241300" marR="417830" indent="-228600">
              <a:lnSpc>
                <a:spcPts val="1560"/>
              </a:lnSpc>
              <a:spcBef>
                <a:spcPts val="6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Foot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notes: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Footnotes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explain,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on, 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Comments: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made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reviewers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pane.</a:t>
            </a:r>
            <a:endParaRPr sz="1100">
              <a:latin typeface="Calibri"/>
              <a:cs typeface="Calibri"/>
            </a:endParaRPr>
          </a:p>
          <a:p>
            <a:pPr marL="241300" marR="570865" indent="-228600">
              <a:lnSpc>
                <a:spcPts val="1560"/>
              </a:lnSpc>
              <a:spcBef>
                <a:spcPts val="6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Full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Hides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elements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Zoom: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magnification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percent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reduce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enlarge</a:t>
            </a:r>
            <a:r>
              <a:rPr dirty="0" sz="1100" spc="-25">
                <a:latin typeface="Calibri"/>
                <a:cs typeface="Calibri"/>
              </a:rPr>
              <a:t> the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display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Insert</a:t>
            </a:r>
            <a:r>
              <a:rPr dirty="0" u="sng" sz="11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Break: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break.</a:t>
            </a:r>
            <a:endParaRPr sz="1100">
              <a:latin typeface="Calibri"/>
              <a:cs typeface="Calibri"/>
            </a:endParaRPr>
          </a:p>
          <a:p>
            <a:pPr marL="241300" marR="26098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automatically </a:t>
            </a:r>
            <a:r>
              <a:rPr dirty="0" sz="1100">
                <a:latin typeface="Calibri"/>
                <a:cs typeface="Calibri"/>
              </a:rPr>
              <a:t>update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pages.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Date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and/or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updated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every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1300" marR="9398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text: You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graphics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reuse,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as </a:t>
            </a:r>
            <a:r>
              <a:rPr dirty="0" sz="1100">
                <a:latin typeface="Calibri"/>
                <a:cs typeface="Calibri"/>
              </a:rPr>
              <a:t>product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logo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formatted </a:t>
            </a:r>
            <a:r>
              <a:rPr dirty="0" sz="1100" spc="-1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Field: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point.</a:t>
            </a:r>
            <a:endParaRPr sz="1100">
              <a:latin typeface="Calibri"/>
              <a:cs typeface="Calibri"/>
            </a:endParaRPr>
          </a:p>
          <a:p>
            <a:pPr marL="241300" marR="194945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Symbol: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symbol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installed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computer.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Comment: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Footnote: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cross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 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document.</a:t>
            </a:r>
            <a:endParaRPr sz="1100">
              <a:latin typeface="Calibri"/>
              <a:cs typeface="Calibri"/>
            </a:endParaRPr>
          </a:p>
          <a:p>
            <a:pPr marL="241300" marR="557530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Index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indexes,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contents,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figures,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 </a:t>
            </a:r>
            <a:r>
              <a:rPr dirty="0" sz="1100">
                <a:latin typeface="Calibri"/>
                <a:cs typeface="Calibri"/>
              </a:rPr>
              <a:t>authorities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similar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426465"/>
            <a:ext cx="5053965" cy="9111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6230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Picture: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pictures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clipart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window.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File: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point.</a:t>
            </a:r>
            <a:endParaRPr sz="1100">
              <a:latin typeface="Calibri"/>
              <a:cs typeface="Calibri"/>
            </a:endParaRPr>
          </a:p>
          <a:p>
            <a:pPr marL="241300" marR="13081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Object: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drawing,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etc.,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insertion point.</a:t>
            </a:r>
            <a:endParaRPr sz="1100">
              <a:latin typeface="Calibri"/>
              <a:cs typeface="Calibri"/>
            </a:endParaRPr>
          </a:p>
          <a:p>
            <a:pPr marL="241300" marR="458470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Book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bookmark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mark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Hyperlink: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hyperlink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jump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</a:t>
            </a:r>
            <a:endParaRPr sz="1100">
              <a:latin typeface="Calibri"/>
              <a:cs typeface="Calibri"/>
            </a:endParaRPr>
          </a:p>
          <a:p>
            <a:pPr marL="241300" marR="5080">
              <a:lnSpc>
                <a:spcPts val="1560"/>
              </a:lnSpc>
              <a:spcBef>
                <a:spcPts val="65"/>
              </a:spcBef>
            </a:pP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that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program.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Format</a:t>
            </a:r>
            <a:r>
              <a:rPr dirty="0" u="sng" sz="11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Font: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character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 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marR="307975" indent="-228600">
              <a:lnSpc>
                <a:spcPct val="116399"/>
              </a:lnSpc>
              <a:spcBef>
                <a:spcPts val="2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Paragraph: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indents,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pagination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paragraph.</a:t>
            </a:r>
            <a:endParaRPr sz="1100">
              <a:latin typeface="Calibri"/>
              <a:cs typeface="Calibri"/>
            </a:endParaRPr>
          </a:p>
          <a:p>
            <a:pPr marL="241300" marR="655955" indent="-228600">
              <a:lnSpc>
                <a:spcPts val="1560"/>
              </a:lnSpc>
              <a:spcBef>
                <a:spcPts val="7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Bullets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numbering: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modifies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bullets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 paragraphs.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Borders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shading: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shading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borders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around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 spc="-10">
                <a:latin typeface="Calibri"/>
                <a:cs typeface="Calibri"/>
              </a:rPr>
              <a:t>area.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Columns: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Tabs: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alignment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tabs.</a:t>
            </a:r>
            <a:endParaRPr sz="1100">
              <a:latin typeface="Calibri"/>
              <a:cs typeface="Calibri"/>
            </a:endParaRPr>
          </a:p>
          <a:p>
            <a:pPr marL="241300" marR="6921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Drop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letter,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 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 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large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dropped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capital letter.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direction: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Rotates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 read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bottom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 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 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bottom.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capitalization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marR="80010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formats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 marL="241300" marR="615315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Style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gallery: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styles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word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Style: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combination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 called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style.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4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 spc="-10">
                <a:latin typeface="Calibri"/>
                <a:cs typeface="Calibri"/>
              </a:rPr>
              <a:t>Background: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chose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 </a:t>
            </a:r>
            <a:r>
              <a:rPr dirty="0" sz="1100" spc="-10">
                <a:latin typeface="Calibri"/>
                <a:cs typeface="Calibri"/>
              </a:rPr>
              <a:t>background.</a:t>
            </a:r>
            <a:endParaRPr sz="1100">
              <a:latin typeface="Calibri"/>
              <a:cs typeface="Calibri"/>
            </a:endParaRPr>
          </a:p>
          <a:p>
            <a:pPr marL="241300" marR="16510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Object: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color,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pattern,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properties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object.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3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dirty="0" u="sng" sz="11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241300" marR="154940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grammar: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possible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grammar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writing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style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suggestions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them.</a:t>
            </a:r>
            <a:endParaRPr sz="1100">
              <a:latin typeface="Calibri"/>
              <a:cs typeface="Calibri"/>
            </a:endParaRPr>
          </a:p>
          <a:p>
            <a:pPr marL="241300" marR="10160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Language: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language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one </a:t>
            </a:r>
            <a:r>
              <a:rPr dirty="0" sz="1100" spc="-10">
                <a:latin typeface="Calibri"/>
                <a:cs typeface="Calibri"/>
              </a:rPr>
              <a:t>language.</a:t>
            </a:r>
            <a:endParaRPr sz="1100">
              <a:latin typeface="Calibri"/>
              <a:cs typeface="Calibri"/>
            </a:endParaRPr>
          </a:p>
          <a:p>
            <a:pPr marL="241300" marR="4381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count: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Counts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in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1300" marR="179705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store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 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items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frequently.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Look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reference: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lookup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426465"/>
            <a:ext cx="5039360" cy="9309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4706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283210" indent="-228600">
              <a:lnSpc>
                <a:spcPct val="116399"/>
              </a:lnSpc>
              <a:spcBef>
                <a:spcPts val="167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Track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Marks 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keeps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each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reviewer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name.</a:t>
            </a:r>
            <a:endParaRPr sz="1100">
              <a:latin typeface="Calibri"/>
              <a:cs typeface="Calibri"/>
            </a:endParaRPr>
          </a:p>
          <a:p>
            <a:pPr marL="241300" marR="92710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tracked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specified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already.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Protect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>
                <a:latin typeface="Calibri"/>
                <a:cs typeface="Calibri"/>
              </a:rPr>
              <a:t>except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specified.</a:t>
            </a:r>
            <a:endParaRPr sz="1100">
              <a:latin typeface="Calibri"/>
              <a:cs typeface="Calibri"/>
            </a:endParaRPr>
          </a:p>
          <a:p>
            <a:pPr marL="241300" marR="198120" indent="-228600">
              <a:lnSpc>
                <a:spcPct val="116399"/>
              </a:lnSpc>
              <a:spcBef>
                <a:spcPts val="2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create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envelops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addresses.</a:t>
            </a:r>
            <a:endParaRPr sz="1100">
              <a:latin typeface="Calibri"/>
              <a:cs typeface="Calibri"/>
            </a:endParaRPr>
          </a:p>
          <a:p>
            <a:pPr marL="241300" marR="27241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Envelops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envelope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entire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sheet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mailing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labels.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Letter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wizard: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wizard,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letters.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Macro: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macro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delete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macro.</a:t>
            </a:r>
            <a:endParaRPr sz="1100">
              <a:latin typeface="Calibri"/>
              <a:cs typeface="Calibri"/>
            </a:endParaRPr>
          </a:p>
          <a:p>
            <a:pPr marL="241300" marR="53467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Customize: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Customizes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toolbar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buttons,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shortcut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key </a:t>
            </a:r>
            <a:r>
              <a:rPr dirty="0" sz="1100" spc="-10">
                <a:latin typeface="Calibri"/>
                <a:cs typeface="Calibri"/>
              </a:rPr>
              <a:t>assignments.</a:t>
            </a:r>
            <a:endParaRPr sz="1100">
              <a:latin typeface="Calibri"/>
              <a:cs typeface="Calibri"/>
            </a:endParaRPr>
          </a:p>
          <a:p>
            <a:pPr marL="241300" marR="10160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Options: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Modifies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settings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programs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appearance, </a:t>
            </a:r>
            <a:r>
              <a:rPr dirty="0" sz="1100">
                <a:latin typeface="Calibri"/>
                <a:cs typeface="Calibri"/>
              </a:rPr>
              <a:t>printing,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editing,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options.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Table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menu:</a:t>
            </a:r>
            <a:endParaRPr sz="1100">
              <a:latin typeface="Calibri"/>
              <a:cs typeface="Calibri"/>
            </a:endParaRPr>
          </a:p>
          <a:p>
            <a:pPr marL="241300" marR="35242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Draw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 document.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Insert: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241300" marR="132715" indent="-228600">
              <a:lnSpc>
                <a:spcPts val="1560"/>
              </a:lnSpc>
              <a:spcBef>
                <a:spcPts val="6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Delete: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entire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(deletes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point).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adjacent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cell.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</a:t>
            </a:r>
            <a:r>
              <a:rPr dirty="0" sz="1100" spc="-10">
                <a:latin typeface="Calibri"/>
                <a:cs typeface="Calibri"/>
              </a:rPr>
              <a:t>enter.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Select: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point.</a:t>
            </a:r>
            <a:endParaRPr sz="1100">
              <a:latin typeface="Calibri"/>
              <a:cs typeface="Calibri"/>
            </a:endParaRPr>
          </a:p>
          <a:p>
            <a:pPr marL="241300" marR="171450" indent="-228600">
              <a:lnSpc>
                <a:spcPct val="116399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Automatically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predefined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borders</a:t>
            </a:r>
            <a:r>
              <a:rPr dirty="0" sz="1100" spc="-25">
                <a:latin typeface="Calibri"/>
                <a:cs typeface="Calibri"/>
              </a:rPr>
              <a:t> or </a:t>
            </a:r>
            <a:r>
              <a:rPr dirty="0" sz="1100">
                <a:latin typeface="Calibri"/>
                <a:cs typeface="Calibri"/>
              </a:rPr>
              <a:t>shading 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241300" marR="346710" indent="-228600">
              <a:lnSpc>
                <a:spcPct val="116399"/>
              </a:lnSpc>
              <a:spcBef>
                <a:spcPts val="2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Distribute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evenly: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column width.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Distribute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evenly: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width.</a:t>
            </a:r>
            <a:endParaRPr sz="1100">
              <a:latin typeface="Calibri"/>
              <a:cs typeface="Calibri"/>
            </a:endParaRPr>
          </a:p>
          <a:p>
            <a:pPr marL="241300" marR="32639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Heading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repeat: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is </a:t>
            </a:r>
            <a:r>
              <a:rPr dirty="0" sz="1100">
                <a:latin typeface="Calibri"/>
                <a:cs typeface="Calibri"/>
              </a:rPr>
              <a:t>repeated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subsequent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Convert: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converts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range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entries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versa.</a:t>
            </a:r>
            <a:endParaRPr sz="1100">
              <a:latin typeface="Calibri"/>
              <a:cs typeface="Calibri"/>
            </a:endParaRPr>
          </a:p>
          <a:p>
            <a:pPr marL="241300" marR="21082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Sort: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Sorts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cells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ascending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descending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 </a:t>
            </a:r>
            <a:r>
              <a:rPr dirty="0" sz="1100">
                <a:latin typeface="Calibri"/>
                <a:cs typeface="Calibri"/>
              </a:rPr>
              <a:t>criteria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i.e.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sort.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Formula: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Performs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mathematical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calculations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numbers.</a:t>
            </a:r>
            <a:endParaRPr sz="1100">
              <a:latin typeface="Calibri"/>
              <a:cs typeface="Calibri"/>
            </a:endParaRPr>
          </a:p>
          <a:p>
            <a:pPr marL="241300" marR="217804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Divides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 separate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</a:t>
            </a:r>
            <a:r>
              <a:rPr dirty="0" sz="1100" spc="-20">
                <a:latin typeface="Calibri"/>
                <a:cs typeface="Calibri"/>
              </a:rPr>
              <a:t> mark </a:t>
            </a:r>
            <a:r>
              <a:rPr dirty="0" sz="1100">
                <a:latin typeface="Calibri"/>
                <a:cs typeface="Calibri"/>
              </a:rPr>
              <a:t>above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point.</a:t>
            </a:r>
            <a:endParaRPr sz="1100">
              <a:latin typeface="Calibri"/>
              <a:cs typeface="Calibri"/>
            </a:endParaRPr>
          </a:p>
          <a:p>
            <a:pPr marL="241300" marR="9588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Hide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gridlines: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gridlines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hides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dotted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gridlines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in.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Window</a:t>
            </a:r>
            <a:r>
              <a:rPr dirty="0" u="sng" sz="11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menu:</a:t>
            </a:r>
            <a:endParaRPr sz="1100">
              <a:latin typeface="Calibri"/>
              <a:cs typeface="Calibri"/>
            </a:endParaRPr>
          </a:p>
          <a:p>
            <a:pPr marL="241300" marR="508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so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time.</a:t>
            </a:r>
            <a:endParaRPr sz="1100">
              <a:latin typeface="Calibri"/>
              <a:cs typeface="Calibri"/>
            </a:endParaRPr>
          </a:p>
          <a:p>
            <a:pPr marL="241300" marR="140970" indent="-228600">
              <a:lnSpc>
                <a:spcPts val="1560"/>
              </a:lnSpc>
              <a:spcBef>
                <a:spcPts val="6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Arrange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separate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screen.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arrange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easier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426465"/>
            <a:ext cx="5057140" cy="9170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6484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411480" indent="-228600">
              <a:lnSpc>
                <a:spcPct val="116399"/>
              </a:lnSpc>
              <a:spcBef>
                <a:spcPts val="167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Split: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window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panes.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two </a:t>
            </a:r>
            <a:r>
              <a:rPr dirty="0" sz="1100" spc="-10">
                <a:latin typeface="Calibri"/>
                <a:cs typeface="Calibri"/>
              </a:rPr>
              <a:t>windows.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Help</a:t>
            </a:r>
            <a:r>
              <a:rPr dirty="0" u="sng" sz="11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menu:</a:t>
            </a:r>
            <a:endParaRPr sz="1100">
              <a:latin typeface="Calibri"/>
              <a:cs typeface="Calibri"/>
            </a:endParaRPr>
          </a:p>
          <a:p>
            <a:pPr marL="241300" marR="11430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launch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assistant,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tips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execute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tasks.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Contents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index: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assistant.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1100">
                <a:latin typeface="Calibri"/>
                <a:cs typeface="Calibri"/>
              </a:rPr>
              <a:t>What’s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this? 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topic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on.</a:t>
            </a:r>
            <a:endParaRPr sz="1100">
              <a:latin typeface="Calibri"/>
              <a:cs typeface="Calibri"/>
            </a:endParaRPr>
          </a:p>
          <a:p>
            <a:pPr marL="241300" marR="62230" indent="-228600">
              <a:lnSpc>
                <a:spcPct val="116399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web: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Microsoft’s home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free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stuff, </a:t>
            </a:r>
            <a:r>
              <a:rPr dirty="0" sz="1100">
                <a:latin typeface="Calibri"/>
                <a:cs typeface="Calibri"/>
              </a:rPr>
              <a:t>feedback,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answers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frequently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asked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questions,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etc.</a:t>
            </a:r>
            <a:endParaRPr sz="1100">
              <a:latin typeface="Calibri"/>
              <a:cs typeface="Calibri"/>
            </a:endParaRPr>
          </a:p>
          <a:p>
            <a:pPr marL="241300" marR="212725" indent="-228600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perfect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learn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equivalents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 commands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combinations.</a:t>
            </a:r>
            <a:endParaRPr sz="1100">
              <a:latin typeface="Calibri"/>
              <a:cs typeface="Calibri"/>
            </a:endParaRPr>
          </a:p>
          <a:p>
            <a:pPr marL="241300" marR="492125" indent="-228600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Word’s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versions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details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copyright </a:t>
            </a:r>
            <a:r>
              <a:rPr dirty="0" sz="1100">
                <a:latin typeface="Calibri"/>
                <a:cs typeface="Calibri"/>
              </a:rPr>
              <a:t>message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along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detailed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computer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system.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Wingdings"/>
              <a:buChar char=""/>
            </a:pP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100" b="1">
                <a:latin typeface="Calibri"/>
                <a:cs typeface="Calibri"/>
              </a:rPr>
              <a:t>Open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 </a:t>
            </a:r>
            <a:r>
              <a:rPr dirty="0" sz="1100" spc="-20" b="1">
                <a:latin typeface="Calibri"/>
                <a:cs typeface="Calibri"/>
              </a:rPr>
              <a:t>file</a:t>
            </a:r>
            <a:endParaRPr sz="1100">
              <a:latin typeface="Calibri"/>
              <a:cs typeface="Calibri"/>
            </a:endParaRPr>
          </a:p>
          <a:p>
            <a:pPr marL="241300" marR="2084705">
              <a:lnSpc>
                <a:spcPct val="116399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continue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previously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saved. </a:t>
            </a: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File→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 spc="-25">
                <a:latin typeface="Calibri"/>
                <a:cs typeface="Calibri"/>
              </a:rPr>
              <a:t>Or</a:t>
            </a:r>
            <a:endParaRPr sz="1100">
              <a:latin typeface="Calibri"/>
              <a:cs typeface="Calibri"/>
            </a:endParaRPr>
          </a:p>
          <a:p>
            <a:pPr marL="241300" marR="5080">
              <a:lnSpc>
                <a:spcPct val="116500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→look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near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 </a:t>
            </a:r>
            <a:r>
              <a:rPr dirty="0" sz="1100" spc="-10"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 b="1">
                <a:latin typeface="Calibri"/>
                <a:cs typeface="Calibri"/>
              </a:rPr>
              <a:t>Create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document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(new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document)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menu→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save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 </a:t>
            </a:r>
            <a:r>
              <a:rPr dirty="0" sz="1100" spc="-20" b="1">
                <a:latin typeface="Calibri"/>
                <a:cs typeface="Calibri"/>
              </a:rPr>
              <a:t>file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save→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location</a:t>
            </a:r>
            <a:endParaRPr sz="1100">
              <a:latin typeface="Calibri"/>
              <a:cs typeface="Calibri"/>
            </a:endParaRPr>
          </a:p>
          <a:p>
            <a:pPr marL="241300" marR="277495">
              <a:lnSpc>
                <a:spcPct val="116500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you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give →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241300" marR="3653154">
              <a:lnSpc>
                <a:spcPts val="1560"/>
              </a:lnSpc>
              <a:spcBef>
                <a:spcPts val="70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Cut,</a:t>
            </a:r>
            <a:r>
              <a:rPr dirty="0" u="sng" sz="11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Copy</a:t>
            </a:r>
            <a:r>
              <a:rPr dirty="0" u="sng" sz="11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1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Paste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Cut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Paste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a 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text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 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elsewhere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1-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Cutting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Pasting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with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menu</a:t>
            </a:r>
            <a:r>
              <a:rPr dirty="0" sz="1100" spc="-25" b="1">
                <a:latin typeface="Calibri"/>
                <a:cs typeface="Calibri"/>
              </a:rPr>
              <a:t> bar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Cut.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2-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right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click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‘cut’.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cut.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16735" y="426465"/>
            <a:ext cx="4642485" cy="8755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1892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‘paste’.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 startAt="7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3-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keyboard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Hold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Ctrl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latter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r>
              <a:rPr dirty="0" sz="1100" b="1">
                <a:latin typeface="Calibri"/>
                <a:cs typeface="Calibri"/>
              </a:rPr>
              <a:t>X”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cut.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Hold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Ctrl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latter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r>
              <a:rPr dirty="0" sz="1100" b="1">
                <a:latin typeface="Calibri"/>
                <a:cs typeface="Calibri"/>
              </a:rPr>
              <a:t>V”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Copy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Paste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8200"/>
              </a:lnSpc>
              <a:spcBef>
                <a:spcPts val="985"/>
              </a:spcBef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Microsoft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 one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0">
                <a:latin typeface="Calibri"/>
                <a:cs typeface="Calibri"/>
              </a:rPr>
              <a:t> that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elsewhere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1-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Copy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Paste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with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menu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bar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Copy.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copied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2-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right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click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3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 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0">
                <a:latin typeface="Calibri"/>
                <a:cs typeface="Calibri"/>
              </a:rPr>
              <a:t> button.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‘copy’.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‘paste’.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location.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Technique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3-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keyboard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 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paste.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Hold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Ctrl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latter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r>
              <a:rPr dirty="0" sz="1100" b="1">
                <a:latin typeface="Calibri"/>
                <a:cs typeface="Calibri"/>
              </a:rPr>
              <a:t>C”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copied.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 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Hold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Ctrl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latter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“</a:t>
            </a:r>
            <a:r>
              <a:rPr dirty="0" sz="1100" b="1">
                <a:latin typeface="Calibri"/>
                <a:cs typeface="Calibri"/>
              </a:rPr>
              <a:t>V”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keyboard.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816735" y="1234185"/>
            <a:ext cx="4824730" cy="8547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Formatting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Document</a:t>
            </a:r>
            <a:endParaRPr sz="1100">
              <a:latin typeface="Calibri"/>
              <a:cs typeface="Calibri"/>
            </a:endParaRPr>
          </a:p>
          <a:p>
            <a:pPr marL="12700" marR="45085">
              <a:lnSpc>
                <a:spcPct val="116399"/>
              </a:lnSpc>
              <a:spcBef>
                <a:spcPts val="1015"/>
              </a:spcBef>
            </a:pP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outlook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as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desire.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major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options: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Font.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paragraph.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300" algn="l"/>
              </a:tabLst>
            </a:pPr>
            <a:r>
              <a:rPr dirty="0" sz="1100" b="1">
                <a:latin typeface="Calibri"/>
                <a:cs typeface="Calibri"/>
              </a:rPr>
              <a:t>Formatting</a:t>
            </a:r>
            <a:r>
              <a:rPr dirty="0" sz="1100" spc="-5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font</a:t>
            </a:r>
            <a:endParaRPr sz="1100">
              <a:latin typeface="Calibri"/>
              <a:cs typeface="Calibri"/>
            </a:endParaRPr>
          </a:p>
          <a:p>
            <a:pPr marL="12700" marR="50800">
              <a:lnSpc>
                <a:spcPct val="116399"/>
              </a:lnSpc>
              <a:spcBef>
                <a:spcPts val="1010"/>
              </a:spcBef>
            </a:pP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removes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 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 </a:t>
            </a:r>
            <a:r>
              <a:rPr dirty="0" sz="1100">
                <a:latin typeface="Calibri"/>
                <a:cs typeface="Calibri"/>
              </a:rPr>
              <a:t>forward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type.</a:t>
            </a:r>
            <a:endParaRPr sz="1100">
              <a:latin typeface="Calibri"/>
              <a:cs typeface="Calibri"/>
            </a:endParaRPr>
          </a:p>
          <a:p>
            <a:pPr lvl="1" marL="241300" marR="5080" indent="-229235">
              <a:lnSpc>
                <a:spcPct val="117400"/>
              </a:lnSpc>
              <a:spcBef>
                <a:spcPts val="990"/>
              </a:spcBef>
              <a:buAutoNum type="alphaUcPeriod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Fonts: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display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several </a:t>
            </a:r>
            <a:r>
              <a:rPr dirty="0" sz="1100">
                <a:latin typeface="Calibri"/>
                <a:cs typeface="Calibri"/>
              </a:rPr>
              <a:t>fonts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available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Arial,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Courier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Roman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etc.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10">
                <a:latin typeface="Calibri"/>
                <a:cs typeface="Calibri"/>
              </a:rPr>
              <a:t> sizes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available.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20">
                <a:latin typeface="Calibri"/>
                <a:cs typeface="Calibri"/>
              </a:rPr>
              <a:t>text: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2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 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 down</a:t>
            </a:r>
            <a:r>
              <a:rPr dirty="0" sz="1100" spc="-20">
                <a:latin typeface="Calibri"/>
                <a:cs typeface="Calibri"/>
              </a:rPr>
              <a:t> box.</a:t>
            </a:r>
            <a:endParaRPr sz="110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219"/>
              </a:spcBef>
              <a:buAutoNum type="alphaUcPeriod" startAt="2"/>
              <a:tabLst>
                <a:tab pos="240665" algn="l"/>
              </a:tabLst>
            </a:pPr>
            <a:r>
              <a:rPr dirty="0" sz="1100" spc="-10">
                <a:latin typeface="Calibri"/>
                <a:cs typeface="Calibri"/>
              </a:rPr>
              <a:t>Attributes</a:t>
            </a:r>
            <a:endParaRPr sz="1100">
              <a:latin typeface="Calibri"/>
              <a:cs typeface="Calibri"/>
            </a:endParaRPr>
          </a:p>
          <a:p>
            <a:pPr marL="241300" marR="176530">
              <a:lnSpc>
                <a:spcPct val="116399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attributes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bold,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italics.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three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commonly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attributes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available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bar.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attributes: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B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Ctrl-</a:t>
            </a:r>
            <a:r>
              <a:rPr dirty="0" sz="1100" spc="-50"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U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 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Ctrl-</a:t>
            </a:r>
            <a:r>
              <a:rPr dirty="0" sz="1100" spc="-50">
                <a:latin typeface="Calibri"/>
                <a:cs typeface="Calibri"/>
              </a:rPr>
              <a:t>U</a:t>
            </a:r>
            <a:endParaRPr sz="1100">
              <a:latin typeface="Calibri"/>
              <a:cs typeface="Calibri"/>
            </a:endParaRPr>
          </a:p>
          <a:p>
            <a:pPr lvl="2" marL="698500" indent="-228600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85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Italics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Ctrl-</a:t>
            </a:r>
            <a:r>
              <a:rPr dirty="0" sz="1100" spc="-50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  <a:p>
            <a:pPr lvl="1" marL="241300" marR="250190" indent="-229235">
              <a:lnSpc>
                <a:spcPct val="116399"/>
              </a:lnSpc>
              <a:buAutoNum type="alphaUcPeriod" startAt="3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 effects: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available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Strikethrough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Superscript, </a:t>
            </a:r>
            <a:r>
              <a:rPr dirty="0" sz="1100">
                <a:latin typeface="Calibri"/>
                <a:cs typeface="Calibri"/>
              </a:rPr>
              <a:t>subscript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caps.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 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</a:t>
            </a:r>
            <a:endParaRPr sz="1100">
              <a:latin typeface="Calibri"/>
              <a:cs typeface="Calibri"/>
            </a:endParaRPr>
          </a:p>
          <a:p>
            <a:pPr marL="241300" marR="115570">
              <a:lnSpc>
                <a:spcPct val="116500"/>
              </a:lnSpc>
              <a:spcBef>
                <a:spcPts val="25"/>
              </a:spcBef>
            </a:pPr>
            <a:r>
              <a:rPr dirty="0" sz="1100">
                <a:latin typeface="Calibri"/>
                <a:cs typeface="Calibri"/>
              </a:rPr>
              <a:t>underlining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Double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dotted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words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appropriate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dropdown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shadow,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outline,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emboss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engrave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applied.</a:t>
            </a:r>
            <a:endParaRPr sz="1100">
              <a:latin typeface="Calibri"/>
              <a:cs typeface="Calibri"/>
            </a:endParaRPr>
          </a:p>
          <a:p>
            <a:pPr lvl="1" marL="241300" marR="27940" indent="-229235">
              <a:lnSpc>
                <a:spcPct val="116399"/>
              </a:lnSpc>
              <a:spcBef>
                <a:spcPts val="20"/>
              </a:spcBef>
              <a:buAutoNum type="alphaUcPeriod" startAt="4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changed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marked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bar.</a:t>
            </a:r>
            <a:endParaRPr sz="1100">
              <a:latin typeface="Calibri"/>
              <a:cs typeface="Calibri"/>
            </a:endParaRPr>
          </a:p>
          <a:p>
            <a:pPr lvl="1" marL="241300" marR="46990" indent="-229235">
              <a:lnSpc>
                <a:spcPct val="116500"/>
              </a:lnSpc>
              <a:spcBef>
                <a:spcPts val="25"/>
              </a:spcBef>
              <a:buAutoNum type="alphaUcPeriod" startAt="4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Changing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refers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either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capital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 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text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change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case.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AutoNum type="arabicPeriod" startAt="2"/>
              <a:tabLst>
                <a:tab pos="241300" algn="l"/>
              </a:tabLst>
            </a:pPr>
            <a:r>
              <a:rPr dirty="0" sz="1100" b="1">
                <a:latin typeface="Calibri"/>
                <a:cs typeface="Calibri"/>
              </a:rPr>
              <a:t>Formatting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paragraph</a:t>
            </a:r>
            <a:endParaRPr sz="1100">
              <a:latin typeface="Calibri"/>
              <a:cs typeface="Calibri"/>
            </a:endParaRPr>
          </a:p>
          <a:p>
            <a:pPr lvl="1" marL="469900" marR="345440" indent="-228600">
              <a:lnSpc>
                <a:spcPct val="116399"/>
              </a:lnSpc>
              <a:spcBef>
                <a:spcPts val="25"/>
              </a:spcBef>
              <a:buAutoNum type="alphaUcPeriod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Alignment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titled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towards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something.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text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lvl="2" marL="927100" indent="-298450">
              <a:lnSpc>
                <a:spcPct val="100000"/>
              </a:lnSpc>
              <a:spcBef>
                <a:spcPts val="215"/>
              </a:spcBef>
              <a:buAutoNum type="romanUcPeriod"/>
              <a:tabLst>
                <a:tab pos="927100" algn="l"/>
              </a:tabLst>
            </a:pPr>
            <a:r>
              <a:rPr dirty="0" sz="1100">
                <a:latin typeface="Calibri"/>
                <a:cs typeface="Calibri"/>
              </a:rPr>
              <a:t>Horizontal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determines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appearance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orientation</a:t>
            </a:r>
            <a:endParaRPr sz="1100">
              <a:latin typeface="Calibri"/>
              <a:cs typeface="Calibri"/>
            </a:endParaRPr>
          </a:p>
          <a:p>
            <a:pPr marL="927100" marR="408305">
              <a:lnSpc>
                <a:spcPct val="116399"/>
              </a:lnSpc>
              <a:spcBef>
                <a:spcPts val="25"/>
              </a:spcBef>
            </a:pP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horizontal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alignment.</a:t>
            </a:r>
            <a:endParaRPr sz="1100">
              <a:latin typeface="Calibri"/>
              <a:cs typeface="Calibri"/>
            </a:endParaRPr>
          </a:p>
          <a:p>
            <a:pPr lvl="3" marL="1155700" marR="123189" indent="-229235">
              <a:lnSpc>
                <a:spcPct val="116399"/>
              </a:lnSpc>
              <a:spcBef>
                <a:spcPts val="25"/>
              </a:spcBef>
              <a:buFont typeface="Wingdings"/>
              <a:buChar char=""/>
              <a:tabLst>
                <a:tab pos="1155700" algn="l"/>
              </a:tabLst>
            </a:pP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 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aligned,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written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20">
                <a:latin typeface="Calibri"/>
                <a:cs typeface="Calibri"/>
              </a:rPr>
              <a:t> page.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51830" cy="9261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070735" marR="13970" indent="-229235">
              <a:lnSpc>
                <a:spcPct val="116399"/>
              </a:lnSpc>
              <a:spcBef>
                <a:spcPts val="1675"/>
              </a:spcBef>
              <a:buFont typeface="Wingdings"/>
              <a:buChar char=""/>
              <a:tabLst>
                <a:tab pos="2070735" algn="l"/>
              </a:tabLst>
            </a:pP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alignment:all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aligned,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written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page.</a:t>
            </a:r>
            <a:endParaRPr sz="1100">
              <a:latin typeface="Calibri"/>
              <a:cs typeface="Calibri"/>
            </a:endParaRPr>
          </a:p>
          <a:p>
            <a:pPr marL="2070735" marR="273050" indent="-229235">
              <a:lnSpc>
                <a:spcPts val="1560"/>
              </a:lnSpc>
              <a:spcBef>
                <a:spcPts val="70"/>
              </a:spcBef>
              <a:buFont typeface="Wingdings"/>
              <a:buChar char=""/>
              <a:tabLst>
                <a:tab pos="2070735" algn="l"/>
              </a:tabLst>
            </a:pPr>
            <a:r>
              <a:rPr dirty="0" sz="1100">
                <a:latin typeface="Calibri"/>
                <a:cs typeface="Calibri"/>
              </a:rPr>
              <a:t>Center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alignment:all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texts,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center aligned,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are </a:t>
            </a:r>
            <a:r>
              <a:rPr dirty="0" sz="1100">
                <a:latin typeface="Calibri"/>
                <a:cs typeface="Calibri"/>
              </a:rPr>
              <a:t>written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middle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page.</a:t>
            </a:r>
            <a:endParaRPr sz="1100">
              <a:latin typeface="Calibri"/>
              <a:cs typeface="Calibri"/>
            </a:endParaRPr>
          </a:p>
          <a:p>
            <a:pPr marL="20701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070100" algn="l"/>
              </a:tabLst>
            </a:pPr>
            <a:r>
              <a:rPr dirty="0" sz="1100">
                <a:latin typeface="Calibri"/>
                <a:cs typeface="Calibri"/>
              </a:rPr>
              <a:t>Justification: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alignment.</a:t>
            </a:r>
            <a:endParaRPr sz="1100">
              <a:latin typeface="Calibri"/>
              <a:cs typeface="Calibri"/>
            </a:endParaRPr>
          </a:p>
          <a:p>
            <a:pPr marL="2070735" marR="309880">
              <a:lnSpc>
                <a:spcPts val="1560"/>
              </a:lnSpc>
              <a:spcBef>
                <a:spcPts val="7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balanced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page.</a:t>
            </a:r>
            <a:endParaRPr sz="1100">
              <a:latin typeface="Calibri"/>
              <a:cs typeface="Calibri"/>
            </a:endParaRPr>
          </a:p>
          <a:p>
            <a:pPr marL="1506220">
              <a:lnSpc>
                <a:spcPct val="100000"/>
              </a:lnSpc>
              <a:spcBef>
                <a:spcPts val="125"/>
              </a:spcBef>
              <a:tabLst>
                <a:tab pos="1841500" algn="l"/>
              </a:tabLst>
            </a:pPr>
            <a:r>
              <a:rPr dirty="0" sz="1100" spc="-25">
                <a:latin typeface="Calibri"/>
                <a:cs typeface="Calibri"/>
              </a:rPr>
              <a:t>II.</a:t>
            </a:r>
            <a:r>
              <a:rPr dirty="0" sz="1100">
                <a:latin typeface="Calibri"/>
                <a:cs typeface="Calibri"/>
              </a:rPr>
              <a:t>	Vertical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alignment: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determines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paragraph’s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relative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</a:t>
            </a:r>
            <a:endParaRPr sz="11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 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0">
                <a:latin typeface="Calibri"/>
                <a:cs typeface="Calibri"/>
              </a:rPr>
              <a:t> margins.</a:t>
            </a:r>
            <a:endParaRPr sz="1100">
              <a:latin typeface="Calibri"/>
              <a:cs typeface="Calibri"/>
            </a:endParaRPr>
          </a:p>
          <a:p>
            <a:pPr marL="1384300" marR="92710" indent="-228600">
              <a:lnSpc>
                <a:spcPct val="116399"/>
              </a:lnSpc>
              <a:spcBef>
                <a:spcPts val="25"/>
              </a:spcBef>
              <a:buAutoNum type="alphaUcPeriod" startAt="2"/>
              <a:tabLst>
                <a:tab pos="1384300" algn="l"/>
              </a:tabLst>
            </a:pP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amount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paragraph.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0864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1840864" algn="l"/>
              </a:tabLst>
            </a:pP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0864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1840864" algn="l"/>
              </a:tabLst>
            </a:pPr>
            <a:r>
              <a:rPr dirty="0" sz="1100">
                <a:latin typeface="Calibri"/>
                <a:cs typeface="Calibri"/>
              </a:rPr>
              <a:t>1.5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0864" indent="-227965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1840864" algn="l"/>
              </a:tabLst>
            </a:pPr>
            <a:r>
              <a:rPr dirty="0" sz="1100">
                <a:latin typeface="Calibri"/>
                <a:cs typeface="Calibri"/>
              </a:rPr>
              <a:t>Double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0864" indent="-227965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1840864" algn="l"/>
              </a:tabLst>
            </a:pP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0864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1840864" algn="l"/>
              </a:tabLst>
            </a:pPr>
            <a:r>
              <a:rPr dirty="0" sz="1100">
                <a:latin typeface="Calibri"/>
                <a:cs typeface="Calibri"/>
              </a:rPr>
              <a:t>Exactly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1" marL="1841500" indent="-228600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1841500" algn="l"/>
              </a:tabLst>
            </a:pP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215"/>
              </a:spcBef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Selecting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line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spacing</a:t>
            </a:r>
            <a:endParaRPr sz="1100">
              <a:latin typeface="Calibri"/>
              <a:cs typeface="Calibri"/>
            </a:endParaRPr>
          </a:p>
          <a:p>
            <a:pPr lvl="2" marL="2070735" marR="386715" indent="-229235">
              <a:lnSpc>
                <a:spcPct val="116500"/>
              </a:lnSpc>
              <a:spcBef>
                <a:spcPts val="20"/>
              </a:spcBef>
              <a:buAutoNum type="alphaLcPeriod"/>
              <a:tabLst>
                <a:tab pos="2070735" algn="l"/>
              </a:tabLst>
            </a:pPr>
            <a:r>
              <a:rPr dirty="0" sz="1100">
                <a:latin typeface="Calibri"/>
                <a:cs typeface="Calibri"/>
              </a:rPr>
              <a:t>Highlight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change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line </a:t>
            </a:r>
            <a:r>
              <a:rPr dirty="0" sz="1100" spc="-10">
                <a:latin typeface="Calibri"/>
                <a:cs typeface="Calibri"/>
              </a:rPr>
              <a:t>spacing.</a:t>
            </a:r>
            <a:endParaRPr sz="1100">
              <a:latin typeface="Calibri"/>
              <a:cs typeface="Calibri"/>
            </a:endParaRPr>
          </a:p>
          <a:p>
            <a:pPr lvl="2" marL="2070100" indent="-228600">
              <a:lnSpc>
                <a:spcPct val="100000"/>
              </a:lnSpc>
              <a:spcBef>
                <a:spcPts val="215"/>
              </a:spcBef>
              <a:buAutoNum type="alphaLcPeriod"/>
              <a:tabLst>
                <a:tab pos="20701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paragraph.</a:t>
            </a:r>
            <a:endParaRPr sz="1100">
              <a:latin typeface="Calibri"/>
              <a:cs typeface="Calibri"/>
            </a:endParaRPr>
          </a:p>
          <a:p>
            <a:pPr lvl="2" marL="2070735" indent="-229235">
              <a:lnSpc>
                <a:spcPct val="100000"/>
              </a:lnSpc>
              <a:spcBef>
                <a:spcPts val="240"/>
              </a:spcBef>
              <a:buAutoNum type="alphaLcPeriod"/>
              <a:tabLst>
                <a:tab pos="2070735" algn="l"/>
              </a:tabLst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tab.</a:t>
            </a:r>
            <a:endParaRPr sz="1100">
              <a:latin typeface="Calibri"/>
              <a:cs typeface="Calibri"/>
            </a:endParaRPr>
          </a:p>
          <a:p>
            <a:pPr lvl="2" marL="2070100" indent="-228600">
              <a:lnSpc>
                <a:spcPct val="100000"/>
              </a:lnSpc>
              <a:spcBef>
                <a:spcPts val="219"/>
              </a:spcBef>
              <a:buAutoNum type="alphaLcPeriod"/>
              <a:tabLst>
                <a:tab pos="20701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click.</a:t>
            </a:r>
            <a:endParaRPr sz="1100">
              <a:latin typeface="Calibri"/>
              <a:cs typeface="Calibri"/>
            </a:endParaRPr>
          </a:p>
          <a:p>
            <a:pPr marL="1384300" indent="-228600">
              <a:lnSpc>
                <a:spcPct val="100000"/>
              </a:lnSpc>
              <a:spcBef>
                <a:spcPts val="215"/>
              </a:spcBef>
              <a:buAutoNum type="alphaUcPeriod" startAt="2"/>
              <a:tabLst>
                <a:tab pos="1384300" algn="l"/>
              </a:tabLst>
            </a:pP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circular,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attention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</a:t>
            </a:r>
            <a:endParaRPr sz="1100">
              <a:latin typeface="Calibri"/>
              <a:cs typeface="Calibri"/>
            </a:endParaRPr>
          </a:p>
          <a:p>
            <a:pPr marL="1384300" marR="106045">
              <a:lnSpc>
                <a:spcPct val="116500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particular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keep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space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 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extra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indents.</a:t>
            </a:r>
            <a:endParaRPr sz="1100">
              <a:latin typeface="Calibri"/>
              <a:cs typeface="Calibri"/>
            </a:endParaRPr>
          </a:p>
          <a:p>
            <a:pPr marL="1384300" marR="32384" indent="-228600">
              <a:lnSpc>
                <a:spcPts val="1560"/>
              </a:lnSpc>
              <a:spcBef>
                <a:spcPts val="70"/>
              </a:spcBef>
              <a:buAutoNum type="alphaUcPeriod" startAt="4"/>
              <a:tabLst>
                <a:tab pos="1384300" algn="l"/>
              </a:tabLst>
            </a:pP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amount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before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paragraph.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amount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paragraph.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Calibri"/>
                <a:cs typeface="Calibri"/>
              </a:rPr>
              <a:t>Spelling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grammar</a:t>
            </a:r>
            <a:r>
              <a:rPr dirty="0" sz="1100" spc="-4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check</a:t>
            </a:r>
            <a:endParaRPr sz="1100">
              <a:latin typeface="Calibri"/>
              <a:cs typeface="Calibri"/>
            </a:endParaRPr>
          </a:p>
          <a:p>
            <a:pPr marL="12700" marR="253365">
              <a:lnSpc>
                <a:spcPct val="116399"/>
              </a:lnSpc>
              <a:spcBef>
                <a:spcPts val="1010"/>
              </a:spcBef>
            </a:pPr>
            <a:r>
              <a:rPr dirty="0" sz="1100">
                <a:latin typeface="Calibri"/>
                <a:cs typeface="Calibri"/>
              </a:rPr>
              <a:t>Spell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software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program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verify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document, helping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ensure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spelling.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>
                <a:latin typeface="Calibri"/>
                <a:cs typeface="Calibri"/>
              </a:rPr>
              <a:t>MS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several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ways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grammar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9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automatic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spelling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grammar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checking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autocorrect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feature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Find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replace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text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MS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Word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>
                <a:latin typeface="Calibri"/>
                <a:cs typeface="Calibri"/>
              </a:rPr>
              <a:t>Carry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steps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phrases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9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Ctrl-F,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short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option.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search 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911097"/>
            <a:ext cx="5728970" cy="855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Find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replacing</a:t>
            </a:r>
            <a:r>
              <a:rPr dirty="0" sz="1100" spc="-20" b="1">
                <a:latin typeface="Calibri"/>
                <a:cs typeface="Calibri"/>
              </a:rPr>
              <a:t> text</a:t>
            </a:r>
            <a:endParaRPr sz="1100">
              <a:latin typeface="Calibri"/>
              <a:cs typeface="Calibri"/>
            </a:endParaRPr>
          </a:p>
          <a:p>
            <a:pPr marL="12700" marR="247015">
              <a:lnSpc>
                <a:spcPts val="2550"/>
              </a:lnSpc>
              <a:spcBef>
                <a:spcPts val="285"/>
              </a:spcBef>
            </a:pPr>
            <a:r>
              <a:rPr dirty="0" sz="1100">
                <a:latin typeface="Calibri"/>
                <a:cs typeface="Calibri"/>
              </a:rPr>
              <a:t>Word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excellent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phrases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text.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 so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carry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10">
                <a:latin typeface="Calibri"/>
                <a:cs typeface="Calibri"/>
              </a:rPr>
              <a:t> steps.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00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Ctrl-H,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shortcut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option.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selected.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8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box.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Header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1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Footer</a:t>
            </a:r>
            <a:endParaRPr sz="1100">
              <a:latin typeface="Calibri"/>
              <a:cs typeface="Calibri"/>
            </a:endParaRPr>
          </a:p>
          <a:p>
            <a:pPr marL="12700" marR="214629">
              <a:lnSpc>
                <a:spcPct val="116399"/>
              </a:lnSpc>
              <a:spcBef>
                <a:spcPts val="1005"/>
              </a:spcBef>
            </a:pP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above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margin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called </a:t>
            </a:r>
            <a:r>
              <a:rPr dirty="0" sz="1100">
                <a:latin typeface="Calibri"/>
                <a:cs typeface="Calibri"/>
              </a:rPr>
              <a:t>headers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footers.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100" b="1">
                <a:latin typeface="Calibri"/>
                <a:cs typeface="Calibri"/>
              </a:rPr>
              <a:t>Steps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insert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Headers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0" b="1">
                <a:latin typeface="Calibri"/>
                <a:cs typeface="Calibri"/>
              </a:rPr>
              <a:t> Footers</a:t>
            </a:r>
            <a:endParaRPr sz="1100">
              <a:latin typeface="Calibri"/>
              <a:cs typeface="Calibri"/>
            </a:endParaRPr>
          </a:p>
          <a:p>
            <a:pPr marL="469900" marR="179070" indent="-229235">
              <a:lnSpc>
                <a:spcPct val="118200"/>
              </a:lnSpc>
              <a:spcBef>
                <a:spcPts val="98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View→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 tool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will </a:t>
            </a:r>
            <a:r>
              <a:rPr dirty="0" sz="1100">
                <a:latin typeface="Calibri"/>
                <a:cs typeface="Calibri"/>
              </a:rPr>
              <a:t>appear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page.</a:t>
            </a:r>
            <a:endParaRPr sz="1100">
              <a:latin typeface="Calibri"/>
              <a:cs typeface="Calibri"/>
            </a:endParaRPr>
          </a:p>
          <a:p>
            <a:pPr marL="469900" marR="386080" indent="-229235">
              <a:lnSpc>
                <a:spcPts val="1560"/>
              </a:lnSpc>
              <a:spcBef>
                <a:spcPts val="6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standard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formatting </a:t>
            </a:r>
            <a:r>
              <a:rPr dirty="0" sz="1100">
                <a:latin typeface="Calibri"/>
                <a:cs typeface="Calibri"/>
              </a:rPr>
              <a:t>options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 font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size.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auto text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view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options</a:t>
            </a:r>
            <a:r>
              <a:rPr dirty="0" sz="1100" spc="-10">
                <a:latin typeface="Calibri"/>
                <a:cs typeface="Calibri"/>
              </a:rPr>
              <a:t> available.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9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other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options 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time.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switch between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bar.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When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finished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footer,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close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button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bar.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Mail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Merge</a:t>
            </a:r>
            <a:endParaRPr sz="1100">
              <a:latin typeface="Calibri"/>
              <a:cs typeface="Calibri"/>
            </a:endParaRPr>
          </a:p>
          <a:p>
            <a:pPr marL="12700" marR="51435">
              <a:lnSpc>
                <a:spcPct val="117300"/>
              </a:lnSpc>
              <a:spcBef>
                <a:spcPts val="994"/>
              </a:spcBef>
            </a:pP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sense,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5">
                <a:latin typeface="Calibri"/>
                <a:cs typeface="Calibri"/>
              </a:rPr>
              <a:t> or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things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together.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combining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together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meaningful</a:t>
            </a:r>
            <a:r>
              <a:rPr dirty="0" sz="1100" spc="-10">
                <a:latin typeface="Calibri"/>
                <a:cs typeface="Calibri"/>
              </a:rPr>
              <a:t> document.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quickly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following.</a:t>
            </a:r>
            <a:endParaRPr sz="1100">
              <a:latin typeface="Calibri"/>
              <a:cs typeface="Calibri"/>
            </a:endParaRPr>
          </a:p>
          <a:p>
            <a:pPr marL="469900" marR="111125" indent="-229235">
              <a:lnSpc>
                <a:spcPct val="116399"/>
              </a:lnSpc>
              <a:spcBef>
                <a:spcPts val="1010"/>
              </a:spcBef>
              <a:buFont typeface="Wingdings"/>
              <a:buChar char="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Letters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–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letters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personalize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letter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person receives.</a:t>
            </a:r>
            <a:endParaRPr sz="1100">
              <a:latin typeface="Calibri"/>
              <a:cs typeface="Calibri"/>
            </a:endParaRPr>
          </a:p>
          <a:p>
            <a:pPr marL="469900" marR="5080" indent="-229235">
              <a:lnSpc>
                <a:spcPts val="1560"/>
              </a:lnSpc>
              <a:spcBef>
                <a:spcPts val="70"/>
              </a:spcBef>
              <a:buFont typeface="Wingdings"/>
              <a:buChar char=""/>
              <a:tabLst>
                <a:tab pos="469900" algn="l"/>
              </a:tabLst>
            </a:pPr>
            <a:r>
              <a:rPr dirty="0" sz="1100" spc="-10">
                <a:latin typeface="Calibri"/>
                <a:cs typeface="Calibri"/>
              </a:rPr>
              <a:t>E-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message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–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e-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messages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people.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personalize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e-</a:t>
            </a:r>
            <a:r>
              <a:rPr dirty="0" sz="1100" spc="-20">
                <a:latin typeface="Calibri"/>
                <a:cs typeface="Calibri"/>
              </a:rPr>
              <a:t>mail </a:t>
            </a:r>
            <a:r>
              <a:rPr dirty="0" sz="1100">
                <a:latin typeface="Calibri"/>
                <a:cs typeface="Calibri"/>
              </a:rPr>
              <a:t>message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person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receives.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Envelopes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–Print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addressed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envelopes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mailing.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Wingdings"/>
              <a:buChar char="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Labels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–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address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mailing.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Font typeface="Wingdings"/>
              <a:buChar char="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Directory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–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catalog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addresses.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Steps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10" b="1">
                <a:latin typeface="Calibri"/>
                <a:cs typeface="Calibri"/>
              </a:rPr>
              <a:t> Mail-</a:t>
            </a:r>
            <a:r>
              <a:rPr dirty="0" sz="1100" b="1">
                <a:latin typeface="Calibri"/>
                <a:cs typeface="Calibri"/>
              </a:rPr>
              <a:t>Merge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process</a:t>
            </a:r>
            <a:endParaRPr sz="1100">
              <a:latin typeface="Calibri"/>
              <a:cs typeface="Calibri"/>
            </a:endParaRPr>
          </a:p>
          <a:p>
            <a:pPr marL="12700" marR="26034">
              <a:lnSpc>
                <a:spcPct val="116399"/>
              </a:lnSpc>
              <a:spcBef>
                <a:spcPts val="1010"/>
              </a:spcBef>
            </a:pPr>
            <a:r>
              <a:rPr dirty="0" sz="1100" b="1">
                <a:latin typeface="Calibri"/>
                <a:cs typeface="Calibri"/>
              </a:rPr>
              <a:t>Step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1: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Choose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Document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type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file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name: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document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merge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task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pane.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choose,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‘Next’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bottom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10">
                <a:latin typeface="Calibri"/>
                <a:cs typeface="Calibri"/>
              </a:rPr>
              <a:t> pane.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44210" cy="9121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12700" marR="314960">
              <a:lnSpc>
                <a:spcPct val="116399"/>
              </a:lnSpc>
              <a:spcBef>
                <a:spcPts val="1675"/>
              </a:spcBef>
            </a:pP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already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are </a:t>
            </a:r>
            <a:r>
              <a:rPr dirty="0" sz="1100">
                <a:latin typeface="Calibri"/>
                <a:cs typeface="Calibri"/>
              </a:rPr>
              <a:t>starting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blank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can 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 marL="12700" marR="72390">
              <a:lnSpc>
                <a:spcPct val="116799"/>
              </a:lnSpc>
              <a:spcBef>
                <a:spcPts val="1005"/>
              </a:spcBef>
            </a:pPr>
            <a:r>
              <a:rPr dirty="0" sz="1100" b="1">
                <a:latin typeface="Calibri"/>
                <a:cs typeface="Calibri"/>
              </a:rPr>
              <a:t>Step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2: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Connect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data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file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select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records:</a:t>
            </a:r>
            <a:r>
              <a:rPr dirty="0" sz="1100" spc="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step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connect</a:t>
            </a:r>
            <a:r>
              <a:rPr dirty="0" sz="1100" spc="-25">
                <a:latin typeface="Calibri"/>
                <a:cs typeface="Calibri"/>
              </a:rPr>
              <a:t> to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unique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stored. </a:t>
            </a:r>
            <a:r>
              <a:rPr dirty="0" sz="1100">
                <a:latin typeface="Calibri"/>
                <a:cs typeface="Calibri"/>
              </a:rPr>
              <a:t>Choose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 use.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you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Recipients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opens.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subset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records 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sorting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filtering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list.</a:t>
            </a:r>
            <a:endParaRPr sz="1100">
              <a:latin typeface="Calibri"/>
              <a:cs typeface="Calibri"/>
            </a:endParaRPr>
          </a:p>
          <a:p>
            <a:pPr marL="12700" marR="85090">
              <a:lnSpc>
                <a:spcPct val="118200"/>
              </a:lnSpc>
              <a:spcBef>
                <a:spcPts val="990"/>
              </a:spcBef>
            </a:pPr>
            <a:r>
              <a:rPr dirty="0" sz="1100" b="1">
                <a:latin typeface="Calibri"/>
                <a:cs typeface="Calibri"/>
              </a:rPr>
              <a:t>Step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3: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Add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fields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main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document:</a:t>
            </a:r>
            <a:r>
              <a:rPr dirty="0" sz="1100" spc="2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still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blank,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information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copy.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hyperlinks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task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pane.</a:t>
            </a:r>
            <a:endParaRPr sz="1100">
              <a:latin typeface="Calibri"/>
              <a:cs typeface="Calibri"/>
            </a:endParaRPr>
          </a:p>
          <a:p>
            <a:pPr marL="12700" marR="43180">
              <a:lnSpc>
                <a:spcPct val="116399"/>
              </a:lnSpc>
              <a:spcBef>
                <a:spcPts val="1005"/>
              </a:spcBef>
            </a:pPr>
            <a:r>
              <a:rPr dirty="0" sz="1100" b="1">
                <a:latin typeface="Calibri"/>
                <a:cs typeface="Calibri"/>
              </a:rPr>
              <a:t>Match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fields: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placeholders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locations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you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unique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appear.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100" b="1">
                <a:latin typeface="Calibri"/>
                <a:cs typeface="Calibri"/>
              </a:rPr>
              <a:t>Step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4: </a:t>
            </a:r>
            <a:r>
              <a:rPr dirty="0" sz="1100" spc="-10" b="1">
                <a:latin typeface="Calibri"/>
                <a:cs typeface="Calibri"/>
              </a:rPr>
              <a:t>Preview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merge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 then</a:t>
            </a:r>
            <a:r>
              <a:rPr dirty="0" sz="1100" spc="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complete </a:t>
            </a:r>
            <a:r>
              <a:rPr dirty="0" sz="1100" spc="-25" b="1">
                <a:latin typeface="Calibri"/>
                <a:cs typeface="Calibri"/>
              </a:rPr>
              <a:t>it:</a:t>
            </a:r>
            <a:endParaRPr sz="1100">
              <a:latin typeface="Calibri"/>
              <a:cs typeface="Calibri"/>
            </a:endParaRPr>
          </a:p>
          <a:p>
            <a:pPr marL="12700" marR="466090">
              <a:lnSpc>
                <a:spcPct val="116399"/>
              </a:lnSpc>
              <a:spcBef>
                <a:spcPts val="1005"/>
              </a:spcBef>
            </a:pPr>
            <a:r>
              <a:rPr dirty="0" sz="1100" spc="-10" b="1">
                <a:latin typeface="Calibri"/>
                <a:cs typeface="Calibri"/>
              </a:rPr>
              <a:t>Preview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merge: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preview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you </a:t>
            </a:r>
            <a:r>
              <a:rPr dirty="0" sz="1100">
                <a:latin typeface="Calibri"/>
                <a:cs typeface="Calibri"/>
              </a:rPr>
              <a:t>actually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complete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merge.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spc="-10" b="1">
                <a:latin typeface="Calibri"/>
                <a:cs typeface="Calibri"/>
              </a:rPr>
              <a:t>Complete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the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merge:</a:t>
            </a:r>
            <a:r>
              <a:rPr dirty="0" sz="1100">
                <a:latin typeface="Calibri"/>
                <a:cs typeface="Calibri"/>
              </a:rPr>
              <a:t>Now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depends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are</a:t>
            </a:r>
            <a:r>
              <a:rPr dirty="0" sz="1100" spc="-10">
                <a:latin typeface="Calibri"/>
                <a:cs typeface="Calibri"/>
              </a:rPr>
              <a:t> creating.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400" spc="-10" b="1">
                <a:latin typeface="Calibri"/>
                <a:cs typeface="Calibri"/>
              </a:rPr>
              <a:t>Table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made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graphics.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100" b="1">
                <a:latin typeface="Calibri"/>
                <a:cs typeface="Calibri"/>
              </a:rPr>
              <a:t>To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create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table-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using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insert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table</a:t>
            </a:r>
            <a:r>
              <a:rPr dirty="0" sz="1100" spc="-20" b="1">
                <a:latin typeface="Calibri"/>
                <a:cs typeface="Calibri"/>
              </a:rPr>
              <a:t> icon</a:t>
            </a:r>
            <a:endParaRPr sz="1100">
              <a:latin typeface="Calibri"/>
              <a:cs typeface="Calibri"/>
            </a:endParaRPr>
          </a:p>
          <a:p>
            <a:pPr marL="12700" marR="167640">
              <a:lnSpc>
                <a:spcPct val="117300"/>
              </a:lnSpc>
              <a:spcBef>
                <a:spcPts val="1000"/>
              </a:spcBef>
            </a:pP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Insert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Table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icon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on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the </a:t>
            </a:r>
            <a:r>
              <a:rPr dirty="0" sz="1100" b="1">
                <a:latin typeface="Calibri"/>
                <a:cs typeface="Calibri"/>
              </a:rPr>
              <a:t>standard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toolbar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grid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you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0">
                <a:latin typeface="Calibri"/>
                <a:cs typeface="Calibri"/>
              </a:rPr>
              <a:t> required.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100" b="1">
                <a:latin typeface="Calibri"/>
                <a:cs typeface="Calibri"/>
              </a:rPr>
              <a:t>Steps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of</a:t>
            </a:r>
            <a:r>
              <a:rPr dirty="0" sz="1100" spc="-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editing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MS-</a:t>
            </a:r>
            <a:r>
              <a:rPr dirty="0" sz="1100" b="1">
                <a:latin typeface="Calibri"/>
                <a:cs typeface="Calibri"/>
              </a:rPr>
              <a:t>Word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  <a:p>
            <a:pPr marL="469900" marR="120650" indent="-229235">
              <a:lnSpc>
                <a:spcPct val="116399"/>
              </a:lnSpc>
              <a:spcBef>
                <a:spcPts val="101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MS-</a:t>
            </a:r>
            <a:r>
              <a:rPr dirty="0" sz="1100">
                <a:latin typeface="Calibri"/>
                <a:cs typeface="Calibri"/>
              </a:rPr>
              <a:t>Word table: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table.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Tab</a:t>
            </a:r>
            <a:r>
              <a:rPr dirty="0" sz="1100" spc="-1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click.</a:t>
            </a:r>
            <a:endParaRPr sz="1100">
              <a:latin typeface="Calibri"/>
              <a:cs typeface="Calibri"/>
            </a:endParaRPr>
          </a:p>
          <a:p>
            <a:pPr marL="469900" marR="257175" indent="-229235">
              <a:lnSpc>
                <a:spcPts val="1560"/>
              </a:lnSpc>
              <a:spcBef>
                <a:spcPts val="70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resize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widths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widths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by </a:t>
            </a:r>
            <a:r>
              <a:rPr dirty="0" sz="1100">
                <a:latin typeface="Calibri"/>
                <a:cs typeface="Calibri"/>
              </a:rPr>
              <a:t>clicking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dividers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dragging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mouse.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Font typeface="Calibri"/>
              <a:buAutoNum type="alphaLcParenR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Aligning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data/text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palette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toolbar 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align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dirty="0" sz="1100">
                <a:latin typeface="Calibri"/>
                <a:cs typeface="Calibri"/>
              </a:rPr>
              <a:t>text.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can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‘align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left’,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‘align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right’,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‘justify’.</a:t>
            </a:r>
            <a:endParaRPr sz="1100">
              <a:latin typeface="Calibri"/>
              <a:cs typeface="Calibri"/>
            </a:endParaRPr>
          </a:p>
          <a:p>
            <a:pPr marL="469900" marR="94615" indent="-229235">
              <a:lnSpc>
                <a:spcPct val="117000"/>
              </a:lnSpc>
              <a:spcBef>
                <a:spcPts val="20"/>
              </a:spcBef>
              <a:buFont typeface="Calibri"/>
              <a:buAutoNum type="alphaLcParenR" startAt="4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column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column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I-bean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small,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downward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arrow.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Click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just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columns.</a:t>
            </a:r>
            <a:endParaRPr sz="1100">
              <a:latin typeface="Calibri"/>
              <a:cs typeface="Calibri"/>
            </a:endParaRPr>
          </a:p>
          <a:p>
            <a:pPr marL="469900" marR="5080" indent="-229235">
              <a:lnSpc>
                <a:spcPts val="1540"/>
              </a:lnSpc>
              <a:spcBef>
                <a:spcPts val="80"/>
              </a:spcBef>
              <a:buFont typeface="Calibri"/>
              <a:buAutoNum type="alphaLcParenR" startAt="4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rows:Move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outside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row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select,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cursor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I-bean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small,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thick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pointing</a:t>
            </a:r>
            <a:endParaRPr sz="1100">
              <a:latin typeface="Calibri"/>
              <a:cs typeface="Calibri"/>
            </a:endParaRPr>
          </a:p>
          <a:p>
            <a:pPr marL="469900" marR="154940">
              <a:lnSpc>
                <a:spcPts val="1540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arrow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right. Click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row. If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just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drag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mouse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rows.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426465"/>
            <a:ext cx="5501640" cy="2834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9494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212725" indent="-229235">
              <a:lnSpc>
                <a:spcPct val="116399"/>
              </a:lnSpc>
              <a:spcBef>
                <a:spcPts val="1675"/>
              </a:spcBef>
              <a:buFont typeface="Calibri"/>
              <a:buAutoNum type="alphaLcParenR" startAt="6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whole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anywhere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inside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19"/>
              </a:spcBef>
              <a:buFont typeface="Calibri"/>
              <a:buAutoNum type="alphaLcParenR" startAt="6"/>
              <a:tabLst>
                <a:tab pos="241935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existing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row</a:t>
            </a:r>
            <a:endParaRPr sz="1100">
              <a:latin typeface="Calibri"/>
              <a:cs typeface="Calibri"/>
            </a:endParaRPr>
          </a:p>
          <a:p>
            <a:pPr marL="241300" marR="37465">
              <a:lnSpc>
                <a:spcPct val="116399"/>
              </a:lnSpc>
              <a:spcBef>
                <a:spcPts val="25"/>
              </a:spcBef>
            </a:pP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 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insert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appropriate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options: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left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columns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below.</a:t>
            </a:r>
            <a:endParaRPr sz="1100">
              <a:latin typeface="Calibri"/>
              <a:cs typeface="Calibri"/>
            </a:endParaRPr>
          </a:p>
          <a:p>
            <a:pPr marL="241300" marR="5080" indent="-229235">
              <a:lnSpc>
                <a:spcPts val="1560"/>
              </a:lnSpc>
              <a:spcBef>
                <a:spcPts val="70"/>
              </a:spcBef>
              <a:buFont typeface="Calibri"/>
              <a:buAutoNum type="alphaLcParenR" startAt="8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row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column(s)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row(s)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10">
                <a:latin typeface="Calibri"/>
                <a:cs typeface="Calibri"/>
              </a:rPr>
              <a:t>delete.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point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delete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either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rows.</a:t>
            </a:r>
            <a:endParaRPr sz="1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Calibri"/>
              <a:buAutoNum type="alphaLcParenR" startAt="8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wish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make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100">
                <a:latin typeface="Calibri"/>
                <a:cs typeface="Calibri"/>
              </a:rPr>
              <a:t>menu,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merge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cells.</a:t>
            </a:r>
            <a:endParaRPr sz="1100">
              <a:latin typeface="Calibri"/>
              <a:cs typeface="Calibri"/>
            </a:endParaRPr>
          </a:p>
          <a:p>
            <a:pPr marL="241300" marR="54610" indent="-229235">
              <a:lnSpc>
                <a:spcPct val="116399"/>
              </a:lnSpc>
              <a:spcBef>
                <a:spcPts val="25"/>
              </a:spcBef>
              <a:buFont typeface="Calibri"/>
              <a:buAutoNum type="alphaLcParenR" startAt="10"/>
              <a:tabLst>
                <a:tab pos="2413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split.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menu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dialog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displayed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columns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 wish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enter.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1031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algn="ctr" marL="146685" marR="143510" indent="3810">
              <a:lnSpc>
                <a:spcPct val="185000"/>
              </a:lnSpc>
              <a:spcBef>
                <a:spcPts val="665"/>
              </a:spcBef>
            </a:pPr>
            <a:r>
              <a:rPr dirty="0" sz="1200" b="1">
                <a:latin typeface="Calibri"/>
                <a:cs typeface="Calibri"/>
              </a:rPr>
              <a:t>Unit</a:t>
            </a:r>
            <a:r>
              <a:rPr dirty="0" sz="1200" spc="-50" b="1">
                <a:latin typeface="Calibri"/>
                <a:cs typeface="Calibri"/>
              </a:rPr>
              <a:t> 3</a:t>
            </a:r>
            <a:r>
              <a:rPr dirty="0" sz="1200" spc="50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41552" y="1609978"/>
          <a:ext cx="5955030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/>
                <a:gridCol w="1286510"/>
                <a:gridCol w="1143000"/>
                <a:gridCol w="1381125"/>
                <a:gridCol w="1155064"/>
              </a:tblGrid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Insert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Format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Window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Help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2390">
                <a:tc>
                  <a:txBody>
                    <a:bodyPr/>
                    <a:lstStyle/>
                    <a:p>
                      <a:pPr marL="69850" marR="49657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Cells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Rows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149225">
                        <a:lnSpc>
                          <a:spcPts val="1460"/>
                        </a:lnSpc>
                        <a:spcBef>
                          <a:spcPts val="3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Columns Worksheet Charts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142875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Page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break Function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Name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Comment Picture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252729">
                        <a:lnSpc>
                          <a:spcPts val="1460"/>
                        </a:lnSpc>
                        <a:spcBef>
                          <a:spcPts val="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Map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Object hyperlink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878205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Cells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Rows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732790">
                        <a:lnSpc>
                          <a:spcPts val="1460"/>
                        </a:lnSpc>
                        <a:spcBef>
                          <a:spcPts val="3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Column Sheet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451484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Auto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format Conditional formatting Style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747395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Sort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Filter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440055">
                        <a:lnSpc>
                          <a:spcPts val="1460"/>
                        </a:lnSpc>
                        <a:spcBef>
                          <a:spcPts val="35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Form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Subtotals Validation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ts val="142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Table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8001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columns Template wizard Consolidate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Group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outline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296545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external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data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9657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window Arrange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858519">
                        <a:lnSpc>
                          <a:spcPts val="1460"/>
                        </a:lnSpc>
                        <a:spcBef>
                          <a:spcPts val="35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Hide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Unhide Split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ts val="142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Freeze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panes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3208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Microsoft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excel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help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254635">
                        <a:lnSpc>
                          <a:spcPts val="1460"/>
                        </a:lnSpc>
                        <a:spcBef>
                          <a:spcPts val="3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Contents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index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just" marL="66675" marR="287655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What’s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this?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Microsoft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on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web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just" marL="66675" marR="69215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Lotus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2-3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help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Microsoft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excel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4743703"/>
            <a:ext cx="5742940" cy="494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Move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copy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work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sheet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Move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worksheet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moved.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selection.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upper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area.</a:t>
            </a:r>
            <a:endParaRPr sz="1200">
              <a:latin typeface="Calibri"/>
              <a:cs typeface="Calibri"/>
            </a:endParaRPr>
          </a:p>
          <a:p>
            <a:pPr marL="469900" marR="5080" indent="-229235">
              <a:lnSpc>
                <a:spcPts val="1700"/>
              </a:lnSpc>
              <a:spcBef>
                <a:spcPts val="8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source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area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destination.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replaced.</a:t>
            </a:r>
            <a:endParaRPr sz="1200">
              <a:latin typeface="Calibri"/>
              <a:cs typeface="Calibri"/>
            </a:endParaRPr>
          </a:p>
          <a:p>
            <a:pPr marL="469900" marR="166370" indent="-229235">
              <a:lnSpc>
                <a:spcPts val="1680"/>
              </a:lnSpc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cancelled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visible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5">
                <a:latin typeface="Calibri"/>
                <a:cs typeface="Calibri"/>
              </a:rPr>
              <a:t> is </a:t>
            </a:r>
            <a:r>
              <a:rPr dirty="0" sz="1200" spc="-10">
                <a:latin typeface="Calibri"/>
                <a:cs typeface="Calibri"/>
              </a:rPr>
              <a:t>completed.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latin typeface="Calibri"/>
                <a:cs typeface="Calibri"/>
              </a:rPr>
              <a:t>Copy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worksheet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moved.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selection.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upper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area.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Graphics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worksheet</a:t>
            </a:r>
            <a:endParaRPr sz="1200">
              <a:latin typeface="Calibri"/>
              <a:cs typeface="Calibri"/>
            </a:endParaRPr>
          </a:p>
          <a:p>
            <a:pPr marL="241300" marR="345440">
              <a:lnSpc>
                <a:spcPct val="116700"/>
              </a:lnSpc>
              <a:spcBef>
                <a:spcPts val="1010"/>
              </a:spcBef>
            </a:pPr>
            <a:r>
              <a:rPr dirty="0" sz="1200" spc="-10">
                <a:latin typeface="Calibri"/>
                <a:cs typeface="Calibri"/>
              </a:rPr>
              <a:t>Graphics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drawings,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Clipart,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shapes,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charts.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Types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charts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426465"/>
            <a:ext cx="5518785" cy="9077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21209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152400" indent="-229235">
              <a:lnSpc>
                <a:spcPct val="116700"/>
              </a:lnSpc>
              <a:spcBef>
                <a:spcPts val="1650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excellent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categories.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 </a:t>
            </a:r>
            <a:r>
              <a:rPr dirty="0" sz="1200">
                <a:latin typeface="Calibri"/>
                <a:cs typeface="Calibri"/>
              </a:rPr>
              <a:t>showing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X-</a:t>
            </a:r>
            <a:r>
              <a:rPr dirty="0" sz="1200" spc="-20">
                <a:latin typeface="Calibri"/>
                <a:cs typeface="Calibri"/>
              </a:rPr>
              <a:t>axis.</a:t>
            </a:r>
            <a:endParaRPr sz="1200">
              <a:latin typeface="Calibri"/>
              <a:cs typeface="Calibri"/>
            </a:endParaRPr>
          </a:p>
          <a:p>
            <a:pPr marL="241300" marR="278130" indent="-229235">
              <a:lnSpc>
                <a:spcPts val="168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 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extended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horizontally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vertically.</a:t>
            </a:r>
            <a:endParaRPr sz="1200">
              <a:latin typeface="Calibri"/>
              <a:cs typeface="Calibri"/>
            </a:endParaRPr>
          </a:p>
          <a:p>
            <a:pPr marL="241300" marR="95885" indent="-229235">
              <a:lnSpc>
                <a:spcPts val="168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Cylinder,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pyramid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cones, cylinders,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pyramids instead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rectangles.</a:t>
            </a:r>
            <a:endParaRPr sz="1200">
              <a:latin typeface="Calibri"/>
              <a:cs typeface="Calibri"/>
            </a:endParaRPr>
          </a:p>
          <a:p>
            <a:pPr marL="241300" marR="88900" indent="-229235">
              <a:lnSpc>
                <a:spcPts val="1680"/>
              </a:lnSpc>
              <a:spcBef>
                <a:spcPts val="20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categories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Suggests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continuous,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measure 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line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0"/>
              </a:spcBef>
            </a:pP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correct.</a:t>
            </a:r>
            <a:endParaRPr sz="1200">
              <a:latin typeface="Calibri"/>
              <a:cs typeface="Calibri"/>
            </a:endParaRPr>
          </a:p>
          <a:p>
            <a:pPr marL="241300" marR="131445" indent="-229235">
              <a:lnSpc>
                <a:spcPct val="116700"/>
              </a:lnSpc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Pie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percentages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whole.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exploded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choice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emphasize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category.</a:t>
            </a:r>
            <a:endParaRPr sz="1200">
              <a:latin typeface="Calibri"/>
              <a:cs typeface="Calibri"/>
            </a:endParaRPr>
          </a:p>
          <a:p>
            <a:pPr marL="241300" marR="102235" indent="-229235">
              <a:lnSpc>
                <a:spcPct val="116700"/>
              </a:lnSpc>
              <a:spcBef>
                <a:spcPts val="20"/>
              </a:spcBef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Scatter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correlations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X-</a:t>
            </a:r>
            <a:r>
              <a:rPr dirty="0" sz="1200" spc="-20">
                <a:latin typeface="Calibri"/>
                <a:cs typeface="Calibri"/>
              </a:rPr>
              <a:t>axis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</a:t>
            </a:r>
            <a:r>
              <a:rPr dirty="0" sz="1200" spc="-20">
                <a:latin typeface="Calibri"/>
                <a:cs typeface="Calibri"/>
              </a:rPr>
              <a:t>axis.</a:t>
            </a:r>
            <a:endParaRPr sz="1200">
              <a:latin typeface="Calibri"/>
              <a:cs typeface="Calibri"/>
            </a:endParaRPr>
          </a:p>
          <a:p>
            <a:pPr marL="241300" marR="83185" indent="-229235">
              <a:lnSpc>
                <a:spcPct val="116700"/>
              </a:lnSpc>
              <a:spcBef>
                <a:spcPts val="5"/>
              </a:spcBef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Area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emphasize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combined.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pie </a:t>
            </a:r>
            <a:r>
              <a:rPr dirty="0" sz="1200" spc="-10">
                <a:latin typeface="Calibri"/>
                <a:cs typeface="Calibri"/>
              </a:rPr>
              <a:t>chart.</a:t>
            </a:r>
            <a:endParaRPr sz="1200">
              <a:latin typeface="Calibri"/>
              <a:cs typeface="Calibri"/>
            </a:endParaRPr>
          </a:p>
          <a:p>
            <a:pPr marL="241300" marR="288290" indent="-229235">
              <a:lnSpc>
                <a:spcPct val="116700"/>
              </a:lnSpc>
              <a:spcBef>
                <a:spcPts val="20"/>
              </a:spcBef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Doughnut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series contributed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wholes 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comparisons</a:t>
            </a:r>
            <a:r>
              <a:rPr dirty="0" sz="1200">
                <a:latin typeface="Calibri"/>
                <a:cs typeface="Calibri"/>
              </a:rPr>
              <a:t> 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amounts.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5"/>
              </a:spcBef>
              <a:buAutoNum type="arabicPeriod" startAt="5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Rader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separate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axis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category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radiating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centre.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AutoNum type="arabicPeriod" startAt="5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Surface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axes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interact.</a:t>
            </a:r>
            <a:endParaRPr sz="1200">
              <a:latin typeface="Calibri"/>
              <a:cs typeface="Calibri"/>
            </a:endParaRPr>
          </a:p>
          <a:p>
            <a:pPr marL="240029" marR="290195" indent="-227965">
              <a:lnSpc>
                <a:spcPts val="1700"/>
              </a:lnSpc>
              <a:spcBef>
                <a:spcPts val="80"/>
              </a:spcBef>
              <a:buAutoNum type="arabicPeriod" startAt="5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Bubble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scatter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reflects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dimension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chart.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AutoNum type="arabicPeriod" startAt="5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Stock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charts: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activity.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Crating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chart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graphs</a:t>
            </a:r>
            <a:endParaRPr sz="1200">
              <a:latin typeface="Calibri"/>
              <a:cs typeface="Calibri"/>
            </a:endParaRPr>
          </a:p>
          <a:p>
            <a:pPr marL="274955" indent="-262255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274955" algn="l"/>
              </a:tabLst>
            </a:pP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already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workbook.</a:t>
            </a:r>
            <a:endParaRPr sz="1200">
              <a:latin typeface="Calibri"/>
              <a:cs typeface="Calibri"/>
            </a:endParaRPr>
          </a:p>
          <a:p>
            <a:pPr marL="241300" marR="136525" indent="-229235">
              <a:lnSpc>
                <a:spcPct val="116700"/>
              </a:lnSpc>
              <a:spcBef>
                <a:spcPts val="25"/>
              </a:spcBef>
              <a:buAutoNum type="arabicPeriod"/>
              <a:tabLst>
                <a:tab pos="241300" algn="l"/>
                <a:tab pos="274955" algn="l"/>
              </a:tabLst>
            </a:pPr>
            <a:r>
              <a:rPr dirty="0" sz="1200">
                <a:latin typeface="Calibri"/>
                <a:cs typeface="Calibri"/>
              </a:rPr>
              <a:t>	Enter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worksheet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highlight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headers.</a:t>
            </a:r>
            <a:endParaRPr sz="1200">
              <a:latin typeface="Calibri"/>
              <a:cs typeface="Calibri"/>
            </a:endParaRPr>
          </a:p>
          <a:p>
            <a:pPr marL="241300" marR="5080" indent="-229235">
              <a:lnSpc>
                <a:spcPct val="1167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standard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toolbar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dialog </a:t>
            </a:r>
            <a:r>
              <a:rPr dirty="0" sz="1200" spc="-20">
                <a:latin typeface="Calibri"/>
                <a:cs typeface="Calibri"/>
              </a:rPr>
              <a:t>box.</a:t>
            </a:r>
            <a:endParaRPr sz="1200">
              <a:latin typeface="Calibri"/>
              <a:cs typeface="Calibri"/>
            </a:endParaRPr>
          </a:p>
          <a:p>
            <a:pPr marL="241300" marR="295275" indent="-229235">
              <a:lnSpc>
                <a:spcPts val="1700"/>
              </a:lnSpc>
              <a:spcBef>
                <a:spcPts val="80"/>
              </a:spcBef>
              <a:buFont typeface="Calibri"/>
              <a:buAutoNum type="arabicPeriod"/>
              <a:tabLst>
                <a:tab pos="241300" algn="l"/>
              </a:tabLst>
            </a:pPr>
            <a:r>
              <a:rPr dirty="0" sz="1200" b="1">
                <a:latin typeface="Calibri"/>
                <a:cs typeface="Calibri"/>
              </a:rPr>
              <a:t>Chart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type: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necessary.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click ‘Next’.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40"/>
              </a:spcBef>
              <a:buFont typeface="Calibri"/>
              <a:buAutoNum type="arabicPeriod"/>
              <a:tabLst>
                <a:tab pos="242570" algn="l"/>
              </a:tabLst>
            </a:pPr>
            <a:r>
              <a:rPr dirty="0" sz="1200" b="1">
                <a:latin typeface="Calibri"/>
                <a:cs typeface="Calibri"/>
              </a:rPr>
              <a:t>Chart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source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click </a:t>
            </a:r>
            <a:r>
              <a:rPr dirty="0" sz="1200" spc="-10">
                <a:latin typeface="Calibri"/>
                <a:cs typeface="Calibri"/>
              </a:rPr>
              <a:t>‘Next’.</a:t>
            </a:r>
            <a:endParaRPr sz="1200">
              <a:latin typeface="Calibri"/>
              <a:cs typeface="Calibri"/>
            </a:endParaRPr>
          </a:p>
          <a:p>
            <a:pPr marL="241300" marR="64769" indent="-229235">
              <a:lnSpc>
                <a:spcPct val="116700"/>
              </a:lnSpc>
              <a:spcBef>
                <a:spcPts val="5"/>
              </a:spcBef>
              <a:buFont typeface="Calibri"/>
              <a:buAutoNum type="arabicPeriod"/>
              <a:tabLst>
                <a:tab pos="241300" algn="l"/>
              </a:tabLst>
            </a:pPr>
            <a:r>
              <a:rPr dirty="0" sz="1200" b="1">
                <a:latin typeface="Calibri"/>
                <a:cs typeface="Calibri"/>
              </a:rPr>
              <a:t>Chart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option: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X-axis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</a:t>
            </a:r>
            <a:r>
              <a:rPr dirty="0" sz="1200">
                <a:latin typeface="Calibri"/>
                <a:cs typeface="Calibri"/>
              </a:rPr>
              <a:t>axis.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 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axes,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legend,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labels 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by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‘Next’to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options.</a:t>
            </a:r>
            <a:endParaRPr sz="1200">
              <a:latin typeface="Calibri"/>
              <a:cs typeface="Calibri"/>
            </a:endParaRPr>
          </a:p>
          <a:p>
            <a:pPr marL="241300" marR="37465" indent="-229235">
              <a:lnSpc>
                <a:spcPct val="116799"/>
              </a:lnSpc>
              <a:spcBef>
                <a:spcPts val="20"/>
              </a:spcBef>
              <a:buFont typeface="Calibri"/>
              <a:buAutoNum type="arabicPeriod"/>
              <a:tabLst>
                <a:tab pos="241300" algn="l"/>
              </a:tabLst>
            </a:pPr>
            <a:r>
              <a:rPr dirty="0" sz="1200" b="1">
                <a:latin typeface="Calibri"/>
                <a:cs typeface="Calibri"/>
              </a:rPr>
              <a:t>Chart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location: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blank </a:t>
            </a:r>
            <a:r>
              <a:rPr dirty="0" sz="1200">
                <a:latin typeface="Calibri"/>
                <a:cs typeface="Calibri"/>
              </a:rPr>
              <a:t>worksheet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object 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embedded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sheet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worksheet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drop-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‘Finish’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chart.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911097"/>
            <a:ext cx="5711825" cy="8754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Formula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MS-</a:t>
            </a:r>
            <a:r>
              <a:rPr dirty="0" sz="1200" spc="-20" b="1"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  <a:p>
            <a:pPr marL="12700" marR="274320">
              <a:lnSpc>
                <a:spcPct val="118500"/>
              </a:lnSpc>
              <a:spcBef>
                <a:spcPts val="955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MS-</a:t>
            </a:r>
            <a:r>
              <a:rPr dirty="0" sz="1200">
                <a:latin typeface="Calibri"/>
                <a:cs typeface="Calibri"/>
              </a:rPr>
              <a:t>Excel,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references,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operators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parentheses.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always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(=)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sign.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spc="-10" b="1">
                <a:latin typeface="Calibri"/>
                <a:cs typeface="Calibri"/>
              </a:rPr>
              <a:t>Writing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formula</a:t>
            </a:r>
            <a:endParaRPr sz="1200">
              <a:latin typeface="Calibri"/>
              <a:cs typeface="Calibri"/>
            </a:endParaRPr>
          </a:p>
          <a:p>
            <a:pPr marL="12700" marR="49212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Writing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little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class.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Excel </a:t>
            </a:r>
            <a:r>
              <a:rPr dirty="0" sz="1200">
                <a:latin typeface="Calibri"/>
                <a:cs typeface="Calibri"/>
              </a:rPr>
              <a:t>formulas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(=)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Steps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entering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formula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MS-</a:t>
            </a:r>
            <a:r>
              <a:rPr dirty="0" sz="1200" spc="-20" b="1"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7500"/>
              </a:lnSpc>
              <a:spcBef>
                <a:spcPts val="994"/>
              </a:spcBef>
            </a:pPr>
            <a:r>
              <a:rPr dirty="0" sz="1200" b="1">
                <a:latin typeface="Calibri"/>
                <a:cs typeface="Calibri"/>
              </a:rPr>
              <a:t>Step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Entering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data: </a:t>
            </a:r>
            <a:r>
              <a:rPr dirty="0" sz="1200">
                <a:latin typeface="Calibri"/>
                <a:cs typeface="Calibri"/>
              </a:rPr>
              <a:t>It’s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spreadsheet before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problems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 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later.</a:t>
            </a:r>
            <a:endParaRPr sz="1200">
              <a:latin typeface="Calibri"/>
              <a:cs typeface="Calibri"/>
            </a:endParaRPr>
          </a:p>
          <a:p>
            <a:pPr marL="12700" marR="57785">
              <a:lnSpc>
                <a:spcPct val="118300"/>
              </a:lnSpc>
              <a:spcBef>
                <a:spcPts val="960"/>
              </a:spcBef>
            </a:pPr>
            <a:r>
              <a:rPr dirty="0" sz="1200" b="1">
                <a:latin typeface="Calibri"/>
                <a:cs typeface="Calibri"/>
              </a:rPr>
              <a:t>Step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2: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Add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equal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(=)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sign: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always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start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 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answer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appear.</a:t>
            </a:r>
            <a:endParaRPr sz="1200">
              <a:latin typeface="Calibri"/>
              <a:cs typeface="Calibri"/>
            </a:endParaRPr>
          </a:p>
          <a:p>
            <a:pPr marL="12700" marR="157480">
              <a:lnSpc>
                <a:spcPct val="118300"/>
              </a:lnSpc>
              <a:spcBef>
                <a:spcPts val="965"/>
              </a:spcBef>
            </a:pPr>
            <a:r>
              <a:rPr dirty="0" sz="1200" b="1">
                <a:latin typeface="Calibri"/>
                <a:cs typeface="Calibri"/>
              </a:rPr>
              <a:t>Step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Add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cell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references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pointing: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step-</a:t>
            </a:r>
            <a:r>
              <a:rPr dirty="0" sz="1200">
                <a:latin typeface="Calibri"/>
                <a:cs typeface="Calibri"/>
              </a:rPr>
              <a:t>2,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have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choices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references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spreadsheet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formula.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Functions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MS-</a:t>
            </a:r>
            <a:r>
              <a:rPr dirty="0" sz="1200" spc="-20" b="1"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  <a:p>
            <a:pPr marL="12700" marR="325120">
              <a:lnSpc>
                <a:spcPct val="118300"/>
              </a:lnSpc>
              <a:spcBef>
                <a:spcPts val="960"/>
              </a:spcBef>
            </a:pPr>
            <a:r>
              <a:rPr dirty="0" sz="1200" spc="-10">
                <a:latin typeface="Calibri"/>
                <a:cs typeface="Calibri"/>
              </a:rPr>
              <a:t>Functions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minimizes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large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two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are:</a:t>
            </a:r>
            <a:endParaRPr sz="1200">
              <a:latin typeface="Calibri"/>
              <a:cs typeface="Calibri"/>
            </a:endParaRPr>
          </a:p>
          <a:p>
            <a:pPr marL="469900" marR="259079" indent="-229235">
              <a:lnSpc>
                <a:spcPct val="118300"/>
              </a:lnSpc>
              <a:spcBef>
                <a:spcPts val="960"/>
              </a:spcBef>
              <a:buAutoNum type="alphaLcParenR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User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defined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function: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their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purpose,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users.</a:t>
            </a:r>
            <a:endParaRPr sz="1200">
              <a:latin typeface="Calibri"/>
              <a:cs typeface="Calibri"/>
            </a:endParaRPr>
          </a:p>
          <a:p>
            <a:pPr marL="469900" marR="48260" indent="-229235">
              <a:lnSpc>
                <a:spcPct val="116700"/>
              </a:lnSpc>
              <a:buAutoNum type="alphaLcParenR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System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defined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function: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default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functionalities.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examples.</a:t>
            </a:r>
            <a:endParaRPr sz="1200">
              <a:latin typeface="Calibri"/>
              <a:cs typeface="Calibri"/>
            </a:endParaRPr>
          </a:p>
          <a:p>
            <a:pPr marL="469900" indent="-311150">
              <a:lnSpc>
                <a:spcPct val="100000"/>
              </a:lnSpc>
              <a:spcBef>
                <a:spcPts val="244"/>
              </a:spcBef>
              <a:buAutoNum type="romanUcPeriod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Mathematical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function:</a:t>
            </a:r>
            <a:endParaRPr sz="1200">
              <a:latin typeface="Calibri"/>
              <a:cs typeface="Calibri"/>
            </a:endParaRPr>
          </a:p>
          <a:p>
            <a:pPr lvl="1" marL="927735" indent="-229235">
              <a:lnSpc>
                <a:spcPct val="100000"/>
              </a:lnSpc>
              <a:spcBef>
                <a:spcPts val="260"/>
              </a:spcBef>
              <a:buAutoNum type="alphaUcPeriod"/>
              <a:tabLst>
                <a:tab pos="927735" algn="l"/>
              </a:tabLst>
            </a:pPr>
            <a:r>
              <a:rPr dirty="0" sz="1200" b="1">
                <a:latin typeface="Calibri"/>
                <a:cs typeface="Calibri"/>
              </a:rPr>
              <a:t>SUM():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calculates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range.</a:t>
            </a:r>
            <a:endParaRPr sz="1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example, =SUM(A1:A5)</a:t>
            </a:r>
            <a:endParaRPr sz="1200">
              <a:latin typeface="Calibri"/>
              <a:cs typeface="Calibri"/>
            </a:endParaRPr>
          </a:p>
          <a:p>
            <a:pPr lvl="1" marL="927100" marR="177800" indent="-228600">
              <a:lnSpc>
                <a:spcPct val="116700"/>
              </a:lnSpc>
              <a:buFont typeface="Calibri"/>
              <a:buAutoNum type="alphaUcPeriod" startAt="2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Autosum: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 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Ms-Excel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 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numbers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∑.</a:t>
            </a:r>
            <a:endParaRPr sz="1200">
              <a:latin typeface="Calibri"/>
              <a:cs typeface="Calibri"/>
            </a:endParaRPr>
          </a:p>
          <a:p>
            <a:pPr lvl="1" marL="927100" marR="259715" indent="-228600">
              <a:lnSpc>
                <a:spcPts val="1700"/>
              </a:lnSpc>
              <a:spcBef>
                <a:spcPts val="85"/>
              </a:spcBef>
              <a:buAutoNum type="alphaUcPeriod" startAt="2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AVERAGE():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calculates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10">
                <a:latin typeface="Calibri"/>
                <a:cs typeface="Calibri"/>
              </a:rPr>
              <a:t> range.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=AVERAGE(A1,A2,A3,A4)</a:t>
            </a:r>
            <a:endParaRPr sz="1200">
              <a:latin typeface="Calibri"/>
              <a:cs typeface="Calibri"/>
            </a:endParaRPr>
          </a:p>
          <a:p>
            <a:pPr lvl="1" marL="927100" marR="1478280" indent="-228600">
              <a:lnSpc>
                <a:spcPts val="1680"/>
              </a:lnSpc>
              <a:buFont typeface="Calibri"/>
              <a:buAutoNum type="alphaUcPeriod" startAt="2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MAX():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range.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=MAX(A1,A2,A3,A4)</a:t>
            </a:r>
            <a:endParaRPr sz="1200">
              <a:latin typeface="Calibri"/>
              <a:cs typeface="Calibri"/>
            </a:endParaRPr>
          </a:p>
          <a:p>
            <a:pPr lvl="1" marL="927100" marR="1423670" indent="-228600">
              <a:lnSpc>
                <a:spcPts val="1680"/>
              </a:lnSpc>
              <a:buFont typeface="Calibri"/>
              <a:buAutoNum type="alphaUcPeriod" startAt="2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MIN():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10">
                <a:latin typeface="Calibri"/>
                <a:cs typeface="Calibri"/>
              </a:rPr>
              <a:t> range.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=MIN(A1,A2,A3,A4)</a:t>
            </a:r>
            <a:endParaRPr sz="1200">
              <a:latin typeface="Calibri"/>
              <a:cs typeface="Calibri"/>
            </a:endParaRPr>
          </a:p>
          <a:p>
            <a:pPr lvl="1" marL="927735" indent="-229235">
              <a:lnSpc>
                <a:spcPct val="100000"/>
              </a:lnSpc>
              <a:spcBef>
                <a:spcPts val="145"/>
              </a:spcBef>
              <a:buFont typeface="Calibri"/>
              <a:buAutoNum type="alphaUcPeriod" startAt="2"/>
              <a:tabLst>
                <a:tab pos="927735" algn="l"/>
              </a:tabLst>
            </a:pPr>
            <a:r>
              <a:rPr dirty="0" sz="1200" b="1">
                <a:latin typeface="Calibri"/>
                <a:cs typeface="Calibri"/>
              </a:rPr>
              <a:t>COUNT():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specified</a:t>
            </a:r>
            <a:endParaRPr sz="1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range.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=COUNT(B5:B10)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14780" y="880618"/>
            <a:ext cx="5358130" cy="130619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340"/>
              </a:spcBef>
              <a:buFont typeface="Calibri"/>
              <a:buAutoNum type="romanUcPeriod" startAt="2"/>
              <a:tabLst>
                <a:tab pos="356870" algn="l"/>
              </a:tabLst>
            </a:pPr>
            <a:r>
              <a:rPr dirty="0" sz="1200" b="1">
                <a:latin typeface="Calibri"/>
                <a:cs typeface="Calibri"/>
              </a:rPr>
              <a:t>Date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  <a:p>
            <a:pPr lvl="1" marL="814069" marR="5080" indent="-228600">
              <a:lnSpc>
                <a:spcPct val="116700"/>
              </a:lnSpc>
              <a:buFont typeface="Calibri"/>
              <a:buAutoNum type="alphaLcParenR"/>
              <a:tabLst>
                <a:tab pos="814069" algn="l"/>
              </a:tabLst>
            </a:pPr>
            <a:r>
              <a:rPr dirty="0" sz="1200" b="1">
                <a:latin typeface="Calibri"/>
                <a:cs typeface="Calibri"/>
              </a:rPr>
              <a:t>Date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(year,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month,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day):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corresponding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date.</a:t>
            </a:r>
            <a:endParaRPr sz="1200">
              <a:latin typeface="Calibri"/>
              <a:cs typeface="Calibri"/>
            </a:endParaRPr>
          </a:p>
          <a:p>
            <a:pPr lvl="1" marL="814069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814069" algn="l"/>
              </a:tabLst>
            </a:pPr>
            <a:r>
              <a:rPr dirty="0" sz="1200" b="1">
                <a:latin typeface="Calibri"/>
                <a:cs typeface="Calibri"/>
              </a:rPr>
              <a:t>NOW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():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serial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 date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lvl="1" marL="814705" indent="-229235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814705" algn="l"/>
              </a:tabLst>
            </a:pPr>
            <a:r>
              <a:rPr dirty="0" sz="1200" b="1">
                <a:latin typeface="Calibri"/>
                <a:cs typeface="Calibri"/>
              </a:rPr>
              <a:t>CTRL+: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(colon)-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cell.</a:t>
            </a:r>
            <a:endParaRPr sz="1200">
              <a:latin typeface="Calibri"/>
              <a:cs typeface="Calibri"/>
            </a:endParaRPr>
          </a:p>
          <a:p>
            <a:pPr lvl="1" marL="814069" indent="-228600">
              <a:lnSpc>
                <a:spcPct val="100000"/>
              </a:lnSpc>
              <a:spcBef>
                <a:spcPts val="240"/>
              </a:spcBef>
              <a:buFont typeface="Calibri"/>
              <a:buAutoNum type="alphaLcParenR"/>
              <a:tabLst>
                <a:tab pos="814069" algn="l"/>
              </a:tabLst>
            </a:pPr>
            <a:r>
              <a:rPr dirty="0" sz="1200" b="1">
                <a:latin typeface="Calibri"/>
                <a:cs typeface="Calibri"/>
              </a:rPr>
              <a:t>CTRL+;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(semi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colon)-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cell.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78204" y="2194686"/>
            <a:ext cx="179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III.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6012" y="2164207"/>
            <a:ext cx="5672455" cy="516001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dirty="0" sz="1200" b="1">
                <a:latin typeface="Calibri"/>
                <a:cs typeface="Calibri"/>
              </a:rPr>
              <a:t>Text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  <a:p>
            <a:pPr marL="863600" marR="119380" indent="-204470">
              <a:lnSpc>
                <a:spcPts val="1680"/>
              </a:lnSpc>
              <a:spcBef>
                <a:spcPts val="95"/>
              </a:spcBef>
              <a:buFont typeface="Calibri"/>
              <a:buAutoNum type="arabicParenR"/>
              <a:tabLst>
                <a:tab pos="887730" algn="l"/>
              </a:tabLst>
            </a:pPr>
            <a:r>
              <a:rPr dirty="0" sz="1200" b="1">
                <a:latin typeface="Calibri"/>
                <a:cs typeface="Calibri"/>
              </a:rPr>
              <a:t>LEFT():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=LEFT(”Father”,3)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‘Fat’.</a:t>
            </a:r>
            <a:endParaRPr sz="1200">
              <a:latin typeface="Calibri"/>
              <a:cs typeface="Calibri"/>
            </a:endParaRPr>
          </a:p>
          <a:p>
            <a:pPr marL="863600" indent="-204470">
              <a:lnSpc>
                <a:spcPct val="100000"/>
              </a:lnSpc>
              <a:spcBef>
                <a:spcPts val="145"/>
              </a:spcBef>
              <a:buFont typeface="Calibri"/>
              <a:buAutoNum type="arabicParenR"/>
              <a:tabLst>
                <a:tab pos="863600" algn="l"/>
              </a:tabLst>
            </a:pPr>
            <a:r>
              <a:rPr dirty="0" sz="1200" b="1">
                <a:latin typeface="Calibri"/>
                <a:cs typeface="Calibri"/>
              </a:rPr>
              <a:t>MID():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middle. 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</a:t>
            </a:r>
            <a:endParaRPr sz="1200">
              <a:latin typeface="Calibri"/>
              <a:cs typeface="Calibri"/>
            </a:endParaRPr>
          </a:p>
          <a:p>
            <a:pPr marL="887730">
              <a:lnSpc>
                <a:spcPct val="100000"/>
              </a:lnSpc>
              <a:spcBef>
                <a:spcPts val="240"/>
              </a:spcBef>
            </a:pPr>
            <a:r>
              <a:rPr dirty="0" sz="1200" spc="-10">
                <a:latin typeface="Calibri"/>
                <a:cs typeface="Calibri"/>
              </a:rPr>
              <a:t>=MID(”Father”,3,3)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‘the’.</a:t>
            </a:r>
            <a:endParaRPr sz="1200">
              <a:latin typeface="Calibri"/>
              <a:cs typeface="Calibri"/>
            </a:endParaRPr>
          </a:p>
          <a:p>
            <a:pPr marL="863600" marR="63500" indent="-204470">
              <a:lnSpc>
                <a:spcPct val="116700"/>
              </a:lnSpc>
              <a:spcBef>
                <a:spcPts val="25"/>
              </a:spcBef>
              <a:buFont typeface="Calibri"/>
              <a:buAutoNum type="arabicParenR" startAt="3"/>
              <a:tabLst>
                <a:tab pos="887730" algn="l"/>
              </a:tabLst>
            </a:pPr>
            <a:r>
              <a:rPr dirty="0" sz="1200" b="1">
                <a:latin typeface="Calibri"/>
                <a:cs typeface="Calibri"/>
              </a:rPr>
              <a:t>RIGHT():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=RIGHT(”Father”,3)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‘her’.</a:t>
            </a:r>
            <a:endParaRPr sz="1200">
              <a:latin typeface="Calibri"/>
              <a:cs typeface="Calibri"/>
            </a:endParaRPr>
          </a:p>
          <a:p>
            <a:pPr marL="863600" indent="-204470">
              <a:lnSpc>
                <a:spcPct val="100000"/>
              </a:lnSpc>
              <a:spcBef>
                <a:spcPts val="240"/>
              </a:spcBef>
              <a:buFont typeface="Calibri"/>
              <a:buAutoNum type="arabicParenR" startAt="3"/>
              <a:tabLst>
                <a:tab pos="863600" algn="l"/>
              </a:tabLst>
            </a:pPr>
            <a:r>
              <a:rPr dirty="0" sz="1200" b="1">
                <a:latin typeface="Calibri"/>
                <a:cs typeface="Calibri"/>
              </a:rPr>
              <a:t>LEN():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characters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string.For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</a:t>
            </a:r>
            <a:endParaRPr sz="1200">
              <a:latin typeface="Calibri"/>
              <a:cs typeface="Calibri"/>
            </a:endParaRPr>
          </a:p>
          <a:p>
            <a:pPr marL="887730">
              <a:lnSpc>
                <a:spcPct val="100000"/>
              </a:lnSpc>
              <a:spcBef>
                <a:spcPts val="240"/>
              </a:spcBef>
            </a:pPr>
            <a:r>
              <a:rPr dirty="0" sz="1200" spc="-10">
                <a:latin typeface="Calibri"/>
                <a:cs typeface="Calibri"/>
              </a:rPr>
              <a:t>=LEN(“INDIA”,)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5.</a:t>
            </a:r>
            <a:endParaRPr sz="1200">
              <a:latin typeface="Calibri"/>
              <a:cs typeface="Calibri"/>
            </a:endParaRPr>
          </a:p>
          <a:p>
            <a:pPr marL="863600" indent="-204470">
              <a:lnSpc>
                <a:spcPct val="100000"/>
              </a:lnSpc>
              <a:spcBef>
                <a:spcPts val="240"/>
              </a:spcBef>
              <a:buFont typeface="Calibri"/>
              <a:buAutoNum type="arabicParenR" startAt="5"/>
              <a:tabLst>
                <a:tab pos="863600" algn="l"/>
              </a:tabLst>
            </a:pPr>
            <a:r>
              <a:rPr dirty="0" sz="1200" b="1">
                <a:latin typeface="Calibri"/>
                <a:cs typeface="Calibri"/>
              </a:rPr>
              <a:t>PROPER():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strings</a:t>
            </a:r>
            <a:endParaRPr sz="1200">
              <a:latin typeface="Calibri"/>
              <a:cs typeface="Calibri"/>
            </a:endParaRPr>
          </a:p>
          <a:p>
            <a:pPr marL="887730" marR="54546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capital.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=PROPER(“I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Indial”),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 love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India.</a:t>
            </a:r>
            <a:endParaRPr sz="1200">
              <a:latin typeface="Calibri"/>
              <a:cs typeface="Calibri"/>
            </a:endParaRPr>
          </a:p>
          <a:p>
            <a:pPr marL="863600" indent="-204470">
              <a:lnSpc>
                <a:spcPct val="100000"/>
              </a:lnSpc>
              <a:spcBef>
                <a:spcPts val="244"/>
              </a:spcBef>
              <a:buFont typeface="Calibri"/>
              <a:buAutoNum type="arabicParenR" startAt="6"/>
              <a:tabLst>
                <a:tab pos="863600" algn="l"/>
              </a:tabLst>
            </a:pPr>
            <a:r>
              <a:rPr dirty="0" sz="1200" b="1">
                <a:latin typeface="Calibri"/>
                <a:cs typeface="Calibri"/>
              </a:rPr>
              <a:t>REPT():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character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</a:t>
            </a:r>
            <a:endParaRPr sz="1200">
              <a:latin typeface="Calibri"/>
              <a:cs typeface="Calibri"/>
            </a:endParaRPr>
          </a:p>
          <a:p>
            <a:pPr marL="887730">
              <a:lnSpc>
                <a:spcPct val="100000"/>
              </a:lnSpc>
              <a:spcBef>
                <a:spcPts val="240"/>
              </a:spcBef>
            </a:pPr>
            <a:r>
              <a:rPr dirty="0" sz="1200" spc="-10">
                <a:latin typeface="Calibri"/>
                <a:cs typeface="Calibri"/>
              </a:rPr>
              <a:t>=REPT(“*”,5),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*.</a:t>
            </a:r>
            <a:endParaRPr sz="1200">
              <a:latin typeface="Calibri"/>
              <a:cs typeface="Calibri"/>
            </a:endParaRPr>
          </a:p>
          <a:p>
            <a:pPr marL="863600" marR="5080" indent="-204470">
              <a:lnSpc>
                <a:spcPts val="1700"/>
              </a:lnSpc>
              <a:spcBef>
                <a:spcPts val="80"/>
              </a:spcBef>
              <a:buFont typeface="Calibri"/>
              <a:buAutoNum type="arabicParenR" startAt="7"/>
              <a:tabLst>
                <a:tab pos="887730" algn="l"/>
              </a:tabLst>
            </a:pPr>
            <a:r>
              <a:rPr dirty="0" sz="1200" b="1">
                <a:latin typeface="Calibri"/>
                <a:cs typeface="Calibri"/>
              </a:rPr>
              <a:t>UPPER():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capital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letters.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=UPPER(“india”),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INDIA.</a:t>
            </a:r>
            <a:endParaRPr sz="1200">
              <a:latin typeface="Calibri"/>
              <a:cs typeface="Calibri"/>
            </a:endParaRPr>
          </a:p>
          <a:p>
            <a:pPr marL="863600" indent="-204470">
              <a:lnSpc>
                <a:spcPct val="100000"/>
              </a:lnSpc>
              <a:spcBef>
                <a:spcPts val="140"/>
              </a:spcBef>
              <a:buFont typeface="Calibri"/>
              <a:buAutoNum type="arabicParenR" startAt="7"/>
              <a:tabLst>
                <a:tab pos="863600" algn="l"/>
              </a:tabLst>
            </a:pPr>
            <a:r>
              <a:rPr dirty="0" sz="1200" b="1">
                <a:latin typeface="Calibri"/>
                <a:cs typeface="Calibri"/>
              </a:rPr>
              <a:t>LOWER():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letters.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</a:t>
            </a:r>
            <a:endParaRPr sz="1200">
              <a:latin typeface="Calibri"/>
              <a:cs typeface="Calibri"/>
            </a:endParaRPr>
          </a:p>
          <a:p>
            <a:pPr marL="887730">
              <a:lnSpc>
                <a:spcPct val="100000"/>
              </a:lnSpc>
              <a:spcBef>
                <a:spcPts val="245"/>
              </a:spcBef>
            </a:pPr>
            <a:r>
              <a:rPr dirty="0" sz="1200" spc="-10">
                <a:latin typeface="Calibri"/>
                <a:cs typeface="Calibri"/>
              </a:rPr>
              <a:t>=LOWER(“INDIA”),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india.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05765" algn="l"/>
              </a:tabLst>
            </a:pPr>
            <a:r>
              <a:rPr dirty="0" sz="1200" spc="-25">
                <a:latin typeface="Calibri"/>
                <a:cs typeface="Calibri"/>
              </a:rPr>
              <a:t>IV.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b="1">
                <a:latin typeface="Calibri"/>
                <a:cs typeface="Calibri"/>
              </a:rPr>
              <a:t>Logical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</a:t>
            </a:r>
            <a:endParaRPr sz="1200">
              <a:latin typeface="Calibri"/>
              <a:cs typeface="Calibri"/>
            </a:endParaRPr>
          </a:p>
          <a:p>
            <a:pPr marL="405765" marR="129539">
              <a:lnSpc>
                <a:spcPct val="116700"/>
              </a:lnSpc>
            </a:pPr>
            <a:r>
              <a:rPr dirty="0" sz="1200" b="1">
                <a:latin typeface="Calibri"/>
                <a:cs typeface="Calibri"/>
              </a:rPr>
              <a:t>IF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(condition,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true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result,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false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result):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decisions.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condition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if</a:t>
            </a:r>
            <a:endParaRPr sz="12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condition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false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last.</a:t>
            </a:r>
            <a:endParaRPr sz="1200">
              <a:latin typeface="Calibri"/>
              <a:cs typeface="Calibri"/>
            </a:endParaRPr>
          </a:p>
          <a:p>
            <a:pPr marL="405765" marR="67310">
              <a:lnSpc>
                <a:spcPct val="1167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example,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=IF(A5&lt;100,”GOOD”,”BAD”).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Suppose,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A5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 value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‘GOOD’.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02004" y="7457058"/>
            <a:ext cx="5688330" cy="1745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Formatting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MS-</a:t>
            </a:r>
            <a:r>
              <a:rPr dirty="0" sz="1200" spc="-20" b="1">
                <a:latin typeface="Calibri"/>
                <a:cs typeface="Calibri"/>
              </a:rPr>
              <a:t>EXCEL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Formatting</a:t>
            </a:r>
            <a:r>
              <a:rPr dirty="0" sz="1200" spc="-6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cells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10"/>
              </a:spcBef>
            </a:pPr>
            <a:r>
              <a:rPr dirty="0" sz="1200" spc="-10">
                <a:latin typeface="Calibri"/>
                <a:cs typeface="Calibri"/>
              </a:rPr>
              <a:t>Formatting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facilities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entered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alignment,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changing orientation,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word-</a:t>
            </a:r>
            <a:r>
              <a:rPr dirty="0" sz="1200">
                <a:latin typeface="Calibri"/>
                <a:cs typeface="Calibri"/>
              </a:rPr>
              <a:t>wrap,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font </a:t>
            </a:r>
            <a:r>
              <a:rPr dirty="0" sz="1200">
                <a:latin typeface="Calibri"/>
                <a:cs typeface="Calibri"/>
              </a:rPr>
              <a:t>management,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removing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supplying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patterns,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protecting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cell, formatting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worksheets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functionalists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 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formatting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cell.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1249426"/>
            <a:ext cx="5725160" cy="771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Alignment</a:t>
            </a:r>
            <a:endParaRPr sz="1200">
              <a:latin typeface="Calibri"/>
              <a:cs typeface="Calibri"/>
            </a:endParaRPr>
          </a:p>
          <a:p>
            <a:pPr marL="12700" marR="45529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Alignment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towards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something.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Left,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Orientation</a:t>
            </a:r>
            <a:endParaRPr sz="1200">
              <a:latin typeface="Calibri"/>
              <a:cs typeface="Calibri"/>
            </a:endParaRPr>
          </a:p>
          <a:p>
            <a:pPr marL="12700" marR="20193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written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angled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inclination.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writing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10">
                <a:latin typeface="Calibri"/>
                <a:cs typeface="Calibri"/>
              </a:rPr>
              <a:t> orientation.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Word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wrap</a:t>
            </a:r>
            <a:endParaRPr sz="1200">
              <a:latin typeface="Calibri"/>
              <a:cs typeface="Calibri"/>
            </a:endParaRPr>
          </a:p>
          <a:p>
            <a:pPr marL="12700" marR="115570">
              <a:lnSpc>
                <a:spcPct val="1169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format&gt;cells&gt;alignment&gt;wrap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cell.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Shrink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25" b="1">
                <a:latin typeface="Calibri"/>
                <a:cs typeface="Calibri"/>
              </a:rPr>
              <a:t> fit</a:t>
            </a:r>
            <a:endParaRPr sz="1200">
              <a:latin typeface="Calibri"/>
              <a:cs typeface="Calibri"/>
            </a:endParaRPr>
          </a:p>
          <a:p>
            <a:pPr marL="12700" marR="4318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‘Shrink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fit’,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decrease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cell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make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worksheet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fit 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‘Auto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fit’,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height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 spc="-10">
                <a:latin typeface="Calibri"/>
                <a:cs typeface="Calibri"/>
              </a:rPr>
              <a:t>decreased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fonts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unchanged.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Merge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cells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merging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cells.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Font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Border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frames</a:t>
            </a:r>
            <a:endParaRPr sz="1200">
              <a:latin typeface="Calibri"/>
              <a:cs typeface="Calibri"/>
            </a:endParaRPr>
          </a:p>
          <a:p>
            <a:pPr marL="12700" marR="254635">
              <a:lnSpc>
                <a:spcPct val="118300"/>
              </a:lnSpc>
              <a:spcBef>
                <a:spcPts val="965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borders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worksheets,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width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 </a:t>
            </a:r>
            <a:r>
              <a:rPr dirty="0" sz="1200">
                <a:latin typeface="Calibri"/>
                <a:cs typeface="Calibri"/>
              </a:rPr>
              <a:t>lines,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borders.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Patterns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8500"/>
              </a:lnSpc>
              <a:spcBef>
                <a:spcPts val="955"/>
              </a:spcBef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pattern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cell,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worksheet.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Formatting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row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columns</a:t>
            </a:r>
            <a:endParaRPr sz="1200">
              <a:latin typeface="Calibri"/>
              <a:cs typeface="Calibri"/>
            </a:endParaRPr>
          </a:p>
          <a:p>
            <a:pPr marL="12700" marR="49784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width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column/row,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column/row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its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unhide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column/row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88970" y="1249426"/>
            <a:ext cx="1183005" cy="550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Unit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IV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MS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POWER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POINT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8216561"/>
            <a:ext cx="128269" cy="1197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8856640"/>
            <a:ext cx="128269" cy="11971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02004" y="1932558"/>
            <a:ext cx="5701030" cy="7733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INTRODUCTION</a:t>
            </a:r>
            <a:endParaRPr sz="1200">
              <a:latin typeface="Calibri"/>
              <a:cs typeface="Calibri"/>
            </a:endParaRPr>
          </a:p>
          <a:p>
            <a:pPr marL="12700" marR="6985">
              <a:lnSpc>
                <a:spcPct val="1173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component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Microsoft office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professional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quality presentations.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 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world.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point’s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innovative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approach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professional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Functions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presentation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package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handouts.</a:t>
            </a:r>
            <a:endParaRPr sz="1200">
              <a:latin typeface="Calibri"/>
              <a:cs typeface="Calibri"/>
            </a:endParaRPr>
          </a:p>
          <a:p>
            <a:pPr marL="469900" marR="5080" indent="-229235">
              <a:lnSpc>
                <a:spcPts val="1700"/>
              </a:lnSpc>
              <a:spcBef>
                <a:spcPts val="8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Free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drawing-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temporary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annotations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slides.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preparation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video.</a:t>
            </a:r>
            <a:endParaRPr sz="1200">
              <a:latin typeface="Calibri"/>
              <a:cs typeface="Calibri"/>
            </a:endParaRPr>
          </a:p>
          <a:p>
            <a:pPr marL="469900" marR="325755" indent="-229235">
              <a:lnSpc>
                <a:spcPts val="1680"/>
              </a:lnSpc>
              <a:spcBef>
                <a:spcPts val="95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sensitive,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templates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200" spc="-10" b="1">
                <a:latin typeface="Calibri"/>
                <a:cs typeface="Calibri"/>
              </a:rPr>
              <a:t>Applications</a:t>
            </a:r>
            <a:r>
              <a:rPr dirty="0" sz="1200" b="1">
                <a:latin typeface="Calibri"/>
                <a:cs typeface="Calibri"/>
              </a:rPr>
              <a:t> of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presentation</a:t>
            </a:r>
            <a:endParaRPr sz="1200">
              <a:latin typeface="Calibri"/>
              <a:cs typeface="Calibri"/>
            </a:endParaRPr>
          </a:p>
          <a:p>
            <a:pPr marL="469900" marR="224154" indent="-229235">
              <a:lnSpc>
                <a:spcPct val="1167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almost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organisation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competitive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market.</a:t>
            </a:r>
            <a:endParaRPr sz="1200">
              <a:latin typeface="Calibri"/>
              <a:cs typeface="Calibri"/>
            </a:endParaRPr>
          </a:p>
          <a:p>
            <a:pPr marL="469900" marR="394970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computer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audience.</a:t>
            </a:r>
            <a:endParaRPr sz="1200">
              <a:latin typeface="Calibri"/>
              <a:cs typeface="Calibri"/>
            </a:endParaRPr>
          </a:p>
          <a:p>
            <a:pPr algn="just" marL="469900" marR="537845" indent="-229235">
              <a:lnSpc>
                <a:spcPct val="116700"/>
              </a:lnSpc>
              <a:spcBef>
                <a:spcPts val="25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organisation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represent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attractive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it </a:t>
            </a:r>
            <a:r>
              <a:rPr dirty="0" sz="1200" spc="-10">
                <a:latin typeface="Calibri"/>
                <a:cs typeface="Calibri"/>
              </a:rPr>
              <a:t>worldwide.</a:t>
            </a:r>
            <a:endParaRPr sz="1200">
              <a:latin typeface="Calibri"/>
              <a:cs typeface="Calibri"/>
            </a:endParaRPr>
          </a:p>
          <a:p>
            <a:pPr algn="just" marL="469900" marR="208915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Advertising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sophisticated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represent</a:t>
            </a:r>
            <a:r>
              <a:rPr dirty="0" sz="1200" spc="-10">
                <a:latin typeface="Calibri"/>
                <a:cs typeface="Calibri"/>
              </a:rPr>
              <a:t> professional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product.</a:t>
            </a:r>
            <a:endParaRPr sz="1200">
              <a:latin typeface="Calibri"/>
              <a:cs typeface="Calibri"/>
            </a:endParaRPr>
          </a:p>
          <a:p>
            <a:pPr algn="just" marL="469900" marR="215265" indent="-229235">
              <a:lnSpc>
                <a:spcPct val="116700"/>
              </a:lnSpc>
              <a:spcBef>
                <a:spcPts val="25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Educational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institutes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represent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seminars,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research topics,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Features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POWER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POINT</a:t>
            </a:r>
            <a:endParaRPr sz="1200">
              <a:latin typeface="Calibri"/>
              <a:cs typeface="Calibri"/>
            </a:endParaRPr>
          </a:p>
          <a:p>
            <a:pPr algn="just" marL="469900" marR="26034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organisation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diagram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Organisation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drawing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editing.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Also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 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diagrams.</a:t>
            </a:r>
            <a:endParaRPr sz="12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</a:t>
            </a:r>
            <a:endParaRPr sz="1200">
              <a:latin typeface="Calibri"/>
              <a:cs typeface="Calibri"/>
            </a:endParaRPr>
          </a:p>
          <a:p>
            <a:pPr algn="just" marL="469900" marR="12065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 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it.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that</a:t>
            </a:r>
            <a:endParaRPr sz="12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elements.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56563"/>
            <a:ext cx="128269" cy="119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383283"/>
            <a:ext cx="128269" cy="119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810003"/>
            <a:ext cx="128269" cy="119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239898"/>
            <a:ext cx="128269" cy="1191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02004" y="426465"/>
            <a:ext cx="5676900" cy="2745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7874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217804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 pictures-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 </a:t>
            </a:r>
            <a:r>
              <a:rPr dirty="0" sz="1200" spc="-10">
                <a:latin typeface="Calibri"/>
                <a:cs typeface="Calibri"/>
              </a:rPr>
              <a:t>pictures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 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disk </a:t>
            </a:r>
            <a:r>
              <a:rPr dirty="0" sz="1200">
                <a:latin typeface="Calibri"/>
                <a:cs typeface="Calibri"/>
              </a:rPr>
              <a:t>drive,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once.</a:t>
            </a:r>
            <a:endParaRPr sz="1200">
              <a:latin typeface="Calibri"/>
              <a:cs typeface="Calibri"/>
            </a:endParaRPr>
          </a:p>
          <a:p>
            <a:pPr marL="469900" marR="526415">
              <a:lnSpc>
                <a:spcPts val="1680"/>
              </a:lnSpc>
              <a:spcBef>
                <a:spcPts val="95"/>
              </a:spcBef>
            </a:pP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rotation-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rotate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flip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power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bitmaps.</a:t>
            </a:r>
            <a:endParaRPr sz="1200">
              <a:latin typeface="Calibri"/>
              <a:cs typeface="Calibri"/>
            </a:endParaRPr>
          </a:p>
          <a:p>
            <a:pPr marL="469900" marR="107314">
              <a:lnSpc>
                <a:spcPts val="168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video-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 broadcast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heard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audience,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archives.</a:t>
            </a:r>
            <a:endParaRPr sz="1200">
              <a:latin typeface="Calibri"/>
              <a:cs typeface="Calibri"/>
            </a:endParaRPr>
          </a:p>
          <a:p>
            <a:pPr marL="469900" marR="5080">
              <a:lnSpc>
                <a:spcPts val="168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prevention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encounters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responding.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displayed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50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Overview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41552" y="3323208"/>
          <a:ext cx="5955030" cy="299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025"/>
                <a:gridCol w="1466850"/>
                <a:gridCol w="1466850"/>
                <a:gridCol w="1469389"/>
              </a:tblGrid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File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Edit</a:t>
                      </a:r>
                      <a:r>
                        <a:rPr dirty="0" sz="12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View</a:t>
                      </a:r>
                      <a:r>
                        <a:rPr dirty="0" sz="12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Tools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8445"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New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935990">
                        <a:lnSpc>
                          <a:spcPct val="101699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Open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Close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Save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53848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Save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HTML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Page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setup Print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753745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Properties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Exit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Undo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command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70104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Repeat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last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command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Cut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1051560">
                        <a:lnSpc>
                          <a:spcPct val="101699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Copy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Paste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27813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Paste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special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Paste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hyperlink Clear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84455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all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Find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Replace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Go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Links Object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Tool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bar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963930">
                        <a:lnSpc>
                          <a:spcPct val="101699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Ruler Guides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248285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Header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footer Comments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Zoom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Spelling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57404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Style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checker Language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Auto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correct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270510">
                        <a:lnSpc>
                          <a:spcPct val="101699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Look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up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reference Macro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746125">
                        <a:lnSpc>
                          <a:spcPct val="101699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Customise Options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41552" y="6658609"/>
          <a:ext cx="5955030" cy="187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025"/>
                <a:gridCol w="1466850"/>
                <a:gridCol w="1466850"/>
                <a:gridCol w="1469389"/>
              </a:tblGrid>
              <a:tr h="194945">
                <a:tc>
                  <a:txBody>
                    <a:bodyPr/>
                    <a:lstStyle/>
                    <a:p>
                      <a:pPr marL="69850">
                        <a:lnSpc>
                          <a:spcPts val="143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Format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3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Insert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Window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Help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menu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9575">
                <a:tc>
                  <a:txBody>
                    <a:bodyPr/>
                    <a:lstStyle/>
                    <a:p>
                      <a:pPr marL="69850" marR="708660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Font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Bullets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numbering Alignment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621665">
                        <a:lnSpc>
                          <a:spcPts val="1460"/>
                        </a:lnSpc>
                        <a:spcBef>
                          <a:spcPts val="1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spacing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case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339725">
                        <a:lnSpc>
                          <a:spcPts val="146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Replace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fonts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Colours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lines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Objects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14984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Date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time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Symbol Comment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box</a:t>
                      </a:r>
                      <a:r>
                        <a:rPr dirty="0" sz="12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Chart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ts val="143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Table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 marR="801370">
                        <a:lnSpc>
                          <a:spcPct val="101699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Object Hyperlink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582295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window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Arrange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all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Fit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page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Cascade Presentation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60680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Microsoft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power point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19558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Contents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index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What’s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this?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359410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Microsoft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the web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 marR="381000">
                        <a:lnSpc>
                          <a:spcPts val="146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Microsoft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point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1249426"/>
            <a:ext cx="5712460" cy="836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menu:</a:t>
            </a:r>
            <a:endParaRPr sz="1200">
              <a:latin typeface="Calibri"/>
              <a:cs typeface="Calibri"/>
            </a:endParaRPr>
          </a:p>
          <a:p>
            <a:pPr marL="12700" marR="19494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Pack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so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 run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Edit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Duplicate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–makes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object.</a:t>
            </a:r>
            <a:endParaRPr sz="1200">
              <a:latin typeface="Calibri"/>
              <a:cs typeface="Calibri"/>
            </a:endParaRPr>
          </a:p>
          <a:p>
            <a:pPr marL="12700" marR="205104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Delete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slide-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 view.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12700" marR="17716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Slide-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style format.</a:t>
            </a:r>
            <a:endParaRPr sz="1200">
              <a:latin typeface="Calibri"/>
              <a:cs typeface="Calibri"/>
            </a:endParaRPr>
          </a:p>
          <a:p>
            <a:pPr marL="12700" marR="6096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–enables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12700" marR="21590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miniature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text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 sorter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reorder</a:t>
            </a:r>
            <a:r>
              <a:rPr dirty="0" sz="1200" spc="-10">
                <a:latin typeface="Calibri"/>
                <a:cs typeface="Calibri"/>
              </a:rPr>
              <a:t> slides,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animation </a:t>
            </a:r>
            <a:r>
              <a:rPr dirty="0" sz="1200">
                <a:latin typeface="Calibri"/>
                <a:cs typeface="Calibri"/>
              </a:rPr>
              <a:t>effects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12700" marR="238125">
              <a:lnSpc>
                <a:spcPct val="116799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Notes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speaker </a:t>
            </a:r>
            <a:r>
              <a:rPr dirty="0" sz="1200">
                <a:latin typeface="Calibri"/>
                <a:cs typeface="Calibri"/>
              </a:rPr>
              <a:t>notes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view.</a:t>
            </a:r>
            <a:endParaRPr sz="1200">
              <a:latin typeface="Calibri"/>
              <a:cs typeface="Calibri"/>
            </a:endParaRPr>
          </a:p>
          <a:p>
            <a:pPr marL="12700" marR="100965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Master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master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formatting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200">
                <a:latin typeface="Calibri"/>
                <a:cs typeface="Calibri"/>
              </a:rPr>
              <a:t>Black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–shows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black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white.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miniature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–turns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miniature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miniature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versions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graphics.</a:t>
            </a:r>
            <a:endParaRPr sz="1200">
              <a:latin typeface="Calibri"/>
              <a:cs typeface="Calibri"/>
            </a:endParaRPr>
          </a:p>
          <a:p>
            <a:pPr marL="12700" marR="30035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Speaker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speaker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use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Insert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12700" marR="53975">
              <a:lnSpc>
                <a:spcPct val="116900"/>
              </a:lnSpc>
              <a:spcBef>
                <a:spcPts val="1000"/>
              </a:spcBef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–promotes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active 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Duplicate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–inserts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25160" cy="931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048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–adds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individual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–inserts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 marR="61594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–creates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headings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adds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level.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–inserts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pictures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libraries.</a:t>
            </a:r>
            <a:endParaRPr sz="1200">
              <a:latin typeface="Calibri"/>
              <a:cs typeface="Calibri"/>
            </a:endParaRPr>
          </a:p>
          <a:p>
            <a:pPr marL="12700" marR="1968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Movies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–inserts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show.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Format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–changes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 marR="49403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–reapplies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modifies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scheme.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Background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–adds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kinds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backgrounds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 </a:t>
            </a:r>
            <a:r>
              <a:rPr dirty="0" sz="1200" spc="-10">
                <a:latin typeface="Calibri"/>
                <a:cs typeface="Calibri"/>
              </a:rPr>
              <a:t>interesting.</a:t>
            </a:r>
            <a:endParaRPr sz="1200">
              <a:latin typeface="Calibri"/>
              <a:cs typeface="Calibri"/>
            </a:endParaRPr>
          </a:p>
          <a:p>
            <a:pPr marL="12700" marR="67056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–templates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your </a:t>
            </a:r>
            <a:r>
              <a:rPr dirty="0" sz="1200" spc="-10">
                <a:latin typeface="Calibri"/>
                <a:cs typeface="Calibri"/>
              </a:rPr>
              <a:t>presentation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 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template.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Tool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menu</a:t>
            </a:r>
            <a:endParaRPr sz="1200">
              <a:latin typeface="Calibri"/>
              <a:cs typeface="Calibri"/>
            </a:endParaRPr>
          </a:p>
          <a:p>
            <a:pPr marL="12700" marR="12255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Auto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–scans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recommendations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digital </a:t>
            </a:r>
            <a:r>
              <a:rPr dirty="0" sz="1200">
                <a:latin typeface="Calibri"/>
                <a:cs typeface="Calibri"/>
              </a:rPr>
              <a:t>images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convey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message.</a:t>
            </a:r>
            <a:endParaRPr sz="1200">
              <a:latin typeface="Calibri"/>
              <a:cs typeface="Calibri"/>
            </a:endParaRPr>
          </a:p>
          <a:p>
            <a:pPr marL="12700" marR="32512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–launches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magazine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contains </a:t>
            </a:r>
            <a:r>
              <a:rPr dirty="0" sz="1200">
                <a:latin typeface="Calibri"/>
                <a:cs typeface="Calibri"/>
              </a:rPr>
              <a:t>articles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conference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internet.</a:t>
            </a:r>
            <a:endParaRPr sz="1200">
              <a:latin typeface="Calibri"/>
              <a:cs typeface="Calibri"/>
            </a:endParaRPr>
          </a:p>
          <a:p>
            <a:pPr marL="12700" marR="32004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Meeting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–opens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minder,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minutes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show.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–each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paragraph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Slide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show</a:t>
            </a:r>
            <a:endParaRPr sz="1200">
              <a:latin typeface="Calibri"/>
              <a:cs typeface="Calibri"/>
            </a:endParaRPr>
          </a:p>
          <a:p>
            <a:pPr marL="12700" marR="3746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view.</a:t>
            </a:r>
            <a:endParaRPr sz="1200">
              <a:latin typeface="Calibri"/>
              <a:cs typeface="Calibri"/>
            </a:endParaRPr>
          </a:p>
          <a:p>
            <a:pPr marL="12700" marR="12700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Rehearse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timings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 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rehearsal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change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show.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narration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–adds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voice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narration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show.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36590" cy="9144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show.</a:t>
            </a:r>
            <a:endParaRPr sz="1200">
              <a:latin typeface="Calibri"/>
              <a:cs typeface="Calibri"/>
            </a:endParaRPr>
          </a:p>
          <a:p>
            <a:pPr marL="12700" marR="327660">
              <a:lnSpc>
                <a:spcPct val="118500"/>
              </a:lnSpc>
              <a:spcBef>
                <a:spcPts val="955"/>
              </a:spcBef>
            </a:pP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–helps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controlling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another.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83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–inserts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drag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dialog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assign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endParaRPr sz="1200">
              <a:latin typeface="Calibri"/>
              <a:cs typeface="Calibri"/>
            </a:endParaRPr>
          </a:p>
          <a:p>
            <a:pPr marL="12700" marR="320675">
              <a:lnSpc>
                <a:spcPct val="1185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Present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 –you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apply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Custom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–adds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effects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 marR="384810">
              <a:lnSpc>
                <a:spcPct val="118300"/>
              </a:lnSpc>
              <a:spcBef>
                <a:spcPts val="965"/>
              </a:spcBef>
            </a:pPr>
            <a:r>
              <a:rPr dirty="0" sz="1200" spc="-10">
                <a:latin typeface="Calibri"/>
                <a:cs typeface="Calibri"/>
              </a:rPr>
              <a:t>Animation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animation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effects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miniature window.</a:t>
            </a:r>
            <a:endParaRPr sz="1200">
              <a:latin typeface="Calibri"/>
              <a:cs typeface="Calibri"/>
            </a:endParaRPr>
          </a:p>
          <a:p>
            <a:pPr marL="12700" marR="318135">
              <a:lnSpc>
                <a:spcPct val="1183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–adds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introduces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 show.</a:t>
            </a:r>
            <a:endParaRPr sz="1200">
              <a:latin typeface="Calibri"/>
              <a:cs typeface="Calibri"/>
            </a:endParaRPr>
          </a:p>
          <a:p>
            <a:pPr marL="12700" marR="212725">
              <a:lnSpc>
                <a:spcPct val="1183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Hide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view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respectively.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Custom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–creates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Create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templates</a:t>
            </a:r>
            <a:endParaRPr sz="1200">
              <a:latin typeface="Calibri"/>
              <a:cs typeface="Calibri"/>
            </a:endParaRPr>
          </a:p>
          <a:p>
            <a:pPr marL="12700" marR="65405">
              <a:lnSpc>
                <a:spcPct val="116700"/>
              </a:lnSpc>
              <a:spcBef>
                <a:spcPts val="1010"/>
              </a:spcBef>
            </a:pPr>
            <a:r>
              <a:rPr dirty="0" sz="1200" b="1">
                <a:latin typeface="Calibri"/>
                <a:cs typeface="Calibri"/>
              </a:rPr>
              <a:t>Deign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templates: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contains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predesigned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any </a:t>
            </a:r>
            <a:r>
              <a:rPr dirty="0" sz="1200" spc="-10">
                <a:latin typeface="Calibri"/>
                <a:cs typeface="Calibri"/>
              </a:rPr>
              <a:t>presentation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look.</a:t>
            </a:r>
            <a:endParaRPr sz="1200">
              <a:latin typeface="Calibri"/>
              <a:cs typeface="Calibri"/>
            </a:endParaRPr>
          </a:p>
          <a:p>
            <a:pPr marL="12700" marR="99060">
              <a:lnSpc>
                <a:spcPct val="116700"/>
              </a:lnSpc>
              <a:spcBef>
                <a:spcPts val="1005"/>
              </a:spcBef>
            </a:pPr>
            <a:r>
              <a:rPr dirty="0" sz="1200" spc="-10" b="1">
                <a:latin typeface="Calibri"/>
                <a:cs typeface="Calibri"/>
              </a:rPr>
              <a:t>Content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templates: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colour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plus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suggested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subjects.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Create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design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  <a:p>
            <a:pPr marL="469900" marR="46355" indent="-229235">
              <a:lnSpc>
                <a:spcPct val="1167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Opens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template.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suit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Save</a:t>
            </a:r>
            <a:r>
              <a:rPr dirty="0" sz="1200" spc="-25" b="1">
                <a:latin typeface="Calibri"/>
                <a:cs typeface="Calibri"/>
              </a:rPr>
              <a:t> as.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name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10">
                <a:latin typeface="Calibri"/>
                <a:cs typeface="Calibri"/>
              </a:rPr>
              <a:t> template.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Save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type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Design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Template.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Create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content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template</a:t>
            </a:r>
            <a:endParaRPr sz="1200">
              <a:latin typeface="Calibri"/>
              <a:cs typeface="Calibri"/>
            </a:endParaRPr>
          </a:p>
          <a:p>
            <a:pPr marL="469900" marR="31750" indent="-229235">
              <a:lnSpc>
                <a:spcPct val="116599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template </a:t>
            </a:r>
            <a:r>
              <a:rPr dirty="0" sz="1200" spc="-25">
                <a:latin typeface="Calibri"/>
                <a:cs typeface="Calibri"/>
              </a:rPr>
              <a:t>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8040030"/>
            <a:ext cx="128269" cy="1197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8469883"/>
            <a:ext cx="128269" cy="1191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8896603"/>
            <a:ext cx="128269" cy="1191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02004" y="426465"/>
            <a:ext cx="5713730" cy="9278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191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471170" indent="-229870">
              <a:lnSpc>
                <a:spcPct val="100000"/>
              </a:lnSpc>
              <a:buAutoNum type="arabicPeriod" startAt="2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presentation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 </a:t>
            </a:r>
            <a:r>
              <a:rPr dirty="0" sz="1200" spc="-10">
                <a:latin typeface="Calibri"/>
                <a:cs typeface="Calibri"/>
              </a:rPr>
              <a:t>needs.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2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Save</a:t>
            </a:r>
            <a:r>
              <a:rPr dirty="0" sz="1200" spc="-25" b="1">
                <a:latin typeface="Calibri"/>
                <a:cs typeface="Calibri"/>
              </a:rPr>
              <a:t> As.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2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Save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type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Design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Template.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2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File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name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 template,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Save.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Slide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written.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show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Different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slide</a:t>
            </a:r>
            <a:endParaRPr sz="1200">
              <a:latin typeface="Calibri"/>
              <a:cs typeface="Calibri"/>
            </a:endParaRPr>
          </a:p>
          <a:p>
            <a:pPr marL="12700" marR="403225">
              <a:lnSpc>
                <a:spcPct val="116900"/>
              </a:lnSpc>
              <a:spcBef>
                <a:spcPts val="1005"/>
              </a:spcBef>
            </a:pPr>
            <a:r>
              <a:rPr dirty="0" sz="1200" b="1">
                <a:latin typeface="Calibri"/>
                <a:cs typeface="Calibri"/>
              </a:rPr>
              <a:t>Normal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–Switches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or </a:t>
            </a:r>
            <a:r>
              <a:rPr dirty="0" sz="1200">
                <a:latin typeface="Calibri"/>
                <a:cs typeface="Calibri"/>
              </a:rPr>
              <a:t>organise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presentation.</a:t>
            </a:r>
            <a:endParaRPr sz="1200">
              <a:latin typeface="Calibri"/>
              <a:cs typeface="Calibri"/>
            </a:endParaRPr>
          </a:p>
          <a:p>
            <a:pPr marL="12700" marR="92075">
              <a:lnSpc>
                <a:spcPct val="116700"/>
              </a:lnSpc>
              <a:spcBef>
                <a:spcPts val="1005"/>
              </a:spcBef>
            </a:pPr>
            <a:r>
              <a:rPr dirty="0" sz="1200" spc="-10" b="1">
                <a:latin typeface="Calibri"/>
                <a:cs typeface="Calibri"/>
              </a:rPr>
              <a:t>Outline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–Switches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 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Slide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–Switches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12700" marR="72390">
              <a:lnSpc>
                <a:spcPct val="116700"/>
              </a:lnSpc>
              <a:spcBef>
                <a:spcPts val="1010"/>
              </a:spcBef>
            </a:pPr>
            <a:r>
              <a:rPr dirty="0" sz="1200" b="1">
                <a:latin typeface="Calibri"/>
                <a:cs typeface="Calibri"/>
              </a:rPr>
              <a:t>Slide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sorter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–Displays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miniature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graphics.</a:t>
            </a:r>
            <a:endParaRPr sz="1200">
              <a:latin typeface="Calibri"/>
              <a:cs typeface="Calibri"/>
            </a:endParaRPr>
          </a:p>
          <a:p>
            <a:pPr marL="12700" marR="179705">
              <a:lnSpc>
                <a:spcPct val="116700"/>
              </a:lnSpc>
              <a:spcBef>
                <a:spcPts val="1005"/>
              </a:spcBef>
            </a:pPr>
            <a:r>
              <a:rPr dirty="0" sz="1200" b="1">
                <a:latin typeface="Calibri"/>
                <a:cs typeface="Calibri"/>
              </a:rPr>
              <a:t>Slide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show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view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–Runs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if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 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view.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Multimedia</a:t>
            </a:r>
            <a:endParaRPr sz="1200">
              <a:latin typeface="Calibri"/>
              <a:cs typeface="Calibri"/>
            </a:endParaRPr>
          </a:p>
          <a:p>
            <a:pPr marL="12700" marR="194310">
              <a:lnSpc>
                <a:spcPct val="116700"/>
              </a:lnSpc>
              <a:spcBef>
                <a:spcPts val="1010"/>
              </a:spcBef>
            </a:pPr>
            <a:r>
              <a:rPr dirty="0" sz="1200" spc="-10">
                <a:latin typeface="Calibri"/>
                <a:cs typeface="Calibri"/>
              </a:rPr>
              <a:t>Multimedia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popular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computers. Multimedia</a:t>
            </a:r>
            <a:r>
              <a:rPr dirty="0" sz="1200">
                <a:latin typeface="Calibri"/>
                <a:cs typeface="Calibri"/>
              </a:rPr>
              <a:t> 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</a:t>
            </a:r>
            <a:r>
              <a:rPr dirty="0" sz="1200" spc="-10">
                <a:latin typeface="Calibri"/>
                <a:cs typeface="Calibri"/>
              </a:rPr>
              <a:t>considered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presentation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 such</a:t>
            </a:r>
            <a:r>
              <a:rPr dirty="0" sz="1200" spc="-25">
                <a:latin typeface="Calibri"/>
                <a:cs typeface="Calibri"/>
              </a:rPr>
              <a:t> as </a:t>
            </a:r>
            <a:r>
              <a:rPr dirty="0" sz="1200">
                <a:latin typeface="Calibri"/>
                <a:cs typeface="Calibri"/>
              </a:rPr>
              <a:t>text,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image,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Insert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Music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Sound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slide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Sounds.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 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following:</a:t>
            </a:r>
            <a:endParaRPr sz="1200">
              <a:latin typeface="Calibri"/>
              <a:cs typeface="Calibri"/>
            </a:endParaRPr>
          </a:p>
          <a:p>
            <a:pPr marL="469900" marR="337185">
              <a:lnSpc>
                <a:spcPts val="1700"/>
              </a:lnSpc>
              <a:spcBef>
                <a:spcPts val="80"/>
              </a:spcBef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want.</a:t>
            </a:r>
            <a:endParaRPr sz="1200">
              <a:latin typeface="Calibri"/>
              <a:cs typeface="Calibri"/>
            </a:endParaRPr>
          </a:p>
          <a:p>
            <a:pPr marL="469900" marR="73660">
              <a:lnSpc>
                <a:spcPts val="1680"/>
              </a:lnSpc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that </a:t>
            </a:r>
            <a:r>
              <a:rPr dirty="0" sz="1200" spc="-10">
                <a:latin typeface="Calibri"/>
                <a:cs typeface="Calibri"/>
              </a:rPr>
              <a:t>contains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double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want.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slide.</a:t>
            </a:r>
            <a:endParaRPr sz="1200">
              <a:latin typeface="Calibri"/>
              <a:cs typeface="Calibri"/>
            </a:endParaRPr>
          </a:p>
          <a:p>
            <a:pPr marL="469900" indent="-229235">
              <a:lnSpc>
                <a:spcPct val="100000"/>
              </a:lnSpc>
              <a:spcBef>
                <a:spcPts val="244"/>
              </a:spcBef>
              <a:buAutoNum type="arabi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automatically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  <a:p>
            <a:pPr marL="469900" marR="60960">
              <a:lnSpc>
                <a:spcPct val="1167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icon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279311"/>
            <a:ext cx="128269" cy="1197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706031"/>
            <a:ext cx="128269" cy="11971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02004" y="426465"/>
            <a:ext cx="5756910" cy="9166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5.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double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icon.</a:t>
            </a:r>
            <a:endParaRPr sz="1200">
              <a:latin typeface="Calibri"/>
              <a:cs typeface="Calibri"/>
            </a:endParaRPr>
          </a:p>
          <a:p>
            <a:pPr algn="r" marR="4285615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Insert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video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0" b="1">
                <a:latin typeface="Calibri"/>
                <a:cs typeface="Calibri"/>
              </a:rPr>
              <a:t> slide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sounds.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 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following:</a:t>
            </a:r>
            <a:endParaRPr sz="1200">
              <a:latin typeface="Calibri"/>
              <a:cs typeface="Calibri"/>
            </a:endParaRPr>
          </a:p>
          <a:p>
            <a:pPr marL="469900" marR="24765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gallery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insert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want.</a:t>
            </a:r>
            <a:endParaRPr sz="1200">
              <a:latin typeface="Calibri"/>
              <a:cs typeface="Calibri"/>
            </a:endParaRPr>
          </a:p>
          <a:p>
            <a:pPr marL="469900" marR="156210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folder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that </a:t>
            </a:r>
            <a:r>
              <a:rPr dirty="0" sz="1200" spc="-10">
                <a:latin typeface="Calibri"/>
                <a:cs typeface="Calibri"/>
              </a:rPr>
              <a:t>contains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double 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video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want.</a:t>
            </a:r>
            <a:endParaRPr sz="1200">
              <a:latin typeface="Calibri"/>
              <a:cs typeface="Calibri"/>
            </a:endParaRPr>
          </a:p>
          <a:p>
            <a:pPr marL="469900" marR="85090" indent="-229235">
              <a:lnSpc>
                <a:spcPct val="116700"/>
              </a:lnSpc>
              <a:spcBef>
                <a:spcPts val="20"/>
              </a:spcBef>
              <a:buAutoNum type="arabi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automatically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move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movie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5"/>
              </a:spcBef>
              <a:buAutoNum type="arabicPeriod" startAt="4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double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movie.</a:t>
            </a:r>
            <a:endParaRPr sz="1200">
              <a:latin typeface="Calibri"/>
              <a:cs typeface="Calibri"/>
            </a:endParaRPr>
          </a:p>
          <a:p>
            <a:pPr algn="r" marR="434721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Microsoft</a:t>
            </a:r>
            <a:r>
              <a:rPr dirty="0" sz="1200" spc="-65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12121"/>
                </a:solidFill>
                <a:latin typeface="Calibri"/>
                <a:cs typeface="Calibri"/>
              </a:rPr>
              <a:t>Outlook</a:t>
            </a:r>
            <a:endParaRPr sz="1200">
              <a:latin typeface="Calibri"/>
              <a:cs typeface="Calibri"/>
            </a:endParaRPr>
          </a:p>
          <a:p>
            <a:pPr marL="241300" marR="14604">
              <a:lnSpc>
                <a:spcPct val="116700"/>
              </a:lnSpc>
              <a:spcBef>
                <a:spcPts val="1005"/>
              </a:spcBef>
            </a:pP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Microsoft</a:t>
            </a:r>
            <a:r>
              <a:rPr dirty="0" sz="1200" spc="-50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Outlook</a:t>
            </a:r>
            <a:r>
              <a:rPr dirty="0" sz="1200" spc="-25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personal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information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manager</a:t>
            </a:r>
            <a:r>
              <a:rPr dirty="0" sz="1200" spc="-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from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Microsoft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,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available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part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2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Microsoft</a:t>
            </a:r>
            <a:r>
              <a:rPr dirty="0" sz="1200" spc="-35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Office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suite.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Primarily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email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application,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also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includes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calendar,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task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manager,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contact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manager,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note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taking,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journal,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web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 browsing.</a:t>
            </a:r>
            <a:endParaRPr sz="1200">
              <a:latin typeface="Calibri"/>
              <a:cs typeface="Calibri"/>
            </a:endParaRPr>
          </a:p>
          <a:p>
            <a:pPr marL="241300" marR="173355">
              <a:lnSpc>
                <a:spcPct val="117300"/>
              </a:lnSpc>
              <a:spcBef>
                <a:spcPts val="1000"/>
              </a:spcBef>
            </a:pP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Microsoft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Outlook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includes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extra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features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like: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calendar,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contact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manager</a:t>
            </a:r>
            <a:r>
              <a:rPr dirty="0" sz="12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journal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which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help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you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keep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details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email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interactions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you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want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remind.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allows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users sending/receiving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emails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through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free</a:t>
            </a:r>
            <a:r>
              <a:rPr dirty="0" sz="12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POP3/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IMAP</a:t>
            </a:r>
            <a:r>
              <a:rPr dirty="0" sz="1200" spc="-5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SMTP</a:t>
            </a:r>
            <a:r>
              <a:rPr dirty="0" sz="12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email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Server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also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store contacts,</a:t>
            </a:r>
            <a:r>
              <a:rPr dirty="0" sz="12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journals,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calendars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notes,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highlight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Outlook</a:t>
            </a:r>
            <a:r>
              <a:rPr dirty="0" sz="1200" spc="-5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features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its</a:t>
            </a:r>
            <a:r>
              <a:rPr dirty="0" sz="1200" spc="-30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organized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system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email</a:t>
            </a:r>
            <a:endParaRPr sz="1200">
              <a:latin typeface="Calibri"/>
              <a:cs typeface="Calibri"/>
            </a:endParaRPr>
          </a:p>
          <a:p>
            <a:pPr marL="241300" marR="241935">
              <a:lnSpc>
                <a:spcPct val="116700"/>
              </a:lnSpc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management.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12121"/>
                </a:solidFill>
                <a:latin typeface="Calibri"/>
                <a:cs typeface="Calibri"/>
              </a:rPr>
              <a:t>Outlook</a:t>
            </a:r>
            <a:r>
              <a:rPr dirty="0" sz="1200" spc="-30" b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allows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you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organize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your</a:t>
            </a:r>
            <a:r>
              <a:rPr dirty="0" sz="12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emails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according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your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user</a:t>
            </a:r>
            <a:r>
              <a:rPr dirty="0" sz="12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client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accounts.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Business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operations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include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2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constant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flow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communication;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Calibri"/>
                <a:cs typeface="Calibri"/>
              </a:rPr>
              <a:t>staff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queries,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client</a:t>
            </a:r>
            <a:r>
              <a:rPr dirty="0" sz="12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orders,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management</a:t>
            </a:r>
            <a:r>
              <a:rPr dirty="0" sz="12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reports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12121"/>
                </a:solidFill>
                <a:latin typeface="Calibri"/>
                <a:cs typeface="Calibri"/>
              </a:rPr>
              <a:t>so</a:t>
            </a:r>
            <a:r>
              <a:rPr dirty="0" sz="12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12121"/>
                </a:solidFill>
                <a:latin typeface="Calibri"/>
                <a:cs typeface="Calibri"/>
              </a:rPr>
              <a:t>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Top</a:t>
            </a:r>
            <a:r>
              <a:rPr dirty="0" sz="1200" spc="-3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15</a:t>
            </a:r>
            <a:r>
              <a:rPr dirty="0" sz="12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Features</a:t>
            </a:r>
            <a:r>
              <a:rPr dirty="0" sz="1200" spc="-3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-4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endParaRPr sz="1200">
              <a:latin typeface="Calibri"/>
              <a:cs typeface="Calibri"/>
            </a:endParaRPr>
          </a:p>
          <a:p>
            <a:pPr marL="12700" marR="13335">
              <a:lnSpc>
                <a:spcPct val="101699"/>
              </a:lnSpc>
              <a:spcBef>
                <a:spcPts val="790"/>
              </a:spcBef>
            </a:pP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lot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helpful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functions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available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more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poplar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comparison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other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desktop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clients.</a:t>
            </a:r>
            <a:endParaRPr sz="1200">
              <a:latin typeface="Calibri"/>
              <a:cs typeface="Calibri"/>
            </a:endParaRPr>
          </a:p>
          <a:p>
            <a:pPr algn="just" marL="12700" marR="10160" indent="173355">
              <a:lnSpc>
                <a:spcPct val="101699"/>
              </a:lnSpc>
              <a:spcBef>
                <a:spcPts val="795"/>
              </a:spcBef>
              <a:buAutoNum type="arabicParenR"/>
              <a:tabLst>
                <a:tab pos="186055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Faster</a:t>
            </a:r>
            <a:r>
              <a:rPr dirty="0" sz="1200" spc="8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6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Processing:</a:t>
            </a: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allows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sending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receiving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quickly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without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taking</a:t>
            </a:r>
            <a:r>
              <a:rPr dirty="0" sz="1200" spc="1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extra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time.</a:t>
            </a:r>
            <a:r>
              <a:rPr dirty="0" sz="1200" spc="1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1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read</a:t>
            </a:r>
            <a:r>
              <a:rPr dirty="0" sz="1200" spc="1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dirty="0" sz="1200" spc="1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emails</a:t>
            </a:r>
            <a:r>
              <a:rPr dirty="0" sz="1200" spc="1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dirty="0" sz="1200" spc="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even</a:t>
            </a:r>
            <a:r>
              <a:rPr dirty="0" sz="1200" spc="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dirty="0" sz="1200" spc="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internet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connection</a:t>
            </a:r>
            <a:r>
              <a:rPr dirty="0" sz="1200" spc="2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2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available</a:t>
            </a:r>
            <a:r>
              <a:rPr dirty="0" sz="1200" spc="2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while.</a:t>
            </a:r>
            <a:r>
              <a:rPr dirty="0" sz="1200" spc="2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dirty="0" sz="1200" spc="2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such</a:t>
            </a:r>
            <a:r>
              <a:rPr dirty="0" sz="1200" spc="229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2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229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helps</a:t>
            </a:r>
            <a:r>
              <a:rPr dirty="0" sz="1200" spc="2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making communication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 faster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effective.</a:t>
            </a:r>
            <a:endParaRPr sz="1200">
              <a:latin typeface="Calibri"/>
              <a:cs typeface="Calibri"/>
            </a:endParaRPr>
          </a:p>
          <a:p>
            <a:pPr algn="just" marL="12700" marR="5080" indent="158115">
              <a:lnSpc>
                <a:spcPct val="101699"/>
              </a:lnSpc>
              <a:spcBef>
                <a:spcPts val="790"/>
              </a:spcBef>
              <a:buAutoNum type="arabicParenR"/>
              <a:tabLst>
                <a:tab pos="170815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Attachment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Reminder: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strong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program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that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remind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add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insert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attachment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 email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 even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forgot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do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so.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Thus,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very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helpful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people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who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usual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kind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way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now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remind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them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add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required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attachments.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55640" cy="9193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algn="just" marL="12700" marR="5715" indent="191770">
              <a:lnSpc>
                <a:spcPct val="101699"/>
              </a:lnSpc>
              <a:spcBef>
                <a:spcPts val="1864"/>
              </a:spcBef>
              <a:buAutoNum type="arabicParenR" startAt="3"/>
              <a:tabLst>
                <a:tab pos="20447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Social</a:t>
            </a:r>
            <a:r>
              <a:rPr dirty="0" sz="1200" spc="204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Connectivity: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2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dirty="0" sz="12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'Social</a:t>
            </a:r>
            <a:r>
              <a:rPr dirty="0" sz="1200" spc="2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Connectors'</a:t>
            </a:r>
            <a:r>
              <a:rPr dirty="0" sz="1200" spc="2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function</a:t>
            </a:r>
            <a:r>
              <a:rPr dirty="0" sz="1200" spc="2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makes</a:t>
            </a:r>
            <a:r>
              <a:rPr dirty="0" sz="1200" spc="2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it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really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best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communication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platform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professionals.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function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you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always</a:t>
            </a:r>
            <a:r>
              <a:rPr dirty="0" sz="12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updated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activities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dirty="0" sz="12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updated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Facebook,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twitter</a:t>
            </a:r>
            <a:r>
              <a:rPr dirty="0" sz="12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LinkedIn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profiles.</a:t>
            </a:r>
            <a:r>
              <a:rPr dirty="0" sz="1200" spc="11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Because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dirty="0" sz="1200" spc="11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1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related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information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11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exhibited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keep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updated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about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recent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social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activities.</a:t>
            </a:r>
            <a:endParaRPr sz="1200">
              <a:latin typeface="Calibri"/>
              <a:cs typeface="Calibri"/>
            </a:endParaRPr>
          </a:p>
          <a:p>
            <a:pPr algn="just" marL="12700" marR="8890" indent="191770">
              <a:lnSpc>
                <a:spcPct val="101699"/>
              </a:lnSpc>
              <a:spcBef>
                <a:spcPts val="790"/>
              </a:spcBef>
              <a:buAutoNum type="arabicParenR" startAt="3"/>
              <a:tabLst>
                <a:tab pos="20447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Altered</a:t>
            </a:r>
            <a:r>
              <a:rPr dirty="0" sz="1200" spc="26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Contacts:</a:t>
            </a:r>
            <a:r>
              <a:rPr dirty="0" sz="1200" spc="-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2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stored</a:t>
            </a:r>
            <a:r>
              <a:rPr dirty="0" sz="1200" spc="2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dirty="0" sz="1200" spc="2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contacts</a:t>
            </a:r>
            <a:r>
              <a:rPr dirty="0" sz="1200" spc="2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2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dirty="0" sz="1200" spc="2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Address</a:t>
            </a:r>
            <a:r>
              <a:rPr dirty="0" sz="1200" spc="2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book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2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2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be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managed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very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smooth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way.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beneficial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point for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edit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or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change</a:t>
            </a:r>
            <a:r>
              <a:rPr dirty="0" sz="1200" spc="1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contact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information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1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single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click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dirty="0" sz="1200" spc="1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its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name.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seen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Contacts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now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replaced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"People"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interfaces.</a:t>
            </a:r>
            <a:endParaRPr sz="1200">
              <a:latin typeface="Calibri"/>
              <a:cs typeface="Calibri"/>
            </a:endParaRPr>
          </a:p>
          <a:p>
            <a:pPr algn="just" marL="12700" marR="13335" indent="163830">
              <a:lnSpc>
                <a:spcPct val="101699"/>
              </a:lnSpc>
              <a:spcBef>
                <a:spcPts val="795"/>
              </a:spcBef>
              <a:buAutoNum type="arabicParenR" startAt="3"/>
              <a:tabLst>
                <a:tab pos="17653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Tracking</a:t>
            </a:r>
            <a:r>
              <a:rPr dirty="0" sz="1200" spc="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Feature: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want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know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how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many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peoples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read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them.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released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features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track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sent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messages.</a:t>
            </a:r>
            <a:endParaRPr sz="1200">
              <a:latin typeface="Calibri"/>
              <a:cs typeface="Calibri"/>
            </a:endParaRPr>
          </a:p>
          <a:p>
            <a:pPr algn="just" marL="170815" indent="-158115">
              <a:lnSpc>
                <a:spcPct val="100000"/>
              </a:lnSpc>
              <a:spcBef>
                <a:spcPts val="815"/>
              </a:spcBef>
              <a:buAutoNum type="arabicParenR" startAt="3"/>
              <a:tabLst>
                <a:tab pos="170815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-3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new</a:t>
            </a:r>
            <a:r>
              <a:rPr dirty="0" sz="1200" spc="-3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message</a:t>
            </a:r>
            <a:r>
              <a:rPr dirty="0" sz="1200" spc="-3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dirty="0" sz="1200" spc="-3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composed,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offers</a:t>
            </a:r>
            <a:r>
              <a:rPr dirty="0" sz="1200" spc="-2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-3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two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options:</a:t>
            </a:r>
            <a:endParaRPr sz="1200">
              <a:latin typeface="Calibri"/>
              <a:cs typeface="Calibri"/>
            </a:endParaRPr>
          </a:p>
          <a:p>
            <a:pPr lvl="1" marL="415290" marR="207010" indent="-229235">
              <a:lnSpc>
                <a:spcPct val="101699"/>
              </a:lnSpc>
              <a:spcBef>
                <a:spcPts val="1395"/>
              </a:spcBef>
              <a:buFont typeface="Symbol"/>
              <a:buChar char=""/>
              <a:tabLst>
                <a:tab pos="415290" algn="l"/>
                <a:tab pos="469900" algn="l"/>
              </a:tabLst>
            </a:pPr>
            <a:r>
              <a:rPr dirty="0" sz="100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"Request</a:t>
            </a:r>
            <a:r>
              <a:rPr dirty="0" sz="1200" spc="25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26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Read</a:t>
            </a:r>
            <a:r>
              <a:rPr dirty="0" sz="1200" spc="26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Receipt":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2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function</a:t>
            </a:r>
            <a:r>
              <a:rPr dirty="0" sz="120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2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inform</a:t>
            </a:r>
            <a:r>
              <a:rPr dirty="0" sz="120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dirty="0" sz="120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25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2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confirmation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receipt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your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being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opened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recipient.</a:t>
            </a:r>
            <a:endParaRPr sz="1200">
              <a:latin typeface="Calibri"/>
              <a:cs typeface="Calibri"/>
            </a:endParaRPr>
          </a:p>
          <a:p>
            <a:pPr lvl="1" marL="415290" marR="212090" indent="-229235">
              <a:lnSpc>
                <a:spcPct val="101699"/>
              </a:lnSpc>
              <a:buFont typeface="Symbol"/>
              <a:buChar char=""/>
              <a:tabLst>
                <a:tab pos="415290" algn="l"/>
                <a:tab pos="469900" algn="l"/>
              </a:tabLst>
            </a:pPr>
            <a:r>
              <a:rPr dirty="0" sz="100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"Request</a:t>
            </a:r>
            <a:r>
              <a:rPr dirty="0" sz="1200" spc="8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12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Delivery</a:t>
            </a:r>
            <a:r>
              <a:rPr dirty="0" sz="1200" spc="9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Receipt":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selecting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option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aware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(sent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you)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delivered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recipient's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mailbox.</a:t>
            </a:r>
            <a:endParaRPr sz="1200">
              <a:latin typeface="Calibri"/>
              <a:cs typeface="Calibri"/>
            </a:endParaRPr>
          </a:p>
          <a:p>
            <a:pPr marL="12700" marR="100330">
              <a:lnSpc>
                <a:spcPct val="101699"/>
              </a:lnSpc>
              <a:spcBef>
                <a:spcPts val="1415"/>
              </a:spcBef>
            </a:pP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Thus,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both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many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get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their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email.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You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configure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track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entire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within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"Message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Handling"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section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you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desire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keep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informed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your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messages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whether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your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message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received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opened.</a:t>
            </a:r>
            <a:endParaRPr sz="1200">
              <a:latin typeface="Calibri"/>
              <a:cs typeface="Calibri"/>
            </a:endParaRPr>
          </a:p>
          <a:p>
            <a:pPr algn="just" marL="12700" marR="9525" indent="170180">
              <a:lnSpc>
                <a:spcPct val="101699"/>
              </a:lnSpc>
              <a:buAutoNum type="arabicParenR" startAt="7"/>
              <a:tabLst>
                <a:tab pos="18288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Customized</a:t>
            </a:r>
            <a:r>
              <a:rPr dirty="0" sz="1200" spc="8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Calendars:</a:t>
            </a: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organizations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Calendars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manage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appointments, meetings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events, etc.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So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 now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calendars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been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modified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altered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different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look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makes it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simpler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add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organization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events,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appointments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view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scheduled.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offers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preview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activities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update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status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once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task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being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done.</a:t>
            </a:r>
            <a:endParaRPr sz="1200">
              <a:latin typeface="Calibri"/>
              <a:cs typeface="Calibri"/>
            </a:endParaRPr>
          </a:p>
          <a:p>
            <a:pPr algn="just" marL="12700" marR="12065">
              <a:lnSpc>
                <a:spcPct val="101800"/>
              </a:lnSpc>
              <a:spcBef>
                <a:spcPts val="790"/>
              </a:spcBef>
            </a:pP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offers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a"weather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forecast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feature"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shows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weather conditions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keeping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users up-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to-date</a:t>
            </a:r>
            <a:r>
              <a:rPr dirty="0" sz="1200" spc="2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3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prepared</a:t>
            </a:r>
            <a:r>
              <a:rPr dirty="0" sz="1200" spc="3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2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3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weather</a:t>
            </a:r>
            <a:r>
              <a:rPr dirty="0" sz="1200" spc="2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situation</a:t>
            </a:r>
            <a:r>
              <a:rPr dirty="0" sz="1200" spc="3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consequently</a:t>
            </a:r>
            <a:r>
              <a:rPr dirty="0" sz="1200" spc="2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3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local</a:t>
            </a:r>
            <a:r>
              <a:rPr dirty="0" sz="1200" spc="2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3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well</a:t>
            </a:r>
            <a:r>
              <a:rPr dirty="0" sz="1200" spc="2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as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outside</a:t>
            </a:r>
            <a:r>
              <a:rPr dirty="0" sz="1200" spc="-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meetings/appointments.</a:t>
            </a:r>
            <a:endParaRPr sz="1200">
              <a:latin typeface="Calibri"/>
              <a:cs typeface="Calibri"/>
            </a:endParaRPr>
          </a:p>
          <a:p>
            <a:pPr algn="just" marL="12700" marR="9525" indent="163830">
              <a:lnSpc>
                <a:spcPct val="101699"/>
              </a:lnSpc>
              <a:spcBef>
                <a:spcPts val="790"/>
              </a:spcBef>
              <a:buAutoNum type="arabicParenR" startAt="8"/>
              <a:tabLst>
                <a:tab pos="17653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Inbox</a:t>
            </a:r>
            <a:r>
              <a:rPr dirty="0" sz="1200" spc="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Clean</a:t>
            </a:r>
            <a:r>
              <a:rPr dirty="0" sz="1200" spc="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Up</a:t>
            </a:r>
            <a:r>
              <a:rPr dirty="0" sz="1200" spc="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Tool:</a:t>
            </a: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 MS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deletes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extra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spaces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dirty="0" sz="1200" spc="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drive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makes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 communication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more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easy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well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effective.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 should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assign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suitable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settings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inbox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saving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recent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only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while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deleting others.</a:t>
            </a:r>
            <a:endParaRPr sz="1200">
              <a:latin typeface="Calibri"/>
              <a:cs typeface="Calibri"/>
            </a:endParaRPr>
          </a:p>
          <a:p>
            <a:pPr algn="just" marL="12700" marR="9525" indent="179705">
              <a:lnSpc>
                <a:spcPct val="101699"/>
              </a:lnSpc>
              <a:spcBef>
                <a:spcPts val="795"/>
              </a:spcBef>
              <a:buAutoNum type="arabicParenR" startAt="8"/>
              <a:tabLst>
                <a:tab pos="192405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Shortcuts\</a:t>
            </a:r>
            <a:r>
              <a:rPr dirty="0" sz="1200" spc="12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Hot</a:t>
            </a:r>
            <a:r>
              <a:rPr dirty="0" sz="1200" spc="13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Keys:</a:t>
            </a:r>
            <a:r>
              <a:rPr dirty="0" sz="1200" spc="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1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highly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dirty="0" sz="1200" spc="1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1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2013,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dirty="0" sz="1200" spc="1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make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communication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easier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more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effective.Shortcut</a:t>
            </a:r>
            <a:r>
              <a:rPr dirty="0" sz="12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keys</a:t>
            </a:r>
            <a:r>
              <a:rPr dirty="0" sz="12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frequently</a:t>
            </a:r>
            <a:r>
              <a:rPr dirty="0" sz="12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supportive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of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who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send\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receives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huge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quantity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messages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regular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basis.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Using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Hot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keys,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complete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task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less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time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efforts.</a:t>
            </a:r>
            <a:endParaRPr sz="1200">
              <a:latin typeface="Calibri"/>
              <a:cs typeface="Calibri"/>
            </a:endParaRPr>
          </a:p>
          <a:p>
            <a:pPr algn="just" marL="12700" marR="5080" indent="255904">
              <a:lnSpc>
                <a:spcPct val="101699"/>
              </a:lnSpc>
              <a:spcBef>
                <a:spcPts val="790"/>
              </a:spcBef>
              <a:buAutoNum type="arabicParenR" startAt="8"/>
              <a:tabLst>
                <a:tab pos="268605" algn="l"/>
              </a:tabLst>
            </a:pPr>
            <a:r>
              <a:rPr dirty="0" sz="1200" spc="-10" b="1">
                <a:solidFill>
                  <a:srgbClr val="333333"/>
                </a:solidFill>
                <a:latin typeface="Calibri"/>
                <a:cs typeface="Calibri"/>
              </a:rPr>
              <a:t>Inter-Communication: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2013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allows</a:t>
            </a:r>
            <a:r>
              <a:rPr dirty="0" sz="1200" spc="1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invite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employees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well</a:t>
            </a:r>
            <a:r>
              <a:rPr dirty="0" sz="1200" spc="1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1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co-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workers</a:t>
            </a:r>
            <a:r>
              <a:rPr dirty="0" sz="1200" spc="4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434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4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meetings</a:t>
            </a:r>
            <a:r>
              <a:rPr dirty="0" sz="1200" spc="4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4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offers</a:t>
            </a:r>
            <a:r>
              <a:rPr dirty="0" sz="1200" spc="4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ease</a:t>
            </a:r>
            <a:r>
              <a:rPr dirty="0" sz="1200" spc="4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409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instantly</a:t>
            </a:r>
            <a:r>
              <a:rPr dirty="0" sz="1200" spc="4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informing</a:t>
            </a:r>
            <a:r>
              <a:rPr dirty="0" sz="1200" spc="4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others</a:t>
            </a:r>
            <a:r>
              <a:rPr dirty="0" sz="1200" spc="4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about</a:t>
            </a:r>
            <a:r>
              <a:rPr dirty="0" sz="1200" spc="4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imperative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schedules.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informs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about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activities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(what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time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they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out)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each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employee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keeps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track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rejected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accepted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requests.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57545" cy="4071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algn="just" marL="12700" marR="7620" indent="274320">
              <a:lnSpc>
                <a:spcPct val="101699"/>
              </a:lnSpc>
              <a:spcBef>
                <a:spcPts val="1864"/>
              </a:spcBef>
              <a:buAutoNum type="arabicParenR" startAt="11"/>
              <a:tabLst>
                <a:tab pos="28702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Ribbons</a:t>
            </a:r>
            <a:r>
              <a:rPr dirty="0" sz="1200" spc="28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&amp;</a:t>
            </a:r>
            <a:r>
              <a:rPr dirty="0" sz="1200" spc="28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Navigation</a:t>
            </a:r>
            <a:r>
              <a:rPr dirty="0" sz="1200" spc="29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Bar:</a:t>
            </a:r>
            <a:r>
              <a:rPr dirty="0" sz="1200" spc="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dirty="0" sz="1200" spc="2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ribbons</a:t>
            </a:r>
            <a:r>
              <a:rPr dirty="0" sz="1200" spc="2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2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navigation</a:t>
            </a:r>
            <a:r>
              <a:rPr dirty="0" sz="1200" spc="3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bar</a:t>
            </a:r>
            <a:r>
              <a:rPr dirty="0" sz="1200" spc="2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3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get</a:t>
            </a:r>
            <a:r>
              <a:rPr dirty="0" sz="1200" spc="2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easier</a:t>
            </a:r>
            <a:r>
              <a:rPr dirty="0" sz="1200" spc="2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proceed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particular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operation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Outlook.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Ribbon</a:t>
            </a:r>
            <a:r>
              <a:rPr dirty="0" sz="1200" spc="10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useful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non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technical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just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clicking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mouse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menu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bar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show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related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features</a:t>
            </a:r>
            <a:r>
              <a:rPr dirty="0" sz="12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in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ribbon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area.</a:t>
            </a:r>
            <a:endParaRPr sz="1200">
              <a:latin typeface="Calibri"/>
              <a:cs typeface="Calibri"/>
            </a:endParaRPr>
          </a:p>
          <a:p>
            <a:pPr algn="just" marL="12700" marR="5080" indent="236854">
              <a:lnSpc>
                <a:spcPct val="101699"/>
              </a:lnSpc>
              <a:spcBef>
                <a:spcPts val="790"/>
              </a:spcBef>
              <a:buAutoNum type="arabicParenR" startAt="11"/>
              <a:tabLst>
                <a:tab pos="249554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Support</a:t>
            </a:r>
            <a:r>
              <a:rPr dirty="0" sz="12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Exchange</a:t>
            </a:r>
            <a:r>
              <a:rPr dirty="0" sz="1200" spc="-1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Server:</a:t>
            </a:r>
            <a:r>
              <a:rPr dirty="0" sz="1200" spc="1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organizations prefer to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set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up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Exchange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keep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secure</a:t>
            </a:r>
            <a:r>
              <a:rPr dirty="0" sz="1200" spc="1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communication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1200" spc="1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centralization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purpose.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1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Outlook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Exchange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both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products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developed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fully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supported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each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other.</a:t>
            </a:r>
            <a:endParaRPr sz="1200">
              <a:latin typeface="Calibri"/>
              <a:cs typeface="Calibri"/>
            </a:endParaRPr>
          </a:p>
          <a:p>
            <a:pPr algn="just" marL="12700" marR="8255" indent="259079">
              <a:lnSpc>
                <a:spcPct val="101699"/>
              </a:lnSpc>
              <a:spcBef>
                <a:spcPts val="795"/>
              </a:spcBef>
              <a:buAutoNum type="arabicParenR" startAt="11"/>
              <a:tabLst>
                <a:tab pos="27178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Free</a:t>
            </a:r>
            <a:r>
              <a:rPr dirty="0" sz="1200" spc="17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Import</a:t>
            </a:r>
            <a:r>
              <a:rPr dirty="0" sz="1200" spc="15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Export</a:t>
            </a:r>
            <a:r>
              <a:rPr dirty="0" sz="1200" spc="17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Facility: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Microsoft</a:t>
            </a:r>
            <a:r>
              <a:rPr dirty="0" sz="1200" spc="1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provides</a:t>
            </a:r>
            <a:r>
              <a:rPr dirty="0" sz="1200" spc="1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1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free</a:t>
            </a:r>
            <a:r>
              <a:rPr dirty="0" sz="1200" spc="1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Import</a:t>
            </a:r>
            <a:r>
              <a:rPr dirty="0" sz="1200" spc="1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Export</a:t>
            </a:r>
            <a:r>
              <a:rPr dirty="0" sz="1200" spc="1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Wizard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helps users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exporting and</a:t>
            </a:r>
            <a:r>
              <a:rPr dirty="0" sz="1200" spc="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Importing data</a:t>
            </a:r>
            <a:r>
              <a:rPr dirty="0" sz="120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from/to MS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Outlook.</a:t>
            </a:r>
            <a:r>
              <a:rPr dirty="0" sz="1200" spc="-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Through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function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with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other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clients.</a:t>
            </a:r>
            <a:endParaRPr sz="1200">
              <a:latin typeface="Calibri"/>
              <a:cs typeface="Calibri"/>
            </a:endParaRPr>
          </a:p>
          <a:p>
            <a:pPr algn="just" marL="12700" marR="6350" indent="246379">
              <a:lnSpc>
                <a:spcPct val="101800"/>
              </a:lnSpc>
              <a:spcBef>
                <a:spcPts val="790"/>
              </a:spcBef>
              <a:buAutoNum type="arabicParenR" startAt="11"/>
              <a:tabLst>
                <a:tab pos="259079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Manage</a:t>
            </a:r>
            <a:r>
              <a:rPr dirty="0" sz="1200" spc="5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Rules</a:t>
            </a:r>
            <a:r>
              <a:rPr dirty="0" sz="1200" spc="6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7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Alerts: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another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strong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6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Outlook,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which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help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users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create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rules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7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MS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send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emails</a:t>
            </a:r>
            <a:r>
              <a:rPr dirty="0" sz="1200" spc="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particular</a:t>
            </a:r>
            <a:r>
              <a:rPr dirty="0" sz="1200" spc="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filtered</a:t>
            </a:r>
            <a:r>
              <a:rPr dirty="0" sz="1200" spc="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folder.</a:t>
            </a:r>
            <a:r>
              <a:rPr dirty="0" sz="1200" spc="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Using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feature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also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dirty="0" sz="12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create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manage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alerts.</a:t>
            </a:r>
            <a:endParaRPr sz="1200">
              <a:latin typeface="Calibri"/>
              <a:cs typeface="Calibri"/>
            </a:endParaRPr>
          </a:p>
          <a:p>
            <a:pPr algn="just" marL="12700" marR="11430" indent="304800">
              <a:lnSpc>
                <a:spcPct val="101699"/>
              </a:lnSpc>
              <a:spcBef>
                <a:spcPts val="790"/>
              </a:spcBef>
              <a:buAutoNum type="arabicParenR" startAt="11"/>
              <a:tabLst>
                <a:tab pos="317500" algn="l"/>
              </a:tabLst>
            </a:pP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Work</a:t>
            </a:r>
            <a:r>
              <a:rPr dirty="0" sz="1200" spc="120" b="1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 b="1">
                <a:solidFill>
                  <a:srgbClr val="333333"/>
                </a:solidFill>
                <a:latin typeface="Calibri"/>
                <a:cs typeface="Calibri"/>
              </a:rPr>
              <a:t>Offline:</a:t>
            </a:r>
            <a:r>
              <a:rPr dirty="0" sz="1200" spc="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dirty="0" sz="1200" spc="114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switch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work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Offline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that's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mean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your</a:t>
            </a:r>
            <a:r>
              <a:rPr dirty="0" sz="1200" spc="120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Outlook</a:t>
            </a:r>
            <a:r>
              <a:rPr dirty="0" sz="1200" spc="125">
                <a:solidFill>
                  <a:srgbClr val="333333"/>
                </a:solidFill>
                <a:latin typeface="Calibri"/>
                <a:cs typeface="Calibri"/>
              </a:rPr>
              <a:t> 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disconnected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mail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server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1200" spc="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you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dirty="0" sz="1200" spc="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able</a:t>
            </a:r>
            <a:r>
              <a:rPr dirty="0" sz="120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send</a:t>
            </a:r>
            <a:r>
              <a:rPr dirty="0" sz="120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or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receive</a:t>
            </a:r>
            <a:r>
              <a:rPr dirty="0" sz="1200" spc="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emails</a:t>
            </a:r>
            <a:r>
              <a:rPr dirty="0" sz="12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until</a:t>
            </a:r>
            <a:r>
              <a:rPr dirty="0" sz="1200" spc="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you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will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switch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working</a:t>
            </a:r>
            <a:r>
              <a:rPr dirty="0" sz="12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offline</a:t>
            </a:r>
            <a:r>
              <a:rPr dirty="0" sz="12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Online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2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Calibri"/>
                <a:cs typeface="Calibri"/>
              </a:rPr>
              <a:t>Outlook.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30604" y="1249426"/>
            <a:ext cx="5448300" cy="798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937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UNIT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  <a:p>
            <a:pPr algn="ctr" marL="7874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DESKTOP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PUBLISHING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DEFINITION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DTP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71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describe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layout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skills.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However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skills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publishing.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skills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often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promotional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items, </a:t>
            </a:r>
            <a:r>
              <a:rPr dirty="0" sz="1200">
                <a:latin typeface="Calibri"/>
                <a:cs typeface="Calibri"/>
              </a:rPr>
              <a:t>trade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exhibits,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outdoor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could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said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Advantages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desktop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publishing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230"/>
              </a:spcBef>
              <a:buAutoNum type="arabicPeriod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yourself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 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money.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changes.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effectively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ideas.</a:t>
            </a:r>
            <a:endParaRPr sz="1200">
              <a:latin typeface="Calibri"/>
              <a:cs typeface="Calibri"/>
            </a:endParaRPr>
          </a:p>
          <a:p>
            <a:pPr marL="241300" marR="140970" indent="-229235">
              <a:lnSpc>
                <a:spcPct val="116700"/>
              </a:lnSpc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specify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margins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justifications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embed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illustrations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</a:t>
            </a:r>
            <a:endParaRPr sz="1200">
              <a:latin typeface="Calibri"/>
              <a:cs typeface="Calibri"/>
            </a:endParaRPr>
          </a:p>
          <a:p>
            <a:pPr marL="241300" marR="17780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publishing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 </a:t>
            </a:r>
            <a:r>
              <a:rPr dirty="0" sz="1200">
                <a:latin typeface="Calibri"/>
                <a:cs typeface="Calibri"/>
              </a:rPr>
              <a:t>exactly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printed.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this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WYSIWYGs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(what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get)</a:t>
            </a:r>
            <a:endParaRPr sz="1200">
              <a:latin typeface="Calibri"/>
              <a:cs typeface="Calibri"/>
            </a:endParaRPr>
          </a:p>
          <a:p>
            <a:pPr marL="241300" marR="71120" indent="-229235">
              <a:lnSpc>
                <a:spcPct val="116700"/>
              </a:lnSpc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Desktop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publishing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popular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newsletters, </a:t>
            </a:r>
            <a:r>
              <a:rPr dirty="0" sz="1200">
                <a:latin typeface="Calibri"/>
                <a:cs typeface="Calibri"/>
              </a:rPr>
              <a:t>brochures,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formerly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typesetter.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Computer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virus</a:t>
            </a:r>
            <a:endParaRPr sz="1200">
              <a:latin typeface="Calibri"/>
              <a:cs typeface="Calibri"/>
            </a:endParaRPr>
          </a:p>
          <a:p>
            <a:pPr marL="12700" marR="38735">
              <a:lnSpc>
                <a:spcPct val="1173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0">
                <a:latin typeface="Calibri"/>
                <a:cs typeface="Calibri"/>
              </a:rPr>
              <a:t> biological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counterparts,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10">
                <a:latin typeface="Calibri"/>
                <a:cs typeface="Calibri"/>
              </a:rPr>
              <a:t> types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reproducing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organism.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spread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one </a:t>
            </a:r>
            <a:r>
              <a:rPr dirty="0" sz="1200" spc="-10">
                <a:latin typeface="Calibri"/>
                <a:cs typeface="Calibri"/>
              </a:rPr>
              <a:t>computer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bulletin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boards,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telecommunication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floppy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disks.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Types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0" b="1">
                <a:latin typeface="Calibri"/>
                <a:cs typeface="Calibri"/>
              </a:rPr>
              <a:t> Computer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viruses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A.</a:t>
            </a:r>
            <a:r>
              <a:rPr dirty="0" sz="1200" spc="4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basis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damages</a:t>
            </a:r>
            <a:endParaRPr sz="1200">
              <a:latin typeface="Calibri"/>
              <a:cs typeface="Calibri"/>
            </a:endParaRPr>
          </a:p>
          <a:p>
            <a:pPr lvl="1" marL="698500" marR="52069" indent="-228600">
              <a:lnSpc>
                <a:spcPct val="116700"/>
              </a:lnSpc>
              <a:spcBef>
                <a:spcPts val="25"/>
              </a:spcBef>
              <a:buFont typeface="Wingdings"/>
              <a:buChar char=""/>
              <a:tabLst>
                <a:tab pos="698500" algn="l"/>
              </a:tabLst>
            </a:pPr>
            <a:r>
              <a:rPr dirty="0" sz="1200" b="1">
                <a:latin typeface="Calibri"/>
                <a:cs typeface="Calibri"/>
              </a:rPr>
              <a:t>Boot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floppy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master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boot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replacing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elsewhere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 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first </a:t>
            </a:r>
            <a:r>
              <a:rPr dirty="0" sz="1200">
                <a:latin typeface="Calibri"/>
                <a:cs typeface="Calibri"/>
              </a:rPr>
              <a:t>sector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>
                <a:latin typeface="Calibri"/>
                <a:cs typeface="Calibri"/>
              </a:rPr>
              <a:t>switched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38495" cy="899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714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927100" marR="94615" indent="-228600">
              <a:lnSpc>
                <a:spcPct val="116700"/>
              </a:lnSpc>
              <a:spcBef>
                <a:spcPts val="1650"/>
              </a:spcBef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Programme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executable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.BIN,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.COM,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.EXE,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.DRV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.SYS.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copies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infecting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disk.</a:t>
            </a:r>
            <a:endParaRPr sz="1200">
              <a:latin typeface="Calibri"/>
              <a:cs typeface="Calibri"/>
            </a:endParaRPr>
          </a:p>
          <a:p>
            <a:pPr marL="927100" marR="75565" indent="-228600">
              <a:lnSpc>
                <a:spcPct val="116700"/>
              </a:lnSpc>
              <a:buFont typeface="Wingdings"/>
              <a:buChar char=""/>
              <a:tabLst>
                <a:tab pos="927100" algn="l"/>
                <a:tab pos="959485" algn="l"/>
              </a:tabLst>
            </a:pP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 b="1">
                <a:latin typeface="Calibri"/>
                <a:cs typeface="Calibri"/>
              </a:rPr>
              <a:t>Multipartite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viruses.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These </a:t>
            </a:r>
            <a:r>
              <a:rPr dirty="0" sz="1200">
                <a:latin typeface="Calibri"/>
                <a:cs typeface="Calibri"/>
              </a:rPr>
              <a:t>infect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 files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infected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then </a:t>
            </a:r>
            <a:r>
              <a:rPr dirty="0" sz="1200">
                <a:latin typeface="Calibri"/>
                <a:cs typeface="Calibri"/>
              </a:rPr>
              <a:t>viruses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virus</a:t>
            </a:r>
            <a:endParaRPr sz="1200">
              <a:latin typeface="Calibri"/>
              <a:cs typeface="Calibri"/>
            </a:endParaRPr>
          </a:p>
          <a:p>
            <a:pPr marL="927100" marR="51117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infecting</a:t>
            </a:r>
            <a:r>
              <a:rPr dirty="0" sz="1200" spc="-10">
                <a:latin typeface="Calibri"/>
                <a:cs typeface="Calibri"/>
              </a:rPr>
              <a:t> other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disk.</a:t>
            </a:r>
            <a:endParaRPr sz="1200">
              <a:latin typeface="Calibri"/>
              <a:cs typeface="Calibri"/>
            </a:endParaRPr>
          </a:p>
          <a:p>
            <a:pPr marL="927100" marR="141605" indent="-228600">
              <a:lnSpc>
                <a:spcPct val="116700"/>
              </a:lnSpc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Stealth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avoid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 variety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 spc="-10">
                <a:latin typeface="Calibri"/>
                <a:cs typeface="Calibri"/>
              </a:rPr>
              <a:t>removing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registry,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masquerading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etc.</a:t>
            </a:r>
            <a:endParaRPr sz="1200">
              <a:latin typeface="Calibri"/>
              <a:cs typeface="Calibri"/>
            </a:endParaRPr>
          </a:p>
          <a:p>
            <a:pPr marL="926465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926465" algn="l"/>
              </a:tabLst>
            </a:pPr>
            <a:r>
              <a:rPr dirty="0" sz="1200" b="1">
                <a:latin typeface="Calibri"/>
                <a:cs typeface="Calibri"/>
              </a:rPr>
              <a:t>Parasitic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themselves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</a:t>
            </a:r>
            <a:endParaRPr sz="1200">
              <a:latin typeface="Calibri"/>
              <a:cs typeface="Calibri"/>
            </a:endParaRPr>
          </a:p>
          <a:p>
            <a:pPr algn="just" marL="927100" marR="93345">
              <a:lnSpc>
                <a:spcPct val="116799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activated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executed.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spreads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affected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copied.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embeds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viable.</a:t>
            </a:r>
            <a:endParaRPr sz="1200">
              <a:latin typeface="Calibri"/>
              <a:cs typeface="Calibri"/>
            </a:endParaRPr>
          </a:p>
          <a:p>
            <a:pPr marL="927100" marR="412115" indent="-228600">
              <a:lnSpc>
                <a:spcPct val="116700"/>
              </a:lnSpc>
              <a:buFont typeface="Wingdings"/>
              <a:buChar char=""/>
              <a:tabLst>
                <a:tab pos="927100" algn="l"/>
              </a:tabLst>
            </a:pPr>
            <a:r>
              <a:rPr dirty="0" sz="1200" spc="-10" b="1">
                <a:latin typeface="Calibri"/>
                <a:cs typeface="Calibri"/>
              </a:rPr>
              <a:t>Polymorphic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avoid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removal.</a:t>
            </a:r>
            <a:endParaRPr sz="1200">
              <a:latin typeface="Calibri"/>
              <a:cs typeface="Calibri"/>
            </a:endParaRPr>
          </a:p>
          <a:p>
            <a:pPr marL="927100" marR="5080" indent="-228600">
              <a:lnSpc>
                <a:spcPct val="116700"/>
              </a:lnSpc>
              <a:spcBef>
                <a:spcPts val="20"/>
              </a:spcBef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Macro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virus: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macro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macros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processing</a:t>
            </a:r>
            <a:r>
              <a:rPr dirty="0" sz="1200" spc="-25">
                <a:latin typeface="Calibri"/>
                <a:cs typeface="Calibri"/>
              </a:rPr>
              <a:t> or </a:t>
            </a:r>
            <a:r>
              <a:rPr dirty="0" sz="1200">
                <a:latin typeface="Calibri"/>
                <a:cs typeface="Calibri"/>
              </a:rPr>
              <a:t>spread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macro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infects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 template-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formatting settings.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65"/>
              </a:spcBef>
            </a:pPr>
            <a:r>
              <a:rPr dirty="0" sz="1200" b="1">
                <a:latin typeface="Calibri"/>
                <a:cs typeface="Calibri"/>
              </a:rPr>
              <a:t>B.</a:t>
            </a:r>
            <a:r>
              <a:rPr dirty="0" sz="1200" spc="49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basis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function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propagation</a:t>
            </a:r>
            <a:endParaRPr sz="1200">
              <a:latin typeface="Calibri"/>
              <a:cs typeface="Calibri"/>
            </a:endParaRPr>
          </a:p>
          <a:p>
            <a:pPr marL="927100" marR="433705" indent="-228600">
              <a:lnSpc>
                <a:spcPts val="1680"/>
              </a:lnSpc>
              <a:spcBef>
                <a:spcPts val="95"/>
              </a:spcBef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Trojan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horse: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Trojan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horse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attackers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remote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victim’s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computers.</a:t>
            </a:r>
            <a:endParaRPr sz="1200">
              <a:latin typeface="Calibri"/>
              <a:cs typeface="Calibri"/>
            </a:endParaRPr>
          </a:p>
          <a:p>
            <a:pPr marL="927100" marR="22860" indent="-228600">
              <a:lnSpc>
                <a:spcPts val="1680"/>
              </a:lnSpc>
              <a:spcBef>
                <a:spcPts val="5"/>
              </a:spcBef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Worm: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piece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replicate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spreads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another machine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duplicate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finally</a:t>
            </a:r>
            <a:endParaRPr sz="1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65"/>
              </a:spcBef>
            </a:pPr>
            <a:r>
              <a:rPr dirty="0" sz="1200">
                <a:latin typeface="Calibri"/>
                <a:cs typeface="Calibri"/>
              </a:rPr>
              <a:t>clogging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copies.</a:t>
            </a:r>
            <a:endParaRPr sz="1200">
              <a:latin typeface="Calibri"/>
              <a:cs typeface="Calibri"/>
            </a:endParaRPr>
          </a:p>
          <a:p>
            <a:pPr marL="927100" marR="243204" indent="-228600">
              <a:lnSpc>
                <a:spcPct val="116700"/>
              </a:lnSpc>
              <a:spcBef>
                <a:spcPts val="5"/>
              </a:spcBef>
              <a:buFont typeface="Wingdings"/>
              <a:buChar char=""/>
              <a:tabLst>
                <a:tab pos="927100" algn="l"/>
              </a:tabLst>
            </a:pPr>
            <a:r>
              <a:rPr dirty="0" sz="1200" b="1">
                <a:latin typeface="Calibri"/>
                <a:cs typeface="Calibri"/>
              </a:rPr>
              <a:t>Bomb: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Bomb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doesn’t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propagate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placed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human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trigger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Usually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something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unpleasant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goes</a:t>
            </a:r>
            <a:r>
              <a:rPr dirty="0" sz="1200" spc="-20">
                <a:latin typeface="Calibri"/>
                <a:cs typeface="Calibri"/>
              </a:rPr>
              <a:t> off.</a:t>
            </a:r>
            <a:endParaRPr sz="1200">
              <a:latin typeface="Calibri"/>
              <a:cs typeface="Calibri"/>
            </a:endParaRPr>
          </a:p>
          <a:p>
            <a:pPr marL="926465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926465" algn="l"/>
              </a:tabLst>
            </a:pPr>
            <a:r>
              <a:rPr dirty="0" sz="1200" b="1">
                <a:latin typeface="Calibri"/>
                <a:cs typeface="Calibri"/>
              </a:rPr>
              <a:t>Port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scanner: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scanner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surrounding</a:t>
            </a:r>
            <a:endParaRPr sz="1200">
              <a:latin typeface="Calibri"/>
              <a:cs typeface="Calibri"/>
            </a:endParaRPr>
          </a:p>
          <a:p>
            <a:pPr marL="927100" marR="379730">
              <a:lnSpc>
                <a:spcPct val="116799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 malicious</a:t>
            </a:r>
            <a:r>
              <a:rPr dirty="0" sz="1200">
                <a:latin typeface="Calibri"/>
                <a:cs typeface="Calibri"/>
              </a:rPr>
              <a:t> code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individuals.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Internet</a:t>
            </a:r>
            <a:endParaRPr sz="1200">
              <a:latin typeface="Calibri"/>
              <a:cs typeface="Calibri"/>
            </a:endParaRPr>
          </a:p>
          <a:p>
            <a:pPr marL="12700" marR="106045">
              <a:lnSpc>
                <a:spcPct val="1167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world.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200" spc="-10" b="1">
                <a:latin typeface="Calibri"/>
                <a:cs typeface="Calibri"/>
              </a:rPr>
              <a:t>Definitions</a:t>
            </a:r>
            <a:r>
              <a:rPr dirty="0" sz="1200" b="1">
                <a:latin typeface="Calibri"/>
                <a:cs typeface="Calibri"/>
              </a:rPr>
              <a:t> of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internet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56563"/>
            <a:ext cx="128269" cy="119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383283"/>
            <a:ext cx="128269" cy="119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596643"/>
            <a:ext cx="128269" cy="1191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810003"/>
            <a:ext cx="128269" cy="1191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02004" y="426465"/>
            <a:ext cx="5748020" cy="9245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20955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fiber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optics,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satellite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links,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 media.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family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world.</a:t>
            </a:r>
            <a:endParaRPr sz="1200">
              <a:latin typeface="Calibri"/>
              <a:cs typeface="Calibri"/>
            </a:endParaRPr>
          </a:p>
          <a:p>
            <a:pPr marL="469900" marR="224154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professionals </a:t>
            </a:r>
            <a:r>
              <a:rPr dirty="0" sz="1200">
                <a:latin typeface="Calibri"/>
                <a:cs typeface="Calibri"/>
              </a:rPr>
              <a:t>in 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 </a:t>
            </a:r>
            <a:r>
              <a:rPr dirty="0" sz="1200" spc="-10">
                <a:latin typeface="Calibri"/>
                <a:cs typeface="Calibri"/>
              </a:rPr>
              <a:t>work.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hundreds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libraries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archives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tips.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Advantages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internet</a:t>
            </a:r>
            <a:endParaRPr sz="1200">
              <a:latin typeface="Calibri"/>
              <a:cs typeface="Calibri"/>
            </a:endParaRPr>
          </a:p>
          <a:p>
            <a:pPr marL="468630" marR="50165" indent="-167005">
              <a:lnSpc>
                <a:spcPct val="116700"/>
              </a:lnSpc>
              <a:spcBef>
                <a:spcPts val="1005"/>
              </a:spcBef>
              <a:buFont typeface="Wingdings"/>
              <a:buChar char=""/>
              <a:tabLst>
                <a:tab pos="530860" algn="l"/>
              </a:tabLst>
            </a:pPr>
            <a:r>
              <a:rPr dirty="0" sz="1200" spc="-20" b="1">
                <a:latin typeface="Calibri"/>
                <a:cs typeface="Calibri"/>
              </a:rPr>
              <a:t>E-</a:t>
            </a:r>
            <a:r>
              <a:rPr dirty="0" sz="1200" b="1">
                <a:latin typeface="Calibri"/>
                <a:cs typeface="Calibri"/>
              </a:rPr>
              <a:t>mail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E-</a:t>
            </a:r>
            <a:r>
              <a:rPr dirty="0" sz="1200">
                <a:latin typeface="Calibri"/>
                <a:cs typeface="Calibri"/>
              </a:rPr>
              <a:t>mail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 essential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also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5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excellent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touch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family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advantages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e-mail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telephone,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fax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services.</a:t>
            </a:r>
            <a:endParaRPr sz="1200">
              <a:latin typeface="Calibri"/>
              <a:cs typeface="Calibri"/>
            </a:endParaRPr>
          </a:p>
          <a:p>
            <a:pPr marL="468630" marR="40005" indent="-167005">
              <a:lnSpc>
                <a:spcPct val="116700"/>
              </a:lnSpc>
              <a:spcBef>
                <a:spcPts val="25"/>
              </a:spcBef>
              <a:buFont typeface="Wingdings"/>
              <a:buChar char=""/>
              <a:tabLst>
                <a:tab pos="530860" algn="l"/>
              </a:tabLst>
            </a:pPr>
            <a:r>
              <a:rPr dirty="0" sz="1200" b="1">
                <a:latin typeface="Calibri"/>
                <a:cs typeface="Calibri"/>
              </a:rPr>
              <a:t>Information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just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subject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government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trade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conferences,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 </a:t>
            </a:r>
            <a:r>
              <a:rPr dirty="0" sz="1200" spc="-10">
                <a:latin typeface="Calibri"/>
                <a:cs typeface="Calibri"/>
              </a:rPr>
              <a:t>information,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technical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support.</a:t>
            </a:r>
            <a:endParaRPr sz="1200">
              <a:latin typeface="Calibri"/>
              <a:cs typeface="Calibri"/>
            </a:endParaRPr>
          </a:p>
          <a:p>
            <a:pPr marL="468630" marR="5080" indent="-167005">
              <a:lnSpc>
                <a:spcPct val="116700"/>
              </a:lnSpc>
              <a:spcBef>
                <a:spcPts val="5"/>
              </a:spcBef>
              <a:buFont typeface="Wingdings"/>
              <a:buChar char=""/>
              <a:tabLst>
                <a:tab pos="530860" algn="l"/>
              </a:tabLst>
            </a:pPr>
            <a:r>
              <a:rPr dirty="0" sz="1200" b="1">
                <a:latin typeface="Calibri"/>
                <a:cs typeface="Calibri"/>
              </a:rPr>
              <a:t>Services: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banking,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job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seeking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hotel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reservations. Often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not</a:t>
            </a:r>
            <a:endParaRPr sz="1200">
              <a:latin typeface="Calibri"/>
              <a:cs typeface="Calibri"/>
            </a:endParaRPr>
          </a:p>
          <a:p>
            <a:pPr marL="53086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more.</a:t>
            </a:r>
            <a:endParaRPr sz="1200">
              <a:latin typeface="Calibri"/>
              <a:cs typeface="Calibri"/>
            </a:endParaRPr>
          </a:p>
          <a:p>
            <a:pPr marL="468630" marR="53340" indent="-167005">
              <a:lnSpc>
                <a:spcPct val="116700"/>
              </a:lnSpc>
              <a:buFont typeface="Wingdings"/>
              <a:buChar char=""/>
              <a:tabLst>
                <a:tab pos="530860" algn="l"/>
              </a:tabLst>
            </a:pPr>
            <a:r>
              <a:rPr dirty="0" sz="1200" spc="-20" b="1">
                <a:latin typeface="Calibri"/>
                <a:cs typeface="Calibri"/>
              </a:rPr>
              <a:t>E-</a:t>
            </a:r>
            <a:r>
              <a:rPr dirty="0" sz="1200" b="1">
                <a:latin typeface="Calibri"/>
                <a:cs typeface="Calibri"/>
              </a:rPr>
              <a:t>commerce: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E-</a:t>
            </a:r>
            <a:r>
              <a:rPr dirty="0" sz="1200">
                <a:latin typeface="Calibri"/>
                <a:cs typeface="Calibri"/>
              </a:rPr>
              <a:t>commerce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 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commercial 	manoeuvrings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deals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transfer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globe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phenomenon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associated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kind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shopping,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almost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anything.</a:t>
            </a:r>
            <a:endParaRPr sz="1200">
              <a:latin typeface="Calibri"/>
              <a:cs typeface="Calibri"/>
            </a:endParaRPr>
          </a:p>
          <a:p>
            <a:pPr marL="468630" marR="139065" indent="-167005">
              <a:lnSpc>
                <a:spcPts val="1700"/>
              </a:lnSpc>
              <a:spcBef>
                <a:spcPts val="80"/>
              </a:spcBef>
              <a:buFont typeface="Wingdings"/>
              <a:buChar char=""/>
              <a:tabLst>
                <a:tab pos="530860" algn="l"/>
              </a:tabLst>
            </a:pPr>
            <a:r>
              <a:rPr dirty="0" sz="1200" spc="-10" b="1">
                <a:latin typeface="Calibri"/>
                <a:cs typeface="Calibri"/>
              </a:rPr>
              <a:t>Communities: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Communities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sprung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It’s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great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discuss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issues.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latin typeface="Calibri"/>
                <a:cs typeface="Calibri"/>
              </a:rPr>
              <a:t>Drawbacks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internet</a:t>
            </a:r>
            <a:endParaRPr sz="1200">
              <a:latin typeface="Calibri"/>
              <a:cs typeface="Calibri"/>
            </a:endParaRPr>
          </a:p>
          <a:p>
            <a:pPr marL="468630" marR="50800" indent="-227965">
              <a:lnSpc>
                <a:spcPct val="117500"/>
              </a:lnSpc>
              <a:spcBef>
                <a:spcPts val="975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Theft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personal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information: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internet,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danger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50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etc,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be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accessed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culprits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worse.</a:t>
            </a:r>
            <a:endParaRPr sz="1200">
              <a:latin typeface="Calibri"/>
              <a:cs typeface="Calibri"/>
            </a:endParaRPr>
          </a:p>
          <a:p>
            <a:pPr algn="just" marL="468630" marR="17145" indent="-227965">
              <a:lnSpc>
                <a:spcPct val="116700"/>
              </a:lnSpc>
              <a:buFont typeface="Wingdings"/>
              <a:buChar char="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Spamming: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spamming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unwanted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e-mails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bulk,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needlessly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obstruct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illegal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very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frustrating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ignoring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effort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try</a:t>
            </a:r>
            <a:endParaRPr sz="1200">
              <a:latin typeface="Calibri"/>
              <a:cs typeface="Calibri"/>
            </a:endParaRPr>
          </a:p>
          <a:p>
            <a:pPr algn="just" marL="4699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activities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become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much</a:t>
            </a:r>
            <a:r>
              <a:rPr dirty="0" sz="1200" spc="-10">
                <a:latin typeface="Calibri"/>
                <a:cs typeface="Calibri"/>
              </a:rPr>
              <a:t> safer.</a:t>
            </a:r>
            <a:endParaRPr sz="1200">
              <a:latin typeface="Calibri"/>
              <a:cs typeface="Calibri"/>
            </a:endParaRPr>
          </a:p>
          <a:p>
            <a:pPr marL="468630" marR="279400" indent="-227965">
              <a:lnSpc>
                <a:spcPct val="116700"/>
              </a:lnSpc>
              <a:buFont typeface="Wingdings"/>
              <a:buChar char=""/>
              <a:tabLst>
                <a:tab pos="469900" algn="l"/>
              </a:tabLst>
            </a:pPr>
            <a:r>
              <a:rPr dirty="0" sz="1200" b="1">
                <a:latin typeface="Calibri"/>
                <a:cs typeface="Calibri"/>
              </a:rPr>
              <a:t>Virus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threat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nothing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programme,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disrupts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functioning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attached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more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prone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attacks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crashing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disk,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causing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headache.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Pornography: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perhaps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biggest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children’s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healthy</a:t>
            </a:r>
            <a:endParaRPr sz="1200">
              <a:latin typeface="Calibri"/>
              <a:cs typeface="Calibri"/>
            </a:endParaRPr>
          </a:p>
          <a:p>
            <a:pPr algn="just" marL="469900" marR="33655">
              <a:lnSpc>
                <a:spcPct val="116799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mental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life.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serious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concerning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thousands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pornographic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internet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detrimental </a:t>
            </a:r>
            <a:r>
              <a:rPr dirty="0" sz="1200">
                <a:latin typeface="Calibri"/>
                <a:cs typeface="Calibri"/>
              </a:rPr>
              <a:t>factor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children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internet.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20" b="1">
                <a:latin typeface="Calibri"/>
                <a:cs typeface="Calibri"/>
              </a:rPr>
              <a:t>E-mail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376545" cy="906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7909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mail,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e-mail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exchanged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telecommunications.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2004" y="1804542"/>
            <a:ext cx="5738495" cy="764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Advantages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E-</a:t>
            </a:r>
            <a:r>
              <a:rPr dirty="0" sz="1200" spc="-20" b="1">
                <a:latin typeface="Calibri"/>
                <a:cs typeface="Calibri"/>
              </a:rPr>
              <a:t>Mails</a:t>
            </a:r>
            <a:endParaRPr sz="1200">
              <a:latin typeface="Calibri"/>
              <a:cs typeface="Calibri"/>
            </a:endParaRPr>
          </a:p>
          <a:p>
            <a:pPr marL="468630" marR="163830" indent="-227965">
              <a:lnSpc>
                <a:spcPct val="116700"/>
              </a:lnSpc>
              <a:spcBef>
                <a:spcPts val="100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very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daily </a:t>
            </a:r>
            <a:r>
              <a:rPr dirty="0" sz="1200" spc="-10">
                <a:latin typeface="Calibri"/>
                <a:cs typeface="Calibri"/>
              </a:rPr>
              <a:t>correspondence,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electronic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computers.</a:t>
            </a:r>
            <a:endParaRPr sz="1200">
              <a:latin typeface="Calibri"/>
              <a:cs typeface="Calibri"/>
            </a:endParaRPr>
          </a:p>
          <a:p>
            <a:pPr marL="468630" marR="413384" indent="-227965">
              <a:lnSpc>
                <a:spcPct val="116700"/>
              </a:lnSpc>
              <a:spcBef>
                <a:spcPts val="2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written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informal.</a:t>
            </a:r>
            <a:endParaRPr sz="1200">
              <a:latin typeface="Calibri"/>
              <a:cs typeface="Calibri"/>
            </a:endParaRPr>
          </a:p>
          <a:p>
            <a:pPr marL="468630" marR="194945" indent="-227965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 email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5">
                <a:latin typeface="Calibri"/>
                <a:cs typeface="Calibri"/>
              </a:rPr>
              <a:t> you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answer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recipient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about.</a:t>
            </a:r>
            <a:endParaRPr sz="1200">
              <a:latin typeface="Calibri"/>
              <a:cs typeface="Calibri"/>
            </a:endParaRPr>
          </a:p>
          <a:p>
            <a:pPr marL="468630" marR="5080" indent="-227965">
              <a:lnSpc>
                <a:spcPct val="116700"/>
              </a:lnSpc>
              <a:spcBef>
                <a:spcPts val="3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possible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certain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possible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vacation.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</a:t>
            </a:r>
            <a:r>
              <a:rPr dirty="0" sz="1200" spc="-10">
                <a:latin typeface="Calibri"/>
                <a:cs typeface="Calibri"/>
              </a:rPr>
              <a:t> responders.</a:t>
            </a:r>
            <a:endParaRPr sz="1200">
              <a:latin typeface="Calibri"/>
              <a:cs typeface="Calibri"/>
            </a:endParaRPr>
          </a:p>
          <a:p>
            <a:pPr marL="468630" marR="89535" indent="-227965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paper. They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trees</a:t>
            </a:r>
            <a:r>
              <a:rPr dirty="0" sz="1200" spc="-20">
                <a:latin typeface="Calibri"/>
                <a:cs typeface="Calibri"/>
              </a:rPr>
              <a:t> from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down.</a:t>
            </a:r>
            <a:endParaRPr sz="1200">
              <a:latin typeface="Calibri"/>
              <a:cs typeface="Calibri"/>
            </a:endParaRPr>
          </a:p>
          <a:p>
            <a:pPr marL="468630" marR="47625" indent="-227965">
              <a:lnSpc>
                <a:spcPts val="1710"/>
              </a:lnSpc>
              <a:spcBef>
                <a:spcPts val="7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birthday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newsletters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emails.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advertised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inform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Disadvantages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E-</a:t>
            </a:r>
            <a:r>
              <a:rPr dirty="0" sz="1200" spc="-20" b="1">
                <a:latin typeface="Calibri"/>
                <a:cs typeface="Calibri"/>
              </a:rPr>
              <a:t>Mails</a:t>
            </a:r>
            <a:endParaRPr sz="1200">
              <a:latin typeface="Calibri"/>
              <a:cs typeface="Calibri"/>
            </a:endParaRPr>
          </a:p>
          <a:p>
            <a:pPr algn="just" marL="468630" marR="482600" indent="-227965">
              <a:lnSpc>
                <a:spcPct val="116700"/>
              </a:lnSpc>
              <a:spcBef>
                <a:spcPts val="101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viruses.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system.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themselves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5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world.</a:t>
            </a:r>
            <a:endParaRPr sz="1200">
              <a:latin typeface="Calibri"/>
              <a:cs typeface="Calibri"/>
            </a:endParaRPr>
          </a:p>
          <a:p>
            <a:pPr marL="468630" marR="93980" indent="-227965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people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unwanted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mails.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takes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unwanted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important.</a:t>
            </a:r>
            <a:endParaRPr sz="1200">
              <a:latin typeface="Calibri"/>
              <a:cs typeface="Calibri"/>
            </a:endParaRPr>
          </a:p>
          <a:p>
            <a:pPr marL="468630" marR="163830" indent="-227965">
              <a:lnSpc>
                <a:spcPct val="116700"/>
              </a:lnSpc>
              <a:spcBef>
                <a:spcPts val="2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 really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sign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them.</a:t>
            </a:r>
            <a:endParaRPr sz="1200">
              <a:latin typeface="Calibri"/>
              <a:cs typeface="Calibri"/>
            </a:endParaRPr>
          </a:p>
          <a:p>
            <a:pPr marL="468630" marR="70485" indent="-227965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mailbox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flooded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certain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empty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Designing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Web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  <a:p>
            <a:pPr marL="12700" marR="2814320">
              <a:lnSpc>
                <a:spcPct val="186700"/>
              </a:lnSpc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follows: Step-</a:t>
            </a:r>
            <a:r>
              <a:rPr dirty="0" sz="1200">
                <a:latin typeface="Calibri"/>
                <a:cs typeface="Calibri"/>
              </a:rPr>
              <a:t>1: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notepad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>
                <a:latin typeface="Calibri"/>
                <a:cs typeface="Calibri"/>
              </a:rPr>
              <a:t>Step-</a:t>
            </a:r>
            <a:r>
              <a:rPr dirty="0" sz="1200">
                <a:latin typeface="Calibri"/>
                <a:cs typeface="Calibri"/>
              </a:rPr>
              <a:t>2: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notepad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25"/>
              </a:spcBef>
              <a:tabLst>
                <a:tab pos="469900" algn="l"/>
              </a:tabLst>
            </a:pPr>
            <a:r>
              <a:rPr dirty="0" sz="1200" spc="-25">
                <a:latin typeface="Calibri"/>
                <a:cs typeface="Calibri"/>
              </a:rPr>
              <a:t>i.</a:t>
            </a:r>
            <a:r>
              <a:rPr dirty="0" sz="1200">
                <a:latin typeface="Calibri"/>
                <a:cs typeface="Calibri"/>
              </a:rPr>
              <a:t>	HTML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645150" cy="4281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10489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469900" marR="5080" indent="-229235">
              <a:lnSpc>
                <a:spcPct val="116700"/>
              </a:lnSpc>
              <a:spcBef>
                <a:spcPts val="1650"/>
              </a:spcBef>
              <a:buAutoNum type="romanLcPeriod" startAt="2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HEAD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page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type</a:t>
            </a:r>
            <a:endParaRPr sz="1200">
              <a:latin typeface="Calibri"/>
              <a:cs typeface="Calibri"/>
            </a:endParaRPr>
          </a:p>
          <a:p>
            <a:pPr marL="469265" marR="108585" indent="-228600">
              <a:lnSpc>
                <a:spcPts val="1680"/>
              </a:lnSpc>
              <a:spcBef>
                <a:spcPts val="95"/>
              </a:spcBef>
              <a:buAutoNum type="romanLcPeriod" startAt="2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tag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romanLcPeriod" startAt="2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/TITLE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tag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240"/>
              </a:spcBef>
              <a:buAutoNum type="romanLcPeriod" startAt="2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/HEAD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tag</a:t>
            </a:r>
            <a:endParaRPr sz="1200">
              <a:latin typeface="Calibri"/>
              <a:cs typeface="Calibri"/>
            </a:endParaRPr>
          </a:p>
          <a:p>
            <a:pPr marL="469900" marR="86995" indent="-229235">
              <a:lnSpc>
                <a:spcPct val="116700"/>
              </a:lnSpc>
              <a:spcBef>
                <a:spcPts val="25"/>
              </a:spcBef>
              <a:buAutoNum type="romanLcPeriod" startAt="2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body 	tags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AutoNum type="romanLcPeriod" startAt="2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/BODY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closing 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tag</a:t>
            </a:r>
            <a:endParaRPr sz="12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240"/>
              </a:spcBef>
              <a:buAutoNum type="romanLcPeriod" startAt="2"/>
              <a:tabLst>
                <a:tab pos="468630" algn="l"/>
              </a:tabLst>
            </a:pPr>
            <a:r>
              <a:rPr dirty="0" sz="1200">
                <a:latin typeface="Calibri"/>
                <a:cs typeface="Calibri"/>
              </a:rPr>
              <a:t>/HTML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</a:t>
            </a:r>
            <a:endParaRPr sz="1200">
              <a:latin typeface="Calibri"/>
              <a:cs typeface="Calibri"/>
            </a:endParaRPr>
          </a:p>
          <a:p>
            <a:pPr marL="12700" marR="80010">
              <a:lnSpc>
                <a:spcPct val="116900"/>
              </a:lnSpc>
              <a:spcBef>
                <a:spcPts val="1005"/>
              </a:spcBef>
            </a:pPr>
            <a:r>
              <a:rPr dirty="0" sz="1200" spc="-10">
                <a:latin typeface="Calibri"/>
                <a:cs typeface="Calibri"/>
              </a:rPr>
              <a:t>Step-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tags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entered,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next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notepad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should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‘html’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extension.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>
                <a:latin typeface="Calibri"/>
                <a:cs typeface="Calibri"/>
              </a:rPr>
              <a:t>Step-</a:t>
            </a: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file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notepad.</a:t>
            </a:r>
            <a:endParaRPr sz="1200">
              <a:latin typeface="Calibri"/>
              <a:cs typeface="Calibri"/>
            </a:endParaRPr>
          </a:p>
          <a:p>
            <a:pPr marL="12700" marR="167005">
              <a:lnSpc>
                <a:spcPct val="116700"/>
              </a:lnSpc>
              <a:spcBef>
                <a:spcPts val="1005"/>
              </a:spcBef>
            </a:pPr>
            <a:r>
              <a:rPr dirty="0" sz="1200" spc="-10">
                <a:latin typeface="Calibri"/>
                <a:cs typeface="Calibri"/>
              </a:rPr>
              <a:t>Step-</a:t>
            </a:r>
            <a:r>
              <a:rPr dirty="0" sz="1200">
                <a:latin typeface="Calibri"/>
                <a:cs typeface="Calibri"/>
              </a:rPr>
              <a:t>5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double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 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icon.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2273934"/>
            <a:ext cx="5734685" cy="7303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Unit</a:t>
            </a:r>
            <a:r>
              <a:rPr dirty="0" sz="1200" spc="-50" b="1">
                <a:latin typeface="Calibri"/>
                <a:cs typeface="Calibri"/>
              </a:rPr>
              <a:t> 6</a:t>
            </a:r>
            <a:endParaRPr sz="1200">
              <a:latin typeface="Calibri"/>
              <a:cs typeface="Calibri"/>
            </a:endParaRPr>
          </a:p>
          <a:p>
            <a:pPr algn="ctr" marL="1905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Accounting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Computerised</a:t>
            </a:r>
            <a:r>
              <a:rPr dirty="0" sz="1200" spc="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accounting</a:t>
            </a:r>
            <a:endParaRPr sz="1200">
              <a:latin typeface="Calibri"/>
              <a:cs typeface="Calibri"/>
            </a:endParaRPr>
          </a:p>
          <a:p>
            <a:pPr marL="12700" marR="179705">
              <a:lnSpc>
                <a:spcPct val="116799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away</a:t>
            </a:r>
            <a:r>
              <a:rPr dirty="0" sz="1200" spc="-20">
                <a:latin typeface="Calibri"/>
                <a:cs typeface="Calibri"/>
              </a:rPr>
              <a:t> with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journals,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etc.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essential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while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Typically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computerised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features: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469900" marR="5080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Computerised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manner.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requires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skills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knowledge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principles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concepts.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Printout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invoices.</a:t>
            </a:r>
            <a:endParaRPr sz="1200">
              <a:latin typeface="Calibri"/>
              <a:cs typeface="Calibri"/>
            </a:endParaRPr>
          </a:p>
          <a:p>
            <a:pPr marL="469900" marR="333375" indent="-229235">
              <a:lnSpc>
                <a:spcPct val="116799"/>
              </a:lnSpc>
              <a:spcBef>
                <a:spcPts val="2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Logical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scheme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codification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transactions.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transaction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assigned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unique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code.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Grouping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 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beginning.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Advantages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 </a:t>
            </a:r>
            <a:r>
              <a:rPr dirty="0" sz="1200" spc="-10" b="1">
                <a:latin typeface="Calibri"/>
                <a:cs typeface="Calibri"/>
              </a:rPr>
              <a:t>Computerised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accounting</a:t>
            </a:r>
            <a:endParaRPr sz="1200">
              <a:latin typeface="Calibri"/>
              <a:cs typeface="Calibri"/>
            </a:endParaRPr>
          </a:p>
          <a:p>
            <a:pPr marL="469900" marR="132715" indent="-229235">
              <a:lnSpc>
                <a:spcPct val="116799"/>
              </a:lnSpc>
              <a:spcBef>
                <a:spcPts val="1005"/>
              </a:spcBef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Simplicity: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solutions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Anybody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knowledge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average </a:t>
            </a:r>
            <a:r>
              <a:rPr dirty="0" sz="1200">
                <a:latin typeface="Calibri"/>
                <a:cs typeface="Calibri"/>
              </a:rPr>
              <a:t>knowledge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English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computerised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accounting.</a:t>
            </a:r>
            <a:endParaRPr sz="1200">
              <a:latin typeface="Calibri"/>
              <a:cs typeface="Calibri"/>
            </a:endParaRPr>
          </a:p>
          <a:p>
            <a:pPr marL="469900" marR="44450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Speed: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 any reports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instantaneously</a:t>
            </a:r>
            <a:r>
              <a:rPr dirty="0" sz="1200">
                <a:latin typeface="Calibri"/>
                <a:cs typeface="Calibri"/>
              </a:rPr>
              <a:t> for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 </a:t>
            </a:r>
            <a:r>
              <a:rPr dirty="0" sz="1200" spc="-10">
                <a:latin typeface="Calibri"/>
                <a:cs typeface="Calibri"/>
              </a:rPr>
              <a:t>date/period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 </a:t>
            </a:r>
            <a:r>
              <a:rPr dirty="0" sz="1200" spc="-10">
                <a:latin typeface="Calibri"/>
                <a:cs typeface="Calibri"/>
              </a:rPr>
              <a:t>toggle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instantaneously.</a:t>
            </a:r>
            <a:endParaRPr sz="1200">
              <a:latin typeface="Calibri"/>
              <a:cs typeface="Calibri"/>
            </a:endParaRPr>
          </a:p>
          <a:p>
            <a:pPr marL="469900" marR="34925" indent="-229235">
              <a:lnSpc>
                <a:spcPct val="116700"/>
              </a:lnSpc>
              <a:buAutoNum type="arabicPeriod" startAt="3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Power: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help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decisions.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3"/>
              <a:tabLst>
                <a:tab pos="471170" algn="l"/>
              </a:tabLst>
            </a:pPr>
            <a:r>
              <a:rPr dirty="0" sz="1200" spc="-10">
                <a:latin typeface="Calibri"/>
                <a:cs typeface="Calibri"/>
              </a:rPr>
              <a:t>Flexibility: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mimics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human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thought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i.e.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can</a:t>
            </a:r>
            <a:endParaRPr sz="1200">
              <a:latin typeface="Calibri"/>
              <a:cs typeface="Calibri"/>
            </a:endParaRPr>
          </a:p>
          <a:p>
            <a:pPr marL="469900" marR="454659">
              <a:lnSpc>
                <a:spcPct val="1169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adapt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his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package.</a:t>
            </a:r>
            <a:endParaRPr sz="1200">
              <a:latin typeface="Calibri"/>
              <a:cs typeface="Calibri"/>
            </a:endParaRPr>
          </a:p>
          <a:p>
            <a:pPr marL="469900" marR="85090" indent="-229235">
              <a:lnSpc>
                <a:spcPct val="116599"/>
              </a:lnSpc>
              <a:spcBef>
                <a:spcPts val="5"/>
              </a:spcBef>
              <a:buAutoNum type="arabicPeriod" startAt="5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hence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day/period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done.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338445" cy="2571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1719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6.</a:t>
            </a:r>
            <a:r>
              <a:rPr dirty="0" sz="1200" spc="15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sensitive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Disadvantages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Computerised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71170" algn="l"/>
              </a:tabLst>
            </a:pPr>
            <a:r>
              <a:rPr dirty="0" sz="1200" spc="-10">
                <a:latin typeface="Calibri"/>
                <a:cs typeface="Calibri"/>
              </a:rPr>
              <a:t>Customising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easy.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expensive.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Constant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pressure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sometimes becomes risky.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Lacks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deficient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Manual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Accounting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V/S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Computerised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Accounting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41552" y="3149472"/>
          <a:ext cx="5955030" cy="2659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4"/>
                <a:gridCol w="2609850"/>
                <a:gridCol w="2740660"/>
              </a:tblGrid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Sl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accounting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Computerised</a:t>
                      </a:r>
                      <a:r>
                        <a:rPr dirty="0" sz="120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accounting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8288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Lengthy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process.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Entries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done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ledgers.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entry,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ts val="141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ledgers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opened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497205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Brief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process.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entry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one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account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updates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accounts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automatically.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Slow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Fast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438784">
                        <a:lnSpc>
                          <a:spcPts val="146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person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involved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handling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various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account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books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771525">
                        <a:lnSpc>
                          <a:spcPts val="146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person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handle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transactions.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457834">
                        <a:lnSpc>
                          <a:spcPts val="147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prone.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Accuracy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may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be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100%.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0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100%</a:t>
                      </a:r>
                      <a:r>
                        <a:rPr dirty="0" sz="11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accuracy.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6985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3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Easy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audit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accounts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Auditing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accounts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difficult.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Stationary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items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costly.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Stationary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items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very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costly.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2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consuming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1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saving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process.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69850">
                        <a:lnSpc>
                          <a:spcPts val="141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15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fear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itself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damaging.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38125">
                        <a:lnSpc>
                          <a:spcPts val="146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Fear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damaging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hard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disk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crash,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virus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problem,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failure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etc.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6121653"/>
            <a:ext cx="5682615" cy="307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7100"/>
              </a:lnSpc>
              <a:spcBef>
                <a:spcPts val="1000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well-</a:t>
            </a:r>
            <a:r>
              <a:rPr dirty="0" sz="1200">
                <a:latin typeface="Calibri"/>
                <a:cs typeface="Calibri"/>
              </a:rPr>
              <a:t>known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highly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acceptable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books, </a:t>
            </a:r>
            <a:r>
              <a:rPr dirty="0" sz="1200">
                <a:latin typeface="Calibri"/>
                <a:cs typeface="Calibri"/>
              </a:rPr>
              <a:t>registers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receivables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payable,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bird’s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eye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view/Drill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reporting,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cheque </a:t>
            </a:r>
            <a:r>
              <a:rPr dirty="0" sz="1200">
                <a:latin typeface="Calibri"/>
                <a:cs typeface="Calibri"/>
              </a:rPr>
              <a:t>printing,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reconciliation.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Features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divided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0">
                <a:latin typeface="Calibri"/>
                <a:cs typeface="Calibri"/>
              </a:rPr>
              <a:t> are-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245"/>
              </a:spcBef>
              <a:buAutoNum type="alphaU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40"/>
              </a:spcBef>
              <a:buAutoNum type="alphaU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Integrated</a:t>
            </a:r>
            <a:r>
              <a:rPr dirty="0" sz="1200" spc="-10">
                <a:latin typeface="Calibri"/>
                <a:cs typeface="Calibri"/>
              </a:rPr>
              <a:t> enterprise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65"/>
              </a:spcBef>
              <a:buAutoNum type="alphaU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5"/>
              </a:spcBef>
              <a:buAutoNum type="alphaUcPeriod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Performance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implementation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426465"/>
            <a:ext cx="5488305" cy="903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8097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935" indent="-229235">
              <a:lnSpc>
                <a:spcPct val="100000"/>
              </a:lnSpc>
              <a:buAutoNum type="alphaUcPeriod"/>
              <a:tabLst>
                <a:tab pos="241935" algn="l"/>
              </a:tabLst>
            </a:pPr>
            <a:r>
              <a:rPr dirty="0" sz="1200" spc="-10" b="1">
                <a:latin typeface="Calibri"/>
                <a:cs typeface="Calibri"/>
              </a:rPr>
              <a:t>Accounting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lvl="1" marL="469900" marR="433705" indent="-228600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</a:t>
            </a:r>
            <a:r>
              <a:rPr dirty="0" sz="1200">
                <a:latin typeface="Calibri"/>
                <a:cs typeface="Calibri"/>
              </a:rPr>
              <a:t>regular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tally.</a:t>
            </a:r>
            <a:endParaRPr sz="1200">
              <a:latin typeface="Calibri"/>
              <a:cs typeface="Calibri"/>
            </a:endParaRPr>
          </a:p>
          <a:p>
            <a:pPr lvl="1" marL="469900" marR="100965" indent="-228600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obtain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profit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loss</a:t>
            </a:r>
            <a:r>
              <a:rPr dirty="0" sz="1200" spc="-10">
                <a:latin typeface="Calibri"/>
                <a:cs typeface="Calibri"/>
              </a:rPr>
              <a:t> statements,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balance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others.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keeping: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receipts,</a:t>
            </a:r>
            <a:endParaRPr sz="1200">
              <a:latin typeface="Calibri"/>
              <a:cs typeface="Calibri"/>
            </a:endParaRPr>
          </a:p>
          <a:p>
            <a:pPr marL="469900" marR="6858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payments,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expenses,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0">
                <a:latin typeface="Calibri"/>
                <a:cs typeface="Calibri"/>
              </a:rPr>
              <a:t> notes, </a:t>
            </a:r>
            <a:r>
              <a:rPr dirty="0" sz="1200">
                <a:latin typeface="Calibri"/>
                <a:cs typeface="Calibri"/>
              </a:rPr>
              <a:t>adjustment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journals,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memorandum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journals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reversing</a:t>
            </a:r>
            <a:r>
              <a:rPr dirty="0" sz="1200" spc="-10">
                <a:latin typeface="Calibri"/>
                <a:cs typeface="Calibri"/>
              </a:rPr>
              <a:t> journals.</a:t>
            </a:r>
            <a:endParaRPr sz="1200">
              <a:latin typeface="Calibri"/>
              <a:cs typeface="Calibri"/>
            </a:endParaRPr>
          </a:p>
          <a:p>
            <a:pPr lvl="1" marL="469900" marR="450215" indent="-228600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currency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flexibility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multiple currencies </a:t>
            </a:r>
            <a:r>
              <a:rPr dirty="0" sz="1200">
                <a:latin typeface="Calibri"/>
                <a:cs typeface="Calibri"/>
              </a:rPr>
              <a:t>in 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 </a:t>
            </a:r>
            <a:r>
              <a:rPr dirty="0" sz="1200" spc="-10">
                <a:latin typeface="Calibri"/>
                <a:cs typeface="Calibri"/>
              </a:rPr>
              <a:t>transaction,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one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 </a:t>
            </a:r>
            <a:r>
              <a:rPr dirty="0" sz="1200" spc="-10">
                <a:latin typeface="Calibri"/>
                <a:cs typeface="Calibri"/>
              </a:rPr>
              <a:t>currency.</a:t>
            </a:r>
            <a:endParaRPr sz="1200">
              <a:latin typeface="Calibri"/>
              <a:cs typeface="Calibri"/>
            </a:endParaRPr>
          </a:p>
          <a:p>
            <a:pPr lvl="1" marL="469900" marR="13335" indent="-228600">
              <a:lnSpc>
                <a:spcPct val="116799"/>
              </a:lnSpc>
              <a:spcBef>
                <a:spcPts val="2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Unified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ledgers: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pioneered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unified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general,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group management.</a:t>
            </a:r>
            <a:endParaRPr sz="1200">
              <a:latin typeface="Calibri"/>
              <a:cs typeface="Calibri"/>
            </a:endParaRPr>
          </a:p>
          <a:p>
            <a:pPr lvl="1" marL="469900" marR="72390" indent="-228600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Receivables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payables: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against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invoices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dates.</a:t>
            </a:r>
            <a:endParaRPr sz="1200">
              <a:latin typeface="Calibri"/>
              <a:cs typeface="Calibri"/>
            </a:endParaRPr>
          </a:p>
          <a:p>
            <a:pPr lvl="1" marL="469900" marR="182245" indent="-228600">
              <a:lnSpc>
                <a:spcPct val="116700"/>
              </a:lnSpc>
              <a:spcBef>
                <a:spcPts val="2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Budgeting,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unlimited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budgets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periods,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powerful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audit capabilities.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lphaUcPeriod"/>
              <a:tabLst>
                <a:tab pos="241935" algn="l"/>
              </a:tabLst>
            </a:pPr>
            <a:r>
              <a:rPr dirty="0" sz="1200" b="1">
                <a:latin typeface="Calibri"/>
                <a:cs typeface="Calibri"/>
              </a:rPr>
              <a:t>Integrated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enterprise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lvl="1" marL="469900" marR="108585" indent="-228600">
              <a:lnSpc>
                <a:spcPts val="17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location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location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complex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multi-location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stocks.</a:t>
            </a:r>
            <a:endParaRPr sz="1200">
              <a:latin typeface="Calibri"/>
              <a:cs typeface="Calibri"/>
            </a:endParaRPr>
          </a:p>
          <a:p>
            <a:pPr lvl="1" marL="469900" marR="29209" indent="-228600">
              <a:lnSpc>
                <a:spcPts val="168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Comprehensive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movement: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sorts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0">
                <a:latin typeface="Calibri"/>
                <a:cs typeface="Calibri"/>
              </a:rPr>
              <a:t> transactions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inventory recording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 easy 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comprehensive.</a:t>
            </a:r>
            <a:endParaRPr sz="1200">
              <a:latin typeface="Calibri"/>
              <a:cs typeface="Calibri"/>
            </a:endParaRPr>
          </a:p>
          <a:p>
            <a:pPr lvl="1" marL="469900" marR="143510" indent="-228600">
              <a:lnSpc>
                <a:spcPts val="168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Variety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Movements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party-wise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25">
                <a:latin typeface="Calibri"/>
                <a:cs typeface="Calibri"/>
              </a:rPr>
              <a:t> of </a:t>
            </a:r>
            <a:r>
              <a:rPr dirty="0" sz="1200">
                <a:latin typeface="Calibri"/>
                <a:cs typeface="Calibri"/>
              </a:rPr>
              <a:t>goods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bought,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sold,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partners.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65"/>
              </a:spcBef>
              <a:buAutoNum type="alphaUcPeriod"/>
              <a:tabLst>
                <a:tab pos="241935" algn="l"/>
              </a:tabLst>
            </a:pPr>
            <a:r>
              <a:rPr dirty="0" sz="1200" b="1">
                <a:latin typeface="Calibri"/>
                <a:cs typeface="Calibri"/>
              </a:rPr>
              <a:t>Inventory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lvl="1" marL="469900" marR="254635" indent="-228600">
              <a:lnSpc>
                <a:spcPct val="1167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Synchronization: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transfer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 </a:t>
            </a:r>
            <a:r>
              <a:rPr dirty="0" sz="1200" spc="-10">
                <a:latin typeface="Calibri"/>
                <a:cs typeface="Calibri"/>
              </a:rPr>
              <a:t>locations,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eg.,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branch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gets</a:t>
            </a:r>
            <a:r>
              <a:rPr dirty="0" sz="1200" spc="-10">
                <a:latin typeface="Calibri"/>
                <a:cs typeface="Calibri"/>
              </a:rPr>
              <a:t> transmitted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head office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visa-versa.</a:t>
            </a:r>
            <a:endParaRPr sz="1200">
              <a:latin typeface="Calibri"/>
              <a:cs typeface="Calibri"/>
            </a:endParaRPr>
          </a:p>
          <a:p>
            <a:pPr lvl="1" marL="469900" marR="5080" indent="-228600">
              <a:lnSpc>
                <a:spcPts val="17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e-</a:t>
            </a:r>
            <a:r>
              <a:rPr dirty="0" sz="1200">
                <a:latin typeface="Calibri"/>
                <a:cs typeface="Calibri"/>
              </a:rPr>
              <a:t>mail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consume </a:t>
            </a:r>
            <a:r>
              <a:rPr dirty="0" sz="1200">
                <a:latin typeface="Calibri"/>
                <a:cs typeface="Calibri"/>
              </a:rPr>
              <a:t>postage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  <a:p>
            <a:pPr lvl="1" marL="469900" marR="91440" indent="-228600">
              <a:lnSpc>
                <a:spcPts val="168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them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suppliers,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staff.</a:t>
            </a:r>
            <a:endParaRPr sz="1200">
              <a:latin typeface="Calibri"/>
              <a:cs typeface="Calibri"/>
            </a:endParaRPr>
          </a:p>
          <a:p>
            <a:pPr lvl="1" marL="469900" marR="459105" indent="-228600">
              <a:lnSpc>
                <a:spcPts val="168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Direct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capability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avoid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switching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between programs.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17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XML.</a:t>
            </a:r>
            <a:endParaRPr sz="1200">
              <a:latin typeface="Calibri"/>
              <a:cs typeface="Calibri"/>
            </a:endParaRPr>
          </a:p>
          <a:p>
            <a:pPr lvl="1" marL="469900" marR="34925" indent="-228600">
              <a:lnSpc>
                <a:spcPct val="1167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ODBC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connectivity: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into </a:t>
            </a:r>
            <a:r>
              <a:rPr dirty="0" sz="1200">
                <a:latin typeface="Calibri"/>
                <a:cs typeface="Calibri"/>
              </a:rPr>
              <a:t>ODBC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53100" cy="8684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D.</a:t>
            </a:r>
            <a:r>
              <a:rPr dirty="0" sz="1200" spc="4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Performance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implementation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L="698500" marR="25400" indent="-228600">
              <a:lnSpc>
                <a:spcPct val="116700"/>
              </a:lnSpc>
              <a:buFont typeface="Wingdings"/>
              <a:buChar char="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Rapid</a:t>
            </a:r>
            <a:r>
              <a:rPr dirty="0" sz="1200" spc="-10">
                <a:latin typeface="Calibri"/>
                <a:cs typeface="Calibri"/>
              </a:rPr>
              <a:t> implementation: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nil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start-up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lowest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training </a:t>
            </a:r>
            <a:r>
              <a:rPr dirty="0" sz="1200">
                <a:latin typeface="Calibri"/>
                <a:cs typeface="Calibri"/>
              </a:rPr>
              <a:t>requirements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world.</a:t>
            </a:r>
            <a:endParaRPr sz="1200">
              <a:latin typeface="Calibri"/>
              <a:cs typeface="Calibri"/>
            </a:endParaRPr>
          </a:p>
          <a:p>
            <a:pPr marL="698500" marR="86360" indent="-228600">
              <a:lnSpc>
                <a:spcPct val="116700"/>
              </a:lnSpc>
              <a:buFont typeface="Wingdings"/>
              <a:buChar char="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processing: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ledgers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soon</a:t>
            </a:r>
            <a:r>
              <a:rPr dirty="0" sz="1200" spc="-25">
                <a:latin typeface="Calibri"/>
                <a:cs typeface="Calibri"/>
              </a:rPr>
              <a:t> as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transaction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 </a:t>
            </a:r>
            <a:r>
              <a:rPr dirty="0" sz="1200" spc="-10">
                <a:latin typeface="Calibri"/>
                <a:cs typeface="Calibri"/>
              </a:rPr>
              <a:t>accepted.</a:t>
            </a:r>
            <a:endParaRPr sz="1200">
              <a:latin typeface="Calibri"/>
              <a:cs typeface="Calibri"/>
            </a:endParaRPr>
          </a:p>
          <a:p>
            <a:pPr marL="698500" marR="585470" indent="-228600">
              <a:lnSpc>
                <a:spcPts val="1700"/>
              </a:lnSpc>
              <a:spcBef>
                <a:spcPts val="80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Blazing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speed: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outdistances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thought performances.</a:t>
            </a:r>
            <a:endParaRPr sz="12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145"/>
              </a:spcBef>
              <a:buFont typeface="Wingdings"/>
              <a:buChar char="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choice: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flavors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windows.</a:t>
            </a:r>
            <a:endParaRPr sz="1200">
              <a:latin typeface="Calibri"/>
              <a:cs typeface="Calibri"/>
            </a:endParaRPr>
          </a:p>
          <a:p>
            <a:pPr marL="698500" marR="34290" indent="-228600">
              <a:lnSpc>
                <a:spcPct val="116700"/>
              </a:lnSpc>
              <a:buFont typeface="Wingdings"/>
              <a:buChar char=""/>
              <a:tabLst>
                <a:tab pos="698500" algn="l"/>
              </a:tabLst>
            </a:pPr>
            <a:r>
              <a:rPr dirty="0" sz="1200" spc="-10">
                <a:latin typeface="Calibri"/>
                <a:cs typeface="Calibri"/>
              </a:rPr>
              <a:t>Unlimited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periods.</a:t>
            </a:r>
            <a:endParaRPr sz="12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Unbelievable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unique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approach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tally,</a:t>
            </a:r>
            <a:endParaRPr sz="1200">
              <a:latin typeface="Calibri"/>
              <a:cs typeface="Calibri"/>
            </a:endParaRPr>
          </a:p>
          <a:p>
            <a:pPr marL="698500" marR="9906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important</a:t>
            </a:r>
            <a:r>
              <a:rPr dirty="0" sz="1200" spc="-10">
                <a:latin typeface="Calibri"/>
                <a:cs typeface="Calibri"/>
              </a:rPr>
              <a:t> reason </a:t>
            </a:r>
            <a:r>
              <a:rPr dirty="0" sz="1200">
                <a:latin typeface="Calibri"/>
                <a:cs typeface="Calibri"/>
              </a:rPr>
              <a:t>why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maintained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tally.</a:t>
            </a:r>
            <a:endParaRPr sz="1200">
              <a:latin typeface="Calibri"/>
              <a:cs typeface="Calibri"/>
            </a:endParaRPr>
          </a:p>
          <a:p>
            <a:pPr marL="698500" marR="60325" indent="-228600">
              <a:lnSpc>
                <a:spcPct val="116700"/>
              </a:lnSpc>
              <a:buFont typeface="Wingdings"/>
              <a:buChar char="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interactive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facility: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>
                <a:latin typeface="Calibri"/>
                <a:cs typeface="Calibri"/>
              </a:rPr>
              <a:t>dynamic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further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interrogation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summary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 </a:t>
            </a:r>
            <a:r>
              <a:rPr dirty="0" sz="1200">
                <a:latin typeface="Calibri"/>
                <a:cs typeface="Calibri"/>
              </a:rPr>
              <a:t>voucher.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output.</a:t>
            </a:r>
            <a:endParaRPr sz="1200">
              <a:latin typeface="Calibri"/>
              <a:cs typeface="Calibri"/>
            </a:endParaRPr>
          </a:p>
          <a:p>
            <a:pPr marL="698500" marR="218440" indent="-228600">
              <a:lnSpc>
                <a:spcPct val="116700"/>
              </a:lnSpc>
              <a:spcBef>
                <a:spcPts val="25"/>
              </a:spcBef>
              <a:buFont typeface="Wingdings"/>
              <a:buChar char=""/>
              <a:tabLst>
                <a:tab pos="698500" algn="l"/>
              </a:tabLst>
            </a:pPr>
            <a:r>
              <a:rPr dirty="0" sz="1200">
                <a:latin typeface="Calibri"/>
                <a:cs typeface="Calibri"/>
              </a:rPr>
              <a:t>Print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layout, </a:t>
            </a:r>
            <a:r>
              <a:rPr dirty="0" sz="1200">
                <a:latin typeface="Calibri"/>
                <a:cs typeface="Calibri"/>
              </a:rPr>
              <a:t>prior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</a:t>
            </a:r>
            <a:r>
              <a:rPr dirty="0" sz="1200" spc="-10">
                <a:latin typeface="Calibri"/>
                <a:cs typeface="Calibri"/>
              </a:rPr>
              <a:t> printing.</a:t>
            </a:r>
            <a:endParaRPr sz="1200">
              <a:latin typeface="Calibri"/>
              <a:cs typeface="Calibri"/>
            </a:endParaRPr>
          </a:p>
          <a:p>
            <a:pPr marL="12700" marR="3757295">
              <a:lnSpc>
                <a:spcPct val="185000"/>
              </a:lnSpc>
              <a:spcBef>
                <a:spcPts val="25"/>
              </a:spcBef>
            </a:pPr>
            <a:r>
              <a:rPr dirty="0" sz="1200" b="1">
                <a:latin typeface="Calibri"/>
                <a:cs typeface="Calibri"/>
              </a:rPr>
              <a:t>Advantages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technology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10" b="1">
                <a:latin typeface="Calibri"/>
                <a:cs typeface="Calibri"/>
              </a:rPr>
              <a:t> reliability</a:t>
            </a:r>
            <a:endParaRPr sz="1200">
              <a:latin typeface="Calibri"/>
              <a:cs typeface="Calibri"/>
            </a:endParaRPr>
          </a:p>
          <a:p>
            <a:pPr marL="12700" marR="114935">
              <a:lnSpc>
                <a:spcPct val="1176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extremely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reliability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extremely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failure 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shutdown,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will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loss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10" b="1">
                <a:latin typeface="Calibri"/>
                <a:cs typeface="Calibri"/>
              </a:rPr>
              <a:t> security</a:t>
            </a:r>
            <a:endParaRPr sz="1200">
              <a:latin typeface="Calibri"/>
              <a:cs typeface="Calibri"/>
            </a:endParaRPr>
          </a:p>
          <a:p>
            <a:pPr marL="12700" marR="47625">
              <a:lnSpc>
                <a:spcPct val="118500"/>
              </a:lnSpc>
              <a:spcBef>
                <a:spcPts val="95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checks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external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pass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audit</a:t>
            </a:r>
            <a:endParaRPr sz="1200">
              <a:latin typeface="Calibri"/>
              <a:cs typeface="Calibri"/>
            </a:endParaRPr>
          </a:p>
          <a:p>
            <a:pPr marL="12700" marR="174625">
              <a:lnSpc>
                <a:spcPct val="118300"/>
              </a:lnSpc>
              <a:spcBef>
                <a:spcPts val="98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administrator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rights,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capability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correctness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authorized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vault</a:t>
            </a:r>
            <a:endParaRPr sz="1200">
              <a:latin typeface="Calibri"/>
              <a:cs typeface="Calibri"/>
            </a:endParaRPr>
          </a:p>
          <a:p>
            <a:pPr marL="12700" marR="267970">
              <a:lnSpc>
                <a:spcPct val="1176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encryption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vault.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broken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Encryption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Standard) </a:t>
            </a:r>
            <a:r>
              <a:rPr dirty="0" sz="1200">
                <a:latin typeface="Calibri"/>
                <a:cs typeface="Calibri"/>
              </a:rPr>
              <a:t>encryption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method.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31510" cy="9056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413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Use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defined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security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levels</a:t>
            </a:r>
            <a:endParaRPr sz="1200">
              <a:latin typeface="Calibri"/>
              <a:cs typeface="Calibri"/>
            </a:endParaRPr>
          </a:p>
          <a:p>
            <a:pPr marL="12700" marR="143510">
              <a:lnSpc>
                <a:spcPct val="118500"/>
              </a:lnSpc>
              <a:spcBef>
                <a:spcPts val="95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his </a:t>
            </a:r>
            <a:r>
              <a:rPr dirty="0" sz="1200">
                <a:latin typeface="Calibri"/>
                <a:cs typeface="Calibri"/>
              </a:rPr>
              <a:t>requirements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individual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Simple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rapid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  <a:p>
            <a:pPr marL="12700" marR="215265">
              <a:lnSpc>
                <a:spcPct val="1176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procedure.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user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names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spc="-10" b="1">
                <a:latin typeface="Calibri"/>
                <a:cs typeface="Calibri"/>
              </a:rPr>
              <a:t>Unlimited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Multi-</a:t>
            </a:r>
            <a:r>
              <a:rPr dirty="0" sz="1200" b="1">
                <a:latin typeface="Calibri"/>
                <a:cs typeface="Calibri"/>
              </a:rPr>
              <a:t>user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support</a:t>
            </a:r>
            <a:endParaRPr sz="1200">
              <a:latin typeface="Calibri"/>
              <a:cs typeface="Calibri"/>
            </a:endParaRPr>
          </a:p>
          <a:p>
            <a:pPr marL="12700" marR="144145">
              <a:lnSpc>
                <a:spcPct val="1183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machines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NT,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95,98,2000.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Internal</a:t>
            </a:r>
            <a:r>
              <a:rPr dirty="0" sz="1200" spc="-6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backup/restore</a:t>
            </a:r>
            <a:endParaRPr sz="1200">
              <a:latin typeface="Calibri"/>
              <a:cs typeface="Calibri"/>
            </a:endParaRPr>
          </a:p>
          <a:p>
            <a:pPr algn="just" marL="12700" marR="241300">
              <a:lnSpc>
                <a:spcPct val="1175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local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 </a:t>
            </a:r>
            <a:r>
              <a:rPr dirty="0" sz="1200" spc="-10">
                <a:latin typeface="Calibri"/>
                <a:cs typeface="Calibri"/>
              </a:rPr>
              <a:t>companies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single directory.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Removal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into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separate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7300"/>
              </a:lnSpc>
              <a:spcBef>
                <a:spcPts val="97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splitting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for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previous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wishes,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split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multiple companies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Multi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directory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company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algn="just" marL="12700" marR="273685">
              <a:lnSpc>
                <a:spcPct val="1169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5">
                <a:latin typeface="Calibri"/>
                <a:cs typeface="Calibri"/>
              </a:rPr>
              <a:t> by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path.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Import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data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/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export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algn="just" marL="12700" marR="24066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Graphical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analysis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graphical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pictures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figures.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 b="1">
                <a:latin typeface="Calibri"/>
                <a:cs typeface="Calibri"/>
              </a:rPr>
              <a:t>Scenario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algn="just" marL="12700" marR="299720">
              <a:lnSpc>
                <a:spcPct val="116599"/>
              </a:lnSpc>
              <a:spcBef>
                <a:spcPts val="101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Scenario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capability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planning,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analyzing</a:t>
            </a:r>
            <a:r>
              <a:rPr dirty="0" sz="1200" spc="-10">
                <a:latin typeface="Calibri"/>
                <a:cs typeface="Calibri"/>
              </a:rPr>
              <a:t> business </a:t>
            </a:r>
            <a:r>
              <a:rPr dirty="0" sz="1200">
                <a:latin typeface="Calibri"/>
                <a:cs typeface="Calibri"/>
              </a:rPr>
              <a:t>performance,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varying</a:t>
            </a:r>
            <a:r>
              <a:rPr dirty="0" sz="1200" spc="-10">
                <a:latin typeface="Calibri"/>
                <a:cs typeface="Calibri"/>
              </a:rPr>
              <a:t> assumptions.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forecasting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planning,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04205" cy="9278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2069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12700" marR="447675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prepare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provisional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figures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affecting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automatically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reversing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journals.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Web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enabled</a:t>
            </a:r>
            <a:endParaRPr sz="1200">
              <a:latin typeface="Calibri"/>
              <a:cs typeface="Calibri"/>
            </a:endParaRPr>
          </a:p>
          <a:p>
            <a:pPr marL="12700" marR="401320">
              <a:lnSpc>
                <a:spcPct val="118300"/>
              </a:lnSpc>
              <a:spcBef>
                <a:spcPts val="96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also </a:t>
            </a:r>
            <a:r>
              <a:rPr dirty="0" sz="1200" spc="-10">
                <a:latin typeface="Calibri"/>
                <a:cs typeface="Calibri"/>
              </a:rPr>
              <a:t>invoices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e-mailed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Ability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publish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reports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documents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internet</a:t>
            </a:r>
            <a:endParaRPr sz="1200">
              <a:latin typeface="Calibri"/>
              <a:cs typeface="Calibri"/>
            </a:endParaRPr>
          </a:p>
          <a:p>
            <a:pPr algn="just" marL="12700" marR="35560">
              <a:lnSpc>
                <a:spcPct val="117500"/>
              </a:lnSpc>
              <a:spcBef>
                <a:spcPts val="994"/>
              </a:spcBef>
            </a:pP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upload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would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publish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along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they </a:t>
            </a:r>
            <a:r>
              <a:rPr dirty="0" sz="1200">
                <a:latin typeface="Calibri"/>
                <a:cs typeface="Calibri"/>
              </a:rPr>
              <a:t>deal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Print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preview</a:t>
            </a:r>
            <a:endParaRPr sz="1200">
              <a:latin typeface="Calibri"/>
              <a:cs typeface="Calibri"/>
            </a:endParaRPr>
          </a:p>
          <a:p>
            <a:pPr marL="12700" marR="399415">
              <a:lnSpc>
                <a:spcPct val="118300"/>
              </a:lnSpc>
              <a:spcBef>
                <a:spcPts val="96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preview.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reports/invoices/vouchers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>
                <a:latin typeface="Calibri"/>
                <a:cs typeface="Calibri"/>
              </a:rPr>
              <a:t>viewed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mailed.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spc="-10" b="1">
                <a:latin typeface="Calibri"/>
                <a:cs typeface="Calibri"/>
              </a:rPr>
              <a:t>Cutting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edge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technology</a:t>
            </a:r>
            <a:endParaRPr sz="1200">
              <a:latin typeface="Calibri"/>
              <a:cs typeface="Calibri"/>
            </a:endParaRPr>
          </a:p>
          <a:p>
            <a:pPr marL="12700" marR="159385">
              <a:lnSpc>
                <a:spcPct val="118300"/>
              </a:lnSpc>
              <a:spcBef>
                <a:spcPts val="98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achieved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technological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break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thoughts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benefit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 spc="-10">
                <a:latin typeface="Calibri"/>
                <a:cs typeface="Calibri"/>
              </a:rPr>
              <a:t>collaborative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protocol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HTTP,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HTTPS,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FTP,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STMP,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ODBS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b="1">
                <a:latin typeface="Calibri"/>
                <a:cs typeface="Calibri"/>
              </a:rPr>
              <a:t>Direct</a:t>
            </a:r>
            <a:r>
              <a:rPr dirty="0" sz="1200" spc="-10" b="1">
                <a:latin typeface="Calibri"/>
                <a:cs typeface="Calibri"/>
              </a:rPr>
              <a:t> internet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access</a:t>
            </a:r>
            <a:endParaRPr sz="1200">
              <a:latin typeface="Calibri"/>
              <a:cs typeface="Calibri"/>
            </a:endParaRPr>
          </a:p>
          <a:p>
            <a:pPr algn="just" marL="12700" marR="20320">
              <a:lnSpc>
                <a:spcPct val="116799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 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25">
                <a:latin typeface="Calibri"/>
                <a:cs typeface="Calibri"/>
              </a:rPr>
              <a:t> on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Benefits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endParaRPr sz="1200">
              <a:latin typeface="Calibri"/>
              <a:cs typeface="Calibri"/>
            </a:endParaRPr>
          </a:p>
          <a:p>
            <a:pPr marL="469900" marR="102235" indent="-229235">
              <a:lnSpc>
                <a:spcPct val="117600"/>
              </a:lnSpc>
              <a:spcBef>
                <a:spcPts val="990"/>
              </a:spcBef>
              <a:buAutoNum type="arabicPeriod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Simplicity: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solutions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Anybody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knowledge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average </a:t>
            </a:r>
            <a:r>
              <a:rPr dirty="0" sz="1200">
                <a:latin typeface="Calibri"/>
                <a:cs typeface="Calibri"/>
              </a:rPr>
              <a:t>knowledge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English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computerised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accounting.</a:t>
            </a:r>
            <a:endParaRPr sz="1200">
              <a:latin typeface="Calibri"/>
              <a:cs typeface="Calibri"/>
            </a:endParaRPr>
          </a:p>
          <a:p>
            <a:pPr marL="469900" marR="15875" indent="-229235">
              <a:lnSpc>
                <a:spcPct val="116700"/>
              </a:lnSpc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Speed: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 any reports </a:t>
            </a:r>
            <a:r>
              <a:rPr dirty="0" sz="1200" spc="-10">
                <a:latin typeface="Calibri"/>
                <a:cs typeface="Calibri"/>
              </a:rPr>
              <a:t>instantaneously</a:t>
            </a:r>
            <a:r>
              <a:rPr dirty="0" sz="1200">
                <a:latin typeface="Calibri"/>
                <a:cs typeface="Calibri"/>
              </a:rPr>
              <a:t> for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 </a:t>
            </a:r>
            <a:r>
              <a:rPr dirty="0" sz="1200" spc="-10">
                <a:latin typeface="Calibri"/>
                <a:cs typeface="Calibri"/>
              </a:rPr>
              <a:t>date/period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 </a:t>
            </a:r>
            <a:r>
              <a:rPr dirty="0" sz="1200" spc="-10">
                <a:latin typeface="Calibri"/>
                <a:cs typeface="Calibri"/>
              </a:rPr>
              <a:t>toggle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instantaneously.</a:t>
            </a:r>
            <a:endParaRPr sz="1200">
              <a:latin typeface="Calibri"/>
              <a:cs typeface="Calibri"/>
            </a:endParaRPr>
          </a:p>
          <a:p>
            <a:pPr marL="469900" marR="5080" indent="-229235">
              <a:lnSpc>
                <a:spcPts val="168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Power: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help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decisions.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</a:t>
            </a:r>
            <a:endParaRPr sz="1200">
              <a:latin typeface="Calibri"/>
              <a:cs typeface="Calibri"/>
            </a:endParaRPr>
          </a:p>
          <a:p>
            <a:pPr marL="469900" marR="137160" indent="-229235">
              <a:lnSpc>
                <a:spcPct val="116700"/>
              </a:lnSpc>
              <a:buAutoNum type="arabicPeriod" startAt="4"/>
              <a:tabLst>
                <a:tab pos="469900" algn="l"/>
              </a:tabLst>
            </a:pPr>
            <a:r>
              <a:rPr dirty="0" sz="1200" spc="-10">
                <a:latin typeface="Calibri"/>
                <a:cs typeface="Calibri"/>
              </a:rPr>
              <a:t>Flexibility: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mimics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human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thought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i.e.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can </a:t>
            </a:r>
            <a:r>
              <a:rPr dirty="0" sz="1200">
                <a:latin typeface="Calibri"/>
                <a:cs typeface="Calibri"/>
              </a:rPr>
              <a:t>adapt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his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package.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240"/>
              </a:spcBef>
              <a:buAutoNum type="arabicPeriod" startAt="4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codes: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package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introduce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no</a:t>
            </a:r>
            <a:endParaRPr sz="1200">
              <a:latin typeface="Calibri"/>
              <a:cs typeface="Calibri"/>
            </a:endParaRPr>
          </a:p>
          <a:p>
            <a:pPr marL="469900" marR="9334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codes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alphanumeric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character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masters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426465"/>
            <a:ext cx="5506085" cy="3260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9939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 marL="241300" marR="5080">
              <a:lnSpc>
                <a:spcPct val="116700"/>
              </a:lnSpc>
              <a:spcBef>
                <a:spcPts val="1650"/>
              </a:spcBef>
            </a:pPr>
            <a:r>
              <a:rPr dirty="0" sz="1200">
                <a:latin typeface="Calibri"/>
                <a:cs typeface="Calibri"/>
              </a:rPr>
              <a:t>identified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codeless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introduced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widely </a:t>
            </a:r>
            <a:r>
              <a:rPr dirty="0" sz="1200">
                <a:latin typeface="Calibri"/>
                <a:cs typeface="Calibri"/>
              </a:rPr>
              <a:t>accepted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today.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 supports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too.</a:t>
            </a:r>
            <a:endParaRPr sz="1200">
              <a:latin typeface="Calibri"/>
              <a:cs typeface="Calibri"/>
            </a:endParaRPr>
          </a:p>
          <a:p>
            <a:pPr marL="241300" marR="215900" indent="-229235">
              <a:lnSpc>
                <a:spcPct val="116700"/>
              </a:lnSpc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Sheer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power: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 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ability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volumes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without compromising</a:t>
            </a:r>
            <a:r>
              <a:rPr dirty="0" sz="1200">
                <a:latin typeface="Calibri"/>
                <a:cs typeface="Calibri"/>
              </a:rPr>
              <a:t> 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efficiency.</a:t>
            </a:r>
            <a:endParaRPr sz="1200">
              <a:latin typeface="Calibri"/>
              <a:cs typeface="Calibri"/>
            </a:endParaRPr>
          </a:p>
          <a:p>
            <a:pPr marL="241300" marR="85090" indent="-229235">
              <a:lnSpc>
                <a:spcPts val="1700"/>
              </a:lnSpc>
              <a:spcBef>
                <a:spcPts val="80"/>
              </a:spcBef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transaction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hence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day/period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done.</a:t>
            </a:r>
            <a:endParaRPr sz="12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145"/>
              </a:spcBef>
              <a:buAutoNum type="arabicPeriod" startAt="6"/>
              <a:tabLst>
                <a:tab pos="242570" algn="l"/>
              </a:tabLst>
            </a:pP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help: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friendly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sensitive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user.</a:t>
            </a:r>
            <a:endParaRPr sz="1200">
              <a:latin typeface="Calibri"/>
              <a:cs typeface="Calibri"/>
            </a:endParaRPr>
          </a:p>
          <a:p>
            <a:pPr marL="241300" marR="62230" indent="-229235">
              <a:lnSpc>
                <a:spcPct val="116700"/>
              </a:lnSpc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Expanding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concurrent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lingual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capability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multi-currency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transact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beyond </a:t>
            </a:r>
            <a:r>
              <a:rPr dirty="0" sz="1200" spc="-10">
                <a:latin typeface="Calibri"/>
                <a:cs typeface="Calibri"/>
              </a:rPr>
              <a:t>geographical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boundaries,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without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barriers.</a:t>
            </a:r>
            <a:endParaRPr sz="1200">
              <a:latin typeface="Calibri"/>
              <a:cs typeface="Calibri"/>
            </a:endParaRPr>
          </a:p>
          <a:p>
            <a:pPr marL="240029" marR="234950" indent="-227965">
              <a:lnSpc>
                <a:spcPct val="116700"/>
              </a:lnSpc>
              <a:spcBef>
                <a:spcPts val="25"/>
              </a:spcBef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Amazing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accuracy: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user-</a:t>
            </a:r>
            <a:r>
              <a:rPr dirty="0" sz="1200">
                <a:latin typeface="Calibri"/>
                <a:cs typeface="Calibri"/>
              </a:rPr>
              <a:t>definable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accurate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entry.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83716" y="4161281"/>
            <a:ext cx="5766435" cy="5123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System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/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Hardware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requirements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(version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9)</a:t>
            </a:r>
            <a:endParaRPr sz="1200">
              <a:latin typeface="Calibri"/>
              <a:cs typeface="Calibri"/>
            </a:endParaRPr>
          </a:p>
          <a:p>
            <a:pPr marL="946150" indent="-229235">
              <a:lnSpc>
                <a:spcPct val="100000"/>
              </a:lnSpc>
              <a:spcBef>
                <a:spcPts val="1225"/>
              </a:spcBef>
              <a:buAutoNum type="alphaLcParenR"/>
              <a:tabLst>
                <a:tab pos="946150" algn="l"/>
              </a:tabLst>
            </a:pPr>
            <a:r>
              <a:rPr dirty="0" sz="1200" spc="-10">
                <a:latin typeface="Calibri"/>
                <a:cs typeface="Calibri"/>
              </a:rPr>
              <a:t>Processor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–Intel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Pentium IV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above</a:t>
            </a:r>
            <a:endParaRPr sz="1200">
              <a:latin typeface="Calibri"/>
              <a:cs typeface="Calibri"/>
            </a:endParaRPr>
          </a:p>
          <a:p>
            <a:pPr marL="945515" indent="-228600">
              <a:lnSpc>
                <a:spcPct val="100000"/>
              </a:lnSpc>
              <a:spcBef>
                <a:spcPts val="265"/>
              </a:spcBef>
              <a:buAutoNum type="alphaLcParenR"/>
              <a:tabLst>
                <a:tab pos="945515" algn="l"/>
              </a:tabLst>
            </a:pP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256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more</a:t>
            </a:r>
            <a:endParaRPr sz="1200">
              <a:latin typeface="Calibri"/>
              <a:cs typeface="Calibri"/>
            </a:endParaRPr>
          </a:p>
          <a:p>
            <a:pPr marL="946150" indent="-229235">
              <a:lnSpc>
                <a:spcPct val="100000"/>
              </a:lnSpc>
              <a:spcBef>
                <a:spcPts val="240"/>
              </a:spcBef>
              <a:buAutoNum type="alphaLcParenR"/>
              <a:tabLst>
                <a:tab pos="946150" algn="l"/>
              </a:tabLst>
            </a:pPr>
            <a:r>
              <a:rPr dirty="0" sz="1200">
                <a:latin typeface="Calibri"/>
                <a:cs typeface="Calibri"/>
              </a:rPr>
              <a:t>Free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-40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MB</a:t>
            </a:r>
            <a:r>
              <a:rPr dirty="0" sz="1200" spc="-10">
                <a:latin typeface="Calibri"/>
                <a:cs typeface="Calibri"/>
              </a:rPr>
              <a:t> Minimum</a:t>
            </a:r>
            <a:endParaRPr sz="1200">
              <a:latin typeface="Calibri"/>
              <a:cs typeface="Calibri"/>
            </a:endParaRPr>
          </a:p>
          <a:p>
            <a:pPr marL="945515" indent="-228600">
              <a:lnSpc>
                <a:spcPct val="100000"/>
              </a:lnSpc>
              <a:spcBef>
                <a:spcPts val="240"/>
              </a:spcBef>
              <a:buAutoNum type="alphaLcParenR"/>
              <a:tabLst>
                <a:tab pos="945515" algn="l"/>
              </a:tabLst>
            </a:pPr>
            <a:r>
              <a:rPr dirty="0" sz="1200">
                <a:latin typeface="Calibri"/>
                <a:cs typeface="Calibri"/>
              </a:rPr>
              <a:t>Monitor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resolution</a:t>
            </a:r>
            <a:r>
              <a:rPr dirty="0" sz="1200" spc="-10">
                <a:latin typeface="Calibri"/>
                <a:cs typeface="Calibri"/>
              </a:rPr>
              <a:t> -</a:t>
            </a:r>
            <a:r>
              <a:rPr dirty="0" sz="1200">
                <a:latin typeface="Calibri"/>
                <a:cs typeface="Calibri"/>
              </a:rPr>
              <a:t>1024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768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higher</a:t>
            </a:r>
            <a:endParaRPr sz="1200">
              <a:latin typeface="Calibri"/>
              <a:cs typeface="Calibri"/>
            </a:endParaRPr>
          </a:p>
          <a:p>
            <a:pPr marL="946150" indent="-229235">
              <a:lnSpc>
                <a:spcPct val="100000"/>
              </a:lnSpc>
              <a:spcBef>
                <a:spcPts val="240"/>
              </a:spcBef>
              <a:buAutoNum type="alphaLcParenR"/>
              <a:tabLst>
                <a:tab pos="946150" algn="l"/>
              </a:tabLst>
            </a:pP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–Microsoft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98/ME/NT/2000/XP/2003/Vista</a:t>
            </a:r>
            <a:endParaRPr sz="1200">
              <a:latin typeface="Calibri"/>
              <a:cs typeface="Calibri"/>
            </a:endParaRPr>
          </a:p>
          <a:p>
            <a:pPr marL="30480" marR="224790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Higher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recommended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enhanced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performance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generation.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Higher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recommended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volumes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245"/>
              </a:spcBef>
            </a:pPr>
            <a:r>
              <a:rPr dirty="0" sz="1200" spc="-10" b="1">
                <a:latin typeface="Calibri"/>
                <a:cs typeface="Calibri"/>
              </a:rPr>
              <a:t>Installation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Tally </a:t>
            </a:r>
            <a:r>
              <a:rPr dirty="0" sz="1200" spc="-10" b="1">
                <a:latin typeface="Calibri"/>
                <a:cs typeface="Calibri"/>
              </a:rPr>
              <a:t>software</a:t>
            </a:r>
            <a:endParaRPr sz="12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policies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are-</a:t>
            </a:r>
            <a:endParaRPr sz="1200">
              <a:latin typeface="Calibri"/>
              <a:cs typeface="Calibri"/>
            </a:endParaRPr>
          </a:p>
          <a:p>
            <a:pPr marL="487680" indent="-97155">
              <a:lnSpc>
                <a:spcPct val="100000"/>
              </a:lnSpc>
              <a:spcBef>
                <a:spcPts val="1250"/>
              </a:spcBef>
              <a:buAutoNum type="romanLcPeriod"/>
              <a:tabLst>
                <a:tab pos="487680" algn="l"/>
              </a:tabLst>
            </a:pPr>
            <a:r>
              <a:rPr dirty="0" sz="1200">
                <a:latin typeface="Calibri"/>
                <a:cs typeface="Calibri"/>
              </a:rPr>
              <a:t>“Tally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silver”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  <a:p>
            <a:pPr marL="619760" indent="-229235">
              <a:lnSpc>
                <a:spcPct val="100000"/>
              </a:lnSpc>
              <a:spcBef>
                <a:spcPts val="240"/>
              </a:spcBef>
              <a:buAutoNum type="romanLcPeriod"/>
              <a:tabLst>
                <a:tab pos="619760" algn="l"/>
              </a:tabLst>
            </a:pPr>
            <a:r>
              <a:rPr dirty="0" sz="1200">
                <a:latin typeface="Calibri"/>
                <a:cs typeface="Calibri"/>
              </a:rPr>
              <a:t>“Tally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gold”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</a:t>
            </a:r>
            <a:r>
              <a:rPr dirty="0" sz="1200" spc="-20">
                <a:latin typeface="Calibri"/>
                <a:cs typeface="Calibri"/>
              </a:rPr>
              <a:t> user</a:t>
            </a:r>
            <a:endParaRPr sz="1200">
              <a:latin typeface="Calibri"/>
              <a:cs typeface="Calibri"/>
            </a:endParaRPr>
          </a:p>
          <a:p>
            <a:pPr marL="234950" indent="-189230">
              <a:lnSpc>
                <a:spcPct val="100000"/>
              </a:lnSpc>
              <a:spcBef>
                <a:spcPts val="240"/>
              </a:spcBef>
              <a:buAutoNum type="romanLcPeriod"/>
              <a:tabLst>
                <a:tab pos="234950" algn="l"/>
              </a:tabLst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silver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0">
                <a:latin typeface="Calibri"/>
                <a:cs typeface="Calibri"/>
              </a:rPr>
              <a:t> user</a:t>
            </a:r>
            <a:endParaRPr sz="1200">
              <a:latin typeface="Calibri"/>
              <a:cs typeface="Calibri"/>
            </a:endParaRPr>
          </a:p>
          <a:p>
            <a:pPr marL="234950" marR="5080">
              <a:lnSpc>
                <a:spcPts val="1700"/>
              </a:lnSpc>
              <a:spcBef>
                <a:spcPts val="8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activating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“online”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“off-line”.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However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computer.</a:t>
            </a:r>
            <a:endParaRPr sz="1200">
              <a:latin typeface="Calibri"/>
              <a:cs typeface="Calibri"/>
            </a:endParaRPr>
          </a:p>
          <a:p>
            <a:pPr marL="234950" marR="120014">
              <a:lnSpc>
                <a:spcPts val="1680"/>
              </a:lnSpc>
            </a:pP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surrender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then </a:t>
            </a:r>
            <a:r>
              <a:rPr dirty="0" sz="1200">
                <a:latin typeface="Calibri"/>
                <a:cs typeface="Calibri"/>
              </a:rPr>
              <a:t>reactivating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computer.</a:t>
            </a:r>
            <a:endParaRPr sz="1200">
              <a:latin typeface="Calibri"/>
              <a:cs typeface="Calibri"/>
            </a:endParaRPr>
          </a:p>
          <a:p>
            <a:pPr marL="234950" indent="-222250">
              <a:lnSpc>
                <a:spcPct val="100000"/>
              </a:lnSpc>
              <a:spcBef>
                <a:spcPts val="145"/>
              </a:spcBef>
              <a:buAutoNum type="romanLcPeriod" startAt="2"/>
              <a:tabLst>
                <a:tab pos="234950" algn="l"/>
              </a:tabLst>
            </a:pP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  <a:p>
            <a:pPr marL="234950" marR="177800">
              <a:lnSpc>
                <a:spcPct val="116700"/>
              </a:lnSpc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(gold)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machines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(computers)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95,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98,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270"/>
              </a:spcBef>
            </a:pPr>
            <a:r>
              <a:rPr dirty="0" sz="1200">
                <a:latin typeface="Calibri"/>
                <a:cs typeface="Calibri"/>
              </a:rPr>
              <a:t>WIN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2000.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51830" cy="7540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216535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Installation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9 </a:t>
            </a:r>
            <a:r>
              <a:rPr dirty="0" sz="1200" spc="-10" b="1">
                <a:latin typeface="Calibri"/>
                <a:cs typeface="Calibri"/>
              </a:rPr>
              <a:t>silver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silver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CD-ROM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9installation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displayed.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displayed.</a:t>
            </a:r>
            <a:endParaRPr sz="1200">
              <a:latin typeface="Calibri"/>
              <a:cs typeface="Calibri"/>
            </a:endParaRPr>
          </a:p>
          <a:p>
            <a:pPr marL="241300" marR="43815" indent="-228600">
              <a:lnSpc>
                <a:spcPct val="116700"/>
              </a:lnSpc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proceed. 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previous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241300" marR="508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suggested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directories.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Else,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 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respective </a:t>
            </a:r>
            <a:r>
              <a:rPr dirty="0" sz="1200" b="1">
                <a:latin typeface="Calibri"/>
                <a:cs typeface="Calibri"/>
              </a:rPr>
              <a:t>directory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mouse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directories.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/language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country/language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country 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0">
                <a:latin typeface="Calibri"/>
                <a:cs typeface="Calibri"/>
              </a:rPr>
              <a:t> residence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241300" marR="361950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selected,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statutory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loaded.</a:t>
            </a:r>
            <a:endParaRPr sz="1200">
              <a:latin typeface="Calibri"/>
              <a:cs typeface="Calibri"/>
            </a:endParaRPr>
          </a:p>
          <a:p>
            <a:pPr marL="241300" marR="158750" indent="-228600">
              <a:lnSpc>
                <a:spcPct val="116700"/>
              </a:lnSpc>
              <a:buAutoNum type="arabicPeriod" startAt="7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complete,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displayed.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finish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Installation </a:t>
            </a:r>
            <a:r>
              <a:rPr dirty="0" sz="1200" b="1">
                <a:latin typeface="Calibri"/>
                <a:cs typeface="Calibri"/>
              </a:rPr>
              <a:t>Tally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9 </a:t>
            </a:r>
            <a:r>
              <a:rPr dirty="0" sz="1200" spc="-20" b="1">
                <a:latin typeface="Calibri"/>
                <a:cs typeface="Calibri"/>
              </a:rPr>
              <a:t>gold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Insert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gold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ROM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wizard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displayed.</a:t>
            </a:r>
            <a:endParaRPr sz="1200">
              <a:latin typeface="Calibri"/>
              <a:cs typeface="Calibri"/>
            </a:endParaRPr>
          </a:p>
          <a:p>
            <a:pPr marL="241300" marR="46355" indent="-228600">
              <a:lnSpc>
                <a:spcPct val="116700"/>
              </a:lnSpc>
              <a:spcBef>
                <a:spcPts val="25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before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proceed. 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decline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 back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previous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  <a:p>
            <a:pPr marL="241300" marR="168275" indent="-228600">
              <a:lnSpc>
                <a:spcPct val="116700"/>
              </a:lnSpc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setup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appears.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displayed.</a:t>
            </a:r>
            <a:endParaRPr sz="1200">
              <a:latin typeface="Calibri"/>
              <a:cs typeface="Calibri"/>
            </a:endParaRPr>
          </a:p>
          <a:p>
            <a:pPr marL="241300" marR="213360" indent="-228600">
              <a:lnSpc>
                <a:spcPct val="116700"/>
              </a:lnSpc>
              <a:buAutoNum type="arabicPeriod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folder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25">
                <a:latin typeface="Calibri"/>
                <a:cs typeface="Calibri"/>
              </a:rPr>
              <a:t> is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9090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 port.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licence</a:t>
            </a:r>
            <a:endParaRPr sz="1200">
              <a:latin typeface="Calibri"/>
              <a:cs typeface="Calibri"/>
            </a:endParaRPr>
          </a:p>
          <a:p>
            <a:pPr marL="241300" marR="226695">
              <a:lnSpc>
                <a:spcPct val="1169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directory,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 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directory,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port.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AutoNum type="arabicPeriod" startAt="6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install.</a:t>
            </a:r>
            <a:endParaRPr sz="1200">
              <a:latin typeface="Calibri"/>
              <a:cs typeface="Calibri"/>
            </a:endParaRPr>
          </a:p>
          <a:p>
            <a:pPr marL="241300" marR="444500" indent="-228600">
              <a:lnSpc>
                <a:spcPct val="116700"/>
              </a:lnSpc>
              <a:buAutoNum type="arabicPeriod" startAt="6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progress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displayed.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displayed.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265"/>
              </a:spcBef>
              <a:buAutoNum type="arabicPeriod" startAt="6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finish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426465"/>
            <a:ext cx="9137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704341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18288"/>
                </a:moveTo>
                <a:lnTo>
                  <a:pt x="0" y="18288"/>
                </a:lnTo>
                <a:lnTo>
                  <a:pt x="0" y="54864"/>
                </a:lnTo>
                <a:lnTo>
                  <a:pt x="5768975" y="54864"/>
                </a:lnTo>
                <a:lnTo>
                  <a:pt x="5768975" y="18288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9144"/>
                </a:lnTo>
                <a:lnTo>
                  <a:pt x="5768975" y="9144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2004" y="911097"/>
            <a:ext cx="5733415" cy="816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Create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New</a:t>
            </a:r>
            <a:r>
              <a:rPr dirty="0" sz="1200" spc="-10" b="1">
                <a:latin typeface="Calibri"/>
                <a:cs typeface="Calibri"/>
              </a:rPr>
              <a:t> Company</a:t>
            </a:r>
            <a:endParaRPr sz="1200">
              <a:latin typeface="Calibri"/>
              <a:cs typeface="Calibri"/>
            </a:endParaRPr>
          </a:p>
          <a:p>
            <a:pPr marL="469900" marR="224790" indent="-229235">
              <a:lnSpc>
                <a:spcPct val="118500"/>
              </a:lnSpc>
              <a:spcBef>
                <a:spcPts val="955"/>
              </a:spcBef>
              <a:buFont typeface="Calibri"/>
              <a:buAutoNum type="alphaU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menu.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 </a:t>
            </a:r>
            <a:r>
              <a:rPr dirty="0" sz="1200" spc="-10">
                <a:latin typeface="Calibri"/>
                <a:cs typeface="Calibri"/>
              </a:rPr>
              <a:t>displayed.</a:t>
            </a:r>
            <a:endParaRPr sz="1200">
              <a:latin typeface="Calibri"/>
              <a:cs typeface="Calibri"/>
            </a:endParaRPr>
          </a:p>
          <a:p>
            <a:pPr marL="469900" marR="161290" indent="-229235">
              <a:lnSpc>
                <a:spcPct val="116700"/>
              </a:lnSpc>
              <a:buFont typeface="Calibri"/>
              <a:buAutoNum type="alphaU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printing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vouchers.</a:t>
            </a:r>
            <a:endParaRPr sz="1200">
              <a:latin typeface="Calibri"/>
              <a:cs typeface="Calibri"/>
            </a:endParaRPr>
          </a:p>
          <a:p>
            <a:pPr marL="469900" marR="25400" indent="-229235">
              <a:lnSpc>
                <a:spcPct val="116700"/>
              </a:lnSpc>
              <a:buFont typeface="Calibri"/>
              <a:buAutoNum type="alphaU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Statutory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compliance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available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India,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Indonesia,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Malaysia,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Philippines, </a:t>
            </a:r>
            <a:r>
              <a:rPr dirty="0" sz="1200">
                <a:latin typeface="Calibri"/>
                <a:cs typeface="Calibri"/>
              </a:rPr>
              <a:t>Singapore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Kingdom.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469900" marR="186055">
              <a:lnSpc>
                <a:spcPct val="1167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countries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statutory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compliance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taxation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currency.</a:t>
            </a:r>
            <a:endParaRPr sz="1200">
              <a:latin typeface="Calibri"/>
              <a:cs typeface="Calibri"/>
            </a:endParaRPr>
          </a:p>
          <a:p>
            <a:pPr marL="469900" marR="38735" indent="-229235">
              <a:lnSpc>
                <a:spcPct val="116700"/>
              </a:lnSpc>
              <a:buFont typeface="Calibri"/>
              <a:buAutoNum type="alphaU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 list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states</a:t>
            </a:r>
            <a:r>
              <a:rPr dirty="0" sz="1200" spc="-10">
                <a:latin typeface="Calibri"/>
                <a:cs typeface="Calibri"/>
              </a:rPr>
              <a:t> available,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specific taxation.</a:t>
            </a:r>
            <a:endParaRPr sz="1200">
              <a:latin typeface="Calibri"/>
              <a:cs typeface="Calibri"/>
            </a:endParaRPr>
          </a:p>
          <a:p>
            <a:pPr marL="469900" marR="66040" indent="-229235">
              <a:lnSpc>
                <a:spcPts val="1680"/>
              </a:lnSpc>
              <a:spcBef>
                <a:spcPts val="95"/>
              </a:spcBef>
              <a:buFont typeface="Calibri"/>
              <a:buAutoNum type="alphaU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transactions.</a:t>
            </a:r>
            <a:endParaRPr sz="1200">
              <a:latin typeface="Calibri"/>
              <a:cs typeface="Calibri"/>
            </a:endParaRPr>
          </a:p>
          <a:p>
            <a:pPr marL="469900" marR="5080" indent="-229235">
              <a:lnSpc>
                <a:spcPts val="1680"/>
              </a:lnSpc>
              <a:spcBef>
                <a:spcPts val="30"/>
              </a:spcBef>
              <a:buFont typeface="Calibri"/>
              <a:buAutoNum type="alphaU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yearof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Tally </a:t>
            </a:r>
            <a:r>
              <a:rPr dirty="0" sz="1200">
                <a:latin typeface="Calibri"/>
                <a:cs typeface="Calibri"/>
              </a:rPr>
              <a:t>considers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12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  <a:p>
            <a:pPr marL="469900" marR="6985" indent="-229235">
              <a:lnSpc>
                <a:spcPts val="1680"/>
              </a:lnSpc>
              <a:buFont typeface="Calibri"/>
              <a:buAutoNum type="alphaUcPeriod" startAt="4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wish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books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beginning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>
                <a:latin typeface="Calibri"/>
                <a:cs typeface="Calibri"/>
              </a:rPr>
              <a:t>field.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implementing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middle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  <a:p>
            <a:pPr marL="471170" indent="-229870">
              <a:lnSpc>
                <a:spcPct val="100000"/>
              </a:lnSpc>
              <a:spcBef>
                <a:spcPts val="145"/>
              </a:spcBef>
              <a:buFont typeface="Calibri"/>
              <a:buAutoNum type="alphaUcPeriod" startAt="4"/>
              <a:tabLst>
                <a:tab pos="471170" algn="l"/>
              </a:tabLst>
            </a:pP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vault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confidentiality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encrypting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469900" marR="78105" indent="-229235">
              <a:lnSpc>
                <a:spcPct val="116700"/>
              </a:lnSpc>
              <a:buFont typeface="Calibri"/>
              <a:buAutoNum type="alphaUcPeriod" startAt="9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 data,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Use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Administrator,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Audit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Administrator,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retype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features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will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administrator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statement.</a:t>
            </a:r>
            <a:endParaRPr sz="1200">
              <a:latin typeface="Calibri"/>
              <a:cs typeface="Calibri"/>
            </a:endParaRPr>
          </a:p>
          <a:p>
            <a:pPr marL="469900" marR="401955" indent="-229235">
              <a:lnSpc>
                <a:spcPct val="116700"/>
              </a:lnSpc>
              <a:buFont typeface="Calibri"/>
              <a:buAutoNum type="alphaUcPeriod" startAt="10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information,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seeks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conformation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 </a:t>
            </a:r>
            <a:r>
              <a:rPr dirty="0" sz="1200">
                <a:latin typeface="Calibri"/>
                <a:cs typeface="Calibri"/>
              </a:rPr>
              <a:t>profile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asking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Accept?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</a:t>
            </a:r>
            <a:endParaRPr sz="1200">
              <a:latin typeface="Calibri"/>
              <a:cs typeface="Calibri"/>
            </a:endParaRPr>
          </a:p>
          <a:p>
            <a:pPr marL="469900" marR="474345">
              <a:lnSpc>
                <a:spcPts val="1680"/>
              </a:lnSpc>
              <a:spcBef>
                <a:spcPts val="95"/>
              </a:spcBef>
            </a:pPr>
            <a:r>
              <a:rPr dirty="0" sz="1200">
                <a:latin typeface="Calibri"/>
                <a:cs typeface="Calibri"/>
              </a:rPr>
              <a:t>Press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Parameters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 creation.</a:t>
            </a:r>
            <a:endParaRPr sz="1200">
              <a:latin typeface="Calibri"/>
              <a:cs typeface="Calibri"/>
            </a:endParaRPr>
          </a:p>
          <a:p>
            <a:pPr marL="469900" marR="282575" indent="-229235">
              <a:lnSpc>
                <a:spcPts val="1680"/>
              </a:lnSpc>
              <a:spcBef>
                <a:spcPts val="30"/>
              </a:spcBef>
              <a:buFont typeface="Calibri"/>
              <a:buAutoNum type="alphaUcPeriod" startAt="11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newly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loaded.</a:t>
            </a: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directory.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entry/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creating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Voucher</a:t>
            </a:r>
            <a:endParaRPr sz="1200">
              <a:latin typeface="Calibri"/>
              <a:cs typeface="Calibri"/>
            </a:endParaRPr>
          </a:p>
          <a:p>
            <a:pPr marL="12700" marR="221615">
              <a:lnSpc>
                <a:spcPct val="117200"/>
              </a:lnSpc>
              <a:spcBef>
                <a:spcPts val="100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voucher.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Inputting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entry.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authentication.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26465"/>
            <a:ext cx="5739130" cy="7092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714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mbria"/>
                <a:cs typeface="Cambria"/>
              </a:rPr>
              <a:t>CAB</a:t>
            </a:r>
            <a:r>
              <a:rPr dirty="0" sz="1600" spc="-1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notes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procedures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25">
                <a:latin typeface="Calibri"/>
                <a:cs typeface="Calibri"/>
              </a:rPr>
              <a:t> are</a:t>
            </a:r>
            <a:endParaRPr sz="1200">
              <a:latin typeface="Calibri"/>
              <a:cs typeface="Calibri"/>
            </a:endParaRPr>
          </a:p>
          <a:p>
            <a:pPr marL="12700" marR="28575">
              <a:lnSpc>
                <a:spcPct val="118500"/>
              </a:lnSpc>
              <a:spcBef>
                <a:spcPts val="955"/>
              </a:spcBef>
              <a:tabLst>
                <a:tab pos="2767965" algn="l"/>
              </a:tabLst>
            </a:pP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Vouchers.</a:t>
            </a:r>
            <a:r>
              <a:rPr dirty="0" sz="1200">
                <a:latin typeface="Calibri"/>
                <a:cs typeface="Calibri"/>
              </a:rPr>
              <a:t>	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Creation Screen.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200" spc="-25">
                <a:latin typeface="Calibri"/>
                <a:cs typeface="Calibri"/>
              </a:rPr>
              <a:t>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→Create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Types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Voucher</a:t>
            </a:r>
            <a:endParaRPr sz="1200">
              <a:latin typeface="Calibri"/>
              <a:cs typeface="Calibri"/>
            </a:endParaRPr>
          </a:p>
          <a:p>
            <a:pPr marL="12700" marR="202565">
              <a:lnSpc>
                <a:spcPct val="116700"/>
              </a:lnSpc>
              <a:spcBef>
                <a:spcPts val="1005"/>
              </a:spcBef>
            </a:pPr>
            <a:r>
              <a:rPr dirty="0" sz="1200" b="1">
                <a:latin typeface="Calibri"/>
                <a:cs typeface="Calibri"/>
              </a:rPr>
              <a:t>Purchase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entries.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affected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companies,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item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>
                <a:latin typeface="Calibri"/>
                <a:cs typeface="Calibri"/>
              </a:rPr>
              <a:t>given.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steps.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F9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bar.</a:t>
            </a:r>
            <a:endParaRPr sz="1200">
              <a:latin typeface="Calibri"/>
              <a:cs typeface="Calibri"/>
            </a:endParaRPr>
          </a:p>
          <a:p>
            <a:pPr marL="12700" marR="59055">
              <a:lnSpc>
                <a:spcPct val="116700"/>
              </a:lnSpc>
              <a:spcBef>
                <a:spcPts val="1010"/>
              </a:spcBef>
            </a:pPr>
            <a:r>
              <a:rPr dirty="0" sz="1200" b="1">
                <a:latin typeface="Calibri"/>
                <a:cs typeface="Calibri"/>
              </a:rPr>
              <a:t>Sales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>
                <a:latin typeface="Calibri"/>
                <a:cs typeface="Calibri"/>
              </a:rPr>
              <a:t>–It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item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affected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steps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F8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bar</a:t>
            </a:r>
            <a:endParaRPr sz="1200">
              <a:latin typeface="Calibri"/>
              <a:cs typeface="Calibri"/>
            </a:endParaRPr>
          </a:p>
          <a:p>
            <a:pPr marL="12700" marR="716915">
              <a:lnSpc>
                <a:spcPct val="186700"/>
              </a:lnSpc>
            </a:pPr>
            <a:r>
              <a:rPr dirty="0" sz="1200" b="1">
                <a:latin typeface="Calibri"/>
                <a:cs typeface="Calibri"/>
              </a:rPr>
              <a:t>Contra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>
                <a:latin typeface="Calibri"/>
                <a:cs typeface="Calibri"/>
              </a:rPr>
              <a:t>–It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transfers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only.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Transfer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bank.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25">
                <a:latin typeface="Calibri"/>
                <a:cs typeface="Calibri"/>
              </a:rPr>
              <a:t> is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F4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bar.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010"/>
              </a:spcBef>
            </a:pPr>
            <a:r>
              <a:rPr dirty="0" sz="1200" b="1">
                <a:latin typeface="Calibri"/>
                <a:cs typeface="Calibri"/>
              </a:rPr>
              <a:t>Payment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cash.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>
                <a:latin typeface="Calibri"/>
                <a:cs typeface="Calibri"/>
              </a:rPr>
              <a:t>Gateway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Tally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Inventory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 →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 </a:t>
            </a:r>
            <a:r>
              <a:rPr dirty="0" sz="1200" spc="-25">
                <a:latin typeface="Calibri"/>
                <a:cs typeface="Calibri"/>
              </a:rPr>
              <a:t>F5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200" b="1">
                <a:latin typeface="Calibri"/>
                <a:cs typeface="Calibri"/>
              </a:rPr>
              <a:t>Receipt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voucher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–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voucher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receipts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416" y="9841699"/>
            <a:ext cx="5768975" cy="55244"/>
          </a:xfrm>
          <a:custGeom>
            <a:avLst/>
            <a:gdLst/>
            <a:ahLst/>
            <a:cxnLst/>
            <a:rect l="l" t="t" r="r" b="b"/>
            <a:pathLst>
              <a:path w="5768975" h="55245">
                <a:moveTo>
                  <a:pt x="5768975" y="45720"/>
                </a:moveTo>
                <a:lnTo>
                  <a:pt x="0" y="45720"/>
                </a:lnTo>
                <a:lnTo>
                  <a:pt x="0" y="54851"/>
                </a:lnTo>
                <a:lnTo>
                  <a:pt x="5768975" y="54851"/>
                </a:lnTo>
                <a:lnTo>
                  <a:pt x="5768975" y="45720"/>
                </a:lnTo>
                <a:close/>
              </a:path>
              <a:path w="5768975" h="55245">
                <a:moveTo>
                  <a:pt x="5768975" y="0"/>
                </a:moveTo>
                <a:lnTo>
                  <a:pt x="0" y="0"/>
                </a:lnTo>
                <a:lnTo>
                  <a:pt x="0" y="36563"/>
                </a:lnTo>
                <a:lnTo>
                  <a:pt x="5768975" y="36563"/>
                </a:lnTo>
                <a:lnTo>
                  <a:pt x="5768975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SN</a:t>
            </a:r>
            <a:r>
              <a:rPr dirty="0" spc="-20"/>
              <a:t> </a:t>
            </a:r>
            <a:r>
              <a:rPr dirty="0" spc="-10"/>
              <a:t>notes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Page</a:t>
            </a:r>
            <a:r>
              <a:rPr dirty="0" spc="-2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ismail - [2010]</dc:creator>
  <dc:title>CAB notes</dc:title>
  <dcterms:created xsi:type="dcterms:W3CDTF">2024-12-12T09:59:27Z</dcterms:created>
  <dcterms:modified xsi:type="dcterms:W3CDTF">2024-12-12T09:59:27Z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2024-12-12T00:00:00Z</vt:filetime>
  </property>
  <property fmtid="{D5CDD505-2E9C-101B-9397-08002B2CF9AE}" pid="5" name="Producer">
    <vt:lpwstr>www.ilovepdf.com</vt:lpwstr>
  </property>
</Properties>
</file>