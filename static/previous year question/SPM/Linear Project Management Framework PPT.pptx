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57778" y="1665554"/>
            <a:ext cx="5076443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4436" y="3357372"/>
            <a:ext cx="1469969" cy="142189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023872" y="2142744"/>
            <a:ext cx="3355975" cy="1856739"/>
          </a:xfrm>
          <a:custGeom>
            <a:avLst/>
            <a:gdLst/>
            <a:ahLst/>
            <a:cxnLst/>
            <a:rect l="l" t="t" r="r" b="b"/>
            <a:pathLst>
              <a:path w="3355975" h="1856739">
                <a:moveTo>
                  <a:pt x="3046476" y="0"/>
                </a:moveTo>
                <a:lnTo>
                  <a:pt x="309371" y="0"/>
                </a:lnTo>
                <a:lnTo>
                  <a:pt x="263665" y="3355"/>
                </a:lnTo>
                <a:lnTo>
                  <a:pt x="220038" y="13102"/>
                </a:lnTo>
                <a:lnTo>
                  <a:pt x="178968" y="28761"/>
                </a:lnTo>
                <a:lnTo>
                  <a:pt x="140936" y="49853"/>
                </a:lnTo>
                <a:lnTo>
                  <a:pt x="106420" y="75899"/>
                </a:lnTo>
                <a:lnTo>
                  <a:pt x="75899" y="106420"/>
                </a:lnTo>
                <a:lnTo>
                  <a:pt x="49853" y="140936"/>
                </a:lnTo>
                <a:lnTo>
                  <a:pt x="28761" y="178968"/>
                </a:lnTo>
                <a:lnTo>
                  <a:pt x="13102" y="220038"/>
                </a:lnTo>
                <a:lnTo>
                  <a:pt x="3355" y="263665"/>
                </a:lnTo>
                <a:lnTo>
                  <a:pt x="0" y="309371"/>
                </a:lnTo>
                <a:lnTo>
                  <a:pt x="0" y="1546859"/>
                </a:lnTo>
                <a:lnTo>
                  <a:pt x="3355" y="1592566"/>
                </a:lnTo>
                <a:lnTo>
                  <a:pt x="13102" y="1636193"/>
                </a:lnTo>
                <a:lnTo>
                  <a:pt x="28761" y="1677263"/>
                </a:lnTo>
                <a:lnTo>
                  <a:pt x="49853" y="1715295"/>
                </a:lnTo>
                <a:lnTo>
                  <a:pt x="75899" y="1749811"/>
                </a:lnTo>
                <a:lnTo>
                  <a:pt x="106420" y="1780332"/>
                </a:lnTo>
                <a:lnTo>
                  <a:pt x="140936" y="1806378"/>
                </a:lnTo>
                <a:lnTo>
                  <a:pt x="178968" y="1827470"/>
                </a:lnTo>
                <a:lnTo>
                  <a:pt x="220038" y="1843129"/>
                </a:lnTo>
                <a:lnTo>
                  <a:pt x="263665" y="1852876"/>
                </a:lnTo>
                <a:lnTo>
                  <a:pt x="309371" y="1856231"/>
                </a:lnTo>
                <a:lnTo>
                  <a:pt x="3046476" y="1856231"/>
                </a:lnTo>
                <a:lnTo>
                  <a:pt x="3092182" y="1852876"/>
                </a:lnTo>
                <a:lnTo>
                  <a:pt x="3135809" y="1843129"/>
                </a:lnTo>
                <a:lnTo>
                  <a:pt x="3176879" y="1827470"/>
                </a:lnTo>
                <a:lnTo>
                  <a:pt x="3214911" y="1806378"/>
                </a:lnTo>
                <a:lnTo>
                  <a:pt x="3249427" y="1780332"/>
                </a:lnTo>
                <a:lnTo>
                  <a:pt x="3279948" y="1749811"/>
                </a:lnTo>
                <a:lnTo>
                  <a:pt x="3305994" y="1715295"/>
                </a:lnTo>
                <a:lnTo>
                  <a:pt x="3327086" y="1677263"/>
                </a:lnTo>
                <a:lnTo>
                  <a:pt x="3342745" y="1636193"/>
                </a:lnTo>
                <a:lnTo>
                  <a:pt x="3352492" y="1592566"/>
                </a:lnTo>
                <a:lnTo>
                  <a:pt x="3355848" y="1546859"/>
                </a:lnTo>
                <a:lnTo>
                  <a:pt x="3355848" y="309371"/>
                </a:lnTo>
                <a:lnTo>
                  <a:pt x="3352492" y="263665"/>
                </a:lnTo>
                <a:lnTo>
                  <a:pt x="3342745" y="220038"/>
                </a:lnTo>
                <a:lnTo>
                  <a:pt x="3327086" y="178968"/>
                </a:lnTo>
                <a:lnTo>
                  <a:pt x="3305994" y="140936"/>
                </a:lnTo>
                <a:lnTo>
                  <a:pt x="3279948" y="106420"/>
                </a:lnTo>
                <a:lnTo>
                  <a:pt x="3249427" y="75899"/>
                </a:lnTo>
                <a:lnTo>
                  <a:pt x="3214911" y="49853"/>
                </a:lnTo>
                <a:lnTo>
                  <a:pt x="3176879" y="28761"/>
                </a:lnTo>
                <a:lnTo>
                  <a:pt x="3135809" y="13102"/>
                </a:lnTo>
                <a:lnTo>
                  <a:pt x="3092182" y="3355"/>
                </a:lnTo>
                <a:lnTo>
                  <a:pt x="3046476" y="0"/>
                </a:lnTo>
                <a:close/>
              </a:path>
            </a:pathLst>
          </a:custGeom>
          <a:solidFill>
            <a:srgbClr val="6C1A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023872" y="2142744"/>
            <a:ext cx="3355975" cy="1856739"/>
          </a:xfrm>
          <a:custGeom>
            <a:avLst/>
            <a:gdLst/>
            <a:ahLst/>
            <a:cxnLst/>
            <a:rect l="l" t="t" r="r" b="b"/>
            <a:pathLst>
              <a:path w="3355975" h="1856739">
                <a:moveTo>
                  <a:pt x="0" y="309371"/>
                </a:moveTo>
                <a:lnTo>
                  <a:pt x="3355" y="263665"/>
                </a:lnTo>
                <a:lnTo>
                  <a:pt x="13102" y="220038"/>
                </a:lnTo>
                <a:lnTo>
                  <a:pt x="28761" y="178968"/>
                </a:lnTo>
                <a:lnTo>
                  <a:pt x="49853" y="140936"/>
                </a:lnTo>
                <a:lnTo>
                  <a:pt x="75899" y="106420"/>
                </a:lnTo>
                <a:lnTo>
                  <a:pt x="106420" y="75899"/>
                </a:lnTo>
                <a:lnTo>
                  <a:pt x="140936" y="49853"/>
                </a:lnTo>
                <a:lnTo>
                  <a:pt x="178968" y="28761"/>
                </a:lnTo>
                <a:lnTo>
                  <a:pt x="220038" y="13102"/>
                </a:lnTo>
                <a:lnTo>
                  <a:pt x="263665" y="3355"/>
                </a:lnTo>
                <a:lnTo>
                  <a:pt x="309371" y="0"/>
                </a:lnTo>
                <a:lnTo>
                  <a:pt x="3046476" y="0"/>
                </a:lnTo>
                <a:lnTo>
                  <a:pt x="3092182" y="3355"/>
                </a:lnTo>
                <a:lnTo>
                  <a:pt x="3135809" y="13102"/>
                </a:lnTo>
                <a:lnTo>
                  <a:pt x="3176879" y="28761"/>
                </a:lnTo>
                <a:lnTo>
                  <a:pt x="3214911" y="49853"/>
                </a:lnTo>
                <a:lnTo>
                  <a:pt x="3249427" y="75899"/>
                </a:lnTo>
                <a:lnTo>
                  <a:pt x="3279948" y="106420"/>
                </a:lnTo>
                <a:lnTo>
                  <a:pt x="3305994" y="140936"/>
                </a:lnTo>
                <a:lnTo>
                  <a:pt x="3327086" y="178968"/>
                </a:lnTo>
                <a:lnTo>
                  <a:pt x="3342745" y="220038"/>
                </a:lnTo>
                <a:lnTo>
                  <a:pt x="3352492" y="263665"/>
                </a:lnTo>
                <a:lnTo>
                  <a:pt x="3355848" y="309371"/>
                </a:lnTo>
                <a:lnTo>
                  <a:pt x="3355848" y="1546859"/>
                </a:lnTo>
                <a:lnTo>
                  <a:pt x="3352492" y="1592566"/>
                </a:lnTo>
                <a:lnTo>
                  <a:pt x="3342745" y="1636193"/>
                </a:lnTo>
                <a:lnTo>
                  <a:pt x="3327086" y="1677263"/>
                </a:lnTo>
                <a:lnTo>
                  <a:pt x="3305994" y="1715295"/>
                </a:lnTo>
                <a:lnTo>
                  <a:pt x="3279948" y="1749811"/>
                </a:lnTo>
                <a:lnTo>
                  <a:pt x="3249427" y="1780332"/>
                </a:lnTo>
                <a:lnTo>
                  <a:pt x="3214911" y="1806378"/>
                </a:lnTo>
                <a:lnTo>
                  <a:pt x="3176879" y="1827470"/>
                </a:lnTo>
                <a:lnTo>
                  <a:pt x="3135809" y="1843129"/>
                </a:lnTo>
                <a:lnTo>
                  <a:pt x="3092182" y="1852876"/>
                </a:lnTo>
                <a:lnTo>
                  <a:pt x="3046476" y="1856231"/>
                </a:lnTo>
                <a:lnTo>
                  <a:pt x="309371" y="1856231"/>
                </a:lnTo>
                <a:lnTo>
                  <a:pt x="263665" y="1852876"/>
                </a:lnTo>
                <a:lnTo>
                  <a:pt x="220038" y="1843129"/>
                </a:lnTo>
                <a:lnTo>
                  <a:pt x="178968" y="1827470"/>
                </a:lnTo>
                <a:lnTo>
                  <a:pt x="140936" y="1806378"/>
                </a:lnTo>
                <a:lnTo>
                  <a:pt x="106420" y="1780332"/>
                </a:lnTo>
                <a:lnTo>
                  <a:pt x="75899" y="1749811"/>
                </a:lnTo>
                <a:lnTo>
                  <a:pt x="49853" y="1715295"/>
                </a:lnTo>
                <a:lnTo>
                  <a:pt x="28761" y="1677263"/>
                </a:lnTo>
                <a:lnTo>
                  <a:pt x="13102" y="1636193"/>
                </a:lnTo>
                <a:lnTo>
                  <a:pt x="3355" y="1592566"/>
                </a:lnTo>
                <a:lnTo>
                  <a:pt x="0" y="1546859"/>
                </a:lnTo>
                <a:lnTo>
                  <a:pt x="0" y="309371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962596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8066"/>
            <a:ext cx="10069830" cy="4268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upload.wikimedia.org/wikipedia/commons/b/b9/Pert_chart_colored.gif" TargetMode="External"/><Relationship Id="rId3" Type="http://schemas.openxmlformats.org/officeDocument/2006/relationships/image" Target="../media/image37.png"/><Relationship Id="rId4" Type="http://schemas.openxmlformats.org/officeDocument/2006/relationships/hyperlink" Target="http://upload.wikimedia.org/wikipedia/commons/e/e2/GanttChartAnatomy.png" TargetMode="External"/><Relationship Id="rId5" Type="http://schemas.openxmlformats.org/officeDocument/2006/relationships/image" Target="../media/image38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://upload.wikimedia.org/wikipedia/commons/e/e2/GanttChartAnatomy.png" TargetMode="External"/><Relationship Id="rId3" Type="http://schemas.openxmlformats.org/officeDocument/2006/relationships/image" Target="../media/image38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7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continuingprofessionaldevelopment.org/risk-management-process-practical-technique-identifying-risks/" TargetMode="External"/><Relationship Id="rId3" Type="http://schemas.openxmlformats.org/officeDocument/2006/relationships/hyperlink" Target="http://continuingprofessionaldevelopment.org/risk-register-template-the-benefits-of-standardized-approach/" TargetMode="External"/><Relationship Id="rId4" Type="http://schemas.openxmlformats.org/officeDocument/2006/relationships/hyperlink" Target="http://continuingprofessionaldevelopment.org/key-elements-project-risk-register-template/" TargetMode="Externa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industrialaudit.com/wp-content/uploads/2015/08/Risk-Register.png" TargetMode="External"/><Relationship Id="rId3" Type="http://schemas.openxmlformats.org/officeDocument/2006/relationships/image" Target="../media/image43.jp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industrialaudit.com/wp-content/uploads/2015/08/Risk-Response-Matrix.png" TargetMode="External"/><Relationship Id="rId3" Type="http://schemas.openxmlformats.org/officeDocument/2006/relationships/image" Target="../media/image44.jp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6205" rIns="0" bIns="0" rtlCol="0" vert="horz">
            <a:spAutoFit/>
          </a:bodyPr>
          <a:lstStyle/>
          <a:p>
            <a:pPr marL="487680" marR="5080" indent="-475615">
              <a:lnSpc>
                <a:spcPts val="6480"/>
              </a:lnSpc>
              <a:spcBef>
                <a:spcPts val="915"/>
              </a:spcBef>
            </a:pPr>
            <a:r>
              <a:rPr dirty="0" sz="6000"/>
              <a:t>Software</a:t>
            </a:r>
            <a:r>
              <a:rPr dirty="0" sz="6000" spc="-210"/>
              <a:t> </a:t>
            </a:r>
            <a:r>
              <a:rPr dirty="0" sz="6000" spc="-35"/>
              <a:t>Project </a:t>
            </a:r>
            <a:r>
              <a:rPr dirty="0" sz="6000" spc="-10"/>
              <a:t>Management</a:t>
            </a:r>
            <a:endParaRPr sz="6000"/>
          </a:p>
        </p:txBody>
      </p:sp>
      <p:sp>
        <p:nvSpPr>
          <p:cNvPr id="3" name="object 3" descr=""/>
          <p:cNvSpPr txBox="1"/>
          <p:nvPr/>
        </p:nvSpPr>
        <p:spPr>
          <a:xfrm>
            <a:off x="7520431" y="4492497"/>
            <a:ext cx="24758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:Mrs.Priya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Pawar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9640" y="297141"/>
            <a:ext cx="1229868" cy="10668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 spc="-10"/>
              <a:t>Project?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93493"/>
            <a:ext cx="9893935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temporary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endeavor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undertaken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produce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unique </a:t>
            </a:r>
            <a:r>
              <a:rPr dirty="0" sz="2800">
                <a:latin typeface="Calibri"/>
                <a:cs typeface="Calibri"/>
              </a:rPr>
              <a:t>product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service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74394" y="4415409"/>
            <a:ext cx="5947410" cy="81216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spc="-25" b="1">
                <a:latin typeface="Calibri"/>
                <a:cs typeface="Calibri"/>
              </a:rPr>
              <a:t>Temporary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Definitive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beginning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5">
                <a:latin typeface="Calibri"/>
                <a:cs typeface="Calibri"/>
              </a:rPr>
              <a:t> end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b="1">
                <a:latin typeface="Calibri"/>
                <a:cs typeface="Calibri"/>
              </a:rPr>
              <a:t>Unique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–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New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undertaking,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unfamiliar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ground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2523744" y="3214116"/>
            <a:ext cx="2072639" cy="1001394"/>
          </a:xfrm>
          <a:custGeom>
            <a:avLst/>
            <a:gdLst/>
            <a:ahLst/>
            <a:cxnLst/>
            <a:rect l="l" t="t" r="r" b="b"/>
            <a:pathLst>
              <a:path w="2072639" h="1001395">
                <a:moveTo>
                  <a:pt x="1572006" y="0"/>
                </a:moveTo>
                <a:lnTo>
                  <a:pt x="1572006" y="250317"/>
                </a:lnTo>
                <a:lnTo>
                  <a:pt x="0" y="250317"/>
                </a:lnTo>
                <a:lnTo>
                  <a:pt x="0" y="750951"/>
                </a:lnTo>
                <a:lnTo>
                  <a:pt x="1572006" y="750951"/>
                </a:lnTo>
                <a:lnTo>
                  <a:pt x="1572006" y="1001268"/>
                </a:lnTo>
                <a:lnTo>
                  <a:pt x="2072640" y="500634"/>
                </a:lnTo>
                <a:lnTo>
                  <a:pt x="1572006" y="0"/>
                </a:lnTo>
                <a:close/>
              </a:path>
            </a:pathLst>
          </a:custGeom>
          <a:solidFill>
            <a:srgbClr val="7E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2911220" y="3550411"/>
            <a:ext cx="10464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Temporary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095743" y="3144011"/>
            <a:ext cx="2072639" cy="1000125"/>
          </a:xfrm>
          <a:custGeom>
            <a:avLst/>
            <a:gdLst/>
            <a:ahLst/>
            <a:cxnLst/>
            <a:rect l="l" t="t" r="r" b="b"/>
            <a:pathLst>
              <a:path w="2072640" h="1000125">
                <a:moveTo>
                  <a:pt x="499872" y="0"/>
                </a:moveTo>
                <a:lnTo>
                  <a:pt x="0" y="499871"/>
                </a:lnTo>
                <a:lnTo>
                  <a:pt x="499872" y="999744"/>
                </a:lnTo>
                <a:lnTo>
                  <a:pt x="499872" y="749807"/>
                </a:lnTo>
                <a:lnTo>
                  <a:pt x="2072639" y="749807"/>
                </a:lnTo>
                <a:lnTo>
                  <a:pt x="2072639" y="249936"/>
                </a:lnTo>
                <a:lnTo>
                  <a:pt x="499872" y="249936"/>
                </a:lnTo>
                <a:lnTo>
                  <a:pt x="499872" y="0"/>
                </a:lnTo>
                <a:close/>
              </a:path>
            </a:pathLst>
          </a:custGeom>
          <a:solidFill>
            <a:srgbClr val="7E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900161" y="3479038"/>
            <a:ext cx="7162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Unique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818126" y="3456254"/>
            <a:ext cx="195580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Characteristics</a:t>
            </a:r>
            <a:r>
              <a:rPr dirty="0" sz="18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  <a:p>
            <a:pPr marL="575945">
              <a:lnSpc>
                <a:spcPct val="100000"/>
              </a:lnSpc>
              <a:spcBef>
                <a:spcPts val="5"/>
              </a:spcBef>
            </a:pP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Projects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Project</a:t>
            </a:r>
            <a:r>
              <a:rPr dirty="0" spc="-165"/>
              <a:t> </a:t>
            </a:r>
            <a:r>
              <a:rPr dirty="0"/>
              <a:t>in</a:t>
            </a:r>
            <a:r>
              <a:rPr dirty="0" spc="-175"/>
              <a:t> </a:t>
            </a:r>
            <a:r>
              <a:rPr dirty="0" spc="-20"/>
              <a:t>Detail</a:t>
            </a:r>
            <a:r>
              <a:rPr dirty="0" spc="-165"/>
              <a:t> </a:t>
            </a:r>
            <a:r>
              <a:rPr dirty="0" spc="-50"/>
              <a:t>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1497" y="1352804"/>
            <a:ext cx="10294620" cy="33953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241300" marR="568960" indent="-228600">
              <a:lnSpc>
                <a:spcPts val="303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general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refers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endeavor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specific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objective </a:t>
            </a:r>
            <a:r>
              <a:rPr dirty="0" sz="2800">
                <a:latin typeface="Calibri"/>
                <a:cs typeface="Calibri"/>
              </a:rPr>
              <a:t>Some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definitions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follows.</a:t>
            </a:r>
            <a:endParaRPr sz="2800">
              <a:latin typeface="Calibri"/>
              <a:cs typeface="Calibri"/>
            </a:endParaRPr>
          </a:p>
          <a:p>
            <a:pPr marL="241300" marR="851535" indent="-228600">
              <a:lnSpc>
                <a:spcPts val="3020"/>
              </a:lnSpc>
              <a:spcBef>
                <a:spcPts val="1005"/>
              </a:spcBef>
              <a:buFont typeface="Wingdings"/>
              <a:buChar char=""/>
              <a:tabLst>
                <a:tab pos="375920" algn="l"/>
              </a:tabLst>
            </a:pP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temporary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endeavor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undertaken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create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unique </a:t>
            </a:r>
            <a:r>
              <a:rPr dirty="0" sz="2800">
                <a:latin typeface="Calibri"/>
                <a:cs typeface="Calibri"/>
              </a:rPr>
              <a:t>product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service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result.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5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unique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process,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consist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coordinated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 spc="-10">
                <a:latin typeface="Calibri"/>
                <a:cs typeface="Calibri"/>
              </a:rPr>
              <a:t>controlled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activities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start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finish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dates,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undertaken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achieve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objective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confirming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specific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requirements,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including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constraints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cost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resource.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5259" y="4930140"/>
            <a:ext cx="3390899" cy="17693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dirty="0" spc="-16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241300" marR="5080" indent="-229235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600"/>
              <a:t>Project</a:t>
            </a:r>
            <a:r>
              <a:rPr dirty="0" sz="2600" spc="-45"/>
              <a:t> </a:t>
            </a:r>
            <a:r>
              <a:rPr dirty="0" sz="2600"/>
              <a:t>Management</a:t>
            </a:r>
            <a:r>
              <a:rPr dirty="0" sz="2600" spc="-40"/>
              <a:t> </a:t>
            </a:r>
            <a:r>
              <a:rPr dirty="0" sz="2600"/>
              <a:t>is</a:t>
            </a:r>
            <a:r>
              <a:rPr dirty="0" sz="2600" spc="-35"/>
              <a:t> </a:t>
            </a:r>
            <a:r>
              <a:rPr dirty="0" sz="2600"/>
              <a:t>the</a:t>
            </a:r>
            <a:r>
              <a:rPr dirty="0" sz="2600" spc="-35"/>
              <a:t> </a:t>
            </a:r>
            <a:r>
              <a:rPr dirty="0" sz="2600"/>
              <a:t>process</a:t>
            </a:r>
            <a:r>
              <a:rPr dirty="0" sz="2600" spc="-60"/>
              <a:t> </a:t>
            </a:r>
            <a:r>
              <a:rPr dirty="0" sz="2600"/>
              <a:t>of</a:t>
            </a:r>
            <a:r>
              <a:rPr dirty="0" sz="2600" spc="-15"/>
              <a:t> </a:t>
            </a:r>
            <a:r>
              <a:rPr dirty="0" sz="2600"/>
              <a:t>planning,</a:t>
            </a:r>
            <a:r>
              <a:rPr dirty="0" sz="2600" spc="-35"/>
              <a:t> </a:t>
            </a:r>
            <a:r>
              <a:rPr dirty="0" sz="2600"/>
              <a:t>directing,</a:t>
            </a:r>
            <a:r>
              <a:rPr dirty="0" sz="2600" spc="-50"/>
              <a:t> </a:t>
            </a:r>
            <a:r>
              <a:rPr dirty="0" sz="2600"/>
              <a:t>and</a:t>
            </a:r>
            <a:r>
              <a:rPr dirty="0" sz="2600" spc="-35"/>
              <a:t> </a:t>
            </a:r>
            <a:r>
              <a:rPr dirty="0" sz="2600" spc="-10"/>
              <a:t>controlling </a:t>
            </a:r>
            <a:r>
              <a:rPr dirty="0" sz="2600"/>
              <a:t>the</a:t>
            </a:r>
            <a:r>
              <a:rPr dirty="0" sz="2600" spc="-40"/>
              <a:t> </a:t>
            </a:r>
            <a:r>
              <a:rPr dirty="0" sz="2600"/>
              <a:t>development</a:t>
            </a:r>
            <a:r>
              <a:rPr dirty="0" sz="2600" spc="-65"/>
              <a:t> </a:t>
            </a:r>
            <a:r>
              <a:rPr dirty="0" sz="2600"/>
              <a:t>of</a:t>
            </a:r>
            <a:r>
              <a:rPr dirty="0" sz="2600" spc="-20"/>
              <a:t> </a:t>
            </a:r>
            <a:r>
              <a:rPr dirty="0" sz="2600"/>
              <a:t>an</a:t>
            </a:r>
            <a:r>
              <a:rPr dirty="0" sz="2600" spc="-45"/>
              <a:t> </a:t>
            </a:r>
            <a:r>
              <a:rPr dirty="0" sz="2600"/>
              <a:t>acceptable</a:t>
            </a:r>
            <a:r>
              <a:rPr dirty="0" sz="2600" spc="-50"/>
              <a:t> </a:t>
            </a:r>
            <a:r>
              <a:rPr dirty="0" sz="2600" spc="-10"/>
              <a:t>system</a:t>
            </a:r>
            <a:r>
              <a:rPr dirty="0" sz="2600" spc="-65"/>
              <a:t> </a:t>
            </a:r>
            <a:r>
              <a:rPr dirty="0" sz="2600"/>
              <a:t>at</a:t>
            </a:r>
            <a:r>
              <a:rPr dirty="0" sz="2600" spc="-30"/>
              <a:t> </a:t>
            </a:r>
            <a:r>
              <a:rPr dirty="0" sz="2600"/>
              <a:t>a</a:t>
            </a:r>
            <a:r>
              <a:rPr dirty="0" sz="2600" spc="-30"/>
              <a:t> </a:t>
            </a:r>
            <a:r>
              <a:rPr dirty="0" sz="2600"/>
              <a:t>minimum</a:t>
            </a:r>
            <a:r>
              <a:rPr dirty="0" sz="2600" spc="-45"/>
              <a:t> </a:t>
            </a:r>
            <a:r>
              <a:rPr dirty="0" sz="2600"/>
              <a:t>cost</a:t>
            </a:r>
            <a:r>
              <a:rPr dirty="0" sz="2600" spc="-40"/>
              <a:t> </a:t>
            </a:r>
            <a:r>
              <a:rPr dirty="0" sz="2600"/>
              <a:t>within</a:t>
            </a:r>
            <a:r>
              <a:rPr dirty="0" sz="2600" spc="-35"/>
              <a:t> </a:t>
            </a:r>
            <a:r>
              <a:rPr dirty="0" sz="2600" spc="-50"/>
              <a:t>a </a:t>
            </a:r>
            <a:r>
              <a:rPr dirty="0" sz="2600"/>
              <a:t>specified</a:t>
            </a:r>
            <a:r>
              <a:rPr dirty="0" sz="2600" spc="-65"/>
              <a:t> </a:t>
            </a:r>
            <a:r>
              <a:rPr dirty="0" sz="2600"/>
              <a:t>time</a:t>
            </a:r>
            <a:r>
              <a:rPr dirty="0" sz="2600" spc="-25"/>
              <a:t> </a:t>
            </a:r>
            <a:r>
              <a:rPr dirty="0" sz="2600" spc="-10"/>
              <a:t>frame</a:t>
            </a:r>
            <a:endParaRPr sz="2600"/>
          </a:p>
          <a:p>
            <a:pPr marL="86995">
              <a:lnSpc>
                <a:spcPct val="100000"/>
              </a:lnSpc>
              <a:spcBef>
                <a:spcPts val="640"/>
              </a:spcBef>
            </a:pPr>
            <a:r>
              <a:rPr dirty="0" sz="2600"/>
              <a:t>Project</a:t>
            </a:r>
            <a:r>
              <a:rPr dirty="0" sz="2600" spc="-50"/>
              <a:t> </a:t>
            </a:r>
            <a:r>
              <a:rPr dirty="0" sz="2600"/>
              <a:t>management</a:t>
            </a:r>
            <a:r>
              <a:rPr dirty="0" sz="2600" spc="-45"/>
              <a:t> </a:t>
            </a:r>
            <a:r>
              <a:rPr dirty="0" sz="2600"/>
              <a:t>is</a:t>
            </a:r>
            <a:r>
              <a:rPr dirty="0" sz="2600" spc="-30"/>
              <a:t> </a:t>
            </a:r>
            <a:r>
              <a:rPr dirty="0" sz="2600"/>
              <a:t>necessary</a:t>
            </a:r>
            <a:r>
              <a:rPr dirty="0" sz="2600" spc="-60"/>
              <a:t> </a:t>
            </a:r>
            <a:r>
              <a:rPr dirty="0" sz="2600"/>
              <a:t>because</a:t>
            </a:r>
            <a:r>
              <a:rPr dirty="0" sz="2600" spc="-50"/>
              <a:t> </a:t>
            </a:r>
            <a:r>
              <a:rPr dirty="0" sz="2600" spc="-25"/>
              <a:t>of</a:t>
            </a:r>
            <a:endParaRPr sz="2600"/>
          </a:p>
          <a:p>
            <a:pPr marL="241300" indent="-22923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600"/>
              <a:t>The</a:t>
            </a:r>
            <a:r>
              <a:rPr dirty="0" sz="2600" spc="-50"/>
              <a:t> </a:t>
            </a:r>
            <a:r>
              <a:rPr dirty="0" sz="2600"/>
              <a:t>number</a:t>
            </a:r>
            <a:r>
              <a:rPr dirty="0" sz="2600" spc="-35"/>
              <a:t> </a:t>
            </a:r>
            <a:r>
              <a:rPr dirty="0" sz="2600"/>
              <a:t>of</a:t>
            </a:r>
            <a:r>
              <a:rPr dirty="0" sz="2600" spc="-20"/>
              <a:t> </a:t>
            </a:r>
            <a:r>
              <a:rPr dirty="0" sz="2600"/>
              <a:t>people</a:t>
            </a:r>
            <a:r>
              <a:rPr dirty="0" sz="2600" spc="-35"/>
              <a:t> </a:t>
            </a:r>
            <a:r>
              <a:rPr dirty="0" sz="2600" spc="-10"/>
              <a:t>involved</a:t>
            </a:r>
            <a:endParaRPr sz="2600"/>
          </a:p>
          <a:p>
            <a:pPr marL="241300" indent="-229235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600"/>
              <a:t>The</a:t>
            </a:r>
            <a:r>
              <a:rPr dirty="0" sz="2600" spc="-45"/>
              <a:t> </a:t>
            </a:r>
            <a:r>
              <a:rPr dirty="0" sz="2600"/>
              <a:t>number</a:t>
            </a:r>
            <a:r>
              <a:rPr dirty="0" sz="2600" spc="-45"/>
              <a:t> </a:t>
            </a:r>
            <a:r>
              <a:rPr dirty="0" sz="2600"/>
              <a:t>of</a:t>
            </a:r>
            <a:r>
              <a:rPr dirty="0" sz="2600" spc="-30"/>
              <a:t> </a:t>
            </a:r>
            <a:r>
              <a:rPr dirty="0" sz="2600"/>
              <a:t>tasks</a:t>
            </a:r>
            <a:r>
              <a:rPr dirty="0" sz="2600" spc="-35"/>
              <a:t> </a:t>
            </a:r>
            <a:r>
              <a:rPr dirty="0" sz="2600"/>
              <a:t>to</a:t>
            </a:r>
            <a:r>
              <a:rPr dirty="0" sz="2600" spc="-30"/>
              <a:t> </a:t>
            </a:r>
            <a:r>
              <a:rPr dirty="0" sz="2600"/>
              <a:t>be</a:t>
            </a:r>
            <a:r>
              <a:rPr dirty="0" sz="2600" spc="-35"/>
              <a:t> </a:t>
            </a:r>
            <a:r>
              <a:rPr dirty="0" sz="2600" spc="-20"/>
              <a:t>done</a:t>
            </a:r>
            <a:endParaRPr sz="2600"/>
          </a:p>
          <a:p>
            <a:pPr marL="241300" marR="3466465" indent="-229235">
              <a:lnSpc>
                <a:spcPts val="2810"/>
              </a:lnSpc>
              <a:spcBef>
                <a:spcPts val="104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600"/>
              <a:t>The</a:t>
            </a:r>
            <a:r>
              <a:rPr dirty="0" sz="2600" spc="-70"/>
              <a:t> </a:t>
            </a:r>
            <a:r>
              <a:rPr dirty="0" sz="2600"/>
              <a:t>extent</a:t>
            </a:r>
            <a:r>
              <a:rPr dirty="0" sz="2600" spc="-70"/>
              <a:t> </a:t>
            </a:r>
            <a:r>
              <a:rPr dirty="0" sz="2600"/>
              <a:t>of</a:t>
            </a:r>
            <a:r>
              <a:rPr dirty="0" sz="2600" spc="-45"/>
              <a:t> </a:t>
            </a:r>
            <a:r>
              <a:rPr dirty="0" sz="2600"/>
              <a:t>the</a:t>
            </a:r>
            <a:r>
              <a:rPr dirty="0" sz="2600" spc="-50"/>
              <a:t> </a:t>
            </a:r>
            <a:r>
              <a:rPr dirty="0" sz="2600"/>
              <a:t>interaction</a:t>
            </a:r>
            <a:r>
              <a:rPr dirty="0" sz="2600" spc="-75"/>
              <a:t> </a:t>
            </a:r>
            <a:r>
              <a:rPr dirty="0" sz="2600"/>
              <a:t>between</a:t>
            </a:r>
            <a:r>
              <a:rPr dirty="0" sz="2600" spc="-75"/>
              <a:t> </a:t>
            </a:r>
            <a:r>
              <a:rPr dirty="0" sz="2600"/>
              <a:t>the</a:t>
            </a:r>
            <a:r>
              <a:rPr dirty="0" sz="2600" spc="-45"/>
              <a:t> </a:t>
            </a:r>
            <a:r>
              <a:rPr dirty="0" sz="2600" spc="-10"/>
              <a:t>tasks </a:t>
            </a:r>
            <a:r>
              <a:rPr dirty="0" sz="2600"/>
              <a:t>and</a:t>
            </a:r>
            <a:r>
              <a:rPr dirty="0" sz="2600" spc="-30"/>
              <a:t> </a:t>
            </a:r>
            <a:r>
              <a:rPr dirty="0" sz="2600" spc="-10"/>
              <a:t>people</a:t>
            </a:r>
            <a:endParaRPr sz="2600"/>
          </a:p>
          <a:p>
            <a:pPr marL="241300" marR="3475354" indent="-229235">
              <a:lnSpc>
                <a:spcPts val="2810"/>
              </a:lnSpc>
              <a:spcBef>
                <a:spcPts val="100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600"/>
              <a:t>The</a:t>
            </a:r>
            <a:r>
              <a:rPr dirty="0" sz="2600" spc="-70"/>
              <a:t> </a:t>
            </a:r>
            <a:r>
              <a:rPr dirty="0" sz="2600"/>
              <a:t>complexity</a:t>
            </a:r>
            <a:r>
              <a:rPr dirty="0" sz="2600" spc="-65"/>
              <a:t> </a:t>
            </a:r>
            <a:r>
              <a:rPr dirty="0" sz="2600"/>
              <a:t>of</a:t>
            </a:r>
            <a:r>
              <a:rPr dirty="0" sz="2600" spc="-45"/>
              <a:t> </a:t>
            </a:r>
            <a:r>
              <a:rPr dirty="0" sz="2600"/>
              <a:t>the</a:t>
            </a:r>
            <a:r>
              <a:rPr dirty="0" sz="2600" spc="-65"/>
              <a:t> </a:t>
            </a:r>
            <a:r>
              <a:rPr dirty="0" sz="2600"/>
              <a:t>interactions</a:t>
            </a:r>
            <a:r>
              <a:rPr dirty="0" sz="2600" spc="-75"/>
              <a:t> </a:t>
            </a:r>
            <a:r>
              <a:rPr dirty="0" sz="2600"/>
              <a:t>between</a:t>
            </a:r>
            <a:r>
              <a:rPr dirty="0" sz="2600" spc="-75"/>
              <a:t> </a:t>
            </a:r>
            <a:r>
              <a:rPr dirty="0" sz="2600" spc="-25"/>
              <a:t>the </a:t>
            </a:r>
            <a:r>
              <a:rPr dirty="0" sz="2600"/>
              <a:t>tasks</a:t>
            </a:r>
            <a:r>
              <a:rPr dirty="0" sz="2600" spc="-45"/>
              <a:t> </a:t>
            </a:r>
            <a:r>
              <a:rPr dirty="0" sz="2600"/>
              <a:t>and</a:t>
            </a:r>
            <a:r>
              <a:rPr dirty="0" sz="2600" spc="-45"/>
              <a:t> </a:t>
            </a:r>
            <a:r>
              <a:rPr dirty="0" sz="2600" spc="-10"/>
              <a:t>people</a:t>
            </a:r>
            <a:endParaRPr sz="2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9664" y="3000755"/>
            <a:ext cx="3899915" cy="33116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dirty="0" spc="-80"/>
              <a:t> </a:t>
            </a:r>
            <a:r>
              <a:rPr dirty="0"/>
              <a:t>is</a:t>
            </a:r>
            <a:r>
              <a:rPr dirty="0" spc="-70"/>
              <a:t> </a:t>
            </a:r>
            <a:r>
              <a:rPr dirty="0"/>
              <a:t>Project</a:t>
            </a:r>
            <a:r>
              <a:rPr dirty="0" spc="-5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66062"/>
            <a:ext cx="9859010" cy="416496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just" marL="285750" marR="303530" indent="-273685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286385" algn="l"/>
              </a:tabLst>
            </a:pPr>
            <a:r>
              <a:rPr dirty="0" sz="2600">
                <a:latin typeface="Calibri"/>
                <a:cs typeface="Calibri"/>
              </a:rPr>
              <a:t>Project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Management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application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skills,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knowledge,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tools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and </a:t>
            </a:r>
            <a:r>
              <a:rPr dirty="0" sz="2600">
                <a:latin typeface="Calibri"/>
                <a:cs typeface="Calibri"/>
              </a:rPr>
              <a:t>techniques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meet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needs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expectations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stakeholders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a </a:t>
            </a:r>
            <a:r>
              <a:rPr dirty="0" sz="2600" spc="-10">
                <a:latin typeface="Calibri"/>
                <a:cs typeface="Calibri"/>
              </a:rPr>
              <a:t>project.</a:t>
            </a:r>
            <a:endParaRPr sz="2600">
              <a:latin typeface="Calibri"/>
              <a:cs typeface="Calibri"/>
            </a:endParaRPr>
          </a:p>
          <a:p>
            <a:pPr marL="285115" marR="5080" indent="-273050">
              <a:lnSpc>
                <a:spcPts val="2500"/>
              </a:lnSpc>
              <a:spcBef>
                <a:spcPts val="484"/>
              </a:spcBef>
              <a:buClr>
                <a:srgbClr val="B77851"/>
              </a:buClr>
              <a:buSzPct val="94230"/>
              <a:buFont typeface="Arial MT"/>
              <a:buChar char="•"/>
              <a:tabLst>
                <a:tab pos="285115" algn="l"/>
                <a:tab pos="28638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purpose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project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management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843B0C"/>
                </a:solidFill>
                <a:latin typeface="Calibri"/>
                <a:cs typeface="Calibri"/>
              </a:rPr>
              <a:t>prediction</a:t>
            </a:r>
            <a:r>
              <a:rPr dirty="0" sz="2600" spc="-20" b="1">
                <a:solidFill>
                  <a:srgbClr val="843B0C"/>
                </a:solidFill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843B0C"/>
                </a:solidFill>
                <a:latin typeface="Calibri"/>
                <a:cs typeface="Calibri"/>
              </a:rPr>
              <a:t>prevention</a:t>
            </a:r>
            <a:r>
              <a:rPr dirty="0" sz="2600">
                <a:latin typeface="Calibri"/>
                <a:cs typeface="Calibri"/>
              </a:rPr>
              <a:t>,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NOT </a:t>
            </a:r>
            <a:r>
              <a:rPr dirty="0" sz="2600">
                <a:solidFill>
                  <a:srgbClr val="525252"/>
                </a:solidFill>
                <a:latin typeface="Calibri"/>
                <a:cs typeface="Calibri"/>
              </a:rPr>
              <a:t>recognition</a:t>
            </a:r>
            <a:r>
              <a:rPr dirty="0" sz="2600" spc="-45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525252"/>
                </a:solidFill>
                <a:latin typeface="Calibri"/>
                <a:cs typeface="Calibri"/>
              </a:rPr>
              <a:t>reaction</a:t>
            </a:r>
            <a:endParaRPr sz="2600">
              <a:latin typeface="Calibri"/>
              <a:cs typeface="Calibri"/>
            </a:endParaRPr>
          </a:p>
          <a:p>
            <a:pPr marL="241300" marR="557530" indent="-229235">
              <a:lnSpc>
                <a:spcPts val="2500"/>
              </a:lnSpc>
              <a:spcBef>
                <a:spcPts val="99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600">
                <a:latin typeface="Calibri"/>
                <a:cs typeface="Calibri"/>
              </a:rPr>
              <a:t>Project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management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activities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Defining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tasks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dependencies </a:t>
            </a:r>
            <a:r>
              <a:rPr dirty="0" sz="2600">
                <a:latin typeface="Calibri"/>
                <a:cs typeface="Calibri"/>
              </a:rPr>
              <a:t>between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them</a:t>
            </a:r>
            <a:endParaRPr sz="26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600">
                <a:latin typeface="Calibri"/>
                <a:cs typeface="Calibri"/>
              </a:rPr>
              <a:t>Allocating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people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resources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tasks</a:t>
            </a:r>
            <a:endParaRPr sz="26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600">
                <a:latin typeface="Calibri"/>
                <a:cs typeface="Calibri"/>
              </a:rPr>
              <a:t>Monitoring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progress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project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against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plan</a:t>
            </a:r>
            <a:endParaRPr sz="2600">
              <a:latin typeface="Calibri"/>
              <a:cs typeface="Calibri"/>
            </a:endParaRPr>
          </a:p>
          <a:p>
            <a:pPr marL="241300" marR="3772535" indent="-229235">
              <a:lnSpc>
                <a:spcPts val="2500"/>
              </a:lnSpc>
              <a:spcBef>
                <a:spcPts val="97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600" spc="-20">
                <a:latin typeface="Calibri"/>
                <a:cs typeface="Calibri"/>
              </a:rPr>
              <a:t>Taking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remedial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action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when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things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dont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go </a:t>
            </a:r>
            <a:r>
              <a:rPr dirty="0" sz="2600">
                <a:latin typeface="Calibri"/>
                <a:cs typeface="Calibri"/>
              </a:rPr>
              <a:t>according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plan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dirty="0" spc="-100"/>
              <a:t> </a:t>
            </a:r>
            <a:r>
              <a:rPr dirty="0"/>
              <a:t>Process</a:t>
            </a:r>
            <a:r>
              <a:rPr dirty="0" spc="-80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/>
              <a:t>Project</a:t>
            </a:r>
            <a:r>
              <a:rPr dirty="0" spc="-65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7918"/>
            <a:ext cx="10339070" cy="424624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Select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Systems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development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approach/methodology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Plan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tasks</a:t>
            </a:r>
            <a:endParaRPr sz="2800">
              <a:latin typeface="Calibri"/>
              <a:cs typeface="Calibri"/>
            </a:endParaRPr>
          </a:p>
          <a:p>
            <a:pPr marL="241300" marR="3733800" indent="-22923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 spc="-10">
                <a:latin typeface="Calibri"/>
                <a:cs typeface="Calibri"/>
              </a:rPr>
              <a:t>Estimate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resources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required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 spc="-10">
                <a:latin typeface="Calibri"/>
                <a:cs typeface="Calibri"/>
              </a:rPr>
              <a:t>complete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individual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phases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project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Staff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team</a:t>
            </a:r>
            <a:endParaRPr sz="280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 spc="-25">
                <a:latin typeface="Calibri"/>
                <a:cs typeface="Calibri"/>
              </a:rPr>
              <a:t>Organize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schedule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effort(tasks/time/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people/technical resources)and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therefore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cost</a:t>
            </a:r>
            <a:endParaRPr sz="2800">
              <a:latin typeface="Calibri"/>
              <a:cs typeface="Calibri"/>
            </a:endParaRPr>
          </a:p>
          <a:p>
            <a:pPr marL="241300" marR="804545" indent="-22923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 spc="-10">
                <a:latin typeface="Calibri"/>
                <a:cs typeface="Calibri"/>
              </a:rPr>
              <a:t>Control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development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(directing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team,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controlling progress,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replan,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restaff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48932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Triple</a:t>
            </a:r>
            <a:r>
              <a:rPr dirty="0" spc="-204"/>
              <a:t> </a:t>
            </a:r>
            <a:r>
              <a:rPr dirty="0" spc="-10"/>
              <a:t>Contraint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0811" y="2997707"/>
            <a:ext cx="3703320" cy="272948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547740" y="4768342"/>
            <a:ext cx="9480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74280" y="5035296"/>
            <a:ext cx="2026920" cy="10668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890129" y="5162194"/>
            <a:ext cx="13976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 b="1">
                <a:latin typeface="Arial"/>
                <a:cs typeface="Arial"/>
              </a:rPr>
              <a:t>Scope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37403" y="2324100"/>
            <a:ext cx="1714500" cy="10668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453253" y="2450338"/>
            <a:ext cx="108458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0" b="1">
                <a:latin typeface="Arial"/>
                <a:cs typeface="Arial"/>
              </a:rPr>
              <a:t>Time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87395" y="5035296"/>
            <a:ext cx="1671828" cy="106680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103245" y="5162194"/>
            <a:ext cx="10414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0" b="1">
                <a:latin typeface="Arial"/>
                <a:cs typeface="Arial"/>
              </a:rPr>
              <a:t>Cost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48932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Triple</a:t>
            </a:r>
            <a:r>
              <a:rPr dirty="0" spc="-204"/>
              <a:t> </a:t>
            </a:r>
            <a:r>
              <a:rPr dirty="0" spc="-10"/>
              <a:t>Contraint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93493"/>
            <a:ext cx="7677150" cy="2497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85115" algn="l"/>
                <a:tab pos="286385" algn="l"/>
                <a:tab pos="2800350" algn="l"/>
                <a:tab pos="5607685" algn="l"/>
              </a:tabLst>
            </a:pPr>
            <a:r>
              <a:rPr dirty="0" sz="2800">
                <a:latin typeface="Calibri"/>
                <a:cs typeface="Calibri"/>
              </a:rPr>
              <a:t>Increased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Scope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increased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+</a:t>
            </a:r>
            <a:r>
              <a:rPr dirty="0" sz="2800">
                <a:latin typeface="Calibri"/>
                <a:cs typeface="Calibri"/>
              </a:rPr>
              <a:t>	increased</a:t>
            </a:r>
            <a:r>
              <a:rPr dirty="0" sz="2800" spc="-15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cost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3800">
              <a:latin typeface="Calibri"/>
              <a:cs typeface="Calibri"/>
            </a:endParaRPr>
          </a:p>
          <a:p>
            <a:pPr marL="285115" indent="-273050">
              <a:lnSpc>
                <a:spcPct val="100000"/>
              </a:lnSpc>
              <a:buFont typeface="Arial MT"/>
              <a:buChar char="•"/>
              <a:tabLst>
                <a:tab pos="285115" algn="l"/>
                <a:tab pos="286385" algn="l"/>
              </a:tabLst>
            </a:pPr>
            <a:r>
              <a:rPr dirty="0" sz="2800">
                <a:latin typeface="Calibri"/>
                <a:cs typeface="Calibri"/>
              </a:rPr>
              <a:t>Tight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Time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increased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costs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reduced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scope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3800">
              <a:latin typeface="Calibri"/>
              <a:cs typeface="Calibri"/>
            </a:endParaRPr>
          </a:p>
          <a:p>
            <a:pPr marL="285115" indent="-273050">
              <a:lnSpc>
                <a:spcPct val="100000"/>
              </a:lnSpc>
              <a:buFont typeface="Arial MT"/>
              <a:buChar char="•"/>
              <a:tabLst>
                <a:tab pos="285115" algn="l"/>
                <a:tab pos="286385" algn="l"/>
              </a:tabLst>
            </a:pPr>
            <a:r>
              <a:rPr dirty="0" sz="2800">
                <a:latin typeface="Calibri"/>
                <a:cs typeface="Calibri"/>
              </a:rPr>
              <a:t>Tight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Budget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=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increased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+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reduced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scope.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Key</a:t>
            </a:r>
            <a:r>
              <a:rPr dirty="0" spc="-210"/>
              <a:t> </a:t>
            </a:r>
            <a:r>
              <a:rPr dirty="0" spc="-10"/>
              <a:t>Areas</a:t>
            </a:r>
            <a:r>
              <a:rPr dirty="0" spc="-195"/>
              <a:t> </a:t>
            </a:r>
            <a:r>
              <a:rPr dirty="0"/>
              <a:t>of</a:t>
            </a:r>
            <a:r>
              <a:rPr dirty="0" spc="-160"/>
              <a:t> </a:t>
            </a:r>
            <a:r>
              <a:rPr dirty="0" spc="-30"/>
              <a:t>Project</a:t>
            </a:r>
            <a:r>
              <a:rPr dirty="0" spc="-180"/>
              <a:t> </a:t>
            </a:r>
            <a:r>
              <a:rPr dirty="0" spc="-35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60194" y="1993544"/>
            <a:ext cx="4697730" cy="360426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Scope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Issue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Cost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Quality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latin typeface="Calibri"/>
                <a:cs typeface="Calibri"/>
              </a:rPr>
              <a:t>Communications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Risk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Change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Control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1931" y="5128640"/>
            <a:ext cx="1638300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336" y="577595"/>
            <a:ext cx="870204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Scope</a:t>
            </a:r>
            <a:r>
              <a:rPr dirty="0" spc="-75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802638"/>
            <a:ext cx="6924040" cy="720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9235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400">
                <a:latin typeface="Calibri"/>
                <a:cs typeface="Calibri"/>
              </a:rPr>
              <a:t>Primarily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definition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control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b="1" i="1">
                <a:latin typeface="Calibri"/>
                <a:cs typeface="Calibri"/>
              </a:rPr>
              <a:t>IS</a:t>
            </a:r>
            <a:r>
              <a:rPr dirty="0" sz="2400" spc="-20" b="1" i="1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dirty="0" sz="2400" b="1" i="1">
                <a:latin typeface="Calibri"/>
                <a:cs typeface="Calibri"/>
              </a:rPr>
              <a:t>IS</a:t>
            </a:r>
            <a:r>
              <a:rPr dirty="0" sz="2400" spc="-20" b="1" i="1">
                <a:latin typeface="Calibri"/>
                <a:cs typeface="Calibri"/>
              </a:rPr>
              <a:t> </a:t>
            </a:r>
            <a:r>
              <a:rPr dirty="0" sz="2400" b="1" i="1">
                <a:latin typeface="Calibri"/>
                <a:cs typeface="Calibri"/>
              </a:rPr>
              <a:t>NOT</a:t>
            </a:r>
            <a:r>
              <a:rPr dirty="0" sz="2400" spc="-30" b="1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included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project.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1883" y="3357371"/>
            <a:ext cx="1356359" cy="221894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3572255"/>
            <a:ext cx="2755087" cy="18851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81883" y="5643371"/>
            <a:ext cx="1114044" cy="6766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00" y="5571744"/>
            <a:ext cx="786383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Issue</a:t>
            </a:r>
            <a:r>
              <a:rPr dirty="0" spc="-3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11198"/>
            <a:ext cx="9478010" cy="1269365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400">
                <a:latin typeface="Calibri"/>
                <a:cs typeface="Calibri"/>
              </a:rPr>
              <a:t>Issues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restraints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accomplishing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deliverables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project.</a:t>
            </a:r>
            <a:endParaRPr sz="2400">
              <a:latin typeface="Calibri"/>
              <a:cs typeface="Calibri"/>
            </a:endParaRPr>
          </a:p>
          <a:p>
            <a:pPr marL="241300" marR="5080" indent="-229235">
              <a:lnSpc>
                <a:spcPts val="2590"/>
              </a:lnSpc>
              <a:spcBef>
                <a:spcPts val="104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400" spc="-10">
                <a:latin typeface="Calibri"/>
                <a:cs typeface="Calibri"/>
              </a:rPr>
              <a:t>Typically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identified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throughout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project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logged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tracked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through resolution.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2062" y="4096997"/>
            <a:ext cx="1466737" cy="125493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390394" y="5242941"/>
            <a:ext cx="7474584" cy="775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116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Issue…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already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impacting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18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cost,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time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or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 quality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dirty="0" sz="1800">
                <a:latin typeface="Arial MT"/>
                <a:cs typeface="Arial MT"/>
              </a:rPr>
              <a:t>Rope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not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thick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Cost</a:t>
            </a:r>
            <a:r>
              <a:rPr dirty="0" spc="-8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93493"/>
            <a:ext cx="10224770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process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required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ensure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completed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within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approved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budget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includes: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2116" y="3285744"/>
            <a:ext cx="580644" cy="1133855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3095244" y="3572255"/>
            <a:ext cx="2675890" cy="3010535"/>
            <a:chOff x="3095244" y="3572255"/>
            <a:chExt cx="2675890" cy="301053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5244" y="3572255"/>
              <a:ext cx="963168" cy="96164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0034" y="3643960"/>
              <a:ext cx="1741086" cy="2938258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2317495" y="4742815"/>
            <a:ext cx="128016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0" marR="5080" indent="-1905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Resources </a:t>
            </a:r>
            <a:r>
              <a:rPr dirty="0" sz="1800" spc="-10">
                <a:latin typeface="Arial MT"/>
                <a:cs typeface="Arial MT"/>
              </a:rPr>
              <a:t>people equipment materials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Arial"/>
                <a:cs typeface="Arial"/>
              </a:rPr>
              <a:t>Quantities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37046" y="3645677"/>
            <a:ext cx="1006943" cy="1822372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104758" y="4742815"/>
            <a:ext cx="81406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Budget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Quality</a:t>
            </a:r>
            <a:r>
              <a:rPr dirty="0" spc="-3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93493"/>
            <a:ext cx="10079355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Quality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process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insure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meet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needs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0383" y="3214116"/>
            <a:ext cx="1642871" cy="28727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Communications</a:t>
            </a:r>
            <a:r>
              <a:rPr dirty="0" spc="-14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802638"/>
            <a:ext cx="10288270" cy="72072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1300" marR="5080" indent="-229235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process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necessary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ensure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timely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appropriate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generation,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collection, </a:t>
            </a:r>
            <a:r>
              <a:rPr dirty="0" sz="2400">
                <a:latin typeface="Calibri"/>
                <a:cs typeface="Calibri"/>
              </a:rPr>
              <a:t>dissemination,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storage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project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information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957376" y="3796167"/>
            <a:ext cx="3067685" cy="2832100"/>
            <a:chOff x="1957376" y="3796167"/>
            <a:chExt cx="3067685" cy="28321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7376" y="3796167"/>
              <a:ext cx="1880357" cy="1801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5243" y="5071872"/>
              <a:ext cx="1929383" cy="1556003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7752543" y="3713970"/>
            <a:ext cx="1320165" cy="2366010"/>
            <a:chOff x="7752543" y="3713970"/>
            <a:chExt cx="1320165" cy="236601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71146" y="4863512"/>
              <a:ext cx="859809" cy="120008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52543" y="3713970"/>
              <a:ext cx="1319698" cy="2365805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5090159" y="4422647"/>
            <a:ext cx="2011680" cy="1013460"/>
            <a:chOff x="5090159" y="4422647"/>
            <a:chExt cx="2011680" cy="1013460"/>
          </a:xfrm>
        </p:grpSpPr>
        <p:sp>
          <p:nvSpPr>
            <p:cNvPr id="11" name="object 11" descr=""/>
            <p:cNvSpPr/>
            <p:nvPr/>
          </p:nvSpPr>
          <p:spPr>
            <a:xfrm>
              <a:off x="5096255" y="4428743"/>
              <a:ext cx="1999614" cy="1001394"/>
            </a:xfrm>
            <a:custGeom>
              <a:avLst/>
              <a:gdLst/>
              <a:ahLst/>
              <a:cxnLst/>
              <a:rect l="l" t="t" r="r" b="b"/>
              <a:pathLst>
                <a:path w="1999615" h="1001395">
                  <a:moveTo>
                    <a:pt x="1498853" y="0"/>
                  </a:moveTo>
                  <a:lnTo>
                    <a:pt x="1498853" y="250316"/>
                  </a:lnTo>
                  <a:lnTo>
                    <a:pt x="0" y="250316"/>
                  </a:lnTo>
                  <a:lnTo>
                    <a:pt x="0" y="750950"/>
                  </a:lnTo>
                  <a:lnTo>
                    <a:pt x="1498853" y="750950"/>
                  </a:lnTo>
                  <a:lnTo>
                    <a:pt x="1498853" y="1001267"/>
                  </a:lnTo>
                  <a:lnTo>
                    <a:pt x="1999488" y="500633"/>
                  </a:lnTo>
                  <a:lnTo>
                    <a:pt x="149885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096255" y="4428743"/>
              <a:ext cx="1999614" cy="1001394"/>
            </a:xfrm>
            <a:custGeom>
              <a:avLst/>
              <a:gdLst/>
              <a:ahLst/>
              <a:cxnLst/>
              <a:rect l="l" t="t" r="r" b="b"/>
              <a:pathLst>
                <a:path w="1999615" h="1001395">
                  <a:moveTo>
                    <a:pt x="0" y="250316"/>
                  </a:moveTo>
                  <a:lnTo>
                    <a:pt x="1498853" y="250316"/>
                  </a:lnTo>
                  <a:lnTo>
                    <a:pt x="1498853" y="0"/>
                  </a:lnTo>
                  <a:lnTo>
                    <a:pt x="1999488" y="500633"/>
                  </a:lnTo>
                  <a:lnTo>
                    <a:pt x="1498853" y="1001267"/>
                  </a:lnTo>
                  <a:lnTo>
                    <a:pt x="1498853" y="750950"/>
                  </a:lnTo>
                  <a:lnTo>
                    <a:pt x="0" y="750950"/>
                  </a:lnTo>
                  <a:lnTo>
                    <a:pt x="0" y="250316"/>
                  </a:lnTo>
                  <a:close/>
                </a:path>
              </a:pathLst>
            </a:custGeom>
            <a:ln w="12191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096255" y="4571999"/>
              <a:ext cx="1499870" cy="715010"/>
            </a:xfrm>
            <a:custGeom>
              <a:avLst/>
              <a:gdLst/>
              <a:ahLst/>
              <a:cxnLst/>
              <a:rect l="l" t="t" r="r" b="b"/>
              <a:pathLst>
                <a:path w="1499870" h="715010">
                  <a:moveTo>
                    <a:pt x="588137" y="0"/>
                  </a:moveTo>
                  <a:lnTo>
                    <a:pt x="0" y="128777"/>
                  </a:lnTo>
                  <a:lnTo>
                    <a:pt x="527812" y="277368"/>
                  </a:lnTo>
                  <a:lnTo>
                    <a:pt x="348615" y="321182"/>
                  </a:lnTo>
                  <a:lnTo>
                    <a:pt x="848487" y="462788"/>
                  </a:lnTo>
                  <a:lnTo>
                    <a:pt x="695071" y="493522"/>
                  </a:lnTo>
                  <a:lnTo>
                    <a:pt x="1499616" y="714756"/>
                  </a:lnTo>
                  <a:lnTo>
                    <a:pt x="1025271" y="426085"/>
                  </a:lnTo>
                  <a:lnTo>
                    <a:pt x="1150874" y="397256"/>
                  </a:lnTo>
                  <a:lnTo>
                    <a:pt x="767207" y="224917"/>
                  </a:lnTo>
                  <a:lnTo>
                    <a:pt x="892810" y="201168"/>
                  </a:lnTo>
                  <a:lnTo>
                    <a:pt x="5881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Risk</a:t>
            </a:r>
            <a:r>
              <a:rPr dirty="0" spc="-35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7918"/>
            <a:ext cx="6533515" cy="10496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546100" indent="-5340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546100" algn="l"/>
                <a:tab pos="546735" algn="l"/>
              </a:tabLst>
            </a:pPr>
            <a:r>
              <a:rPr dirty="0" sz="2800">
                <a:latin typeface="Calibri"/>
                <a:cs typeface="Calibri"/>
              </a:rPr>
              <a:t>Risk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identification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mitigation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strategy</a:t>
            </a:r>
            <a:endParaRPr sz="2800">
              <a:latin typeface="Calibri"/>
              <a:cs typeface="Calibri"/>
            </a:endParaRPr>
          </a:p>
          <a:p>
            <a:pPr marL="546100" indent="-5340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546100" algn="l"/>
                <a:tab pos="546735" algn="l"/>
              </a:tabLst>
            </a:pPr>
            <a:r>
              <a:rPr dirty="0" sz="2800">
                <a:latin typeface="Calibri"/>
                <a:cs typeface="Calibri"/>
              </a:rPr>
              <a:t>Risk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update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tracking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0616" y="4559808"/>
            <a:ext cx="1905000" cy="142798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888617" y="6100368"/>
            <a:ext cx="29146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74700" marR="5080" indent="-76263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Tree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location,</a:t>
            </a:r>
            <a:r>
              <a:rPr dirty="0" sz="1800" spc="-20">
                <a:latin typeface="Arial MT"/>
                <a:cs typeface="Arial MT"/>
              </a:rPr>
              <a:t> accessibility, </a:t>
            </a:r>
            <a:r>
              <a:rPr dirty="0" sz="1800" spc="-10">
                <a:latin typeface="Arial MT"/>
                <a:cs typeface="Arial MT"/>
              </a:rPr>
              <a:t>ownership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3628" y="4500371"/>
            <a:ext cx="1857755" cy="148589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890507" y="6171387"/>
            <a:ext cx="88391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 MT"/>
                <a:cs typeface="Arial MT"/>
              </a:rPr>
              <a:t>Weather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314191" y="3671061"/>
            <a:ext cx="4986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Risk…</a:t>
            </a:r>
            <a:r>
              <a:rPr dirty="0" sz="18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POTENTIAL</a:t>
            </a:r>
            <a:r>
              <a:rPr dirty="0" sz="1800" spc="-2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negative</a:t>
            </a:r>
            <a:r>
              <a:rPr dirty="0" sz="180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impact</a:t>
            </a:r>
            <a:r>
              <a:rPr dirty="0" sz="1800" spc="-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1800" spc="-1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Change</a:t>
            </a:r>
            <a:r>
              <a:rPr dirty="0" spc="-105"/>
              <a:t> </a:t>
            </a:r>
            <a:r>
              <a:rPr dirty="0"/>
              <a:t>Control</a:t>
            </a:r>
            <a:r>
              <a:rPr dirty="0" spc="-10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84350"/>
            <a:ext cx="97396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3200">
                <a:latin typeface="Calibri"/>
                <a:cs typeface="Calibri"/>
              </a:rPr>
              <a:t>Define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how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changes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project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scope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will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executed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960245" y="3313938"/>
            <a:ext cx="16141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Scope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Change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5671" y="3849115"/>
            <a:ext cx="1612900" cy="17653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960245" y="5600191"/>
            <a:ext cx="7990205" cy="1079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3431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Schedule</a:t>
            </a:r>
            <a:r>
              <a:rPr dirty="0" sz="1800" spc="-10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changes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Arial"/>
              <a:cs typeface="Arial"/>
            </a:endParaRPr>
          </a:p>
          <a:p>
            <a:pPr marL="76200" marR="5080" indent="-6413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Arial MT"/>
                <a:cs typeface="Arial MT"/>
              </a:rPr>
              <a:t>All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changes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require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collaboration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buy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via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project sponsor’s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signature </a:t>
            </a:r>
            <a:r>
              <a:rPr dirty="0" sz="1800">
                <a:latin typeface="Arial MT"/>
                <a:cs typeface="Arial MT"/>
              </a:rPr>
              <a:t>prior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implementation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changes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747129" y="3301110"/>
            <a:ext cx="35769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Technical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Specification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Changes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5616" y="3928871"/>
            <a:ext cx="2340864" cy="157124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1367" y="3928871"/>
            <a:ext cx="2365248" cy="170687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75475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Project</a:t>
            </a:r>
            <a:r>
              <a:rPr dirty="0" spc="-215"/>
              <a:t> </a:t>
            </a:r>
            <a:r>
              <a:rPr dirty="0" spc="-20"/>
              <a:t>Life</a:t>
            </a:r>
            <a:r>
              <a:rPr dirty="0" spc="-200"/>
              <a:t> </a:t>
            </a:r>
            <a:r>
              <a:rPr dirty="0" spc="-10"/>
              <a:t>Cycle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965705" y="1927860"/>
            <a:ext cx="8131175" cy="4396740"/>
            <a:chOff x="1965705" y="1927860"/>
            <a:chExt cx="8131175" cy="4396740"/>
          </a:xfrm>
        </p:grpSpPr>
        <p:sp>
          <p:nvSpPr>
            <p:cNvPr id="4" name="object 4" descr=""/>
            <p:cNvSpPr/>
            <p:nvPr/>
          </p:nvSpPr>
          <p:spPr>
            <a:xfrm>
              <a:off x="2084831" y="1927860"/>
              <a:ext cx="8011795" cy="4396740"/>
            </a:xfrm>
            <a:custGeom>
              <a:avLst/>
              <a:gdLst/>
              <a:ahLst/>
              <a:cxnLst/>
              <a:rect l="l" t="t" r="r" b="b"/>
              <a:pathLst>
                <a:path w="8011795" h="4396740">
                  <a:moveTo>
                    <a:pt x="5813298" y="0"/>
                  </a:moveTo>
                  <a:lnTo>
                    <a:pt x="5813298" y="1099185"/>
                  </a:lnTo>
                  <a:lnTo>
                    <a:pt x="0" y="1099185"/>
                  </a:lnTo>
                  <a:lnTo>
                    <a:pt x="0" y="3297554"/>
                  </a:lnTo>
                  <a:lnTo>
                    <a:pt x="5813298" y="3297554"/>
                  </a:lnTo>
                  <a:lnTo>
                    <a:pt x="5813298" y="4396740"/>
                  </a:lnTo>
                  <a:lnTo>
                    <a:pt x="8011668" y="2198370"/>
                  </a:lnTo>
                  <a:lnTo>
                    <a:pt x="5813298" y="0"/>
                  </a:lnTo>
                  <a:close/>
                </a:path>
              </a:pathLst>
            </a:custGeom>
            <a:solidFill>
              <a:srgbClr val="D2D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972055" y="3247644"/>
              <a:ext cx="1170940" cy="1758950"/>
            </a:xfrm>
            <a:custGeom>
              <a:avLst/>
              <a:gdLst/>
              <a:ahLst/>
              <a:cxnLst/>
              <a:rect l="l" t="t" r="r" b="b"/>
              <a:pathLst>
                <a:path w="1170939" h="1758950">
                  <a:moveTo>
                    <a:pt x="975360" y="0"/>
                  </a:moveTo>
                  <a:lnTo>
                    <a:pt x="195071" y="0"/>
                  </a:lnTo>
                  <a:lnTo>
                    <a:pt x="150356" y="5154"/>
                  </a:lnTo>
                  <a:lnTo>
                    <a:pt x="109301" y="19834"/>
                  </a:lnTo>
                  <a:lnTo>
                    <a:pt x="73080" y="42867"/>
                  </a:lnTo>
                  <a:lnTo>
                    <a:pt x="42867" y="73080"/>
                  </a:lnTo>
                  <a:lnTo>
                    <a:pt x="19834" y="109301"/>
                  </a:lnTo>
                  <a:lnTo>
                    <a:pt x="5154" y="150356"/>
                  </a:lnTo>
                  <a:lnTo>
                    <a:pt x="0" y="195071"/>
                  </a:lnTo>
                  <a:lnTo>
                    <a:pt x="0" y="1563623"/>
                  </a:lnTo>
                  <a:lnTo>
                    <a:pt x="5154" y="1608339"/>
                  </a:lnTo>
                  <a:lnTo>
                    <a:pt x="19834" y="1649394"/>
                  </a:lnTo>
                  <a:lnTo>
                    <a:pt x="42867" y="1685615"/>
                  </a:lnTo>
                  <a:lnTo>
                    <a:pt x="73080" y="1715828"/>
                  </a:lnTo>
                  <a:lnTo>
                    <a:pt x="109301" y="1738861"/>
                  </a:lnTo>
                  <a:lnTo>
                    <a:pt x="150356" y="1753541"/>
                  </a:lnTo>
                  <a:lnTo>
                    <a:pt x="195071" y="1758695"/>
                  </a:lnTo>
                  <a:lnTo>
                    <a:pt x="975360" y="1758695"/>
                  </a:lnTo>
                  <a:lnTo>
                    <a:pt x="1020075" y="1753541"/>
                  </a:lnTo>
                  <a:lnTo>
                    <a:pt x="1061130" y="1738861"/>
                  </a:lnTo>
                  <a:lnTo>
                    <a:pt x="1097351" y="1715828"/>
                  </a:lnTo>
                  <a:lnTo>
                    <a:pt x="1127564" y="1685615"/>
                  </a:lnTo>
                  <a:lnTo>
                    <a:pt x="1150597" y="1649394"/>
                  </a:lnTo>
                  <a:lnTo>
                    <a:pt x="1165277" y="1608339"/>
                  </a:lnTo>
                  <a:lnTo>
                    <a:pt x="1170432" y="1563623"/>
                  </a:lnTo>
                  <a:lnTo>
                    <a:pt x="1170432" y="195071"/>
                  </a:lnTo>
                  <a:lnTo>
                    <a:pt x="1165277" y="150356"/>
                  </a:lnTo>
                  <a:lnTo>
                    <a:pt x="1150597" y="109301"/>
                  </a:lnTo>
                  <a:lnTo>
                    <a:pt x="1127564" y="73080"/>
                  </a:lnTo>
                  <a:lnTo>
                    <a:pt x="1097351" y="42867"/>
                  </a:lnTo>
                  <a:lnTo>
                    <a:pt x="1061130" y="19834"/>
                  </a:lnTo>
                  <a:lnTo>
                    <a:pt x="1020075" y="5154"/>
                  </a:lnTo>
                  <a:lnTo>
                    <a:pt x="97536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72055" y="3247644"/>
              <a:ext cx="1170940" cy="1758950"/>
            </a:xfrm>
            <a:custGeom>
              <a:avLst/>
              <a:gdLst/>
              <a:ahLst/>
              <a:cxnLst/>
              <a:rect l="l" t="t" r="r" b="b"/>
              <a:pathLst>
                <a:path w="1170939" h="1758950">
                  <a:moveTo>
                    <a:pt x="0" y="195071"/>
                  </a:moveTo>
                  <a:lnTo>
                    <a:pt x="5154" y="150356"/>
                  </a:lnTo>
                  <a:lnTo>
                    <a:pt x="19834" y="109301"/>
                  </a:lnTo>
                  <a:lnTo>
                    <a:pt x="42867" y="73080"/>
                  </a:lnTo>
                  <a:lnTo>
                    <a:pt x="73080" y="42867"/>
                  </a:lnTo>
                  <a:lnTo>
                    <a:pt x="109301" y="19834"/>
                  </a:lnTo>
                  <a:lnTo>
                    <a:pt x="150356" y="5154"/>
                  </a:lnTo>
                  <a:lnTo>
                    <a:pt x="195071" y="0"/>
                  </a:lnTo>
                  <a:lnTo>
                    <a:pt x="975360" y="0"/>
                  </a:lnTo>
                  <a:lnTo>
                    <a:pt x="1020075" y="5154"/>
                  </a:lnTo>
                  <a:lnTo>
                    <a:pt x="1061130" y="19834"/>
                  </a:lnTo>
                  <a:lnTo>
                    <a:pt x="1097351" y="42867"/>
                  </a:lnTo>
                  <a:lnTo>
                    <a:pt x="1127564" y="73080"/>
                  </a:lnTo>
                  <a:lnTo>
                    <a:pt x="1150597" y="109301"/>
                  </a:lnTo>
                  <a:lnTo>
                    <a:pt x="1165277" y="150356"/>
                  </a:lnTo>
                  <a:lnTo>
                    <a:pt x="1170432" y="195071"/>
                  </a:lnTo>
                  <a:lnTo>
                    <a:pt x="1170432" y="1563623"/>
                  </a:lnTo>
                  <a:lnTo>
                    <a:pt x="1165277" y="1608339"/>
                  </a:lnTo>
                  <a:lnTo>
                    <a:pt x="1150597" y="1649394"/>
                  </a:lnTo>
                  <a:lnTo>
                    <a:pt x="1127564" y="1685615"/>
                  </a:lnTo>
                  <a:lnTo>
                    <a:pt x="1097351" y="1715828"/>
                  </a:lnTo>
                  <a:lnTo>
                    <a:pt x="1061130" y="1738861"/>
                  </a:lnTo>
                  <a:lnTo>
                    <a:pt x="1020075" y="1753541"/>
                  </a:lnTo>
                  <a:lnTo>
                    <a:pt x="975360" y="1758695"/>
                  </a:lnTo>
                  <a:lnTo>
                    <a:pt x="195071" y="1758695"/>
                  </a:lnTo>
                  <a:lnTo>
                    <a:pt x="150356" y="1753541"/>
                  </a:lnTo>
                  <a:lnTo>
                    <a:pt x="109301" y="1738861"/>
                  </a:lnTo>
                  <a:lnTo>
                    <a:pt x="73080" y="1715828"/>
                  </a:lnTo>
                  <a:lnTo>
                    <a:pt x="42867" y="1685615"/>
                  </a:lnTo>
                  <a:lnTo>
                    <a:pt x="19834" y="1649394"/>
                  </a:lnTo>
                  <a:lnTo>
                    <a:pt x="5154" y="1608339"/>
                  </a:lnTo>
                  <a:lnTo>
                    <a:pt x="0" y="1563623"/>
                  </a:lnTo>
                  <a:lnTo>
                    <a:pt x="0" y="19507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090420" y="4013708"/>
            <a:ext cx="93218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252525"/>
                </a:solidFill>
                <a:latin typeface="Calibri"/>
                <a:cs typeface="Calibri"/>
              </a:rPr>
              <a:t>Initiation</a:t>
            </a:r>
            <a:r>
              <a:rPr dirty="0" sz="1100" spc="-5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252525"/>
                </a:solidFill>
                <a:latin typeface="Calibri"/>
                <a:cs typeface="Calibri"/>
              </a:rPr>
              <a:t>Phase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331209" y="3241294"/>
            <a:ext cx="1184910" cy="1771650"/>
            <a:chOff x="3331209" y="3241294"/>
            <a:chExt cx="1184910" cy="1771650"/>
          </a:xfrm>
        </p:grpSpPr>
        <p:sp>
          <p:nvSpPr>
            <p:cNvPr id="9" name="object 9" descr=""/>
            <p:cNvSpPr/>
            <p:nvPr/>
          </p:nvSpPr>
          <p:spPr>
            <a:xfrm>
              <a:off x="3337559" y="3247644"/>
              <a:ext cx="1172210" cy="1758950"/>
            </a:xfrm>
            <a:custGeom>
              <a:avLst/>
              <a:gdLst/>
              <a:ahLst/>
              <a:cxnLst/>
              <a:rect l="l" t="t" r="r" b="b"/>
              <a:pathLst>
                <a:path w="1172210" h="1758950">
                  <a:moveTo>
                    <a:pt x="976629" y="0"/>
                  </a:moveTo>
                  <a:lnTo>
                    <a:pt x="195325" y="0"/>
                  </a:lnTo>
                  <a:lnTo>
                    <a:pt x="150556" y="5161"/>
                  </a:lnTo>
                  <a:lnTo>
                    <a:pt x="109449" y="19862"/>
                  </a:lnTo>
                  <a:lnTo>
                    <a:pt x="73181" y="42927"/>
                  </a:lnTo>
                  <a:lnTo>
                    <a:pt x="42927" y="73181"/>
                  </a:lnTo>
                  <a:lnTo>
                    <a:pt x="19862" y="109449"/>
                  </a:lnTo>
                  <a:lnTo>
                    <a:pt x="5161" y="150556"/>
                  </a:lnTo>
                  <a:lnTo>
                    <a:pt x="0" y="195325"/>
                  </a:lnTo>
                  <a:lnTo>
                    <a:pt x="0" y="1563369"/>
                  </a:lnTo>
                  <a:lnTo>
                    <a:pt x="5161" y="1608139"/>
                  </a:lnTo>
                  <a:lnTo>
                    <a:pt x="19862" y="1649246"/>
                  </a:lnTo>
                  <a:lnTo>
                    <a:pt x="42927" y="1685514"/>
                  </a:lnTo>
                  <a:lnTo>
                    <a:pt x="73181" y="1715768"/>
                  </a:lnTo>
                  <a:lnTo>
                    <a:pt x="109449" y="1738833"/>
                  </a:lnTo>
                  <a:lnTo>
                    <a:pt x="150556" y="1753534"/>
                  </a:lnTo>
                  <a:lnTo>
                    <a:pt x="195325" y="1758695"/>
                  </a:lnTo>
                  <a:lnTo>
                    <a:pt x="976629" y="1758695"/>
                  </a:lnTo>
                  <a:lnTo>
                    <a:pt x="1021399" y="1753534"/>
                  </a:lnTo>
                  <a:lnTo>
                    <a:pt x="1062506" y="1738833"/>
                  </a:lnTo>
                  <a:lnTo>
                    <a:pt x="1098774" y="1715768"/>
                  </a:lnTo>
                  <a:lnTo>
                    <a:pt x="1129028" y="1685514"/>
                  </a:lnTo>
                  <a:lnTo>
                    <a:pt x="1152093" y="1649246"/>
                  </a:lnTo>
                  <a:lnTo>
                    <a:pt x="1166794" y="1608139"/>
                  </a:lnTo>
                  <a:lnTo>
                    <a:pt x="1171955" y="1563369"/>
                  </a:lnTo>
                  <a:lnTo>
                    <a:pt x="1171955" y="195325"/>
                  </a:lnTo>
                  <a:lnTo>
                    <a:pt x="1166794" y="150556"/>
                  </a:lnTo>
                  <a:lnTo>
                    <a:pt x="1152093" y="109449"/>
                  </a:lnTo>
                  <a:lnTo>
                    <a:pt x="1129028" y="73181"/>
                  </a:lnTo>
                  <a:lnTo>
                    <a:pt x="1098774" y="42927"/>
                  </a:lnTo>
                  <a:lnTo>
                    <a:pt x="1062506" y="19862"/>
                  </a:lnTo>
                  <a:lnTo>
                    <a:pt x="1021399" y="5161"/>
                  </a:lnTo>
                  <a:lnTo>
                    <a:pt x="97662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337559" y="3247644"/>
              <a:ext cx="1172210" cy="1758950"/>
            </a:xfrm>
            <a:custGeom>
              <a:avLst/>
              <a:gdLst/>
              <a:ahLst/>
              <a:cxnLst/>
              <a:rect l="l" t="t" r="r" b="b"/>
              <a:pathLst>
                <a:path w="1172210" h="1758950">
                  <a:moveTo>
                    <a:pt x="0" y="195325"/>
                  </a:moveTo>
                  <a:lnTo>
                    <a:pt x="5161" y="150556"/>
                  </a:lnTo>
                  <a:lnTo>
                    <a:pt x="19862" y="109449"/>
                  </a:lnTo>
                  <a:lnTo>
                    <a:pt x="42927" y="73181"/>
                  </a:lnTo>
                  <a:lnTo>
                    <a:pt x="73181" y="42927"/>
                  </a:lnTo>
                  <a:lnTo>
                    <a:pt x="109449" y="19862"/>
                  </a:lnTo>
                  <a:lnTo>
                    <a:pt x="150556" y="5161"/>
                  </a:lnTo>
                  <a:lnTo>
                    <a:pt x="195325" y="0"/>
                  </a:lnTo>
                  <a:lnTo>
                    <a:pt x="976629" y="0"/>
                  </a:lnTo>
                  <a:lnTo>
                    <a:pt x="1021399" y="5161"/>
                  </a:lnTo>
                  <a:lnTo>
                    <a:pt x="1062506" y="19862"/>
                  </a:lnTo>
                  <a:lnTo>
                    <a:pt x="1098774" y="42927"/>
                  </a:lnTo>
                  <a:lnTo>
                    <a:pt x="1129028" y="73181"/>
                  </a:lnTo>
                  <a:lnTo>
                    <a:pt x="1152093" y="109449"/>
                  </a:lnTo>
                  <a:lnTo>
                    <a:pt x="1166794" y="150556"/>
                  </a:lnTo>
                  <a:lnTo>
                    <a:pt x="1171955" y="195325"/>
                  </a:lnTo>
                  <a:lnTo>
                    <a:pt x="1171955" y="1563369"/>
                  </a:lnTo>
                  <a:lnTo>
                    <a:pt x="1166794" y="1608139"/>
                  </a:lnTo>
                  <a:lnTo>
                    <a:pt x="1152093" y="1649246"/>
                  </a:lnTo>
                  <a:lnTo>
                    <a:pt x="1129028" y="1685514"/>
                  </a:lnTo>
                  <a:lnTo>
                    <a:pt x="1098774" y="1715768"/>
                  </a:lnTo>
                  <a:lnTo>
                    <a:pt x="1062506" y="1738833"/>
                  </a:lnTo>
                  <a:lnTo>
                    <a:pt x="1021399" y="1753534"/>
                  </a:lnTo>
                  <a:lnTo>
                    <a:pt x="976629" y="1758695"/>
                  </a:lnTo>
                  <a:lnTo>
                    <a:pt x="195325" y="1758695"/>
                  </a:lnTo>
                  <a:lnTo>
                    <a:pt x="150556" y="1753534"/>
                  </a:lnTo>
                  <a:lnTo>
                    <a:pt x="109449" y="1738833"/>
                  </a:lnTo>
                  <a:lnTo>
                    <a:pt x="73181" y="1715768"/>
                  </a:lnTo>
                  <a:lnTo>
                    <a:pt x="42927" y="1685514"/>
                  </a:lnTo>
                  <a:lnTo>
                    <a:pt x="19862" y="1649246"/>
                  </a:lnTo>
                  <a:lnTo>
                    <a:pt x="5161" y="1608139"/>
                  </a:lnTo>
                  <a:lnTo>
                    <a:pt x="0" y="1563369"/>
                  </a:lnTo>
                  <a:lnTo>
                    <a:pt x="0" y="195325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3432428" y="4013708"/>
            <a:ext cx="9810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252525"/>
                </a:solidFill>
                <a:latin typeface="Calibri"/>
                <a:cs typeface="Calibri"/>
              </a:rPr>
              <a:t>Definition</a:t>
            </a:r>
            <a:r>
              <a:rPr dirty="0" sz="1100" spc="-4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252525"/>
                </a:solidFill>
                <a:latin typeface="Calibri"/>
                <a:cs typeface="Calibri"/>
              </a:rPr>
              <a:t>Phase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698238" y="3241294"/>
            <a:ext cx="1183640" cy="1771650"/>
            <a:chOff x="4698238" y="3241294"/>
            <a:chExt cx="1183640" cy="1771650"/>
          </a:xfrm>
        </p:grpSpPr>
        <p:sp>
          <p:nvSpPr>
            <p:cNvPr id="13" name="object 13" descr=""/>
            <p:cNvSpPr/>
            <p:nvPr/>
          </p:nvSpPr>
          <p:spPr>
            <a:xfrm>
              <a:off x="4704588" y="3247644"/>
              <a:ext cx="1170940" cy="1758950"/>
            </a:xfrm>
            <a:custGeom>
              <a:avLst/>
              <a:gdLst/>
              <a:ahLst/>
              <a:cxnLst/>
              <a:rect l="l" t="t" r="r" b="b"/>
              <a:pathLst>
                <a:path w="1170939" h="1758950">
                  <a:moveTo>
                    <a:pt x="975360" y="0"/>
                  </a:moveTo>
                  <a:lnTo>
                    <a:pt x="195072" y="0"/>
                  </a:lnTo>
                  <a:lnTo>
                    <a:pt x="150356" y="5154"/>
                  </a:lnTo>
                  <a:lnTo>
                    <a:pt x="109301" y="19834"/>
                  </a:lnTo>
                  <a:lnTo>
                    <a:pt x="73080" y="42867"/>
                  </a:lnTo>
                  <a:lnTo>
                    <a:pt x="42867" y="73080"/>
                  </a:lnTo>
                  <a:lnTo>
                    <a:pt x="19834" y="109301"/>
                  </a:lnTo>
                  <a:lnTo>
                    <a:pt x="5154" y="150356"/>
                  </a:lnTo>
                  <a:lnTo>
                    <a:pt x="0" y="195071"/>
                  </a:lnTo>
                  <a:lnTo>
                    <a:pt x="0" y="1563623"/>
                  </a:lnTo>
                  <a:lnTo>
                    <a:pt x="5154" y="1608339"/>
                  </a:lnTo>
                  <a:lnTo>
                    <a:pt x="19834" y="1649394"/>
                  </a:lnTo>
                  <a:lnTo>
                    <a:pt x="42867" y="1685615"/>
                  </a:lnTo>
                  <a:lnTo>
                    <a:pt x="73080" y="1715828"/>
                  </a:lnTo>
                  <a:lnTo>
                    <a:pt x="109301" y="1738861"/>
                  </a:lnTo>
                  <a:lnTo>
                    <a:pt x="150356" y="1753541"/>
                  </a:lnTo>
                  <a:lnTo>
                    <a:pt x="195072" y="1758695"/>
                  </a:lnTo>
                  <a:lnTo>
                    <a:pt x="975360" y="1758695"/>
                  </a:lnTo>
                  <a:lnTo>
                    <a:pt x="1020075" y="1753541"/>
                  </a:lnTo>
                  <a:lnTo>
                    <a:pt x="1061130" y="1738861"/>
                  </a:lnTo>
                  <a:lnTo>
                    <a:pt x="1097351" y="1715828"/>
                  </a:lnTo>
                  <a:lnTo>
                    <a:pt x="1127564" y="1685615"/>
                  </a:lnTo>
                  <a:lnTo>
                    <a:pt x="1150597" y="1649394"/>
                  </a:lnTo>
                  <a:lnTo>
                    <a:pt x="1165277" y="1608339"/>
                  </a:lnTo>
                  <a:lnTo>
                    <a:pt x="1170432" y="1563623"/>
                  </a:lnTo>
                  <a:lnTo>
                    <a:pt x="1170432" y="195071"/>
                  </a:lnTo>
                  <a:lnTo>
                    <a:pt x="1165277" y="150356"/>
                  </a:lnTo>
                  <a:lnTo>
                    <a:pt x="1150597" y="109301"/>
                  </a:lnTo>
                  <a:lnTo>
                    <a:pt x="1127564" y="73080"/>
                  </a:lnTo>
                  <a:lnTo>
                    <a:pt x="1097351" y="42867"/>
                  </a:lnTo>
                  <a:lnTo>
                    <a:pt x="1061130" y="19834"/>
                  </a:lnTo>
                  <a:lnTo>
                    <a:pt x="1020075" y="5154"/>
                  </a:lnTo>
                  <a:lnTo>
                    <a:pt x="97536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704588" y="3247644"/>
              <a:ext cx="1170940" cy="1758950"/>
            </a:xfrm>
            <a:custGeom>
              <a:avLst/>
              <a:gdLst/>
              <a:ahLst/>
              <a:cxnLst/>
              <a:rect l="l" t="t" r="r" b="b"/>
              <a:pathLst>
                <a:path w="1170939" h="1758950">
                  <a:moveTo>
                    <a:pt x="0" y="195071"/>
                  </a:moveTo>
                  <a:lnTo>
                    <a:pt x="5154" y="150356"/>
                  </a:lnTo>
                  <a:lnTo>
                    <a:pt x="19834" y="109301"/>
                  </a:lnTo>
                  <a:lnTo>
                    <a:pt x="42867" y="73080"/>
                  </a:lnTo>
                  <a:lnTo>
                    <a:pt x="73080" y="42867"/>
                  </a:lnTo>
                  <a:lnTo>
                    <a:pt x="109301" y="19834"/>
                  </a:lnTo>
                  <a:lnTo>
                    <a:pt x="150356" y="5154"/>
                  </a:lnTo>
                  <a:lnTo>
                    <a:pt x="195072" y="0"/>
                  </a:lnTo>
                  <a:lnTo>
                    <a:pt x="975360" y="0"/>
                  </a:lnTo>
                  <a:lnTo>
                    <a:pt x="1020075" y="5154"/>
                  </a:lnTo>
                  <a:lnTo>
                    <a:pt x="1061130" y="19834"/>
                  </a:lnTo>
                  <a:lnTo>
                    <a:pt x="1097351" y="42867"/>
                  </a:lnTo>
                  <a:lnTo>
                    <a:pt x="1127564" y="73080"/>
                  </a:lnTo>
                  <a:lnTo>
                    <a:pt x="1150597" y="109301"/>
                  </a:lnTo>
                  <a:lnTo>
                    <a:pt x="1165277" y="150356"/>
                  </a:lnTo>
                  <a:lnTo>
                    <a:pt x="1170432" y="195071"/>
                  </a:lnTo>
                  <a:lnTo>
                    <a:pt x="1170432" y="1563623"/>
                  </a:lnTo>
                  <a:lnTo>
                    <a:pt x="1165277" y="1608339"/>
                  </a:lnTo>
                  <a:lnTo>
                    <a:pt x="1150597" y="1649394"/>
                  </a:lnTo>
                  <a:lnTo>
                    <a:pt x="1127564" y="1685615"/>
                  </a:lnTo>
                  <a:lnTo>
                    <a:pt x="1097351" y="1715828"/>
                  </a:lnTo>
                  <a:lnTo>
                    <a:pt x="1061130" y="1738861"/>
                  </a:lnTo>
                  <a:lnTo>
                    <a:pt x="1020075" y="1753541"/>
                  </a:lnTo>
                  <a:lnTo>
                    <a:pt x="975360" y="1758695"/>
                  </a:lnTo>
                  <a:lnTo>
                    <a:pt x="195072" y="1758695"/>
                  </a:lnTo>
                  <a:lnTo>
                    <a:pt x="150356" y="1753541"/>
                  </a:lnTo>
                  <a:lnTo>
                    <a:pt x="109301" y="1738861"/>
                  </a:lnTo>
                  <a:lnTo>
                    <a:pt x="73080" y="1715828"/>
                  </a:lnTo>
                  <a:lnTo>
                    <a:pt x="42867" y="1685615"/>
                  </a:lnTo>
                  <a:lnTo>
                    <a:pt x="19834" y="1649394"/>
                  </a:lnTo>
                  <a:lnTo>
                    <a:pt x="5154" y="1608339"/>
                  </a:lnTo>
                  <a:lnTo>
                    <a:pt x="0" y="1563623"/>
                  </a:lnTo>
                  <a:lnTo>
                    <a:pt x="0" y="19507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836667" y="4013708"/>
            <a:ext cx="9048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252525"/>
                </a:solidFill>
                <a:latin typeface="Calibri"/>
                <a:cs typeface="Calibri"/>
              </a:rPr>
              <a:t>Planning</a:t>
            </a:r>
            <a:r>
              <a:rPr dirty="0" sz="1100" spc="-5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252525"/>
                </a:solidFill>
                <a:latin typeface="Calibri"/>
                <a:cs typeface="Calibri"/>
              </a:rPr>
              <a:t>Phase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063741" y="3241294"/>
            <a:ext cx="1419860" cy="1771650"/>
            <a:chOff x="6063741" y="3241294"/>
            <a:chExt cx="1419860" cy="1771650"/>
          </a:xfrm>
        </p:grpSpPr>
        <p:sp>
          <p:nvSpPr>
            <p:cNvPr id="17" name="object 17" descr=""/>
            <p:cNvSpPr/>
            <p:nvPr/>
          </p:nvSpPr>
          <p:spPr>
            <a:xfrm>
              <a:off x="6070091" y="3247644"/>
              <a:ext cx="1407160" cy="1758950"/>
            </a:xfrm>
            <a:custGeom>
              <a:avLst/>
              <a:gdLst/>
              <a:ahLst/>
              <a:cxnLst/>
              <a:rect l="l" t="t" r="r" b="b"/>
              <a:pathLst>
                <a:path w="1407159" h="1758950">
                  <a:moveTo>
                    <a:pt x="1172210" y="0"/>
                  </a:moveTo>
                  <a:lnTo>
                    <a:pt x="234442" y="0"/>
                  </a:lnTo>
                  <a:lnTo>
                    <a:pt x="187176" y="4760"/>
                  </a:lnTo>
                  <a:lnTo>
                    <a:pt x="143160" y="18415"/>
                  </a:lnTo>
                  <a:lnTo>
                    <a:pt x="103336" y="40022"/>
                  </a:lnTo>
                  <a:lnTo>
                    <a:pt x="68643" y="68643"/>
                  </a:lnTo>
                  <a:lnTo>
                    <a:pt x="40022" y="103336"/>
                  </a:lnTo>
                  <a:lnTo>
                    <a:pt x="18415" y="143160"/>
                  </a:lnTo>
                  <a:lnTo>
                    <a:pt x="4760" y="187176"/>
                  </a:lnTo>
                  <a:lnTo>
                    <a:pt x="0" y="234441"/>
                  </a:lnTo>
                  <a:lnTo>
                    <a:pt x="0" y="1524253"/>
                  </a:lnTo>
                  <a:lnTo>
                    <a:pt x="4760" y="1571483"/>
                  </a:lnTo>
                  <a:lnTo>
                    <a:pt x="18415" y="1615481"/>
                  </a:lnTo>
                  <a:lnTo>
                    <a:pt x="40022" y="1655303"/>
                  </a:lnTo>
                  <a:lnTo>
                    <a:pt x="68643" y="1690004"/>
                  </a:lnTo>
                  <a:lnTo>
                    <a:pt x="103336" y="1718639"/>
                  </a:lnTo>
                  <a:lnTo>
                    <a:pt x="143160" y="1740263"/>
                  </a:lnTo>
                  <a:lnTo>
                    <a:pt x="187176" y="1753930"/>
                  </a:lnTo>
                  <a:lnTo>
                    <a:pt x="234442" y="1758695"/>
                  </a:lnTo>
                  <a:lnTo>
                    <a:pt x="1172210" y="1758695"/>
                  </a:lnTo>
                  <a:lnTo>
                    <a:pt x="1219439" y="1753930"/>
                  </a:lnTo>
                  <a:lnTo>
                    <a:pt x="1263437" y="1740263"/>
                  </a:lnTo>
                  <a:lnTo>
                    <a:pt x="1303259" y="1718639"/>
                  </a:lnTo>
                  <a:lnTo>
                    <a:pt x="1337960" y="1690004"/>
                  </a:lnTo>
                  <a:lnTo>
                    <a:pt x="1366595" y="1655303"/>
                  </a:lnTo>
                  <a:lnTo>
                    <a:pt x="1388219" y="1615481"/>
                  </a:lnTo>
                  <a:lnTo>
                    <a:pt x="1401886" y="1571483"/>
                  </a:lnTo>
                  <a:lnTo>
                    <a:pt x="1406652" y="1524253"/>
                  </a:lnTo>
                  <a:lnTo>
                    <a:pt x="1406652" y="234441"/>
                  </a:lnTo>
                  <a:lnTo>
                    <a:pt x="1401886" y="187176"/>
                  </a:lnTo>
                  <a:lnTo>
                    <a:pt x="1388219" y="143160"/>
                  </a:lnTo>
                  <a:lnTo>
                    <a:pt x="1366595" y="103336"/>
                  </a:lnTo>
                  <a:lnTo>
                    <a:pt x="1337960" y="68643"/>
                  </a:lnTo>
                  <a:lnTo>
                    <a:pt x="1303259" y="40022"/>
                  </a:lnTo>
                  <a:lnTo>
                    <a:pt x="1263437" y="18415"/>
                  </a:lnTo>
                  <a:lnTo>
                    <a:pt x="1219439" y="4760"/>
                  </a:lnTo>
                  <a:lnTo>
                    <a:pt x="117221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70091" y="3247644"/>
              <a:ext cx="1407160" cy="1758950"/>
            </a:xfrm>
            <a:custGeom>
              <a:avLst/>
              <a:gdLst/>
              <a:ahLst/>
              <a:cxnLst/>
              <a:rect l="l" t="t" r="r" b="b"/>
              <a:pathLst>
                <a:path w="1407159" h="1758950">
                  <a:moveTo>
                    <a:pt x="0" y="234441"/>
                  </a:moveTo>
                  <a:lnTo>
                    <a:pt x="4760" y="187176"/>
                  </a:lnTo>
                  <a:lnTo>
                    <a:pt x="18415" y="143160"/>
                  </a:lnTo>
                  <a:lnTo>
                    <a:pt x="40022" y="103336"/>
                  </a:lnTo>
                  <a:lnTo>
                    <a:pt x="68643" y="68643"/>
                  </a:lnTo>
                  <a:lnTo>
                    <a:pt x="103336" y="40022"/>
                  </a:lnTo>
                  <a:lnTo>
                    <a:pt x="143160" y="18415"/>
                  </a:lnTo>
                  <a:lnTo>
                    <a:pt x="187176" y="4760"/>
                  </a:lnTo>
                  <a:lnTo>
                    <a:pt x="234442" y="0"/>
                  </a:lnTo>
                  <a:lnTo>
                    <a:pt x="1172210" y="0"/>
                  </a:lnTo>
                  <a:lnTo>
                    <a:pt x="1219439" y="4760"/>
                  </a:lnTo>
                  <a:lnTo>
                    <a:pt x="1263437" y="18415"/>
                  </a:lnTo>
                  <a:lnTo>
                    <a:pt x="1303259" y="40022"/>
                  </a:lnTo>
                  <a:lnTo>
                    <a:pt x="1337960" y="68643"/>
                  </a:lnTo>
                  <a:lnTo>
                    <a:pt x="1366595" y="103336"/>
                  </a:lnTo>
                  <a:lnTo>
                    <a:pt x="1388219" y="143160"/>
                  </a:lnTo>
                  <a:lnTo>
                    <a:pt x="1401886" y="187176"/>
                  </a:lnTo>
                  <a:lnTo>
                    <a:pt x="1406652" y="234441"/>
                  </a:lnTo>
                  <a:lnTo>
                    <a:pt x="1406652" y="1524253"/>
                  </a:lnTo>
                  <a:lnTo>
                    <a:pt x="1401886" y="1571483"/>
                  </a:lnTo>
                  <a:lnTo>
                    <a:pt x="1388219" y="1615481"/>
                  </a:lnTo>
                  <a:lnTo>
                    <a:pt x="1366595" y="1655303"/>
                  </a:lnTo>
                  <a:lnTo>
                    <a:pt x="1337960" y="1690004"/>
                  </a:lnTo>
                  <a:lnTo>
                    <a:pt x="1303259" y="1718639"/>
                  </a:lnTo>
                  <a:lnTo>
                    <a:pt x="1263437" y="1740263"/>
                  </a:lnTo>
                  <a:lnTo>
                    <a:pt x="1219439" y="1753930"/>
                  </a:lnTo>
                  <a:lnTo>
                    <a:pt x="1172210" y="1758695"/>
                  </a:lnTo>
                  <a:lnTo>
                    <a:pt x="234442" y="1758695"/>
                  </a:lnTo>
                  <a:lnTo>
                    <a:pt x="187176" y="1753930"/>
                  </a:lnTo>
                  <a:lnTo>
                    <a:pt x="143160" y="1740263"/>
                  </a:lnTo>
                  <a:lnTo>
                    <a:pt x="103336" y="1718639"/>
                  </a:lnTo>
                  <a:lnTo>
                    <a:pt x="68643" y="1690004"/>
                  </a:lnTo>
                  <a:lnTo>
                    <a:pt x="40022" y="1655303"/>
                  </a:lnTo>
                  <a:lnTo>
                    <a:pt x="18415" y="1615481"/>
                  </a:lnTo>
                  <a:lnTo>
                    <a:pt x="4760" y="1571483"/>
                  </a:lnTo>
                  <a:lnTo>
                    <a:pt x="0" y="1524253"/>
                  </a:lnTo>
                  <a:lnTo>
                    <a:pt x="0" y="23444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290564" y="3936872"/>
            <a:ext cx="967740" cy="34798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311150" marR="5080" indent="-299085">
              <a:lnSpc>
                <a:spcPts val="1210"/>
              </a:lnSpc>
              <a:spcBef>
                <a:spcPts val="235"/>
              </a:spcBef>
            </a:pPr>
            <a:r>
              <a:rPr dirty="0" sz="1100" spc="-10" b="1">
                <a:solidFill>
                  <a:srgbClr val="252525"/>
                </a:solidFill>
                <a:latin typeface="Calibri"/>
                <a:cs typeface="Calibri"/>
              </a:rPr>
              <a:t>Implementation Phase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665466" y="3241294"/>
            <a:ext cx="1184910" cy="1771650"/>
            <a:chOff x="7665466" y="3241294"/>
            <a:chExt cx="1184910" cy="1771650"/>
          </a:xfrm>
        </p:grpSpPr>
        <p:sp>
          <p:nvSpPr>
            <p:cNvPr id="21" name="object 21" descr=""/>
            <p:cNvSpPr/>
            <p:nvPr/>
          </p:nvSpPr>
          <p:spPr>
            <a:xfrm>
              <a:off x="7671816" y="3247644"/>
              <a:ext cx="1172210" cy="1758950"/>
            </a:xfrm>
            <a:custGeom>
              <a:avLst/>
              <a:gdLst/>
              <a:ahLst/>
              <a:cxnLst/>
              <a:rect l="l" t="t" r="r" b="b"/>
              <a:pathLst>
                <a:path w="1172209" h="1758950">
                  <a:moveTo>
                    <a:pt x="976629" y="0"/>
                  </a:moveTo>
                  <a:lnTo>
                    <a:pt x="195325" y="0"/>
                  </a:lnTo>
                  <a:lnTo>
                    <a:pt x="150556" y="5161"/>
                  </a:lnTo>
                  <a:lnTo>
                    <a:pt x="109449" y="19862"/>
                  </a:lnTo>
                  <a:lnTo>
                    <a:pt x="73181" y="42927"/>
                  </a:lnTo>
                  <a:lnTo>
                    <a:pt x="42927" y="73181"/>
                  </a:lnTo>
                  <a:lnTo>
                    <a:pt x="19862" y="109449"/>
                  </a:lnTo>
                  <a:lnTo>
                    <a:pt x="5161" y="150556"/>
                  </a:lnTo>
                  <a:lnTo>
                    <a:pt x="0" y="195325"/>
                  </a:lnTo>
                  <a:lnTo>
                    <a:pt x="0" y="1563369"/>
                  </a:lnTo>
                  <a:lnTo>
                    <a:pt x="5161" y="1608139"/>
                  </a:lnTo>
                  <a:lnTo>
                    <a:pt x="19862" y="1649246"/>
                  </a:lnTo>
                  <a:lnTo>
                    <a:pt x="42927" y="1685514"/>
                  </a:lnTo>
                  <a:lnTo>
                    <a:pt x="73181" y="1715768"/>
                  </a:lnTo>
                  <a:lnTo>
                    <a:pt x="109449" y="1738833"/>
                  </a:lnTo>
                  <a:lnTo>
                    <a:pt x="150556" y="1753534"/>
                  </a:lnTo>
                  <a:lnTo>
                    <a:pt x="195325" y="1758695"/>
                  </a:lnTo>
                  <a:lnTo>
                    <a:pt x="976629" y="1758695"/>
                  </a:lnTo>
                  <a:lnTo>
                    <a:pt x="1021399" y="1753534"/>
                  </a:lnTo>
                  <a:lnTo>
                    <a:pt x="1062506" y="1738833"/>
                  </a:lnTo>
                  <a:lnTo>
                    <a:pt x="1098774" y="1715768"/>
                  </a:lnTo>
                  <a:lnTo>
                    <a:pt x="1129028" y="1685514"/>
                  </a:lnTo>
                  <a:lnTo>
                    <a:pt x="1152093" y="1649246"/>
                  </a:lnTo>
                  <a:lnTo>
                    <a:pt x="1166794" y="1608139"/>
                  </a:lnTo>
                  <a:lnTo>
                    <a:pt x="1171955" y="1563369"/>
                  </a:lnTo>
                  <a:lnTo>
                    <a:pt x="1171955" y="195325"/>
                  </a:lnTo>
                  <a:lnTo>
                    <a:pt x="1166794" y="150556"/>
                  </a:lnTo>
                  <a:lnTo>
                    <a:pt x="1152093" y="109449"/>
                  </a:lnTo>
                  <a:lnTo>
                    <a:pt x="1129028" y="73181"/>
                  </a:lnTo>
                  <a:lnTo>
                    <a:pt x="1098774" y="42927"/>
                  </a:lnTo>
                  <a:lnTo>
                    <a:pt x="1062506" y="19862"/>
                  </a:lnTo>
                  <a:lnTo>
                    <a:pt x="1021399" y="5161"/>
                  </a:lnTo>
                  <a:lnTo>
                    <a:pt x="97662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671816" y="3247644"/>
              <a:ext cx="1172210" cy="1758950"/>
            </a:xfrm>
            <a:custGeom>
              <a:avLst/>
              <a:gdLst/>
              <a:ahLst/>
              <a:cxnLst/>
              <a:rect l="l" t="t" r="r" b="b"/>
              <a:pathLst>
                <a:path w="1172209" h="1758950">
                  <a:moveTo>
                    <a:pt x="0" y="195325"/>
                  </a:moveTo>
                  <a:lnTo>
                    <a:pt x="5161" y="150556"/>
                  </a:lnTo>
                  <a:lnTo>
                    <a:pt x="19862" y="109449"/>
                  </a:lnTo>
                  <a:lnTo>
                    <a:pt x="42927" y="73181"/>
                  </a:lnTo>
                  <a:lnTo>
                    <a:pt x="73181" y="42927"/>
                  </a:lnTo>
                  <a:lnTo>
                    <a:pt x="109449" y="19862"/>
                  </a:lnTo>
                  <a:lnTo>
                    <a:pt x="150556" y="5161"/>
                  </a:lnTo>
                  <a:lnTo>
                    <a:pt x="195325" y="0"/>
                  </a:lnTo>
                  <a:lnTo>
                    <a:pt x="976629" y="0"/>
                  </a:lnTo>
                  <a:lnTo>
                    <a:pt x="1021399" y="5161"/>
                  </a:lnTo>
                  <a:lnTo>
                    <a:pt x="1062506" y="19862"/>
                  </a:lnTo>
                  <a:lnTo>
                    <a:pt x="1098774" y="42927"/>
                  </a:lnTo>
                  <a:lnTo>
                    <a:pt x="1129028" y="73181"/>
                  </a:lnTo>
                  <a:lnTo>
                    <a:pt x="1152093" y="109449"/>
                  </a:lnTo>
                  <a:lnTo>
                    <a:pt x="1166794" y="150556"/>
                  </a:lnTo>
                  <a:lnTo>
                    <a:pt x="1171955" y="195325"/>
                  </a:lnTo>
                  <a:lnTo>
                    <a:pt x="1171955" y="1563369"/>
                  </a:lnTo>
                  <a:lnTo>
                    <a:pt x="1166794" y="1608139"/>
                  </a:lnTo>
                  <a:lnTo>
                    <a:pt x="1152093" y="1649246"/>
                  </a:lnTo>
                  <a:lnTo>
                    <a:pt x="1129028" y="1685514"/>
                  </a:lnTo>
                  <a:lnTo>
                    <a:pt x="1098774" y="1715768"/>
                  </a:lnTo>
                  <a:lnTo>
                    <a:pt x="1062506" y="1738833"/>
                  </a:lnTo>
                  <a:lnTo>
                    <a:pt x="1021399" y="1753534"/>
                  </a:lnTo>
                  <a:lnTo>
                    <a:pt x="976629" y="1758695"/>
                  </a:lnTo>
                  <a:lnTo>
                    <a:pt x="195325" y="1758695"/>
                  </a:lnTo>
                  <a:lnTo>
                    <a:pt x="150556" y="1753534"/>
                  </a:lnTo>
                  <a:lnTo>
                    <a:pt x="109449" y="1738833"/>
                  </a:lnTo>
                  <a:lnTo>
                    <a:pt x="73181" y="1715768"/>
                  </a:lnTo>
                  <a:lnTo>
                    <a:pt x="42927" y="1685514"/>
                  </a:lnTo>
                  <a:lnTo>
                    <a:pt x="19862" y="1649246"/>
                  </a:lnTo>
                  <a:lnTo>
                    <a:pt x="5161" y="1608139"/>
                  </a:lnTo>
                  <a:lnTo>
                    <a:pt x="0" y="1563369"/>
                  </a:lnTo>
                  <a:lnTo>
                    <a:pt x="0" y="195325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7885938" y="3936872"/>
            <a:ext cx="742950" cy="34798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200025" marR="5080" indent="-187960">
              <a:lnSpc>
                <a:spcPts val="1210"/>
              </a:lnSpc>
              <a:spcBef>
                <a:spcPts val="235"/>
              </a:spcBef>
            </a:pPr>
            <a:r>
              <a:rPr dirty="0" sz="1100" spc="-10" b="1">
                <a:solidFill>
                  <a:srgbClr val="252525"/>
                </a:solidFill>
                <a:latin typeface="Calibri"/>
                <a:cs typeface="Calibri"/>
              </a:rPr>
              <a:t>Deployment Phase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9032747" y="3241548"/>
            <a:ext cx="1183005" cy="1771014"/>
            <a:chOff x="9032747" y="3241548"/>
            <a:chExt cx="1183005" cy="1771014"/>
          </a:xfrm>
        </p:grpSpPr>
        <p:sp>
          <p:nvSpPr>
            <p:cNvPr id="25" name="object 25" descr=""/>
            <p:cNvSpPr/>
            <p:nvPr/>
          </p:nvSpPr>
          <p:spPr>
            <a:xfrm>
              <a:off x="9038843" y="3247644"/>
              <a:ext cx="1170940" cy="1758950"/>
            </a:xfrm>
            <a:custGeom>
              <a:avLst/>
              <a:gdLst/>
              <a:ahLst/>
              <a:cxnLst/>
              <a:rect l="l" t="t" r="r" b="b"/>
              <a:pathLst>
                <a:path w="1170940" h="1758950">
                  <a:moveTo>
                    <a:pt x="975359" y="0"/>
                  </a:moveTo>
                  <a:lnTo>
                    <a:pt x="195072" y="0"/>
                  </a:lnTo>
                  <a:lnTo>
                    <a:pt x="150356" y="5154"/>
                  </a:lnTo>
                  <a:lnTo>
                    <a:pt x="109301" y="19834"/>
                  </a:lnTo>
                  <a:lnTo>
                    <a:pt x="73080" y="42867"/>
                  </a:lnTo>
                  <a:lnTo>
                    <a:pt x="42867" y="73080"/>
                  </a:lnTo>
                  <a:lnTo>
                    <a:pt x="19834" y="109301"/>
                  </a:lnTo>
                  <a:lnTo>
                    <a:pt x="5154" y="150356"/>
                  </a:lnTo>
                  <a:lnTo>
                    <a:pt x="0" y="195071"/>
                  </a:lnTo>
                  <a:lnTo>
                    <a:pt x="0" y="1563623"/>
                  </a:lnTo>
                  <a:lnTo>
                    <a:pt x="5154" y="1608339"/>
                  </a:lnTo>
                  <a:lnTo>
                    <a:pt x="19834" y="1649394"/>
                  </a:lnTo>
                  <a:lnTo>
                    <a:pt x="42867" y="1685615"/>
                  </a:lnTo>
                  <a:lnTo>
                    <a:pt x="73080" y="1715828"/>
                  </a:lnTo>
                  <a:lnTo>
                    <a:pt x="109301" y="1738861"/>
                  </a:lnTo>
                  <a:lnTo>
                    <a:pt x="150356" y="1753541"/>
                  </a:lnTo>
                  <a:lnTo>
                    <a:pt x="195072" y="1758695"/>
                  </a:lnTo>
                  <a:lnTo>
                    <a:pt x="975359" y="1758695"/>
                  </a:lnTo>
                  <a:lnTo>
                    <a:pt x="1020075" y="1753541"/>
                  </a:lnTo>
                  <a:lnTo>
                    <a:pt x="1061130" y="1738861"/>
                  </a:lnTo>
                  <a:lnTo>
                    <a:pt x="1097351" y="1715828"/>
                  </a:lnTo>
                  <a:lnTo>
                    <a:pt x="1127564" y="1685615"/>
                  </a:lnTo>
                  <a:lnTo>
                    <a:pt x="1150597" y="1649394"/>
                  </a:lnTo>
                  <a:lnTo>
                    <a:pt x="1165277" y="1608339"/>
                  </a:lnTo>
                  <a:lnTo>
                    <a:pt x="1170431" y="1563623"/>
                  </a:lnTo>
                  <a:lnTo>
                    <a:pt x="1170431" y="195071"/>
                  </a:lnTo>
                  <a:lnTo>
                    <a:pt x="1165277" y="150356"/>
                  </a:lnTo>
                  <a:lnTo>
                    <a:pt x="1150597" y="109301"/>
                  </a:lnTo>
                  <a:lnTo>
                    <a:pt x="1127564" y="73080"/>
                  </a:lnTo>
                  <a:lnTo>
                    <a:pt x="1097351" y="42867"/>
                  </a:lnTo>
                  <a:lnTo>
                    <a:pt x="1061130" y="19834"/>
                  </a:lnTo>
                  <a:lnTo>
                    <a:pt x="1020075" y="5154"/>
                  </a:lnTo>
                  <a:lnTo>
                    <a:pt x="97535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038843" y="3247644"/>
              <a:ext cx="1170940" cy="1758950"/>
            </a:xfrm>
            <a:custGeom>
              <a:avLst/>
              <a:gdLst/>
              <a:ahLst/>
              <a:cxnLst/>
              <a:rect l="l" t="t" r="r" b="b"/>
              <a:pathLst>
                <a:path w="1170940" h="1758950">
                  <a:moveTo>
                    <a:pt x="0" y="195071"/>
                  </a:moveTo>
                  <a:lnTo>
                    <a:pt x="5154" y="150356"/>
                  </a:lnTo>
                  <a:lnTo>
                    <a:pt x="19834" y="109301"/>
                  </a:lnTo>
                  <a:lnTo>
                    <a:pt x="42867" y="73080"/>
                  </a:lnTo>
                  <a:lnTo>
                    <a:pt x="73080" y="42867"/>
                  </a:lnTo>
                  <a:lnTo>
                    <a:pt x="109301" y="19834"/>
                  </a:lnTo>
                  <a:lnTo>
                    <a:pt x="150356" y="5154"/>
                  </a:lnTo>
                  <a:lnTo>
                    <a:pt x="195072" y="0"/>
                  </a:lnTo>
                  <a:lnTo>
                    <a:pt x="975359" y="0"/>
                  </a:lnTo>
                  <a:lnTo>
                    <a:pt x="1020075" y="5154"/>
                  </a:lnTo>
                  <a:lnTo>
                    <a:pt x="1061130" y="19834"/>
                  </a:lnTo>
                  <a:lnTo>
                    <a:pt x="1097351" y="42867"/>
                  </a:lnTo>
                  <a:lnTo>
                    <a:pt x="1127564" y="73080"/>
                  </a:lnTo>
                  <a:lnTo>
                    <a:pt x="1150597" y="109301"/>
                  </a:lnTo>
                  <a:lnTo>
                    <a:pt x="1165277" y="150356"/>
                  </a:lnTo>
                  <a:lnTo>
                    <a:pt x="1170431" y="195071"/>
                  </a:lnTo>
                  <a:lnTo>
                    <a:pt x="1170431" y="1563623"/>
                  </a:lnTo>
                  <a:lnTo>
                    <a:pt x="1165277" y="1608339"/>
                  </a:lnTo>
                  <a:lnTo>
                    <a:pt x="1150597" y="1649394"/>
                  </a:lnTo>
                  <a:lnTo>
                    <a:pt x="1127564" y="1685615"/>
                  </a:lnTo>
                  <a:lnTo>
                    <a:pt x="1097351" y="1715828"/>
                  </a:lnTo>
                  <a:lnTo>
                    <a:pt x="1061130" y="1738861"/>
                  </a:lnTo>
                  <a:lnTo>
                    <a:pt x="1020075" y="1753541"/>
                  </a:lnTo>
                  <a:lnTo>
                    <a:pt x="975359" y="1758695"/>
                  </a:lnTo>
                  <a:lnTo>
                    <a:pt x="195072" y="1758695"/>
                  </a:lnTo>
                  <a:lnTo>
                    <a:pt x="150356" y="1753541"/>
                  </a:lnTo>
                  <a:lnTo>
                    <a:pt x="109301" y="1738861"/>
                  </a:lnTo>
                  <a:lnTo>
                    <a:pt x="73080" y="1715828"/>
                  </a:lnTo>
                  <a:lnTo>
                    <a:pt x="42867" y="1685615"/>
                  </a:lnTo>
                  <a:lnTo>
                    <a:pt x="19834" y="1649394"/>
                  </a:lnTo>
                  <a:lnTo>
                    <a:pt x="5154" y="1608339"/>
                  </a:lnTo>
                  <a:lnTo>
                    <a:pt x="0" y="1563623"/>
                  </a:lnTo>
                  <a:lnTo>
                    <a:pt x="0" y="195071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9215755" y="4013708"/>
            <a:ext cx="8166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252525"/>
                </a:solidFill>
                <a:latin typeface="Calibri"/>
                <a:cs typeface="Calibri"/>
              </a:rPr>
              <a:t>Closing</a:t>
            </a:r>
            <a:r>
              <a:rPr dirty="0" sz="1100" spc="-4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100" spc="-20" b="1">
                <a:solidFill>
                  <a:srgbClr val="252525"/>
                </a:solidFill>
                <a:latin typeface="Calibri"/>
                <a:cs typeface="Calibri"/>
              </a:rPr>
              <a:t>Phase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Initiation</a:t>
            </a:r>
            <a:r>
              <a:rPr dirty="0" spc="-55"/>
              <a:t> </a:t>
            </a:r>
            <a:r>
              <a:rPr dirty="0" spc="-10"/>
              <a:t>Phase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60194" y="1816442"/>
            <a:ext cx="4631690" cy="207200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Define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need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Return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Investment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Analysis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Make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Buy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Decision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Budget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Development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1083" y="4610099"/>
            <a:ext cx="1143000" cy="21589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Definition</a:t>
            </a:r>
            <a:r>
              <a:rPr dirty="0" spc="-55"/>
              <a:t> </a:t>
            </a:r>
            <a:r>
              <a:rPr dirty="0" spc="-10"/>
              <a:t>Phase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7918"/>
            <a:ext cx="9777095" cy="207073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 spc="-10">
                <a:latin typeface="Calibri"/>
                <a:cs typeface="Calibri"/>
              </a:rPr>
              <a:t>Determine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goals,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scope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constraints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Identify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members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their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roles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Define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communication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channels,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methods,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frequency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content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Risk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planning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40011" y="4858510"/>
            <a:ext cx="1356359" cy="18989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Planning </a:t>
            </a:r>
            <a:r>
              <a:rPr dirty="0" spc="-10"/>
              <a:t>Phase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7918"/>
            <a:ext cx="4689475" cy="207073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 spc="-10">
                <a:latin typeface="Calibri"/>
                <a:cs typeface="Calibri"/>
              </a:rPr>
              <a:t>Resource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Planning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 spc="-10">
                <a:latin typeface="Calibri"/>
                <a:cs typeface="Calibri"/>
              </a:rPr>
              <a:t>Work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Breakdown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Structure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Schedule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Development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Quality</a:t>
            </a:r>
            <a:r>
              <a:rPr dirty="0" sz="2800" spc="-1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Assurance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Plan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81871" y="4858556"/>
            <a:ext cx="1551419" cy="179166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0"/>
              <a:t>Work</a:t>
            </a:r>
            <a:r>
              <a:rPr dirty="0" spc="-175"/>
              <a:t> </a:t>
            </a:r>
            <a:r>
              <a:rPr dirty="0" spc="-55"/>
              <a:t>Breakdown</a:t>
            </a:r>
            <a:r>
              <a:rPr dirty="0" spc="-185"/>
              <a:t> </a:t>
            </a:r>
            <a:r>
              <a:rPr dirty="0" spc="-25"/>
              <a:t>Structure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60194" y="1902663"/>
            <a:ext cx="4725035" cy="416369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defining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organizing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total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scope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project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First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two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levels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-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define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planned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outcomes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that </a:t>
            </a:r>
            <a:r>
              <a:rPr dirty="0" sz="2800" spc="-10">
                <a:latin typeface="Calibri"/>
                <a:cs typeface="Calibri"/>
              </a:rPr>
              <a:t>collectively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exclusively represent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100%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project scope.</a:t>
            </a:r>
            <a:endParaRPr sz="2800">
              <a:latin typeface="Calibri"/>
              <a:cs typeface="Calibri"/>
            </a:endParaRPr>
          </a:p>
          <a:p>
            <a:pPr marL="241300" marR="132080" indent="-228600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  <a:tab pos="3190240" algn="l"/>
              </a:tabLst>
            </a:pPr>
            <a:r>
              <a:rPr dirty="0" sz="2800" spc="-10">
                <a:latin typeface="Calibri"/>
                <a:cs typeface="Calibri"/>
              </a:rPr>
              <a:t>Subsequent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levels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-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represent </a:t>
            </a:r>
            <a:r>
              <a:rPr dirty="0" sz="2800">
                <a:latin typeface="Calibri"/>
                <a:cs typeface="Calibri"/>
              </a:rPr>
              <a:t>100%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scope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their </a:t>
            </a:r>
            <a:r>
              <a:rPr dirty="0" sz="2800">
                <a:latin typeface="Calibri"/>
                <a:cs typeface="Calibri"/>
              </a:rPr>
              <a:t>parent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node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4793" y="2163013"/>
            <a:ext cx="3408218" cy="425660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Implementation</a:t>
            </a:r>
            <a:r>
              <a:rPr dirty="0" spc="-200"/>
              <a:t> </a:t>
            </a:r>
            <a:r>
              <a:rPr dirty="0" spc="-10"/>
              <a:t>Phase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7918"/>
            <a:ext cx="7439025" cy="207073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 spc="-10">
                <a:latin typeface="Calibri"/>
                <a:cs typeface="Calibri"/>
              </a:rPr>
              <a:t>Execute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plan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accomplish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goals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 spc="-30">
                <a:latin typeface="Calibri"/>
                <a:cs typeface="Calibri"/>
              </a:rPr>
              <a:t>Training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Plan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 spc="-20">
                <a:latin typeface="Calibri"/>
                <a:cs typeface="Calibri"/>
              </a:rPr>
              <a:t>System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Build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Quality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Assurance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98179" y="4632578"/>
            <a:ext cx="1703704" cy="207383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Deployment</a:t>
            </a:r>
            <a:r>
              <a:rPr dirty="0" spc="-90"/>
              <a:t> </a:t>
            </a:r>
            <a:r>
              <a:rPr dirty="0" spc="-10"/>
              <a:t>Phase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7918"/>
            <a:ext cx="2957195" cy="156019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User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Training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 spc="-10">
                <a:latin typeface="Calibri"/>
                <a:cs typeface="Calibri"/>
              </a:rPr>
              <a:t>Production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Review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Start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Using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0719" y="5038376"/>
            <a:ext cx="1577305" cy="181961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Closing</a:t>
            </a:r>
            <a:r>
              <a:rPr dirty="0" spc="-25"/>
              <a:t> </a:t>
            </a:r>
            <a:r>
              <a:rPr dirty="0" spc="-10"/>
              <a:t>Phase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7918"/>
            <a:ext cx="4043045" cy="156019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 spc="-10">
                <a:latin typeface="Calibri"/>
                <a:cs typeface="Calibri"/>
              </a:rPr>
              <a:t>Contractual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Closeout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Post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Production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Transition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Lessons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Learned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9242707" y="4947496"/>
            <a:ext cx="1389380" cy="1910714"/>
            <a:chOff x="9242707" y="4947496"/>
            <a:chExt cx="1389380" cy="1910714"/>
          </a:xfrm>
        </p:grpSpPr>
        <p:sp>
          <p:nvSpPr>
            <p:cNvPr id="5" name="object 5" descr=""/>
            <p:cNvSpPr/>
            <p:nvPr/>
          </p:nvSpPr>
          <p:spPr>
            <a:xfrm>
              <a:off x="9242707" y="5204237"/>
              <a:ext cx="1389380" cy="1654175"/>
            </a:xfrm>
            <a:custGeom>
              <a:avLst/>
              <a:gdLst/>
              <a:ahLst/>
              <a:cxnLst/>
              <a:rect l="l" t="t" r="r" b="b"/>
              <a:pathLst>
                <a:path w="1389379" h="1654175">
                  <a:moveTo>
                    <a:pt x="675439" y="1639663"/>
                  </a:moveTo>
                  <a:lnTo>
                    <a:pt x="437625" y="1639663"/>
                  </a:lnTo>
                  <a:lnTo>
                    <a:pt x="437625" y="1642205"/>
                  </a:lnTo>
                  <a:lnTo>
                    <a:pt x="440177" y="1647289"/>
                  </a:lnTo>
                  <a:lnTo>
                    <a:pt x="445211" y="1649831"/>
                  </a:lnTo>
                  <a:lnTo>
                    <a:pt x="443266" y="1653760"/>
                  </a:lnTo>
                  <a:lnTo>
                    <a:pt x="575740" y="1653760"/>
                  </a:lnTo>
                  <a:lnTo>
                    <a:pt x="589409" y="1649831"/>
                  </a:lnTo>
                  <a:lnTo>
                    <a:pt x="609650" y="1644747"/>
                  </a:lnTo>
                  <a:lnTo>
                    <a:pt x="619787" y="1644747"/>
                  </a:lnTo>
                  <a:lnTo>
                    <a:pt x="629890" y="1642205"/>
                  </a:lnTo>
                  <a:lnTo>
                    <a:pt x="662785" y="1642205"/>
                  </a:lnTo>
                  <a:lnTo>
                    <a:pt x="675439" y="1639663"/>
                  </a:lnTo>
                  <a:close/>
                </a:path>
                <a:path w="1389379" h="1654175">
                  <a:moveTo>
                    <a:pt x="836068" y="1609158"/>
                  </a:moveTo>
                  <a:lnTo>
                    <a:pt x="295975" y="1609158"/>
                  </a:lnTo>
                  <a:lnTo>
                    <a:pt x="313681" y="1611699"/>
                  </a:lnTo>
                  <a:lnTo>
                    <a:pt x="331390" y="1624410"/>
                  </a:lnTo>
                  <a:lnTo>
                    <a:pt x="349114" y="1639663"/>
                  </a:lnTo>
                  <a:lnTo>
                    <a:pt x="366802" y="1649831"/>
                  </a:lnTo>
                  <a:lnTo>
                    <a:pt x="384525" y="1649831"/>
                  </a:lnTo>
                  <a:lnTo>
                    <a:pt x="397180" y="1647289"/>
                  </a:lnTo>
                  <a:lnTo>
                    <a:pt x="409799" y="1642205"/>
                  </a:lnTo>
                  <a:lnTo>
                    <a:pt x="422454" y="1639663"/>
                  </a:lnTo>
                  <a:lnTo>
                    <a:pt x="677956" y="1639663"/>
                  </a:lnTo>
                  <a:lnTo>
                    <a:pt x="685542" y="1632037"/>
                  </a:lnTo>
                  <a:lnTo>
                    <a:pt x="685542" y="1624410"/>
                  </a:lnTo>
                  <a:lnTo>
                    <a:pt x="703265" y="1621868"/>
                  </a:lnTo>
                  <a:lnTo>
                    <a:pt x="779157" y="1621868"/>
                  </a:lnTo>
                  <a:lnTo>
                    <a:pt x="814569" y="1616784"/>
                  </a:lnTo>
                  <a:lnTo>
                    <a:pt x="829740" y="1611699"/>
                  </a:lnTo>
                  <a:lnTo>
                    <a:pt x="836068" y="1609158"/>
                  </a:lnTo>
                  <a:close/>
                </a:path>
                <a:path w="1389379" h="1654175">
                  <a:moveTo>
                    <a:pt x="1155224" y="1593906"/>
                  </a:moveTo>
                  <a:lnTo>
                    <a:pt x="923356" y="1593906"/>
                  </a:lnTo>
                  <a:lnTo>
                    <a:pt x="938527" y="1596447"/>
                  </a:lnTo>
                  <a:lnTo>
                    <a:pt x="953699" y="1601532"/>
                  </a:lnTo>
                  <a:lnTo>
                    <a:pt x="971422" y="1609158"/>
                  </a:lnTo>
                  <a:lnTo>
                    <a:pt x="991627" y="1614243"/>
                  </a:lnTo>
                  <a:lnTo>
                    <a:pt x="1009350" y="1616784"/>
                  </a:lnTo>
                  <a:lnTo>
                    <a:pt x="1029591" y="1616784"/>
                  </a:lnTo>
                  <a:lnTo>
                    <a:pt x="1047279" y="1614243"/>
                  </a:lnTo>
                  <a:lnTo>
                    <a:pt x="1065002" y="1614243"/>
                  </a:lnTo>
                  <a:lnTo>
                    <a:pt x="1085243" y="1609158"/>
                  </a:lnTo>
                  <a:lnTo>
                    <a:pt x="1102966" y="1606617"/>
                  </a:lnTo>
                  <a:lnTo>
                    <a:pt x="1148480" y="1596447"/>
                  </a:lnTo>
                  <a:lnTo>
                    <a:pt x="1155224" y="1593906"/>
                  </a:lnTo>
                  <a:close/>
                </a:path>
                <a:path w="1389379" h="1654175">
                  <a:moveTo>
                    <a:pt x="1161977" y="1591362"/>
                  </a:moveTo>
                  <a:lnTo>
                    <a:pt x="194788" y="1591362"/>
                  </a:lnTo>
                  <a:lnTo>
                    <a:pt x="222614" y="1596447"/>
                  </a:lnTo>
                  <a:lnTo>
                    <a:pt x="227672" y="1601532"/>
                  </a:lnTo>
                  <a:lnTo>
                    <a:pt x="235261" y="1606617"/>
                  </a:lnTo>
                  <a:lnTo>
                    <a:pt x="240320" y="1611699"/>
                  </a:lnTo>
                  <a:lnTo>
                    <a:pt x="258029" y="1614243"/>
                  </a:lnTo>
                  <a:lnTo>
                    <a:pt x="278266" y="1611699"/>
                  </a:lnTo>
                  <a:lnTo>
                    <a:pt x="295975" y="1609158"/>
                  </a:lnTo>
                  <a:lnTo>
                    <a:pt x="836068" y="1609158"/>
                  </a:lnTo>
                  <a:lnTo>
                    <a:pt x="842395" y="1606617"/>
                  </a:lnTo>
                  <a:lnTo>
                    <a:pt x="857566" y="1601532"/>
                  </a:lnTo>
                  <a:lnTo>
                    <a:pt x="872738" y="1598988"/>
                  </a:lnTo>
                  <a:lnTo>
                    <a:pt x="887909" y="1593906"/>
                  </a:lnTo>
                  <a:lnTo>
                    <a:pt x="1155224" y="1593906"/>
                  </a:lnTo>
                  <a:lnTo>
                    <a:pt x="1161977" y="1591362"/>
                  </a:lnTo>
                  <a:close/>
                </a:path>
                <a:path w="1389379" h="1654175">
                  <a:moveTo>
                    <a:pt x="20237" y="63555"/>
                  </a:moveTo>
                  <a:lnTo>
                    <a:pt x="12648" y="63555"/>
                  </a:lnTo>
                  <a:lnTo>
                    <a:pt x="12648" y="91517"/>
                  </a:lnTo>
                  <a:lnTo>
                    <a:pt x="10118" y="122035"/>
                  </a:lnTo>
                  <a:lnTo>
                    <a:pt x="10118" y="152553"/>
                  </a:lnTo>
                  <a:lnTo>
                    <a:pt x="12648" y="180516"/>
                  </a:lnTo>
                  <a:lnTo>
                    <a:pt x="17708" y="195739"/>
                  </a:lnTo>
                  <a:lnTo>
                    <a:pt x="25296" y="210998"/>
                  </a:lnTo>
                  <a:lnTo>
                    <a:pt x="30356" y="226257"/>
                  </a:lnTo>
                  <a:lnTo>
                    <a:pt x="30356" y="241516"/>
                  </a:lnTo>
                  <a:lnTo>
                    <a:pt x="20237" y="254220"/>
                  </a:lnTo>
                  <a:lnTo>
                    <a:pt x="7588" y="266924"/>
                  </a:lnTo>
                  <a:lnTo>
                    <a:pt x="0" y="279628"/>
                  </a:lnTo>
                  <a:lnTo>
                    <a:pt x="2529" y="294887"/>
                  </a:lnTo>
                  <a:lnTo>
                    <a:pt x="7588" y="302516"/>
                  </a:lnTo>
                  <a:lnTo>
                    <a:pt x="15178" y="310146"/>
                  </a:lnTo>
                  <a:lnTo>
                    <a:pt x="20237" y="320330"/>
                  </a:lnTo>
                  <a:lnTo>
                    <a:pt x="22767" y="327924"/>
                  </a:lnTo>
                  <a:lnTo>
                    <a:pt x="40476" y="432181"/>
                  </a:lnTo>
                  <a:lnTo>
                    <a:pt x="48065" y="533848"/>
                  </a:lnTo>
                  <a:lnTo>
                    <a:pt x="50593" y="638070"/>
                  </a:lnTo>
                  <a:lnTo>
                    <a:pt x="50593" y="739772"/>
                  </a:lnTo>
                  <a:lnTo>
                    <a:pt x="68302" y="765180"/>
                  </a:lnTo>
                  <a:lnTo>
                    <a:pt x="73360" y="793143"/>
                  </a:lnTo>
                  <a:lnTo>
                    <a:pt x="70830" y="821106"/>
                  </a:lnTo>
                  <a:lnTo>
                    <a:pt x="73360" y="851624"/>
                  </a:lnTo>
                  <a:lnTo>
                    <a:pt x="60713" y="851624"/>
                  </a:lnTo>
                  <a:lnTo>
                    <a:pt x="63240" y="899920"/>
                  </a:lnTo>
                  <a:lnTo>
                    <a:pt x="70830" y="948216"/>
                  </a:lnTo>
                  <a:lnTo>
                    <a:pt x="75891" y="996513"/>
                  </a:lnTo>
                  <a:lnTo>
                    <a:pt x="78419" y="1044809"/>
                  </a:lnTo>
                  <a:lnTo>
                    <a:pt x="88539" y="1044809"/>
                  </a:lnTo>
                  <a:lnTo>
                    <a:pt x="75891" y="1070217"/>
                  </a:lnTo>
                  <a:lnTo>
                    <a:pt x="45535" y="1121068"/>
                  </a:lnTo>
                  <a:lnTo>
                    <a:pt x="35414" y="1146511"/>
                  </a:lnTo>
                  <a:lnTo>
                    <a:pt x="27826" y="1207511"/>
                  </a:lnTo>
                  <a:lnTo>
                    <a:pt x="30356" y="1265992"/>
                  </a:lnTo>
                  <a:lnTo>
                    <a:pt x="30356" y="1324444"/>
                  </a:lnTo>
                  <a:lnTo>
                    <a:pt x="22767" y="1385452"/>
                  </a:lnTo>
                  <a:lnTo>
                    <a:pt x="15178" y="1438836"/>
                  </a:lnTo>
                  <a:lnTo>
                    <a:pt x="10118" y="1489681"/>
                  </a:lnTo>
                  <a:lnTo>
                    <a:pt x="7588" y="1543062"/>
                  </a:lnTo>
                  <a:lnTo>
                    <a:pt x="7588" y="1596447"/>
                  </a:lnTo>
                  <a:lnTo>
                    <a:pt x="32887" y="1598988"/>
                  </a:lnTo>
                  <a:lnTo>
                    <a:pt x="60713" y="1598988"/>
                  </a:lnTo>
                  <a:lnTo>
                    <a:pt x="139132" y="1591362"/>
                  </a:lnTo>
                  <a:lnTo>
                    <a:pt x="1161977" y="1591362"/>
                  </a:lnTo>
                  <a:lnTo>
                    <a:pt x="1168720" y="1588821"/>
                  </a:lnTo>
                  <a:lnTo>
                    <a:pt x="1191478" y="1581195"/>
                  </a:lnTo>
                  <a:lnTo>
                    <a:pt x="1211718" y="1576110"/>
                  </a:lnTo>
                  <a:lnTo>
                    <a:pt x="1234510" y="1568484"/>
                  </a:lnTo>
                  <a:lnTo>
                    <a:pt x="1280024" y="1558317"/>
                  </a:lnTo>
                  <a:lnTo>
                    <a:pt x="1371088" y="1558317"/>
                  </a:lnTo>
                  <a:lnTo>
                    <a:pt x="1378674" y="1553232"/>
                  </a:lnTo>
                  <a:lnTo>
                    <a:pt x="1388811" y="1527810"/>
                  </a:lnTo>
                  <a:lnTo>
                    <a:pt x="1388811" y="1499847"/>
                  </a:lnTo>
                  <a:lnTo>
                    <a:pt x="1378674" y="1433751"/>
                  </a:lnTo>
                  <a:lnTo>
                    <a:pt x="1376157" y="1428670"/>
                  </a:lnTo>
                  <a:lnTo>
                    <a:pt x="1371088" y="1426125"/>
                  </a:lnTo>
                  <a:lnTo>
                    <a:pt x="1363502" y="1421044"/>
                  </a:lnTo>
                  <a:lnTo>
                    <a:pt x="1360985" y="1418500"/>
                  </a:lnTo>
                  <a:lnTo>
                    <a:pt x="1355916" y="1382911"/>
                  </a:lnTo>
                  <a:lnTo>
                    <a:pt x="1345814" y="1347322"/>
                  </a:lnTo>
                  <a:lnTo>
                    <a:pt x="1328090" y="1314274"/>
                  </a:lnTo>
                  <a:lnTo>
                    <a:pt x="1307850" y="1288845"/>
                  </a:lnTo>
                  <a:lnTo>
                    <a:pt x="1305333" y="1176994"/>
                  </a:lnTo>
                  <a:lnTo>
                    <a:pt x="1300264" y="1067697"/>
                  </a:lnTo>
                  <a:lnTo>
                    <a:pt x="1297748" y="955846"/>
                  </a:lnTo>
                  <a:lnTo>
                    <a:pt x="1297748" y="846514"/>
                  </a:lnTo>
                  <a:lnTo>
                    <a:pt x="1307850" y="836365"/>
                  </a:lnTo>
                  <a:lnTo>
                    <a:pt x="1307850" y="790588"/>
                  </a:lnTo>
                  <a:lnTo>
                    <a:pt x="1305333" y="747402"/>
                  </a:lnTo>
                  <a:lnTo>
                    <a:pt x="1300264" y="701625"/>
                  </a:lnTo>
                  <a:lnTo>
                    <a:pt x="1292679" y="658404"/>
                  </a:lnTo>
                  <a:lnTo>
                    <a:pt x="1287610" y="627921"/>
                  </a:lnTo>
                  <a:lnTo>
                    <a:pt x="1290162" y="597403"/>
                  </a:lnTo>
                  <a:lnTo>
                    <a:pt x="1295196" y="569441"/>
                  </a:lnTo>
                  <a:lnTo>
                    <a:pt x="1292679" y="538923"/>
                  </a:lnTo>
                  <a:lnTo>
                    <a:pt x="1274955" y="470293"/>
                  </a:lnTo>
                  <a:lnTo>
                    <a:pt x="1267370" y="399109"/>
                  </a:lnTo>
                  <a:lnTo>
                    <a:pt x="1264853" y="330479"/>
                  </a:lnTo>
                  <a:lnTo>
                    <a:pt x="1269922" y="261849"/>
                  </a:lnTo>
                  <a:lnTo>
                    <a:pt x="1277507" y="254220"/>
                  </a:lnTo>
                  <a:lnTo>
                    <a:pt x="1285093" y="249145"/>
                  </a:lnTo>
                  <a:lnTo>
                    <a:pt x="1295196" y="241516"/>
                  </a:lnTo>
                  <a:lnTo>
                    <a:pt x="1297748" y="231332"/>
                  </a:lnTo>
                  <a:lnTo>
                    <a:pt x="1297748" y="208478"/>
                  </a:lnTo>
                  <a:lnTo>
                    <a:pt x="1285093" y="167777"/>
                  </a:lnTo>
                  <a:lnTo>
                    <a:pt x="1262336" y="129664"/>
                  </a:lnTo>
                  <a:lnTo>
                    <a:pt x="1231958" y="96592"/>
                  </a:lnTo>
                  <a:lnTo>
                    <a:pt x="1216787" y="83888"/>
                  </a:lnTo>
                  <a:lnTo>
                    <a:pt x="1215275" y="76259"/>
                  </a:lnTo>
                  <a:lnTo>
                    <a:pt x="48065" y="76259"/>
                  </a:lnTo>
                  <a:lnTo>
                    <a:pt x="37945" y="73739"/>
                  </a:lnTo>
                  <a:lnTo>
                    <a:pt x="30356" y="68629"/>
                  </a:lnTo>
                  <a:lnTo>
                    <a:pt x="20237" y="63555"/>
                  </a:lnTo>
                  <a:close/>
                </a:path>
                <a:path w="1389379" h="1654175">
                  <a:moveTo>
                    <a:pt x="1371088" y="1558317"/>
                  </a:moveTo>
                  <a:lnTo>
                    <a:pt x="1335676" y="1558317"/>
                  </a:lnTo>
                  <a:lnTo>
                    <a:pt x="1348331" y="1560858"/>
                  </a:lnTo>
                  <a:lnTo>
                    <a:pt x="1360985" y="1560858"/>
                  </a:lnTo>
                  <a:lnTo>
                    <a:pt x="1371088" y="1558317"/>
                  </a:lnTo>
                  <a:close/>
                </a:path>
                <a:path w="1389379" h="1654175">
                  <a:moveTo>
                    <a:pt x="141663" y="48296"/>
                  </a:moveTo>
                  <a:lnTo>
                    <a:pt x="136605" y="48296"/>
                  </a:lnTo>
                  <a:lnTo>
                    <a:pt x="131543" y="53405"/>
                  </a:lnTo>
                  <a:lnTo>
                    <a:pt x="126485" y="55925"/>
                  </a:lnTo>
                  <a:lnTo>
                    <a:pt x="96128" y="61035"/>
                  </a:lnTo>
                  <a:lnTo>
                    <a:pt x="80950" y="66109"/>
                  </a:lnTo>
                  <a:lnTo>
                    <a:pt x="65771" y="73739"/>
                  </a:lnTo>
                  <a:lnTo>
                    <a:pt x="58182" y="76259"/>
                  </a:lnTo>
                  <a:lnTo>
                    <a:pt x="1215275" y="76259"/>
                  </a:lnTo>
                  <a:lnTo>
                    <a:pt x="1214270" y="71184"/>
                  </a:lnTo>
                  <a:lnTo>
                    <a:pt x="1222341" y="61035"/>
                  </a:lnTo>
                  <a:lnTo>
                    <a:pt x="265618" y="61035"/>
                  </a:lnTo>
                  <a:lnTo>
                    <a:pt x="184668" y="55925"/>
                  </a:lnTo>
                  <a:lnTo>
                    <a:pt x="146722" y="50851"/>
                  </a:lnTo>
                  <a:lnTo>
                    <a:pt x="141663" y="48296"/>
                  </a:lnTo>
                  <a:close/>
                </a:path>
                <a:path w="1389379" h="1654175">
                  <a:moveTo>
                    <a:pt x="571721" y="22888"/>
                  </a:moveTo>
                  <a:lnTo>
                    <a:pt x="559067" y="22888"/>
                  </a:lnTo>
                  <a:lnTo>
                    <a:pt x="548929" y="25443"/>
                  </a:lnTo>
                  <a:lnTo>
                    <a:pt x="536309" y="30517"/>
                  </a:lnTo>
                  <a:lnTo>
                    <a:pt x="508483" y="30517"/>
                  </a:lnTo>
                  <a:lnTo>
                    <a:pt x="488243" y="40666"/>
                  </a:lnTo>
                  <a:lnTo>
                    <a:pt x="475589" y="45776"/>
                  </a:lnTo>
                  <a:lnTo>
                    <a:pt x="465451" y="50851"/>
                  </a:lnTo>
                  <a:lnTo>
                    <a:pt x="344038" y="58480"/>
                  </a:lnTo>
                  <a:lnTo>
                    <a:pt x="303564" y="58480"/>
                  </a:lnTo>
                  <a:lnTo>
                    <a:pt x="265618" y="61035"/>
                  </a:lnTo>
                  <a:lnTo>
                    <a:pt x="1222341" y="61035"/>
                  </a:lnTo>
                  <a:lnTo>
                    <a:pt x="1224372" y="58480"/>
                  </a:lnTo>
                  <a:lnTo>
                    <a:pt x="1239544" y="43221"/>
                  </a:lnTo>
                  <a:lnTo>
                    <a:pt x="1245331" y="33072"/>
                  </a:lnTo>
                  <a:lnTo>
                    <a:pt x="617235" y="33072"/>
                  </a:lnTo>
                  <a:lnTo>
                    <a:pt x="599547" y="30517"/>
                  </a:lnTo>
                  <a:lnTo>
                    <a:pt x="584376" y="25443"/>
                  </a:lnTo>
                  <a:lnTo>
                    <a:pt x="571721" y="22888"/>
                  </a:lnTo>
                  <a:close/>
                </a:path>
                <a:path w="1389379" h="1654175">
                  <a:moveTo>
                    <a:pt x="796846" y="17813"/>
                  </a:moveTo>
                  <a:lnTo>
                    <a:pt x="748779" y="17813"/>
                  </a:lnTo>
                  <a:lnTo>
                    <a:pt x="723505" y="20333"/>
                  </a:lnTo>
                  <a:lnTo>
                    <a:pt x="705782" y="22888"/>
                  </a:lnTo>
                  <a:lnTo>
                    <a:pt x="688094" y="27962"/>
                  </a:lnTo>
                  <a:lnTo>
                    <a:pt x="652647" y="33072"/>
                  </a:lnTo>
                  <a:lnTo>
                    <a:pt x="1245331" y="33072"/>
                  </a:lnTo>
                  <a:lnTo>
                    <a:pt x="1249681" y="25443"/>
                  </a:lnTo>
                  <a:lnTo>
                    <a:pt x="1168720" y="20333"/>
                  </a:lnTo>
                  <a:lnTo>
                    <a:pt x="822155" y="20333"/>
                  </a:lnTo>
                  <a:lnTo>
                    <a:pt x="796846" y="17813"/>
                  </a:lnTo>
                  <a:close/>
                </a:path>
                <a:path w="1389379" h="1654175">
                  <a:moveTo>
                    <a:pt x="971422" y="0"/>
                  </a:moveTo>
                  <a:lnTo>
                    <a:pt x="930941" y="2554"/>
                  </a:lnTo>
                  <a:lnTo>
                    <a:pt x="930941" y="10184"/>
                  </a:lnTo>
                  <a:lnTo>
                    <a:pt x="928390" y="15258"/>
                  </a:lnTo>
                  <a:lnTo>
                    <a:pt x="923356" y="17813"/>
                  </a:lnTo>
                  <a:lnTo>
                    <a:pt x="920804" y="20333"/>
                  </a:lnTo>
                  <a:lnTo>
                    <a:pt x="1168720" y="20333"/>
                  </a:lnTo>
                  <a:lnTo>
                    <a:pt x="1049831" y="5109"/>
                  </a:lnTo>
                  <a:lnTo>
                    <a:pt x="971422" y="0"/>
                  </a:lnTo>
                  <a:close/>
                </a:path>
              </a:pathLst>
            </a:custGeom>
            <a:solidFill>
              <a:srgbClr val="D79B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437495" y="4947496"/>
              <a:ext cx="1057910" cy="1784985"/>
            </a:xfrm>
            <a:custGeom>
              <a:avLst/>
              <a:gdLst/>
              <a:ahLst/>
              <a:cxnLst/>
              <a:rect l="l" t="t" r="r" b="b"/>
              <a:pathLst>
                <a:path w="1057909" h="1784984">
                  <a:moveTo>
                    <a:pt x="465479" y="0"/>
                  </a:moveTo>
                  <a:lnTo>
                    <a:pt x="442687" y="0"/>
                  </a:lnTo>
                  <a:lnTo>
                    <a:pt x="437653" y="10184"/>
                  </a:lnTo>
                  <a:lnTo>
                    <a:pt x="427516" y="17778"/>
                  </a:lnTo>
                  <a:lnTo>
                    <a:pt x="389587" y="40666"/>
                  </a:lnTo>
                  <a:lnTo>
                    <a:pt x="354141" y="73704"/>
                  </a:lnTo>
                  <a:lnTo>
                    <a:pt x="344038" y="109296"/>
                  </a:lnTo>
                  <a:lnTo>
                    <a:pt x="338969" y="127110"/>
                  </a:lnTo>
                  <a:lnTo>
                    <a:pt x="331383" y="139814"/>
                  </a:lnTo>
                  <a:lnTo>
                    <a:pt x="283317" y="200814"/>
                  </a:lnTo>
                  <a:lnTo>
                    <a:pt x="237803" y="259294"/>
                  </a:lnTo>
                  <a:lnTo>
                    <a:pt x="199839" y="320295"/>
                  </a:lnTo>
                  <a:lnTo>
                    <a:pt x="166945" y="383850"/>
                  </a:lnTo>
                  <a:lnTo>
                    <a:pt x="136602" y="449960"/>
                  </a:lnTo>
                  <a:lnTo>
                    <a:pt x="108776" y="516035"/>
                  </a:lnTo>
                  <a:lnTo>
                    <a:pt x="86008" y="587219"/>
                  </a:lnTo>
                  <a:lnTo>
                    <a:pt x="63241" y="660958"/>
                  </a:lnTo>
                  <a:lnTo>
                    <a:pt x="48062" y="762626"/>
                  </a:lnTo>
                  <a:lnTo>
                    <a:pt x="32884" y="810922"/>
                  </a:lnTo>
                  <a:lnTo>
                    <a:pt x="0" y="849069"/>
                  </a:lnTo>
                  <a:lnTo>
                    <a:pt x="0" y="884661"/>
                  </a:lnTo>
                  <a:lnTo>
                    <a:pt x="10116" y="955811"/>
                  </a:lnTo>
                  <a:lnTo>
                    <a:pt x="12647" y="991403"/>
                  </a:lnTo>
                  <a:lnTo>
                    <a:pt x="10116" y="1026995"/>
                  </a:lnTo>
                  <a:lnTo>
                    <a:pt x="0" y="1103254"/>
                  </a:lnTo>
                  <a:lnTo>
                    <a:pt x="0" y="1138847"/>
                  </a:lnTo>
                  <a:lnTo>
                    <a:pt x="10116" y="1189698"/>
                  </a:lnTo>
                  <a:lnTo>
                    <a:pt x="35415" y="1293920"/>
                  </a:lnTo>
                  <a:lnTo>
                    <a:pt x="58182" y="1395622"/>
                  </a:lnTo>
                  <a:lnTo>
                    <a:pt x="70830" y="1441363"/>
                  </a:lnTo>
                  <a:lnTo>
                    <a:pt x="83477" y="1466771"/>
                  </a:lnTo>
                  <a:lnTo>
                    <a:pt x="98656" y="1489660"/>
                  </a:lnTo>
                  <a:lnTo>
                    <a:pt x="116365" y="1512548"/>
                  </a:lnTo>
                  <a:lnTo>
                    <a:pt x="131544" y="1535436"/>
                  </a:lnTo>
                  <a:lnTo>
                    <a:pt x="149249" y="1558289"/>
                  </a:lnTo>
                  <a:lnTo>
                    <a:pt x="164428" y="1581184"/>
                  </a:lnTo>
                  <a:lnTo>
                    <a:pt x="177082" y="1606603"/>
                  </a:lnTo>
                  <a:lnTo>
                    <a:pt x="184668" y="1632025"/>
                  </a:lnTo>
                  <a:lnTo>
                    <a:pt x="230217" y="1647277"/>
                  </a:lnTo>
                  <a:lnTo>
                    <a:pt x="250423" y="1659988"/>
                  </a:lnTo>
                  <a:lnTo>
                    <a:pt x="268146" y="1675240"/>
                  </a:lnTo>
                  <a:lnTo>
                    <a:pt x="285869" y="1687951"/>
                  </a:lnTo>
                  <a:lnTo>
                    <a:pt x="306109" y="1703203"/>
                  </a:lnTo>
                  <a:lnTo>
                    <a:pt x="346555" y="1728625"/>
                  </a:lnTo>
                  <a:lnTo>
                    <a:pt x="364278" y="1736250"/>
                  </a:lnTo>
                  <a:lnTo>
                    <a:pt x="424999" y="1751502"/>
                  </a:lnTo>
                  <a:lnTo>
                    <a:pt x="442687" y="1759128"/>
                  </a:lnTo>
                  <a:lnTo>
                    <a:pt x="462927" y="1764213"/>
                  </a:lnTo>
                  <a:lnTo>
                    <a:pt x="483168" y="1774384"/>
                  </a:lnTo>
                  <a:lnTo>
                    <a:pt x="500891" y="1784550"/>
                  </a:lnTo>
                  <a:lnTo>
                    <a:pt x="523648" y="1779465"/>
                  </a:lnTo>
                  <a:lnTo>
                    <a:pt x="553991" y="1774384"/>
                  </a:lnTo>
                  <a:lnTo>
                    <a:pt x="589403" y="1769298"/>
                  </a:lnTo>
                  <a:lnTo>
                    <a:pt x="627366" y="1766758"/>
                  </a:lnTo>
                  <a:lnTo>
                    <a:pt x="665295" y="1761673"/>
                  </a:lnTo>
                  <a:lnTo>
                    <a:pt x="720947" y="1746421"/>
                  </a:lnTo>
                  <a:lnTo>
                    <a:pt x="751325" y="1713373"/>
                  </a:lnTo>
                  <a:lnTo>
                    <a:pt x="763979" y="1693036"/>
                  </a:lnTo>
                  <a:lnTo>
                    <a:pt x="779150" y="1670155"/>
                  </a:lnTo>
                  <a:lnTo>
                    <a:pt x="804459" y="1624399"/>
                  </a:lnTo>
                  <a:lnTo>
                    <a:pt x="819631" y="1601518"/>
                  </a:lnTo>
                  <a:lnTo>
                    <a:pt x="825958" y="1591351"/>
                  </a:lnTo>
                  <a:lnTo>
                    <a:pt x="556543" y="1591351"/>
                  </a:lnTo>
                  <a:lnTo>
                    <a:pt x="521131" y="1588810"/>
                  </a:lnTo>
                  <a:lnTo>
                    <a:pt x="478099" y="1581184"/>
                  </a:lnTo>
                  <a:lnTo>
                    <a:pt x="465479" y="1578640"/>
                  </a:lnTo>
                  <a:lnTo>
                    <a:pt x="455342" y="1573555"/>
                  </a:lnTo>
                  <a:lnTo>
                    <a:pt x="442687" y="1568473"/>
                  </a:lnTo>
                  <a:lnTo>
                    <a:pt x="432585" y="1563388"/>
                  </a:lnTo>
                  <a:lnTo>
                    <a:pt x="407276" y="1553215"/>
                  </a:lnTo>
                  <a:lnTo>
                    <a:pt x="397173" y="1550695"/>
                  </a:lnTo>
                  <a:lnTo>
                    <a:pt x="384518" y="1548140"/>
                  </a:lnTo>
                  <a:lnTo>
                    <a:pt x="371864" y="1512548"/>
                  </a:lnTo>
                  <a:lnTo>
                    <a:pt x="263077" y="1243069"/>
                  </a:lnTo>
                  <a:lnTo>
                    <a:pt x="237803" y="1199882"/>
                  </a:lnTo>
                  <a:lnTo>
                    <a:pt x="222597" y="1133772"/>
                  </a:lnTo>
                  <a:lnTo>
                    <a:pt x="215011" y="1049883"/>
                  </a:lnTo>
                  <a:lnTo>
                    <a:pt x="217563" y="958366"/>
                  </a:lnTo>
                  <a:lnTo>
                    <a:pt x="222597" y="866848"/>
                  </a:lnTo>
                  <a:lnTo>
                    <a:pt x="232734" y="780439"/>
                  </a:lnTo>
                  <a:lnTo>
                    <a:pt x="250423" y="709255"/>
                  </a:lnTo>
                  <a:lnTo>
                    <a:pt x="268146" y="660958"/>
                  </a:lnTo>
                  <a:lnTo>
                    <a:pt x="298489" y="620257"/>
                  </a:lnTo>
                  <a:lnTo>
                    <a:pt x="316212" y="587219"/>
                  </a:lnTo>
                  <a:lnTo>
                    <a:pt x="328867" y="551627"/>
                  </a:lnTo>
                  <a:lnTo>
                    <a:pt x="349107" y="475368"/>
                  </a:lnTo>
                  <a:lnTo>
                    <a:pt x="356692" y="437256"/>
                  </a:lnTo>
                  <a:lnTo>
                    <a:pt x="369347" y="399109"/>
                  </a:lnTo>
                  <a:lnTo>
                    <a:pt x="384518" y="363516"/>
                  </a:lnTo>
                  <a:lnTo>
                    <a:pt x="404759" y="330479"/>
                  </a:lnTo>
                  <a:lnTo>
                    <a:pt x="430033" y="294887"/>
                  </a:lnTo>
                  <a:lnTo>
                    <a:pt x="513511" y="203369"/>
                  </a:lnTo>
                  <a:lnTo>
                    <a:pt x="538820" y="172851"/>
                  </a:lnTo>
                  <a:lnTo>
                    <a:pt x="561577" y="139814"/>
                  </a:lnTo>
                  <a:lnTo>
                    <a:pt x="579300" y="101667"/>
                  </a:lnTo>
                  <a:lnTo>
                    <a:pt x="589403" y="61000"/>
                  </a:lnTo>
                  <a:lnTo>
                    <a:pt x="574231" y="43221"/>
                  </a:lnTo>
                  <a:lnTo>
                    <a:pt x="541371" y="17778"/>
                  </a:lnTo>
                  <a:lnTo>
                    <a:pt x="488236" y="2554"/>
                  </a:lnTo>
                  <a:lnTo>
                    <a:pt x="465479" y="0"/>
                  </a:lnTo>
                  <a:close/>
                </a:path>
                <a:path w="1057909" h="1784984">
                  <a:moveTo>
                    <a:pt x="1046799" y="1108364"/>
                  </a:moveTo>
                  <a:lnTo>
                    <a:pt x="763979" y="1108364"/>
                  </a:lnTo>
                  <a:lnTo>
                    <a:pt x="824665" y="1115993"/>
                  </a:lnTo>
                  <a:lnTo>
                    <a:pt x="855043" y="1151586"/>
                  </a:lnTo>
                  <a:lnTo>
                    <a:pt x="852491" y="1174439"/>
                  </a:lnTo>
                  <a:lnTo>
                    <a:pt x="847457" y="1204957"/>
                  </a:lnTo>
                  <a:lnTo>
                    <a:pt x="844905" y="1235474"/>
                  </a:lnTo>
                  <a:lnTo>
                    <a:pt x="849974" y="1255808"/>
                  </a:lnTo>
                  <a:lnTo>
                    <a:pt x="822148" y="1283770"/>
                  </a:lnTo>
                  <a:lnTo>
                    <a:pt x="809493" y="1301549"/>
                  </a:lnTo>
                  <a:lnTo>
                    <a:pt x="799391" y="1316808"/>
                  </a:lnTo>
                  <a:lnTo>
                    <a:pt x="786736" y="1332067"/>
                  </a:lnTo>
                  <a:lnTo>
                    <a:pt x="779150" y="1349845"/>
                  </a:lnTo>
                  <a:lnTo>
                    <a:pt x="774082" y="1367659"/>
                  </a:lnTo>
                  <a:lnTo>
                    <a:pt x="769013" y="1387992"/>
                  </a:lnTo>
                  <a:lnTo>
                    <a:pt x="741187" y="1410846"/>
                  </a:lnTo>
                  <a:lnTo>
                    <a:pt x="723499" y="1433734"/>
                  </a:lnTo>
                  <a:lnTo>
                    <a:pt x="713361" y="1461697"/>
                  </a:lnTo>
                  <a:lnTo>
                    <a:pt x="705775" y="1497289"/>
                  </a:lnTo>
                  <a:lnTo>
                    <a:pt x="675432" y="1522732"/>
                  </a:lnTo>
                  <a:lnTo>
                    <a:pt x="629883" y="1563388"/>
                  </a:lnTo>
                  <a:lnTo>
                    <a:pt x="584369" y="1586266"/>
                  </a:lnTo>
                  <a:lnTo>
                    <a:pt x="556543" y="1591351"/>
                  </a:lnTo>
                  <a:lnTo>
                    <a:pt x="825958" y="1591351"/>
                  </a:lnTo>
                  <a:lnTo>
                    <a:pt x="832285" y="1581184"/>
                  </a:lnTo>
                  <a:lnTo>
                    <a:pt x="847457" y="1558289"/>
                  </a:lnTo>
                  <a:lnTo>
                    <a:pt x="860111" y="1545585"/>
                  </a:lnTo>
                  <a:lnTo>
                    <a:pt x="880352" y="1527807"/>
                  </a:lnTo>
                  <a:lnTo>
                    <a:pt x="903109" y="1507473"/>
                  </a:lnTo>
                  <a:lnTo>
                    <a:pt x="918280" y="1489660"/>
                  </a:lnTo>
                  <a:lnTo>
                    <a:pt x="923349" y="1464251"/>
                  </a:lnTo>
                  <a:lnTo>
                    <a:pt x="933452" y="1436289"/>
                  </a:lnTo>
                  <a:lnTo>
                    <a:pt x="943589" y="1405771"/>
                  </a:lnTo>
                  <a:lnTo>
                    <a:pt x="958761" y="1377808"/>
                  </a:lnTo>
                  <a:lnTo>
                    <a:pt x="973932" y="1347326"/>
                  </a:lnTo>
                  <a:lnTo>
                    <a:pt x="991655" y="1319363"/>
                  </a:lnTo>
                  <a:lnTo>
                    <a:pt x="1006827" y="1293920"/>
                  </a:lnTo>
                  <a:lnTo>
                    <a:pt x="1021998" y="1273586"/>
                  </a:lnTo>
                  <a:lnTo>
                    <a:pt x="1024515" y="1230365"/>
                  </a:lnTo>
                  <a:lnTo>
                    <a:pt x="1034653" y="1169364"/>
                  </a:lnTo>
                  <a:lnTo>
                    <a:pt x="1046799" y="1108364"/>
                  </a:lnTo>
                  <a:close/>
                </a:path>
                <a:path w="1057909" h="1784984">
                  <a:moveTo>
                    <a:pt x="900557" y="917699"/>
                  </a:moveTo>
                  <a:lnTo>
                    <a:pt x="870214" y="917699"/>
                  </a:lnTo>
                  <a:lnTo>
                    <a:pt x="860111" y="920253"/>
                  </a:lnTo>
                  <a:lnTo>
                    <a:pt x="847457" y="922773"/>
                  </a:lnTo>
                  <a:lnTo>
                    <a:pt x="837319" y="922773"/>
                  </a:lnTo>
                  <a:lnTo>
                    <a:pt x="819631" y="925328"/>
                  </a:lnTo>
                  <a:lnTo>
                    <a:pt x="781667" y="925328"/>
                  </a:lnTo>
                  <a:lnTo>
                    <a:pt x="763979" y="927848"/>
                  </a:lnTo>
                  <a:lnTo>
                    <a:pt x="743739" y="927848"/>
                  </a:lnTo>
                  <a:lnTo>
                    <a:pt x="726015" y="930403"/>
                  </a:lnTo>
                  <a:lnTo>
                    <a:pt x="688087" y="940587"/>
                  </a:lnTo>
                  <a:lnTo>
                    <a:pt x="642538" y="963440"/>
                  </a:lnTo>
                  <a:lnTo>
                    <a:pt x="566646" y="1019366"/>
                  </a:lnTo>
                  <a:lnTo>
                    <a:pt x="541371" y="1042254"/>
                  </a:lnTo>
                  <a:lnTo>
                    <a:pt x="513511" y="1065142"/>
                  </a:lnTo>
                  <a:lnTo>
                    <a:pt x="488236" y="1090550"/>
                  </a:lnTo>
                  <a:lnTo>
                    <a:pt x="460411" y="1113439"/>
                  </a:lnTo>
                  <a:lnTo>
                    <a:pt x="432585" y="1138847"/>
                  </a:lnTo>
                  <a:lnTo>
                    <a:pt x="376933" y="1182068"/>
                  </a:lnTo>
                  <a:lnTo>
                    <a:pt x="290903" y="1232919"/>
                  </a:lnTo>
                  <a:lnTo>
                    <a:pt x="263077" y="1243069"/>
                  </a:lnTo>
                  <a:lnTo>
                    <a:pt x="371864" y="1512548"/>
                  </a:lnTo>
                  <a:lnTo>
                    <a:pt x="394621" y="1423585"/>
                  </a:lnTo>
                  <a:lnTo>
                    <a:pt x="422447" y="1352400"/>
                  </a:lnTo>
                  <a:lnTo>
                    <a:pt x="460411" y="1296474"/>
                  </a:lnTo>
                  <a:lnTo>
                    <a:pt x="505925" y="1250698"/>
                  </a:lnTo>
                  <a:lnTo>
                    <a:pt x="559060" y="1215106"/>
                  </a:lnTo>
                  <a:lnTo>
                    <a:pt x="619781" y="1179548"/>
                  </a:lnTo>
                  <a:lnTo>
                    <a:pt x="688087" y="1146476"/>
                  </a:lnTo>
                  <a:lnTo>
                    <a:pt x="763979" y="1108364"/>
                  </a:lnTo>
                  <a:lnTo>
                    <a:pt x="1046799" y="1108364"/>
                  </a:lnTo>
                  <a:lnTo>
                    <a:pt x="1047307" y="1105809"/>
                  </a:lnTo>
                  <a:lnTo>
                    <a:pt x="1057410" y="1067662"/>
                  </a:lnTo>
                  <a:lnTo>
                    <a:pt x="1037170" y="1052438"/>
                  </a:lnTo>
                  <a:lnTo>
                    <a:pt x="1019481" y="1034625"/>
                  </a:lnTo>
                  <a:lnTo>
                    <a:pt x="989104" y="993958"/>
                  </a:lnTo>
                  <a:lnTo>
                    <a:pt x="973932" y="971070"/>
                  </a:lnTo>
                  <a:lnTo>
                    <a:pt x="958761" y="953291"/>
                  </a:lnTo>
                  <a:lnTo>
                    <a:pt x="941037" y="935477"/>
                  </a:lnTo>
                  <a:lnTo>
                    <a:pt x="920797" y="922773"/>
                  </a:lnTo>
                  <a:lnTo>
                    <a:pt x="900557" y="917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dirty="0" spc="-114"/>
              <a:t> </a:t>
            </a:r>
            <a:r>
              <a:rPr dirty="0"/>
              <a:t>Management</a:t>
            </a:r>
            <a:r>
              <a:rPr dirty="0" spc="-120"/>
              <a:t> </a:t>
            </a:r>
            <a:r>
              <a:rPr dirty="0" spc="-40"/>
              <a:t>Tools</a:t>
            </a:r>
            <a:r>
              <a:rPr dirty="0" spc="-110"/>
              <a:t> </a:t>
            </a:r>
            <a:r>
              <a:rPr dirty="0"/>
              <a:t>and</a:t>
            </a:r>
            <a:r>
              <a:rPr dirty="0" spc="-120"/>
              <a:t> </a:t>
            </a:r>
            <a:r>
              <a:rPr dirty="0" spc="-25"/>
              <a:t>Techniques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7918"/>
            <a:ext cx="7286625" cy="322326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 spc="-10">
                <a:latin typeface="Calibri"/>
                <a:cs typeface="Calibri"/>
              </a:rPr>
              <a:t>Deliverables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-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35">
                <a:latin typeface="Calibri"/>
                <a:cs typeface="Calibri"/>
              </a:rPr>
              <a:t>To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check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what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been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done</a:t>
            </a:r>
            <a:endParaRPr sz="2800">
              <a:latin typeface="Calibri"/>
              <a:cs typeface="Calibri"/>
            </a:endParaRPr>
          </a:p>
          <a:p>
            <a:pPr marL="241300" marR="5080" indent="-229235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 spc="-10">
                <a:latin typeface="Calibri"/>
                <a:cs typeface="Calibri"/>
              </a:rPr>
              <a:t>Milestones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-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25">
                <a:latin typeface="Calibri"/>
                <a:cs typeface="Calibri"/>
              </a:rPr>
              <a:t>To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check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where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have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got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(and </a:t>
            </a:r>
            <a:r>
              <a:rPr dirty="0" sz="2800">
                <a:latin typeface="Calibri"/>
                <a:cs typeface="Calibri"/>
              </a:rPr>
              <a:t>how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far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go)</a:t>
            </a:r>
            <a:endParaRPr sz="2800">
              <a:latin typeface="Calibri"/>
              <a:cs typeface="Calibri"/>
            </a:endParaRPr>
          </a:p>
          <a:p>
            <a:pPr marL="241300" marR="109220" indent="-229235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PERT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Charts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-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20">
                <a:latin typeface="Calibri"/>
                <a:cs typeface="Calibri"/>
              </a:rPr>
              <a:t>To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show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connections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between tasks</a:t>
            </a:r>
            <a:endParaRPr sz="2800">
              <a:latin typeface="Calibri"/>
              <a:cs typeface="Calibri"/>
            </a:endParaRPr>
          </a:p>
          <a:p>
            <a:pPr marL="241300" marR="1195705" indent="-229235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Gantt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Charts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-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20">
                <a:latin typeface="Calibri"/>
                <a:cs typeface="Calibri"/>
              </a:rPr>
              <a:t>To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show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progress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tasks (milestones)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090673" y="2136394"/>
            <a:ext cx="4695825" cy="2573020"/>
            <a:chOff x="2090673" y="2136394"/>
            <a:chExt cx="4695825" cy="25730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6064" y="3285744"/>
              <a:ext cx="1469969" cy="142341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2097023" y="2142744"/>
              <a:ext cx="3355975" cy="1856739"/>
            </a:xfrm>
            <a:custGeom>
              <a:avLst/>
              <a:gdLst/>
              <a:ahLst/>
              <a:cxnLst/>
              <a:rect l="l" t="t" r="r" b="b"/>
              <a:pathLst>
                <a:path w="3355975" h="1856739">
                  <a:moveTo>
                    <a:pt x="3046476" y="0"/>
                  </a:moveTo>
                  <a:lnTo>
                    <a:pt x="309371" y="0"/>
                  </a:lnTo>
                  <a:lnTo>
                    <a:pt x="263665" y="3355"/>
                  </a:lnTo>
                  <a:lnTo>
                    <a:pt x="220038" y="13102"/>
                  </a:lnTo>
                  <a:lnTo>
                    <a:pt x="178968" y="28761"/>
                  </a:lnTo>
                  <a:lnTo>
                    <a:pt x="140936" y="49853"/>
                  </a:lnTo>
                  <a:lnTo>
                    <a:pt x="106420" y="75899"/>
                  </a:lnTo>
                  <a:lnTo>
                    <a:pt x="75899" y="106420"/>
                  </a:lnTo>
                  <a:lnTo>
                    <a:pt x="49853" y="140936"/>
                  </a:lnTo>
                  <a:lnTo>
                    <a:pt x="28761" y="178968"/>
                  </a:lnTo>
                  <a:lnTo>
                    <a:pt x="13102" y="220038"/>
                  </a:lnTo>
                  <a:lnTo>
                    <a:pt x="3355" y="263665"/>
                  </a:lnTo>
                  <a:lnTo>
                    <a:pt x="0" y="309371"/>
                  </a:lnTo>
                  <a:lnTo>
                    <a:pt x="0" y="1546859"/>
                  </a:lnTo>
                  <a:lnTo>
                    <a:pt x="3355" y="1592566"/>
                  </a:lnTo>
                  <a:lnTo>
                    <a:pt x="13102" y="1636193"/>
                  </a:lnTo>
                  <a:lnTo>
                    <a:pt x="28761" y="1677263"/>
                  </a:lnTo>
                  <a:lnTo>
                    <a:pt x="49853" y="1715295"/>
                  </a:lnTo>
                  <a:lnTo>
                    <a:pt x="75899" y="1749811"/>
                  </a:lnTo>
                  <a:lnTo>
                    <a:pt x="106420" y="1780332"/>
                  </a:lnTo>
                  <a:lnTo>
                    <a:pt x="140936" y="1806378"/>
                  </a:lnTo>
                  <a:lnTo>
                    <a:pt x="178968" y="1827470"/>
                  </a:lnTo>
                  <a:lnTo>
                    <a:pt x="220038" y="1843129"/>
                  </a:lnTo>
                  <a:lnTo>
                    <a:pt x="263665" y="1852876"/>
                  </a:lnTo>
                  <a:lnTo>
                    <a:pt x="309371" y="1856231"/>
                  </a:lnTo>
                  <a:lnTo>
                    <a:pt x="3046476" y="1856231"/>
                  </a:lnTo>
                  <a:lnTo>
                    <a:pt x="3092182" y="1852876"/>
                  </a:lnTo>
                  <a:lnTo>
                    <a:pt x="3135809" y="1843129"/>
                  </a:lnTo>
                  <a:lnTo>
                    <a:pt x="3176879" y="1827470"/>
                  </a:lnTo>
                  <a:lnTo>
                    <a:pt x="3214911" y="1806378"/>
                  </a:lnTo>
                  <a:lnTo>
                    <a:pt x="3249427" y="1780332"/>
                  </a:lnTo>
                  <a:lnTo>
                    <a:pt x="3279948" y="1749811"/>
                  </a:lnTo>
                  <a:lnTo>
                    <a:pt x="3305994" y="1715295"/>
                  </a:lnTo>
                  <a:lnTo>
                    <a:pt x="3327086" y="1677263"/>
                  </a:lnTo>
                  <a:lnTo>
                    <a:pt x="3342745" y="1636193"/>
                  </a:lnTo>
                  <a:lnTo>
                    <a:pt x="3352492" y="1592566"/>
                  </a:lnTo>
                  <a:lnTo>
                    <a:pt x="3355848" y="1546859"/>
                  </a:lnTo>
                  <a:lnTo>
                    <a:pt x="3355848" y="309371"/>
                  </a:lnTo>
                  <a:lnTo>
                    <a:pt x="3352492" y="263665"/>
                  </a:lnTo>
                  <a:lnTo>
                    <a:pt x="3342745" y="220038"/>
                  </a:lnTo>
                  <a:lnTo>
                    <a:pt x="3327086" y="178968"/>
                  </a:lnTo>
                  <a:lnTo>
                    <a:pt x="3305994" y="140936"/>
                  </a:lnTo>
                  <a:lnTo>
                    <a:pt x="3279948" y="106420"/>
                  </a:lnTo>
                  <a:lnTo>
                    <a:pt x="3249427" y="75899"/>
                  </a:lnTo>
                  <a:lnTo>
                    <a:pt x="3214911" y="49853"/>
                  </a:lnTo>
                  <a:lnTo>
                    <a:pt x="3176879" y="28761"/>
                  </a:lnTo>
                  <a:lnTo>
                    <a:pt x="3135809" y="13102"/>
                  </a:lnTo>
                  <a:lnTo>
                    <a:pt x="3092182" y="3355"/>
                  </a:lnTo>
                  <a:lnTo>
                    <a:pt x="304647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097023" y="2142744"/>
              <a:ext cx="3355975" cy="1856739"/>
            </a:xfrm>
            <a:custGeom>
              <a:avLst/>
              <a:gdLst/>
              <a:ahLst/>
              <a:cxnLst/>
              <a:rect l="l" t="t" r="r" b="b"/>
              <a:pathLst>
                <a:path w="3355975" h="1856739">
                  <a:moveTo>
                    <a:pt x="0" y="309371"/>
                  </a:moveTo>
                  <a:lnTo>
                    <a:pt x="3355" y="263665"/>
                  </a:lnTo>
                  <a:lnTo>
                    <a:pt x="13102" y="220038"/>
                  </a:lnTo>
                  <a:lnTo>
                    <a:pt x="28761" y="178968"/>
                  </a:lnTo>
                  <a:lnTo>
                    <a:pt x="49853" y="140936"/>
                  </a:lnTo>
                  <a:lnTo>
                    <a:pt x="75899" y="106420"/>
                  </a:lnTo>
                  <a:lnTo>
                    <a:pt x="106420" y="75899"/>
                  </a:lnTo>
                  <a:lnTo>
                    <a:pt x="140936" y="49853"/>
                  </a:lnTo>
                  <a:lnTo>
                    <a:pt x="178968" y="28761"/>
                  </a:lnTo>
                  <a:lnTo>
                    <a:pt x="220038" y="13102"/>
                  </a:lnTo>
                  <a:lnTo>
                    <a:pt x="263665" y="3355"/>
                  </a:lnTo>
                  <a:lnTo>
                    <a:pt x="309371" y="0"/>
                  </a:lnTo>
                  <a:lnTo>
                    <a:pt x="3046476" y="0"/>
                  </a:lnTo>
                  <a:lnTo>
                    <a:pt x="3092182" y="3355"/>
                  </a:lnTo>
                  <a:lnTo>
                    <a:pt x="3135809" y="13102"/>
                  </a:lnTo>
                  <a:lnTo>
                    <a:pt x="3176879" y="28761"/>
                  </a:lnTo>
                  <a:lnTo>
                    <a:pt x="3214911" y="49853"/>
                  </a:lnTo>
                  <a:lnTo>
                    <a:pt x="3249427" y="75899"/>
                  </a:lnTo>
                  <a:lnTo>
                    <a:pt x="3279948" y="106420"/>
                  </a:lnTo>
                  <a:lnTo>
                    <a:pt x="3305994" y="140936"/>
                  </a:lnTo>
                  <a:lnTo>
                    <a:pt x="3327086" y="178968"/>
                  </a:lnTo>
                  <a:lnTo>
                    <a:pt x="3342745" y="220038"/>
                  </a:lnTo>
                  <a:lnTo>
                    <a:pt x="3352492" y="263665"/>
                  </a:lnTo>
                  <a:lnTo>
                    <a:pt x="3355848" y="309371"/>
                  </a:lnTo>
                  <a:lnTo>
                    <a:pt x="3355848" y="1546859"/>
                  </a:lnTo>
                  <a:lnTo>
                    <a:pt x="3352492" y="1592566"/>
                  </a:lnTo>
                  <a:lnTo>
                    <a:pt x="3342745" y="1636193"/>
                  </a:lnTo>
                  <a:lnTo>
                    <a:pt x="3327086" y="1677263"/>
                  </a:lnTo>
                  <a:lnTo>
                    <a:pt x="3305994" y="1715295"/>
                  </a:lnTo>
                  <a:lnTo>
                    <a:pt x="3279948" y="1749811"/>
                  </a:lnTo>
                  <a:lnTo>
                    <a:pt x="3249427" y="1780332"/>
                  </a:lnTo>
                  <a:lnTo>
                    <a:pt x="3214911" y="1806378"/>
                  </a:lnTo>
                  <a:lnTo>
                    <a:pt x="3176879" y="1827470"/>
                  </a:lnTo>
                  <a:lnTo>
                    <a:pt x="3135809" y="1843129"/>
                  </a:lnTo>
                  <a:lnTo>
                    <a:pt x="3092182" y="1852876"/>
                  </a:lnTo>
                  <a:lnTo>
                    <a:pt x="3046476" y="1856231"/>
                  </a:lnTo>
                  <a:lnTo>
                    <a:pt x="309371" y="1856231"/>
                  </a:lnTo>
                  <a:lnTo>
                    <a:pt x="263665" y="1852876"/>
                  </a:lnTo>
                  <a:lnTo>
                    <a:pt x="220038" y="1843129"/>
                  </a:lnTo>
                  <a:lnTo>
                    <a:pt x="178968" y="1827470"/>
                  </a:lnTo>
                  <a:lnTo>
                    <a:pt x="140936" y="1806378"/>
                  </a:lnTo>
                  <a:lnTo>
                    <a:pt x="106420" y="1780332"/>
                  </a:lnTo>
                  <a:lnTo>
                    <a:pt x="75899" y="1749811"/>
                  </a:lnTo>
                  <a:lnTo>
                    <a:pt x="49853" y="1715295"/>
                  </a:lnTo>
                  <a:lnTo>
                    <a:pt x="28761" y="1677263"/>
                  </a:lnTo>
                  <a:lnTo>
                    <a:pt x="13102" y="1636193"/>
                  </a:lnTo>
                  <a:lnTo>
                    <a:pt x="3355" y="1592566"/>
                  </a:lnTo>
                  <a:lnTo>
                    <a:pt x="0" y="1546859"/>
                  </a:lnTo>
                  <a:lnTo>
                    <a:pt x="0" y="30937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dirty="0" spc="-150"/>
              <a:t> </a:t>
            </a:r>
            <a:r>
              <a:rPr dirty="0" spc="-10"/>
              <a:t>Success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617723" y="2768930"/>
            <a:ext cx="231775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52525"/>
                </a:solidFill>
                <a:latin typeface="Calibri"/>
                <a:cs typeface="Calibri"/>
              </a:rPr>
              <a:t>Customer</a:t>
            </a:r>
            <a:r>
              <a:rPr dirty="0" sz="1800" spc="-8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52525"/>
                </a:solidFill>
                <a:latin typeface="Calibri"/>
                <a:cs typeface="Calibri"/>
              </a:rPr>
              <a:t>Requirements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 b="1">
                <a:solidFill>
                  <a:srgbClr val="252525"/>
                </a:solidFill>
                <a:latin typeface="Calibri"/>
                <a:cs typeface="Calibri"/>
              </a:rPr>
              <a:t>satisfied/exceeded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652006" y="2136394"/>
            <a:ext cx="3368675" cy="1869439"/>
            <a:chOff x="6652006" y="2136394"/>
            <a:chExt cx="3368675" cy="1869439"/>
          </a:xfrm>
        </p:grpSpPr>
        <p:sp>
          <p:nvSpPr>
            <p:cNvPr id="9" name="object 9" descr=""/>
            <p:cNvSpPr/>
            <p:nvPr/>
          </p:nvSpPr>
          <p:spPr>
            <a:xfrm>
              <a:off x="6658356" y="2142744"/>
              <a:ext cx="3355975" cy="1856739"/>
            </a:xfrm>
            <a:custGeom>
              <a:avLst/>
              <a:gdLst/>
              <a:ahLst/>
              <a:cxnLst/>
              <a:rect l="l" t="t" r="r" b="b"/>
              <a:pathLst>
                <a:path w="3355975" h="1856739">
                  <a:moveTo>
                    <a:pt x="3046476" y="0"/>
                  </a:moveTo>
                  <a:lnTo>
                    <a:pt x="309372" y="0"/>
                  </a:lnTo>
                  <a:lnTo>
                    <a:pt x="263665" y="3355"/>
                  </a:lnTo>
                  <a:lnTo>
                    <a:pt x="220038" y="13102"/>
                  </a:lnTo>
                  <a:lnTo>
                    <a:pt x="178968" y="28761"/>
                  </a:lnTo>
                  <a:lnTo>
                    <a:pt x="140936" y="49853"/>
                  </a:lnTo>
                  <a:lnTo>
                    <a:pt x="106420" y="75899"/>
                  </a:lnTo>
                  <a:lnTo>
                    <a:pt x="75899" y="106420"/>
                  </a:lnTo>
                  <a:lnTo>
                    <a:pt x="49853" y="140936"/>
                  </a:lnTo>
                  <a:lnTo>
                    <a:pt x="28761" y="178968"/>
                  </a:lnTo>
                  <a:lnTo>
                    <a:pt x="13102" y="220038"/>
                  </a:lnTo>
                  <a:lnTo>
                    <a:pt x="3355" y="263665"/>
                  </a:lnTo>
                  <a:lnTo>
                    <a:pt x="0" y="309371"/>
                  </a:lnTo>
                  <a:lnTo>
                    <a:pt x="0" y="1546859"/>
                  </a:lnTo>
                  <a:lnTo>
                    <a:pt x="3355" y="1592566"/>
                  </a:lnTo>
                  <a:lnTo>
                    <a:pt x="13102" y="1636193"/>
                  </a:lnTo>
                  <a:lnTo>
                    <a:pt x="28761" y="1677263"/>
                  </a:lnTo>
                  <a:lnTo>
                    <a:pt x="49853" y="1715295"/>
                  </a:lnTo>
                  <a:lnTo>
                    <a:pt x="75899" y="1749811"/>
                  </a:lnTo>
                  <a:lnTo>
                    <a:pt x="106420" y="1780332"/>
                  </a:lnTo>
                  <a:lnTo>
                    <a:pt x="140936" y="1806378"/>
                  </a:lnTo>
                  <a:lnTo>
                    <a:pt x="178968" y="1827470"/>
                  </a:lnTo>
                  <a:lnTo>
                    <a:pt x="220038" y="1843129"/>
                  </a:lnTo>
                  <a:lnTo>
                    <a:pt x="263665" y="1852876"/>
                  </a:lnTo>
                  <a:lnTo>
                    <a:pt x="309372" y="1856231"/>
                  </a:lnTo>
                  <a:lnTo>
                    <a:pt x="3046476" y="1856231"/>
                  </a:lnTo>
                  <a:lnTo>
                    <a:pt x="3092182" y="1852876"/>
                  </a:lnTo>
                  <a:lnTo>
                    <a:pt x="3135809" y="1843129"/>
                  </a:lnTo>
                  <a:lnTo>
                    <a:pt x="3176879" y="1827470"/>
                  </a:lnTo>
                  <a:lnTo>
                    <a:pt x="3214911" y="1806378"/>
                  </a:lnTo>
                  <a:lnTo>
                    <a:pt x="3249427" y="1780332"/>
                  </a:lnTo>
                  <a:lnTo>
                    <a:pt x="3279948" y="1749811"/>
                  </a:lnTo>
                  <a:lnTo>
                    <a:pt x="3305994" y="1715295"/>
                  </a:lnTo>
                  <a:lnTo>
                    <a:pt x="3327086" y="1677263"/>
                  </a:lnTo>
                  <a:lnTo>
                    <a:pt x="3342745" y="1636193"/>
                  </a:lnTo>
                  <a:lnTo>
                    <a:pt x="3352492" y="1592566"/>
                  </a:lnTo>
                  <a:lnTo>
                    <a:pt x="3355848" y="1546859"/>
                  </a:lnTo>
                  <a:lnTo>
                    <a:pt x="3355848" y="309371"/>
                  </a:lnTo>
                  <a:lnTo>
                    <a:pt x="3352492" y="263665"/>
                  </a:lnTo>
                  <a:lnTo>
                    <a:pt x="3342745" y="220038"/>
                  </a:lnTo>
                  <a:lnTo>
                    <a:pt x="3327086" y="178968"/>
                  </a:lnTo>
                  <a:lnTo>
                    <a:pt x="3305994" y="140936"/>
                  </a:lnTo>
                  <a:lnTo>
                    <a:pt x="3279948" y="106420"/>
                  </a:lnTo>
                  <a:lnTo>
                    <a:pt x="3249427" y="75899"/>
                  </a:lnTo>
                  <a:lnTo>
                    <a:pt x="3214911" y="49853"/>
                  </a:lnTo>
                  <a:lnTo>
                    <a:pt x="3176879" y="28761"/>
                  </a:lnTo>
                  <a:lnTo>
                    <a:pt x="3135809" y="13102"/>
                  </a:lnTo>
                  <a:lnTo>
                    <a:pt x="3092182" y="3355"/>
                  </a:lnTo>
                  <a:lnTo>
                    <a:pt x="304647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658356" y="2142744"/>
              <a:ext cx="3355975" cy="1856739"/>
            </a:xfrm>
            <a:custGeom>
              <a:avLst/>
              <a:gdLst/>
              <a:ahLst/>
              <a:cxnLst/>
              <a:rect l="l" t="t" r="r" b="b"/>
              <a:pathLst>
                <a:path w="3355975" h="1856739">
                  <a:moveTo>
                    <a:pt x="0" y="309371"/>
                  </a:moveTo>
                  <a:lnTo>
                    <a:pt x="3355" y="263665"/>
                  </a:lnTo>
                  <a:lnTo>
                    <a:pt x="13102" y="220038"/>
                  </a:lnTo>
                  <a:lnTo>
                    <a:pt x="28761" y="178968"/>
                  </a:lnTo>
                  <a:lnTo>
                    <a:pt x="49853" y="140936"/>
                  </a:lnTo>
                  <a:lnTo>
                    <a:pt x="75899" y="106420"/>
                  </a:lnTo>
                  <a:lnTo>
                    <a:pt x="106420" y="75899"/>
                  </a:lnTo>
                  <a:lnTo>
                    <a:pt x="140936" y="49853"/>
                  </a:lnTo>
                  <a:lnTo>
                    <a:pt x="178968" y="28761"/>
                  </a:lnTo>
                  <a:lnTo>
                    <a:pt x="220038" y="13102"/>
                  </a:lnTo>
                  <a:lnTo>
                    <a:pt x="263665" y="3355"/>
                  </a:lnTo>
                  <a:lnTo>
                    <a:pt x="309372" y="0"/>
                  </a:lnTo>
                  <a:lnTo>
                    <a:pt x="3046476" y="0"/>
                  </a:lnTo>
                  <a:lnTo>
                    <a:pt x="3092182" y="3355"/>
                  </a:lnTo>
                  <a:lnTo>
                    <a:pt x="3135809" y="13102"/>
                  </a:lnTo>
                  <a:lnTo>
                    <a:pt x="3176879" y="28761"/>
                  </a:lnTo>
                  <a:lnTo>
                    <a:pt x="3214911" y="49853"/>
                  </a:lnTo>
                  <a:lnTo>
                    <a:pt x="3249427" y="75899"/>
                  </a:lnTo>
                  <a:lnTo>
                    <a:pt x="3279948" y="106420"/>
                  </a:lnTo>
                  <a:lnTo>
                    <a:pt x="3305994" y="140936"/>
                  </a:lnTo>
                  <a:lnTo>
                    <a:pt x="3327086" y="178968"/>
                  </a:lnTo>
                  <a:lnTo>
                    <a:pt x="3342745" y="220038"/>
                  </a:lnTo>
                  <a:lnTo>
                    <a:pt x="3352492" y="263665"/>
                  </a:lnTo>
                  <a:lnTo>
                    <a:pt x="3355848" y="309371"/>
                  </a:lnTo>
                  <a:lnTo>
                    <a:pt x="3355848" y="1546859"/>
                  </a:lnTo>
                  <a:lnTo>
                    <a:pt x="3352492" y="1592566"/>
                  </a:lnTo>
                  <a:lnTo>
                    <a:pt x="3342745" y="1636193"/>
                  </a:lnTo>
                  <a:lnTo>
                    <a:pt x="3327086" y="1677263"/>
                  </a:lnTo>
                  <a:lnTo>
                    <a:pt x="3305994" y="1715295"/>
                  </a:lnTo>
                  <a:lnTo>
                    <a:pt x="3279948" y="1749811"/>
                  </a:lnTo>
                  <a:lnTo>
                    <a:pt x="3249427" y="1780332"/>
                  </a:lnTo>
                  <a:lnTo>
                    <a:pt x="3214911" y="1806378"/>
                  </a:lnTo>
                  <a:lnTo>
                    <a:pt x="3176879" y="1827470"/>
                  </a:lnTo>
                  <a:lnTo>
                    <a:pt x="3135809" y="1843129"/>
                  </a:lnTo>
                  <a:lnTo>
                    <a:pt x="3092182" y="1852876"/>
                  </a:lnTo>
                  <a:lnTo>
                    <a:pt x="3046476" y="1856231"/>
                  </a:lnTo>
                  <a:lnTo>
                    <a:pt x="309372" y="1856231"/>
                  </a:lnTo>
                  <a:lnTo>
                    <a:pt x="263665" y="1852876"/>
                  </a:lnTo>
                  <a:lnTo>
                    <a:pt x="220038" y="1843129"/>
                  </a:lnTo>
                  <a:lnTo>
                    <a:pt x="178968" y="1827470"/>
                  </a:lnTo>
                  <a:lnTo>
                    <a:pt x="140936" y="1806378"/>
                  </a:lnTo>
                  <a:lnTo>
                    <a:pt x="106420" y="1780332"/>
                  </a:lnTo>
                  <a:lnTo>
                    <a:pt x="75899" y="1749811"/>
                  </a:lnTo>
                  <a:lnTo>
                    <a:pt x="49853" y="1715295"/>
                  </a:lnTo>
                  <a:lnTo>
                    <a:pt x="28761" y="1677263"/>
                  </a:lnTo>
                  <a:lnTo>
                    <a:pt x="13102" y="1636193"/>
                  </a:lnTo>
                  <a:lnTo>
                    <a:pt x="3355" y="1592566"/>
                  </a:lnTo>
                  <a:lnTo>
                    <a:pt x="0" y="1546859"/>
                  </a:lnTo>
                  <a:lnTo>
                    <a:pt x="0" y="30937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019290" y="2768930"/>
            <a:ext cx="263588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52525"/>
                </a:solidFill>
                <a:latin typeface="Calibri"/>
                <a:cs typeface="Calibri"/>
              </a:rPr>
              <a:t>Completed</a:t>
            </a:r>
            <a:r>
              <a:rPr dirty="0" sz="1800" spc="-6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52525"/>
                </a:solidFill>
                <a:latin typeface="Calibri"/>
                <a:cs typeface="Calibri"/>
              </a:rPr>
              <a:t>within</a:t>
            </a:r>
            <a:r>
              <a:rPr dirty="0" sz="1800" spc="-7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52525"/>
                </a:solidFill>
                <a:latin typeface="Calibri"/>
                <a:cs typeface="Calibri"/>
              </a:rPr>
              <a:t>allocated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252525"/>
                </a:solidFill>
                <a:latin typeface="Calibri"/>
                <a:cs typeface="Calibri"/>
              </a:rPr>
              <a:t>time</a:t>
            </a:r>
            <a:r>
              <a:rPr dirty="0" sz="1800" spc="-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52525"/>
                </a:solidFill>
                <a:latin typeface="Calibri"/>
                <a:cs typeface="Calibri"/>
              </a:rPr>
              <a:t>frame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090673" y="4209034"/>
            <a:ext cx="3368675" cy="1867535"/>
            <a:chOff x="2090673" y="4209034"/>
            <a:chExt cx="3368675" cy="1867535"/>
          </a:xfrm>
        </p:grpSpPr>
        <p:sp>
          <p:nvSpPr>
            <p:cNvPr id="13" name="object 13" descr=""/>
            <p:cNvSpPr/>
            <p:nvPr/>
          </p:nvSpPr>
          <p:spPr>
            <a:xfrm>
              <a:off x="2097023" y="4215384"/>
              <a:ext cx="3355975" cy="1854835"/>
            </a:xfrm>
            <a:custGeom>
              <a:avLst/>
              <a:gdLst/>
              <a:ahLst/>
              <a:cxnLst/>
              <a:rect l="l" t="t" r="r" b="b"/>
              <a:pathLst>
                <a:path w="3355975" h="1854835">
                  <a:moveTo>
                    <a:pt x="3046729" y="0"/>
                  </a:moveTo>
                  <a:lnTo>
                    <a:pt x="309118" y="0"/>
                  </a:lnTo>
                  <a:lnTo>
                    <a:pt x="263446" y="3352"/>
                  </a:lnTo>
                  <a:lnTo>
                    <a:pt x="219852" y="13090"/>
                  </a:lnTo>
                  <a:lnTo>
                    <a:pt x="178816" y="28735"/>
                  </a:lnTo>
                  <a:lnTo>
                    <a:pt x="140814" y="49809"/>
                  </a:lnTo>
                  <a:lnTo>
                    <a:pt x="106327" y="75832"/>
                  </a:lnTo>
                  <a:lnTo>
                    <a:pt x="75832" y="106327"/>
                  </a:lnTo>
                  <a:lnTo>
                    <a:pt x="49809" y="140814"/>
                  </a:lnTo>
                  <a:lnTo>
                    <a:pt x="28735" y="178816"/>
                  </a:lnTo>
                  <a:lnTo>
                    <a:pt x="13090" y="219852"/>
                  </a:lnTo>
                  <a:lnTo>
                    <a:pt x="3352" y="263446"/>
                  </a:lnTo>
                  <a:lnTo>
                    <a:pt x="0" y="309118"/>
                  </a:lnTo>
                  <a:lnTo>
                    <a:pt x="0" y="1545577"/>
                  </a:lnTo>
                  <a:lnTo>
                    <a:pt x="3352" y="1591257"/>
                  </a:lnTo>
                  <a:lnTo>
                    <a:pt x="13090" y="1634857"/>
                  </a:lnTo>
                  <a:lnTo>
                    <a:pt x="28735" y="1675898"/>
                  </a:lnTo>
                  <a:lnTo>
                    <a:pt x="49809" y="1713901"/>
                  </a:lnTo>
                  <a:lnTo>
                    <a:pt x="75832" y="1748388"/>
                  </a:lnTo>
                  <a:lnTo>
                    <a:pt x="106327" y="1778882"/>
                  </a:lnTo>
                  <a:lnTo>
                    <a:pt x="140814" y="1804904"/>
                  </a:lnTo>
                  <a:lnTo>
                    <a:pt x="178816" y="1825976"/>
                  </a:lnTo>
                  <a:lnTo>
                    <a:pt x="219852" y="1841619"/>
                  </a:lnTo>
                  <a:lnTo>
                    <a:pt x="263446" y="1851356"/>
                  </a:lnTo>
                  <a:lnTo>
                    <a:pt x="309118" y="1854708"/>
                  </a:lnTo>
                  <a:lnTo>
                    <a:pt x="3046729" y="1854708"/>
                  </a:lnTo>
                  <a:lnTo>
                    <a:pt x="3092401" y="1851356"/>
                  </a:lnTo>
                  <a:lnTo>
                    <a:pt x="3135995" y="1841619"/>
                  </a:lnTo>
                  <a:lnTo>
                    <a:pt x="3177031" y="1825976"/>
                  </a:lnTo>
                  <a:lnTo>
                    <a:pt x="3215033" y="1804904"/>
                  </a:lnTo>
                  <a:lnTo>
                    <a:pt x="3249520" y="1778882"/>
                  </a:lnTo>
                  <a:lnTo>
                    <a:pt x="3280015" y="1748388"/>
                  </a:lnTo>
                  <a:lnTo>
                    <a:pt x="3306038" y="1713901"/>
                  </a:lnTo>
                  <a:lnTo>
                    <a:pt x="3327112" y="1675898"/>
                  </a:lnTo>
                  <a:lnTo>
                    <a:pt x="3342757" y="1634857"/>
                  </a:lnTo>
                  <a:lnTo>
                    <a:pt x="3352495" y="1591257"/>
                  </a:lnTo>
                  <a:lnTo>
                    <a:pt x="3355848" y="1545577"/>
                  </a:lnTo>
                  <a:lnTo>
                    <a:pt x="3355848" y="309118"/>
                  </a:lnTo>
                  <a:lnTo>
                    <a:pt x="3352495" y="263446"/>
                  </a:lnTo>
                  <a:lnTo>
                    <a:pt x="3342757" y="219852"/>
                  </a:lnTo>
                  <a:lnTo>
                    <a:pt x="3327112" y="178816"/>
                  </a:lnTo>
                  <a:lnTo>
                    <a:pt x="3306038" y="140814"/>
                  </a:lnTo>
                  <a:lnTo>
                    <a:pt x="3280015" y="106327"/>
                  </a:lnTo>
                  <a:lnTo>
                    <a:pt x="3249520" y="75832"/>
                  </a:lnTo>
                  <a:lnTo>
                    <a:pt x="3215033" y="49809"/>
                  </a:lnTo>
                  <a:lnTo>
                    <a:pt x="3177031" y="28735"/>
                  </a:lnTo>
                  <a:lnTo>
                    <a:pt x="3135995" y="13090"/>
                  </a:lnTo>
                  <a:lnTo>
                    <a:pt x="3092401" y="3352"/>
                  </a:lnTo>
                  <a:lnTo>
                    <a:pt x="304672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097023" y="4215384"/>
              <a:ext cx="3355975" cy="1854835"/>
            </a:xfrm>
            <a:custGeom>
              <a:avLst/>
              <a:gdLst/>
              <a:ahLst/>
              <a:cxnLst/>
              <a:rect l="l" t="t" r="r" b="b"/>
              <a:pathLst>
                <a:path w="3355975" h="1854835">
                  <a:moveTo>
                    <a:pt x="0" y="309118"/>
                  </a:moveTo>
                  <a:lnTo>
                    <a:pt x="3352" y="263446"/>
                  </a:lnTo>
                  <a:lnTo>
                    <a:pt x="13090" y="219852"/>
                  </a:lnTo>
                  <a:lnTo>
                    <a:pt x="28735" y="178816"/>
                  </a:lnTo>
                  <a:lnTo>
                    <a:pt x="49809" y="140814"/>
                  </a:lnTo>
                  <a:lnTo>
                    <a:pt x="75832" y="106327"/>
                  </a:lnTo>
                  <a:lnTo>
                    <a:pt x="106327" y="75832"/>
                  </a:lnTo>
                  <a:lnTo>
                    <a:pt x="140814" y="49809"/>
                  </a:lnTo>
                  <a:lnTo>
                    <a:pt x="178816" y="28735"/>
                  </a:lnTo>
                  <a:lnTo>
                    <a:pt x="219852" y="13090"/>
                  </a:lnTo>
                  <a:lnTo>
                    <a:pt x="263446" y="3352"/>
                  </a:lnTo>
                  <a:lnTo>
                    <a:pt x="309118" y="0"/>
                  </a:lnTo>
                  <a:lnTo>
                    <a:pt x="3046729" y="0"/>
                  </a:lnTo>
                  <a:lnTo>
                    <a:pt x="3092401" y="3352"/>
                  </a:lnTo>
                  <a:lnTo>
                    <a:pt x="3135995" y="13090"/>
                  </a:lnTo>
                  <a:lnTo>
                    <a:pt x="3177031" y="28735"/>
                  </a:lnTo>
                  <a:lnTo>
                    <a:pt x="3215033" y="49809"/>
                  </a:lnTo>
                  <a:lnTo>
                    <a:pt x="3249520" y="75832"/>
                  </a:lnTo>
                  <a:lnTo>
                    <a:pt x="3280015" y="106327"/>
                  </a:lnTo>
                  <a:lnTo>
                    <a:pt x="3306038" y="140814"/>
                  </a:lnTo>
                  <a:lnTo>
                    <a:pt x="3327112" y="178816"/>
                  </a:lnTo>
                  <a:lnTo>
                    <a:pt x="3342757" y="219852"/>
                  </a:lnTo>
                  <a:lnTo>
                    <a:pt x="3352495" y="263446"/>
                  </a:lnTo>
                  <a:lnTo>
                    <a:pt x="3355848" y="309118"/>
                  </a:lnTo>
                  <a:lnTo>
                    <a:pt x="3355848" y="1545577"/>
                  </a:lnTo>
                  <a:lnTo>
                    <a:pt x="3352495" y="1591257"/>
                  </a:lnTo>
                  <a:lnTo>
                    <a:pt x="3342757" y="1634857"/>
                  </a:lnTo>
                  <a:lnTo>
                    <a:pt x="3327112" y="1675898"/>
                  </a:lnTo>
                  <a:lnTo>
                    <a:pt x="3306038" y="1713901"/>
                  </a:lnTo>
                  <a:lnTo>
                    <a:pt x="3280015" y="1748388"/>
                  </a:lnTo>
                  <a:lnTo>
                    <a:pt x="3249520" y="1778882"/>
                  </a:lnTo>
                  <a:lnTo>
                    <a:pt x="3215033" y="1804904"/>
                  </a:lnTo>
                  <a:lnTo>
                    <a:pt x="3177031" y="1825976"/>
                  </a:lnTo>
                  <a:lnTo>
                    <a:pt x="3135995" y="1841619"/>
                  </a:lnTo>
                  <a:lnTo>
                    <a:pt x="3092401" y="1851356"/>
                  </a:lnTo>
                  <a:lnTo>
                    <a:pt x="3046729" y="1854708"/>
                  </a:lnTo>
                  <a:lnTo>
                    <a:pt x="309118" y="1854708"/>
                  </a:lnTo>
                  <a:lnTo>
                    <a:pt x="263446" y="1851356"/>
                  </a:lnTo>
                  <a:lnTo>
                    <a:pt x="219852" y="1841619"/>
                  </a:lnTo>
                  <a:lnTo>
                    <a:pt x="178816" y="1825976"/>
                  </a:lnTo>
                  <a:lnTo>
                    <a:pt x="140814" y="1804904"/>
                  </a:lnTo>
                  <a:lnTo>
                    <a:pt x="106327" y="1778882"/>
                  </a:lnTo>
                  <a:lnTo>
                    <a:pt x="75832" y="1748388"/>
                  </a:lnTo>
                  <a:lnTo>
                    <a:pt x="49809" y="1713901"/>
                  </a:lnTo>
                  <a:lnTo>
                    <a:pt x="28735" y="1675898"/>
                  </a:lnTo>
                  <a:lnTo>
                    <a:pt x="13090" y="1634857"/>
                  </a:lnTo>
                  <a:lnTo>
                    <a:pt x="3352" y="1591257"/>
                  </a:lnTo>
                  <a:lnTo>
                    <a:pt x="0" y="1545577"/>
                  </a:lnTo>
                  <a:lnTo>
                    <a:pt x="0" y="30911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457704" y="4841494"/>
            <a:ext cx="26358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83615" marR="5080" indent="-97155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52525"/>
                </a:solidFill>
                <a:latin typeface="Calibri"/>
                <a:cs typeface="Calibri"/>
              </a:rPr>
              <a:t>Completed</a:t>
            </a:r>
            <a:r>
              <a:rPr dirty="0" sz="1800" spc="-5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52525"/>
                </a:solidFill>
                <a:latin typeface="Calibri"/>
                <a:cs typeface="Calibri"/>
              </a:rPr>
              <a:t>within</a:t>
            </a:r>
            <a:r>
              <a:rPr dirty="0" sz="1800" spc="-7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52525"/>
                </a:solidFill>
                <a:latin typeface="Calibri"/>
                <a:cs typeface="Calibri"/>
              </a:rPr>
              <a:t>allocated budget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661404" y="4137659"/>
            <a:ext cx="3369945" cy="1870075"/>
            <a:chOff x="6661404" y="4137659"/>
            <a:chExt cx="3369945" cy="1870075"/>
          </a:xfrm>
        </p:grpSpPr>
        <p:sp>
          <p:nvSpPr>
            <p:cNvPr id="17" name="object 17" descr=""/>
            <p:cNvSpPr/>
            <p:nvPr/>
          </p:nvSpPr>
          <p:spPr>
            <a:xfrm>
              <a:off x="6667500" y="4143755"/>
              <a:ext cx="3357879" cy="1858010"/>
            </a:xfrm>
            <a:custGeom>
              <a:avLst/>
              <a:gdLst/>
              <a:ahLst/>
              <a:cxnLst/>
              <a:rect l="l" t="t" r="r" b="b"/>
              <a:pathLst>
                <a:path w="3357879" h="1858010">
                  <a:moveTo>
                    <a:pt x="3047746" y="0"/>
                  </a:moveTo>
                  <a:lnTo>
                    <a:pt x="309625" y="0"/>
                  </a:lnTo>
                  <a:lnTo>
                    <a:pt x="263885" y="3358"/>
                  </a:lnTo>
                  <a:lnTo>
                    <a:pt x="220223" y="13114"/>
                  </a:lnTo>
                  <a:lnTo>
                    <a:pt x="179121" y="28787"/>
                  </a:lnTo>
                  <a:lnTo>
                    <a:pt x="141057" y="49897"/>
                  </a:lnTo>
                  <a:lnTo>
                    <a:pt x="106512" y="75966"/>
                  </a:lnTo>
                  <a:lnTo>
                    <a:pt x="75966" y="106512"/>
                  </a:lnTo>
                  <a:lnTo>
                    <a:pt x="49897" y="141057"/>
                  </a:lnTo>
                  <a:lnTo>
                    <a:pt x="28787" y="179121"/>
                  </a:lnTo>
                  <a:lnTo>
                    <a:pt x="13114" y="220223"/>
                  </a:lnTo>
                  <a:lnTo>
                    <a:pt x="3358" y="263885"/>
                  </a:lnTo>
                  <a:lnTo>
                    <a:pt x="0" y="309626"/>
                  </a:lnTo>
                  <a:lnTo>
                    <a:pt x="0" y="1548117"/>
                  </a:lnTo>
                  <a:lnTo>
                    <a:pt x="3358" y="1593872"/>
                  </a:lnTo>
                  <a:lnTo>
                    <a:pt x="13114" y="1637543"/>
                  </a:lnTo>
                  <a:lnTo>
                    <a:pt x="28787" y="1678651"/>
                  </a:lnTo>
                  <a:lnTo>
                    <a:pt x="49897" y="1716717"/>
                  </a:lnTo>
                  <a:lnTo>
                    <a:pt x="75966" y="1751261"/>
                  </a:lnTo>
                  <a:lnTo>
                    <a:pt x="106512" y="1781805"/>
                  </a:lnTo>
                  <a:lnTo>
                    <a:pt x="141057" y="1807870"/>
                  </a:lnTo>
                  <a:lnTo>
                    <a:pt x="179121" y="1828976"/>
                  </a:lnTo>
                  <a:lnTo>
                    <a:pt x="220223" y="1844645"/>
                  </a:lnTo>
                  <a:lnTo>
                    <a:pt x="263885" y="1854398"/>
                  </a:lnTo>
                  <a:lnTo>
                    <a:pt x="309625" y="1857756"/>
                  </a:lnTo>
                  <a:lnTo>
                    <a:pt x="3047746" y="1857756"/>
                  </a:lnTo>
                  <a:lnTo>
                    <a:pt x="3093486" y="1854398"/>
                  </a:lnTo>
                  <a:lnTo>
                    <a:pt x="3137148" y="1844645"/>
                  </a:lnTo>
                  <a:lnTo>
                    <a:pt x="3178250" y="1828976"/>
                  </a:lnTo>
                  <a:lnTo>
                    <a:pt x="3216314" y="1807870"/>
                  </a:lnTo>
                  <a:lnTo>
                    <a:pt x="3250859" y="1781805"/>
                  </a:lnTo>
                  <a:lnTo>
                    <a:pt x="3281405" y="1751261"/>
                  </a:lnTo>
                  <a:lnTo>
                    <a:pt x="3307474" y="1716717"/>
                  </a:lnTo>
                  <a:lnTo>
                    <a:pt x="3328584" y="1678651"/>
                  </a:lnTo>
                  <a:lnTo>
                    <a:pt x="3344257" y="1637543"/>
                  </a:lnTo>
                  <a:lnTo>
                    <a:pt x="3354013" y="1593872"/>
                  </a:lnTo>
                  <a:lnTo>
                    <a:pt x="3357372" y="1548117"/>
                  </a:lnTo>
                  <a:lnTo>
                    <a:pt x="3357372" y="309626"/>
                  </a:lnTo>
                  <a:lnTo>
                    <a:pt x="3354013" y="263885"/>
                  </a:lnTo>
                  <a:lnTo>
                    <a:pt x="3344257" y="220223"/>
                  </a:lnTo>
                  <a:lnTo>
                    <a:pt x="3328584" y="179121"/>
                  </a:lnTo>
                  <a:lnTo>
                    <a:pt x="3307474" y="141057"/>
                  </a:lnTo>
                  <a:lnTo>
                    <a:pt x="3281405" y="106512"/>
                  </a:lnTo>
                  <a:lnTo>
                    <a:pt x="3250859" y="75966"/>
                  </a:lnTo>
                  <a:lnTo>
                    <a:pt x="3216314" y="49897"/>
                  </a:lnTo>
                  <a:lnTo>
                    <a:pt x="3178250" y="28787"/>
                  </a:lnTo>
                  <a:lnTo>
                    <a:pt x="3137148" y="13114"/>
                  </a:lnTo>
                  <a:lnTo>
                    <a:pt x="3093486" y="3358"/>
                  </a:lnTo>
                  <a:lnTo>
                    <a:pt x="304774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667500" y="4143755"/>
              <a:ext cx="3357879" cy="1858010"/>
            </a:xfrm>
            <a:custGeom>
              <a:avLst/>
              <a:gdLst/>
              <a:ahLst/>
              <a:cxnLst/>
              <a:rect l="l" t="t" r="r" b="b"/>
              <a:pathLst>
                <a:path w="3357879" h="1858010">
                  <a:moveTo>
                    <a:pt x="0" y="309626"/>
                  </a:moveTo>
                  <a:lnTo>
                    <a:pt x="3358" y="263885"/>
                  </a:lnTo>
                  <a:lnTo>
                    <a:pt x="13114" y="220223"/>
                  </a:lnTo>
                  <a:lnTo>
                    <a:pt x="28787" y="179121"/>
                  </a:lnTo>
                  <a:lnTo>
                    <a:pt x="49897" y="141057"/>
                  </a:lnTo>
                  <a:lnTo>
                    <a:pt x="75966" y="106512"/>
                  </a:lnTo>
                  <a:lnTo>
                    <a:pt x="106512" y="75966"/>
                  </a:lnTo>
                  <a:lnTo>
                    <a:pt x="141057" y="49897"/>
                  </a:lnTo>
                  <a:lnTo>
                    <a:pt x="179121" y="28787"/>
                  </a:lnTo>
                  <a:lnTo>
                    <a:pt x="220223" y="13114"/>
                  </a:lnTo>
                  <a:lnTo>
                    <a:pt x="263885" y="3358"/>
                  </a:lnTo>
                  <a:lnTo>
                    <a:pt x="309625" y="0"/>
                  </a:lnTo>
                  <a:lnTo>
                    <a:pt x="3047746" y="0"/>
                  </a:lnTo>
                  <a:lnTo>
                    <a:pt x="3093486" y="3358"/>
                  </a:lnTo>
                  <a:lnTo>
                    <a:pt x="3137148" y="13114"/>
                  </a:lnTo>
                  <a:lnTo>
                    <a:pt x="3178250" y="28787"/>
                  </a:lnTo>
                  <a:lnTo>
                    <a:pt x="3216314" y="49897"/>
                  </a:lnTo>
                  <a:lnTo>
                    <a:pt x="3250859" y="75966"/>
                  </a:lnTo>
                  <a:lnTo>
                    <a:pt x="3281405" y="106512"/>
                  </a:lnTo>
                  <a:lnTo>
                    <a:pt x="3307474" y="141057"/>
                  </a:lnTo>
                  <a:lnTo>
                    <a:pt x="3328584" y="179121"/>
                  </a:lnTo>
                  <a:lnTo>
                    <a:pt x="3344257" y="220223"/>
                  </a:lnTo>
                  <a:lnTo>
                    <a:pt x="3354013" y="263885"/>
                  </a:lnTo>
                  <a:lnTo>
                    <a:pt x="3357372" y="309626"/>
                  </a:lnTo>
                  <a:lnTo>
                    <a:pt x="3357372" y="1548117"/>
                  </a:lnTo>
                  <a:lnTo>
                    <a:pt x="3354013" y="1593872"/>
                  </a:lnTo>
                  <a:lnTo>
                    <a:pt x="3344257" y="1637543"/>
                  </a:lnTo>
                  <a:lnTo>
                    <a:pt x="3328584" y="1678651"/>
                  </a:lnTo>
                  <a:lnTo>
                    <a:pt x="3307474" y="1716717"/>
                  </a:lnTo>
                  <a:lnTo>
                    <a:pt x="3281405" y="1751261"/>
                  </a:lnTo>
                  <a:lnTo>
                    <a:pt x="3250859" y="1781805"/>
                  </a:lnTo>
                  <a:lnTo>
                    <a:pt x="3216314" y="1807870"/>
                  </a:lnTo>
                  <a:lnTo>
                    <a:pt x="3178250" y="1828976"/>
                  </a:lnTo>
                  <a:lnTo>
                    <a:pt x="3137148" y="1844645"/>
                  </a:lnTo>
                  <a:lnTo>
                    <a:pt x="3093486" y="1854398"/>
                  </a:lnTo>
                  <a:lnTo>
                    <a:pt x="3047746" y="1857756"/>
                  </a:lnTo>
                  <a:lnTo>
                    <a:pt x="309625" y="1857756"/>
                  </a:lnTo>
                  <a:lnTo>
                    <a:pt x="263885" y="1854398"/>
                  </a:lnTo>
                  <a:lnTo>
                    <a:pt x="220223" y="1844645"/>
                  </a:lnTo>
                  <a:lnTo>
                    <a:pt x="179121" y="1828976"/>
                  </a:lnTo>
                  <a:lnTo>
                    <a:pt x="141057" y="1807870"/>
                  </a:lnTo>
                  <a:lnTo>
                    <a:pt x="106512" y="1781805"/>
                  </a:lnTo>
                  <a:lnTo>
                    <a:pt x="75966" y="1751261"/>
                  </a:lnTo>
                  <a:lnTo>
                    <a:pt x="49897" y="1716717"/>
                  </a:lnTo>
                  <a:lnTo>
                    <a:pt x="28787" y="1678651"/>
                  </a:lnTo>
                  <a:lnTo>
                    <a:pt x="13114" y="1637543"/>
                  </a:lnTo>
                  <a:lnTo>
                    <a:pt x="3358" y="1593872"/>
                  </a:lnTo>
                  <a:lnTo>
                    <a:pt x="0" y="1548117"/>
                  </a:lnTo>
                  <a:lnTo>
                    <a:pt x="0" y="309626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098918" y="4908042"/>
            <a:ext cx="24955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52525"/>
                </a:solidFill>
                <a:latin typeface="Calibri"/>
                <a:cs typeface="Calibri"/>
              </a:rPr>
              <a:t>Accepted</a:t>
            </a:r>
            <a:r>
              <a:rPr dirty="0" sz="1800" spc="-5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52525"/>
                </a:solidFill>
                <a:latin typeface="Calibri"/>
                <a:cs typeface="Calibri"/>
              </a:rPr>
              <a:t>by</a:t>
            </a:r>
            <a:r>
              <a:rPr dirty="0" sz="1800" spc="-15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dirty="0" sz="1800" spc="-30" b="1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52525"/>
                </a:solidFill>
                <a:latin typeface="Calibri"/>
                <a:cs typeface="Calibri"/>
              </a:rPr>
              <a:t>customer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23723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dirty="0" spc="-150"/>
              <a:t> </a:t>
            </a:r>
            <a:r>
              <a:rPr dirty="0" spc="-10"/>
              <a:t>Failure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107182" y="2906648"/>
            <a:ext cx="11906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r>
              <a:rPr dirty="0" sz="1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Creep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580378" y="2136394"/>
            <a:ext cx="3368675" cy="1869439"/>
            <a:chOff x="6580378" y="2136394"/>
            <a:chExt cx="3368675" cy="1869439"/>
          </a:xfrm>
        </p:grpSpPr>
        <p:sp>
          <p:nvSpPr>
            <p:cNvPr id="5" name="object 5" descr=""/>
            <p:cNvSpPr/>
            <p:nvPr/>
          </p:nvSpPr>
          <p:spPr>
            <a:xfrm>
              <a:off x="6586728" y="2142744"/>
              <a:ext cx="3355975" cy="1856739"/>
            </a:xfrm>
            <a:custGeom>
              <a:avLst/>
              <a:gdLst/>
              <a:ahLst/>
              <a:cxnLst/>
              <a:rect l="l" t="t" r="r" b="b"/>
              <a:pathLst>
                <a:path w="3355975" h="1856739">
                  <a:moveTo>
                    <a:pt x="3046476" y="0"/>
                  </a:moveTo>
                  <a:lnTo>
                    <a:pt x="309372" y="0"/>
                  </a:lnTo>
                  <a:lnTo>
                    <a:pt x="263665" y="3355"/>
                  </a:lnTo>
                  <a:lnTo>
                    <a:pt x="220038" y="13102"/>
                  </a:lnTo>
                  <a:lnTo>
                    <a:pt x="178968" y="28761"/>
                  </a:lnTo>
                  <a:lnTo>
                    <a:pt x="140936" y="49853"/>
                  </a:lnTo>
                  <a:lnTo>
                    <a:pt x="106420" y="75899"/>
                  </a:lnTo>
                  <a:lnTo>
                    <a:pt x="75899" y="106420"/>
                  </a:lnTo>
                  <a:lnTo>
                    <a:pt x="49853" y="140936"/>
                  </a:lnTo>
                  <a:lnTo>
                    <a:pt x="28761" y="178968"/>
                  </a:lnTo>
                  <a:lnTo>
                    <a:pt x="13102" y="220038"/>
                  </a:lnTo>
                  <a:lnTo>
                    <a:pt x="3355" y="263665"/>
                  </a:lnTo>
                  <a:lnTo>
                    <a:pt x="0" y="309371"/>
                  </a:lnTo>
                  <a:lnTo>
                    <a:pt x="0" y="1546859"/>
                  </a:lnTo>
                  <a:lnTo>
                    <a:pt x="3355" y="1592566"/>
                  </a:lnTo>
                  <a:lnTo>
                    <a:pt x="13102" y="1636193"/>
                  </a:lnTo>
                  <a:lnTo>
                    <a:pt x="28761" y="1677263"/>
                  </a:lnTo>
                  <a:lnTo>
                    <a:pt x="49853" y="1715295"/>
                  </a:lnTo>
                  <a:lnTo>
                    <a:pt x="75899" y="1749811"/>
                  </a:lnTo>
                  <a:lnTo>
                    <a:pt x="106420" y="1780332"/>
                  </a:lnTo>
                  <a:lnTo>
                    <a:pt x="140936" y="1806378"/>
                  </a:lnTo>
                  <a:lnTo>
                    <a:pt x="178968" y="1827470"/>
                  </a:lnTo>
                  <a:lnTo>
                    <a:pt x="220038" y="1843129"/>
                  </a:lnTo>
                  <a:lnTo>
                    <a:pt x="263665" y="1852876"/>
                  </a:lnTo>
                  <a:lnTo>
                    <a:pt x="309372" y="1856231"/>
                  </a:lnTo>
                  <a:lnTo>
                    <a:pt x="3046476" y="1856231"/>
                  </a:lnTo>
                  <a:lnTo>
                    <a:pt x="3092182" y="1852876"/>
                  </a:lnTo>
                  <a:lnTo>
                    <a:pt x="3135809" y="1843129"/>
                  </a:lnTo>
                  <a:lnTo>
                    <a:pt x="3176879" y="1827470"/>
                  </a:lnTo>
                  <a:lnTo>
                    <a:pt x="3214911" y="1806378"/>
                  </a:lnTo>
                  <a:lnTo>
                    <a:pt x="3249427" y="1780332"/>
                  </a:lnTo>
                  <a:lnTo>
                    <a:pt x="3279948" y="1749811"/>
                  </a:lnTo>
                  <a:lnTo>
                    <a:pt x="3305994" y="1715295"/>
                  </a:lnTo>
                  <a:lnTo>
                    <a:pt x="3327086" y="1677263"/>
                  </a:lnTo>
                  <a:lnTo>
                    <a:pt x="3342745" y="1636193"/>
                  </a:lnTo>
                  <a:lnTo>
                    <a:pt x="3352492" y="1592566"/>
                  </a:lnTo>
                  <a:lnTo>
                    <a:pt x="3355848" y="1546859"/>
                  </a:lnTo>
                  <a:lnTo>
                    <a:pt x="3355848" y="309371"/>
                  </a:lnTo>
                  <a:lnTo>
                    <a:pt x="3352492" y="263665"/>
                  </a:lnTo>
                  <a:lnTo>
                    <a:pt x="3342745" y="220038"/>
                  </a:lnTo>
                  <a:lnTo>
                    <a:pt x="3327086" y="178968"/>
                  </a:lnTo>
                  <a:lnTo>
                    <a:pt x="3305994" y="140936"/>
                  </a:lnTo>
                  <a:lnTo>
                    <a:pt x="3279948" y="106420"/>
                  </a:lnTo>
                  <a:lnTo>
                    <a:pt x="3249427" y="75899"/>
                  </a:lnTo>
                  <a:lnTo>
                    <a:pt x="3214911" y="49853"/>
                  </a:lnTo>
                  <a:lnTo>
                    <a:pt x="3176879" y="28761"/>
                  </a:lnTo>
                  <a:lnTo>
                    <a:pt x="3135809" y="13102"/>
                  </a:lnTo>
                  <a:lnTo>
                    <a:pt x="3092182" y="3355"/>
                  </a:lnTo>
                  <a:lnTo>
                    <a:pt x="3046476" y="0"/>
                  </a:lnTo>
                  <a:close/>
                </a:path>
              </a:pathLst>
            </a:custGeom>
            <a:solidFill>
              <a:srgbClr val="6C1A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586728" y="2142744"/>
              <a:ext cx="3355975" cy="1856739"/>
            </a:xfrm>
            <a:custGeom>
              <a:avLst/>
              <a:gdLst/>
              <a:ahLst/>
              <a:cxnLst/>
              <a:rect l="l" t="t" r="r" b="b"/>
              <a:pathLst>
                <a:path w="3355975" h="1856739">
                  <a:moveTo>
                    <a:pt x="0" y="309371"/>
                  </a:moveTo>
                  <a:lnTo>
                    <a:pt x="3355" y="263665"/>
                  </a:lnTo>
                  <a:lnTo>
                    <a:pt x="13102" y="220038"/>
                  </a:lnTo>
                  <a:lnTo>
                    <a:pt x="28761" y="178968"/>
                  </a:lnTo>
                  <a:lnTo>
                    <a:pt x="49853" y="140936"/>
                  </a:lnTo>
                  <a:lnTo>
                    <a:pt x="75899" y="106420"/>
                  </a:lnTo>
                  <a:lnTo>
                    <a:pt x="106420" y="75899"/>
                  </a:lnTo>
                  <a:lnTo>
                    <a:pt x="140936" y="49853"/>
                  </a:lnTo>
                  <a:lnTo>
                    <a:pt x="178968" y="28761"/>
                  </a:lnTo>
                  <a:lnTo>
                    <a:pt x="220038" y="13102"/>
                  </a:lnTo>
                  <a:lnTo>
                    <a:pt x="263665" y="3355"/>
                  </a:lnTo>
                  <a:lnTo>
                    <a:pt x="309372" y="0"/>
                  </a:lnTo>
                  <a:lnTo>
                    <a:pt x="3046476" y="0"/>
                  </a:lnTo>
                  <a:lnTo>
                    <a:pt x="3092182" y="3355"/>
                  </a:lnTo>
                  <a:lnTo>
                    <a:pt x="3135809" y="13102"/>
                  </a:lnTo>
                  <a:lnTo>
                    <a:pt x="3176879" y="28761"/>
                  </a:lnTo>
                  <a:lnTo>
                    <a:pt x="3214911" y="49853"/>
                  </a:lnTo>
                  <a:lnTo>
                    <a:pt x="3249427" y="75899"/>
                  </a:lnTo>
                  <a:lnTo>
                    <a:pt x="3279948" y="106420"/>
                  </a:lnTo>
                  <a:lnTo>
                    <a:pt x="3305994" y="140936"/>
                  </a:lnTo>
                  <a:lnTo>
                    <a:pt x="3327086" y="178968"/>
                  </a:lnTo>
                  <a:lnTo>
                    <a:pt x="3342745" y="220038"/>
                  </a:lnTo>
                  <a:lnTo>
                    <a:pt x="3352492" y="263665"/>
                  </a:lnTo>
                  <a:lnTo>
                    <a:pt x="3355848" y="309371"/>
                  </a:lnTo>
                  <a:lnTo>
                    <a:pt x="3355848" y="1546859"/>
                  </a:lnTo>
                  <a:lnTo>
                    <a:pt x="3352492" y="1592566"/>
                  </a:lnTo>
                  <a:lnTo>
                    <a:pt x="3342745" y="1636193"/>
                  </a:lnTo>
                  <a:lnTo>
                    <a:pt x="3327086" y="1677263"/>
                  </a:lnTo>
                  <a:lnTo>
                    <a:pt x="3305994" y="1715295"/>
                  </a:lnTo>
                  <a:lnTo>
                    <a:pt x="3279948" y="1749811"/>
                  </a:lnTo>
                  <a:lnTo>
                    <a:pt x="3249427" y="1780332"/>
                  </a:lnTo>
                  <a:lnTo>
                    <a:pt x="3214911" y="1806378"/>
                  </a:lnTo>
                  <a:lnTo>
                    <a:pt x="3176879" y="1827470"/>
                  </a:lnTo>
                  <a:lnTo>
                    <a:pt x="3135809" y="1843129"/>
                  </a:lnTo>
                  <a:lnTo>
                    <a:pt x="3092182" y="1852876"/>
                  </a:lnTo>
                  <a:lnTo>
                    <a:pt x="3046476" y="1856231"/>
                  </a:lnTo>
                  <a:lnTo>
                    <a:pt x="309372" y="1856231"/>
                  </a:lnTo>
                  <a:lnTo>
                    <a:pt x="263665" y="1852876"/>
                  </a:lnTo>
                  <a:lnTo>
                    <a:pt x="220038" y="1843129"/>
                  </a:lnTo>
                  <a:lnTo>
                    <a:pt x="178968" y="1827470"/>
                  </a:lnTo>
                  <a:lnTo>
                    <a:pt x="140936" y="1806378"/>
                  </a:lnTo>
                  <a:lnTo>
                    <a:pt x="106420" y="1780332"/>
                  </a:lnTo>
                  <a:lnTo>
                    <a:pt x="75899" y="1749811"/>
                  </a:lnTo>
                  <a:lnTo>
                    <a:pt x="49853" y="1715295"/>
                  </a:lnTo>
                  <a:lnTo>
                    <a:pt x="28761" y="1677263"/>
                  </a:lnTo>
                  <a:lnTo>
                    <a:pt x="13102" y="1636193"/>
                  </a:lnTo>
                  <a:lnTo>
                    <a:pt x="3355" y="1592566"/>
                  </a:lnTo>
                  <a:lnTo>
                    <a:pt x="0" y="1546859"/>
                  </a:lnTo>
                  <a:lnTo>
                    <a:pt x="0" y="30937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45554" y="2906648"/>
            <a:ext cx="28390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Poor</a:t>
            </a: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Requirements</a:t>
            </a:r>
            <a:r>
              <a:rPr dirty="0" sz="18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Gathering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017522" y="4209034"/>
            <a:ext cx="3368675" cy="1867535"/>
            <a:chOff x="2017522" y="4209034"/>
            <a:chExt cx="3368675" cy="1867535"/>
          </a:xfrm>
        </p:grpSpPr>
        <p:sp>
          <p:nvSpPr>
            <p:cNvPr id="9" name="object 9" descr=""/>
            <p:cNvSpPr/>
            <p:nvPr/>
          </p:nvSpPr>
          <p:spPr>
            <a:xfrm>
              <a:off x="2023872" y="4215384"/>
              <a:ext cx="3355975" cy="1854835"/>
            </a:xfrm>
            <a:custGeom>
              <a:avLst/>
              <a:gdLst/>
              <a:ahLst/>
              <a:cxnLst/>
              <a:rect l="l" t="t" r="r" b="b"/>
              <a:pathLst>
                <a:path w="3355975" h="1854835">
                  <a:moveTo>
                    <a:pt x="3046729" y="0"/>
                  </a:moveTo>
                  <a:lnTo>
                    <a:pt x="309117" y="0"/>
                  </a:lnTo>
                  <a:lnTo>
                    <a:pt x="263446" y="3352"/>
                  </a:lnTo>
                  <a:lnTo>
                    <a:pt x="219852" y="13090"/>
                  </a:lnTo>
                  <a:lnTo>
                    <a:pt x="178815" y="28735"/>
                  </a:lnTo>
                  <a:lnTo>
                    <a:pt x="140814" y="49809"/>
                  </a:lnTo>
                  <a:lnTo>
                    <a:pt x="106327" y="75832"/>
                  </a:lnTo>
                  <a:lnTo>
                    <a:pt x="75832" y="106327"/>
                  </a:lnTo>
                  <a:lnTo>
                    <a:pt x="49809" y="140814"/>
                  </a:lnTo>
                  <a:lnTo>
                    <a:pt x="28735" y="178816"/>
                  </a:lnTo>
                  <a:lnTo>
                    <a:pt x="13090" y="219852"/>
                  </a:lnTo>
                  <a:lnTo>
                    <a:pt x="3352" y="263446"/>
                  </a:lnTo>
                  <a:lnTo>
                    <a:pt x="0" y="309118"/>
                  </a:lnTo>
                  <a:lnTo>
                    <a:pt x="0" y="1545577"/>
                  </a:lnTo>
                  <a:lnTo>
                    <a:pt x="3352" y="1591257"/>
                  </a:lnTo>
                  <a:lnTo>
                    <a:pt x="13090" y="1634857"/>
                  </a:lnTo>
                  <a:lnTo>
                    <a:pt x="28735" y="1675898"/>
                  </a:lnTo>
                  <a:lnTo>
                    <a:pt x="49809" y="1713901"/>
                  </a:lnTo>
                  <a:lnTo>
                    <a:pt x="75832" y="1748388"/>
                  </a:lnTo>
                  <a:lnTo>
                    <a:pt x="106327" y="1778882"/>
                  </a:lnTo>
                  <a:lnTo>
                    <a:pt x="140814" y="1804904"/>
                  </a:lnTo>
                  <a:lnTo>
                    <a:pt x="178815" y="1825976"/>
                  </a:lnTo>
                  <a:lnTo>
                    <a:pt x="219852" y="1841619"/>
                  </a:lnTo>
                  <a:lnTo>
                    <a:pt x="263446" y="1851356"/>
                  </a:lnTo>
                  <a:lnTo>
                    <a:pt x="309117" y="1854708"/>
                  </a:lnTo>
                  <a:lnTo>
                    <a:pt x="3046729" y="1854708"/>
                  </a:lnTo>
                  <a:lnTo>
                    <a:pt x="3092401" y="1851356"/>
                  </a:lnTo>
                  <a:lnTo>
                    <a:pt x="3135995" y="1841619"/>
                  </a:lnTo>
                  <a:lnTo>
                    <a:pt x="3177031" y="1825976"/>
                  </a:lnTo>
                  <a:lnTo>
                    <a:pt x="3215033" y="1804904"/>
                  </a:lnTo>
                  <a:lnTo>
                    <a:pt x="3249520" y="1778882"/>
                  </a:lnTo>
                  <a:lnTo>
                    <a:pt x="3280015" y="1748388"/>
                  </a:lnTo>
                  <a:lnTo>
                    <a:pt x="3306038" y="1713901"/>
                  </a:lnTo>
                  <a:lnTo>
                    <a:pt x="3327112" y="1675898"/>
                  </a:lnTo>
                  <a:lnTo>
                    <a:pt x="3342757" y="1634857"/>
                  </a:lnTo>
                  <a:lnTo>
                    <a:pt x="3352495" y="1591257"/>
                  </a:lnTo>
                  <a:lnTo>
                    <a:pt x="3355848" y="1545577"/>
                  </a:lnTo>
                  <a:lnTo>
                    <a:pt x="3355848" y="309118"/>
                  </a:lnTo>
                  <a:lnTo>
                    <a:pt x="3352495" y="263446"/>
                  </a:lnTo>
                  <a:lnTo>
                    <a:pt x="3342757" y="219852"/>
                  </a:lnTo>
                  <a:lnTo>
                    <a:pt x="3327112" y="178816"/>
                  </a:lnTo>
                  <a:lnTo>
                    <a:pt x="3306038" y="140814"/>
                  </a:lnTo>
                  <a:lnTo>
                    <a:pt x="3280015" y="106327"/>
                  </a:lnTo>
                  <a:lnTo>
                    <a:pt x="3249520" y="75832"/>
                  </a:lnTo>
                  <a:lnTo>
                    <a:pt x="3215033" y="49809"/>
                  </a:lnTo>
                  <a:lnTo>
                    <a:pt x="3177031" y="28735"/>
                  </a:lnTo>
                  <a:lnTo>
                    <a:pt x="3135995" y="13090"/>
                  </a:lnTo>
                  <a:lnTo>
                    <a:pt x="3092401" y="3352"/>
                  </a:lnTo>
                  <a:lnTo>
                    <a:pt x="3046729" y="0"/>
                  </a:lnTo>
                  <a:close/>
                </a:path>
              </a:pathLst>
            </a:custGeom>
            <a:solidFill>
              <a:srgbClr val="6C1A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023872" y="4215384"/>
              <a:ext cx="3355975" cy="1854835"/>
            </a:xfrm>
            <a:custGeom>
              <a:avLst/>
              <a:gdLst/>
              <a:ahLst/>
              <a:cxnLst/>
              <a:rect l="l" t="t" r="r" b="b"/>
              <a:pathLst>
                <a:path w="3355975" h="1854835">
                  <a:moveTo>
                    <a:pt x="0" y="309118"/>
                  </a:moveTo>
                  <a:lnTo>
                    <a:pt x="3352" y="263446"/>
                  </a:lnTo>
                  <a:lnTo>
                    <a:pt x="13090" y="219852"/>
                  </a:lnTo>
                  <a:lnTo>
                    <a:pt x="28735" y="178816"/>
                  </a:lnTo>
                  <a:lnTo>
                    <a:pt x="49809" y="140814"/>
                  </a:lnTo>
                  <a:lnTo>
                    <a:pt x="75832" y="106327"/>
                  </a:lnTo>
                  <a:lnTo>
                    <a:pt x="106327" y="75832"/>
                  </a:lnTo>
                  <a:lnTo>
                    <a:pt x="140814" y="49809"/>
                  </a:lnTo>
                  <a:lnTo>
                    <a:pt x="178815" y="28735"/>
                  </a:lnTo>
                  <a:lnTo>
                    <a:pt x="219852" y="13090"/>
                  </a:lnTo>
                  <a:lnTo>
                    <a:pt x="263446" y="3352"/>
                  </a:lnTo>
                  <a:lnTo>
                    <a:pt x="309117" y="0"/>
                  </a:lnTo>
                  <a:lnTo>
                    <a:pt x="3046729" y="0"/>
                  </a:lnTo>
                  <a:lnTo>
                    <a:pt x="3092401" y="3352"/>
                  </a:lnTo>
                  <a:lnTo>
                    <a:pt x="3135995" y="13090"/>
                  </a:lnTo>
                  <a:lnTo>
                    <a:pt x="3177031" y="28735"/>
                  </a:lnTo>
                  <a:lnTo>
                    <a:pt x="3215033" y="49809"/>
                  </a:lnTo>
                  <a:lnTo>
                    <a:pt x="3249520" y="75832"/>
                  </a:lnTo>
                  <a:lnTo>
                    <a:pt x="3280015" y="106327"/>
                  </a:lnTo>
                  <a:lnTo>
                    <a:pt x="3306038" y="140814"/>
                  </a:lnTo>
                  <a:lnTo>
                    <a:pt x="3327112" y="178816"/>
                  </a:lnTo>
                  <a:lnTo>
                    <a:pt x="3342757" y="219852"/>
                  </a:lnTo>
                  <a:lnTo>
                    <a:pt x="3352495" y="263446"/>
                  </a:lnTo>
                  <a:lnTo>
                    <a:pt x="3355848" y="309118"/>
                  </a:lnTo>
                  <a:lnTo>
                    <a:pt x="3355848" y="1545577"/>
                  </a:lnTo>
                  <a:lnTo>
                    <a:pt x="3352495" y="1591257"/>
                  </a:lnTo>
                  <a:lnTo>
                    <a:pt x="3342757" y="1634857"/>
                  </a:lnTo>
                  <a:lnTo>
                    <a:pt x="3327112" y="1675898"/>
                  </a:lnTo>
                  <a:lnTo>
                    <a:pt x="3306038" y="1713901"/>
                  </a:lnTo>
                  <a:lnTo>
                    <a:pt x="3280015" y="1748388"/>
                  </a:lnTo>
                  <a:lnTo>
                    <a:pt x="3249520" y="1778882"/>
                  </a:lnTo>
                  <a:lnTo>
                    <a:pt x="3215033" y="1804904"/>
                  </a:lnTo>
                  <a:lnTo>
                    <a:pt x="3177031" y="1825976"/>
                  </a:lnTo>
                  <a:lnTo>
                    <a:pt x="3135995" y="1841619"/>
                  </a:lnTo>
                  <a:lnTo>
                    <a:pt x="3092401" y="1851356"/>
                  </a:lnTo>
                  <a:lnTo>
                    <a:pt x="3046729" y="1854708"/>
                  </a:lnTo>
                  <a:lnTo>
                    <a:pt x="309117" y="1854708"/>
                  </a:lnTo>
                  <a:lnTo>
                    <a:pt x="263446" y="1851356"/>
                  </a:lnTo>
                  <a:lnTo>
                    <a:pt x="219852" y="1841619"/>
                  </a:lnTo>
                  <a:lnTo>
                    <a:pt x="178815" y="1825976"/>
                  </a:lnTo>
                  <a:lnTo>
                    <a:pt x="140814" y="1804904"/>
                  </a:lnTo>
                  <a:lnTo>
                    <a:pt x="106327" y="1778882"/>
                  </a:lnTo>
                  <a:lnTo>
                    <a:pt x="75832" y="1748388"/>
                  </a:lnTo>
                  <a:lnTo>
                    <a:pt x="49809" y="1713901"/>
                  </a:lnTo>
                  <a:lnTo>
                    <a:pt x="28735" y="1675898"/>
                  </a:lnTo>
                  <a:lnTo>
                    <a:pt x="13090" y="1634857"/>
                  </a:lnTo>
                  <a:lnTo>
                    <a:pt x="3352" y="1591257"/>
                  </a:lnTo>
                  <a:lnTo>
                    <a:pt x="0" y="1545577"/>
                  </a:lnTo>
                  <a:lnTo>
                    <a:pt x="0" y="30911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2543301" y="4841494"/>
            <a:ext cx="23158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2780" marR="5080" indent="-640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Unrealistic</a:t>
            </a:r>
            <a:r>
              <a:rPr dirty="0" sz="18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planning</a:t>
            </a:r>
            <a:r>
              <a:rPr dirty="0" sz="18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scheduling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589776" y="4137659"/>
            <a:ext cx="3369945" cy="1870075"/>
            <a:chOff x="6589776" y="4137659"/>
            <a:chExt cx="3369945" cy="1870075"/>
          </a:xfrm>
        </p:grpSpPr>
        <p:sp>
          <p:nvSpPr>
            <p:cNvPr id="13" name="object 13" descr=""/>
            <p:cNvSpPr/>
            <p:nvPr/>
          </p:nvSpPr>
          <p:spPr>
            <a:xfrm>
              <a:off x="6595872" y="4143755"/>
              <a:ext cx="3357879" cy="1858010"/>
            </a:xfrm>
            <a:custGeom>
              <a:avLst/>
              <a:gdLst/>
              <a:ahLst/>
              <a:cxnLst/>
              <a:rect l="l" t="t" r="r" b="b"/>
              <a:pathLst>
                <a:path w="3357879" h="1858010">
                  <a:moveTo>
                    <a:pt x="3047746" y="0"/>
                  </a:moveTo>
                  <a:lnTo>
                    <a:pt x="309625" y="0"/>
                  </a:lnTo>
                  <a:lnTo>
                    <a:pt x="263885" y="3358"/>
                  </a:lnTo>
                  <a:lnTo>
                    <a:pt x="220223" y="13114"/>
                  </a:lnTo>
                  <a:lnTo>
                    <a:pt x="179121" y="28787"/>
                  </a:lnTo>
                  <a:lnTo>
                    <a:pt x="141057" y="49897"/>
                  </a:lnTo>
                  <a:lnTo>
                    <a:pt x="106512" y="75966"/>
                  </a:lnTo>
                  <a:lnTo>
                    <a:pt x="75966" y="106512"/>
                  </a:lnTo>
                  <a:lnTo>
                    <a:pt x="49897" y="141057"/>
                  </a:lnTo>
                  <a:lnTo>
                    <a:pt x="28787" y="179121"/>
                  </a:lnTo>
                  <a:lnTo>
                    <a:pt x="13114" y="220223"/>
                  </a:lnTo>
                  <a:lnTo>
                    <a:pt x="3358" y="263885"/>
                  </a:lnTo>
                  <a:lnTo>
                    <a:pt x="0" y="309626"/>
                  </a:lnTo>
                  <a:lnTo>
                    <a:pt x="0" y="1548117"/>
                  </a:lnTo>
                  <a:lnTo>
                    <a:pt x="3358" y="1593872"/>
                  </a:lnTo>
                  <a:lnTo>
                    <a:pt x="13114" y="1637543"/>
                  </a:lnTo>
                  <a:lnTo>
                    <a:pt x="28787" y="1678651"/>
                  </a:lnTo>
                  <a:lnTo>
                    <a:pt x="49897" y="1716717"/>
                  </a:lnTo>
                  <a:lnTo>
                    <a:pt x="75966" y="1751261"/>
                  </a:lnTo>
                  <a:lnTo>
                    <a:pt x="106512" y="1781805"/>
                  </a:lnTo>
                  <a:lnTo>
                    <a:pt x="141057" y="1807870"/>
                  </a:lnTo>
                  <a:lnTo>
                    <a:pt x="179121" y="1828976"/>
                  </a:lnTo>
                  <a:lnTo>
                    <a:pt x="220223" y="1844645"/>
                  </a:lnTo>
                  <a:lnTo>
                    <a:pt x="263885" y="1854398"/>
                  </a:lnTo>
                  <a:lnTo>
                    <a:pt x="309625" y="1857756"/>
                  </a:lnTo>
                  <a:lnTo>
                    <a:pt x="3047746" y="1857756"/>
                  </a:lnTo>
                  <a:lnTo>
                    <a:pt x="3093486" y="1854398"/>
                  </a:lnTo>
                  <a:lnTo>
                    <a:pt x="3137148" y="1844645"/>
                  </a:lnTo>
                  <a:lnTo>
                    <a:pt x="3178250" y="1828976"/>
                  </a:lnTo>
                  <a:lnTo>
                    <a:pt x="3216314" y="1807870"/>
                  </a:lnTo>
                  <a:lnTo>
                    <a:pt x="3250859" y="1781805"/>
                  </a:lnTo>
                  <a:lnTo>
                    <a:pt x="3281405" y="1751261"/>
                  </a:lnTo>
                  <a:lnTo>
                    <a:pt x="3307474" y="1716717"/>
                  </a:lnTo>
                  <a:lnTo>
                    <a:pt x="3328584" y="1678651"/>
                  </a:lnTo>
                  <a:lnTo>
                    <a:pt x="3344257" y="1637543"/>
                  </a:lnTo>
                  <a:lnTo>
                    <a:pt x="3354013" y="1593872"/>
                  </a:lnTo>
                  <a:lnTo>
                    <a:pt x="3357372" y="1548117"/>
                  </a:lnTo>
                  <a:lnTo>
                    <a:pt x="3357372" y="309626"/>
                  </a:lnTo>
                  <a:lnTo>
                    <a:pt x="3354013" y="263885"/>
                  </a:lnTo>
                  <a:lnTo>
                    <a:pt x="3344257" y="220223"/>
                  </a:lnTo>
                  <a:lnTo>
                    <a:pt x="3328584" y="179121"/>
                  </a:lnTo>
                  <a:lnTo>
                    <a:pt x="3307474" y="141057"/>
                  </a:lnTo>
                  <a:lnTo>
                    <a:pt x="3281405" y="106512"/>
                  </a:lnTo>
                  <a:lnTo>
                    <a:pt x="3250859" y="75966"/>
                  </a:lnTo>
                  <a:lnTo>
                    <a:pt x="3216314" y="49897"/>
                  </a:lnTo>
                  <a:lnTo>
                    <a:pt x="3178250" y="28787"/>
                  </a:lnTo>
                  <a:lnTo>
                    <a:pt x="3137148" y="13114"/>
                  </a:lnTo>
                  <a:lnTo>
                    <a:pt x="3093486" y="3358"/>
                  </a:lnTo>
                  <a:lnTo>
                    <a:pt x="3047746" y="0"/>
                  </a:lnTo>
                  <a:close/>
                </a:path>
              </a:pathLst>
            </a:custGeom>
            <a:solidFill>
              <a:srgbClr val="6C1A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595872" y="4143755"/>
              <a:ext cx="3357879" cy="1858010"/>
            </a:xfrm>
            <a:custGeom>
              <a:avLst/>
              <a:gdLst/>
              <a:ahLst/>
              <a:cxnLst/>
              <a:rect l="l" t="t" r="r" b="b"/>
              <a:pathLst>
                <a:path w="3357879" h="1858010">
                  <a:moveTo>
                    <a:pt x="0" y="309626"/>
                  </a:moveTo>
                  <a:lnTo>
                    <a:pt x="3358" y="263885"/>
                  </a:lnTo>
                  <a:lnTo>
                    <a:pt x="13114" y="220223"/>
                  </a:lnTo>
                  <a:lnTo>
                    <a:pt x="28787" y="179121"/>
                  </a:lnTo>
                  <a:lnTo>
                    <a:pt x="49897" y="141057"/>
                  </a:lnTo>
                  <a:lnTo>
                    <a:pt x="75966" y="106512"/>
                  </a:lnTo>
                  <a:lnTo>
                    <a:pt x="106512" y="75966"/>
                  </a:lnTo>
                  <a:lnTo>
                    <a:pt x="141057" y="49897"/>
                  </a:lnTo>
                  <a:lnTo>
                    <a:pt x="179121" y="28787"/>
                  </a:lnTo>
                  <a:lnTo>
                    <a:pt x="220223" y="13114"/>
                  </a:lnTo>
                  <a:lnTo>
                    <a:pt x="263885" y="3358"/>
                  </a:lnTo>
                  <a:lnTo>
                    <a:pt x="309625" y="0"/>
                  </a:lnTo>
                  <a:lnTo>
                    <a:pt x="3047746" y="0"/>
                  </a:lnTo>
                  <a:lnTo>
                    <a:pt x="3093486" y="3358"/>
                  </a:lnTo>
                  <a:lnTo>
                    <a:pt x="3137148" y="13114"/>
                  </a:lnTo>
                  <a:lnTo>
                    <a:pt x="3178250" y="28787"/>
                  </a:lnTo>
                  <a:lnTo>
                    <a:pt x="3216314" y="49897"/>
                  </a:lnTo>
                  <a:lnTo>
                    <a:pt x="3250859" y="75966"/>
                  </a:lnTo>
                  <a:lnTo>
                    <a:pt x="3281405" y="106512"/>
                  </a:lnTo>
                  <a:lnTo>
                    <a:pt x="3307474" y="141057"/>
                  </a:lnTo>
                  <a:lnTo>
                    <a:pt x="3328584" y="179121"/>
                  </a:lnTo>
                  <a:lnTo>
                    <a:pt x="3344257" y="220223"/>
                  </a:lnTo>
                  <a:lnTo>
                    <a:pt x="3354013" y="263885"/>
                  </a:lnTo>
                  <a:lnTo>
                    <a:pt x="3357372" y="309626"/>
                  </a:lnTo>
                  <a:lnTo>
                    <a:pt x="3357372" y="1548117"/>
                  </a:lnTo>
                  <a:lnTo>
                    <a:pt x="3354013" y="1593872"/>
                  </a:lnTo>
                  <a:lnTo>
                    <a:pt x="3344257" y="1637543"/>
                  </a:lnTo>
                  <a:lnTo>
                    <a:pt x="3328584" y="1678651"/>
                  </a:lnTo>
                  <a:lnTo>
                    <a:pt x="3307474" y="1716717"/>
                  </a:lnTo>
                  <a:lnTo>
                    <a:pt x="3281405" y="1751261"/>
                  </a:lnTo>
                  <a:lnTo>
                    <a:pt x="3250859" y="1781805"/>
                  </a:lnTo>
                  <a:lnTo>
                    <a:pt x="3216314" y="1807870"/>
                  </a:lnTo>
                  <a:lnTo>
                    <a:pt x="3178250" y="1828976"/>
                  </a:lnTo>
                  <a:lnTo>
                    <a:pt x="3137148" y="1844645"/>
                  </a:lnTo>
                  <a:lnTo>
                    <a:pt x="3093486" y="1854398"/>
                  </a:lnTo>
                  <a:lnTo>
                    <a:pt x="3047746" y="1857756"/>
                  </a:lnTo>
                  <a:lnTo>
                    <a:pt x="309625" y="1857756"/>
                  </a:lnTo>
                  <a:lnTo>
                    <a:pt x="263885" y="1854398"/>
                  </a:lnTo>
                  <a:lnTo>
                    <a:pt x="220223" y="1844645"/>
                  </a:lnTo>
                  <a:lnTo>
                    <a:pt x="179121" y="1828976"/>
                  </a:lnTo>
                  <a:lnTo>
                    <a:pt x="141057" y="1807870"/>
                  </a:lnTo>
                  <a:lnTo>
                    <a:pt x="106512" y="1781805"/>
                  </a:lnTo>
                  <a:lnTo>
                    <a:pt x="75966" y="1751261"/>
                  </a:lnTo>
                  <a:lnTo>
                    <a:pt x="49897" y="1716717"/>
                  </a:lnTo>
                  <a:lnTo>
                    <a:pt x="28787" y="1678651"/>
                  </a:lnTo>
                  <a:lnTo>
                    <a:pt x="13114" y="1637543"/>
                  </a:lnTo>
                  <a:lnTo>
                    <a:pt x="3358" y="1593872"/>
                  </a:lnTo>
                  <a:lnTo>
                    <a:pt x="0" y="1548117"/>
                  </a:lnTo>
                  <a:lnTo>
                    <a:pt x="0" y="309626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451217" y="4908042"/>
            <a:ext cx="16490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Lack</a:t>
            </a:r>
            <a:r>
              <a:rPr dirty="0" sz="18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resources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01154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dirty="0" spc="-140"/>
              <a:t> </a:t>
            </a:r>
            <a:r>
              <a:rPr dirty="0"/>
              <a:t>Management</a:t>
            </a:r>
            <a:r>
              <a:rPr dirty="0" spc="-135"/>
              <a:t> </a:t>
            </a:r>
            <a:r>
              <a:rPr dirty="0" spc="-55"/>
              <a:t>Tools</a:t>
            </a:r>
          </a:p>
        </p:txBody>
      </p:sp>
      <p:pic>
        <p:nvPicPr>
          <p:cNvPr id="3" name="object 3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82383" y="1857755"/>
            <a:ext cx="3157728" cy="194157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060194" y="1902663"/>
            <a:ext cx="7967980" cy="339725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1300" marR="3410585" indent="-228600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latin typeface="Calibri"/>
                <a:cs typeface="Calibri"/>
              </a:rPr>
              <a:t>PERT</a:t>
            </a:r>
            <a:r>
              <a:rPr dirty="0" sz="2800" spc="-11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Chart</a:t>
            </a:r>
            <a:r>
              <a:rPr dirty="0" sz="2800">
                <a:latin typeface="Calibri"/>
                <a:cs typeface="Calibri"/>
              </a:rPr>
              <a:t>-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designed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 spc="-10">
                <a:latin typeface="Calibri"/>
                <a:cs typeface="Calibri"/>
              </a:rPr>
              <a:t>analyze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represent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tasks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involved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completing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>
                <a:latin typeface="Calibri"/>
                <a:cs typeface="Calibri"/>
              </a:rPr>
              <a:t>given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project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3850">
              <a:latin typeface="Calibri"/>
              <a:cs typeface="Calibri"/>
            </a:endParaRPr>
          </a:p>
          <a:p>
            <a:pPr lvl="1" marL="4041775" marR="5080" indent="-342900">
              <a:lnSpc>
                <a:spcPct val="100000"/>
              </a:lnSpc>
              <a:buClr>
                <a:srgbClr val="B77851"/>
              </a:buClr>
              <a:buSzPct val="94230"/>
              <a:buFont typeface="Segoe UI Symbol"/>
              <a:buChar char="⚫"/>
              <a:tabLst>
                <a:tab pos="4041775" algn="l"/>
                <a:tab pos="4042410" algn="l"/>
              </a:tabLst>
            </a:pPr>
            <a:r>
              <a:rPr dirty="0" sz="2600" b="1">
                <a:latin typeface="Calibri"/>
                <a:cs typeface="Calibri"/>
              </a:rPr>
              <a:t>Gantt</a:t>
            </a:r>
            <a:r>
              <a:rPr dirty="0" sz="2600" spc="-1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Chart</a:t>
            </a:r>
            <a:r>
              <a:rPr dirty="0" sz="2600" spc="-20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-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popular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type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of </a:t>
            </a:r>
            <a:r>
              <a:rPr dirty="0" sz="2600">
                <a:latin typeface="Calibri"/>
                <a:cs typeface="Calibri"/>
              </a:rPr>
              <a:t>bar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chart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10">
                <a:latin typeface="Calibri"/>
                <a:cs typeface="Calibri"/>
              </a:rPr>
              <a:t> illustrates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a </a:t>
            </a:r>
            <a:r>
              <a:rPr dirty="0" sz="2600">
                <a:latin typeface="Calibri"/>
                <a:cs typeface="Calibri"/>
              </a:rPr>
              <a:t>project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schedule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5" name="object 5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1401" y="3978573"/>
            <a:ext cx="3831981" cy="254970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Role</a:t>
            </a:r>
            <a:r>
              <a:rPr dirty="0" spc="-165"/>
              <a:t> </a:t>
            </a:r>
            <a:r>
              <a:rPr dirty="0"/>
              <a:t>of</a:t>
            </a:r>
            <a:r>
              <a:rPr dirty="0" spc="-145"/>
              <a:t> </a:t>
            </a:r>
            <a:r>
              <a:rPr dirty="0"/>
              <a:t>a</a:t>
            </a:r>
            <a:r>
              <a:rPr dirty="0" spc="-135"/>
              <a:t> </a:t>
            </a:r>
            <a:r>
              <a:rPr dirty="0" spc="-30"/>
              <a:t>Project</a:t>
            </a:r>
            <a:r>
              <a:rPr dirty="0" spc="-155"/>
              <a:t> </a:t>
            </a:r>
            <a:r>
              <a:rPr dirty="0" spc="-25"/>
              <a:t>Manager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232660" y="1923288"/>
            <a:ext cx="3441700" cy="4512945"/>
            <a:chOff x="2232660" y="1923288"/>
            <a:chExt cx="3441700" cy="4512945"/>
          </a:xfrm>
        </p:grpSpPr>
        <p:sp>
          <p:nvSpPr>
            <p:cNvPr id="4" name="object 4" descr=""/>
            <p:cNvSpPr/>
            <p:nvPr/>
          </p:nvSpPr>
          <p:spPr>
            <a:xfrm>
              <a:off x="2238756" y="1929384"/>
              <a:ext cx="3429000" cy="4500880"/>
            </a:xfrm>
            <a:custGeom>
              <a:avLst/>
              <a:gdLst/>
              <a:ahLst/>
              <a:cxnLst/>
              <a:rect l="l" t="t" r="r" b="b"/>
              <a:pathLst>
                <a:path w="3429000" h="4500880">
                  <a:moveTo>
                    <a:pt x="1703323" y="0"/>
                  </a:moveTo>
                  <a:lnTo>
                    <a:pt x="1703323" y="1125092"/>
                  </a:lnTo>
                  <a:lnTo>
                    <a:pt x="0" y="1125092"/>
                  </a:lnTo>
                  <a:lnTo>
                    <a:pt x="0" y="3375279"/>
                  </a:lnTo>
                  <a:lnTo>
                    <a:pt x="1703323" y="3375279"/>
                  </a:lnTo>
                  <a:lnTo>
                    <a:pt x="1703323" y="4500372"/>
                  </a:lnTo>
                  <a:lnTo>
                    <a:pt x="3429000" y="2250185"/>
                  </a:lnTo>
                  <a:lnTo>
                    <a:pt x="170332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238756" y="1929384"/>
              <a:ext cx="3429000" cy="4500880"/>
            </a:xfrm>
            <a:custGeom>
              <a:avLst/>
              <a:gdLst/>
              <a:ahLst/>
              <a:cxnLst/>
              <a:rect l="l" t="t" r="r" b="b"/>
              <a:pathLst>
                <a:path w="3429000" h="4500880">
                  <a:moveTo>
                    <a:pt x="0" y="1125092"/>
                  </a:moveTo>
                  <a:lnTo>
                    <a:pt x="1703323" y="1125092"/>
                  </a:lnTo>
                  <a:lnTo>
                    <a:pt x="1703323" y="0"/>
                  </a:lnTo>
                  <a:lnTo>
                    <a:pt x="3429000" y="2250185"/>
                  </a:lnTo>
                  <a:lnTo>
                    <a:pt x="1703323" y="4500372"/>
                  </a:lnTo>
                  <a:lnTo>
                    <a:pt x="1703323" y="3375279"/>
                  </a:lnTo>
                  <a:lnTo>
                    <a:pt x="0" y="3375279"/>
                  </a:lnTo>
                  <a:lnTo>
                    <a:pt x="0" y="1125092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6589521" y="1851405"/>
            <a:ext cx="3441700" cy="4584700"/>
            <a:chOff x="6589521" y="1851405"/>
            <a:chExt cx="3441700" cy="4584700"/>
          </a:xfrm>
        </p:grpSpPr>
        <p:sp>
          <p:nvSpPr>
            <p:cNvPr id="7" name="object 7" descr=""/>
            <p:cNvSpPr/>
            <p:nvPr/>
          </p:nvSpPr>
          <p:spPr>
            <a:xfrm>
              <a:off x="6595871" y="1857755"/>
              <a:ext cx="3429000" cy="4572000"/>
            </a:xfrm>
            <a:custGeom>
              <a:avLst/>
              <a:gdLst/>
              <a:ahLst/>
              <a:cxnLst/>
              <a:rect l="l" t="t" r="r" b="b"/>
              <a:pathLst>
                <a:path w="3429000" h="4572000">
                  <a:moveTo>
                    <a:pt x="1714500" y="0"/>
                  </a:moveTo>
                  <a:lnTo>
                    <a:pt x="0" y="2286000"/>
                  </a:lnTo>
                  <a:lnTo>
                    <a:pt x="1714500" y="4572000"/>
                  </a:lnTo>
                  <a:lnTo>
                    <a:pt x="1714500" y="3429000"/>
                  </a:lnTo>
                  <a:lnTo>
                    <a:pt x="3429000" y="3429000"/>
                  </a:lnTo>
                  <a:lnTo>
                    <a:pt x="3429000" y="1143000"/>
                  </a:lnTo>
                  <a:lnTo>
                    <a:pt x="1714500" y="11430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595871" y="1857755"/>
              <a:ext cx="3429000" cy="4572000"/>
            </a:xfrm>
            <a:custGeom>
              <a:avLst/>
              <a:gdLst/>
              <a:ahLst/>
              <a:cxnLst/>
              <a:rect l="l" t="t" r="r" b="b"/>
              <a:pathLst>
                <a:path w="3429000" h="4572000">
                  <a:moveTo>
                    <a:pt x="0" y="2286000"/>
                  </a:moveTo>
                  <a:lnTo>
                    <a:pt x="1714500" y="0"/>
                  </a:lnTo>
                  <a:lnTo>
                    <a:pt x="1714500" y="1143000"/>
                  </a:lnTo>
                  <a:lnTo>
                    <a:pt x="3429000" y="1143000"/>
                  </a:lnTo>
                  <a:lnTo>
                    <a:pt x="3429000" y="3429000"/>
                  </a:lnTo>
                  <a:lnTo>
                    <a:pt x="1714500" y="3429000"/>
                  </a:lnTo>
                  <a:lnTo>
                    <a:pt x="1714500" y="4572000"/>
                  </a:lnTo>
                  <a:lnTo>
                    <a:pt x="0" y="2286000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2245867" y="5382564"/>
            <a:ext cx="160845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 MT"/>
                <a:cs typeface="Arial MT"/>
              </a:rPr>
              <a:t>Process Responsibilities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390381" y="5385917"/>
            <a:ext cx="16084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 MT"/>
                <a:cs typeface="Arial MT"/>
              </a:rPr>
              <a:t>People Responsibilities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1913" y="2801453"/>
            <a:ext cx="1347859" cy="259080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245867" y="3313938"/>
            <a:ext cx="3016885" cy="1519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3825" indent="-11176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24460" algn="l"/>
              </a:tabLst>
            </a:pP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Project</a:t>
            </a:r>
            <a:r>
              <a:rPr dirty="0" sz="1400" spc="-40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52525"/>
                </a:solidFill>
                <a:latin typeface="Arial"/>
                <a:cs typeface="Arial"/>
              </a:rPr>
              <a:t>issues</a:t>
            </a:r>
            <a:endParaRPr sz="1400">
              <a:latin typeface="Arial"/>
              <a:cs typeface="Arial"/>
            </a:endParaRPr>
          </a:p>
          <a:p>
            <a:pPr marL="123825" indent="-111760">
              <a:lnSpc>
                <a:spcPct val="100000"/>
              </a:lnSpc>
              <a:buFont typeface="Arial MT"/>
              <a:buChar char="•"/>
              <a:tabLst>
                <a:tab pos="124460" algn="l"/>
              </a:tabLst>
            </a:pP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Disseminating</a:t>
            </a:r>
            <a:r>
              <a:rPr dirty="0" sz="1400" spc="-75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project</a:t>
            </a:r>
            <a:r>
              <a:rPr dirty="0" sz="1400" spc="-55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52525"/>
                </a:solidFill>
                <a:latin typeface="Arial"/>
                <a:cs typeface="Arial"/>
              </a:rPr>
              <a:t>information</a:t>
            </a:r>
            <a:endParaRPr sz="1400">
              <a:latin typeface="Arial"/>
              <a:cs typeface="Arial"/>
            </a:endParaRPr>
          </a:p>
          <a:p>
            <a:pPr marL="123825" indent="-111760">
              <a:lnSpc>
                <a:spcPct val="100000"/>
              </a:lnSpc>
              <a:buFont typeface="Arial MT"/>
              <a:buChar char="•"/>
              <a:tabLst>
                <a:tab pos="124460" algn="l"/>
              </a:tabLst>
            </a:pP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Mitigating</a:t>
            </a:r>
            <a:r>
              <a:rPr dirty="0" sz="1400" spc="-80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project</a:t>
            </a:r>
            <a:r>
              <a:rPr dirty="0" sz="1400" spc="-60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252525"/>
                </a:solidFill>
                <a:latin typeface="Arial"/>
                <a:cs typeface="Arial"/>
              </a:rPr>
              <a:t>risk</a:t>
            </a:r>
            <a:endParaRPr sz="1400">
              <a:latin typeface="Arial"/>
              <a:cs typeface="Arial"/>
            </a:endParaRPr>
          </a:p>
          <a:p>
            <a:pPr marL="123825" indent="-111760">
              <a:lnSpc>
                <a:spcPct val="100000"/>
              </a:lnSpc>
              <a:buFont typeface="Arial MT"/>
              <a:buChar char="•"/>
              <a:tabLst>
                <a:tab pos="124460" algn="l"/>
              </a:tabLst>
            </a:pPr>
            <a:r>
              <a:rPr dirty="0" sz="1400" spc="-10" b="1">
                <a:solidFill>
                  <a:srgbClr val="252525"/>
                </a:solidFill>
                <a:latin typeface="Arial"/>
                <a:cs typeface="Arial"/>
              </a:rPr>
              <a:t>Quality</a:t>
            </a:r>
            <a:endParaRPr sz="1400">
              <a:latin typeface="Arial"/>
              <a:cs typeface="Arial"/>
            </a:endParaRPr>
          </a:p>
          <a:p>
            <a:pPr marL="123825" indent="-111760">
              <a:lnSpc>
                <a:spcPct val="100000"/>
              </a:lnSpc>
              <a:buFont typeface="Arial MT"/>
              <a:buChar char="•"/>
              <a:tabLst>
                <a:tab pos="124460" algn="l"/>
              </a:tabLst>
            </a:pP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Managing</a:t>
            </a:r>
            <a:r>
              <a:rPr dirty="0" sz="1400" spc="-85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252525"/>
                </a:solidFill>
                <a:latin typeface="Arial"/>
                <a:cs typeface="Arial"/>
              </a:rPr>
              <a:t>scope</a:t>
            </a:r>
            <a:endParaRPr sz="1400">
              <a:latin typeface="Arial"/>
              <a:cs typeface="Arial"/>
            </a:endParaRPr>
          </a:p>
          <a:p>
            <a:pPr marL="123825" indent="-111760">
              <a:lnSpc>
                <a:spcPct val="100000"/>
              </a:lnSpc>
              <a:buFont typeface="Arial MT"/>
              <a:buChar char="•"/>
              <a:tabLst>
                <a:tab pos="124460" algn="l"/>
              </a:tabLst>
            </a:pPr>
            <a:r>
              <a:rPr dirty="0" sz="1400" spc="-10" b="1">
                <a:solidFill>
                  <a:srgbClr val="252525"/>
                </a:solidFill>
                <a:latin typeface="Arial"/>
                <a:cs typeface="Arial"/>
              </a:rPr>
              <a:t>Metrics</a:t>
            </a:r>
            <a:endParaRPr sz="1400">
              <a:latin typeface="Arial"/>
              <a:cs typeface="Arial"/>
            </a:endParaRPr>
          </a:p>
          <a:p>
            <a:pPr marL="123825" indent="-111760">
              <a:lnSpc>
                <a:spcPct val="100000"/>
              </a:lnSpc>
              <a:buFont typeface="Arial MT"/>
              <a:buChar char="•"/>
              <a:tabLst>
                <a:tab pos="124460" algn="l"/>
              </a:tabLst>
            </a:pP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Managing</a:t>
            </a:r>
            <a:r>
              <a:rPr dirty="0" sz="1400" spc="-65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the</a:t>
            </a:r>
            <a:r>
              <a:rPr dirty="0" sz="1400" spc="-30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overall</a:t>
            </a:r>
            <a:r>
              <a:rPr dirty="0" sz="1400" spc="-30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work</a:t>
            </a:r>
            <a:r>
              <a:rPr dirty="0" sz="1400" spc="-55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252525"/>
                </a:solidFill>
                <a:latin typeface="Arial"/>
                <a:cs typeface="Arial"/>
              </a:rPr>
              <a:t>plan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033006" y="3528186"/>
            <a:ext cx="3016885" cy="1092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3825" indent="-11176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24460" algn="l"/>
              </a:tabLst>
            </a:pP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Implementing</a:t>
            </a:r>
            <a:r>
              <a:rPr dirty="0" sz="1400" spc="-75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standard</a:t>
            </a:r>
            <a:r>
              <a:rPr dirty="0" sz="1400" spc="-60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52525"/>
                </a:solidFill>
                <a:latin typeface="Arial"/>
                <a:cs typeface="Arial"/>
              </a:rPr>
              <a:t>processes</a:t>
            </a:r>
            <a:endParaRPr sz="1400">
              <a:latin typeface="Arial"/>
              <a:cs typeface="Arial"/>
            </a:endParaRPr>
          </a:p>
          <a:p>
            <a:pPr marL="123825" indent="-111760">
              <a:lnSpc>
                <a:spcPct val="100000"/>
              </a:lnSpc>
              <a:buFont typeface="Arial MT"/>
              <a:buChar char="•"/>
              <a:tabLst>
                <a:tab pos="124460" algn="l"/>
              </a:tabLst>
            </a:pP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Establishing</a:t>
            </a:r>
            <a:r>
              <a:rPr dirty="0" sz="1400" spc="-80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leadership</a:t>
            </a:r>
            <a:r>
              <a:rPr dirty="0" sz="1400" spc="-80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52525"/>
                </a:solidFill>
                <a:latin typeface="Arial"/>
                <a:cs typeface="Arial"/>
              </a:rPr>
              <a:t>skills</a:t>
            </a:r>
            <a:endParaRPr sz="1400">
              <a:latin typeface="Arial"/>
              <a:cs typeface="Arial"/>
            </a:endParaRPr>
          </a:p>
          <a:p>
            <a:pPr marL="123825" indent="-111760">
              <a:lnSpc>
                <a:spcPct val="100000"/>
              </a:lnSpc>
              <a:buFont typeface="Arial MT"/>
              <a:buChar char="•"/>
              <a:tabLst>
                <a:tab pos="124460" algn="l"/>
              </a:tabLst>
            </a:pP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Setting</a:t>
            </a:r>
            <a:r>
              <a:rPr dirty="0" sz="1400" spc="345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52525"/>
                </a:solidFill>
                <a:latin typeface="Arial"/>
                <a:cs typeface="Arial"/>
              </a:rPr>
              <a:t>expectations</a:t>
            </a:r>
            <a:endParaRPr sz="1400">
              <a:latin typeface="Arial"/>
              <a:cs typeface="Arial"/>
            </a:endParaRPr>
          </a:p>
          <a:p>
            <a:pPr marL="123825" indent="-111760">
              <a:lnSpc>
                <a:spcPct val="100000"/>
              </a:lnSpc>
              <a:buFont typeface="Arial MT"/>
              <a:buChar char="•"/>
              <a:tabLst>
                <a:tab pos="124460" algn="l"/>
              </a:tabLst>
            </a:pPr>
            <a:r>
              <a:rPr dirty="0" sz="1400" spc="-10" b="1">
                <a:solidFill>
                  <a:srgbClr val="252525"/>
                </a:solidFill>
                <a:latin typeface="Arial"/>
                <a:cs typeface="Arial"/>
              </a:rPr>
              <a:t>Team</a:t>
            </a:r>
            <a:r>
              <a:rPr dirty="0" sz="1400" spc="-85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52525"/>
                </a:solidFill>
                <a:latin typeface="Arial"/>
                <a:cs typeface="Arial"/>
              </a:rPr>
              <a:t>building</a:t>
            </a:r>
            <a:endParaRPr sz="1400">
              <a:latin typeface="Arial"/>
              <a:cs typeface="Arial"/>
            </a:endParaRPr>
          </a:p>
          <a:p>
            <a:pPr marL="123825" indent="-111760">
              <a:lnSpc>
                <a:spcPct val="100000"/>
              </a:lnSpc>
              <a:buFont typeface="Arial MT"/>
              <a:buChar char="•"/>
              <a:tabLst>
                <a:tab pos="124460" algn="l"/>
              </a:tabLst>
            </a:pP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Communicator</a:t>
            </a:r>
            <a:r>
              <a:rPr dirty="0" sz="1400" spc="-80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52525"/>
                </a:solidFill>
                <a:latin typeface="Arial"/>
                <a:cs typeface="Arial"/>
              </a:rPr>
              <a:t>skills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Gantt</a:t>
            </a:r>
            <a:r>
              <a:rPr dirty="0" spc="-114"/>
              <a:t> </a:t>
            </a:r>
            <a:r>
              <a:rPr dirty="0" spc="-10"/>
              <a:t>Chart</a:t>
            </a:r>
          </a:p>
        </p:txBody>
      </p:sp>
      <p:pic>
        <p:nvPicPr>
          <p:cNvPr id="3" name="object 3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4874" y="1961015"/>
            <a:ext cx="7022117" cy="467176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PERT</a:t>
            </a:r>
            <a:r>
              <a:rPr dirty="0" spc="-75"/>
              <a:t> </a:t>
            </a:r>
            <a:r>
              <a:rPr dirty="0" spc="-10"/>
              <a:t>Chart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2286000"/>
            <a:ext cx="6501384" cy="399745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Scope</a:t>
            </a:r>
            <a:r>
              <a:rPr dirty="0" spc="-75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802638"/>
            <a:ext cx="10048875" cy="156210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1300" marR="5080" indent="-229235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400">
                <a:latin typeface="Calibri"/>
                <a:cs typeface="Calibri"/>
              </a:rPr>
              <a:t>Project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Scope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Management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process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ensure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project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inclusive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work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required,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only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work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required,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successful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completion.</a:t>
            </a:r>
            <a:endParaRPr sz="2400">
              <a:latin typeface="Calibri"/>
              <a:cs typeface="Calibri"/>
            </a:endParaRPr>
          </a:p>
          <a:p>
            <a:pPr marL="241300" indent="-229235">
              <a:lnSpc>
                <a:spcPts val="2735"/>
              </a:lnSpc>
              <a:spcBef>
                <a:spcPts val="112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400">
                <a:latin typeface="Calibri"/>
                <a:cs typeface="Calibri"/>
              </a:rPr>
              <a:t>Primarily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definition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control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b="1" i="1">
                <a:latin typeface="Calibri"/>
                <a:cs typeface="Calibri"/>
              </a:rPr>
              <a:t>IS</a:t>
            </a:r>
            <a:r>
              <a:rPr dirty="0" sz="2400" spc="-20" b="1" i="1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dirty="0" sz="2400" b="1" i="1">
                <a:latin typeface="Calibri"/>
                <a:cs typeface="Calibri"/>
              </a:rPr>
              <a:t>IS</a:t>
            </a:r>
            <a:r>
              <a:rPr dirty="0" sz="2400" spc="-20" b="1" i="1">
                <a:latin typeface="Calibri"/>
                <a:cs typeface="Calibri"/>
              </a:rPr>
              <a:t> </a:t>
            </a:r>
            <a:r>
              <a:rPr dirty="0" sz="2400" b="1" i="1">
                <a:latin typeface="Calibri"/>
                <a:cs typeface="Calibri"/>
              </a:rPr>
              <a:t>NOT</a:t>
            </a:r>
            <a:r>
              <a:rPr dirty="0" sz="2400" spc="-30" b="1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included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project.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Issue</a:t>
            </a:r>
            <a:r>
              <a:rPr dirty="0" spc="-3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11198"/>
            <a:ext cx="9673590" cy="313563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400">
                <a:latin typeface="Calibri"/>
                <a:cs typeface="Calibri"/>
              </a:rPr>
              <a:t>Issues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restraints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accomplishing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deliverables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project.</a:t>
            </a:r>
            <a:endParaRPr sz="2400">
              <a:latin typeface="Calibri"/>
              <a:cs typeface="Calibri"/>
            </a:endParaRPr>
          </a:p>
          <a:p>
            <a:pPr marL="241300" marR="5080" indent="-229235">
              <a:lnSpc>
                <a:spcPts val="2590"/>
              </a:lnSpc>
              <a:spcBef>
                <a:spcPts val="104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400">
                <a:latin typeface="Calibri"/>
                <a:cs typeface="Calibri"/>
              </a:rPr>
              <a:t>Issues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typically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identified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throughout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project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logged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tracked </a:t>
            </a:r>
            <a:r>
              <a:rPr dirty="0" sz="2400">
                <a:latin typeface="Calibri"/>
                <a:cs typeface="Calibri"/>
              </a:rPr>
              <a:t>through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resolution.</a:t>
            </a:r>
            <a:endParaRPr sz="24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112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section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plan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following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processes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depicted:</a:t>
            </a:r>
            <a:endParaRPr sz="2400">
              <a:latin typeface="Calibri"/>
              <a:cs typeface="Calibri"/>
            </a:endParaRPr>
          </a:p>
          <a:p>
            <a:pPr lvl="1" marL="698500" indent="-229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issues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maintained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tracked</a:t>
            </a:r>
            <a:endParaRPr sz="2000">
              <a:latin typeface="Calibri"/>
              <a:cs typeface="Calibri"/>
            </a:endParaRPr>
          </a:p>
          <a:p>
            <a:pPr lvl="1" marL="698500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updating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issues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regularly</a:t>
            </a:r>
            <a:endParaRPr sz="2000">
              <a:latin typeface="Calibri"/>
              <a:cs typeface="Calibri"/>
            </a:endParaRPr>
          </a:p>
          <a:p>
            <a:pPr lvl="1" marL="698500" indent="-22923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escalation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process</a:t>
            </a:r>
            <a:endParaRPr sz="2000">
              <a:latin typeface="Calibri"/>
              <a:cs typeface="Calibri"/>
            </a:endParaRPr>
          </a:p>
          <a:p>
            <a:pPr lvl="1" marL="698500" indent="-229235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vehicle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team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members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documented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issues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Cost</a:t>
            </a:r>
            <a:r>
              <a:rPr dirty="0" spc="-8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93493"/>
            <a:ext cx="10224770" cy="318008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process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required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ensure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completed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within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approved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budget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includes:</a:t>
            </a:r>
            <a:endParaRPr sz="2800">
              <a:latin typeface="Calibri"/>
              <a:cs typeface="Calibri"/>
            </a:endParaRPr>
          </a:p>
          <a:p>
            <a:pPr lvl="1" marL="698500" marR="471170" indent="-228600">
              <a:lnSpc>
                <a:spcPts val="2590"/>
              </a:lnSpc>
              <a:spcBef>
                <a:spcPts val="535"/>
              </a:spcBef>
              <a:buFont typeface="Arial MT"/>
              <a:buChar char="•"/>
              <a:tabLst>
                <a:tab pos="699135" algn="l"/>
              </a:tabLst>
            </a:pPr>
            <a:r>
              <a:rPr dirty="0" sz="2400" b="1" i="1">
                <a:latin typeface="Calibri"/>
                <a:cs typeface="Calibri"/>
              </a:rPr>
              <a:t>Resource</a:t>
            </a:r>
            <a:r>
              <a:rPr dirty="0" sz="2400" spc="-70" b="1" i="1">
                <a:latin typeface="Calibri"/>
                <a:cs typeface="Calibri"/>
              </a:rPr>
              <a:t> </a:t>
            </a:r>
            <a:r>
              <a:rPr dirty="0" sz="2400" b="1" i="1">
                <a:latin typeface="Calibri"/>
                <a:cs typeface="Calibri"/>
              </a:rPr>
              <a:t>Planning</a:t>
            </a:r>
            <a:r>
              <a:rPr dirty="0" sz="2400" spc="-70" b="1" i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-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physical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resources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required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(people,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equipment, </a:t>
            </a:r>
            <a:r>
              <a:rPr dirty="0" sz="2400">
                <a:latin typeface="Calibri"/>
                <a:cs typeface="Calibri"/>
              </a:rPr>
              <a:t>materials)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what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quantities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necessary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project</a:t>
            </a:r>
            <a:endParaRPr sz="2400">
              <a:latin typeface="Calibri"/>
              <a:cs typeface="Calibri"/>
            </a:endParaRPr>
          </a:p>
          <a:p>
            <a:pPr lvl="1" marL="698500" indent="-229235">
              <a:lnSpc>
                <a:spcPct val="100000"/>
              </a:lnSpc>
              <a:spcBef>
                <a:spcPts val="1115"/>
              </a:spcBef>
              <a:buFont typeface="Arial MT"/>
              <a:buChar char="•"/>
              <a:tabLst>
                <a:tab pos="699135" algn="l"/>
              </a:tabLst>
            </a:pPr>
            <a:r>
              <a:rPr dirty="0" sz="2400" spc="-10" b="1" i="1">
                <a:latin typeface="Calibri"/>
                <a:cs typeface="Calibri"/>
              </a:rPr>
              <a:t>Budget</a:t>
            </a:r>
            <a:endParaRPr sz="2400">
              <a:latin typeface="Calibri"/>
              <a:cs typeface="Calibri"/>
            </a:endParaRPr>
          </a:p>
          <a:p>
            <a:pPr lvl="2" marL="1155700" indent="-229235">
              <a:lnSpc>
                <a:spcPct val="100000"/>
              </a:lnSpc>
              <a:spcBef>
                <a:spcPts val="99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dirty="0" sz="2000">
                <a:latin typeface="Calibri"/>
                <a:cs typeface="Calibri"/>
              </a:rPr>
              <a:t>Budget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estimates</a:t>
            </a:r>
            <a:endParaRPr sz="2000">
              <a:latin typeface="Calibri"/>
              <a:cs typeface="Calibri"/>
            </a:endParaRPr>
          </a:p>
          <a:p>
            <a:pPr lvl="2" marL="1155700" indent="-22923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dirty="0" sz="2000">
                <a:latin typeface="Calibri"/>
                <a:cs typeface="Calibri"/>
              </a:rPr>
              <a:t>Baseline</a:t>
            </a:r>
            <a:r>
              <a:rPr dirty="0" sz="2000" spc="-10">
                <a:latin typeface="Calibri"/>
                <a:cs typeface="Calibri"/>
              </a:rPr>
              <a:t> estimates</a:t>
            </a:r>
            <a:endParaRPr sz="2000">
              <a:latin typeface="Calibri"/>
              <a:cs typeface="Calibri"/>
            </a:endParaRPr>
          </a:p>
          <a:p>
            <a:pPr lvl="2" marL="1155700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dirty="0" sz="2000">
                <a:latin typeface="Calibri"/>
                <a:cs typeface="Calibri"/>
              </a:rPr>
              <a:t>Project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Actuals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Quality</a:t>
            </a:r>
            <a:r>
              <a:rPr dirty="0" spc="-3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/>
              <a:t>Quality</a:t>
            </a:r>
            <a:r>
              <a:rPr dirty="0" spc="-90"/>
              <a:t> </a:t>
            </a:r>
            <a:r>
              <a:rPr dirty="0" spc="-10"/>
              <a:t>Management</a:t>
            </a:r>
            <a:r>
              <a:rPr dirty="0" spc="-80"/>
              <a:t> </a:t>
            </a:r>
            <a:r>
              <a:rPr dirty="0"/>
              <a:t>is</a:t>
            </a:r>
            <a:r>
              <a:rPr dirty="0" spc="-90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/>
              <a:t>process</a:t>
            </a:r>
            <a:r>
              <a:rPr dirty="0" spc="-70"/>
              <a:t> </a:t>
            </a:r>
            <a:r>
              <a:rPr dirty="0"/>
              <a:t>that</a:t>
            </a:r>
            <a:r>
              <a:rPr dirty="0" spc="-75"/>
              <a:t> </a:t>
            </a:r>
            <a:r>
              <a:rPr dirty="0"/>
              <a:t>insure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85"/>
              <a:t> </a:t>
            </a:r>
            <a:r>
              <a:rPr dirty="0"/>
              <a:t>project</a:t>
            </a:r>
            <a:r>
              <a:rPr dirty="0" spc="-75"/>
              <a:t> </a:t>
            </a:r>
            <a:r>
              <a:rPr dirty="0"/>
              <a:t>will</a:t>
            </a:r>
            <a:r>
              <a:rPr dirty="0" spc="-85"/>
              <a:t> </a:t>
            </a:r>
            <a:r>
              <a:rPr dirty="0" spc="-20"/>
              <a:t>meet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needs</a:t>
            </a:r>
            <a:r>
              <a:rPr dirty="0" spc="-45"/>
              <a:t> </a:t>
            </a:r>
            <a:r>
              <a:rPr dirty="0" spc="-20"/>
              <a:t>via:</a:t>
            </a:r>
          </a:p>
          <a:p>
            <a:pPr lvl="1" marL="698500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9135" algn="l"/>
              </a:tabLst>
            </a:pPr>
            <a:r>
              <a:rPr dirty="0" sz="2400">
                <a:latin typeface="Calibri"/>
                <a:cs typeface="Calibri"/>
              </a:rPr>
              <a:t>Quality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Planning,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Quality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Assurance,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Quality</a:t>
            </a:r>
            <a:r>
              <a:rPr dirty="0" sz="2400" spc="-10">
                <a:latin typeface="Calibri"/>
                <a:cs typeface="Calibri"/>
              </a:rPr>
              <a:t> Control</a:t>
            </a:r>
            <a:endParaRPr sz="2400">
              <a:latin typeface="Calibri"/>
              <a:cs typeface="Calibri"/>
            </a:endParaRPr>
          </a:p>
          <a:p>
            <a:pPr lvl="2" marL="1155700" indent="-229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dirty="0" sz="2000">
                <a:latin typeface="Calibri"/>
                <a:cs typeface="Calibri"/>
              </a:rPr>
              <a:t>Clearly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Defined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Quality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Performance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Standards</a:t>
            </a:r>
            <a:endParaRPr sz="2000">
              <a:latin typeface="Calibri"/>
              <a:cs typeface="Calibri"/>
            </a:endParaRPr>
          </a:p>
          <a:p>
            <a:pPr lvl="2" marL="1155700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dirty="0" sz="2000">
                <a:latin typeface="Calibri"/>
                <a:cs typeface="Calibri"/>
              </a:rPr>
              <a:t>How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those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Quality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Performance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Standards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measured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satisfied</a:t>
            </a:r>
            <a:endParaRPr sz="2000">
              <a:latin typeface="Calibri"/>
              <a:cs typeface="Calibri"/>
            </a:endParaRPr>
          </a:p>
          <a:p>
            <a:pPr lvl="2" marL="1155700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dirty="0" sz="2000">
                <a:latin typeface="Calibri"/>
                <a:cs typeface="Calibri"/>
              </a:rPr>
              <a:t>How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Testing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Quality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Assurance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Processes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ensure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standards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satisfied</a:t>
            </a:r>
            <a:endParaRPr sz="2000">
              <a:latin typeface="Calibri"/>
              <a:cs typeface="Calibri"/>
            </a:endParaRPr>
          </a:p>
          <a:p>
            <a:pPr lvl="2" marL="1155700" indent="-22923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dirty="0" sz="2000">
                <a:latin typeface="Calibri"/>
                <a:cs typeface="Calibri"/>
              </a:rPr>
              <a:t>Continuous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ongoing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quality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control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Communications</a:t>
            </a:r>
            <a:r>
              <a:rPr dirty="0" spc="-14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802638"/>
            <a:ext cx="10288270" cy="257556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1300" marR="5080" indent="-229235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process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necessary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ensure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timely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appropriate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generation,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collection, </a:t>
            </a:r>
            <a:r>
              <a:rPr dirty="0" sz="2400">
                <a:latin typeface="Calibri"/>
                <a:cs typeface="Calibri"/>
              </a:rPr>
              <a:t>dissemination,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storage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project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information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using:</a:t>
            </a:r>
            <a:endParaRPr sz="2400">
              <a:latin typeface="Calibri"/>
              <a:cs typeface="Calibri"/>
            </a:endParaRPr>
          </a:p>
          <a:p>
            <a:pPr lvl="1" marL="698500" indent="-229235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dirty="0" sz="2000">
                <a:latin typeface="Calibri"/>
                <a:cs typeface="Calibri"/>
              </a:rPr>
              <a:t>Communications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planning</a:t>
            </a:r>
            <a:endParaRPr sz="2000">
              <a:latin typeface="Calibri"/>
              <a:cs typeface="Calibri"/>
            </a:endParaRPr>
          </a:p>
          <a:p>
            <a:pPr lvl="1" marL="698500" indent="-229235">
              <a:lnSpc>
                <a:spcPct val="100000"/>
              </a:lnSpc>
              <a:spcBef>
                <a:spcPts val="259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dirty="0" sz="2000">
                <a:latin typeface="Calibri"/>
                <a:cs typeface="Calibri"/>
              </a:rPr>
              <a:t>Information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Distribution</a:t>
            </a:r>
            <a:endParaRPr sz="2000">
              <a:latin typeface="Calibri"/>
              <a:cs typeface="Calibri"/>
            </a:endParaRPr>
          </a:p>
          <a:p>
            <a:pPr lvl="1" marL="698500" indent="-22923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dirty="0" sz="2000">
                <a:latin typeface="Calibri"/>
                <a:cs typeface="Calibri"/>
              </a:rPr>
              <a:t>Performance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Reporting</a:t>
            </a:r>
            <a:endParaRPr sz="2000">
              <a:latin typeface="Calibri"/>
              <a:cs typeface="Calibri"/>
            </a:endParaRPr>
          </a:p>
          <a:p>
            <a:pPr marL="241300" marR="210820" indent="-229235">
              <a:lnSpc>
                <a:spcPts val="2590"/>
              </a:lnSpc>
              <a:spcBef>
                <a:spcPts val="145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400">
                <a:latin typeface="Calibri"/>
                <a:cs typeface="Calibri"/>
              </a:rPr>
              <a:t>Define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schedule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Project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Meetings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(Team,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OSC,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ESC),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Status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Meetings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Issues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Meetings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implemented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Risk</a:t>
            </a:r>
            <a:r>
              <a:rPr dirty="0" spc="-35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7918"/>
            <a:ext cx="6533515" cy="156019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546100" indent="-5340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546100" algn="l"/>
                <a:tab pos="546735" algn="l"/>
              </a:tabLst>
            </a:pPr>
            <a:r>
              <a:rPr dirty="0" sz="2800">
                <a:latin typeface="Calibri"/>
                <a:cs typeface="Calibri"/>
              </a:rPr>
              <a:t>Risk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identification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mitigation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strategy</a:t>
            </a:r>
            <a:endParaRPr sz="2800">
              <a:latin typeface="Calibri"/>
              <a:cs typeface="Calibri"/>
            </a:endParaRPr>
          </a:p>
          <a:p>
            <a:pPr marL="546100" indent="-5340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546100" algn="l"/>
                <a:tab pos="546735" algn="l"/>
              </a:tabLst>
            </a:pPr>
            <a:r>
              <a:rPr dirty="0" sz="2800">
                <a:latin typeface="Calibri"/>
                <a:cs typeface="Calibri"/>
              </a:rPr>
              <a:t>When\if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new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risks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arise</a:t>
            </a:r>
            <a:endParaRPr sz="2800">
              <a:latin typeface="Calibri"/>
              <a:cs typeface="Calibri"/>
            </a:endParaRPr>
          </a:p>
          <a:p>
            <a:pPr marL="546100" indent="-53403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546100" algn="l"/>
                <a:tab pos="546735" algn="l"/>
              </a:tabLst>
            </a:pPr>
            <a:r>
              <a:rPr dirty="0" sz="2800">
                <a:latin typeface="Calibri"/>
                <a:cs typeface="Calibri"/>
              </a:rPr>
              <a:t>Risk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update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tracking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Change</a:t>
            </a:r>
            <a:r>
              <a:rPr dirty="0" spc="-105"/>
              <a:t> </a:t>
            </a:r>
            <a:r>
              <a:rPr dirty="0"/>
              <a:t>Control</a:t>
            </a:r>
            <a:r>
              <a:rPr dirty="0" spc="-10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17101"/>
            <a:ext cx="9987280" cy="311848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3200">
                <a:latin typeface="Calibri"/>
                <a:cs typeface="Calibri"/>
              </a:rPr>
              <a:t>Define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how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changes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project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scope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will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executed</a:t>
            </a:r>
            <a:endParaRPr sz="3200">
              <a:latin typeface="Calibri"/>
              <a:cs typeface="Calibri"/>
            </a:endParaRPr>
          </a:p>
          <a:p>
            <a:pPr lvl="1" marL="698500" indent="-22923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dirty="0" sz="2000">
                <a:latin typeface="Calibri"/>
                <a:cs typeface="Calibri"/>
              </a:rPr>
              <a:t>Formal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control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required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following</a:t>
            </a:r>
            <a:endParaRPr sz="2000">
              <a:latin typeface="Calibri"/>
              <a:cs typeface="Calibri"/>
            </a:endParaRPr>
          </a:p>
          <a:p>
            <a:pPr lvl="2" marL="1155700" indent="-229235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1156335" algn="l"/>
              </a:tabLst>
            </a:pPr>
            <a:r>
              <a:rPr dirty="0" sz="2000">
                <a:latin typeface="Calibri"/>
                <a:cs typeface="Calibri"/>
              </a:rPr>
              <a:t>Scope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Change</a:t>
            </a:r>
            <a:endParaRPr sz="2000">
              <a:latin typeface="Calibri"/>
              <a:cs typeface="Calibri"/>
            </a:endParaRPr>
          </a:p>
          <a:p>
            <a:pPr lvl="2" marL="1155700" indent="-229235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1156335" algn="l"/>
              </a:tabLst>
            </a:pPr>
            <a:r>
              <a:rPr dirty="0" sz="2000">
                <a:latin typeface="Calibri"/>
                <a:cs typeface="Calibri"/>
              </a:rPr>
              <a:t>Schedule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changes</a:t>
            </a:r>
            <a:endParaRPr sz="2000">
              <a:latin typeface="Calibri"/>
              <a:cs typeface="Calibri"/>
            </a:endParaRPr>
          </a:p>
          <a:p>
            <a:pPr lvl="2" marL="1155700" indent="-229235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1156335" algn="l"/>
              </a:tabLst>
            </a:pPr>
            <a:r>
              <a:rPr dirty="0" sz="2000" spc="-20">
                <a:latin typeface="Calibri"/>
                <a:cs typeface="Calibri"/>
              </a:rPr>
              <a:t>Technical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Specification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Changes</a:t>
            </a:r>
            <a:endParaRPr sz="2000">
              <a:latin typeface="Calibri"/>
              <a:cs typeface="Calibri"/>
            </a:endParaRPr>
          </a:p>
          <a:p>
            <a:pPr lvl="2" marL="1155700" indent="-229235">
              <a:lnSpc>
                <a:spcPct val="100000"/>
              </a:lnSpc>
              <a:spcBef>
                <a:spcPts val="254"/>
              </a:spcBef>
              <a:buAutoNum type="arabicPeriod"/>
              <a:tabLst>
                <a:tab pos="1156335" algn="l"/>
              </a:tabLst>
            </a:pPr>
            <a:r>
              <a:rPr dirty="0" sz="2000" spc="-20">
                <a:latin typeface="Calibri"/>
                <a:cs typeface="Calibri"/>
              </a:rPr>
              <a:t>Training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Changes</a:t>
            </a:r>
            <a:endParaRPr sz="2000">
              <a:latin typeface="Calibri"/>
              <a:cs typeface="Calibri"/>
            </a:endParaRPr>
          </a:p>
          <a:p>
            <a:pPr marL="241300" indent="-229235">
              <a:lnSpc>
                <a:spcPts val="2735"/>
              </a:lnSpc>
              <a:spcBef>
                <a:spcPts val="113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changes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require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collaboration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buy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via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project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sponsor’s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signature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dirty="0" sz="2400">
                <a:latin typeface="Calibri"/>
                <a:cs typeface="Calibri"/>
              </a:rPr>
              <a:t>prior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implementation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changes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Causes</a:t>
            </a:r>
            <a:r>
              <a:rPr dirty="0" spc="-7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Failed</a:t>
            </a:r>
            <a:r>
              <a:rPr dirty="0" spc="-45"/>
              <a:t> </a:t>
            </a:r>
            <a:r>
              <a:rPr dirty="0" spc="-10"/>
              <a:t>projects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7918"/>
            <a:ext cx="7315200" cy="386207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Poor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expectations</a:t>
            </a:r>
            <a:endParaRPr sz="2800">
              <a:latin typeface="Calibri"/>
              <a:cs typeface="Calibri"/>
            </a:endParaRPr>
          </a:p>
          <a:p>
            <a:pPr marL="241300" marR="5080" indent="-229235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Scope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may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change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(uncontrolled)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..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schedule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>
                <a:latin typeface="Calibri"/>
                <a:cs typeface="Calibri"/>
              </a:rPr>
              <a:t>budget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stay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same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Cost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overruns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schedule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delays</a:t>
            </a:r>
            <a:endParaRPr sz="2800">
              <a:latin typeface="Calibri"/>
              <a:cs typeface="Calibri"/>
            </a:endParaRPr>
          </a:p>
          <a:p>
            <a:pPr marL="241300" marR="875030" indent="-22923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Early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estimates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little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information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..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set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concrete,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poor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estimating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skills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 spc="-20">
                <a:latin typeface="Calibri"/>
                <a:cs typeface="Calibri"/>
              </a:rPr>
              <a:t>Inadequate/incorrect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requirements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specification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Design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flaws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Quality</a:t>
            </a:r>
            <a:r>
              <a:rPr dirty="0" spc="-204"/>
              <a:t> </a:t>
            </a:r>
            <a:r>
              <a:rPr dirty="0" spc="-20"/>
              <a:t>metrics</a:t>
            </a:r>
            <a:r>
              <a:rPr dirty="0" spc="-204"/>
              <a:t> </a:t>
            </a:r>
            <a:r>
              <a:rPr dirty="0" spc="-50"/>
              <a:t>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5817" y="1316862"/>
            <a:ext cx="10408920" cy="416052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30"/>
              </a:spcBef>
            </a:pPr>
            <a:r>
              <a:rPr dirty="0" sz="2800" b="1">
                <a:latin typeface="Calibri"/>
                <a:cs typeface="Calibri"/>
              </a:rPr>
              <a:t>Software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quality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metrics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subset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software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metrics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focus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on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quality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aspects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product,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process,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project.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These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more </a:t>
            </a:r>
            <a:r>
              <a:rPr dirty="0" sz="2800">
                <a:latin typeface="Calibri"/>
                <a:cs typeface="Calibri"/>
              </a:rPr>
              <a:t>closely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associated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process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product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metrics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project metrics.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10">
                <a:latin typeface="Calibri"/>
                <a:cs typeface="Calibri"/>
              </a:rPr>
              <a:t>Software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quality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metrics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further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divided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three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categories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800">
              <a:latin typeface="Calibri"/>
              <a:cs typeface="Calibri"/>
            </a:endParaRPr>
          </a:p>
          <a:p>
            <a:pPr marL="295275" indent="-283210">
              <a:lnSpc>
                <a:spcPct val="100000"/>
              </a:lnSpc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dirty="0" sz="2800">
                <a:latin typeface="Calibri"/>
                <a:cs typeface="Calibri"/>
              </a:rPr>
              <a:t>Product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quality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metrics</a:t>
            </a:r>
            <a:endParaRPr sz="2800">
              <a:latin typeface="Calibri"/>
              <a:cs typeface="Calibri"/>
            </a:endParaRPr>
          </a:p>
          <a:p>
            <a:pPr marL="295275" indent="-28321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dirty="0" sz="2800" spc="-25">
                <a:latin typeface="Calibri"/>
                <a:cs typeface="Calibri"/>
              </a:rPr>
              <a:t>In-</a:t>
            </a:r>
            <a:r>
              <a:rPr dirty="0" sz="2800">
                <a:latin typeface="Calibri"/>
                <a:cs typeface="Calibri"/>
              </a:rPr>
              <a:t>process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quality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metrics</a:t>
            </a:r>
            <a:endParaRPr sz="2800">
              <a:latin typeface="Calibri"/>
              <a:cs typeface="Calibri"/>
            </a:endParaRPr>
          </a:p>
          <a:p>
            <a:pPr marL="295275" indent="-283210">
              <a:lnSpc>
                <a:spcPct val="100000"/>
              </a:lnSpc>
              <a:spcBef>
                <a:spcPts val="66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dirty="0" sz="2800" spc="-10">
                <a:latin typeface="Calibri"/>
                <a:cs typeface="Calibri"/>
              </a:rPr>
              <a:t>Maintenance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quality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metrics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3003" y="757809"/>
            <a:ext cx="10176510" cy="835660"/>
          </a:xfrm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  <a:tabLst>
                <a:tab pos="3707765" algn="l"/>
              </a:tabLst>
            </a:pPr>
            <a:r>
              <a:rPr dirty="0" sz="2800">
                <a:latin typeface="Calibri"/>
                <a:cs typeface="Calibri"/>
              </a:rPr>
              <a:t>Product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Quality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Metrics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:This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metrics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include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following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Mean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Time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Failure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Defect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Density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Customer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Problems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Customer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Satisfaction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13003" y="2678125"/>
            <a:ext cx="9433560" cy="390969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dirty="0" sz="2800" spc="-10">
                <a:latin typeface="Calibri"/>
                <a:cs typeface="Calibri"/>
              </a:rPr>
              <a:t>Customer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satisfaction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often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measured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customer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survey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data </a:t>
            </a:r>
            <a:r>
              <a:rPr dirty="0" sz="2800">
                <a:latin typeface="Calibri"/>
                <a:cs typeface="Calibri"/>
              </a:rPr>
              <a:t>through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five-</a:t>
            </a:r>
            <a:r>
              <a:rPr dirty="0" sz="2800">
                <a:latin typeface="Calibri"/>
                <a:cs typeface="Calibri"/>
              </a:rPr>
              <a:t>point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scale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−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805"/>
              </a:lnSpc>
            </a:pPr>
            <a:r>
              <a:rPr dirty="0" sz="2800" spc="-20">
                <a:latin typeface="Calibri"/>
                <a:cs typeface="Calibri"/>
              </a:rPr>
              <a:t>Very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satisfied</a:t>
            </a:r>
            <a:endParaRPr sz="2800">
              <a:latin typeface="Calibri"/>
              <a:cs typeface="Calibri"/>
            </a:endParaRPr>
          </a:p>
          <a:p>
            <a:pPr marL="12700" marR="7085965">
              <a:lnSpc>
                <a:spcPct val="90000"/>
              </a:lnSpc>
              <a:spcBef>
                <a:spcPts val="165"/>
              </a:spcBef>
            </a:pPr>
            <a:r>
              <a:rPr dirty="0" sz="2800" spc="-10">
                <a:latin typeface="Calibri"/>
                <a:cs typeface="Calibri"/>
              </a:rPr>
              <a:t>Satisfied Neutral Dissatisfied </a:t>
            </a:r>
            <a:r>
              <a:rPr dirty="0" sz="2800" spc="-20">
                <a:latin typeface="Calibri"/>
                <a:cs typeface="Calibri"/>
              </a:rPr>
              <a:t>Very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dissatisfied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00"/>
              </a:spcBef>
            </a:pPr>
            <a:r>
              <a:rPr dirty="0" sz="2800" spc="-5">
                <a:latin typeface="Calibri Light"/>
                <a:cs typeface="Calibri Light"/>
              </a:rPr>
              <a:t>.</a:t>
            </a:r>
            <a:endParaRPr sz="2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6939" y="1793493"/>
            <a:ext cx="10259695" cy="377634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Based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five-</a:t>
            </a:r>
            <a:r>
              <a:rPr dirty="0" sz="2800" spc="-30">
                <a:latin typeface="Calibri"/>
                <a:cs typeface="Calibri"/>
              </a:rPr>
              <a:t>point-</a:t>
            </a:r>
            <a:r>
              <a:rPr dirty="0" sz="2800">
                <a:latin typeface="Calibri"/>
                <a:cs typeface="Calibri"/>
              </a:rPr>
              <a:t>scale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data,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several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metrics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slight variations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constructed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used,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depending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purpose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analysis.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example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00">
              <a:latin typeface="Calibri"/>
              <a:cs typeface="Calibri"/>
            </a:endParaRPr>
          </a:p>
          <a:p>
            <a:pPr marL="295275" indent="-283210">
              <a:lnSpc>
                <a:spcPct val="100000"/>
              </a:lnSpc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dirty="0" sz="2800" spc="-10">
                <a:latin typeface="Calibri"/>
                <a:cs typeface="Calibri"/>
              </a:rPr>
              <a:t>Percent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completely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satisfied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customers</a:t>
            </a:r>
            <a:endParaRPr sz="2800">
              <a:latin typeface="Calibri"/>
              <a:cs typeface="Calibri"/>
            </a:endParaRPr>
          </a:p>
          <a:p>
            <a:pPr marL="295275" indent="-283210">
              <a:lnSpc>
                <a:spcPct val="100000"/>
              </a:lnSpc>
              <a:spcBef>
                <a:spcPts val="66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dirty="0" sz="2800" spc="-20">
                <a:latin typeface="Calibri"/>
                <a:cs typeface="Calibri"/>
              </a:rPr>
              <a:t>Percent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satisfied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customers</a:t>
            </a:r>
            <a:endParaRPr sz="2800">
              <a:latin typeface="Calibri"/>
              <a:cs typeface="Calibri"/>
            </a:endParaRPr>
          </a:p>
          <a:p>
            <a:pPr marL="295275" indent="-28321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dirty="0" sz="2800" spc="-10">
                <a:latin typeface="Calibri"/>
                <a:cs typeface="Calibri"/>
              </a:rPr>
              <a:t>Percent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dis-</a:t>
            </a:r>
            <a:r>
              <a:rPr dirty="0" sz="2800">
                <a:latin typeface="Calibri"/>
                <a:cs typeface="Calibri"/>
              </a:rPr>
              <a:t>satisfied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customers</a:t>
            </a:r>
            <a:endParaRPr sz="2800">
              <a:latin typeface="Calibri"/>
              <a:cs typeface="Calibri"/>
            </a:endParaRPr>
          </a:p>
          <a:p>
            <a:pPr marL="295275" indent="-283210">
              <a:lnSpc>
                <a:spcPct val="100000"/>
              </a:lnSpc>
              <a:spcBef>
                <a:spcPts val="66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dirty="0" sz="2800" spc="-10">
                <a:latin typeface="Calibri"/>
                <a:cs typeface="Calibri"/>
              </a:rPr>
              <a:t>Percent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non-</a:t>
            </a:r>
            <a:r>
              <a:rPr dirty="0" sz="2800">
                <a:latin typeface="Calibri"/>
                <a:cs typeface="Calibri"/>
              </a:rPr>
              <a:t>satisfied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customers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6939" y="456056"/>
            <a:ext cx="9821545" cy="528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Calibri"/>
                <a:cs typeface="Calibri"/>
              </a:rPr>
              <a:t>Maintenance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Quality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Metrics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900">
              <a:latin typeface="Calibri"/>
              <a:cs typeface="Calibri"/>
            </a:endParaRPr>
          </a:p>
          <a:p>
            <a:pPr algn="just" marL="241300" marR="5080" indent="-229235">
              <a:lnSpc>
                <a:spcPct val="90000"/>
              </a:lnSpc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Although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much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cannot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done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alter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quality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product </a:t>
            </a:r>
            <a:r>
              <a:rPr dirty="0" sz="2800">
                <a:latin typeface="Calibri"/>
                <a:cs typeface="Calibri"/>
              </a:rPr>
              <a:t>during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phase,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following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fixes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carried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out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 spc="-10">
                <a:latin typeface="Calibri"/>
                <a:cs typeface="Calibri"/>
              </a:rPr>
              <a:t>eliminate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defects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soon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possible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excellent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fix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quality.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3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Fix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backlog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backlog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index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Fix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response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time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fix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responsiveness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 spc="-10">
                <a:latin typeface="Calibri"/>
                <a:cs typeface="Calibri"/>
              </a:rPr>
              <a:t>Percent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delinquent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fixes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Fix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quality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Fix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backlog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704" y="1094692"/>
            <a:ext cx="9041320" cy="489839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Risk</a:t>
            </a:r>
            <a:r>
              <a:rPr dirty="0" spc="-90"/>
              <a:t> </a:t>
            </a:r>
            <a:r>
              <a:rPr dirty="0"/>
              <a:t>Management</a:t>
            </a:r>
            <a:r>
              <a:rPr dirty="0" spc="-60"/>
              <a:t> </a:t>
            </a:r>
            <a:r>
              <a:rPr dirty="0" spc="-10"/>
              <a:t>Process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46250"/>
            <a:ext cx="10339705" cy="371284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960"/>
              </a:spcBef>
            </a:pPr>
            <a:r>
              <a:rPr dirty="0" sz="2400">
                <a:latin typeface="Calibri"/>
                <a:cs typeface="Calibri"/>
              </a:rPr>
              <a:t>Project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risk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potential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project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fail.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There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three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types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project </a:t>
            </a:r>
            <a:r>
              <a:rPr dirty="0" sz="2400">
                <a:latin typeface="Calibri"/>
                <a:cs typeface="Calibri"/>
              </a:rPr>
              <a:t>risks: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Cost,</a:t>
            </a:r>
            <a:r>
              <a:rPr dirty="0" sz="2400" spc="-1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schedule,</a:t>
            </a:r>
            <a:r>
              <a:rPr dirty="0" sz="2400" spc="-1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Performance</a:t>
            </a:r>
            <a:r>
              <a:rPr dirty="0" sz="2400" spc="-1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Calibri"/>
                <a:cs typeface="Calibri"/>
              </a:rPr>
              <a:t>Steps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of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the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Risk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Management</a:t>
            </a:r>
            <a:r>
              <a:rPr dirty="0" sz="2400" spc="-1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Process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5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buFont typeface="Arial MT"/>
              <a:buChar char="•"/>
              <a:tabLst>
                <a:tab pos="241935" algn="l"/>
              </a:tabLst>
            </a:pPr>
            <a:r>
              <a:rPr dirty="0" sz="2400">
                <a:latin typeface="Calibri"/>
                <a:cs typeface="Calibri"/>
              </a:rPr>
              <a:t>Identify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risk.</a:t>
            </a:r>
            <a:endParaRPr sz="24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400">
                <a:latin typeface="Calibri"/>
                <a:cs typeface="Calibri"/>
              </a:rPr>
              <a:t>Analyze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risk.</a:t>
            </a:r>
            <a:endParaRPr sz="24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400">
                <a:latin typeface="Calibri"/>
                <a:cs typeface="Calibri"/>
              </a:rPr>
              <a:t>Prioritize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risk.</a:t>
            </a:r>
            <a:endParaRPr sz="24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400" spc="-20">
                <a:latin typeface="Calibri"/>
                <a:cs typeface="Calibri"/>
              </a:rPr>
              <a:t>Treat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risk.</a:t>
            </a:r>
            <a:endParaRPr sz="24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400">
                <a:latin typeface="Calibri"/>
                <a:cs typeface="Calibri"/>
              </a:rPr>
              <a:t>Monitor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risk.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5687" y="3686074"/>
            <a:ext cx="4399079" cy="237944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Risk</a:t>
            </a:r>
            <a:r>
              <a:rPr dirty="0" spc="-75"/>
              <a:t> </a:t>
            </a:r>
            <a:r>
              <a:rPr dirty="0"/>
              <a:t>Management</a:t>
            </a:r>
            <a:r>
              <a:rPr dirty="0" spc="-55"/>
              <a:t> </a:t>
            </a:r>
            <a:r>
              <a:rPr dirty="0" spc="-10"/>
              <a:t>Process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93493"/>
            <a:ext cx="10165715" cy="173228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1300" marR="372745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manager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team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35">
                <a:latin typeface="Calibri"/>
                <a:cs typeface="Calibri"/>
              </a:rPr>
              <a:t>member,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manage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risk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daily </a:t>
            </a:r>
            <a:r>
              <a:rPr dirty="0" sz="2800">
                <a:latin typeface="Calibri"/>
                <a:cs typeface="Calibri"/>
              </a:rPr>
              <a:t>basis;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it’s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most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important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things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do.</a:t>
            </a:r>
            <a:endParaRPr sz="280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800">
                <a:latin typeface="Calibri"/>
                <a:cs typeface="Calibri"/>
              </a:rPr>
              <a:t>Apply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systematic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risk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process,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put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action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core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5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risk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management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process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steps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Risk</a:t>
            </a:r>
            <a:r>
              <a:rPr dirty="0" spc="-114"/>
              <a:t> </a:t>
            </a:r>
            <a:r>
              <a:rPr dirty="0"/>
              <a:t>Management</a:t>
            </a:r>
            <a:r>
              <a:rPr dirty="0" spc="-90"/>
              <a:t> </a:t>
            </a:r>
            <a:r>
              <a:rPr dirty="0"/>
              <a:t>Process</a:t>
            </a:r>
            <a:r>
              <a:rPr dirty="0" spc="-90"/>
              <a:t> </a:t>
            </a:r>
            <a:r>
              <a:rPr dirty="0" spc="-10"/>
              <a:t>Steps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6588" y="1808733"/>
            <a:ext cx="10880725" cy="446849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240665" marR="63500" indent="-228600">
              <a:lnSpc>
                <a:spcPct val="70000"/>
              </a:lnSpc>
              <a:spcBef>
                <a:spcPts val="82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2000" b="1">
                <a:latin typeface="Calibri"/>
                <a:cs typeface="Calibri"/>
              </a:rPr>
              <a:t>Step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1: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Identify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Risk.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Team </a:t>
            </a:r>
            <a:r>
              <a:rPr dirty="0" sz="2000">
                <a:latin typeface="Calibri"/>
                <a:cs typeface="Calibri"/>
              </a:rPr>
              <a:t>should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u="sng" sz="2000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uncover,</a:t>
            </a:r>
            <a:r>
              <a:rPr dirty="0" u="sng" sz="2000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0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recognize</a:t>
            </a:r>
            <a:r>
              <a:rPr dirty="0" u="sng" sz="2000" spc="-4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0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and</a:t>
            </a:r>
            <a:r>
              <a:rPr dirty="0" u="sng" sz="2000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0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describe</a:t>
            </a:r>
            <a:r>
              <a:rPr dirty="0" u="sng" sz="2000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0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risks</a:t>
            </a:r>
            <a:r>
              <a:rPr dirty="0" sz="2000" spc="1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might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affect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your </a:t>
            </a:r>
            <a:r>
              <a:rPr dirty="0" sz="2000">
                <a:latin typeface="Calibri"/>
                <a:cs typeface="Calibri"/>
              </a:rPr>
              <a:t>project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outcomes.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techniques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project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risks.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During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this </a:t>
            </a:r>
            <a:r>
              <a:rPr dirty="0" sz="2000">
                <a:latin typeface="Calibri"/>
                <a:cs typeface="Calibri"/>
              </a:rPr>
              <a:t>step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start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prepare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Project</a:t>
            </a:r>
            <a:r>
              <a:rPr dirty="0" u="sng" sz="2000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20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Risk</a:t>
            </a:r>
            <a:r>
              <a:rPr dirty="0" u="sng" sz="2000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20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Register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240665" marR="399415" indent="-228600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2000" b="1">
                <a:latin typeface="Calibri"/>
                <a:cs typeface="Calibri"/>
              </a:rPr>
              <a:t>Step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2: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Analyze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risk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Once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identified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determine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likelihood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consequence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risk.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40">
                <a:latin typeface="Calibri"/>
                <a:cs typeface="Calibri"/>
              </a:rPr>
              <a:t>You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develop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understanding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nature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potential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affect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project </a:t>
            </a:r>
            <a:r>
              <a:rPr dirty="0" sz="2000">
                <a:latin typeface="Calibri"/>
                <a:cs typeface="Calibri"/>
              </a:rPr>
              <a:t>goals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objectives.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information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input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Project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Register.</a:t>
            </a:r>
            <a:endParaRPr sz="2000">
              <a:latin typeface="Calibri"/>
              <a:cs typeface="Calibri"/>
            </a:endParaRPr>
          </a:p>
          <a:p>
            <a:pPr marL="240665" marR="5080" indent="-228600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2000" b="1">
                <a:latin typeface="Calibri"/>
                <a:cs typeface="Calibri"/>
              </a:rPr>
              <a:t>Step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3: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Evaluate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Rank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Risk.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Evaluate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rank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determining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magnitude,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combination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likelihood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consequence.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You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make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decisions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about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whether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 </a:t>
            </a:r>
            <a:r>
              <a:rPr dirty="0" sz="2000">
                <a:latin typeface="Calibri"/>
                <a:cs typeface="Calibri"/>
              </a:rPr>
              <a:t>acceptable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whether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serious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enough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warrant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treatment.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rankings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Project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Register.</a:t>
            </a:r>
            <a:endParaRPr sz="2000">
              <a:latin typeface="Calibri"/>
              <a:cs typeface="Calibri"/>
            </a:endParaRPr>
          </a:p>
          <a:p>
            <a:pPr marL="240665" marR="387985" indent="-228600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2000" b="1">
                <a:latin typeface="Calibri"/>
                <a:cs typeface="Calibri"/>
              </a:rPr>
              <a:t>Step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4: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Treat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Risk.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referred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Response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Planning.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During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step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assess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highest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ranked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out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treat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modify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achieve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acceptable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risk </a:t>
            </a:r>
            <a:r>
              <a:rPr dirty="0" sz="2000">
                <a:latin typeface="Calibri"/>
                <a:cs typeface="Calibri"/>
              </a:rPr>
              <a:t>levels.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How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minimize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probability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negative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well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enhancing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opportunities?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You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mitigation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strategies,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preventive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plans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contingency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plans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this </a:t>
            </a:r>
            <a:r>
              <a:rPr dirty="0" sz="2000">
                <a:latin typeface="Calibri"/>
                <a:cs typeface="Calibri"/>
              </a:rPr>
              <a:t>step.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treatment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measures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highest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ranking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serious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</a:t>
            </a:r>
            <a:endParaRPr sz="2000">
              <a:latin typeface="Calibri"/>
              <a:cs typeface="Calibri"/>
            </a:endParaRPr>
          </a:p>
          <a:p>
            <a:pPr marL="240665">
              <a:lnSpc>
                <a:spcPts val="1680"/>
              </a:lnSpc>
            </a:pP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Project</a:t>
            </a:r>
            <a:r>
              <a:rPr dirty="0" u="sng" sz="2000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dirty="0" u="sng" sz="20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Risk</a:t>
            </a:r>
            <a:r>
              <a:rPr dirty="0" u="sng" sz="2000" spc="-3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dirty="0" u="sng" sz="20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Register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240665" marR="22225" indent="-228600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2000" b="1">
                <a:latin typeface="Calibri"/>
                <a:cs typeface="Calibri"/>
              </a:rPr>
              <a:t>Step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5: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Monitor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Review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risk.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step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take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Project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Register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use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monitor,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track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review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risks.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Risk</a:t>
            </a:r>
            <a:r>
              <a:rPr dirty="0" spc="-35"/>
              <a:t> </a:t>
            </a:r>
            <a:r>
              <a:rPr dirty="0" spc="-10"/>
              <a:t>Identification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26205"/>
            <a:ext cx="8100059" cy="2069464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2800">
                <a:latin typeface="Calibri"/>
                <a:cs typeface="Calibri"/>
              </a:rPr>
              <a:t>Risk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Identification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involves:</a:t>
            </a:r>
            <a:endParaRPr sz="2800">
              <a:latin typeface="Calibri"/>
              <a:cs typeface="Calibri"/>
            </a:endParaRPr>
          </a:p>
          <a:p>
            <a:pPr marL="295275" indent="-283210">
              <a:lnSpc>
                <a:spcPct val="100000"/>
              </a:lnSpc>
              <a:spcBef>
                <a:spcPts val="66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dirty="0" sz="2800" spc="-10">
                <a:latin typeface="Calibri"/>
                <a:cs typeface="Calibri"/>
              </a:rPr>
              <a:t>Identifying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risks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may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occur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particular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project</a:t>
            </a:r>
            <a:endParaRPr sz="2800">
              <a:latin typeface="Calibri"/>
              <a:cs typeface="Calibri"/>
            </a:endParaRPr>
          </a:p>
          <a:p>
            <a:pPr marL="295275" indent="-28321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dirty="0" sz="2800" spc="-10">
                <a:latin typeface="Calibri"/>
                <a:cs typeface="Calibri"/>
              </a:rPr>
              <a:t>Determining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which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risks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might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affect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project</a:t>
            </a:r>
            <a:endParaRPr sz="2800">
              <a:latin typeface="Calibri"/>
              <a:cs typeface="Calibri"/>
            </a:endParaRPr>
          </a:p>
          <a:p>
            <a:pPr marL="295275" indent="-283210">
              <a:lnSpc>
                <a:spcPct val="100000"/>
              </a:lnSpc>
              <a:spcBef>
                <a:spcPts val="66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dirty="0" sz="2800" spc="-10">
                <a:latin typeface="Calibri"/>
                <a:cs typeface="Calibri"/>
              </a:rPr>
              <a:t>Documenting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their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characteristics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735584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Importance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Risk</a:t>
            </a:r>
            <a:r>
              <a:rPr dirty="0" spc="-20"/>
              <a:t> </a:t>
            </a:r>
            <a:r>
              <a:rPr dirty="0" spc="-10"/>
              <a:t>Management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0707" y="1425067"/>
            <a:ext cx="9477375" cy="457390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240665" marR="5080" indent="-227965">
              <a:lnSpc>
                <a:spcPct val="70000"/>
              </a:lnSpc>
              <a:spcBef>
                <a:spcPts val="8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identifying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analyzing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potential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threats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organization,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such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process mitigates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impact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any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negative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events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2200" b="1">
                <a:latin typeface="Calibri"/>
                <a:cs typeface="Calibri"/>
              </a:rPr>
              <a:t>8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Benefits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Risk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Management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It's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easier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spot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projects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trouble.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There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fewer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surprises.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2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There's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better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quality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decision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making.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dirty="0" sz="2200" spc="-10">
                <a:latin typeface="Calibri"/>
                <a:cs typeface="Calibri"/>
              </a:rPr>
              <a:t>Communication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elevated.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Budgets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rely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less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guesswork.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expectation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success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set.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team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remains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focused.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dirty="0" sz="2200" spc="-10">
                <a:latin typeface="Calibri"/>
                <a:cs typeface="Calibri"/>
              </a:rPr>
              <a:t>Escalations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clearer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easier.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4364" y="2945892"/>
            <a:ext cx="3570731" cy="274929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42594" y="752983"/>
            <a:ext cx="10287635" cy="315595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40665" marR="81915" indent="-228600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2200" b="1">
                <a:latin typeface="Calibri"/>
                <a:cs typeface="Calibri"/>
              </a:rPr>
              <a:t>A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Risk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Management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Plan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: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defined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documented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agreed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upon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project </a:t>
            </a:r>
            <a:r>
              <a:rPr dirty="0" sz="2200" spc="-20">
                <a:latin typeface="Calibri"/>
                <a:cs typeface="Calibri"/>
              </a:rPr>
              <a:t>stakeholders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how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risks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identified,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assessed,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decision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made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mitigation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(or </a:t>
            </a:r>
            <a:r>
              <a:rPr dirty="0" sz="2200">
                <a:latin typeface="Calibri"/>
                <a:cs typeface="Calibri"/>
              </a:rPr>
              <a:t>if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risks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accepted),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how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response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plan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developed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what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controls </a:t>
            </a:r>
            <a:r>
              <a:rPr dirty="0" sz="2200">
                <a:latin typeface="Calibri"/>
                <a:cs typeface="Calibri"/>
              </a:rPr>
              <a:t>will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put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place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monitor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risks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over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duration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project.</a:t>
            </a:r>
            <a:endParaRPr sz="2200">
              <a:latin typeface="Calibri"/>
              <a:cs typeface="Calibri"/>
            </a:endParaRPr>
          </a:p>
          <a:p>
            <a:pPr marL="240665" marR="5080" indent="-228600">
              <a:lnSpc>
                <a:spcPts val="2380"/>
              </a:lnSpc>
              <a:spcBef>
                <a:spcPts val="98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Identify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Risks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–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Capture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Form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way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efficiently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capture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identified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project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risks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add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Register.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Risk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Register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identified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risks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their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status.</a:t>
            </a:r>
            <a:endParaRPr sz="2200">
              <a:latin typeface="Calibri"/>
              <a:cs typeface="Calibri"/>
            </a:endParaRPr>
          </a:p>
          <a:p>
            <a:pPr marL="76200">
              <a:lnSpc>
                <a:spcPts val="2510"/>
              </a:lnSpc>
              <a:spcBef>
                <a:spcPts val="745"/>
              </a:spcBef>
            </a:pPr>
            <a:r>
              <a:rPr dirty="0" sz="2200" spc="-10">
                <a:latin typeface="Calibri"/>
                <a:cs typeface="Calibri"/>
              </a:rPr>
              <a:t>Qualitative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/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Quantitative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Analysis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Tools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: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Methods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analysing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/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evaluating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510"/>
              </a:lnSpc>
            </a:pPr>
            <a:r>
              <a:rPr dirty="0" sz="2200" spc="-10">
                <a:latin typeface="Calibri"/>
                <a:cs typeface="Calibri"/>
              </a:rPr>
              <a:t>probability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impact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risks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project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objectives.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34034" y="1153413"/>
            <a:ext cx="10029825" cy="390588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dirty="0" sz="2800" spc="-10">
                <a:latin typeface="Calibri"/>
                <a:cs typeface="Calibri"/>
              </a:rPr>
              <a:t>Response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/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Mitigation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Plan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:Determine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risks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acceptable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or </a:t>
            </a:r>
            <a:r>
              <a:rPr dirty="0" sz="2800">
                <a:latin typeface="Calibri"/>
                <a:cs typeface="Calibri"/>
              </a:rPr>
              <a:t>not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based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assessment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plan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mitigation.</a:t>
            </a:r>
            <a:endParaRPr sz="2800">
              <a:latin typeface="Calibri"/>
              <a:cs typeface="Calibri"/>
            </a:endParaRPr>
          </a:p>
          <a:p>
            <a:pPr marL="241300" marR="78105" indent="-228600">
              <a:lnSpc>
                <a:spcPts val="3020"/>
              </a:lnSpc>
              <a:spcBef>
                <a:spcPts val="101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dirty="0" sz="2800" spc="-10">
                <a:latin typeface="Calibri"/>
                <a:cs typeface="Calibri"/>
              </a:rPr>
              <a:t>Control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Risks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:Assess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effectiveness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through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methods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like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risk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audits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continually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improve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your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execution.</a:t>
            </a:r>
            <a:endParaRPr sz="280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  <a:spcBef>
                <a:spcPts val="620"/>
              </a:spcBef>
            </a:pPr>
            <a:r>
              <a:rPr dirty="0" sz="2800">
                <a:latin typeface="Calibri"/>
                <a:cs typeface="Calibri"/>
              </a:rPr>
              <a:t>Risk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Register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Example</a:t>
            </a:r>
            <a:endParaRPr sz="2800">
              <a:latin typeface="Calibri"/>
              <a:cs typeface="Calibri"/>
            </a:endParaRPr>
          </a:p>
          <a:p>
            <a:pPr marL="241300" marR="100965" indent="-228600">
              <a:lnSpc>
                <a:spcPct val="90000"/>
              </a:lnSpc>
              <a:spcBef>
                <a:spcPts val="1000"/>
              </a:spcBef>
              <a:buSzPct val="96428"/>
              <a:buFont typeface="Wingdings"/>
              <a:buChar char=""/>
              <a:tabLst>
                <a:tab pos="295910" algn="l"/>
                <a:tab pos="7229475" algn="l"/>
              </a:tabLst>
            </a:pP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typical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register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may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look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like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table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below.</a:t>
            </a:r>
            <a:r>
              <a:rPr dirty="0" sz="2800">
                <a:latin typeface="Calibri"/>
                <a:cs typeface="Calibri"/>
              </a:rPr>
              <a:t>	Risks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added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register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they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identified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impact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probability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of </a:t>
            </a:r>
            <a:r>
              <a:rPr dirty="0" sz="2800" spc="-10">
                <a:latin typeface="Calibri"/>
                <a:cs typeface="Calibri"/>
              </a:rPr>
              <a:t>occurrence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assessed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through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qualitative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quantitative methods.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961" y="435589"/>
            <a:ext cx="10135104" cy="160607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22172" y="2605252"/>
            <a:ext cx="10422890" cy="350837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2200" spc="-10">
                <a:latin typeface="Calibri"/>
                <a:cs typeface="Calibri"/>
              </a:rPr>
              <a:t>Quantitative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Risk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Assessment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:Qualitative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assessment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objective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numerical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probabilistic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2200" spc="-10">
                <a:latin typeface="Calibri"/>
                <a:cs typeface="Calibri"/>
              </a:rPr>
              <a:t>assessment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impact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probability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factors.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2200">
                <a:latin typeface="Calibri"/>
                <a:cs typeface="Calibri"/>
              </a:rPr>
              <a:t>There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many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methodologies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available</a:t>
            </a:r>
            <a:r>
              <a:rPr dirty="0" sz="2200" spc="3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some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examples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include: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50">
              <a:latin typeface="Calibri"/>
              <a:cs typeface="Calibri"/>
            </a:endParaRPr>
          </a:p>
          <a:p>
            <a:pPr marL="1726564" indent="-343535">
              <a:lnSpc>
                <a:spcPct val="100000"/>
              </a:lnSpc>
              <a:buSzPct val="45454"/>
              <a:buFont typeface="Wingdings"/>
              <a:buChar char=""/>
              <a:tabLst>
                <a:tab pos="1726564" algn="l"/>
                <a:tab pos="1727200" algn="l"/>
              </a:tabLst>
            </a:pPr>
            <a:r>
              <a:rPr dirty="0" sz="2200">
                <a:latin typeface="Calibri"/>
                <a:cs typeface="Calibri"/>
              </a:rPr>
              <a:t>Critical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Path</a:t>
            </a:r>
            <a:r>
              <a:rPr dirty="0" sz="2200" spc="-11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Method</a:t>
            </a:r>
            <a:endParaRPr sz="2200">
              <a:latin typeface="Calibri"/>
              <a:cs typeface="Calibri"/>
            </a:endParaRPr>
          </a:p>
          <a:p>
            <a:pPr marL="1726564" indent="-343535">
              <a:lnSpc>
                <a:spcPct val="100000"/>
              </a:lnSpc>
              <a:spcBef>
                <a:spcPts val="685"/>
              </a:spcBef>
              <a:buSzPct val="45454"/>
              <a:buFont typeface="Wingdings"/>
              <a:buChar char=""/>
              <a:tabLst>
                <a:tab pos="1726564" algn="l"/>
                <a:tab pos="1727200" algn="l"/>
              </a:tabLst>
            </a:pPr>
            <a:r>
              <a:rPr dirty="0" sz="2200">
                <a:latin typeface="Calibri"/>
                <a:cs typeface="Calibri"/>
              </a:rPr>
              <a:t>Fault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 spc="-35">
                <a:latin typeface="Calibri"/>
                <a:cs typeface="Calibri"/>
              </a:rPr>
              <a:t>Tree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Analysis</a:t>
            </a:r>
            <a:endParaRPr sz="2200">
              <a:latin typeface="Calibri"/>
              <a:cs typeface="Calibri"/>
            </a:endParaRPr>
          </a:p>
          <a:p>
            <a:pPr marL="1726564" indent="-343535">
              <a:lnSpc>
                <a:spcPct val="100000"/>
              </a:lnSpc>
              <a:spcBef>
                <a:spcPts val="690"/>
              </a:spcBef>
              <a:buSzPct val="45454"/>
              <a:buFont typeface="Wingdings"/>
              <a:buChar char=""/>
              <a:tabLst>
                <a:tab pos="1726564" algn="l"/>
                <a:tab pos="1727200" algn="l"/>
              </a:tabLst>
            </a:pPr>
            <a:r>
              <a:rPr dirty="0" sz="2200">
                <a:latin typeface="Calibri"/>
                <a:cs typeface="Calibri"/>
              </a:rPr>
              <a:t>Monte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Carlo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Simulation</a:t>
            </a:r>
            <a:endParaRPr sz="2200">
              <a:latin typeface="Calibri"/>
              <a:cs typeface="Calibri"/>
            </a:endParaRPr>
          </a:p>
          <a:p>
            <a:pPr marL="1726564" indent="-343535">
              <a:lnSpc>
                <a:spcPct val="100000"/>
              </a:lnSpc>
              <a:spcBef>
                <a:spcPts val="680"/>
              </a:spcBef>
              <a:buSzPct val="45454"/>
              <a:buFont typeface="Wingdings"/>
              <a:buChar char=""/>
              <a:tabLst>
                <a:tab pos="1726564" algn="l"/>
                <a:tab pos="1727200" algn="l"/>
              </a:tabLst>
            </a:pPr>
            <a:r>
              <a:rPr dirty="0" sz="2200">
                <a:latin typeface="Calibri"/>
                <a:cs typeface="Calibri"/>
              </a:rPr>
              <a:t>Sensitivity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Analysis</a:t>
            </a:r>
            <a:endParaRPr sz="2200">
              <a:latin typeface="Calibri"/>
              <a:cs typeface="Calibri"/>
            </a:endParaRPr>
          </a:p>
          <a:p>
            <a:pPr marL="1726564" indent="-343535">
              <a:lnSpc>
                <a:spcPct val="100000"/>
              </a:lnSpc>
              <a:spcBef>
                <a:spcPts val="685"/>
              </a:spcBef>
              <a:buSzPct val="45454"/>
              <a:buFont typeface="Wingdings"/>
              <a:buChar char=""/>
              <a:tabLst>
                <a:tab pos="1726564" algn="l"/>
                <a:tab pos="1727200" algn="l"/>
              </a:tabLst>
            </a:pPr>
            <a:r>
              <a:rPr dirty="0" sz="2200" spc="-20">
                <a:latin typeface="Calibri"/>
                <a:cs typeface="Calibri"/>
              </a:rPr>
              <a:t>FMEA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328358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Risk</a:t>
            </a:r>
            <a:r>
              <a:rPr dirty="0" spc="-170"/>
              <a:t> </a:t>
            </a:r>
            <a:r>
              <a:rPr dirty="0" spc="-40"/>
              <a:t>Mitigation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3008" y="1168399"/>
            <a:ext cx="10299700" cy="372427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 marR="216535">
              <a:lnSpc>
                <a:spcPts val="2380"/>
              </a:lnSpc>
              <a:spcBef>
                <a:spcPts val="390"/>
              </a:spcBef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objective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risk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mitigation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reduce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probability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and/or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consequences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risk </a:t>
            </a:r>
            <a:r>
              <a:rPr dirty="0" sz="2200">
                <a:latin typeface="Calibri"/>
                <a:cs typeface="Calibri"/>
              </a:rPr>
              <a:t>event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acceptable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threshold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define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appropriate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response.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2200">
                <a:latin typeface="Calibri"/>
                <a:cs typeface="Calibri"/>
              </a:rPr>
              <a:t>Questions</a:t>
            </a:r>
            <a:r>
              <a:rPr dirty="0" sz="2200" spc="-120">
                <a:latin typeface="Calibri"/>
                <a:cs typeface="Calibri"/>
              </a:rPr>
              <a:t> </a:t>
            </a:r>
            <a:r>
              <a:rPr dirty="0" sz="2200" spc="-95">
                <a:latin typeface="Calibri"/>
                <a:cs typeface="Calibri"/>
              </a:rPr>
              <a:t>To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Ask:</a:t>
            </a:r>
            <a:endParaRPr sz="2200">
              <a:latin typeface="Calibri"/>
              <a:cs typeface="Calibri"/>
            </a:endParaRPr>
          </a:p>
          <a:p>
            <a:pPr marL="1612265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612265" algn="l"/>
                <a:tab pos="1612900" algn="l"/>
              </a:tabLst>
            </a:pPr>
            <a:r>
              <a:rPr dirty="0" sz="2200">
                <a:latin typeface="Calibri"/>
                <a:cs typeface="Calibri"/>
              </a:rPr>
              <a:t>What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available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options?</a:t>
            </a:r>
            <a:endParaRPr sz="2200">
              <a:latin typeface="Calibri"/>
              <a:cs typeface="Calibri"/>
            </a:endParaRPr>
          </a:p>
          <a:p>
            <a:pPr marL="1612265" indent="-22923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1612265" algn="l"/>
                <a:tab pos="1612900" algn="l"/>
              </a:tabLst>
            </a:pPr>
            <a:r>
              <a:rPr dirty="0" sz="2200" spc="-25">
                <a:latin typeface="Calibri"/>
                <a:cs typeface="Calibri"/>
              </a:rPr>
              <a:t>Tradeoffs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(cost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/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benefit)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each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option?</a:t>
            </a:r>
            <a:endParaRPr sz="2200">
              <a:latin typeface="Calibri"/>
              <a:cs typeface="Calibri"/>
            </a:endParaRPr>
          </a:p>
          <a:p>
            <a:pPr marL="1612265" indent="-229235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1612265" algn="l"/>
                <a:tab pos="1612900" algn="l"/>
              </a:tabLst>
            </a:pPr>
            <a:r>
              <a:rPr dirty="0" sz="2200">
                <a:latin typeface="Calibri"/>
                <a:cs typeface="Calibri"/>
              </a:rPr>
              <a:t>Impacts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current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decisions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options?</a:t>
            </a:r>
            <a:endParaRPr sz="2200">
              <a:latin typeface="Calibri"/>
              <a:cs typeface="Calibri"/>
            </a:endParaRPr>
          </a:p>
          <a:p>
            <a:pPr marL="12700" marR="408940">
              <a:lnSpc>
                <a:spcPct val="90100"/>
              </a:lnSpc>
              <a:spcBef>
                <a:spcPts val="994"/>
              </a:spcBef>
              <a:tabLst>
                <a:tab pos="3702050" algn="l"/>
              </a:tabLst>
            </a:pPr>
            <a:r>
              <a:rPr dirty="0" sz="2200">
                <a:latin typeface="Calibri"/>
                <a:cs typeface="Calibri"/>
              </a:rPr>
              <a:t>Risk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mitigation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actions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may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costly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time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consuming;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actions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taken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balanced against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priority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level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risk.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0">
                <a:latin typeface="Calibri"/>
                <a:cs typeface="Calibri"/>
              </a:rPr>
              <a:t>Organizations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typically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transfer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risk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where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possible,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for </a:t>
            </a:r>
            <a:r>
              <a:rPr dirty="0" sz="2200" spc="-10">
                <a:latin typeface="Calibri"/>
                <a:cs typeface="Calibri"/>
              </a:rPr>
              <a:t>example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through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product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warranty.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200" spc="-25">
                <a:latin typeface="Calibri"/>
                <a:cs typeface="Calibri"/>
              </a:rPr>
              <a:t>Low-</a:t>
            </a:r>
            <a:r>
              <a:rPr dirty="0" sz="2200">
                <a:latin typeface="Calibri"/>
                <a:cs typeface="Calibri"/>
              </a:rPr>
              <a:t>risk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factors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recognized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Organization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but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absorbed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matter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policy</a:t>
            </a:r>
            <a:r>
              <a:rPr dirty="0" sz="2800" spc="-1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0273" y="5381074"/>
            <a:ext cx="7025355" cy="93878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10175875" cy="1300480"/>
          </a:xfrm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Risk</a:t>
            </a:r>
            <a:r>
              <a:rPr dirty="0" spc="-175"/>
              <a:t> </a:t>
            </a:r>
            <a:r>
              <a:rPr dirty="0" spc="-35"/>
              <a:t>Mitigation,</a:t>
            </a:r>
            <a:r>
              <a:rPr dirty="0" spc="-145"/>
              <a:t> </a:t>
            </a:r>
            <a:r>
              <a:rPr dirty="0" spc="-30"/>
              <a:t>Monitoring,</a:t>
            </a:r>
            <a:r>
              <a:rPr dirty="0" spc="-150"/>
              <a:t> </a:t>
            </a:r>
            <a:r>
              <a:rPr dirty="0"/>
              <a:t>and</a:t>
            </a:r>
            <a:r>
              <a:rPr dirty="0" spc="-165"/>
              <a:t> </a:t>
            </a:r>
            <a:r>
              <a:rPr dirty="0" spc="-40"/>
              <a:t>Management </a:t>
            </a:r>
            <a:r>
              <a:rPr dirty="0" spc="-25"/>
              <a:t>(RMMM)</a:t>
            </a:r>
            <a:r>
              <a:rPr dirty="0" spc="-200"/>
              <a:t> </a:t>
            </a:r>
            <a:r>
              <a:rPr dirty="0" spc="-20"/>
              <a:t>plan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66062"/>
            <a:ext cx="10193655" cy="435546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 marR="88900">
              <a:lnSpc>
                <a:spcPct val="80000"/>
              </a:lnSpc>
              <a:spcBef>
                <a:spcPts val="725"/>
              </a:spcBef>
            </a:pP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risk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management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technique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usually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seen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software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Project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plan.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divided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into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Risk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Mitigation,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Monitoring,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Management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Plan </a:t>
            </a:r>
            <a:r>
              <a:rPr dirty="0" sz="2600" spc="-10">
                <a:latin typeface="Calibri"/>
                <a:cs typeface="Calibri"/>
              </a:rPr>
              <a:t>(RMMM).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600" b="1">
                <a:latin typeface="Calibri"/>
                <a:cs typeface="Calibri"/>
              </a:rPr>
              <a:t>Risk</a:t>
            </a:r>
            <a:r>
              <a:rPr dirty="0" sz="2600" spc="-6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Mitigation</a:t>
            </a:r>
            <a:r>
              <a:rPr dirty="0" sz="2600" spc="-45" b="1">
                <a:latin typeface="Calibri"/>
                <a:cs typeface="Calibri"/>
              </a:rPr>
              <a:t> </a:t>
            </a:r>
            <a:r>
              <a:rPr dirty="0" sz="2600" spc="-50" b="1">
                <a:latin typeface="Calibri"/>
                <a:cs typeface="Calibri"/>
              </a:rPr>
              <a:t>: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50">
              <a:latin typeface="Calibri"/>
              <a:cs typeface="Calibri"/>
            </a:endParaRPr>
          </a:p>
          <a:p>
            <a:pPr marL="12700" marR="5080">
              <a:lnSpc>
                <a:spcPct val="80000"/>
              </a:lnSpc>
            </a:pP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activity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avoid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problems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(Risk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Avoidance).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Steps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mitigating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risks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follows.</a:t>
            </a:r>
            <a:endParaRPr sz="26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600">
                <a:latin typeface="Calibri"/>
                <a:cs typeface="Calibri"/>
              </a:rPr>
              <a:t>Finding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out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risk.</a:t>
            </a:r>
            <a:endParaRPr sz="26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600">
                <a:latin typeface="Calibri"/>
                <a:cs typeface="Calibri"/>
              </a:rPr>
              <a:t>Removing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causes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reason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risk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creation.</a:t>
            </a:r>
            <a:endParaRPr sz="26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600">
                <a:latin typeface="Calibri"/>
                <a:cs typeface="Calibri"/>
              </a:rPr>
              <a:t>Controlling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corresponding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documents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time.</a:t>
            </a:r>
            <a:endParaRPr sz="26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 sz="2600">
                <a:latin typeface="Calibri"/>
                <a:cs typeface="Calibri"/>
              </a:rPr>
              <a:t>Conducting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timely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reviews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speed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up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work.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73761"/>
            <a:ext cx="7150734" cy="6203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/>
              <a:t>Risk</a:t>
            </a:r>
            <a:r>
              <a:rPr dirty="0" sz="3900" spc="-120"/>
              <a:t> </a:t>
            </a:r>
            <a:r>
              <a:rPr dirty="0" sz="3900" spc="-25"/>
              <a:t>Monitoring</a:t>
            </a:r>
            <a:r>
              <a:rPr dirty="0" sz="3900" spc="-130"/>
              <a:t> </a:t>
            </a:r>
            <a:r>
              <a:rPr dirty="0" sz="3900"/>
              <a:t>:</a:t>
            </a:r>
            <a:r>
              <a:rPr dirty="0" sz="3900" spc="-70"/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activity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project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tracking.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108075"/>
            <a:ext cx="10038715" cy="4356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following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primary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objectives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follows.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spc="-65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check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if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predicted risks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occur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20">
                <a:latin typeface="Calibri"/>
                <a:cs typeface="Calibri"/>
              </a:rPr>
              <a:t> not.</a:t>
            </a:r>
            <a:endParaRPr sz="1800">
              <a:latin typeface="Calibri"/>
              <a:cs typeface="Calibri"/>
            </a:endParaRPr>
          </a:p>
          <a:p>
            <a:pPr marL="12700" marR="3856990">
              <a:lnSpc>
                <a:spcPct val="116199"/>
              </a:lnSpc>
              <a:spcBef>
                <a:spcPts val="15"/>
              </a:spcBef>
            </a:pPr>
            <a:r>
              <a:rPr dirty="0" sz="1800" spc="-65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ensure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proper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application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risk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aversion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steps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defined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risk. </a:t>
            </a:r>
            <a:r>
              <a:rPr dirty="0" sz="1800" spc="-65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collect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future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risk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analysis.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800" spc="-65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allocate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what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problems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caused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risks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throughout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project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900">
                <a:latin typeface="Calibri Light"/>
                <a:cs typeface="Calibri Light"/>
              </a:rPr>
              <a:t>Risk</a:t>
            </a:r>
            <a:r>
              <a:rPr dirty="0" sz="3900" spc="-150">
                <a:latin typeface="Calibri Light"/>
                <a:cs typeface="Calibri Light"/>
              </a:rPr>
              <a:t> </a:t>
            </a:r>
            <a:r>
              <a:rPr dirty="0" sz="3900" spc="-35">
                <a:latin typeface="Calibri Light"/>
                <a:cs typeface="Calibri Light"/>
              </a:rPr>
              <a:t>Management</a:t>
            </a:r>
            <a:r>
              <a:rPr dirty="0" sz="3900" spc="-155">
                <a:latin typeface="Calibri Light"/>
                <a:cs typeface="Calibri Light"/>
              </a:rPr>
              <a:t> </a:t>
            </a:r>
            <a:r>
              <a:rPr dirty="0" sz="3900">
                <a:latin typeface="Calibri Light"/>
                <a:cs typeface="Calibri Light"/>
              </a:rPr>
              <a:t>and</a:t>
            </a:r>
            <a:r>
              <a:rPr dirty="0" sz="3900" spc="-165">
                <a:latin typeface="Calibri Light"/>
                <a:cs typeface="Calibri Light"/>
              </a:rPr>
              <a:t> </a:t>
            </a:r>
            <a:r>
              <a:rPr dirty="0" sz="3900" spc="-10">
                <a:latin typeface="Calibri Light"/>
                <a:cs typeface="Calibri Light"/>
              </a:rPr>
              <a:t>planning</a:t>
            </a:r>
            <a:r>
              <a:rPr dirty="0" sz="3900" spc="-155">
                <a:latin typeface="Calibri Light"/>
                <a:cs typeface="Calibri Light"/>
              </a:rPr>
              <a:t> </a:t>
            </a:r>
            <a:r>
              <a:rPr dirty="0" sz="3900" spc="-50">
                <a:latin typeface="Calibri Light"/>
                <a:cs typeface="Calibri Light"/>
              </a:rPr>
              <a:t>:</a:t>
            </a:r>
            <a:endParaRPr sz="3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assumes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mitigation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activity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failed and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 risk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reality.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70000"/>
              </a:lnSpc>
              <a:spcBef>
                <a:spcPts val="1010"/>
              </a:spcBef>
            </a:pP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task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done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Project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manager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risk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becomes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reality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causes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severe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problems.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project </a:t>
            </a:r>
            <a:r>
              <a:rPr dirty="0" sz="1800">
                <a:latin typeface="Calibri"/>
                <a:cs typeface="Calibri"/>
              </a:rPr>
              <a:t>manager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effectively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project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mitigation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remove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risks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successfully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easier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manage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risks.</a:t>
            </a:r>
            <a:endParaRPr sz="1800">
              <a:latin typeface="Calibri"/>
              <a:cs typeface="Calibri"/>
            </a:endParaRPr>
          </a:p>
          <a:p>
            <a:pPr marL="12700" marR="248285">
              <a:lnSpc>
                <a:spcPct val="70000"/>
              </a:lnSpc>
              <a:spcBef>
                <a:spcPts val="994"/>
              </a:spcBef>
            </a:pP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shows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response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taken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each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risk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20">
                <a:latin typeface="Calibri"/>
                <a:cs typeface="Calibri"/>
              </a:rPr>
              <a:t> manager.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main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objective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risk </a:t>
            </a:r>
            <a:r>
              <a:rPr dirty="0" sz="1800">
                <a:latin typeface="Calibri"/>
                <a:cs typeface="Calibri"/>
              </a:rPr>
              <a:t>management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plan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risk</a:t>
            </a:r>
            <a:r>
              <a:rPr dirty="0" sz="1800" spc="-25">
                <a:latin typeface="Calibri"/>
                <a:cs typeface="Calibri"/>
              </a:rPr>
              <a:t> register.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risk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register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describes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focuses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predicted threats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a </a:t>
            </a:r>
            <a:r>
              <a:rPr dirty="0" sz="1800">
                <a:latin typeface="Calibri"/>
                <a:cs typeface="Calibri"/>
              </a:rPr>
              <a:t>software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project.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103" y="2293619"/>
            <a:ext cx="8346947" cy="3741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 FACULTY</dc:creator>
  <dc:title>Software Project Management</dc:title>
  <dcterms:created xsi:type="dcterms:W3CDTF">2024-12-10T11:26:44Z</dcterms:created>
  <dcterms:modified xsi:type="dcterms:W3CDTF">2024-12-10T11:26:44Z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2022-05-23T00:00:00Z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2024-12-10T00:00:00Z</vt:filetime>
  </property>
  <property fmtid="{D5CDD505-2E9C-101B-9397-08002B2CF9AE}" pid="5" name="Producer">
    <vt:lpwstr>Microsoft® PowerPoint® 2013</vt:lpwstr>
  </property>
</Properties>
</file>