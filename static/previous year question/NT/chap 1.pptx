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2" r:id="rId10"/>
    <p:sldId id="264" r:id="rId11"/>
    <p:sldId id="265" r:id="rId12"/>
    <p:sldId id="266" r:id="rId13"/>
    <p:sldId id="267" r:id="rId14"/>
    <p:sldId id="268" r:id="rId15"/>
    <p:sldId id="269" r:id="rId16"/>
    <p:sldId id="275" r:id="rId17"/>
    <p:sldId id="276" r:id="rId18"/>
    <p:sldId id="277" r:id="rId19"/>
    <p:sldId id="278" r:id="rId20"/>
    <p:sldId id="279" r:id="rId21"/>
    <p:sldId id="280" r:id="rId22"/>
    <p:sldId id="270" r:id="rId23"/>
    <p:sldId id="271" r:id="rId24"/>
    <p:sldId id="272" r:id="rId25"/>
    <p:sldId id="273" r:id="rId26"/>
    <p:sldId id="274" r:id="rId27"/>
    <p:sldId id="283" r:id="rId28"/>
    <p:sldId id="284" r:id="rId29"/>
    <p:sldId id="286" r:id="rId30"/>
    <p:sldId id="290" r:id="rId31"/>
    <p:sldId id="285" r:id="rId32"/>
    <p:sldId id="287" r:id="rId33"/>
    <p:sldId id="288" r:id="rId34"/>
    <p:sldId id="289" r:id="rId35"/>
    <p:sldId id="291" r:id="rId36"/>
    <p:sldId id="292" r:id="rId37"/>
    <p:sldId id="293" r:id="rId38"/>
    <p:sldId id="281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7" r:id="rId49"/>
    <p:sldId id="303" r:id="rId50"/>
    <p:sldId id="312" r:id="rId51"/>
    <p:sldId id="313" r:id="rId52"/>
    <p:sldId id="314" r:id="rId53"/>
    <p:sldId id="305" r:id="rId54"/>
    <p:sldId id="308" r:id="rId55"/>
    <p:sldId id="309" r:id="rId56"/>
    <p:sldId id="310" r:id="rId57"/>
    <p:sldId id="306" r:id="rId58"/>
    <p:sldId id="311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60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9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388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0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83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880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8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48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48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89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11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C6190-4E40-4F9B-892A-AB059B08B000}" type="datetimeFigureOut">
              <a:rPr lang="en-IN" smtClean="0"/>
              <a:t>09-01-2023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30ABB-7994-4A42-8373-C196D5CF54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44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Introduction to Data Communication and Computer Networks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UNIT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91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Internet basics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Network of networks.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/>
              <a:t>The</a:t>
            </a:r>
            <a:r>
              <a:rPr lang="en-US" sz="1800" dirty="0"/>
              <a:t> </a:t>
            </a:r>
            <a:r>
              <a:rPr lang="en-US" sz="1800" dirty="0" smtClean="0"/>
              <a:t>internet</a:t>
            </a:r>
            <a:r>
              <a:rPr lang="en-US" sz="1800" dirty="0"/>
              <a:t> </a:t>
            </a:r>
            <a:r>
              <a:rPr lang="en-US" sz="1800" dirty="0" smtClean="0"/>
              <a:t>is </a:t>
            </a:r>
            <a:r>
              <a:rPr lang="en-US" sz="1800" dirty="0"/>
              <a:t>the global system of </a:t>
            </a:r>
            <a:r>
              <a:rPr lang="en-US" sz="1800" dirty="0" smtClean="0"/>
              <a:t>interconnected</a:t>
            </a:r>
            <a:r>
              <a:rPr lang="en-US" sz="1800" dirty="0"/>
              <a:t> computer networks that uses the Internet </a:t>
            </a:r>
            <a:r>
              <a:rPr lang="en-US" sz="1800" dirty="0" smtClean="0"/>
              <a:t>Protocol </a:t>
            </a:r>
            <a:r>
              <a:rPr lang="en-US" sz="1800" dirty="0"/>
              <a:t>suite (TCP/IP</a:t>
            </a:r>
            <a:r>
              <a:rPr lang="en-US" sz="1800" dirty="0" smtClean="0"/>
              <a:t>)</a:t>
            </a:r>
            <a:r>
              <a:rPr lang="en-US" sz="1800" dirty="0"/>
              <a:t> to communicate between networks and devices</a:t>
            </a:r>
            <a:r>
              <a:rPr lang="en-US" sz="1800" dirty="0" smtClean="0"/>
              <a:t>.</a:t>
            </a:r>
          </a:p>
          <a:p>
            <a:endParaRPr lang="en-US" sz="1800" dirty="0" smtClean="0"/>
          </a:p>
          <a:p>
            <a:r>
              <a:rPr lang="en-US" sz="1800" dirty="0" smtClean="0"/>
              <a:t>It </a:t>
            </a:r>
            <a:r>
              <a:rPr lang="en-US" sz="1800" dirty="0"/>
              <a:t>is a network of networks that consists of private, public, academic, business, and government networks of local to global scope, linked by a broad array of electronic, wireless, and optical networking technologies. 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/>
              <a:t>The Internet carries a vast range of information resources and services, such as the inter-linked hypertext documents and applications of the World Wide Web (WWW), electronic mail, telephony, and file sharing.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2535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</a:t>
            </a:r>
            <a:r>
              <a:rPr lang="en-IN" sz="3200" dirty="0"/>
              <a:t>C</a:t>
            </a:r>
            <a:r>
              <a:rPr lang="en-IN" sz="3200" dirty="0" smtClean="0"/>
              <a:t>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Computer networks components comprise both physical parts as well as the software required for installing computer networks, both at organizations and at home.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The </a:t>
            </a:r>
            <a:r>
              <a:rPr lang="en-US" sz="1800" dirty="0"/>
              <a:t>hardware components are the server, client, peer, transmission medium, and connecting devices. The software components are operating system and protocols.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9469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72816"/>
            <a:ext cx="57150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251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Hardware </a:t>
            </a:r>
            <a:r>
              <a:rPr lang="en-IN" sz="1800" b="1" dirty="0" smtClean="0"/>
              <a:t>Components</a:t>
            </a:r>
          </a:p>
          <a:p>
            <a:pPr marL="0" indent="0">
              <a:buNone/>
            </a:pPr>
            <a:endParaRPr lang="en-IN" sz="1800" b="1" dirty="0"/>
          </a:p>
          <a:p>
            <a:r>
              <a:rPr lang="en-US" sz="1800" b="1" dirty="0"/>
              <a:t>Servers</a:t>
            </a:r>
            <a:r>
              <a:rPr lang="en-US" sz="1800" dirty="0"/>
              <a:t> −Servers are high-configuration computers that manage the resources of the network. </a:t>
            </a:r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The </a:t>
            </a:r>
            <a:r>
              <a:rPr lang="en-US" sz="1800" dirty="0"/>
              <a:t>network operating system is typically installed in the server and so they give user accesses to the network resources.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Servers </a:t>
            </a:r>
            <a:r>
              <a:rPr lang="en-US" sz="1800" dirty="0"/>
              <a:t>can be of various kinds: file servers, database servers, print servers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693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Clients</a:t>
            </a:r>
            <a:r>
              <a:rPr lang="en-US" sz="1800" dirty="0"/>
              <a:t> − Clients are computers that request and receive service from the servers to access and use the network resources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Peers </a:t>
            </a:r>
            <a:r>
              <a:rPr lang="en-US" sz="1800" dirty="0"/>
              <a:t>− Peers are computers that provide as well as receive services from other peers in a workgroup network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IN" sz="1800" b="1" dirty="0"/>
              <a:t>Transmission Media</a:t>
            </a:r>
            <a:r>
              <a:rPr lang="en-IN" sz="1800" dirty="0"/>
              <a:t> − Transmission media are the channels through which data is transferred from one device to another in a network.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Transmission </a:t>
            </a:r>
            <a:r>
              <a:rPr lang="en-IN" sz="1800" dirty="0"/>
              <a:t>media </a:t>
            </a:r>
            <a:r>
              <a:rPr lang="en-IN" sz="1800" dirty="0" smtClean="0"/>
              <a:t>- </a:t>
            </a:r>
            <a:r>
              <a:rPr lang="en-IN" sz="1800" dirty="0"/>
              <a:t>guided media like coaxial cable, fibre optic cables </a:t>
            </a:r>
            <a:r>
              <a:rPr lang="en-IN" sz="1800" dirty="0" err="1" smtClean="0"/>
              <a:t>etc</a:t>
            </a:r>
            <a:r>
              <a:rPr lang="en-IN" sz="1800" dirty="0" smtClean="0"/>
              <a:t> ; unguided </a:t>
            </a:r>
            <a:r>
              <a:rPr lang="en-IN" sz="1800" dirty="0"/>
              <a:t>media like microwaves, infra-red waves etc.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21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Connecting Devices</a:t>
            </a:r>
            <a:r>
              <a:rPr lang="en-US" sz="1800" dirty="0"/>
              <a:t> − Connecting devices act as middleware between networks or computers, by binding the network media together.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Some </a:t>
            </a:r>
            <a:r>
              <a:rPr lang="en-US" sz="1800" dirty="0"/>
              <a:t>of the common connecting devices are:</a:t>
            </a:r>
          </a:p>
          <a:p>
            <a:pPr marL="0" indent="0">
              <a:buNone/>
            </a:pPr>
            <a:r>
              <a:rPr lang="en-US" sz="1800" dirty="0" smtClean="0"/>
              <a:t>   </a:t>
            </a:r>
            <a:r>
              <a:rPr lang="en-US" sz="1800" dirty="0"/>
              <a:t> a. Routers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b</a:t>
            </a:r>
            <a:r>
              <a:rPr lang="en-US" sz="1800" dirty="0"/>
              <a:t>. Bridges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c</a:t>
            </a:r>
            <a:r>
              <a:rPr lang="en-US" sz="1800" dirty="0"/>
              <a:t>. Hubs</a:t>
            </a:r>
          </a:p>
          <a:p>
            <a:pPr marL="0" indent="0">
              <a:buNone/>
            </a:pPr>
            <a:r>
              <a:rPr lang="en-US" sz="1800" dirty="0" smtClean="0"/>
              <a:t>    d</a:t>
            </a:r>
            <a:r>
              <a:rPr lang="en-US" sz="1800" dirty="0"/>
              <a:t>. Repeaters</a:t>
            </a:r>
          </a:p>
          <a:p>
            <a:pPr marL="0" indent="0">
              <a:buNone/>
            </a:pPr>
            <a:r>
              <a:rPr lang="en-US" sz="1800" dirty="0" smtClean="0"/>
              <a:t>    e</a:t>
            </a:r>
            <a:r>
              <a:rPr lang="en-US" sz="1800" dirty="0"/>
              <a:t>. Gateways</a:t>
            </a:r>
          </a:p>
          <a:p>
            <a:pPr marL="0" indent="0">
              <a:buNone/>
            </a:pPr>
            <a:r>
              <a:rPr lang="en-US" sz="1800" dirty="0" smtClean="0"/>
              <a:t>    </a:t>
            </a:r>
            <a:r>
              <a:rPr lang="en-US" sz="1800" dirty="0"/>
              <a:t>f. Switches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19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Software </a:t>
            </a:r>
            <a:r>
              <a:rPr lang="en-US" sz="1800" b="1" dirty="0" smtClean="0"/>
              <a:t>Components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b="1" dirty="0"/>
              <a:t>Networking Operating System</a:t>
            </a:r>
            <a:r>
              <a:rPr lang="en-US" sz="1800" dirty="0"/>
              <a:t> − Network Operating Systems is typically installed in the server and facilitate workstations in a network to share files, database, applications, printers etc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Protocol Suite</a:t>
            </a:r>
            <a:r>
              <a:rPr lang="en-US" sz="1800" dirty="0"/>
              <a:t> − A protocol is a rule or guideline followed by each computer for data communication. Protocol suite is a set of related protocols that are laid down for computer networks.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The </a:t>
            </a:r>
            <a:r>
              <a:rPr lang="en-US" sz="1800" dirty="0"/>
              <a:t>two popular protocol suites are −     </a:t>
            </a:r>
          </a:p>
          <a:p>
            <a:pPr marL="0" indent="0">
              <a:buNone/>
            </a:pPr>
            <a:r>
              <a:rPr lang="en-US" sz="1800" dirty="0"/>
              <a:t>       </a:t>
            </a:r>
            <a:r>
              <a:rPr lang="en-US" sz="1800" dirty="0" smtClean="0"/>
              <a:t>a</a:t>
            </a:r>
            <a:r>
              <a:rPr lang="en-US" sz="1800" dirty="0"/>
              <a:t>. OSI Model ( Open System </a:t>
            </a:r>
            <a:r>
              <a:rPr lang="en-US" sz="1800" dirty="0" smtClean="0"/>
              <a:t>Interconnections)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</a:t>
            </a:r>
            <a:r>
              <a:rPr lang="en-US" sz="1600" dirty="0" smtClean="0"/>
              <a:t>b</a:t>
            </a:r>
            <a:r>
              <a:rPr lang="en-US" sz="1600" dirty="0"/>
              <a:t>. TCP / IP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06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Network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Connecting Devices</a:t>
            </a:r>
            <a:endParaRPr lang="en-IN" sz="2400" b="1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505074"/>
            <a:ext cx="3672408" cy="229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336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 smtClean="0"/>
              <a:t>Routers:</a:t>
            </a:r>
          </a:p>
          <a:p>
            <a:pPr marL="0" indent="0">
              <a:buNone/>
            </a:pPr>
            <a:endParaRPr lang="en-US" sz="1900" b="1" dirty="0" smtClean="0"/>
          </a:p>
          <a:p>
            <a:r>
              <a:rPr lang="en-US" sz="1900" dirty="0" smtClean="0"/>
              <a:t>Routers </a:t>
            </a:r>
            <a:r>
              <a:rPr lang="en-US" sz="1900" dirty="0"/>
              <a:t>help you to connect with multiple networks. </a:t>
            </a:r>
            <a:endParaRPr lang="en-US" sz="1900" dirty="0" smtClean="0"/>
          </a:p>
          <a:p>
            <a:r>
              <a:rPr lang="en-US" sz="1900" dirty="0" smtClean="0"/>
              <a:t>It </a:t>
            </a:r>
            <a:r>
              <a:rPr lang="en-US" sz="1900" dirty="0"/>
              <a:t>enables you to share a single internet connection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 smtClean="0"/>
              <a:t>       with </a:t>
            </a:r>
            <a:r>
              <a:rPr lang="en-US" sz="1900" dirty="0"/>
              <a:t>multiple </a:t>
            </a:r>
            <a:r>
              <a:rPr lang="en-US" sz="1900" dirty="0" smtClean="0"/>
              <a:t>devices. </a:t>
            </a:r>
          </a:p>
          <a:p>
            <a:r>
              <a:rPr lang="en-US" sz="1900" dirty="0" smtClean="0"/>
              <a:t>This </a:t>
            </a:r>
            <a:r>
              <a:rPr lang="en-US" sz="1900" dirty="0"/>
              <a:t>networking component acts as a dispatcher, which allows you to analyze data sent across a network. </a:t>
            </a:r>
            <a:endParaRPr lang="en-US" sz="1900" dirty="0" smtClean="0"/>
          </a:p>
          <a:p>
            <a:r>
              <a:rPr lang="en-US" sz="1900" dirty="0" smtClean="0"/>
              <a:t>It </a:t>
            </a:r>
            <a:r>
              <a:rPr lang="en-US" sz="1900" dirty="0"/>
              <a:t>automatically selects the best route for data to travel and send it on its way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endParaRPr lang="en-US" sz="1900" dirty="0" smtClean="0"/>
          </a:p>
          <a:p>
            <a:pPr marL="0" indent="0" fontAlgn="base">
              <a:buNone/>
            </a:pPr>
            <a:r>
              <a:rPr lang="en-US" sz="1900" b="1" dirty="0"/>
              <a:t>Bridges: </a:t>
            </a:r>
            <a:endParaRPr lang="en-US" sz="1900" b="1" dirty="0" smtClean="0"/>
          </a:p>
          <a:p>
            <a:pPr marL="0" indent="0" fontAlgn="base">
              <a:buNone/>
            </a:pPr>
            <a:endParaRPr lang="en-US" sz="1900" b="1" dirty="0"/>
          </a:p>
          <a:p>
            <a:pPr fontAlgn="base"/>
            <a:r>
              <a:rPr lang="en-US" sz="1900" dirty="0"/>
              <a:t>Bridge is a network device which works in data link layer.</a:t>
            </a:r>
          </a:p>
          <a:p>
            <a:pPr fontAlgn="base"/>
            <a:r>
              <a:rPr lang="en-US" sz="1900" dirty="0"/>
              <a:t>Bridge connects two different LAN working on same </a:t>
            </a:r>
            <a:endParaRPr lang="en-US" sz="1900" dirty="0" smtClean="0"/>
          </a:p>
          <a:p>
            <a:pPr marL="0" indent="0" fontAlgn="base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 protocol</a:t>
            </a:r>
            <a:r>
              <a:rPr lang="en-US" sz="1900" dirty="0"/>
              <a:t>. </a:t>
            </a:r>
          </a:p>
          <a:p>
            <a:pPr fontAlgn="base"/>
            <a:r>
              <a:rPr lang="en-US" sz="1900" dirty="0"/>
              <a:t>Also In bridge, format of packet is not changed.</a:t>
            </a:r>
            <a:endParaRPr lang="en-US" sz="1900" b="1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237113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93096"/>
            <a:ext cx="229552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612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/>
              <a:t>Hubs</a:t>
            </a:r>
            <a:r>
              <a:rPr lang="en-US" sz="1800" b="1" dirty="0" smtClean="0"/>
              <a:t>:</a:t>
            </a:r>
            <a:endParaRPr lang="en-US" sz="1800" b="1" dirty="0"/>
          </a:p>
          <a:p>
            <a:r>
              <a:rPr lang="en-US" sz="1800" dirty="0"/>
              <a:t>Hub is a device that splits network connection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  into </a:t>
            </a:r>
            <a:r>
              <a:rPr lang="en-US" sz="1800" dirty="0"/>
              <a:t>multiple computers. </a:t>
            </a:r>
          </a:p>
          <a:p>
            <a:r>
              <a:rPr lang="en-US" sz="1800" dirty="0"/>
              <a:t>It acts a distribution center so whenever a </a:t>
            </a:r>
            <a:r>
              <a:rPr lang="en-US" sz="1800" dirty="0" smtClean="0"/>
              <a:t>computer </a:t>
            </a:r>
          </a:p>
          <a:p>
            <a:pPr marL="0" indent="0">
              <a:buNone/>
            </a:pPr>
            <a:r>
              <a:rPr lang="en-US" sz="1800" dirty="0" smtClean="0"/>
              <a:t>        requests </a:t>
            </a:r>
            <a:r>
              <a:rPr lang="en-US" sz="1800" dirty="0"/>
              <a:t>any information from a </a:t>
            </a:r>
            <a:r>
              <a:rPr lang="en-US" sz="1800" dirty="0" smtClean="0"/>
              <a:t>computer </a:t>
            </a:r>
            <a:r>
              <a:rPr lang="en-US" sz="1800" dirty="0"/>
              <a:t>or from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  the </a:t>
            </a:r>
            <a:r>
              <a:rPr lang="en-US" sz="1800" dirty="0"/>
              <a:t>network it sends the </a:t>
            </a:r>
            <a:r>
              <a:rPr lang="en-US" sz="1800" dirty="0" smtClean="0"/>
              <a:t>request </a:t>
            </a:r>
            <a:r>
              <a:rPr lang="en-US" sz="1800" dirty="0"/>
              <a:t>to the hub through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a </a:t>
            </a:r>
            <a:r>
              <a:rPr lang="en-US" sz="1800" dirty="0"/>
              <a:t>cable. </a:t>
            </a:r>
          </a:p>
          <a:p>
            <a:r>
              <a:rPr lang="en-US" sz="1800" dirty="0"/>
              <a:t>The hub will receive the request and transmit it to the entire </a:t>
            </a:r>
            <a:r>
              <a:rPr lang="en-US" sz="1800" dirty="0" smtClean="0"/>
              <a:t>network.</a:t>
            </a:r>
            <a:endParaRPr lang="en-US" sz="1800" dirty="0"/>
          </a:p>
          <a:p>
            <a:r>
              <a:rPr lang="en-US" sz="1800" dirty="0"/>
              <a:t>A hub is a standard network point,  to connect devices in a network. The hub has numerous ports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b="1" dirty="0" smtClean="0"/>
              <a:t>Repeaters</a:t>
            </a:r>
          </a:p>
          <a:p>
            <a:r>
              <a:rPr lang="en-US" sz="1800" dirty="0"/>
              <a:t>A repeater operates at the physical layer. </a:t>
            </a:r>
            <a:endParaRPr lang="en-US" sz="1800" dirty="0" smtClean="0"/>
          </a:p>
          <a:p>
            <a:r>
              <a:rPr lang="en-US" sz="1800" dirty="0" smtClean="0"/>
              <a:t>Repeater </a:t>
            </a:r>
            <a:r>
              <a:rPr lang="en-US" sz="1800" dirty="0"/>
              <a:t>amplifies the received signal and retransmits the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signals </a:t>
            </a:r>
            <a:r>
              <a:rPr lang="en-US" sz="1800" dirty="0"/>
              <a:t>in the same network before the signal becomes too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weak </a:t>
            </a:r>
            <a:r>
              <a:rPr lang="en-US" sz="1800" dirty="0"/>
              <a:t>or corrupted . </a:t>
            </a:r>
            <a:endParaRPr lang="en-US" sz="1800" dirty="0" smtClean="0"/>
          </a:p>
          <a:p>
            <a:r>
              <a:rPr lang="en-US" sz="1800" dirty="0" smtClean="0"/>
              <a:t>When </a:t>
            </a:r>
            <a:r>
              <a:rPr lang="en-US" sz="1800" dirty="0"/>
              <a:t>the signal becomes weak, they copy the signal bit by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bit </a:t>
            </a:r>
            <a:r>
              <a:rPr lang="en-US" sz="1800" dirty="0"/>
              <a:t>and regenerate it at the original strength. </a:t>
            </a:r>
            <a:endParaRPr lang="en-US" sz="1800" dirty="0" smtClean="0"/>
          </a:p>
          <a:p>
            <a:r>
              <a:rPr lang="en-US" sz="1800" dirty="0" smtClean="0"/>
              <a:t>It </a:t>
            </a:r>
            <a:r>
              <a:rPr lang="en-US" sz="1800" dirty="0"/>
              <a:t>is a 2 port </a:t>
            </a:r>
            <a:r>
              <a:rPr lang="en-US" sz="1800" dirty="0" smtClean="0"/>
              <a:t>device.</a:t>
            </a:r>
          </a:p>
          <a:p>
            <a:endParaRPr lang="en-US" sz="1800" b="1" dirty="0"/>
          </a:p>
          <a:p>
            <a:endParaRPr lang="en-US" sz="1800" dirty="0"/>
          </a:p>
          <a:p>
            <a:pPr marL="0" indent="0">
              <a:buNone/>
            </a:pPr>
            <a:endParaRPr lang="en-US" sz="1800" b="1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19" y="3789040"/>
            <a:ext cx="2828925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887" y="5408290"/>
            <a:ext cx="2790825" cy="1213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917" y="1700808"/>
            <a:ext cx="33337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016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Network Components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925144"/>
          </a:xfrm>
        </p:spPr>
        <p:txBody>
          <a:bodyPr>
            <a:normAutofit fontScale="25000" lnSpcReduction="20000"/>
          </a:bodyPr>
          <a:lstStyle/>
          <a:p>
            <a:pPr marL="0" indent="0" fontAlgn="base">
              <a:buNone/>
            </a:pPr>
            <a:endParaRPr lang="en-US" b="1" dirty="0" smtClean="0"/>
          </a:p>
          <a:p>
            <a:pPr marL="0" indent="0" fontAlgn="base">
              <a:buNone/>
            </a:pPr>
            <a:r>
              <a:rPr lang="en-US" sz="5600" b="1" dirty="0" smtClean="0"/>
              <a:t>Gateways: </a:t>
            </a:r>
          </a:p>
          <a:p>
            <a:pPr fontAlgn="base"/>
            <a:r>
              <a:rPr lang="en-US" sz="5600" dirty="0" smtClean="0"/>
              <a:t>Gateway </a:t>
            </a:r>
            <a:r>
              <a:rPr lang="en-US" sz="5600" dirty="0"/>
              <a:t>works in OSI model’s all layer. </a:t>
            </a:r>
            <a:endParaRPr lang="en-US" sz="5600" dirty="0" smtClean="0"/>
          </a:p>
          <a:p>
            <a:pPr fontAlgn="base"/>
            <a:r>
              <a:rPr lang="en-US" sz="5600" dirty="0" smtClean="0"/>
              <a:t>It </a:t>
            </a:r>
            <a:r>
              <a:rPr lang="en-US" sz="5600" dirty="0"/>
              <a:t>converts the protocol. Gateway will settle for </a:t>
            </a:r>
            <a:endParaRPr lang="en-US" sz="5600" dirty="0" smtClean="0"/>
          </a:p>
          <a:p>
            <a:pPr marL="0" indent="0" fontAlgn="base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and </a:t>
            </a:r>
            <a:r>
              <a:rPr lang="en-US" sz="5600" dirty="0"/>
              <a:t>transfer the packet across networks employing </a:t>
            </a:r>
            <a:endParaRPr lang="en-US" sz="5600" dirty="0" smtClean="0"/>
          </a:p>
          <a:p>
            <a:pPr marL="0" indent="0" fontAlgn="base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a </a:t>
            </a:r>
            <a:r>
              <a:rPr lang="en-US" sz="5600" dirty="0"/>
              <a:t>completely different protocol. </a:t>
            </a:r>
            <a:endParaRPr lang="en-US" sz="5600" dirty="0" smtClean="0"/>
          </a:p>
          <a:p>
            <a:pPr fontAlgn="base"/>
            <a:r>
              <a:rPr lang="en-US" sz="5600" dirty="0" smtClean="0"/>
              <a:t>In </a:t>
            </a:r>
            <a:r>
              <a:rPr lang="en-US" sz="5600" dirty="0"/>
              <a:t>gateway, format of packet is changed which oppose to the bridge</a:t>
            </a:r>
            <a:r>
              <a:rPr lang="en-US" sz="5600" dirty="0" smtClean="0"/>
              <a:t>.</a:t>
            </a:r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r>
              <a:rPr lang="en-US" sz="5600" b="1" dirty="0"/>
              <a:t>Switches :</a:t>
            </a:r>
          </a:p>
          <a:p>
            <a:r>
              <a:rPr lang="en-US" sz="5600" dirty="0"/>
              <a:t>Switches work as a controller which connects computers,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printers</a:t>
            </a:r>
            <a:r>
              <a:rPr lang="en-US" sz="5600" dirty="0"/>
              <a:t>, and other hardware devices to a network in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a </a:t>
            </a:r>
            <a:r>
              <a:rPr lang="en-US" sz="5600" dirty="0"/>
              <a:t>campus or a building.</a:t>
            </a:r>
          </a:p>
          <a:p>
            <a:endParaRPr lang="en-US" sz="5600" dirty="0"/>
          </a:p>
          <a:p>
            <a:r>
              <a:rPr lang="en-US" sz="5600" dirty="0"/>
              <a:t>It allows devices on your network to communicate with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each </a:t>
            </a:r>
            <a:r>
              <a:rPr lang="en-US" sz="5600" dirty="0"/>
              <a:t>other, as well as with other networks. </a:t>
            </a:r>
          </a:p>
          <a:p>
            <a:endParaRPr lang="en-US" sz="5600" dirty="0"/>
          </a:p>
          <a:p>
            <a:r>
              <a:rPr lang="en-US" sz="5600" dirty="0"/>
              <a:t>It helps you to share resources and reduce the costing of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any </a:t>
            </a:r>
            <a:r>
              <a:rPr lang="en-US" sz="5600" dirty="0"/>
              <a:t>organization</a:t>
            </a:r>
            <a:r>
              <a:rPr lang="en-US" sz="5600" dirty="0" smtClean="0"/>
              <a:t>.</a:t>
            </a:r>
          </a:p>
          <a:p>
            <a:pPr marL="0" indent="0" fontAlgn="base">
              <a:buNone/>
            </a:pPr>
            <a:endParaRPr lang="en-US" sz="5600" dirty="0" smtClean="0"/>
          </a:p>
          <a:p>
            <a:pPr marL="0" indent="0">
              <a:buNone/>
            </a:pPr>
            <a:r>
              <a:rPr lang="en-US" sz="5600" b="1" dirty="0"/>
              <a:t>Network Interface Card:</a:t>
            </a:r>
          </a:p>
          <a:p>
            <a:r>
              <a:rPr lang="en-US" sz="5600" dirty="0"/>
              <a:t>Network Interface card sends, receives data, and controls data flow </a:t>
            </a:r>
            <a:endParaRPr lang="en-US" sz="5600" dirty="0" smtClean="0"/>
          </a:p>
          <a:p>
            <a:pPr marL="0" indent="0">
              <a:buNone/>
            </a:pPr>
            <a:r>
              <a:rPr lang="en-US" sz="5600" dirty="0"/>
              <a:t> </a:t>
            </a:r>
            <a:r>
              <a:rPr lang="en-US" sz="5600" dirty="0" smtClean="0"/>
              <a:t>        between </a:t>
            </a:r>
            <a:r>
              <a:rPr lang="en-US" sz="5600" dirty="0"/>
              <a:t>the computer and the network.</a:t>
            </a:r>
          </a:p>
          <a:p>
            <a:pPr marL="0" indent="0" fontAlgn="base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b="1" dirty="0" smtClean="0"/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268760"/>
            <a:ext cx="268605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212976"/>
            <a:ext cx="3096344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650" y="5373216"/>
            <a:ext cx="2763813" cy="122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973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44824"/>
            <a:ext cx="7200800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299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data communication terminology, a transmission medium is a physical path between the transmitter and the receiver i.e. it is the channel through which data is sent from one place to another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514350" indent="-514350" fontAlgn="base">
              <a:buAutoNum type="arabicPeriod"/>
            </a:pPr>
            <a:r>
              <a:rPr lang="en-US" b="1" dirty="0" smtClean="0"/>
              <a:t>Guided </a:t>
            </a:r>
            <a:r>
              <a:rPr lang="en-US" b="1" dirty="0"/>
              <a:t>Media:</a:t>
            </a:r>
            <a:r>
              <a:rPr lang="en-US" dirty="0"/>
              <a:t> 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       - It </a:t>
            </a:r>
            <a:r>
              <a:rPr lang="en-US" dirty="0"/>
              <a:t>is also referred to as Wired or Bounded </a:t>
            </a:r>
            <a:r>
              <a:rPr lang="en-US" dirty="0" smtClean="0"/>
              <a:t>transmission </a:t>
            </a:r>
            <a:r>
              <a:rPr lang="en-US" dirty="0"/>
              <a:t>media.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       - Signals </a:t>
            </a:r>
            <a:r>
              <a:rPr lang="en-US" dirty="0"/>
              <a:t>being transmitted are directed and confined in a </a:t>
            </a:r>
            <a:r>
              <a:rPr lang="en-US" dirty="0" smtClean="0"/>
              <a:t>narrow</a:t>
            </a:r>
          </a:p>
          <a:p>
            <a:pPr marL="0" indent="0" fontAlgn="base">
              <a:buNone/>
            </a:pPr>
            <a:r>
              <a:rPr lang="en-US" dirty="0" smtClean="0"/>
              <a:t>            pathway </a:t>
            </a:r>
            <a:r>
              <a:rPr lang="en-US" dirty="0"/>
              <a:t>by using physical links. 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Features:</a:t>
            </a:r>
            <a:r>
              <a:rPr lang="en-US" dirty="0"/>
              <a:t>  </a:t>
            </a:r>
          </a:p>
          <a:p>
            <a:pPr fontAlgn="base"/>
            <a:r>
              <a:rPr lang="en-US" dirty="0"/>
              <a:t>High Speed</a:t>
            </a:r>
          </a:p>
          <a:p>
            <a:pPr fontAlgn="base"/>
            <a:r>
              <a:rPr lang="en-US" dirty="0"/>
              <a:t>Secure</a:t>
            </a:r>
          </a:p>
          <a:p>
            <a:pPr fontAlgn="base"/>
            <a:r>
              <a:rPr lang="en-US" dirty="0"/>
              <a:t>Used for comparatively shorter distances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8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Types of Guided Media</a:t>
            </a:r>
          </a:p>
          <a:p>
            <a:pPr marL="0" indent="0">
              <a:buNone/>
            </a:pPr>
            <a:endParaRPr lang="en-IN" sz="2400" b="1" dirty="0" smtClean="0"/>
          </a:p>
          <a:p>
            <a:r>
              <a:rPr lang="en-IN" sz="2400" dirty="0"/>
              <a:t>Twisted Pair </a:t>
            </a:r>
            <a:r>
              <a:rPr lang="en-IN" sz="2400" dirty="0" smtClean="0"/>
              <a:t>Cable</a:t>
            </a:r>
          </a:p>
          <a:p>
            <a:endParaRPr lang="en-IN" sz="2400" dirty="0" smtClean="0"/>
          </a:p>
          <a:p>
            <a:r>
              <a:rPr lang="en-IN" sz="2400" dirty="0"/>
              <a:t>Coaxial </a:t>
            </a:r>
            <a:r>
              <a:rPr lang="en-IN" sz="2400" dirty="0" smtClean="0"/>
              <a:t>Cable</a:t>
            </a:r>
          </a:p>
          <a:p>
            <a:endParaRPr lang="en-IN" sz="2400" dirty="0" smtClean="0"/>
          </a:p>
          <a:p>
            <a:r>
              <a:rPr lang="en-IN" sz="2400" dirty="0"/>
              <a:t>Optical Fiber Cable</a:t>
            </a:r>
          </a:p>
        </p:txBody>
      </p:sp>
    </p:spTree>
    <p:extLst>
      <p:ext uri="{BB962C8B-B14F-4D97-AF65-F5344CB8AC3E}">
        <p14:creationId xmlns:p14="http://schemas.microsoft.com/office/powerpoint/2010/main" val="2989348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fontAlgn="base">
              <a:buNone/>
            </a:pPr>
            <a:r>
              <a:rPr lang="en-US" b="1" dirty="0" smtClean="0"/>
              <a:t>(</a:t>
            </a:r>
            <a:r>
              <a:rPr lang="en-US" b="1" dirty="0" err="1" smtClean="0"/>
              <a:t>i</a:t>
            </a:r>
            <a:r>
              <a:rPr lang="en-US" b="1" dirty="0" smtClean="0"/>
              <a:t>) Twisted </a:t>
            </a:r>
            <a:r>
              <a:rPr lang="en-US" b="1" dirty="0"/>
              <a:t>Pair Cable </a:t>
            </a:r>
            <a:endParaRPr lang="en-US" b="1" dirty="0" smtClean="0"/>
          </a:p>
          <a:p>
            <a:pPr marL="0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- It </a:t>
            </a:r>
            <a:r>
              <a:rPr lang="en-US" dirty="0"/>
              <a:t>consists of 2 separately insulated conductor wires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      wound </a:t>
            </a:r>
            <a:r>
              <a:rPr lang="en-US" dirty="0"/>
              <a:t>about each other.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- Generally</a:t>
            </a:r>
            <a:r>
              <a:rPr lang="en-US" dirty="0"/>
              <a:t>, several such pairs are bundled together in a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protective </a:t>
            </a:r>
            <a:r>
              <a:rPr lang="en-US" dirty="0"/>
              <a:t>sheath.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     - They </a:t>
            </a:r>
            <a:r>
              <a:rPr lang="en-US" dirty="0"/>
              <a:t>are the most widely used Transmission Media. </a:t>
            </a:r>
            <a:endParaRPr lang="en-US" dirty="0" smtClean="0"/>
          </a:p>
          <a:p>
            <a:pPr marL="0" indent="0" fontAlgn="base">
              <a:buNone/>
            </a:pPr>
            <a:endParaRPr lang="en-US" dirty="0" smtClean="0"/>
          </a:p>
          <a:p>
            <a:pPr marL="0" indent="0" fontAlgn="base">
              <a:buNone/>
            </a:pPr>
            <a:r>
              <a:rPr lang="en-US" b="1" dirty="0" smtClean="0"/>
              <a:t>Twisted </a:t>
            </a:r>
            <a:r>
              <a:rPr lang="en-US" b="1" dirty="0"/>
              <a:t>Pair is of two types: </a:t>
            </a:r>
            <a:endParaRPr lang="en-US" b="1" dirty="0" smtClean="0"/>
          </a:p>
          <a:p>
            <a:pPr marL="0" indent="0" fontAlgn="base">
              <a:buNone/>
            </a:pPr>
            <a:endParaRPr lang="en-US" b="1" dirty="0"/>
          </a:p>
          <a:p>
            <a:pPr fontAlgn="base"/>
            <a:r>
              <a:rPr lang="en-US" b="1" dirty="0"/>
              <a:t>Unshielded Twisted Pair (UTP):</a:t>
            </a:r>
            <a:r>
              <a:rPr lang="en-US" dirty="0"/>
              <a:t> 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- UTP </a:t>
            </a:r>
            <a:r>
              <a:rPr lang="en-US" dirty="0"/>
              <a:t>consists of two insulated copper wires twisted around one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 another</a:t>
            </a:r>
            <a:r>
              <a:rPr lang="en-US" dirty="0"/>
              <a:t>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      - This </a:t>
            </a:r>
            <a:r>
              <a:rPr lang="en-US" dirty="0"/>
              <a:t>type of cable has the ability to block interference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/>
              <a:t> </a:t>
            </a:r>
            <a:r>
              <a:rPr lang="en-US" dirty="0" smtClean="0"/>
              <a:t>       and does not </a:t>
            </a:r>
            <a:r>
              <a:rPr lang="en-US" dirty="0"/>
              <a:t>depend on a physical shield for this purpose. </a:t>
            </a:r>
            <a:endParaRPr lang="en-US" dirty="0" smtClean="0"/>
          </a:p>
          <a:p>
            <a:pPr marL="0" indent="0" fontAlgn="base">
              <a:buNone/>
            </a:pPr>
            <a:r>
              <a:rPr lang="en-US" dirty="0" smtClean="0"/>
              <a:t>      - It </a:t>
            </a:r>
            <a:r>
              <a:rPr lang="en-US" dirty="0"/>
              <a:t>is used for telephonic applications</a:t>
            </a:r>
            <a:r>
              <a:rPr lang="en-US" dirty="0" smtClean="0"/>
              <a:t>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740" y="4293096"/>
            <a:ext cx="1440160" cy="1183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09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800" b="1" dirty="0"/>
              <a:t>Advantages: 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 smtClean="0"/>
              <a:t>   - Least </a:t>
            </a:r>
            <a:r>
              <a:rPr lang="en-US" sz="1800" dirty="0"/>
              <a:t>expensive</a:t>
            </a:r>
          </a:p>
          <a:p>
            <a:pPr marL="0" indent="0" fontAlgn="base">
              <a:buNone/>
            </a:pPr>
            <a:r>
              <a:rPr lang="en-US" sz="1800" dirty="0" smtClean="0"/>
              <a:t>   - Easy </a:t>
            </a:r>
            <a:r>
              <a:rPr lang="en-US" sz="1800" dirty="0"/>
              <a:t>to install</a:t>
            </a:r>
          </a:p>
          <a:p>
            <a:pPr marL="0" indent="0" fontAlgn="base">
              <a:buNone/>
            </a:pPr>
            <a:r>
              <a:rPr lang="en-US" sz="1800" dirty="0" smtClean="0"/>
              <a:t>   - High-speed capacity</a:t>
            </a:r>
          </a:p>
          <a:p>
            <a:pPr marL="0" indent="0" fontAlgn="base">
              <a:buNone/>
            </a:pPr>
            <a:endParaRPr lang="en-US" sz="1800" dirty="0"/>
          </a:p>
          <a:p>
            <a:pPr marL="0" indent="0" fontAlgn="base">
              <a:buNone/>
            </a:pPr>
            <a:r>
              <a:rPr lang="en-US" sz="1800" b="1" dirty="0" smtClean="0"/>
              <a:t>Disadvantages</a:t>
            </a:r>
            <a:r>
              <a:rPr lang="en-US" sz="1800" b="1" dirty="0"/>
              <a:t>: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 smtClean="0"/>
              <a:t>    - Susceptible </a:t>
            </a:r>
            <a:r>
              <a:rPr lang="en-US" sz="1800" dirty="0"/>
              <a:t>to external interference</a:t>
            </a:r>
          </a:p>
          <a:p>
            <a:pPr marL="0" indent="0" fontAlgn="base">
              <a:buNone/>
            </a:pPr>
            <a:r>
              <a:rPr lang="en-US" sz="1800" dirty="0" smtClean="0"/>
              <a:t>    - Lower </a:t>
            </a:r>
            <a:r>
              <a:rPr lang="en-US" sz="1800" dirty="0"/>
              <a:t>capacity and performance in comparison to </a:t>
            </a:r>
            <a:r>
              <a:rPr lang="en-US" sz="1800" dirty="0" smtClean="0"/>
              <a:t>STP</a:t>
            </a:r>
          </a:p>
          <a:p>
            <a:pPr marL="0" indent="0" fontAlgn="base">
              <a:buNone/>
            </a:pPr>
            <a:r>
              <a:rPr lang="en-US" sz="1800" dirty="0" smtClean="0"/>
              <a:t>    - Short </a:t>
            </a:r>
            <a:r>
              <a:rPr lang="en-US" sz="1800" dirty="0"/>
              <a:t>distance transmission due to </a:t>
            </a:r>
            <a:r>
              <a:rPr lang="en-US" sz="1800" dirty="0" smtClean="0"/>
              <a:t>attenuation</a:t>
            </a:r>
            <a:endParaRPr lang="en-IN" sz="4400" dirty="0" smtClean="0"/>
          </a:p>
          <a:p>
            <a:pPr marL="0" indent="0" fontAlgn="base">
              <a:buNone/>
            </a:pPr>
            <a:endParaRPr lang="en-IN" sz="1800" dirty="0"/>
          </a:p>
          <a:p>
            <a:pPr marL="0" indent="0" fontAlgn="base">
              <a:buNone/>
            </a:pPr>
            <a:r>
              <a:rPr lang="en-US" sz="1800" b="1" dirty="0"/>
              <a:t>Applications: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 smtClean="0"/>
              <a:t>   - Used </a:t>
            </a:r>
            <a:r>
              <a:rPr lang="en-US" sz="1800" dirty="0"/>
              <a:t>in telephone connections and LAN networks</a:t>
            </a:r>
          </a:p>
          <a:p>
            <a:pPr marL="0" indent="0" fontAlgn="base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6945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 fontScale="47500" lnSpcReduction="20000"/>
          </a:bodyPr>
          <a:lstStyle/>
          <a:p>
            <a:pPr fontAlgn="base"/>
            <a:r>
              <a:rPr lang="en-US" sz="3400" b="1" dirty="0"/>
              <a:t>Shielded Twisted Pair (STP):</a:t>
            </a:r>
            <a:r>
              <a:rPr lang="en-US" sz="3400" dirty="0"/>
              <a:t> </a:t>
            </a:r>
            <a:endParaRPr lang="en-US" sz="3400" dirty="0" smtClean="0"/>
          </a:p>
          <a:p>
            <a:pPr marL="0" indent="0" fontAlgn="base">
              <a:buNone/>
            </a:pPr>
            <a:r>
              <a:rPr lang="en-US" sz="2500" dirty="0"/>
              <a:t> </a:t>
            </a:r>
            <a:br>
              <a:rPr lang="en-US" sz="2500" dirty="0"/>
            </a:br>
            <a:r>
              <a:rPr lang="en-US" sz="2500" dirty="0" smtClean="0"/>
              <a:t>          - This </a:t>
            </a:r>
            <a:r>
              <a:rPr lang="en-US" sz="2500" dirty="0"/>
              <a:t>type of cable consists of a special jacket (a copper braid covering or </a:t>
            </a:r>
            <a:endParaRPr lang="en-US" sz="2500" dirty="0" smtClean="0"/>
          </a:p>
          <a:p>
            <a:pPr marL="0" indent="0" fontAlgn="base">
              <a:buNone/>
            </a:pPr>
            <a:r>
              <a:rPr lang="en-US" sz="2500" dirty="0"/>
              <a:t> </a:t>
            </a:r>
            <a:r>
              <a:rPr lang="en-US" sz="2500" dirty="0" smtClean="0"/>
              <a:t>           a </a:t>
            </a:r>
            <a:r>
              <a:rPr lang="en-US" sz="2500" dirty="0"/>
              <a:t>foil shield) to block external interference. </a:t>
            </a:r>
            <a:endParaRPr lang="en-US" sz="2500" dirty="0" smtClean="0"/>
          </a:p>
          <a:p>
            <a:pPr marL="0" indent="0" fontAlgn="base">
              <a:buNone/>
            </a:pPr>
            <a:r>
              <a:rPr lang="en-US" sz="2500" dirty="0" smtClean="0"/>
              <a:t>          - It </a:t>
            </a:r>
            <a:r>
              <a:rPr lang="en-US" sz="2500" dirty="0"/>
              <a:t>is used in fast-data-rate Ethernet and in voice and data channels of </a:t>
            </a:r>
            <a:endParaRPr lang="en-US" sz="2500" dirty="0" smtClean="0"/>
          </a:p>
          <a:p>
            <a:pPr marL="0" indent="0" fontAlgn="base">
              <a:buNone/>
            </a:pPr>
            <a:r>
              <a:rPr lang="en-US" sz="2500" dirty="0"/>
              <a:t> </a:t>
            </a:r>
            <a:r>
              <a:rPr lang="en-US" sz="2500" dirty="0" smtClean="0"/>
              <a:t>            telephone </a:t>
            </a:r>
            <a:r>
              <a:rPr lang="en-US" sz="2500" dirty="0"/>
              <a:t>lines</a:t>
            </a:r>
            <a:r>
              <a:rPr lang="en-US" sz="2500" dirty="0" smtClean="0"/>
              <a:t>.</a:t>
            </a:r>
          </a:p>
          <a:p>
            <a:pPr fontAlgn="base"/>
            <a:endParaRPr lang="en-US" sz="2500" b="1" dirty="0" smtClean="0"/>
          </a:p>
          <a:p>
            <a:pPr marL="0" indent="0" fontAlgn="base">
              <a:buNone/>
            </a:pPr>
            <a:r>
              <a:rPr lang="en-US" sz="2500" b="1" dirty="0" smtClean="0"/>
              <a:t>Advantages</a:t>
            </a:r>
            <a:r>
              <a:rPr lang="en-US" sz="2500" b="1" dirty="0"/>
              <a:t>: </a:t>
            </a:r>
            <a:endParaRPr lang="en-US" sz="2500" dirty="0"/>
          </a:p>
          <a:p>
            <a:pPr marL="0" indent="0" fontAlgn="base">
              <a:buNone/>
            </a:pPr>
            <a:r>
              <a:rPr lang="en-US" sz="2500" dirty="0" smtClean="0"/>
              <a:t>    - Better </a:t>
            </a:r>
            <a:r>
              <a:rPr lang="en-US" sz="2500" dirty="0"/>
              <a:t>performance at a higher data rate in comparison to UTP</a:t>
            </a:r>
          </a:p>
          <a:p>
            <a:pPr marL="0" indent="0" fontAlgn="base">
              <a:buNone/>
            </a:pPr>
            <a:r>
              <a:rPr lang="en-US" sz="2500" dirty="0" smtClean="0"/>
              <a:t>    - Eliminates </a:t>
            </a:r>
            <a:r>
              <a:rPr lang="en-US" sz="2500" dirty="0"/>
              <a:t>crosstalk</a:t>
            </a:r>
          </a:p>
          <a:p>
            <a:pPr marL="0" indent="0" fontAlgn="base">
              <a:buNone/>
            </a:pPr>
            <a:r>
              <a:rPr lang="en-US" sz="2500" dirty="0" smtClean="0"/>
              <a:t>    - Comparatively faster</a:t>
            </a:r>
          </a:p>
          <a:p>
            <a:pPr marL="0" indent="0" fontAlgn="base">
              <a:buNone/>
            </a:pPr>
            <a:endParaRPr lang="en-US" sz="2500" dirty="0"/>
          </a:p>
          <a:p>
            <a:pPr marL="0" indent="0" fontAlgn="base">
              <a:buNone/>
            </a:pPr>
            <a:r>
              <a:rPr lang="en-US" sz="2500" b="1" dirty="0" smtClean="0"/>
              <a:t>Disadvantages</a:t>
            </a:r>
            <a:r>
              <a:rPr lang="en-US" sz="2500" b="1" dirty="0"/>
              <a:t>:</a:t>
            </a:r>
            <a:endParaRPr lang="en-US" sz="2500" dirty="0"/>
          </a:p>
          <a:p>
            <a:pPr marL="0" indent="0" fontAlgn="base">
              <a:buNone/>
            </a:pPr>
            <a:r>
              <a:rPr lang="en-US" sz="2500" dirty="0" smtClean="0"/>
              <a:t>    - Comparatively </a:t>
            </a:r>
            <a:r>
              <a:rPr lang="en-US" sz="2500" dirty="0"/>
              <a:t>difficult to install and manufacture</a:t>
            </a:r>
          </a:p>
          <a:p>
            <a:pPr marL="0" indent="0" fontAlgn="base">
              <a:buNone/>
            </a:pPr>
            <a:r>
              <a:rPr lang="en-US" sz="2500" dirty="0" smtClean="0"/>
              <a:t>    - More </a:t>
            </a:r>
            <a:r>
              <a:rPr lang="en-US" sz="2500" dirty="0"/>
              <a:t>expensive</a:t>
            </a:r>
          </a:p>
          <a:p>
            <a:pPr marL="0" indent="0" fontAlgn="base">
              <a:buNone/>
            </a:pPr>
            <a:r>
              <a:rPr lang="en-US" sz="2500" dirty="0" smtClean="0"/>
              <a:t>    - Bulky</a:t>
            </a:r>
          </a:p>
          <a:p>
            <a:pPr marL="0" indent="0" fontAlgn="base">
              <a:buNone/>
            </a:pPr>
            <a:endParaRPr lang="en-US" sz="2500" dirty="0"/>
          </a:p>
          <a:p>
            <a:pPr marL="0" indent="0" fontAlgn="base">
              <a:buNone/>
            </a:pPr>
            <a:r>
              <a:rPr lang="en-US" sz="2500" b="1" dirty="0"/>
              <a:t>Applications:</a:t>
            </a:r>
            <a:endParaRPr lang="en-US" sz="2500" dirty="0"/>
          </a:p>
          <a:p>
            <a:pPr marL="0" indent="0" fontAlgn="base">
              <a:buNone/>
            </a:pPr>
            <a:r>
              <a:rPr lang="en-US" sz="2500" dirty="0" smtClean="0"/>
              <a:t>    - The </a:t>
            </a:r>
            <a:r>
              <a:rPr lang="en-US" sz="2500" dirty="0"/>
              <a:t>shielded twisted pair type of cable is most frequently used in extremely cold climates, where the additional </a:t>
            </a:r>
            <a:r>
              <a:rPr lang="en-US" sz="2500" dirty="0" smtClean="0"/>
              <a:t>layer </a:t>
            </a:r>
            <a:r>
              <a:rPr lang="en-US" sz="2500" dirty="0"/>
              <a:t>of outer </a:t>
            </a:r>
            <a:endParaRPr lang="en-US" sz="2500" dirty="0" smtClean="0"/>
          </a:p>
          <a:p>
            <a:pPr marL="0" indent="0" fontAlgn="base">
              <a:buNone/>
            </a:pPr>
            <a:r>
              <a:rPr lang="en-US" sz="2500" dirty="0"/>
              <a:t> </a:t>
            </a:r>
            <a:r>
              <a:rPr lang="en-US" sz="2500" dirty="0" smtClean="0"/>
              <a:t>     covering </a:t>
            </a:r>
            <a:r>
              <a:rPr lang="en-US" sz="2500" dirty="0"/>
              <a:t>makes it perfect for withstanding such temperatures or for shielding the interior components.</a:t>
            </a:r>
          </a:p>
          <a:p>
            <a:pPr marL="0" indent="0" fontAlgn="base">
              <a:buNone/>
            </a:pPr>
            <a:endParaRPr lang="en-US" sz="2500" dirty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636912"/>
            <a:ext cx="28575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2578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/>
              <a:t>(ii)Coaxial </a:t>
            </a:r>
            <a:r>
              <a:rPr lang="en-US" sz="1800" b="1" dirty="0"/>
              <a:t>Cable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    - It </a:t>
            </a:r>
            <a:r>
              <a:rPr lang="en-US" sz="1800" dirty="0"/>
              <a:t>has an outer plastic covering containing </a:t>
            </a:r>
            <a:r>
              <a:rPr lang="en-US" sz="1800" dirty="0" smtClean="0"/>
              <a:t>an insulation </a:t>
            </a:r>
            <a:r>
              <a:rPr lang="en-US" sz="1800" dirty="0"/>
              <a:t>layer made of PVC or </a:t>
            </a:r>
            <a:r>
              <a:rPr lang="en-US" sz="1800" dirty="0" smtClean="0"/>
              <a:t>   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Teflon </a:t>
            </a:r>
            <a:r>
              <a:rPr lang="en-US" sz="1800" dirty="0"/>
              <a:t>and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- 2 </a:t>
            </a:r>
            <a:r>
              <a:rPr lang="en-US" sz="1800" dirty="0"/>
              <a:t>parallel conductors each having a separate </a:t>
            </a:r>
            <a:r>
              <a:rPr lang="en-US" sz="1800" dirty="0" smtClean="0"/>
              <a:t>insulated </a:t>
            </a:r>
            <a:r>
              <a:rPr lang="en-US" sz="1800" dirty="0"/>
              <a:t>protection cover.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- The </a:t>
            </a:r>
            <a:r>
              <a:rPr lang="en-US" sz="1800" dirty="0"/>
              <a:t>coaxial cable transmits information in </a:t>
            </a:r>
            <a:r>
              <a:rPr lang="en-US" sz="1800" dirty="0" smtClean="0"/>
              <a:t>two modes</a:t>
            </a:r>
            <a:r>
              <a:rPr lang="en-US" sz="1800" dirty="0"/>
              <a:t>: Baseband mode(dedicated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cable </a:t>
            </a:r>
            <a:r>
              <a:rPr lang="en-US" sz="1800" dirty="0"/>
              <a:t>bandwidth) </a:t>
            </a:r>
            <a:r>
              <a:rPr lang="en-US" sz="1800" dirty="0" smtClean="0"/>
              <a:t>and </a:t>
            </a:r>
            <a:r>
              <a:rPr lang="en-US" sz="1800" dirty="0"/>
              <a:t>Broadband mode(cable bandwidth is split into </a:t>
            </a:r>
            <a:r>
              <a:rPr lang="en-US" sz="1800" dirty="0" smtClean="0"/>
              <a:t>separate       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ranges</a:t>
            </a:r>
            <a:r>
              <a:rPr lang="en-US" sz="1800" dirty="0"/>
              <a:t>).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- Cable </a:t>
            </a:r>
            <a:r>
              <a:rPr lang="en-US" sz="1800" dirty="0"/>
              <a:t>TVs and analog television networks widely </a:t>
            </a:r>
            <a:r>
              <a:rPr lang="en-US" sz="1800" dirty="0" smtClean="0"/>
              <a:t>use Coaxial </a:t>
            </a:r>
            <a:r>
              <a:rPr lang="en-US" sz="1800" dirty="0"/>
              <a:t>cables.</a:t>
            </a:r>
            <a:endParaRPr lang="en-IN" sz="1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653136"/>
            <a:ext cx="4752528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4539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fontAlgn="base">
              <a:buNone/>
            </a:pPr>
            <a:r>
              <a:rPr lang="en-US" b="1" dirty="0"/>
              <a:t>Advantages:</a:t>
            </a:r>
            <a:r>
              <a:rPr lang="en-US" dirty="0"/>
              <a:t> </a:t>
            </a:r>
            <a:endParaRPr lang="en-US" dirty="0" smtClean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 smtClean="0"/>
              <a:t>- High </a:t>
            </a:r>
            <a:r>
              <a:rPr lang="en-US" dirty="0"/>
              <a:t>Bandwidth</a:t>
            </a:r>
          </a:p>
          <a:p>
            <a:pPr marL="0" indent="0" fontAlgn="base">
              <a:buNone/>
            </a:pPr>
            <a:r>
              <a:rPr lang="en-US" dirty="0" smtClean="0"/>
              <a:t>- Better </a:t>
            </a:r>
            <a:r>
              <a:rPr lang="en-US" dirty="0"/>
              <a:t>noise Immunity</a:t>
            </a:r>
          </a:p>
          <a:p>
            <a:pPr marL="0" indent="0" fontAlgn="base">
              <a:buNone/>
            </a:pPr>
            <a:r>
              <a:rPr lang="en-US" dirty="0" smtClean="0"/>
              <a:t>- Easy </a:t>
            </a:r>
            <a:r>
              <a:rPr lang="en-US" dirty="0"/>
              <a:t>to install and expand</a:t>
            </a:r>
          </a:p>
          <a:p>
            <a:pPr marL="0" indent="0" fontAlgn="base">
              <a:buNone/>
            </a:pPr>
            <a:r>
              <a:rPr lang="en-US" dirty="0" smtClean="0"/>
              <a:t>- Inexpensive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Disadvantages:  </a:t>
            </a:r>
            <a:endParaRPr lang="en-US" b="1" dirty="0" smtClean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 smtClean="0"/>
              <a:t>- Single </a:t>
            </a:r>
            <a:r>
              <a:rPr lang="en-US" dirty="0"/>
              <a:t>cable failure can disrupt the entire </a:t>
            </a:r>
            <a:r>
              <a:rPr lang="en-US" dirty="0" smtClean="0"/>
              <a:t>network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b="1" dirty="0"/>
              <a:t>Applications: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Radio frequency signals are sent over coaxial wire. It can be used for cable television signal distribution, digital audio </a:t>
            </a:r>
            <a:r>
              <a:rPr lang="en-US" dirty="0" smtClean="0"/>
              <a:t>, </a:t>
            </a:r>
            <a:r>
              <a:rPr lang="en-US" dirty="0"/>
              <a:t>computer network connections (like Ethernet), and feedlines that connect radio transmitters and receivers to their antennas.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021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sz="1600" b="1" dirty="0"/>
              <a:t>(iii) Optical Fiber Cable </a:t>
            </a:r>
            <a:endParaRPr lang="en-US" sz="1600" b="1" dirty="0" smtClean="0"/>
          </a:p>
          <a:p>
            <a:pPr marL="0" indent="0" fontAlgn="base">
              <a:buNone/>
            </a:pP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      - It </a:t>
            </a:r>
            <a:r>
              <a:rPr lang="en-US" sz="1600" dirty="0"/>
              <a:t>uses the concept of refraction of light </a:t>
            </a:r>
            <a:r>
              <a:rPr lang="en-US" sz="1600" dirty="0" smtClean="0"/>
              <a:t> through </a:t>
            </a:r>
            <a:r>
              <a:rPr lang="en-US" sz="1600" dirty="0"/>
              <a:t>a core made up of glass or plastic. 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 smtClean="0"/>
              <a:t>      - The </a:t>
            </a:r>
            <a:r>
              <a:rPr lang="en-US" sz="1600" dirty="0"/>
              <a:t>core is surrounded by a less dense glass or </a:t>
            </a:r>
            <a:r>
              <a:rPr lang="en-US" sz="1600" dirty="0" smtClean="0"/>
              <a:t>plastic </a:t>
            </a:r>
            <a:r>
              <a:rPr lang="en-US" sz="1600" dirty="0"/>
              <a:t>covering called the cladding. </a:t>
            </a:r>
            <a:endParaRPr lang="en-US" sz="1600" dirty="0" smtClean="0"/>
          </a:p>
          <a:p>
            <a:pPr marL="0" indent="0" fontAlgn="base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- It </a:t>
            </a:r>
            <a:r>
              <a:rPr lang="en-US" sz="1600" dirty="0"/>
              <a:t>is used for the transmission of large volumes of data. </a:t>
            </a:r>
          </a:p>
          <a:p>
            <a:pPr marL="0" indent="0" fontAlgn="base">
              <a:buNone/>
            </a:pPr>
            <a:r>
              <a:rPr lang="en-US" sz="1600" dirty="0" smtClean="0"/>
              <a:t>      - The cable </a:t>
            </a:r>
            <a:r>
              <a:rPr lang="en-US" sz="1600" dirty="0"/>
              <a:t>can be unidirectional or bidirectional. </a:t>
            </a:r>
            <a:endParaRPr lang="en-US" sz="1600" dirty="0" smtClean="0"/>
          </a:p>
          <a:p>
            <a:pPr marL="0" indent="0" fontAlgn="base">
              <a:buNone/>
            </a:pPr>
            <a:endParaRPr lang="en-US" sz="1600" dirty="0"/>
          </a:p>
          <a:p>
            <a:pPr marL="0" indent="0" fontAlgn="base">
              <a:buNone/>
            </a:pPr>
            <a:r>
              <a:rPr lang="en-US" sz="1600" b="1" dirty="0"/>
              <a:t>Advantages:  </a:t>
            </a:r>
            <a:endParaRPr lang="en-US" sz="1600" dirty="0"/>
          </a:p>
          <a:p>
            <a:pPr marL="0" indent="0" fontAlgn="base">
              <a:buNone/>
            </a:pPr>
            <a:r>
              <a:rPr lang="en-US" sz="1600" dirty="0" smtClean="0"/>
              <a:t>      - Increased </a:t>
            </a:r>
            <a:r>
              <a:rPr lang="en-US" sz="1600" dirty="0"/>
              <a:t>capacity and bandwidth</a:t>
            </a:r>
          </a:p>
          <a:p>
            <a:pPr marL="0" indent="0" fontAlgn="base">
              <a:buNone/>
            </a:pPr>
            <a:r>
              <a:rPr lang="en-US" sz="1600" dirty="0" smtClean="0"/>
              <a:t>      - Lightweight</a:t>
            </a:r>
            <a:endParaRPr lang="en-US" sz="1600" dirty="0"/>
          </a:p>
          <a:p>
            <a:pPr marL="0" indent="0" fontAlgn="base">
              <a:buNone/>
            </a:pPr>
            <a:r>
              <a:rPr lang="en-US" sz="1600" dirty="0" smtClean="0"/>
              <a:t>      - Less </a:t>
            </a:r>
            <a:r>
              <a:rPr lang="en-US" sz="1600" dirty="0"/>
              <a:t>signal attenuation</a:t>
            </a:r>
          </a:p>
          <a:p>
            <a:pPr marL="0" indent="0" fontAlgn="base">
              <a:buNone/>
            </a:pPr>
            <a:r>
              <a:rPr lang="en-US" sz="1600" dirty="0" smtClean="0"/>
              <a:t>      - Immunity </a:t>
            </a:r>
            <a:r>
              <a:rPr lang="en-US" sz="1600" dirty="0"/>
              <a:t>to electromagnetic interference</a:t>
            </a:r>
          </a:p>
          <a:p>
            <a:pPr marL="0" indent="0" fontAlgn="base">
              <a:buNone/>
            </a:pPr>
            <a:r>
              <a:rPr lang="en-US" sz="1600" dirty="0" smtClean="0"/>
              <a:t>      - Resistance </a:t>
            </a:r>
            <a:r>
              <a:rPr lang="en-US" sz="1600" dirty="0"/>
              <a:t>to corrosive </a:t>
            </a:r>
            <a:r>
              <a:rPr lang="en-US" sz="1600" dirty="0" smtClean="0"/>
              <a:t>materials</a:t>
            </a:r>
          </a:p>
          <a:p>
            <a:pPr marL="0" indent="0" fontAlgn="base">
              <a:buNone/>
            </a:pPr>
            <a:endParaRPr lang="en-US" sz="1600" dirty="0"/>
          </a:p>
          <a:p>
            <a:pPr marL="0" indent="0" fontAlgn="base">
              <a:buNone/>
            </a:pPr>
            <a:r>
              <a:rPr lang="en-US" sz="1600" b="1" dirty="0"/>
              <a:t>Disadvantages:  </a:t>
            </a:r>
            <a:endParaRPr lang="en-US" sz="1600" dirty="0"/>
          </a:p>
          <a:p>
            <a:pPr marL="0" indent="0" fontAlgn="base">
              <a:buNone/>
            </a:pPr>
            <a:r>
              <a:rPr lang="en-US" sz="1600" dirty="0" smtClean="0"/>
              <a:t>      - Difficult </a:t>
            </a:r>
            <a:r>
              <a:rPr lang="en-US" sz="1600" dirty="0"/>
              <a:t>to install and maintain</a:t>
            </a:r>
          </a:p>
          <a:p>
            <a:pPr marL="0" indent="0" fontAlgn="base">
              <a:buNone/>
            </a:pPr>
            <a:r>
              <a:rPr lang="en-US" sz="1600" dirty="0" smtClean="0"/>
              <a:t>      - High </a:t>
            </a:r>
            <a:r>
              <a:rPr lang="en-US" sz="1600" dirty="0"/>
              <a:t>cost</a:t>
            </a:r>
          </a:p>
          <a:p>
            <a:pPr marL="0" indent="0" fontAlgn="base">
              <a:buNone/>
            </a:pPr>
            <a:r>
              <a:rPr lang="en-US" sz="1600" dirty="0" smtClean="0"/>
              <a:t>      - Fragile</a:t>
            </a:r>
          </a:p>
          <a:p>
            <a:pPr marL="0" indent="0" fontAlgn="base">
              <a:buNone/>
            </a:pPr>
            <a:endParaRPr lang="en-US" sz="1600" dirty="0"/>
          </a:p>
          <a:p>
            <a:pPr marL="0" indent="0" fontAlgn="base">
              <a:buNone/>
            </a:pPr>
            <a:r>
              <a:rPr lang="en-US" sz="1600" b="1" dirty="0"/>
              <a:t>Applications:</a:t>
            </a:r>
            <a:endParaRPr lang="en-US" sz="1600" dirty="0"/>
          </a:p>
          <a:p>
            <a:pPr marL="0" indent="0" fontAlgn="base">
              <a:buNone/>
            </a:pPr>
            <a:r>
              <a:rPr lang="en-US" sz="1600" dirty="0"/>
              <a:t>Radio frequency signals are sent over coaxial wire. It can be used for cable television signal distribution, digital audio (S/PDIF), computer network connections (like Ethernet), and feedlines that connect radio transmitters and receivers to their antennas.</a:t>
            </a:r>
          </a:p>
          <a:p>
            <a:pPr marL="0" indent="0" fontAlgn="base">
              <a:buNone/>
            </a:pPr>
            <a:endParaRPr lang="en-IN" sz="1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636912"/>
            <a:ext cx="3168352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278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200" b="1" dirty="0"/>
              <a:t>2. Unguided Media:</a:t>
            </a:r>
            <a:r>
              <a:rPr lang="en-IN" sz="2200" dirty="0"/>
              <a:t> </a:t>
            </a:r>
            <a:endParaRPr lang="en-IN" sz="2200" dirty="0" smtClean="0"/>
          </a:p>
          <a:p>
            <a:pPr marL="0" indent="0" fontAlgn="base">
              <a:buNone/>
            </a:pPr>
            <a:r>
              <a:rPr lang="en-US" sz="2200" dirty="0" smtClean="0"/>
              <a:t>    - It </a:t>
            </a:r>
            <a:r>
              <a:rPr lang="en-US" sz="2200" dirty="0"/>
              <a:t>is also referred to as Wireless or Unbounded </a:t>
            </a:r>
            <a:r>
              <a:rPr lang="en-US" sz="2200" dirty="0" smtClean="0"/>
              <a:t>   transmission </a:t>
            </a:r>
            <a:r>
              <a:rPr lang="en-US" sz="2200" dirty="0"/>
              <a:t>media. </a:t>
            </a:r>
            <a:endParaRPr lang="en-US" sz="2200" dirty="0" smtClean="0"/>
          </a:p>
          <a:p>
            <a:pPr marL="0" indent="0" fontAlgn="base">
              <a:buNone/>
            </a:pPr>
            <a:r>
              <a:rPr lang="en-US" sz="2200" dirty="0" smtClean="0"/>
              <a:t>    - No </a:t>
            </a:r>
            <a:r>
              <a:rPr lang="en-US" sz="2200" dirty="0"/>
              <a:t>physical medium is required for the transmission of </a:t>
            </a:r>
            <a:r>
              <a:rPr lang="en-US" sz="2200" dirty="0" smtClean="0"/>
              <a:t>electromagnetic</a:t>
            </a:r>
          </a:p>
          <a:p>
            <a:pPr marL="0" indent="0" fontAlgn="base">
              <a:buNone/>
            </a:pPr>
            <a:r>
              <a:rPr lang="en-US" sz="2200" dirty="0"/>
              <a:t> </a:t>
            </a:r>
            <a:r>
              <a:rPr lang="en-US" sz="2200" dirty="0" smtClean="0"/>
              <a:t>     </a:t>
            </a:r>
            <a:r>
              <a:rPr lang="en-US" sz="2200" dirty="0"/>
              <a:t>signals. </a:t>
            </a:r>
            <a:endParaRPr lang="en-US" sz="2200" dirty="0" smtClean="0"/>
          </a:p>
          <a:p>
            <a:pPr fontAlgn="base"/>
            <a:endParaRPr lang="en-US" sz="2200" dirty="0"/>
          </a:p>
          <a:p>
            <a:pPr marL="0" indent="0" fontAlgn="base">
              <a:buNone/>
            </a:pPr>
            <a:r>
              <a:rPr lang="en-US" sz="2200" b="1" dirty="0"/>
              <a:t>Features:  </a:t>
            </a:r>
            <a:endParaRPr lang="en-US" sz="2200" dirty="0"/>
          </a:p>
          <a:p>
            <a:pPr fontAlgn="base"/>
            <a:r>
              <a:rPr lang="en-US" sz="2200" dirty="0"/>
              <a:t>The signal is broadcasted through air</a:t>
            </a:r>
          </a:p>
          <a:p>
            <a:pPr fontAlgn="base"/>
            <a:r>
              <a:rPr lang="en-US" sz="2200" dirty="0"/>
              <a:t>Less Secure</a:t>
            </a:r>
          </a:p>
          <a:p>
            <a:pPr fontAlgn="base"/>
            <a:r>
              <a:rPr lang="en-US" sz="2200" dirty="0"/>
              <a:t>Used for larger distances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264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800" dirty="0"/>
              <a:t>There are 3 types of Signals transmitted through unguided media: </a:t>
            </a:r>
            <a:endParaRPr lang="en-US" sz="1800" dirty="0" smtClean="0"/>
          </a:p>
          <a:p>
            <a:pPr marL="0" indent="0" fontAlgn="base">
              <a:buNone/>
            </a:pPr>
            <a:endParaRPr lang="en-US" sz="1800" dirty="0"/>
          </a:p>
          <a:p>
            <a:pPr marL="0" indent="0" fontAlgn="base">
              <a:buNone/>
            </a:pPr>
            <a:r>
              <a:rPr lang="en-US" sz="1800" b="1" dirty="0" smtClean="0"/>
              <a:t>(</a:t>
            </a:r>
            <a:r>
              <a:rPr lang="en-US" sz="1800" b="1" dirty="0" err="1"/>
              <a:t>i</a:t>
            </a:r>
            <a:r>
              <a:rPr lang="en-US" sz="1800" b="1" dirty="0"/>
              <a:t>) Radio waves </a:t>
            </a:r>
            <a:r>
              <a:rPr lang="en-US" sz="1800" b="1" dirty="0" smtClean="0"/>
              <a:t>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    - These </a:t>
            </a:r>
            <a:r>
              <a:rPr lang="en-US" sz="1800" dirty="0"/>
              <a:t>are easy to generate and can penetrate through buildings. </a:t>
            </a:r>
            <a:endParaRPr lang="en-US" sz="1800" dirty="0" smtClean="0"/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- The </a:t>
            </a:r>
            <a:r>
              <a:rPr lang="en-US" sz="1800" dirty="0"/>
              <a:t>sending and receiving antennas need not be aligned. </a:t>
            </a:r>
            <a:endParaRPr lang="en-US" sz="1800" dirty="0" smtClean="0"/>
          </a:p>
          <a:p>
            <a:pPr marL="0" indent="0" fontAlgn="base">
              <a:buNone/>
            </a:pPr>
            <a:r>
              <a:rPr lang="en-US" sz="1800" dirty="0" smtClean="0"/>
              <a:t>    - Frequency </a:t>
            </a:r>
            <a:r>
              <a:rPr lang="en-US" sz="1800" dirty="0"/>
              <a:t>Range:3KHz – 1GHz. AM and FM radios and cordless phones </a:t>
            </a:r>
            <a:endParaRPr lang="en-US" sz="1800" dirty="0" smtClean="0"/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use </a:t>
            </a:r>
            <a:r>
              <a:rPr lang="en-US" sz="1800" dirty="0"/>
              <a:t>Radio waves for transmission.</a:t>
            </a:r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293096"/>
            <a:ext cx="4824536" cy="1872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6193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smtClean="0"/>
              <a:t>(ii) Microwaves </a:t>
            </a:r>
          </a:p>
          <a:p>
            <a:pPr marL="0" indent="0">
              <a:buNone/>
            </a:pP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    - It is a line of sight transmission i.e. the sending and receiving antennas need to be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properly aligned with each other. </a:t>
            </a:r>
          </a:p>
          <a:p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- The </a:t>
            </a:r>
            <a:r>
              <a:rPr lang="en-US" sz="1800" dirty="0"/>
              <a:t>distance covered by the signal is directly proportional </a:t>
            </a:r>
            <a:r>
              <a:rPr lang="en-US" sz="1800" dirty="0" smtClean="0"/>
              <a:t>to </a:t>
            </a:r>
            <a:r>
              <a:rPr lang="en-US" sz="1800" dirty="0"/>
              <a:t>the height of the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antenna.</a:t>
            </a:r>
          </a:p>
          <a:p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- Frequency </a:t>
            </a:r>
            <a:r>
              <a:rPr lang="en-US" sz="1800" dirty="0"/>
              <a:t>Range:1GHz – 300GHz. These are majorly </a:t>
            </a:r>
            <a:r>
              <a:rPr lang="en-US" sz="1800" dirty="0" smtClean="0"/>
              <a:t>used for </a:t>
            </a:r>
            <a:r>
              <a:rPr lang="en-US" sz="1800" dirty="0"/>
              <a:t>mobile phone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communication </a:t>
            </a:r>
            <a:r>
              <a:rPr lang="en-US" sz="1800" dirty="0"/>
              <a:t>and television distribution. </a:t>
            </a:r>
            <a:endParaRPr lang="en-IN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941168"/>
            <a:ext cx="5760640" cy="1557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0719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Transmission Media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(iii) Infrared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      - Infrared </a:t>
            </a:r>
            <a:r>
              <a:rPr lang="en-US" sz="1800" dirty="0"/>
              <a:t>waves are used for very short distance communication.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- They </a:t>
            </a:r>
            <a:r>
              <a:rPr lang="en-US" sz="1800" dirty="0"/>
              <a:t>cannot penetrate through obstacles.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- This </a:t>
            </a:r>
            <a:r>
              <a:rPr lang="en-US" sz="1800" dirty="0"/>
              <a:t>prevents interference between systems.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- Frequency </a:t>
            </a:r>
            <a:r>
              <a:rPr lang="en-US" sz="1800" dirty="0"/>
              <a:t>Range:300GHz – 400THz. It is used in TV remotes, wireless mouse</a:t>
            </a:r>
            <a:r>
              <a:rPr lang="en-US" sz="1800" dirty="0" smtClean="0"/>
              <a:t>,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</a:t>
            </a:r>
            <a:r>
              <a:rPr lang="en-US" sz="1800" dirty="0"/>
              <a:t>keyboard, printer, etc.</a:t>
            </a:r>
            <a:endParaRPr lang="en-IN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005064"/>
            <a:ext cx="2162175" cy="2281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3900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smtClean="0"/>
              <a:t>Various types of Networks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 smtClean="0"/>
              <a:t>LAN (</a:t>
            </a:r>
            <a:r>
              <a:rPr lang="en-IN" b="1" dirty="0"/>
              <a:t>Local Area Network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IN" b="1" dirty="0" smtClean="0"/>
              <a:t>PAN (</a:t>
            </a:r>
            <a:r>
              <a:rPr lang="en-IN" b="1" dirty="0"/>
              <a:t>Personal Area Network</a:t>
            </a:r>
            <a:r>
              <a:rPr lang="en-IN" b="1" dirty="0" smtClean="0"/>
              <a:t>)</a:t>
            </a:r>
          </a:p>
          <a:p>
            <a:endParaRPr lang="en-IN" b="1" dirty="0" smtClean="0"/>
          </a:p>
          <a:p>
            <a:r>
              <a:rPr lang="en-IN" b="1" dirty="0"/>
              <a:t>CAN </a:t>
            </a:r>
            <a:r>
              <a:rPr lang="en-IN" b="1" dirty="0" smtClean="0"/>
              <a:t>(</a:t>
            </a:r>
            <a:r>
              <a:rPr lang="en-IN" b="1" dirty="0"/>
              <a:t>Campus Area Network</a:t>
            </a:r>
            <a:r>
              <a:rPr lang="en-IN" b="1" dirty="0" smtClean="0"/>
              <a:t>)</a:t>
            </a:r>
            <a:r>
              <a:rPr lang="en-IN" b="1" dirty="0"/>
              <a:t> </a:t>
            </a:r>
          </a:p>
          <a:p>
            <a:endParaRPr lang="en-IN" b="1" dirty="0"/>
          </a:p>
          <a:p>
            <a:r>
              <a:rPr lang="en-IN" b="1" dirty="0" smtClean="0"/>
              <a:t>MAN (</a:t>
            </a:r>
            <a:r>
              <a:rPr lang="en-IN" b="1" dirty="0"/>
              <a:t>Metropolitan Area Network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IN" b="1" dirty="0" smtClean="0"/>
              <a:t>WAN (</a:t>
            </a:r>
            <a:r>
              <a:rPr lang="en-IN" b="1" dirty="0"/>
              <a:t>Wide Area Network</a:t>
            </a:r>
            <a:r>
              <a:rPr lang="en-IN" b="1" dirty="0" smtClean="0"/>
              <a:t>)</a:t>
            </a:r>
          </a:p>
          <a:p>
            <a:endParaRPr lang="en-US" b="1" dirty="0"/>
          </a:p>
          <a:p>
            <a:r>
              <a:rPr lang="en-IN" b="1" dirty="0" smtClean="0"/>
              <a:t>SAN (Storage </a:t>
            </a:r>
            <a:r>
              <a:rPr lang="en-IN" b="1" dirty="0"/>
              <a:t>Area Network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US" b="1" dirty="0"/>
              <a:t>EPN </a:t>
            </a:r>
            <a:r>
              <a:rPr lang="en-US" b="1" dirty="0" smtClean="0"/>
              <a:t>(</a:t>
            </a:r>
            <a:r>
              <a:rPr lang="en-US" b="1" dirty="0"/>
              <a:t>Enterprise Private Network</a:t>
            </a:r>
            <a:r>
              <a:rPr lang="en-US" b="1" dirty="0" smtClean="0"/>
              <a:t>)</a:t>
            </a:r>
          </a:p>
          <a:p>
            <a:endParaRPr lang="en-US" b="1" dirty="0"/>
          </a:p>
          <a:p>
            <a:r>
              <a:rPr lang="en-IN" b="1" dirty="0"/>
              <a:t>VPN </a:t>
            </a:r>
            <a:r>
              <a:rPr lang="en-IN" b="1" dirty="0" smtClean="0"/>
              <a:t>(</a:t>
            </a:r>
            <a:r>
              <a:rPr lang="en-IN" b="1" dirty="0"/>
              <a:t>Virtual Private Network</a:t>
            </a:r>
            <a:r>
              <a:rPr lang="en-IN" b="1" dirty="0" smtClean="0"/>
              <a:t>)</a:t>
            </a:r>
          </a:p>
          <a:p>
            <a:endParaRPr lang="en-IN" b="1" dirty="0"/>
          </a:p>
          <a:p>
            <a:r>
              <a:rPr lang="en-IN" b="1" dirty="0"/>
              <a:t>HAN </a:t>
            </a:r>
            <a:r>
              <a:rPr lang="en-IN" b="1" dirty="0" smtClean="0"/>
              <a:t>(</a:t>
            </a:r>
            <a:r>
              <a:rPr lang="en-IN" b="1" dirty="0"/>
              <a:t>Home Area Network</a:t>
            </a:r>
            <a:r>
              <a:rPr lang="en-IN" b="1" dirty="0" smtClean="0"/>
              <a:t>)</a:t>
            </a:r>
            <a:r>
              <a:rPr lang="en-IN" b="1" dirty="0"/>
              <a:t> 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IN" dirty="0" smtClean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516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/>
              <a:t>LAN(Local Area Network)</a:t>
            </a:r>
          </a:p>
          <a:p>
            <a:pPr marL="0" indent="0">
              <a:buNone/>
            </a:pPr>
            <a:endParaRPr lang="en-US" sz="1900" dirty="0" smtClean="0"/>
          </a:p>
          <a:p>
            <a:r>
              <a:rPr lang="en-US" sz="1900" dirty="0" smtClean="0"/>
              <a:t>Local </a:t>
            </a:r>
            <a:r>
              <a:rPr lang="en-US" sz="1900" dirty="0"/>
              <a:t>Area Network is a group of computers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connected </a:t>
            </a:r>
            <a:r>
              <a:rPr lang="en-US" sz="1900" dirty="0"/>
              <a:t>to each other in a small area such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as </a:t>
            </a:r>
            <a:r>
              <a:rPr lang="en-US" sz="1900" dirty="0"/>
              <a:t>building, office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LAN is used for connecting two or more personal computers through a communication medium such as twisted pair, coaxial cable, etc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It is less costly as it is built with inexpensive hardware such as hubs, network adapters, and ethernet cables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The data is transferred at an extremely faster </a:t>
            </a:r>
            <a:r>
              <a:rPr lang="en-US" sz="1900" dirty="0" smtClean="0"/>
              <a:t>rate </a:t>
            </a:r>
            <a:r>
              <a:rPr lang="en-US" sz="1900" dirty="0"/>
              <a:t>in Local Area Network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Local Area Network provides </a:t>
            </a:r>
            <a:r>
              <a:rPr lang="en-US" sz="1900" dirty="0" smtClean="0"/>
              <a:t>higher </a:t>
            </a:r>
            <a:r>
              <a:rPr lang="en-US" sz="1900" dirty="0"/>
              <a:t>security.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412776"/>
            <a:ext cx="2376264" cy="1706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9929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600" b="1" dirty="0"/>
              <a:t>PAN(Personal Area Network</a:t>
            </a:r>
            <a:r>
              <a:rPr lang="en-IN" sz="2600" b="1" dirty="0" smtClean="0"/>
              <a:t>)</a:t>
            </a:r>
          </a:p>
          <a:p>
            <a:pPr marL="0" indent="0">
              <a:buNone/>
            </a:pPr>
            <a:endParaRPr lang="en-IN" sz="2600" b="1" dirty="0"/>
          </a:p>
          <a:p>
            <a:r>
              <a:rPr lang="en-US" sz="2600" dirty="0"/>
              <a:t>Personal Area Network is a network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 smtClean="0"/>
              <a:t>      arranged </a:t>
            </a:r>
            <a:r>
              <a:rPr lang="en-US" sz="2600" dirty="0"/>
              <a:t>within an individual person, </a:t>
            </a:r>
            <a:endParaRPr lang="en-US" sz="2600" dirty="0" smtClean="0"/>
          </a:p>
          <a:p>
            <a:pPr marL="0" indent="0">
              <a:buNone/>
            </a:pPr>
            <a:r>
              <a:rPr lang="en-US" sz="2600" dirty="0"/>
              <a:t> </a:t>
            </a:r>
            <a:r>
              <a:rPr lang="en-US" sz="2600" dirty="0" smtClean="0"/>
              <a:t>     typically </a:t>
            </a:r>
            <a:r>
              <a:rPr lang="en-US" sz="2600" dirty="0"/>
              <a:t>within a range of 10 meters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/>
              <a:t>Personal Area Network is used for connecting the computer devices of personal use is known as Personal Area Network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 smtClean="0"/>
              <a:t>Personal </a:t>
            </a:r>
            <a:r>
              <a:rPr lang="en-US" sz="2600" dirty="0"/>
              <a:t>Area Network covers an area of </a:t>
            </a:r>
            <a:r>
              <a:rPr lang="en-US" sz="2600" b="1" dirty="0"/>
              <a:t>30 feet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/>
              <a:t>Personal computer devices that are used to develop the personal area network are the laptop, mobile phones, media player and play stations.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412776"/>
            <a:ext cx="3341166" cy="1883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3978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/>
              <a:t>There are two types of Personal Area Network</a:t>
            </a:r>
            <a:r>
              <a:rPr lang="en-US" sz="2900" b="1" dirty="0" smtClean="0"/>
              <a:t>:</a:t>
            </a:r>
          </a:p>
          <a:p>
            <a:pPr marL="0" indent="0">
              <a:buNone/>
            </a:pPr>
            <a:endParaRPr lang="en-US" sz="2900" b="1" dirty="0" smtClean="0"/>
          </a:p>
          <a:p>
            <a:r>
              <a:rPr lang="en-US" sz="2900" dirty="0"/>
              <a:t>Wired Personal Area Network</a:t>
            </a:r>
          </a:p>
          <a:p>
            <a:r>
              <a:rPr lang="en-US" sz="2900" dirty="0"/>
              <a:t>Wireless Personal Area </a:t>
            </a:r>
            <a:r>
              <a:rPr lang="en-US" sz="2900" dirty="0" smtClean="0"/>
              <a:t>Network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sz="2900" b="1" dirty="0"/>
              <a:t>Wireless Personal Area Network:</a:t>
            </a:r>
            <a:r>
              <a:rPr lang="en-US" sz="2900" dirty="0"/>
              <a:t> Wireless Personal Area Network is developed by simply using wireless technologies such as </a:t>
            </a:r>
            <a:r>
              <a:rPr lang="en-US" sz="2900" b="1" dirty="0"/>
              <a:t>WiFi</a:t>
            </a:r>
            <a:r>
              <a:rPr lang="en-US" sz="2900" dirty="0"/>
              <a:t>, </a:t>
            </a:r>
            <a:r>
              <a:rPr lang="en-US" sz="2900" b="1" dirty="0"/>
              <a:t>Bluetooth</a:t>
            </a:r>
            <a:r>
              <a:rPr lang="en-US" sz="2900" dirty="0"/>
              <a:t>. It is a low range network</a:t>
            </a:r>
            <a:r>
              <a:rPr lang="en-US" sz="2900" dirty="0" smtClean="0"/>
              <a:t>.</a:t>
            </a:r>
          </a:p>
          <a:p>
            <a:endParaRPr lang="en-US" sz="2900" dirty="0"/>
          </a:p>
          <a:p>
            <a:r>
              <a:rPr lang="en-US" sz="2900" b="1" dirty="0"/>
              <a:t>Wired Personal Area Network:</a:t>
            </a:r>
            <a:r>
              <a:rPr lang="en-US" sz="2900" dirty="0"/>
              <a:t> Wired Personal Area Network is created by using the USB.</a:t>
            </a:r>
          </a:p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916832"/>
            <a:ext cx="3457575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6625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CAN </a:t>
            </a:r>
            <a:r>
              <a:rPr lang="en-IN" sz="1800" b="1" dirty="0" smtClean="0"/>
              <a:t>(</a:t>
            </a:r>
            <a:r>
              <a:rPr lang="en-IN" sz="1800" b="1" dirty="0"/>
              <a:t>Campus Area Network</a:t>
            </a:r>
            <a:r>
              <a:rPr lang="en-IN" sz="1800" b="1" dirty="0" smtClean="0"/>
              <a:t>)</a:t>
            </a:r>
            <a:r>
              <a:rPr lang="en-IN" sz="1800" dirty="0"/>
              <a:t> </a:t>
            </a:r>
            <a:endParaRPr lang="en-IN" sz="1800" dirty="0" smtClean="0"/>
          </a:p>
          <a:p>
            <a:pPr marL="0" indent="0">
              <a:buNone/>
            </a:pPr>
            <a:endParaRPr lang="en-IN" sz="1800" dirty="0"/>
          </a:p>
          <a:p>
            <a:pPr fontAlgn="base"/>
            <a:r>
              <a:rPr lang="en-US" sz="1800" dirty="0"/>
              <a:t>CAN is bigger than a LAN but </a:t>
            </a:r>
            <a:endParaRPr lang="en-US" sz="1800" dirty="0" smtClean="0"/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smaller </a:t>
            </a:r>
            <a:r>
              <a:rPr lang="en-US" sz="1800" dirty="0"/>
              <a:t>than a MAN</a:t>
            </a:r>
            <a:r>
              <a:rPr lang="en-US" sz="1800" dirty="0" smtClean="0"/>
              <a:t>.</a:t>
            </a:r>
          </a:p>
          <a:p>
            <a:pPr fontAlgn="base"/>
            <a:endParaRPr lang="en-US" sz="1800" dirty="0" smtClean="0"/>
          </a:p>
          <a:p>
            <a:pPr fontAlgn="base"/>
            <a:r>
              <a:rPr lang="en-US" sz="1800" dirty="0" smtClean="0"/>
              <a:t>This </a:t>
            </a:r>
            <a:r>
              <a:rPr lang="en-US" sz="1800" dirty="0"/>
              <a:t>is a type of computer network which is usually used in places like a school or college. </a:t>
            </a:r>
            <a:endParaRPr lang="en-US" sz="1800" dirty="0" smtClean="0"/>
          </a:p>
          <a:p>
            <a:pPr fontAlgn="base"/>
            <a:endParaRPr lang="en-US" sz="1800" dirty="0" smtClean="0"/>
          </a:p>
          <a:p>
            <a:pPr fontAlgn="base"/>
            <a:r>
              <a:rPr lang="en-US" sz="1800" dirty="0" smtClean="0"/>
              <a:t>This </a:t>
            </a:r>
            <a:r>
              <a:rPr lang="en-US" sz="1800" dirty="0"/>
              <a:t>network covers a limited geographical area that is, it spreads across several buildings within the campus</a:t>
            </a:r>
            <a:r>
              <a:rPr lang="en-US" sz="1800" dirty="0" smtClean="0"/>
              <a:t>.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b="1" dirty="0" smtClean="0"/>
              <a:t>Ex</a:t>
            </a:r>
            <a:r>
              <a:rPr lang="en-US" sz="1800" dirty="0" smtClean="0"/>
              <a:t>:- Networks </a:t>
            </a:r>
            <a:r>
              <a:rPr lang="en-US" sz="1800" dirty="0"/>
              <a:t>that cover schools, colleges, buildings, etc.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124744"/>
            <a:ext cx="2952328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5458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1900" b="1" dirty="0"/>
              <a:t>MAN(Metropolitan Area Network</a:t>
            </a:r>
            <a:r>
              <a:rPr lang="en-IN" sz="1900" b="1" dirty="0" smtClean="0"/>
              <a:t>)</a:t>
            </a:r>
          </a:p>
          <a:p>
            <a:pPr marL="0" indent="0">
              <a:buNone/>
            </a:pPr>
            <a:endParaRPr lang="en-IN" sz="1900" b="1" dirty="0" smtClean="0"/>
          </a:p>
          <a:p>
            <a:r>
              <a:rPr lang="en-US" sz="1900" dirty="0"/>
              <a:t>A metropolitan area network is a network that covers a larger geographic area by interconnecting a different LAN to form a larger network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Government agencies use MAN to connect to the citizens and private industries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In MAN, various LANs are connected to each other through a telephone exchange line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The most widely used protocols in MAN are RS-232, Frame Relay, ATM, ISDN, OC-3, ADSL, etc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It has a higher range than Local Area Network(LAN).</a:t>
            </a:r>
          </a:p>
          <a:p>
            <a:endParaRPr lang="en-IN" sz="1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6904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MAN is used in communication between the banks in a city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It can be used in an Airline Reservation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It can be used in a college within a city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It can also be used for communication in the military.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293095"/>
            <a:ext cx="3345383" cy="2376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4852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100" b="1" dirty="0"/>
              <a:t>WAN(Wide Area Network</a:t>
            </a:r>
            <a:r>
              <a:rPr lang="en-IN" sz="2100" b="1" dirty="0" smtClean="0"/>
              <a:t>)</a:t>
            </a:r>
          </a:p>
          <a:p>
            <a:pPr marL="0" indent="0">
              <a:buNone/>
            </a:pPr>
            <a:endParaRPr lang="en-IN" b="1" dirty="0" smtClean="0"/>
          </a:p>
          <a:p>
            <a:r>
              <a:rPr lang="en-US" sz="1900" dirty="0"/>
              <a:t>A Wide Area Network is a network that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 extends </a:t>
            </a:r>
            <a:r>
              <a:rPr lang="en-US" sz="1900" dirty="0"/>
              <a:t>over a large geographical area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 such </a:t>
            </a:r>
            <a:r>
              <a:rPr lang="en-US" sz="1900" dirty="0"/>
              <a:t>as states or countries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A Wide Area Network is quite bigger 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 network </a:t>
            </a:r>
            <a:r>
              <a:rPr lang="en-US" sz="1900" dirty="0"/>
              <a:t>than the LAN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A Wide Area Network is not limited to a single location, but it spans over a large geographical area through a telephone line, </a:t>
            </a:r>
            <a:r>
              <a:rPr lang="en-US" sz="1900" dirty="0" smtClean="0"/>
              <a:t>fiber </a:t>
            </a:r>
            <a:r>
              <a:rPr lang="en-US" sz="1900" dirty="0"/>
              <a:t>optic cable or satellite links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The internet is one of the biggest WAN in the world</a:t>
            </a:r>
            <a:r>
              <a:rPr lang="en-US" sz="1900" dirty="0" smtClean="0"/>
              <a:t>.</a:t>
            </a:r>
          </a:p>
          <a:p>
            <a:endParaRPr lang="en-US" sz="1900" dirty="0"/>
          </a:p>
          <a:p>
            <a:r>
              <a:rPr lang="en-US" sz="1900" dirty="0"/>
              <a:t>A Wide Area Network is widely used in the field of Business, government, and education.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00808"/>
            <a:ext cx="4248472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874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/>
              <a:t>SAN </a:t>
            </a:r>
            <a:r>
              <a:rPr lang="en-IN" sz="2000" b="1" dirty="0" smtClean="0"/>
              <a:t>(</a:t>
            </a:r>
            <a:r>
              <a:rPr lang="en-IN" sz="2000" b="1" dirty="0"/>
              <a:t>Storage Area Network</a:t>
            </a:r>
            <a:r>
              <a:rPr lang="en-IN" sz="2000" b="1" dirty="0" smtClean="0"/>
              <a:t>)</a:t>
            </a:r>
          </a:p>
          <a:p>
            <a:pPr marL="0" indent="0">
              <a:buNone/>
            </a:pPr>
            <a:endParaRPr lang="en-IN" b="1" dirty="0" smtClean="0"/>
          </a:p>
          <a:p>
            <a:pPr fontAlgn="base"/>
            <a:r>
              <a:rPr lang="en-US" sz="1900" dirty="0"/>
              <a:t>SAN is a type of computer network that </a:t>
            </a:r>
            <a:endParaRPr lang="en-US" sz="1900" dirty="0" smtClean="0"/>
          </a:p>
          <a:p>
            <a:pPr marL="0" indent="0" fontAlgn="base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is </a:t>
            </a:r>
            <a:r>
              <a:rPr lang="en-US" sz="1900" dirty="0"/>
              <a:t>high speed and connects groups of </a:t>
            </a:r>
            <a:endParaRPr lang="en-US" sz="1900" dirty="0" smtClean="0"/>
          </a:p>
          <a:p>
            <a:pPr marL="0" indent="0" fontAlgn="base">
              <a:buNone/>
            </a:pPr>
            <a:r>
              <a:rPr lang="en-US" sz="1900" dirty="0"/>
              <a:t> </a:t>
            </a:r>
            <a:r>
              <a:rPr lang="en-US" sz="1900" dirty="0" smtClean="0"/>
              <a:t>     storage </a:t>
            </a:r>
            <a:r>
              <a:rPr lang="en-US" sz="1900" dirty="0"/>
              <a:t>devices to several servers. </a:t>
            </a:r>
            <a:endParaRPr lang="en-US" sz="1900" dirty="0" smtClean="0"/>
          </a:p>
          <a:p>
            <a:pPr fontAlgn="base"/>
            <a:endParaRPr lang="en-US" sz="1900" dirty="0"/>
          </a:p>
          <a:p>
            <a:pPr fontAlgn="base"/>
            <a:r>
              <a:rPr lang="en-US" sz="1900" dirty="0" smtClean="0"/>
              <a:t>This </a:t>
            </a:r>
            <a:r>
              <a:rPr lang="en-US" sz="1900" dirty="0"/>
              <a:t>network does not depend on LAN or </a:t>
            </a:r>
            <a:r>
              <a:rPr lang="en-US" sz="1900" dirty="0" smtClean="0"/>
              <a:t>WAN.</a:t>
            </a:r>
          </a:p>
          <a:p>
            <a:pPr fontAlgn="base"/>
            <a:endParaRPr lang="en-US" sz="1900" dirty="0"/>
          </a:p>
          <a:p>
            <a:pPr fontAlgn="base"/>
            <a:r>
              <a:rPr lang="en-US" sz="1900" dirty="0" smtClean="0"/>
              <a:t>Instead</a:t>
            </a:r>
            <a:r>
              <a:rPr lang="en-US" sz="1900" dirty="0"/>
              <a:t>, a SAN moves the storage resources from the network to its own high-powered network. </a:t>
            </a:r>
            <a:endParaRPr lang="en-US" sz="1900" dirty="0" smtClean="0"/>
          </a:p>
          <a:p>
            <a:pPr fontAlgn="base"/>
            <a:endParaRPr lang="en-US" sz="1900" dirty="0"/>
          </a:p>
          <a:p>
            <a:pPr fontAlgn="base"/>
            <a:r>
              <a:rPr lang="en-US" sz="1900" dirty="0" smtClean="0"/>
              <a:t>A </a:t>
            </a:r>
            <a:r>
              <a:rPr lang="en-US" sz="1900" dirty="0"/>
              <a:t>SAN provides access to block-level data storage</a:t>
            </a:r>
            <a:r>
              <a:rPr lang="en-US" sz="1900" dirty="0" smtClean="0"/>
              <a:t>.</a:t>
            </a:r>
          </a:p>
          <a:p>
            <a:pPr marL="0" indent="0" fontAlgn="base">
              <a:buNone/>
            </a:pPr>
            <a:endParaRPr lang="en-US" sz="1900" dirty="0"/>
          </a:p>
          <a:p>
            <a:pPr fontAlgn="base"/>
            <a:r>
              <a:rPr lang="en-US" sz="1900" b="1" dirty="0" smtClean="0"/>
              <a:t>Ex:</a:t>
            </a:r>
            <a:r>
              <a:rPr lang="en-US" sz="1900" dirty="0" smtClean="0"/>
              <a:t> Network </a:t>
            </a:r>
            <a:r>
              <a:rPr lang="en-US" sz="1900" dirty="0"/>
              <a:t>of disks accessed by a network of servers.</a:t>
            </a:r>
          </a:p>
          <a:p>
            <a:endParaRPr lang="en-IN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412776"/>
            <a:ext cx="4300537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6662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Enterprise Private Network (EPN)</a:t>
            </a:r>
            <a:r>
              <a:rPr lang="en-US" sz="1800" dirty="0"/>
              <a:t> </a:t>
            </a:r>
            <a:endParaRPr lang="en-US" sz="1800" dirty="0" smtClean="0"/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dirty="0" smtClean="0"/>
              <a:t>EPN </a:t>
            </a:r>
            <a:r>
              <a:rPr lang="en-US" sz="1800" dirty="0"/>
              <a:t>is a type of computer network mostly used by businesses that want a secure connection over various locations to share computer resources. </a:t>
            </a:r>
            <a:endParaRPr lang="en-IN" sz="1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3140968"/>
            <a:ext cx="6797377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23770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01712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VPN </a:t>
            </a:r>
            <a:r>
              <a:rPr lang="en-IN" sz="1800" b="1" dirty="0" smtClean="0"/>
              <a:t>(</a:t>
            </a:r>
            <a:r>
              <a:rPr lang="en-IN" sz="1800" b="1" dirty="0"/>
              <a:t>Virtual Private </a:t>
            </a:r>
            <a:r>
              <a:rPr lang="en-IN" sz="1800" b="1" dirty="0" smtClean="0"/>
              <a:t>Network)</a:t>
            </a:r>
          </a:p>
          <a:p>
            <a:pPr marL="0" indent="0">
              <a:buNone/>
            </a:pPr>
            <a:endParaRPr lang="en-IN" sz="1800" b="1" dirty="0" smtClean="0"/>
          </a:p>
          <a:p>
            <a:r>
              <a:rPr lang="en-US" sz="1800" dirty="0"/>
              <a:t>A VPN is a type of computer network that extends a private network across the internet and lets the user send and receive data as if they were connected to a private network even though they are not.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Through </a:t>
            </a:r>
            <a:r>
              <a:rPr lang="en-US" sz="1800" dirty="0"/>
              <a:t>a virtual point-to-point connection users can access a private network remotely.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VPN </a:t>
            </a:r>
            <a:r>
              <a:rPr lang="en-US" sz="1800" dirty="0"/>
              <a:t>protects you from malicious sources by operating as a medium that gives you a protected network connection. </a:t>
            </a:r>
            <a:endParaRPr lang="en-IN" sz="1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525" y="4797152"/>
            <a:ext cx="5760641" cy="1973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7840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Various types of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Home Area Network (HAN) </a:t>
            </a:r>
            <a:endParaRPr lang="en-IN" sz="1800" b="1" dirty="0" smtClean="0"/>
          </a:p>
          <a:p>
            <a:pPr marL="0" indent="0">
              <a:buNone/>
            </a:pPr>
            <a:endParaRPr lang="en-IN" sz="1800" b="1" dirty="0" smtClean="0"/>
          </a:p>
          <a:p>
            <a:r>
              <a:rPr lang="en-US" sz="1800" dirty="0"/>
              <a:t>Many of the houses might have more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  than </a:t>
            </a:r>
            <a:r>
              <a:rPr lang="en-US" sz="1800" dirty="0"/>
              <a:t>a computer.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To </a:t>
            </a:r>
            <a:r>
              <a:rPr lang="en-US" sz="1800" dirty="0"/>
              <a:t>interconnect those computers and with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other </a:t>
            </a:r>
            <a:r>
              <a:rPr lang="en-US" sz="1800" dirty="0"/>
              <a:t>peripheral devices, a network should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be </a:t>
            </a:r>
            <a:r>
              <a:rPr lang="en-US" sz="1800" dirty="0"/>
              <a:t>established similar to the local area network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(</a:t>
            </a:r>
            <a:r>
              <a:rPr lang="en-US" sz="1800" dirty="0"/>
              <a:t>LAN) within that home.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Such </a:t>
            </a:r>
            <a:r>
              <a:rPr lang="en-US" sz="1800" dirty="0"/>
              <a:t>a type of network that allows a user to interconnect multiple computers and other digital devices within the home is referred to as Home Area Network (HAN).  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HAN </a:t>
            </a:r>
            <a:r>
              <a:rPr lang="en-US" sz="1800" dirty="0"/>
              <a:t>encourages sharing of resources, files, and programs within the network. It supports both wired and wireless communication. </a:t>
            </a:r>
            <a:endParaRPr lang="en-IN" sz="1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628800"/>
            <a:ext cx="3312368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676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Connection Oriented N/</a:t>
            </a:r>
            <a:r>
              <a:rPr lang="en-US" sz="2800" dirty="0" err="1" smtClean="0"/>
              <a:t>Ws</a:t>
            </a:r>
            <a:r>
              <a:rPr lang="en-US" sz="2800" dirty="0" smtClean="0"/>
              <a:t> Vs Connectionless N/</a:t>
            </a:r>
            <a:r>
              <a:rPr lang="en-US" sz="2800" dirty="0" err="1" smtClean="0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Data communication is a telecommunication network to send and receive data between two or more computers over the same or different network.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There </a:t>
            </a:r>
            <a:r>
              <a:rPr lang="en-US" sz="1800" dirty="0"/>
              <a:t>are two ways to establish a connection before sending data from one device to another, that are </a:t>
            </a:r>
            <a:r>
              <a:rPr lang="en-US" sz="1800" b="1" dirty="0"/>
              <a:t>Connection-Oriented</a:t>
            </a:r>
            <a:r>
              <a:rPr lang="en-US" sz="1800" dirty="0"/>
              <a:t> and </a:t>
            </a:r>
            <a:r>
              <a:rPr lang="en-US" sz="1800" b="1" dirty="0"/>
              <a:t>Connectionless Service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dirty="0" smtClean="0"/>
              <a:t>Connection-oriented </a:t>
            </a:r>
            <a:r>
              <a:rPr lang="en-US" sz="1800" dirty="0"/>
              <a:t>service involves the creation and termination of the connection for sending the data between two or more devices.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In </a:t>
            </a:r>
            <a:r>
              <a:rPr lang="en-US" sz="1800" dirty="0"/>
              <a:t>contrast, connectionless service does not require establishing any connection and termination process for transferring the data over a network.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649719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Connection-Oriented </a:t>
            </a:r>
            <a:r>
              <a:rPr lang="en-US" sz="1800" b="1" dirty="0" smtClean="0"/>
              <a:t>Service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 smtClean="0"/>
              <a:t>A </a:t>
            </a:r>
            <a:r>
              <a:rPr lang="en-US" sz="1800" dirty="0"/>
              <a:t>connection-oriented service is used to create an end to end connection between the sender and the receiver before transmitting the data over the same or different networks.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In </a:t>
            </a:r>
            <a:r>
              <a:rPr lang="en-US" sz="1800" dirty="0"/>
              <a:t>connection-oriented service, packets are transmitted to the receiver in the same order the sender has sent them.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It </a:t>
            </a:r>
            <a:r>
              <a:rPr lang="en-US" sz="1800" dirty="0"/>
              <a:t>uses a </a:t>
            </a:r>
            <a:r>
              <a:rPr lang="en-US" sz="1800" b="1" dirty="0"/>
              <a:t>handshake method </a:t>
            </a:r>
            <a:r>
              <a:rPr lang="en-US" sz="1800" dirty="0"/>
              <a:t>that creates a connection between the user and sender for transmitting the data over the network.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It </a:t>
            </a:r>
            <a:r>
              <a:rPr lang="en-US" sz="1800" dirty="0"/>
              <a:t>is also known as a reliable network service.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837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Suppose, a sender wants to send data to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Then</a:t>
            </a:r>
            <a:r>
              <a:rPr lang="en-US" dirty="0"/>
              <a:t>, first, the sender sends a request packet to 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receiver </a:t>
            </a:r>
            <a:r>
              <a:rPr lang="en-US" dirty="0"/>
              <a:t>in the form of an </a:t>
            </a:r>
            <a:r>
              <a:rPr lang="en-US" b="1" dirty="0"/>
              <a:t>SYN</a:t>
            </a:r>
            <a:r>
              <a:rPr lang="en-US" dirty="0"/>
              <a:t> packet.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After </a:t>
            </a:r>
            <a:r>
              <a:rPr lang="en-US" dirty="0"/>
              <a:t>that, the receiver responds to the sender's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request </a:t>
            </a:r>
            <a:r>
              <a:rPr lang="en-US" dirty="0"/>
              <a:t>with an (</a:t>
            </a:r>
            <a:r>
              <a:rPr lang="en-US" b="1" dirty="0"/>
              <a:t>SYN-ACK</a:t>
            </a:r>
            <a:r>
              <a:rPr lang="en-US" dirty="0"/>
              <a:t>) signal/packets.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That </a:t>
            </a:r>
            <a:r>
              <a:rPr lang="en-US" dirty="0"/>
              <a:t>represents the confirmation is received by the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receiver </a:t>
            </a:r>
            <a:r>
              <a:rPr lang="en-US" dirty="0"/>
              <a:t>to start the communication between the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sender </a:t>
            </a:r>
            <a:r>
              <a:rPr lang="en-US" dirty="0"/>
              <a:t>and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Now </a:t>
            </a:r>
            <a:r>
              <a:rPr lang="en-US" dirty="0"/>
              <a:t>a sender can send the message or data to the receiver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Similarly, a receiver can respond or send the data to the sender in the form of packets.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After </a:t>
            </a:r>
            <a:r>
              <a:rPr lang="en-US" dirty="0"/>
              <a:t>successfully exchanging or transmitting data, a sender can terminate the connection by sending a signal to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</a:t>
            </a:r>
            <a:r>
              <a:rPr lang="en-US" dirty="0"/>
              <a:t>this way, we can say that it is a reliable network service.</a:t>
            </a:r>
          </a:p>
          <a:p>
            <a:endParaRPr lang="en-IN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628800"/>
            <a:ext cx="3577580" cy="2268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7335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Connectionless </a:t>
            </a:r>
            <a:r>
              <a:rPr lang="en-US" b="1" dirty="0" smtClean="0"/>
              <a:t>Service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/>
              <a:t>A connection is similar to a </a:t>
            </a:r>
            <a:r>
              <a:rPr lang="en-US" b="1" dirty="0"/>
              <a:t>postal system</a:t>
            </a:r>
            <a:r>
              <a:rPr lang="en-US" dirty="0"/>
              <a:t>, in which each letter takes along different route paths from the source to the destination address.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Connectionless </a:t>
            </a:r>
            <a:r>
              <a:rPr lang="en-US" dirty="0"/>
              <a:t>service is used in the network system to transfer data from one end to another end without creating any connection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So </a:t>
            </a:r>
            <a:r>
              <a:rPr lang="en-US" dirty="0"/>
              <a:t>it does not require establishing a connection before sending the data from the sender to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is not a reliable network service because it does not guarantee the transfer of data packets to the receiver, and data packets can be received in any order to the receiver.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Therefore </a:t>
            </a:r>
            <a:r>
              <a:rPr lang="en-US" dirty="0"/>
              <a:t>we can say that the data packet does not follow a </a:t>
            </a:r>
            <a:r>
              <a:rPr lang="en-US" b="1" dirty="0"/>
              <a:t>defined</a:t>
            </a:r>
            <a:r>
              <a:rPr lang="en-US" dirty="0"/>
              <a:t> </a:t>
            </a:r>
            <a:r>
              <a:rPr lang="en-US" b="1" dirty="0"/>
              <a:t>path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In </a:t>
            </a:r>
            <a:r>
              <a:rPr lang="en-US" dirty="0"/>
              <a:t>connectionless service, the transmitted data packet is not received by the receiver due to network congestion, and the data may be lost.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5545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 smtClean="0"/>
              <a:t>Ex:</a:t>
            </a:r>
            <a:r>
              <a:rPr lang="en-US" sz="1800" dirty="0" smtClean="0"/>
              <a:t> A </a:t>
            </a:r>
            <a:r>
              <a:rPr lang="en-US" sz="1800" dirty="0"/>
              <a:t>sender can directly send any data to the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receiver </a:t>
            </a:r>
            <a:r>
              <a:rPr lang="en-US" sz="1800" dirty="0"/>
              <a:t>without establishing any connection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because </a:t>
            </a:r>
            <a:r>
              <a:rPr lang="en-US" sz="1800" dirty="0"/>
              <a:t>it is a connectionless service.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Data </a:t>
            </a:r>
            <a:r>
              <a:rPr lang="en-US" sz="1800" dirty="0"/>
              <a:t>sent by the sender will be in the packet or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data </a:t>
            </a:r>
            <a:r>
              <a:rPr lang="en-US" sz="1800" dirty="0"/>
              <a:t>streams containing the receiver's address.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In </a:t>
            </a:r>
            <a:r>
              <a:rPr lang="en-US" sz="1800" dirty="0"/>
              <a:t>connectionless service, the data can be travelled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and </a:t>
            </a:r>
            <a:r>
              <a:rPr lang="en-US" sz="1800" dirty="0"/>
              <a:t>received in any order.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It </a:t>
            </a:r>
            <a:r>
              <a:rPr lang="en-US" sz="1800" dirty="0"/>
              <a:t>does not guarantee to transfer of the packets to the right destination.</a:t>
            </a:r>
            <a:endParaRPr lang="en-IN" sz="18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772816"/>
            <a:ext cx="3073524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405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Connection Oriented N/</a:t>
            </a:r>
            <a:r>
              <a:rPr lang="en-US" sz="2800" dirty="0" err="1"/>
              <a:t>Ws</a:t>
            </a:r>
            <a:r>
              <a:rPr lang="en-US" sz="2800" dirty="0"/>
              <a:t> Vs Connectionless N/</a:t>
            </a:r>
            <a:r>
              <a:rPr lang="en-US" sz="2800" dirty="0" err="1"/>
              <a:t>Ws</a:t>
            </a:r>
            <a:endParaRPr lang="en-IN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654921"/>
              </p:ext>
            </p:extLst>
          </p:nvPr>
        </p:nvGraphicFramePr>
        <p:xfrm>
          <a:off x="457200" y="1600200"/>
          <a:ext cx="8229600" cy="479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Connection-oriented Service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 Less Service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designed and developed based on the telephone system.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service based on the postal system.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used to create an end to end connection between the senders to the receiver before transmitting the data over the same or different network.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used to transfer the data packets between senders to the receiver without creating any connection.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creates a virtual path between the sender and the receiver.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does not create any virtual connection or path between the sender and the receiver.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requires authentication before transmitting the data packets to the receiver.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does not require authentication before transferring data packets.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data packets are received in the same order as those sent by the sender.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all data packets are received in the same order as those sent by the sender.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a more reliable connection service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not a reliable connection service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 is no congestion as it provides an end-to-end connection between sender and receiver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There may be congestion due to not providing an end-to-end connection between the source and receiver</a:t>
                      </a:r>
                      <a:endParaRPr lang="en-IN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Transmission Control Protocol (TCP) is an example of a connection-oriented service.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Datagram Protocol (UDP), Internet Protocol (IP), and Internet Control Message Protocol (ICMP) are examples of connectionless service.</a:t>
                      </a:r>
                      <a:endParaRPr lang="en-IN" sz="1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5641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Ethernet is a type of communication protocol that is created at Xerox PARC in 1973 by Robert Metcalfe and others, which connects computers on a network over a wired connection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is a widely used LAN protocol, which is also known as Alto Aloha Network.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connects computers within the local area network and wide area network.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Devices like printers and laptops can be connected by LAN and WAN within buildings, homes, and even small neighborhoods.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533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It offers a simple user interface that helps 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     to </a:t>
            </a:r>
            <a:r>
              <a:rPr lang="en-US" dirty="0"/>
              <a:t>connect various devices easily, such as 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switches</a:t>
            </a:r>
            <a:r>
              <a:rPr lang="en-US" dirty="0"/>
              <a:t>, routers, and computers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local area network (LAN) can be created with the help of a single router and a few Ethernet cables, which enable communication between all linked devices. 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Ethernet port is included in your laptop in which one end of a cable is plugged in and connect the other to a router.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Ethernet ports are slightly wider, and they look similar to telephone jacks.</a:t>
            </a:r>
            <a:endParaRPr lang="en-IN" dirty="0"/>
          </a:p>
          <a:p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772816"/>
            <a:ext cx="2990850" cy="1245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8585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ZigBee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US" sz="1800" b="1" dirty="0" smtClean="0"/>
              <a:t>ZIGBEE</a:t>
            </a:r>
            <a:r>
              <a:rPr lang="en-US" sz="1800" dirty="0" smtClean="0"/>
              <a:t> - </a:t>
            </a:r>
            <a:r>
              <a:rPr lang="en-US" sz="1800" b="1" dirty="0"/>
              <a:t>Zonal Intercommunication Global-standard</a:t>
            </a:r>
            <a:r>
              <a:rPr lang="en-US" sz="1800" dirty="0"/>
              <a:t>, where Battery life is long, which is Economical to deploy, and which exhibits Efficient use of resources</a:t>
            </a:r>
            <a:r>
              <a:rPr lang="en-US" sz="1800" dirty="0" smtClean="0"/>
              <a:t>.</a:t>
            </a:r>
          </a:p>
          <a:p>
            <a:pPr marL="0" indent="0" fontAlgn="base">
              <a:buNone/>
            </a:pPr>
            <a:endParaRPr lang="en-US" sz="1800" dirty="0" smtClean="0"/>
          </a:p>
          <a:p>
            <a:pPr fontAlgn="base"/>
            <a:r>
              <a:rPr lang="en-US" sz="1800" dirty="0" smtClean="0"/>
              <a:t>ZigBee </a:t>
            </a:r>
            <a:r>
              <a:rPr lang="en-US" sz="1800" dirty="0"/>
              <a:t>is a Personal Area Network task group with low rate task group 4. </a:t>
            </a:r>
            <a:endParaRPr lang="en-US" sz="1800" dirty="0" smtClean="0"/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It </a:t>
            </a:r>
            <a:r>
              <a:rPr lang="en-US" sz="1800" dirty="0"/>
              <a:t>is a technology of home networking. </a:t>
            </a:r>
            <a:endParaRPr lang="en-US" sz="1800" dirty="0" smtClean="0"/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ZigBee </a:t>
            </a:r>
            <a:r>
              <a:rPr lang="en-US" sz="1800" dirty="0"/>
              <a:t>is a technological standard created for controlling and sensing the network. </a:t>
            </a:r>
            <a:endParaRPr lang="en-US" sz="1800" dirty="0" smtClean="0"/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ZigBee </a:t>
            </a:r>
            <a:r>
              <a:rPr lang="en-US" sz="1800" dirty="0"/>
              <a:t>is </a:t>
            </a:r>
            <a:r>
              <a:rPr lang="en-US" sz="1800" dirty="0" smtClean="0"/>
              <a:t>based </a:t>
            </a:r>
            <a:r>
              <a:rPr lang="en-US" sz="1800" dirty="0"/>
              <a:t>on </a:t>
            </a:r>
            <a:r>
              <a:rPr lang="en-US" sz="1800" b="1" dirty="0"/>
              <a:t>IEEE 802.15.4 </a:t>
            </a:r>
            <a:r>
              <a:rPr lang="en-US" sz="1800" dirty="0"/>
              <a:t>and is created by </a:t>
            </a:r>
            <a:r>
              <a:rPr lang="en-US" sz="1800" dirty="0" err="1"/>
              <a:t>Zigbee</a:t>
            </a:r>
            <a:r>
              <a:rPr lang="en-US" sz="1800" dirty="0"/>
              <a:t> Alliance.  </a:t>
            </a:r>
            <a:endParaRPr lang="en-US" sz="1800" dirty="0" smtClean="0"/>
          </a:p>
          <a:p>
            <a:pPr marL="0" indent="0" fontAlgn="base">
              <a:buNone/>
            </a:pPr>
            <a:endParaRPr lang="en-US" sz="1800" dirty="0"/>
          </a:p>
          <a:p>
            <a:pPr fontAlgn="base"/>
            <a:r>
              <a:rPr lang="en-US" sz="1800" dirty="0"/>
              <a:t>ZigBee is a standard that addresses the need for very low-cost implementation of Low power devices with Low data rates for short-range wireless communications</a:t>
            </a:r>
            <a:r>
              <a:rPr lang="en-US" sz="1800" dirty="0" smtClean="0"/>
              <a:t>.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ZigBee operates in mesh topology, which helps the ZigBee device to transfer its message to its destination via a number of intermediate ZigBee devices </a:t>
            </a:r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connected within the network.</a:t>
            </a:r>
          </a:p>
          <a:p>
            <a:pPr fontAlgn="base"/>
            <a:endParaRPr lang="en-US" sz="1800" dirty="0"/>
          </a:p>
          <a:p>
            <a:pPr fontAlgn="base"/>
            <a:r>
              <a:rPr lang="en-US" sz="1800" dirty="0" smtClean="0"/>
              <a:t>A single </a:t>
            </a:r>
            <a:r>
              <a:rPr lang="en-US" sz="1800" dirty="0" err="1" smtClean="0"/>
              <a:t>Zigbee</a:t>
            </a:r>
            <a:r>
              <a:rPr lang="en-US" sz="1800" dirty="0" smtClean="0"/>
              <a:t> enabled device can reach up to a range of </a:t>
            </a:r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10-20 meters(indoors) in search of another </a:t>
            </a:r>
            <a:r>
              <a:rPr lang="en-US" sz="1800" dirty="0" err="1" smtClean="0"/>
              <a:t>Zigbee</a:t>
            </a:r>
            <a:r>
              <a:rPr lang="en-US" sz="1800" dirty="0" smtClean="0"/>
              <a:t> device </a:t>
            </a:r>
          </a:p>
          <a:p>
            <a:pPr marL="0" indent="0" fontAlgn="base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present in the network.</a:t>
            </a:r>
          </a:p>
          <a:p>
            <a:pPr marL="0" indent="0" fontAlgn="base">
              <a:buNone/>
            </a:pPr>
            <a:endParaRPr lang="en-US" sz="1800" dirty="0"/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085184"/>
            <a:ext cx="1996827" cy="1334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2625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err="1" smtClean="0"/>
              <a:t>WiFi</a:t>
            </a:r>
            <a:r>
              <a:rPr lang="en-IN" sz="3200" dirty="0" smtClean="0"/>
              <a:t> - </a:t>
            </a:r>
            <a:r>
              <a:rPr lang="en-IN" sz="3200" b="1" dirty="0"/>
              <a:t>Wi</a:t>
            </a:r>
            <a:r>
              <a:rPr lang="en-IN" sz="3200" dirty="0"/>
              <a:t>reless </a:t>
            </a:r>
            <a:r>
              <a:rPr lang="en-IN" sz="3200" b="1" dirty="0"/>
              <a:t>Fi</a:t>
            </a:r>
            <a:r>
              <a:rPr lang="en-IN" sz="3200" dirty="0"/>
              <a:t>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4800" b="1" dirty="0" smtClean="0"/>
              <a:t>Wi-Fi</a:t>
            </a:r>
            <a:r>
              <a:rPr lang="en-US" sz="4800" dirty="0" smtClean="0"/>
              <a:t> </a:t>
            </a:r>
            <a:r>
              <a:rPr lang="en-US" sz="4800" dirty="0"/>
              <a:t>is the wireless technology used to connect </a:t>
            </a:r>
            <a:r>
              <a:rPr lang="en-US" sz="4800" b="1" dirty="0"/>
              <a:t>computers</a:t>
            </a:r>
            <a:r>
              <a:rPr lang="en-US" sz="4800" dirty="0"/>
              <a:t>, </a:t>
            </a:r>
            <a:r>
              <a:rPr lang="en-US" sz="4800" b="1" dirty="0"/>
              <a:t>tablets</a:t>
            </a:r>
            <a:r>
              <a:rPr lang="en-US" sz="4800" dirty="0"/>
              <a:t>, </a:t>
            </a:r>
            <a:r>
              <a:rPr lang="en-US" sz="4800" b="1" dirty="0"/>
              <a:t>smartphones</a:t>
            </a:r>
            <a:r>
              <a:rPr lang="en-US" sz="4800" dirty="0"/>
              <a:t> and other devices to the internet.</a:t>
            </a:r>
          </a:p>
          <a:p>
            <a:pPr algn="just">
              <a:lnSpc>
                <a:spcPct val="150000"/>
              </a:lnSpc>
            </a:pPr>
            <a:endParaRPr lang="en-US" sz="4800" dirty="0"/>
          </a:p>
          <a:p>
            <a:pPr algn="just">
              <a:lnSpc>
                <a:spcPct val="150000"/>
              </a:lnSpc>
            </a:pPr>
            <a:r>
              <a:rPr lang="en-US" sz="4800" b="1" dirty="0"/>
              <a:t>Wi-Fi </a:t>
            </a:r>
            <a:r>
              <a:rPr lang="en-US" sz="4800" dirty="0"/>
              <a:t>is available on our mobile phones, laptops, or wherever Wi-Fi is supported. Wi-Fi is </a:t>
            </a:r>
            <a:r>
              <a:rPr lang="en-US" sz="4800" b="1" dirty="0"/>
              <a:t>a wireless networking technology that permits to connect wirelessly</a:t>
            </a:r>
            <a:r>
              <a:rPr lang="en-US" sz="4800" dirty="0"/>
              <a:t> to a network or to other computer or mobile device. A circular radio frequency range is used to transmit data in Wi-Fi.</a:t>
            </a:r>
          </a:p>
          <a:p>
            <a:pPr algn="just">
              <a:lnSpc>
                <a:spcPct val="150000"/>
              </a:lnSpc>
            </a:pPr>
            <a:endParaRPr lang="en-US" sz="4800" b="1" dirty="0"/>
          </a:p>
          <a:p>
            <a:pPr algn="just">
              <a:lnSpc>
                <a:spcPct val="150000"/>
              </a:lnSpc>
            </a:pPr>
            <a:r>
              <a:rPr lang="en-US" sz="4800" dirty="0"/>
              <a:t>Wi-Fi is the radio signal sent from a wireless router to a nearby device, which translates the signal into data you can see and use. </a:t>
            </a:r>
          </a:p>
          <a:p>
            <a:pPr algn="just">
              <a:lnSpc>
                <a:spcPct val="150000"/>
              </a:lnSpc>
            </a:pPr>
            <a:endParaRPr lang="en-US" sz="4800" dirty="0"/>
          </a:p>
          <a:p>
            <a:pPr algn="just">
              <a:lnSpc>
                <a:spcPct val="150000"/>
              </a:lnSpc>
            </a:pPr>
            <a:r>
              <a:rPr lang="en-US" sz="4800" dirty="0"/>
              <a:t>The device transmits a radio signal back to the router, which connects to the internet by wire or cable</a:t>
            </a:r>
            <a:r>
              <a:rPr lang="en-US" sz="4800" dirty="0" smtClean="0"/>
              <a:t>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755786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 err="1"/>
              <a:t>WiFi</a:t>
            </a:r>
            <a:r>
              <a:rPr lang="en-IN" sz="3200" dirty="0"/>
              <a:t> - </a:t>
            </a:r>
            <a:r>
              <a:rPr lang="en-IN" sz="3200" b="1" dirty="0"/>
              <a:t>Wi</a:t>
            </a:r>
            <a:r>
              <a:rPr lang="en-IN" sz="3200" dirty="0"/>
              <a:t>reless </a:t>
            </a:r>
            <a:r>
              <a:rPr lang="en-IN" sz="3200" b="1" dirty="0"/>
              <a:t>Fi</a:t>
            </a:r>
            <a:r>
              <a:rPr lang="en-IN" sz="3200" dirty="0"/>
              <a:t>delity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US" sz="1800" dirty="0"/>
              <a:t>A WiFi network is simply an internet connection that’s shared with multiple devices in a home or business via a wireless router. </a:t>
            </a:r>
          </a:p>
          <a:p>
            <a:pPr algn="just">
              <a:lnSpc>
                <a:spcPct val="160000"/>
              </a:lnSpc>
            </a:pPr>
            <a:endParaRPr lang="en-US" sz="1800" dirty="0"/>
          </a:p>
          <a:p>
            <a:pPr algn="just">
              <a:lnSpc>
                <a:spcPct val="160000"/>
              </a:lnSpc>
            </a:pPr>
            <a:r>
              <a:rPr lang="en-US" sz="1800" dirty="0"/>
              <a:t>The router is connected directly to your internet modem and acts as a hub to broadcast the internet signal to all your Wi-Fi enabled devices</a:t>
            </a:r>
            <a:r>
              <a:rPr lang="en-US" sz="1800" dirty="0" smtClean="0"/>
              <a:t>.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US" sz="1800" dirty="0" smtClean="0"/>
          </a:p>
          <a:p>
            <a:pPr algn="just">
              <a:lnSpc>
                <a:spcPct val="160000"/>
              </a:lnSpc>
            </a:pPr>
            <a:r>
              <a:rPr lang="en-US" sz="1800" dirty="0" err="1" smtClean="0"/>
              <a:t>Wifi</a:t>
            </a:r>
            <a:r>
              <a:rPr lang="en-US" sz="1800" dirty="0" smtClean="0"/>
              <a:t> </a:t>
            </a:r>
            <a:r>
              <a:rPr lang="en-US" sz="1800" dirty="0"/>
              <a:t>operates like a local area network without the use of a wire or cables.</a:t>
            </a:r>
            <a:endParaRPr lang="en-IN" sz="1800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5527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Access Technique -CSMA-CD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CSMA/CD</a:t>
            </a:r>
            <a:r>
              <a:rPr lang="en-US" dirty="0"/>
              <a:t> (Carrier Sense Multiple Access/ Collision Detection) is a media access control method that was widely used in Early Ethernet technology/LANs 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Bus Topology and each node </a:t>
            </a:r>
            <a:r>
              <a:rPr lang="en-US" dirty="0" smtClean="0"/>
              <a:t>(Computers</a:t>
            </a:r>
            <a:r>
              <a:rPr lang="en-US" dirty="0"/>
              <a:t>) were connected By Coaxial Cables.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Now </a:t>
            </a:r>
            <a:r>
              <a:rPr lang="en-US" dirty="0"/>
              <a:t>a Days Ethernet is Full Duplex and CSMA/CD is not used as Topology is either Star (connected via Switch or Router) 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1072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Access Technique -CSMA-CD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Collision Detection in </a:t>
            </a:r>
            <a:r>
              <a:rPr lang="en-IN" b="1" dirty="0" smtClean="0"/>
              <a:t>CSMA/CD</a:t>
            </a:r>
          </a:p>
          <a:p>
            <a:pPr marL="0" indent="0">
              <a:buNone/>
            </a:pPr>
            <a:endParaRPr lang="en-IN" b="1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Consider a scenario where there are ‘n’ stations on a link and all are waiting to transfer data through that channel.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In this case, all ‘n’ stations would want to access the link/channel to transfer their own data.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Problem </a:t>
            </a:r>
            <a:r>
              <a:rPr lang="en-US" dirty="0"/>
              <a:t>arises when more than one station transmits the data at the moment.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In </a:t>
            </a:r>
            <a:r>
              <a:rPr lang="en-US" dirty="0"/>
              <a:t>this case, there will be collisions in the data from different stations.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023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Access Technique -CSMA-CD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b="1" dirty="0"/>
              <a:t>Collision Detection in CSMA/CD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sz="1800" dirty="0" smtClean="0"/>
              <a:t>CSMA/CD </a:t>
            </a:r>
            <a:r>
              <a:rPr lang="en-US" sz="1800" dirty="0"/>
              <a:t>is one such technique where different stations that follow this protocol agree on some terms and collision detection measures for effective transmission.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This </a:t>
            </a:r>
            <a:r>
              <a:rPr lang="en-US" sz="1800" dirty="0"/>
              <a:t>protocol decides which station will transmit when so that data reaches the destination without corruption. </a:t>
            </a:r>
            <a:endParaRPr lang="en-US" sz="1800" dirty="0" smtClean="0"/>
          </a:p>
          <a:p>
            <a:endParaRPr lang="en-US" sz="1800" dirty="0"/>
          </a:p>
          <a:p>
            <a:pPr marL="0" indent="0" fontAlgn="base">
              <a:buNone/>
            </a:pPr>
            <a:r>
              <a:rPr lang="en-US" sz="1800" b="1" dirty="0"/>
              <a:t>How CSMA/CD works? </a:t>
            </a:r>
            <a:endParaRPr lang="en-US" sz="1800" b="1" dirty="0" smtClean="0"/>
          </a:p>
          <a:p>
            <a:pPr marL="0" indent="0" fontAlgn="base">
              <a:buNone/>
            </a:pPr>
            <a:endParaRPr lang="en-US" sz="1800" dirty="0"/>
          </a:p>
          <a:p>
            <a:pPr fontAlgn="base"/>
            <a:r>
              <a:rPr lang="en-US" sz="1800" b="1" dirty="0"/>
              <a:t>Step 1:</a:t>
            </a:r>
            <a:r>
              <a:rPr lang="en-US" sz="1800" dirty="0"/>
              <a:t> Check if the sender is ready for transmitting data packets</a:t>
            </a:r>
            <a:r>
              <a:rPr lang="en-US" sz="1800" dirty="0" smtClean="0"/>
              <a:t>.</a:t>
            </a:r>
            <a:endParaRPr lang="en-US" sz="1800" dirty="0"/>
          </a:p>
          <a:p>
            <a:pPr fontAlgn="base"/>
            <a:r>
              <a:rPr lang="en-US" sz="1800" b="1" dirty="0"/>
              <a:t>Step 2:</a:t>
            </a:r>
            <a:r>
              <a:rPr lang="en-US" sz="1800" dirty="0"/>
              <a:t> Check if the transmission link is idle? 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Step 3:</a:t>
            </a:r>
            <a:r>
              <a:rPr lang="en-US" sz="1800" dirty="0"/>
              <a:t> Transmit the data &amp; check for collisions. </a:t>
            </a:r>
          </a:p>
          <a:p>
            <a:pPr algn="just">
              <a:lnSpc>
                <a:spcPct val="150000"/>
              </a:lnSpc>
            </a:pPr>
            <a:r>
              <a:rPr lang="en-US" sz="1800" b="1" dirty="0"/>
              <a:t>Step 4:</a:t>
            </a:r>
            <a:r>
              <a:rPr lang="en-US" sz="1800" dirty="0"/>
              <a:t> If no collision was detected in propagation, the sender completes its frame transmission and resets the counters.</a:t>
            </a:r>
          </a:p>
          <a:p>
            <a:endParaRPr lang="en-IN" sz="1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9696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Access Technique -CSMA-CD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Following are the three types of multiple access </a:t>
            </a:r>
            <a:r>
              <a:rPr lang="en-US" sz="1800" b="1" dirty="0" smtClean="0"/>
              <a:t>techniques: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/>
              <a:t>FDMA (Frequency Division Multiple Access</a:t>
            </a:r>
            <a:r>
              <a:rPr lang="en-US" sz="1800" dirty="0" smtClean="0"/>
              <a:t>)</a:t>
            </a:r>
          </a:p>
          <a:p>
            <a:endParaRPr lang="en-US" sz="1800" dirty="0"/>
          </a:p>
          <a:p>
            <a:r>
              <a:rPr lang="en-US" sz="1800" dirty="0"/>
              <a:t>TDMA (Time Division Multiple Access</a:t>
            </a:r>
            <a:r>
              <a:rPr lang="en-US" sz="1800" dirty="0" smtClean="0"/>
              <a:t>)</a:t>
            </a:r>
          </a:p>
          <a:p>
            <a:endParaRPr lang="en-US" sz="1800" dirty="0"/>
          </a:p>
          <a:p>
            <a:r>
              <a:rPr lang="en-US" sz="1800" dirty="0"/>
              <a:t>CDMA (Code Division Multiple Access)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37497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Wireless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Computer networks that are not connected by cables are called wireless networks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dirty="0" smtClean="0"/>
              <a:t>They </a:t>
            </a:r>
            <a:r>
              <a:rPr lang="en-US" sz="1800" dirty="0"/>
              <a:t>generally use radio waves for communication between the network nodes.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dirty="0" smtClean="0"/>
              <a:t>They </a:t>
            </a:r>
            <a:r>
              <a:rPr lang="en-US" sz="1800" dirty="0"/>
              <a:t>allow devices to be connected to the network while roaming around within the network coverage.</a:t>
            </a:r>
            <a:endParaRPr lang="en-IN" sz="18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73016"/>
            <a:ext cx="5715000" cy="2722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39852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Wireless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/>
              <a:t>Types of Wireless Network:</a:t>
            </a:r>
          </a:p>
          <a:p>
            <a:pPr marL="0" indent="0">
              <a:buNone/>
            </a:pPr>
            <a:endParaRPr lang="en-IN" sz="1800" b="1" dirty="0" smtClean="0"/>
          </a:p>
          <a:p>
            <a:r>
              <a:rPr lang="en-US" sz="1800" b="1" dirty="0"/>
              <a:t>Wireless LANs </a:t>
            </a:r>
            <a:r>
              <a:rPr lang="en-US" sz="1800" dirty="0"/>
              <a:t>− Connects two or more network devices using wireless distribution techniques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Wireless MANs </a:t>
            </a:r>
            <a:r>
              <a:rPr lang="en-US" sz="1800" dirty="0"/>
              <a:t>− Connects two or more wireless LANs spreading over a metropolitan area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b="1" dirty="0"/>
              <a:t>Wireless WANs </a:t>
            </a:r>
            <a:r>
              <a:rPr lang="en-US" sz="1800" dirty="0"/>
              <a:t>− Connects large areas comprising LANs, MANs and personal networks.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2208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Wireless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/>
              <a:t>Advantages of Wireless </a:t>
            </a:r>
            <a:r>
              <a:rPr lang="en-IN" b="1" dirty="0" smtClean="0"/>
              <a:t>Networks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US" dirty="0"/>
              <a:t>It</a:t>
            </a:r>
            <a:r>
              <a:rPr lang="en-US" b="1" dirty="0"/>
              <a:t> </a:t>
            </a:r>
            <a:r>
              <a:rPr lang="en-US" dirty="0"/>
              <a:t>provides clutter-free desks due to the absence of wires and cables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It increases the mobility of network devices connected to the system since the devices need not be connected to each other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Accessing network devices from any location within the network coverage or Wi-Fi hotspot becomes convenient since laying out cables is not needed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Installation and setup of wireless networks are easier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New devices can be easily connected to the existing setup since they needn’t be wired to the present equipment.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Number </a:t>
            </a:r>
            <a:r>
              <a:rPr lang="en-US" dirty="0"/>
              <a:t>of equipment </a:t>
            </a:r>
            <a:r>
              <a:rPr lang="en-US" dirty="0" smtClean="0"/>
              <a:t>can </a:t>
            </a:r>
            <a:r>
              <a:rPr lang="en-US" dirty="0"/>
              <a:t>be added or removed to the system can vary considerably since they are not limited by the cable capacity. This makes wireless networks very scalable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Wireless networks </a:t>
            </a:r>
            <a:r>
              <a:rPr lang="en-US" dirty="0" smtClean="0"/>
              <a:t> require </a:t>
            </a:r>
            <a:r>
              <a:rPr lang="en-US" dirty="0"/>
              <a:t>very limited or no wires. Thus, it reduces the equipment and setup costs.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97965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Wireless Network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Examples of wireless </a:t>
            </a:r>
            <a:r>
              <a:rPr lang="en-US" sz="1800" b="1" dirty="0" smtClean="0"/>
              <a:t>networks</a:t>
            </a:r>
          </a:p>
          <a:p>
            <a:pPr marL="0" indent="0">
              <a:buNone/>
            </a:pPr>
            <a:endParaRPr lang="en-US" sz="1800" b="1" dirty="0"/>
          </a:p>
          <a:p>
            <a:r>
              <a:rPr lang="en-US" sz="1800" dirty="0"/>
              <a:t>Mobile phone </a:t>
            </a:r>
            <a:r>
              <a:rPr lang="en-US" sz="1800" dirty="0" smtClean="0"/>
              <a:t>networks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Wireless sensor </a:t>
            </a:r>
            <a:r>
              <a:rPr lang="en-US" sz="1800" dirty="0" smtClean="0"/>
              <a:t>networks</a:t>
            </a:r>
          </a:p>
          <a:p>
            <a:endParaRPr lang="en-US" sz="1800" dirty="0"/>
          </a:p>
          <a:p>
            <a:r>
              <a:rPr lang="en-US" sz="1800" dirty="0"/>
              <a:t>Satellite communication </a:t>
            </a:r>
            <a:r>
              <a:rPr lang="en-US" sz="1800" dirty="0" smtClean="0"/>
              <a:t>networks</a:t>
            </a:r>
          </a:p>
          <a:p>
            <a:endParaRPr lang="en-US" sz="1800" dirty="0"/>
          </a:p>
          <a:p>
            <a:r>
              <a:rPr lang="en-US" sz="1800" dirty="0"/>
              <a:t>Terrestrial microwave networks</a:t>
            </a:r>
          </a:p>
          <a:p>
            <a:pPr marL="0" indent="0">
              <a:buNone/>
            </a:pPr>
            <a:r>
              <a:rPr lang="en-US" sz="2800" dirty="0"/>
              <a:t/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634155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Unified Communication –VOIP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Voice over Internet Protocol (VoIP)</a:t>
            </a:r>
            <a:r>
              <a:rPr lang="en-IN" sz="1800" dirty="0"/>
              <a:t>, is a technology that allowing you to make voice calls over a broadband Internet connection instead of an </a:t>
            </a:r>
            <a:r>
              <a:rPr lang="en-IN" sz="1800" dirty="0" err="1"/>
              <a:t>analog</a:t>
            </a:r>
            <a:r>
              <a:rPr lang="en-IN" sz="1800" dirty="0"/>
              <a:t> (regular) phone line.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Some </a:t>
            </a:r>
            <a:r>
              <a:rPr lang="en-IN" sz="1800" dirty="0"/>
              <a:t>VoIP services allow you to call people using the same service, but others may allow you to call anyone</a:t>
            </a:r>
            <a:r>
              <a:rPr lang="en-IN" sz="1800" dirty="0" smtClean="0"/>
              <a:t>.</a:t>
            </a:r>
          </a:p>
          <a:p>
            <a:endParaRPr lang="en-IN" sz="1800" dirty="0" smtClean="0"/>
          </a:p>
          <a:p>
            <a:r>
              <a:rPr lang="en-IN" sz="1800" dirty="0" smtClean="0"/>
              <a:t>They </a:t>
            </a:r>
            <a:r>
              <a:rPr lang="en-IN" sz="1800" dirty="0"/>
              <a:t>can have a telephone number – including local, long-distance, mobile, and international numbers or not.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Some </a:t>
            </a:r>
            <a:r>
              <a:rPr lang="en-IN" sz="1800" dirty="0"/>
              <a:t>VoIP services only work over your computer or a special VoIP phone while other services allow you to use a traditional phone connected to a VoIP adapter.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1577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Unified Communication –VOIP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How VoIP / Internet Voice Works </a:t>
            </a:r>
            <a:endParaRPr lang="en-IN" sz="1800" b="1" dirty="0" smtClean="0"/>
          </a:p>
          <a:p>
            <a:pPr marL="0" indent="0">
              <a:buNone/>
            </a:pPr>
            <a:endParaRPr lang="en-IN" sz="1800" b="1" dirty="0" smtClean="0"/>
          </a:p>
          <a:p>
            <a:r>
              <a:rPr lang="en-IN" sz="1800" dirty="0"/>
              <a:t>Voice is converted into a digital signal by VoIP services that travel over the Internet.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If </a:t>
            </a:r>
            <a:r>
              <a:rPr lang="en-IN" sz="1800" dirty="0"/>
              <a:t>the regular phone number is called, the signal is converted to a regular telephone signal i.e. an </a:t>
            </a:r>
            <a:r>
              <a:rPr lang="en-IN" sz="1800" dirty="0" err="1"/>
              <a:t>analog</a:t>
            </a:r>
            <a:r>
              <a:rPr lang="en-IN" sz="1800" dirty="0"/>
              <a:t> signal before it reaches the destination.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VoIP </a:t>
            </a:r>
            <a:r>
              <a:rPr lang="en-IN" sz="1800" dirty="0"/>
              <a:t>can allow you to make a call directly from a computer having a special VoIP phone, or a traditional phone connected to a special adapter. </a:t>
            </a:r>
            <a:endParaRPr lang="en-IN" sz="1800" dirty="0" smtClean="0"/>
          </a:p>
          <a:p>
            <a:endParaRPr lang="en-IN" sz="1800" dirty="0"/>
          </a:p>
          <a:p>
            <a:r>
              <a:rPr lang="en-IN" sz="1800" dirty="0" smtClean="0"/>
              <a:t>Wireless </a:t>
            </a:r>
            <a:r>
              <a:rPr lang="en-IN" sz="1800" dirty="0"/>
              <a:t>hot spots in locations such as airports, hospitals, cafes, </a:t>
            </a:r>
            <a:r>
              <a:rPr lang="en-IN" sz="1800" dirty="0" err="1"/>
              <a:t>etc</a:t>
            </a:r>
            <a:r>
              <a:rPr lang="en-IN" sz="1800" dirty="0"/>
              <a:t> allow you to connect to the Internet and can enable you to use VoIP service wirelessly. </a:t>
            </a:r>
          </a:p>
        </p:txBody>
      </p:sp>
    </p:spTree>
    <p:extLst>
      <p:ext uri="{BB962C8B-B14F-4D97-AF65-F5344CB8AC3E}">
        <p14:creationId xmlns:p14="http://schemas.microsoft.com/office/powerpoint/2010/main" val="49574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2675</Words>
  <Application>Microsoft Office PowerPoint</Application>
  <PresentationFormat>On-screen Show (4:3)</PresentationFormat>
  <Paragraphs>642</Paragraphs>
  <Slides>58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Introduction to Data Communication and Computer Networks</vt:lpstr>
      <vt:lpstr>Internet basics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Network Components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Transmission Media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Various types of Networks</vt:lpstr>
      <vt:lpstr>Connection Oriented N/Ws Vs Connectionless N/Ws</vt:lpstr>
      <vt:lpstr>Connection Oriented N/Ws Vs Connectionless N/Ws</vt:lpstr>
      <vt:lpstr>Connection Oriented N/Ws Vs Connectionless N/Ws</vt:lpstr>
      <vt:lpstr>Connection Oriented N/Ws Vs Connectionless N/Ws</vt:lpstr>
      <vt:lpstr>Connection Oriented N/Ws Vs Connectionless N/Ws</vt:lpstr>
      <vt:lpstr>Connection Oriented N/Ws Vs Connectionless N/Ws</vt:lpstr>
      <vt:lpstr>Ethernet</vt:lpstr>
      <vt:lpstr>Ethernet</vt:lpstr>
      <vt:lpstr>ZigBee</vt:lpstr>
      <vt:lpstr>WiFi - Wireless Fidelity</vt:lpstr>
      <vt:lpstr>WiFi - Wireless Fidelity</vt:lpstr>
      <vt:lpstr>Access Technique -CSMA-CD</vt:lpstr>
      <vt:lpstr>Access Technique -CSMA-CD</vt:lpstr>
      <vt:lpstr>Access Technique -CSMA-CD</vt:lpstr>
      <vt:lpstr>Access Technique -CSMA-CD</vt:lpstr>
      <vt:lpstr>Wireless Network </vt:lpstr>
      <vt:lpstr>Wireless Network </vt:lpstr>
      <vt:lpstr>Wireless Network </vt:lpstr>
      <vt:lpstr>Wireless Network </vt:lpstr>
      <vt:lpstr>Unified Communication –VOIP</vt:lpstr>
      <vt:lpstr>Unified Communication –VOIP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Communication and Computer Networks</dc:title>
  <dc:creator>IIMS Faculty</dc:creator>
  <cp:lastModifiedBy>IIMS Faculty</cp:lastModifiedBy>
  <cp:revision>397</cp:revision>
  <dcterms:created xsi:type="dcterms:W3CDTF">2023-01-02T07:20:10Z</dcterms:created>
  <dcterms:modified xsi:type="dcterms:W3CDTF">2023-01-09T04:59:35Z</dcterms:modified>
</cp:coreProperties>
</file>