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6324" y="1169670"/>
            <a:ext cx="9845700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3524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7100" y="1168730"/>
            <a:ext cx="10544149" cy="1065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1090" y="1736358"/>
            <a:ext cx="10196169" cy="3936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atlassian.com/agile/project-management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hoenixnap.com/kb/rpm-command-in-linux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6707" y="2550058"/>
            <a:ext cx="5471160" cy="2056764"/>
          </a:xfrm>
          <a:prstGeom prst="rect"/>
        </p:spPr>
        <p:txBody>
          <a:bodyPr wrap="square" lIns="0" tIns="180975" rIns="0" bIns="0" rtlCol="0" vert="horz">
            <a:spAutoFit/>
          </a:bodyPr>
          <a:lstStyle/>
          <a:p>
            <a:pPr marL="1498600" marR="5080" indent="-1486535">
              <a:lnSpc>
                <a:spcPts val="7350"/>
              </a:lnSpc>
              <a:spcBef>
                <a:spcPts val="1425"/>
              </a:spcBef>
            </a:pPr>
            <a:r>
              <a:rPr dirty="0" sz="7200" spc="-60">
                <a:solidFill>
                  <a:srgbClr val="252525"/>
                </a:solidFill>
                <a:latin typeface="Calibri Light"/>
                <a:cs typeface="Calibri Light"/>
              </a:rPr>
              <a:t>Introduction</a:t>
            </a:r>
            <a:r>
              <a:rPr dirty="0" sz="7200" spc="-27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7200" spc="-50">
                <a:solidFill>
                  <a:srgbClr val="252525"/>
                </a:solidFill>
                <a:latin typeface="Calibri Light"/>
                <a:cs typeface="Calibri Light"/>
              </a:rPr>
              <a:t>to </a:t>
            </a:r>
            <a:r>
              <a:rPr dirty="0" sz="7200" spc="-161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7200" spc="-45">
                <a:solidFill>
                  <a:srgbClr val="252525"/>
                </a:solidFill>
                <a:latin typeface="Calibri Light"/>
                <a:cs typeface="Calibri Light"/>
              </a:rPr>
              <a:t>DevOps</a:t>
            </a:r>
            <a:endParaRPr sz="72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9971" y="1010233"/>
            <a:ext cx="123444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75">
                <a:solidFill>
                  <a:srgbClr val="252525"/>
                </a:solidFill>
                <a:latin typeface="Calibri Light"/>
                <a:cs typeface="Calibri Light"/>
              </a:rPr>
              <a:t>D</a:t>
            </a:r>
            <a:r>
              <a:rPr dirty="0" sz="3200" spc="-110">
                <a:solidFill>
                  <a:srgbClr val="252525"/>
                </a:solidFill>
                <a:latin typeface="Calibri Light"/>
                <a:cs typeface="Calibri Light"/>
              </a:rPr>
              <a:t>e</a:t>
            </a:r>
            <a:r>
              <a:rPr dirty="0" sz="3200" spc="-80">
                <a:solidFill>
                  <a:srgbClr val="252525"/>
                </a:solidFill>
                <a:latin typeface="Calibri Light"/>
                <a:cs typeface="Calibri Light"/>
              </a:rPr>
              <a:t>v</a:t>
            </a:r>
            <a:r>
              <a:rPr dirty="0" sz="3200" spc="-85">
                <a:solidFill>
                  <a:srgbClr val="252525"/>
                </a:solidFill>
                <a:latin typeface="Calibri Light"/>
                <a:cs typeface="Calibri Light"/>
              </a:rPr>
              <a:t>Op</a:t>
            </a:r>
            <a:r>
              <a:rPr dirty="0" sz="3200">
                <a:solidFill>
                  <a:srgbClr val="252525"/>
                </a:solidFill>
                <a:latin typeface="Calibri Light"/>
                <a:cs typeface="Calibri Light"/>
              </a:rPr>
              <a:t>s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3375" y="1806702"/>
            <a:ext cx="9247505" cy="423100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algn="ctr" marL="12700" marR="6985" indent="-1270">
              <a:lnSpc>
                <a:spcPct val="85100"/>
              </a:lnSpc>
              <a:spcBef>
                <a:spcPts val="635"/>
              </a:spcBef>
              <a:tabLst>
                <a:tab pos="1672589" algn="l"/>
                <a:tab pos="1750060" algn="l"/>
                <a:tab pos="2482215" algn="l"/>
                <a:tab pos="4027804" algn="l"/>
                <a:tab pos="4133215" algn="l"/>
                <a:tab pos="4778375" algn="l"/>
                <a:tab pos="4837430" algn="l"/>
                <a:tab pos="6447790" algn="l"/>
                <a:tab pos="6945630" algn="l"/>
                <a:tab pos="7645400" algn="l"/>
                <a:tab pos="7984490" algn="l"/>
              </a:tabLst>
            </a:pP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Devops</a:t>
            </a:r>
            <a:r>
              <a:rPr dirty="0" sz="2900" spc="1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15">
                <a:solidFill>
                  <a:srgbClr val="252525"/>
                </a:solidFill>
                <a:latin typeface="Calibri Light"/>
                <a:cs typeface="Calibri Light"/>
              </a:rPr>
              <a:t>is</a:t>
            </a:r>
            <a:r>
              <a:rPr dirty="0" sz="2900" spc="1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2900" spc="2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set</a:t>
            </a:r>
            <a:r>
              <a:rPr dirty="0" sz="2900" spc="8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40">
                <a:solidFill>
                  <a:srgbClr val="252525"/>
                </a:solidFill>
                <a:latin typeface="Calibri Light"/>
                <a:cs typeface="Calibri Light"/>
              </a:rPr>
              <a:t>of</a:t>
            </a:r>
            <a:r>
              <a:rPr dirty="0" sz="2900" spc="6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practices,</a:t>
            </a:r>
            <a:r>
              <a:rPr dirty="0" sz="2900" spc="4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tools,</a:t>
            </a:r>
            <a:r>
              <a:rPr dirty="0" sz="2900" spc="4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20">
                <a:solidFill>
                  <a:srgbClr val="252525"/>
                </a:solidFill>
                <a:latin typeface="Calibri Light"/>
                <a:cs typeface="Calibri Light"/>
              </a:rPr>
              <a:t>and</a:t>
            </a:r>
            <a:r>
              <a:rPr dirty="0" sz="2900" spc="2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2900" spc="6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cultural</a:t>
            </a:r>
            <a:r>
              <a:rPr dirty="0" sz="2900" spc="3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philosophy</a:t>
            </a:r>
            <a:r>
              <a:rPr dirty="0" sz="2900" spc="4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that </a:t>
            </a:r>
            <a:r>
              <a:rPr dirty="0" sz="2900" spc="-64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40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2900" spc="-75">
                <a:solidFill>
                  <a:srgbClr val="252525"/>
                </a:solidFill>
                <a:latin typeface="Calibri Light"/>
                <a:cs typeface="Calibri Light"/>
              </a:rPr>
              <a:t>u</a:t>
            </a:r>
            <a:r>
              <a:rPr dirty="0" sz="2900" spc="-60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dirty="0" sz="2900" spc="-80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m</a:t>
            </a:r>
            <a:r>
              <a:rPr dirty="0" sz="2900" spc="-110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2900" spc="-60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e</a:t>
            </a:r>
            <a:r>
              <a:rPr dirty="0" sz="2900">
                <a:solidFill>
                  <a:srgbClr val="252525"/>
                </a:solidFill>
                <a:latin typeface="Calibri Light"/>
                <a:cs typeface="Calibri Light"/>
              </a:rPr>
              <a:t>	</a:t>
            </a:r>
            <a:r>
              <a:rPr dirty="0" sz="2900" spc="-75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n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d</a:t>
            </a:r>
            <a:r>
              <a:rPr dirty="0" sz="2900">
                <a:solidFill>
                  <a:srgbClr val="252525"/>
                </a:solidFill>
                <a:latin typeface="Calibri Light"/>
                <a:cs typeface="Calibri Light"/>
              </a:rPr>
              <a:t>	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i</a:t>
            </a:r>
            <a:r>
              <a:rPr dirty="0" sz="2900" spc="-110">
                <a:solidFill>
                  <a:srgbClr val="252525"/>
                </a:solidFill>
                <a:latin typeface="Calibri Light"/>
                <a:cs typeface="Calibri Light"/>
              </a:rPr>
              <a:t>n</a:t>
            </a:r>
            <a:r>
              <a:rPr dirty="0" sz="2900" spc="-95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eg</a:t>
            </a:r>
            <a:r>
              <a:rPr dirty="0" sz="2900" spc="-140">
                <a:solidFill>
                  <a:srgbClr val="252525"/>
                </a:solidFill>
                <a:latin typeface="Calibri Light"/>
                <a:cs typeface="Calibri Light"/>
              </a:rPr>
              <a:t>r</a:t>
            </a:r>
            <a:r>
              <a:rPr dirty="0" sz="2900" spc="-75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2900" spc="-95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e</a:t>
            </a:r>
            <a:r>
              <a:rPr dirty="0" sz="2900">
                <a:solidFill>
                  <a:srgbClr val="252525"/>
                </a:solidFill>
                <a:latin typeface="Calibri Light"/>
                <a:cs typeface="Calibri Light"/>
              </a:rPr>
              <a:t>	</a:t>
            </a:r>
            <a:r>
              <a:rPr dirty="0" sz="2900" spc="-60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h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e</a:t>
            </a:r>
            <a:r>
              <a:rPr dirty="0" sz="2900">
                <a:solidFill>
                  <a:srgbClr val="252525"/>
                </a:solidFill>
                <a:latin typeface="Calibri Light"/>
                <a:cs typeface="Calibri Light"/>
              </a:rPr>
              <a:t>	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p</a:t>
            </a:r>
            <a:r>
              <a:rPr dirty="0" sz="2900" spc="-105">
                <a:solidFill>
                  <a:srgbClr val="252525"/>
                </a:solidFill>
                <a:latin typeface="Calibri Light"/>
                <a:cs typeface="Calibri Light"/>
              </a:rPr>
              <a:t>r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dirty="0" sz="2900" spc="-85">
                <a:solidFill>
                  <a:srgbClr val="252525"/>
                </a:solidFill>
                <a:latin typeface="Calibri Light"/>
                <a:cs typeface="Calibri Light"/>
              </a:rPr>
              <a:t>c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e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s</a:t>
            </a:r>
            <a:r>
              <a:rPr dirty="0" sz="2900" spc="-80">
                <a:solidFill>
                  <a:srgbClr val="252525"/>
                </a:solidFill>
                <a:latin typeface="Calibri Light"/>
                <a:cs typeface="Calibri Light"/>
              </a:rPr>
              <a:t>s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e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s</a:t>
            </a:r>
            <a:r>
              <a:rPr dirty="0" sz="2900">
                <a:solidFill>
                  <a:srgbClr val="252525"/>
                </a:solidFill>
                <a:latin typeface="Calibri Light"/>
                <a:cs typeface="Calibri Light"/>
              </a:rPr>
              <a:t>	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b</a:t>
            </a:r>
            <a:r>
              <a:rPr dirty="0" sz="2900" spc="-70">
                <a:solidFill>
                  <a:srgbClr val="252525"/>
                </a:solidFill>
                <a:latin typeface="Calibri Light"/>
                <a:cs typeface="Calibri Light"/>
              </a:rPr>
              <a:t>e</a:t>
            </a:r>
            <a:r>
              <a:rPr dirty="0" sz="2900" spc="-60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dirty="0" sz="2900" spc="-90">
                <a:solidFill>
                  <a:srgbClr val="252525"/>
                </a:solidFill>
                <a:latin typeface="Calibri Light"/>
                <a:cs typeface="Calibri Light"/>
              </a:rPr>
              <a:t>w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e</a:t>
            </a:r>
            <a:r>
              <a:rPr dirty="0" sz="2900" spc="-70">
                <a:solidFill>
                  <a:srgbClr val="252525"/>
                </a:solidFill>
                <a:latin typeface="Calibri Light"/>
                <a:cs typeface="Calibri Light"/>
              </a:rPr>
              <a:t>e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n</a:t>
            </a:r>
            <a:r>
              <a:rPr dirty="0" sz="2900">
                <a:solidFill>
                  <a:srgbClr val="252525"/>
                </a:solidFill>
                <a:latin typeface="Calibri Light"/>
                <a:cs typeface="Calibri Light"/>
              </a:rPr>
              <a:t>	</a:t>
            </a:r>
            <a:r>
              <a:rPr dirty="0" sz="2900" spc="-80">
                <a:solidFill>
                  <a:srgbClr val="252525"/>
                </a:solidFill>
                <a:latin typeface="Calibri Light"/>
                <a:cs typeface="Calibri Light"/>
              </a:rPr>
              <a:t>s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dirty="0" sz="2900" spc="-80">
                <a:solidFill>
                  <a:srgbClr val="252525"/>
                </a:solidFill>
                <a:latin typeface="Calibri Light"/>
                <a:cs typeface="Calibri Light"/>
              </a:rPr>
              <a:t>f</a:t>
            </a:r>
            <a:r>
              <a:rPr dirty="0" sz="2900" spc="-60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dirty="0" sz="2900" spc="-90">
                <a:solidFill>
                  <a:srgbClr val="252525"/>
                </a:solidFill>
                <a:latin typeface="Calibri Light"/>
                <a:cs typeface="Calibri Light"/>
              </a:rPr>
              <a:t>w</a:t>
            </a:r>
            <a:r>
              <a:rPr dirty="0" sz="2900" spc="-75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2900" spc="-105">
                <a:solidFill>
                  <a:srgbClr val="252525"/>
                </a:solidFill>
                <a:latin typeface="Calibri Light"/>
                <a:cs typeface="Calibri Light"/>
              </a:rPr>
              <a:t>r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e  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development</a:t>
            </a:r>
            <a:r>
              <a:rPr dirty="0" sz="2900" spc="229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20">
                <a:solidFill>
                  <a:srgbClr val="252525"/>
                </a:solidFill>
                <a:latin typeface="Calibri Light"/>
                <a:cs typeface="Calibri Light"/>
              </a:rPr>
              <a:t>and</a:t>
            </a:r>
            <a:r>
              <a:rPr dirty="0" sz="2900" spc="204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30">
                <a:solidFill>
                  <a:srgbClr val="252525"/>
                </a:solidFill>
                <a:latin typeface="Calibri Light"/>
                <a:cs typeface="Calibri Light"/>
              </a:rPr>
              <a:t>it</a:t>
            </a:r>
            <a:r>
              <a:rPr dirty="0" sz="2900" spc="22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teams.</a:t>
            </a:r>
            <a:r>
              <a:rPr dirty="0" sz="2900" spc="21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30">
                <a:solidFill>
                  <a:srgbClr val="252525"/>
                </a:solidFill>
                <a:latin typeface="Calibri Light"/>
                <a:cs typeface="Calibri Light"/>
              </a:rPr>
              <a:t>it</a:t>
            </a:r>
            <a:r>
              <a:rPr dirty="0" sz="2900" spc="22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emphasizes</a:t>
            </a:r>
            <a:r>
              <a:rPr dirty="0" sz="2900" spc="18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team</a:t>
            </a:r>
            <a:r>
              <a:rPr dirty="0" sz="2900" spc="204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empowerment, </a:t>
            </a:r>
            <a:r>
              <a:rPr dirty="0" sz="2900" spc="-64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c</a:t>
            </a:r>
            <a:r>
              <a:rPr dirty="0" sz="2900" spc="-105">
                <a:solidFill>
                  <a:srgbClr val="252525"/>
                </a:solidFill>
                <a:latin typeface="Calibri Light"/>
                <a:cs typeface="Calibri Light"/>
              </a:rPr>
              <a:t>r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os</a:t>
            </a:r>
            <a:r>
              <a:rPr dirty="0" sz="2900" spc="-80">
                <a:solidFill>
                  <a:srgbClr val="252525"/>
                </a:solidFill>
                <a:latin typeface="Calibri Light"/>
                <a:cs typeface="Calibri Light"/>
              </a:rPr>
              <a:t>s</a:t>
            </a:r>
            <a:r>
              <a:rPr dirty="0" sz="2900" spc="-25">
                <a:solidFill>
                  <a:srgbClr val="252525"/>
                </a:solidFill>
                <a:latin typeface="Calibri Light"/>
                <a:cs typeface="Calibri Light"/>
              </a:rPr>
              <a:t>-</a:t>
            </a:r>
            <a:r>
              <a:rPr dirty="0" sz="2900" spc="-95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e</a:t>
            </a:r>
            <a:r>
              <a:rPr dirty="0" sz="2900" spc="-75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2900" spc="10">
                <a:solidFill>
                  <a:srgbClr val="252525"/>
                </a:solidFill>
                <a:latin typeface="Calibri Light"/>
                <a:cs typeface="Calibri Light"/>
              </a:rPr>
              <a:t>m</a:t>
            </a:r>
            <a:r>
              <a:rPr dirty="0" sz="2900">
                <a:solidFill>
                  <a:srgbClr val="252525"/>
                </a:solidFill>
                <a:latin typeface="Calibri Light"/>
                <a:cs typeface="Calibri Light"/>
              </a:rPr>
              <a:t>		</a:t>
            </a:r>
            <a:r>
              <a:rPr dirty="0" sz="2900" spc="-85">
                <a:solidFill>
                  <a:srgbClr val="252525"/>
                </a:solidFill>
                <a:latin typeface="Calibri Light"/>
                <a:cs typeface="Calibri Light"/>
              </a:rPr>
              <a:t>c</a:t>
            </a:r>
            <a:r>
              <a:rPr dirty="0" sz="2900" spc="-80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mm</a:t>
            </a:r>
            <a:r>
              <a:rPr dirty="0" sz="2900" spc="-75">
                <a:solidFill>
                  <a:srgbClr val="252525"/>
                </a:solidFill>
                <a:latin typeface="Calibri Light"/>
                <a:cs typeface="Calibri Light"/>
              </a:rPr>
              <a:t>un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i</a:t>
            </a:r>
            <a:r>
              <a:rPr dirty="0" sz="2900" spc="-85">
                <a:solidFill>
                  <a:srgbClr val="252525"/>
                </a:solidFill>
                <a:latin typeface="Calibri Light"/>
                <a:cs typeface="Calibri Light"/>
              </a:rPr>
              <a:t>c</a:t>
            </a:r>
            <a:r>
              <a:rPr dirty="0" sz="2900" spc="-110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2900" spc="-20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dirty="0" sz="2900" spc="-70">
                <a:solidFill>
                  <a:srgbClr val="252525"/>
                </a:solidFill>
                <a:latin typeface="Calibri Light"/>
                <a:cs typeface="Calibri Light"/>
              </a:rPr>
              <a:t>i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n</a:t>
            </a:r>
            <a:r>
              <a:rPr dirty="0" sz="2900">
                <a:solidFill>
                  <a:srgbClr val="252525"/>
                </a:solidFill>
                <a:latin typeface="Calibri Light"/>
                <a:cs typeface="Calibri Light"/>
              </a:rPr>
              <a:t>		</a:t>
            </a:r>
            <a:r>
              <a:rPr dirty="0" sz="2900" spc="-40">
                <a:solidFill>
                  <a:srgbClr val="252525"/>
                </a:solidFill>
                <a:latin typeface="Calibri Light"/>
                <a:cs typeface="Calibri Light"/>
              </a:rPr>
              <a:t>an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d</a:t>
            </a:r>
            <a:r>
              <a:rPr dirty="0" sz="2900">
                <a:solidFill>
                  <a:srgbClr val="252525"/>
                </a:solidFill>
                <a:latin typeface="Calibri Light"/>
                <a:cs typeface="Calibri Light"/>
              </a:rPr>
              <a:t>		</a:t>
            </a:r>
            <a:r>
              <a:rPr dirty="0" sz="2900" spc="-85">
                <a:solidFill>
                  <a:srgbClr val="252525"/>
                </a:solidFill>
                <a:latin typeface="Calibri Light"/>
                <a:cs typeface="Calibri Light"/>
              </a:rPr>
              <a:t>c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dirty="0" sz="2900" spc="-70">
                <a:solidFill>
                  <a:srgbClr val="252525"/>
                </a:solidFill>
                <a:latin typeface="Calibri Light"/>
                <a:cs typeface="Calibri Light"/>
              </a:rPr>
              <a:t>l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l</a:t>
            </a:r>
            <a:r>
              <a:rPr dirty="0" sz="2900" spc="-40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2900" spc="-75">
                <a:solidFill>
                  <a:srgbClr val="252525"/>
                </a:solidFill>
                <a:latin typeface="Calibri Light"/>
                <a:cs typeface="Calibri Light"/>
              </a:rPr>
              <a:t>b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dirty="0" sz="2900" spc="-105">
                <a:solidFill>
                  <a:srgbClr val="252525"/>
                </a:solidFill>
                <a:latin typeface="Calibri Light"/>
                <a:cs typeface="Calibri Light"/>
              </a:rPr>
              <a:t>r</a:t>
            </a:r>
            <a:r>
              <a:rPr dirty="0" sz="2900" spc="-110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2900" spc="-60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i</a:t>
            </a:r>
            <a:r>
              <a:rPr dirty="0" sz="2900" spc="-80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n</a:t>
            </a:r>
            <a:r>
              <a:rPr dirty="0" sz="2900">
                <a:solidFill>
                  <a:srgbClr val="252525"/>
                </a:solidFill>
                <a:latin typeface="Calibri Light"/>
                <a:cs typeface="Calibri Light"/>
              </a:rPr>
              <a:t>,</a:t>
            </a:r>
            <a:r>
              <a:rPr dirty="0" sz="2900">
                <a:solidFill>
                  <a:srgbClr val="252525"/>
                </a:solidFill>
                <a:latin typeface="Calibri Light"/>
                <a:cs typeface="Calibri Light"/>
              </a:rPr>
              <a:t>	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2900" spc="-70">
                <a:solidFill>
                  <a:srgbClr val="252525"/>
                </a:solidFill>
                <a:latin typeface="Calibri Light"/>
                <a:cs typeface="Calibri Light"/>
              </a:rPr>
              <a:t>n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d</a:t>
            </a:r>
            <a:r>
              <a:rPr dirty="0" sz="2900">
                <a:solidFill>
                  <a:srgbClr val="252525"/>
                </a:solidFill>
                <a:latin typeface="Calibri Light"/>
                <a:cs typeface="Calibri Light"/>
              </a:rPr>
              <a:t>	</a:t>
            </a:r>
            <a:r>
              <a:rPr dirty="0" sz="2900" spc="-60">
                <a:solidFill>
                  <a:srgbClr val="252525"/>
                </a:solidFill>
                <a:latin typeface="Calibri Light"/>
                <a:cs typeface="Calibri Light"/>
              </a:rPr>
              <a:t>t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e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c</a:t>
            </a:r>
            <a:r>
              <a:rPr dirty="0" sz="2900" spc="-70">
                <a:solidFill>
                  <a:srgbClr val="252525"/>
                </a:solidFill>
                <a:latin typeface="Calibri Light"/>
                <a:cs typeface="Calibri Light"/>
              </a:rPr>
              <a:t>h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n</a:t>
            </a:r>
            <a:r>
              <a:rPr dirty="0" sz="2900" spc="-80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l</a:t>
            </a:r>
            <a:r>
              <a:rPr dirty="0" sz="2900" spc="-80">
                <a:solidFill>
                  <a:srgbClr val="252525"/>
                </a:solidFill>
                <a:latin typeface="Calibri Light"/>
                <a:cs typeface="Calibri Light"/>
              </a:rPr>
              <a:t>o</a:t>
            </a:r>
            <a:r>
              <a:rPr dirty="0" sz="2900" spc="-70">
                <a:solidFill>
                  <a:srgbClr val="252525"/>
                </a:solidFill>
                <a:latin typeface="Calibri Light"/>
                <a:cs typeface="Calibri Light"/>
              </a:rPr>
              <a:t>g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y  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automation.</a:t>
            </a:r>
            <a:endParaRPr sz="29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00">
              <a:latin typeface="Calibri Light"/>
              <a:cs typeface="Calibri Light"/>
            </a:endParaRPr>
          </a:p>
          <a:p>
            <a:pPr algn="just" marL="12700" marR="5080">
              <a:lnSpc>
                <a:spcPct val="85100"/>
              </a:lnSpc>
            </a:pP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A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devops </a:t>
            </a:r>
            <a:r>
              <a:rPr dirty="0" sz="2900" spc="-40">
                <a:solidFill>
                  <a:srgbClr val="252525"/>
                </a:solidFill>
                <a:latin typeface="Calibri Light"/>
                <a:cs typeface="Calibri Light"/>
              </a:rPr>
              <a:t>team includes 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developers </a:t>
            </a:r>
            <a:r>
              <a:rPr dirty="0" sz="2900" spc="-20">
                <a:solidFill>
                  <a:srgbClr val="252525"/>
                </a:solidFill>
                <a:latin typeface="Calibri Light"/>
                <a:cs typeface="Calibri Light"/>
              </a:rPr>
              <a:t>and </a:t>
            </a:r>
            <a:r>
              <a:rPr dirty="0" sz="2900" spc="-10">
                <a:solidFill>
                  <a:srgbClr val="252525"/>
                </a:solidFill>
                <a:latin typeface="Calibri Light"/>
                <a:cs typeface="Calibri Light"/>
              </a:rPr>
              <a:t>IT 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operations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working 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60">
                <a:solidFill>
                  <a:srgbClr val="252525"/>
                </a:solidFill>
                <a:latin typeface="Calibri Light"/>
                <a:cs typeface="Calibri Light"/>
              </a:rPr>
              <a:t>collaboratively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 throughout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15">
                <a:solidFill>
                  <a:srgbClr val="252525"/>
                </a:solidFill>
                <a:latin typeface="Calibri Light"/>
                <a:cs typeface="Calibri Light"/>
              </a:rPr>
              <a:t>the</a:t>
            </a:r>
            <a:r>
              <a:rPr dirty="0" sz="2900" spc="-1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product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60">
                <a:solidFill>
                  <a:srgbClr val="252525"/>
                </a:solidFill>
                <a:latin typeface="Calibri Light"/>
                <a:cs typeface="Calibri Light"/>
              </a:rPr>
              <a:t>lifecycle,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15">
                <a:solidFill>
                  <a:srgbClr val="252525"/>
                </a:solidFill>
                <a:latin typeface="Calibri Light"/>
                <a:cs typeface="Calibri Light"/>
              </a:rPr>
              <a:t>in</a:t>
            </a:r>
            <a:r>
              <a:rPr dirty="0" sz="2900" spc="-1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order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95">
                <a:solidFill>
                  <a:srgbClr val="252525"/>
                </a:solidFill>
                <a:latin typeface="Calibri Light"/>
                <a:cs typeface="Calibri Light"/>
              </a:rPr>
              <a:t>to </a:t>
            </a:r>
            <a:r>
              <a:rPr dirty="0" sz="2900" spc="-9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increase </a:t>
            </a:r>
            <a:r>
              <a:rPr dirty="0" sz="2900" spc="-30">
                <a:solidFill>
                  <a:srgbClr val="252525"/>
                </a:solidFill>
                <a:latin typeface="Calibri Light"/>
                <a:cs typeface="Calibri Light"/>
              </a:rPr>
              <a:t>the 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speed </a:t>
            </a:r>
            <a:r>
              <a:rPr dirty="0" sz="2900" spc="-25">
                <a:solidFill>
                  <a:srgbClr val="252525"/>
                </a:solidFill>
                <a:latin typeface="Calibri Light"/>
                <a:cs typeface="Calibri Light"/>
              </a:rPr>
              <a:t>and 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quality </a:t>
            </a:r>
            <a:r>
              <a:rPr dirty="0" sz="2900" spc="-20">
                <a:solidFill>
                  <a:srgbClr val="252525"/>
                </a:solidFill>
                <a:latin typeface="Calibri Light"/>
                <a:cs typeface="Calibri Light"/>
              </a:rPr>
              <a:t>of </a:t>
            </a:r>
            <a:r>
              <a:rPr dirty="0" sz="2900" spc="-60">
                <a:solidFill>
                  <a:srgbClr val="252525"/>
                </a:solidFill>
                <a:latin typeface="Calibri Light"/>
                <a:cs typeface="Calibri Light"/>
              </a:rPr>
              <a:t>software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deployment. 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it</a:t>
            </a:r>
            <a:r>
              <a:rPr dirty="0" sz="2900" spc="-55" i="1">
                <a:solidFill>
                  <a:srgbClr val="252525"/>
                </a:solidFill>
                <a:latin typeface="Calibri Light"/>
                <a:cs typeface="Calibri Light"/>
              </a:rPr>
              <a:t>’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s 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a </a:t>
            </a:r>
            <a:r>
              <a:rPr dirty="0" sz="2900" spc="1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30">
                <a:solidFill>
                  <a:srgbClr val="252525"/>
                </a:solidFill>
                <a:latin typeface="Calibri Light"/>
                <a:cs typeface="Calibri Light"/>
              </a:rPr>
              <a:t>new</a:t>
            </a:r>
            <a:r>
              <a:rPr dirty="0" sz="2900" spc="-2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80">
                <a:solidFill>
                  <a:srgbClr val="252525"/>
                </a:solidFill>
                <a:latin typeface="Calibri Light"/>
                <a:cs typeface="Calibri Light"/>
              </a:rPr>
              <a:t>way</a:t>
            </a:r>
            <a:r>
              <a:rPr dirty="0" sz="2900" spc="-7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20">
                <a:solidFill>
                  <a:srgbClr val="252525"/>
                </a:solidFill>
                <a:latin typeface="Calibri Light"/>
                <a:cs typeface="Calibri Light"/>
              </a:rPr>
              <a:t>of</a:t>
            </a:r>
            <a:r>
              <a:rPr dirty="0" sz="2900" spc="-1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working,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5">
                <a:solidFill>
                  <a:srgbClr val="252525"/>
                </a:solidFill>
                <a:latin typeface="Calibri Light"/>
                <a:cs typeface="Calibri Light"/>
              </a:rPr>
              <a:t>a</a:t>
            </a:r>
            <a:r>
              <a:rPr dirty="0" sz="2900" spc="1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cultural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shift,</a:t>
            </a:r>
            <a:r>
              <a:rPr dirty="0" sz="2900" spc="-4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that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35">
                <a:solidFill>
                  <a:srgbClr val="252525"/>
                </a:solidFill>
                <a:latin typeface="Calibri Light"/>
                <a:cs typeface="Calibri Light"/>
              </a:rPr>
              <a:t>has</a:t>
            </a:r>
            <a:r>
              <a:rPr dirty="0" sz="2900" spc="-3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significant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45">
                <a:solidFill>
                  <a:srgbClr val="252525"/>
                </a:solidFill>
                <a:latin typeface="Calibri Light"/>
                <a:cs typeface="Calibri Light"/>
              </a:rPr>
              <a:t>implications</a:t>
            </a:r>
            <a:r>
              <a:rPr dirty="0" sz="2900" spc="-235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for</a:t>
            </a:r>
            <a:r>
              <a:rPr dirty="0" sz="2900" spc="-15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30">
                <a:solidFill>
                  <a:srgbClr val="252525"/>
                </a:solidFill>
                <a:latin typeface="Calibri Light"/>
                <a:cs typeface="Calibri Light"/>
              </a:rPr>
              <a:t>teams</a:t>
            </a:r>
            <a:r>
              <a:rPr dirty="0" sz="2900" spc="-16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25">
                <a:solidFill>
                  <a:srgbClr val="252525"/>
                </a:solidFill>
                <a:latin typeface="Calibri Light"/>
                <a:cs typeface="Calibri Light"/>
              </a:rPr>
              <a:t>and</a:t>
            </a:r>
            <a:r>
              <a:rPr dirty="0" sz="2900" spc="-15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15">
                <a:solidFill>
                  <a:srgbClr val="252525"/>
                </a:solidFill>
                <a:latin typeface="Calibri Light"/>
                <a:cs typeface="Calibri Light"/>
              </a:rPr>
              <a:t>the</a:t>
            </a:r>
            <a:r>
              <a:rPr dirty="0" sz="2900" spc="-16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5">
                <a:solidFill>
                  <a:srgbClr val="252525"/>
                </a:solidFill>
                <a:latin typeface="Calibri Light"/>
                <a:cs typeface="Calibri Light"/>
              </a:rPr>
              <a:t>organizations</a:t>
            </a:r>
            <a:r>
              <a:rPr dirty="0" sz="2900" spc="-26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20">
                <a:solidFill>
                  <a:srgbClr val="252525"/>
                </a:solidFill>
                <a:latin typeface="Calibri Light"/>
                <a:cs typeface="Calibri Light"/>
              </a:rPr>
              <a:t>they</a:t>
            </a:r>
            <a:r>
              <a:rPr dirty="0" sz="2900" spc="-18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30">
                <a:solidFill>
                  <a:srgbClr val="252525"/>
                </a:solidFill>
                <a:latin typeface="Calibri Light"/>
                <a:cs typeface="Calibri Light"/>
              </a:rPr>
              <a:t>work</a:t>
            </a:r>
            <a:r>
              <a:rPr dirty="0" sz="2900" spc="-170">
                <a:solidFill>
                  <a:srgbClr val="252525"/>
                </a:solidFill>
                <a:latin typeface="Calibri Light"/>
                <a:cs typeface="Calibri Light"/>
              </a:rPr>
              <a:t> </a:t>
            </a:r>
            <a:r>
              <a:rPr dirty="0" sz="2900" spc="-50">
                <a:solidFill>
                  <a:srgbClr val="252525"/>
                </a:solidFill>
                <a:latin typeface="Calibri Light"/>
                <a:cs typeface="Calibri Light"/>
              </a:rPr>
              <a:t>for</a:t>
            </a:r>
            <a:r>
              <a:rPr dirty="0" sz="2600" spc="-50">
                <a:solidFill>
                  <a:srgbClr val="252525"/>
                </a:solidFill>
                <a:latin typeface="Calibri Light"/>
                <a:cs typeface="Calibri Light"/>
              </a:rPr>
              <a:t>.</a:t>
            </a:r>
            <a:endParaRPr sz="2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2028" y="631647"/>
            <a:ext cx="313309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40">
                <a:latin typeface="Calibri Light"/>
                <a:cs typeface="Calibri Light"/>
              </a:rPr>
              <a:t>D</a:t>
            </a:r>
            <a:r>
              <a:rPr dirty="0" sz="3200" spc="-75">
                <a:latin typeface="Calibri Light"/>
                <a:cs typeface="Calibri Light"/>
              </a:rPr>
              <a:t>e</a:t>
            </a:r>
            <a:r>
              <a:rPr dirty="0" sz="3200" spc="-45">
                <a:latin typeface="Calibri Light"/>
                <a:cs typeface="Calibri Light"/>
              </a:rPr>
              <a:t>v</a:t>
            </a:r>
            <a:r>
              <a:rPr dirty="0" sz="3200" spc="-85">
                <a:latin typeface="Calibri Light"/>
                <a:cs typeface="Calibri Light"/>
              </a:rPr>
              <a:t>O</a:t>
            </a:r>
            <a:r>
              <a:rPr dirty="0" sz="3200" spc="-114">
                <a:latin typeface="Calibri Light"/>
                <a:cs typeface="Calibri Light"/>
              </a:rPr>
              <a:t>p</a:t>
            </a:r>
            <a:r>
              <a:rPr dirty="0" sz="3200">
                <a:latin typeface="Calibri Light"/>
                <a:cs typeface="Calibri Light"/>
              </a:rPr>
              <a:t>s</a:t>
            </a:r>
            <a:r>
              <a:rPr dirty="0" sz="3200" spc="-240">
                <a:latin typeface="Calibri Light"/>
                <a:cs typeface="Calibri Light"/>
              </a:rPr>
              <a:t> </a:t>
            </a:r>
            <a:r>
              <a:rPr dirty="0" sz="3200" spc="-55">
                <a:latin typeface="Calibri Light"/>
                <a:cs typeface="Calibri Light"/>
              </a:rPr>
              <a:t>s</a:t>
            </a:r>
            <a:r>
              <a:rPr dirty="0" sz="3200" spc="-80">
                <a:latin typeface="Calibri Light"/>
                <a:cs typeface="Calibri Light"/>
              </a:rPr>
              <a:t>t</a:t>
            </a:r>
            <a:r>
              <a:rPr dirty="0" sz="3200" spc="-70">
                <a:latin typeface="Calibri Light"/>
                <a:cs typeface="Calibri Light"/>
              </a:rPr>
              <a:t>a</a:t>
            </a:r>
            <a:r>
              <a:rPr dirty="0" sz="3200" spc="-190">
                <a:latin typeface="Calibri Light"/>
                <a:cs typeface="Calibri Light"/>
              </a:rPr>
              <a:t>k</a:t>
            </a:r>
            <a:r>
              <a:rPr dirty="0" sz="3200" spc="-75">
                <a:latin typeface="Calibri Light"/>
                <a:cs typeface="Calibri Light"/>
              </a:rPr>
              <a:t>e</a:t>
            </a:r>
            <a:r>
              <a:rPr dirty="0" sz="3200" spc="-80">
                <a:latin typeface="Calibri Light"/>
                <a:cs typeface="Calibri Light"/>
              </a:rPr>
              <a:t>h</a:t>
            </a:r>
            <a:r>
              <a:rPr dirty="0" sz="3200" spc="-85">
                <a:latin typeface="Calibri Light"/>
                <a:cs typeface="Calibri Light"/>
              </a:rPr>
              <a:t>o</a:t>
            </a:r>
            <a:r>
              <a:rPr dirty="0" sz="3200" spc="-60">
                <a:latin typeface="Calibri Light"/>
                <a:cs typeface="Calibri Light"/>
              </a:rPr>
              <a:t>l</a:t>
            </a:r>
            <a:r>
              <a:rPr dirty="0" sz="3200" spc="-80">
                <a:latin typeface="Calibri Light"/>
                <a:cs typeface="Calibri Light"/>
              </a:rPr>
              <a:t>d</a:t>
            </a:r>
            <a:r>
              <a:rPr dirty="0" sz="3200" spc="-75">
                <a:latin typeface="Calibri Light"/>
                <a:cs typeface="Calibri Light"/>
              </a:rPr>
              <a:t>e</a:t>
            </a:r>
            <a:r>
              <a:rPr dirty="0" sz="3200">
                <a:latin typeface="Calibri Light"/>
                <a:cs typeface="Calibri Light"/>
              </a:rPr>
              <a:t>r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324" y="1779219"/>
            <a:ext cx="10000615" cy="3707129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algn="just" marL="12700" marR="6350">
              <a:lnSpc>
                <a:spcPct val="80100"/>
              </a:lnSpc>
              <a:spcBef>
                <a:spcPts val="780"/>
              </a:spcBef>
            </a:pP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environment,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stakeholders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individuals</a:t>
            </a:r>
            <a:r>
              <a:rPr dirty="0" sz="2800" spc="6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dirty="0" sz="2800" spc="6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groups </a:t>
            </a:r>
            <a:r>
              <a:rPr dirty="0" sz="2800" spc="-6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who</a:t>
            </a:r>
            <a:r>
              <a:rPr dirty="0" sz="2800" spc="1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dirty="0" sz="2800" spc="1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dirty="0" sz="2800" spc="1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interest</a:t>
            </a:r>
            <a:r>
              <a:rPr dirty="0" sz="2800" spc="1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dirty="0" sz="2800" spc="1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concern</a:t>
            </a:r>
            <a:r>
              <a:rPr dirty="0" sz="2800" spc="1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800" spc="1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800" spc="1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development</a:t>
            </a:r>
            <a:r>
              <a:rPr dirty="0" sz="2800" spc="1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800" spc="1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operation</a:t>
            </a:r>
            <a:r>
              <a:rPr dirty="0" sz="2800" spc="1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800" spc="-6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software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system.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Their involvement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collaboration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are key to the </a:t>
            </a:r>
            <a:r>
              <a:rPr dirty="0" sz="2800" spc="-6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success </a:t>
            </a:r>
            <a:r>
              <a:rPr dirty="0" sz="2800" spc="-2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DevOps initiatives.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They are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primary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stakeholders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typical</a:t>
            </a:r>
            <a:r>
              <a:rPr dirty="0" sz="28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r>
              <a:rPr dirty="0" sz="28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setup.</a:t>
            </a:r>
            <a:endParaRPr sz="2800">
              <a:latin typeface="Times New Roman"/>
              <a:cs typeface="Times New Roman"/>
            </a:endParaRPr>
          </a:p>
          <a:p>
            <a:pPr algn="just" marL="12700" marR="5080">
              <a:lnSpc>
                <a:spcPct val="79900"/>
              </a:lnSpc>
              <a:spcBef>
                <a:spcPts val="1420"/>
              </a:spcBef>
            </a:pP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successful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culture,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these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stakeholders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work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collaboratively,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breaking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down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traditional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silos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improve </a:t>
            </a:r>
            <a:r>
              <a:rPr dirty="0" sz="2800" spc="-35">
                <a:solidFill>
                  <a:srgbClr val="404040"/>
                </a:solidFill>
                <a:latin typeface="Times New Roman"/>
                <a:cs typeface="Times New Roman"/>
              </a:rPr>
              <a:t>efficiency, </a:t>
            </a:r>
            <a:r>
              <a:rPr dirty="0" sz="28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enhance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40">
                <a:solidFill>
                  <a:srgbClr val="404040"/>
                </a:solidFill>
                <a:latin typeface="Times New Roman"/>
                <a:cs typeface="Times New Roman"/>
              </a:rPr>
              <a:t>quality,</a:t>
            </a:r>
            <a:r>
              <a:rPr dirty="0" sz="28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8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rapidly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deliver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value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customers.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Effective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communication,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shared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goals,</a:t>
            </a:r>
            <a:r>
              <a:rPr dirty="0" sz="2800" spc="6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8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mutual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respect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among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all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stakeholders</a:t>
            </a:r>
            <a:r>
              <a:rPr dirty="0" sz="28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dirty="0" sz="28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key</a:t>
            </a:r>
            <a:r>
              <a:rPr dirty="0" sz="28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realizing</a:t>
            </a:r>
            <a:r>
              <a:rPr dirty="0" sz="2800" spc="-1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dirty="0" sz="28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benefits</a:t>
            </a:r>
            <a:r>
              <a:rPr dirty="0" sz="2800" spc="-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800" spc="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r>
              <a:rPr dirty="0" sz="2400" spc="-1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804" y="1154317"/>
            <a:ext cx="10547350" cy="362648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254"/>
              </a:spcBef>
            </a:pPr>
            <a:r>
              <a:rPr dirty="0" sz="2000" spc="-10" b="1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eve</a:t>
            </a:r>
            <a:r>
              <a:rPr dirty="0" sz="2000" spc="15" b="1">
                <a:solidFill>
                  <a:srgbClr val="404040"/>
                </a:solidFill>
                <a:latin typeface="Times New Roman"/>
                <a:cs typeface="Times New Roman"/>
              </a:rPr>
              <a:t>l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000" b="1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dirty="0" sz="2000" spc="20" b="1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ent</a:t>
            </a:r>
            <a:r>
              <a:rPr dirty="0" sz="2000" spc="-15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185" b="1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ea</a:t>
            </a:r>
            <a:r>
              <a:rPr dirty="0" sz="2000" spc="65" b="1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algn="just" marL="396875" marR="91440" indent="-183515">
              <a:lnSpc>
                <a:spcPts val="2160"/>
              </a:lnSpc>
              <a:spcBef>
                <a:spcPts val="430"/>
              </a:spcBef>
              <a:buClr>
                <a:srgbClr val="E38312"/>
              </a:buClr>
              <a:buFont typeface="Calibri"/>
              <a:buChar char="◦"/>
              <a:tabLst>
                <a:tab pos="397510" algn="l"/>
              </a:tabLst>
            </a:pP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Role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2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Responsible</a:t>
            </a:r>
            <a:r>
              <a:rPr dirty="0" sz="2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20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Times New Roman"/>
                <a:cs typeface="Times New Roman"/>
              </a:rPr>
              <a:t>writing,</a:t>
            </a:r>
            <a:r>
              <a:rPr dirty="0" sz="20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testing,</a:t>
            </a:r>
            <a:r>
              <a:rPr dirty="0" sz="2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0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maintaining</a:t>
            </a:r>
            <a:r>
              <a:rPr dirty="0" sz="2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0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software.</a:t>
            </a:r>
            <a:r>
              <a:rPr dirty="0" sz="2000" spc="-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dirty="0" sz="2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implement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new</a:t>
            </a:r>
            <a:r>
              <a:rPr dirty="0" sz="20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features </a:t>
            </a:r>
            <a:r>
              <a:rPr dirty="0" sz="2000" spc="-484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0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fix</a:t>
            </a:r>
            <a:r>
              <a:rPr dirty="0" sz="20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bugs.</a:t>
            </a:r>
            <a:endParaRPr sz="2000">
              <a:latin typeface="Times New Roman"/>
              <a:cs typeface="Times New Roman"/>
            </a:endParaRPr>
          </a:p>
          <a:p>
            <a:pPr algn="just" marL="396875" marR="5080" indent="-183515">
              <a:lnSpc>
                <a:spcPts val="2160"/>
              </a:lnSpc>
              <a:spcBef>
                <a:spcPts val="615"/>
              </a:spcBef>
              <a:buClr>
                <a:srgbClr val="E38312"/>
              </a:buClr>
              <a:buFont typeface="Calibri"/>
              <a:buChar char="◦"/>
              <a:tabLst>
                <a:tab pos="397510" algn="l"/>
              </a:tabLst>
            </a:pPr>
            <a:r>
              <a:rPr dirty="0" sz="2000" spc="-5" b="1">
                <a:solidFill>
                  <a:srgbClr val="404040"/>
                </a:solidFill>
                <a:latin typeface="Times New Roman"/>
                <a:cs typeface="Times New Roman"/>
              </a:rPr>
              <a:t>Interest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: 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DevOps culture, developers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are </a:t>
            </a:r>
            <a:r>
              <a:rPr dirty="0" sz="2000" spc="-10">
                <a:solidFill>
                  <a:srgbClr val="404040"/>
                </a:solidFill>
                <a:latin typeface="Times New Roman"/>
                <a:cs typeface="Times New Roman"/>
              </a:rPr>
              <a:t>interested in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streamlined </a:t>
            </a:r>
            <a:r>
              <a:rPr dirty="0" sz="2000" spc="-10">
                <a:solidFill>
                  <a:srgbClr val="404040"/>
                </a:solidFill>
                <a:latin typeface="Times New Roman"/>
                <a:cs typeface="Times New Roman"/>
              </a:rPr>
              <a:t>processes,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tools that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aid </a:t>
            </a:r>
            <a:r>
              <a:rPr dirty="0" sz="2000" spc="-2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0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continuous integration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continuous deployment, and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close collaboration </a:t>
            </a:r>
            <a:r>
              <a:rPr dirty="0" sz="2000" spc="-10">
                <a:solidFill>
                  <a:srgbClr val="404040"/>
                </a:solidFill>
                <a:latin typeface="Times New Roman"/>
                <a:cs typeface="Times New Roman"/>
              </a:rPr>
              <a:t>with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operations </a:t>
            </a:r>
            <a:r>
              <a:rPr dirty="0" sz="2000" spc="-2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0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ensure</a:t>
            </a:r>
            <a:r>
              <a:rPr dirty="0" sz="2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smooth</a:t>
            </a:r>
            <a:r>
              <a:rPr dirty="0" sz="2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dirty="0" sz="2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Times New Roman"/>
                <a:cs typeface="Times New Roman"/>
              </a:rPr>
              <a:t>delivery.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E38312"/>
              </a:buClr>
              <a:buFont typeface="Calibri"/>
              <a:buChar char="◦"/>
            </a:pPr>
            <a:endParaRPr sz="2200">
              <a:latin typeface="Times New Roman"/>
              <a:cs typeface="Times New Roman"/>
            </a:endParaRPr>
          </a:p>
          <a:p>
            <a:pPr marL="104139">
              <a:lnSpc>
                <a:spcPct val="100000"/>
              </a:lnSpc>
              <a:spcBef>
                <a:spcPts val="1565"/>
              </a:spcBef>
            </a:pPr>
            <a:r>
              <a:rPr dirty="0" sz="2000" spc="20" b="1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000" spc="-5" b="1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000" spc="10" b="1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000" spc="10" b="1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000" spc="15" b="1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r>
              <a:rPr dirty="0" sz="2000" spc="-35" b="1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000" spc="-5" b="1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000" spc="-14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185" b="1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ea</a:t>
            </a:r>
            <a:r>
              <a:rPr dirty="0" sz="2000" spc="75" b="1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396875" indent="-184150">
              <a:lnSpc>
                <a:spcPct val="100000"/>
              </a:lnSpc>
              <a:spcBef>
                <a:spcPts val="155"/>
              </a:spcBef>
              <a:buClr>
                <a:srgbClr val="E38312"/>
              </a:buClr>
              <a:buFont typeface="Calibri"/>
              <a:buChar char="◦"/>
              <a:tabLst>
                <a:tab pos="397510" algn="l"/>
              </a:tabLst>
            </a:pP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Role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2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Focuses</a:t>
            </a:r>
            <a:r>
              <a:rPr dirty="0" sz="20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dirty="0" sz="20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0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deployment,</a:t>
            </a:r>
            <a:r>
              <a:rPr dirty="0" sz="2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Times New Roman"/>
                <a:cs typeface="Times New Roman"/>
              </a:rPr>
              <a:t>availability,</a:t>
            </a:r>
            <a:r>
              <a:rPr dirty="0" sz="2000" spc="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0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reliability</a:t>
            </a:r>
            <a:r>
              <a:rPr dirty="0" sz="20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0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0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software.</a:t>
            </a:r>
            <a:endParaRPr sz="2000">
              <a:latin typeface="Times New Roman"/>
              <a:cs typeface="Times New Roman"/>
            </a:endParaRPr>
          </a:p>
          <a:p>
            <a:pPr marL="396875" indent="-184150">
              <a:lnSpc>
                <a:spcPts val="2280"/>
              </a:lnSpc>
              <a:spcBef>
                <a:spcPts val="340"/>
              </a:spcBef>
              <a:buClr>
                <a:srgbClr val="E38312"/>
              </a:buClr>
              <a:buFont typeface="Calibri"/>
              <a:buChar char="◦"/>
              <a:tabLst>
                <a:tab pos="397510" algn="l"/>
              </a:tabLst>
            </a:pP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Interest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2000" spc="-1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dirty="0" sz="2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aim</a:t>
            </a:r>
            <a:r>
              <a:rPr dirty="0" sz="20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2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stable</a:t>
            </a:r>
            <a:r>
              <a:rPr dirty="0" sz="2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efficient</a:t>
            </a:r>
            <a:r>
              <a:rPr dirty="0" sz="20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operational</a:t>
            </a:r>
            <a:r>
              <a:rPr dirty="0" sz="2000" spc="-1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environments</a:t>
            </a:r>
            <a:r>
              <a:rPr dirty="0" sz="2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0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tools</a:t>
            </a:r>
            <a:r>
              <a:rPr dirty="0" sz="2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dirty="0" sz="2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assist</a:t>
            </a:r>
            <a:r>
              <a:rPr dirty="0" sz="2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396875">
              <a:lnSpc>
                <a:spcPts val="2280"/>
              </a:lnSpc>
            </a:pP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monitoring,</a:t>
            </a:r>
            <a:r>
              <a:rPr dirty="0" sz="20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automation,</a:t>
            </a:r>
            <a:r>
              <a:rPr dirty="0" sz="2000" spc="-10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0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quick</a:t>
            </a:r>
            <a:r>
              <a:rPr dirty="0" sz="20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resolution</a:t>
            </a:r>
            <a:r>
              <a:rPr dirty="0" sz="20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0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operational</a:t>
            </a:r>
            <a:r>
              <a:rPr dirty="0" sz="2000" spc="-1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issues.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1821067"/>
            <a:ext cx="9744710" cy="272986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000" spc="-10" b="1">
                <a:solidFill>
                  <a:srgbClr val="404040"/>
                </a:solidFill>
                <a:latin typeface="Times New Roman"/>
                <a:cs typeface="Times New Roman"/>
              </a:rPr>
              <a:t>Q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ua</a:t>
            </a:r>
            <a:r>
              <a:rPr dirty="0" sz="2000" spc="15" b="1">
                <a:solidFill>
                  <a:srgbClr val="404040"/>
                </a:solidFill>
                <a:latin typeface="Times New Roman"/>
                <a:cs typeface="Times New Roman"/>
              </a:rPr>
              <a:t>l</a:t>
            </a:r>
            <a:r>
              <a:rPr dirty="0" sz="2000" spc="20" b="1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r>
              <a:rPr dirty="0" sz="2000" spc="15" b="1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dirty="0" sz="2000" spc="-21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000" spc="10" b="1">
                <a:solidFill>
                  <a:srgbClr val="404040"/>
                </a:solidFill>
                <a:latin typeface="Times New Roman"/>
                <a:cs typeface="Times New Roman"/>
              </a:rPr>
              <a:t>ss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urance</a:t>
            </a:r>
            <a:r>
              <a:rPr dirty="0" sz="2000" spc="-6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15" b="1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dirty="0" sz="2000" spc="-10" b="1">
                <a:solidFill>
                  <a:srgbClr val="404040"/>
                </a:solidFill>
                <a:latin typeface="Times New Roman"/>
                <a:cs typeface="Times New Roman"/>
              </a:rPr>
              <a:t>Q</a:t>
            </a:r>
            <a:r>
              <a:rPr dirty="0" sz="2000" spc="-5" b="1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)</a:t>
            </a:r>
            <a:r>
              <a:rPr dirty="0" sz="2000" spc="-5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185" b="1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ea</a:t>
            </a:r>
            <a:r>
              <a:rPr dirty="0" sz="2000" spc="25" b="1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305435" indent="-183515">
              <a:lnSpc>
                <a:spcPct val="100000"/>
              </a:lnSpc>
              <a:spcBef>
                <a:spcPts val="160"/>
              </a:spcBef>
              <a:buClr>
                <a:srgbClr val="E38312"/>
              </a:buClr>
              <a:buFont typeface="Calibri"/>
              <a:buChar char="◦"/>
              <a:tabLst>
                <a:tab pos="306070" algn="l"/>
              </a:tabLst>
            </a:pP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Role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20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Ensures</a:t>
            </a:r>
            <a:r>
              <a:rPr dirty="0" sz="2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quality</a:t>
            </a:r>
            <a:r>
              <a:rPr dirty="0" sz="20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0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0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dirty="0" sz="2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dirty="0" sz="2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testing</a:t>
            </a:r>
            <a:r>
              <a:rPr dirty="0" sz="2000" spc="-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000" spc="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validation.</a:t>
            </a:r>
            <a:endParaRPr sz="2000">
              <a:latin typeface="Times New Roman"/>
              <a:cs typeface="Times New Roman"/>
            </a:endParaRPr>
          </a:p>
          <a:p>
            <a:pPr marL="305435" indent="-183515">
              <a:lnSpc>
                <a:spcPts val="2280"/>
              </a:lnSpc>
              <a:spcBef>
                <a:spcPts val="375"/>
              </a:spcBef>
              <a:buClr>
                <a:srgbClr val="E38312"/>
              </a:buClr>
              <a:buFont typeface="Calibri"/>
              <a:buChar char="◦"/>
              <a:tabLst>
                <a:tab pos="306070" algn="l"/>
              </a:tabLst>
            </a:pP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Interest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2000" spc="-114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QA</a:t>
            </a:r>
            <a:r>
              <a:rPr dirty="0" sz="2000" spc="-114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stakeholders</a:t>
            </a:r>
            <a:r>
              <a:rPr dirty="0" sz="2000" spc="-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seek</a:t>
            </a:r>
            <a:r>
              <a:rPr dirty="0" sz="20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integration</a:t>
            </a:r>
            <a:r>
              <a:rPr dirty="0" sz="2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dirty="0" sz="20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CI/CD</a:t>
            </a:r>
            <a:r>
              <a:rPr dirty="0" sz="20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pipeline</a:t>
            </a:r>
            <a:r>
              <a:rPr dirty="0" sz="20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2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automated</a:t>
            </a:r>
            <a:r>
              <a:rPr dirty="0" sz="2000" spc="-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testing</a:t>
            </a:r>
            <a:r>
              <a:rPr dirty="0" sz="2000" spc="-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305435">
              <a:lnSpc>
                <a:spcPts val="2280"/>
              </a:lnSpc>
            </a:pP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early</a:t>
            </a:r>
            <a:r>
              <a:rPr dirty="0" sz="20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detection</a:t>
            </a:r>
            <a:r>
              <a:rPr dirty="0" sz="2000" spc="-114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0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issues.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Se</a:t>
            </a:r>
            <a:r>
              <a:rPr dirty="0" sz="2000" spc="10" b="1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ur</a:t>
            </a:r>
            <a:r>
              <a:rPr dirty="0" sz="2000" spc="20" b="1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r>
              <a:rPr dirty="0" sz="2000" spc="15" b="1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dirty="0" sz="2000" spc="-14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185" b="1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000" spc="10" b="1">
                <a:solidFill>
                  <a:srgbClr val="404040"/>
                </a:solidFill>
                <a:latin typeface="Times New Roman"/>
                <a:cs typeface="Times New Roman"/>
              </a:rPr>
              <a:t>eam</a:t>
            </a:r>
            <a:r>
              <a:rPr dirty="0" sz="2000" spc="-2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dirty="0" sz="2000" spc="-10" b="1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evSec</a:t>
            </a:r>
            <a:r>
              <a:rPr dirty="0" sz="2000" spc="25" b="1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000" spc="-5" b="1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dirty="0" sz="2000" spc="-20" b="1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000" spc="15" b="1">
                <a:solidFill>
                  <a:srgbClr val="404040"/>
                </a:solidFill>
                <a:latin typeface="Times New Roman"/>
                <a:cs typeface="Times New Roman"/>
              </a:rPr>
              <a:t>)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305435" indent="-183515">
              <a:lnSpc>
                <a:spcPct val="100000"/>
              </a:lnSpc>
              <a:spcBef>
                <a:spcPts val="160"/>
              </a:spcBef>
              <a:buClr>
                <a:srgbClr val="E38312"/>
              </a:buClr>
              <a:buFont typeface="Calibri"/>
              <a:buChar char="◦"/>
              <a:tabLst>
                <a:tab pos="306070" algn="l"/>
              </a:tabLst>
            </a:pP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Role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20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Integrates</a:t>
            </a:r>
            <a:r>
              <a:rPr dirty="0" sz="2000" spc="-1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security</a:t>
            </a:r>
            <a:r>
              <a:rPr dirty="0" sz="20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dirty="0" sz="20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every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 phase</a:t>
            </a:r>
            <a:r>
              <a:rPr dirty="0" sz="2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0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0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dirty="0" sz="2000" spc="-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development</a:t>
            </a:r>
            <a:r>
              <a:rPr dirty="0" sz="20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life</a:t>
            </a:r>
            <a:r>
              <a:rPr dirty="0" sz="20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cycle.</a:t>
            </a:r>
            <a:endParaRPr sz="2000">
              <a:latin typeface="Times New Roman"/>
              <a:cs typeface="Times New Roman"/>
            </a:endParaRPr>
          </a:p>
          <a:p>
            <a:pPr marL="305435" indent="-183515">
              <a:lnSpc>
                <a:spcPts val="2280"/>
              </a:lnSpc>
              <a:spcBef>
                <a:spcPts val="370"/>
              </a:spcBef>
              <a:buClr>
                <a:srgbClr val="E38312"/>
              </a:buClr>
              <a:buFont typeface="Calibri"/>
              <a:buChar char="◦"/>
              <a:tabLst>
                <a:tab pos="306070" algn="l"/>
              </a:tabLst>
            </a:pPr>
            <a:r>
              <a:rPr dirty="0" sz="2000" spc="5" b="1">
                <a:solidFill>
                  <a:srgbClr val="404040"/>
                </a:solidFill>
                <a:latin typeface="Times New Roman"/>
                <a:cs typeface="Times New Roman"/>
              </a:rPr>
              <a:t>Interest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2000" spc="-1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Their</a:t>
            </a:r>
            <a:r>
              <a:rPr dirty="0" sz="20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focus</a:t>
            </a:r>
            <a:r>
              <a:rPr dirty="0" sz="20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20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dirty="0" sz="20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implementing</a:t>
            </a:r>
            <a:r>
              <a:rPr dirty="0" sz="20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security</a:t>
            </a:r>
            <a:r>
              <a:rPr dirty="0" sz="2000" spc="-1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measures</a:t>
            </a:r>
            <a:r>
              <a:rPr dirty="0" sz="2000" spc="-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0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compliance</a:t>
            </a:r>
            <a:r>
              <a:rPr dirty="0" sz="20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Times New Roman"/>
                <a:cs typeface="Times New Roman"/>
              </a:rPr>
              <a:t>standards</a:t>
            </a:r>
            <a:endParaRPr sz="2000">
              <a:latin typeface="Times New Roman"/>
              <a:cs typeface="Times New Roman"/>
            </a:endParaRPr>
          </a:p>
          <a:p>
            <a:pPr marL="305435">
              <a:lnSpc>
                <a:spcPts val="2280"/>
              </a:lnSpc>
            </a:pPr>
            <a:r>
              <a:rPr dirty="0" sz="2000">
                <a:solidFill>
                  <a:srgbClr val="404040"/>
                </a:solidFill>
                <a:latin typeface="Times New Roman"/>
                <a:cs typeface="Times New Roman"/>
              </a:rPr>
              <a:t>seamlessly</a:t>
            </a:r>
            <a:r>
              <a:rPr dirty="0" sz="20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Times New Roman"/>
                <a:cs typeface="Times New Roman"/>
              </a:rPr>
              <a:t>within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0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Times New Roman"/>
                <a:cs typeface="Times New Roman"/>
              </a:rPr>
              <a:t>DevOps </a:t>
            </a:r>
            <a:r>
              <a:rPr dirty="0" sz="2000" spc="-25">
                <a:solidFill>
                  <a:srgbClr val="404040"/>
                </a:solidFill>
                <a:latin typeface="Times New Roman"/>
                <a:cs typeface="Times New Roman"/>
              </a:rPr>
              <a:t>workflow.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1821393"/>
            <a:ext cx="9998075" cy="294894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2200" spc="-15" b="1">
                <a:solidFill>
                  <a:srgbClr val="404040"/>
                </a:solidFill>
                <a:latin typeface="Times New Roman"/>
                <a:cs typeface="Times New Roman"/>
              </a:rPr>
              <a:t>Product</a:t>
            </a:r>
            <a:r>
              <a:rPr dirty="0" sz="2200" spc="1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5" b="1">
                <a:solidFill>
                  <a:srgbClr val="404040"/>
                </a:solidFill>
                <a:latin typeface="Times New Roman"/>
                <a:cs typeface="Times New Roman"/>
              </a:rPr>
              <a:t>Owners/Managers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305435" indent="-183515">
              <a:lnSpc>
                <a:spcPct val="100000"/>
              </a:lnSpc>
              <a:spcBef>
                <a:spcPts val="130"/>
              </a:spcBef>
              <a:buClr>
                <a:srgbClr val="E38312"/>
              </a:buClr>
              <a:buFont typeface="Calibri"/>
              <a:buChar char="◦"/>
              <a:tabLst>
                <a:tab pos="306070" algn="l"/>
              </a:tabLst>
            </a:pPr>
            <a:r>
              <a:rPr dirty="0" sz="2200" spc="-10" b="1">
                <a:solidFill>
                  <a:srgbClr val="404040"/>
                </a:solidFill>
                <a:latin typeface="Times New Roman"/>
                <a:cs typeface="Times New Roman"/>
              </a:rPr>
              <a:t>Role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Define</a:t>
            </a:r>
            <a:r>
              <a:rPr dirty="0" sz="2200" spc="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product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vision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2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prioritize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 development</a:t>
            </a:r>
            <a:r>
              <a:rPr dirty="0" sz="22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backlog.</a:t>
            </a:r>
            <a:endParaRPr sz="2200">
              <a:latin typeface="Times New Roman"/>
              <a:cs typeface="Times New Roman"/>
            </a:endParaRPr>
          </a:p>
          <a:p>
            <a:pPr marL="305435" marR="5080" indent="-182880">
              <a:lnSpc>
                <a:spcPts val="2380"/>
              </a:lnSpc>
              <a:spcBef>
                <a:spcPts val="615"/>
              </a:spcBef>
              <a:buClr>
                <a:srgbClr val="E38312"/>
              </a:buClr>
              <a:buFont typeface="Calibri"/>
              <a:buChar char="◦"/>
              <a:tabLst>
                <a:tab pos="306070" algn="l"/>
              </a:tabLst>
            </a:pP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Interest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2200" spc="3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Interested</a:t>
            </a:r>
            <a:r>
              <a:rPr dirty="0" sz="2200" spc="3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200" spc="3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aligning</a:t>
            </a:r>
            <a:r>
              <a:rPr dirty="0" sz="2200" spc="3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dirty="0" sz="2200" spc="3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development</a:t>
            </a:r>
            <a:r>
              <a:rPr dirty="0" sz="2200" spc="3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dirty="0" sz="2200" spc="3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business</a:t>
            </a:r>
            <a:r>
              <a:rPr dirty="0" sz="2200" spc="3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objectives</a:t>
            </a:r>
            <a:r>
              <a:rPr dirty="0" sz="2200" spc="40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200" spc="-5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ensuring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final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product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meets</a:t>
            </a:r>
            <a:r>
              <a:rPr dirty="0" sz="22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customer</a:t>
            </a:r>
            <a:r>
              <a:rPr dirty="0" sz="2200" spc="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needs.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200" spc="-10" b="1">
                <a:solidFill>
                  <a:srgbClr val="404040"/>
                </a:solidFill>
                <a:latin typeface="Times New Roman"/>
                <a:cs typeface="Times New Roman"/>
              </a:rPr>
              <a:t>Customers</a:t>
            </a:r>
            <a:r>
              <a:rPr dirty="0" sz="2200" spc="4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404040"/>
                </a:solidFill>
                <a:latin typeface="Times New Roman"/>
                <a:cs typeface="Times New Roman"/>
              </a:rPr>
              <a:t>End-Users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305435" indent="-183515">
              <a:lnSpc>
                <a:spcPct val="100000"/>
              </a:lnSpc>
              <a:spcBef>
                <a:spcPts val="130"/>
              </a:spcBef>
              <a:buClr>
                <a:srgbClr val="E38312"/>
              </a:buClr>
              <a:buFont typeface="Calibri"/>
              <a:buChar char="◦"/>
              <a:tabLst>
                <a:tab pos="306070" algn="l"/>
              </a:tabLst>
            </a:pPr>
            <a:r>
              <a:rPr dirty="0" sz="2200" spc="-10" b="1">
                <a:solidFill>
                  <a:srgbClr val="404040"/>
                </a:solidFill>
                <a:latin typeface="Times New Roman"/>
                <a:cs typeface="Times New Roman"/>
              </a:rPr>
              <a:t>Role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: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ultimate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recipients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 of</a:t>
            </a:r>
            <a:r>
              <a:rPr dirty="0" sz="22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software.</a:t>
            </a:r>
            <a:endParaRPr sz="2200">
              <a:latin typeface="Times New Roman"/>
              <a:cs typeface="Times New Roman"/>
            </a:endParaRPr>
          </a:p>
          <a:p>
            <a:pPr marL="305435" marR="9525" indent="-182880">
              <a:lnSpc>
                <a:spcPts val="2380"/>
              </a:lnSpc>
              <a:spcBef>
                <a:spcPts val="645"/>
              </a:spcBef>
              <a:buClr>
                <a:srgbClr val="E38312"/>
              </a:buClr>
              <a:buFont typeface="Calibri"/>
              <a:buChar char="◦"/>
              <a:tabLst>
                <a:tab pos="306070" algn="l"/>
                <a:tab pos="1471295" algn="l"/>
                <a:tab pos="2203450" algn="l"/>
                <a:tab pos="2710815" algn="l"/>
                <a:tab pos="3959225" algn="l"/>
                <a:tab pos="4339590" algn="l"/>
                <a:tab pos="5409565" algn="l"/>
                <a:tab pos="6777355" algn="l"/>
                <a:tab pos="7343775" algn="l"/>
                <a:tab pos="8944610" algn="l"/>
              </a:tabLst>
            </a:pPr>
            <a:r>
              <a:rPr dirty="0" sz="2200" b="1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20" b="1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50" b="1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es</a:t>
            </a:r>
            <a:r>
              <a:rPr dirty="0" sz="2200" spc="25" b="1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te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ested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15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elia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le,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un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cti</a:t>
            </a:r>
            <a:r>
              <a:rPr dirty="0" sz="2200" spc="-30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al,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u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5">
                <a:solidFill>
                  <a:srgbClr val="404040"/>
                </a:solidFill>
                <a:latin typeface="Times New Roman"/>
                <a:cs typeface="Times New Roman"/>
              </a:rPr>
              <a:t>-</a:t>
            </a:r>
            <a:r>
              <a:rPr dirty="0" sz="2200" spc="15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ie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dirty="0" sz="2200" spc="30">
                <a:solidFill>
                  <a:srgbClr val="404040"/>
                </a:solidFill>
                <a:latin typeface="Times New Roman"/>
                <a:cs typeface="Times New Roman"/>
              </a:rPr>
              <a:t>l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w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e. 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Continuous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feedback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dirty="0" sz="2200" spc="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customers</a:t>
            </a:r>
            <a:r>
              <a:rPr dirty="0" sz="2200" spc="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is crucial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2200" spc="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iterative</a:t>
            </a:r>
            <a:r>
              <a:rPr dirty="0" sz="2200" spc="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improvement.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1419692"/>
            <a:ext cx="10457815" cy="332422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2200" b="1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dirty="0" sz="2200" spc="-8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Leadership</a:t>
            </a:r>
            <a:r>
              <a:rPr dirty="0" sz="2200" spc="3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200" spc="-1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305435" indent="-184150">
              <a:lnSpc>
                <a:spcPct val="100000"/>
              </a:lnSpc>
              <a:spcBef>
                <a:spcPts val="130"/>
              </a:spcBef>
              <a:buClr>
                <a:srgbClr val="E38312"/>
              </a:buClr>
              <a:buFont typeface="Calibri"/>
              <a:buChar char="◦"/>
              <a:tabLst>
                <a:tab pos="306070" algn="l"/>
              </a:tabLst>
            </a:pPr>
            <a:r>
              <a:rPr dirty="0" sz="2200" spc="-10" b="1">
                <a:solidFill>
                  <a:srgbClr val="404040"/>
                </a:solidFill>
                <a:latin typeface="Times New Roman"/>
                <a:cs typeface="Times New Roman"/>
              </a:rPr>
              <a:t>Role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22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Provide</a:t>
            </a:r>
            <a:r>
              <a:rPr dirty="0" sz="2200" spc="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strategic</a:t>
            </a:r>
            <a:r>
              <a:rPr dirty="0" sz="22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direction,</a:t>
            </a:r>
            <a:r>
              <a:rPr dirty="0" sz="2200" spc="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resources,</a:t>
            </a:r>
            <a:r>
              <a:rPr dirty="0" sz="2200" spc="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support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2200" spc="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 DevOps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initiatives.</a:t>
            </a:r>
            <a:endParaRPr sz="2200">
              <a:latin typeface="Times New Roman"/>
              <a:cs typeface="Times New Roman"/>
            </a:endParaRPr>
          </a:p>
          <a:p>
            <a:pPr marL="305435" indent="-184150">
              <a:lnSpc>
                <a:spcPts val="2510"/>
              </a:lnSpc>
              <a:spcBef>
                <a:spcPts val="315"/>
              </a:spcBef>
              <a:buClr>
                <a:srgbClr val="E38312"/>
              </a:buClr>
              <a:buFont typeface="Calibri"/>
              <a:buChar char="◦"/>
              <a:tabLst>
                <a:tab pos="306070" algn="l"/>
                <a:tab pos="1462405" algn="l"/>
                <a:tab pos="2193925" algn="l"/>
                <a:tab pos="2957830" algn="l"/>
                <a:tab pos="3392170" algn="l"/>
                <a:tab pos="3890645" algn="l"/>
                <a:tab pos="4824095" algn="l"/>
                <a:tab pos="6146165" algn="l"/>
                <a:tab pos="8368665" algn="l"/>
                <a:tab pos="8931275" algn="l"/>
                <a:tab pos="10207625" algn="l"/>
              </a:tabLst>
            </a:pPr>
            <a:r>
              <a:rPr dirty="0" sz="2200" b="1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20" b="1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50" b="1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es</a:t>
            </a:r>
            <a:r>
              <a:rPr dirty="0" sz="2200" spc="25" b="1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15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u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all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55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icie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dirty="0" sz="2200" spc="-210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200" spc="35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200" spc="-55">
                <a:solidFill>
                  <a:srgbClr val="404040"/>
                </a:solidFill>
                <a:latin typeface="Times New Roman"/>
                <a:cs typeface="Times New Roman"/>
              </a:rPr>
              <a:t>-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ti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es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ali</a:t>
            </a:r>
            <a:r>
              <a:rPr dirty="0" sz="2200" spc="-3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r>
              <a:rPr dirty="0" sz="2200" spc="45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endParaRPr sz="2200">
              <a:latin typeface="Times New Roman"/>
              <a:cs typeface="Times New Roman"/>
            </a:endParaRPr>
          </a:p>
          <a:p>
            <a:pPr marL="305435">
              <a:lnSpc>
                <a:spcPts val="2510"/>
              </a:lnSpc>
            </a:pP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practices</a:t>
            </a:r>
            <a:r>
              <a:rPr dirty="0" sz="22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dirty="0" sz="22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organization’s</a:t>
            </a:r>
            <a:r>
              <a:rPr dirty="0" sz="2200" spc="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goals.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2200" spc="-10" b="1">
                <a:solidFill>
                  <a:srgbClr val="404040"/>
                </a:solidFill>
                <a:latin typeface="Times New Roman"/>
                <a:cs typeface="Times New Roman"/>
              </a:rPr>
              <a:t>External</a:t>
            </a:r>
            <a:r>
              <a:rPr dirty="0" sz="2200" spc="6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Partners</a:t>
            </a:r>
            <a:r>
              <a:rPr dirty="0" sz="2200" spc="-3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200" spc="-45" b="1">
                <a:solidFill>
                  <a:srgbClr val="404040"/>
                </a:solidFill>
                <a:latin typeface="Times New Roman"/>
                <a:cs typeface="Times New Roman"/>
              </a:rPr>
              <a:t> Vendors</a:t>
            </a:r>
            <a:r>
              <a:rPr dirty="0" sz="2200" spc="-45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305435" indent="-184150">
              <a:lnSpc>
                <a:spcPct val="100000"/>
              </a:lnSpc>
              <a:spcBef>
                <a:spcPts val="170"/>
              </a:spcBef>
              <a:buClr>
                <a:srgbClr val="E38312"/>
              </a:buClr>
              <a:buFont typeface="Calibri"/>
              <a:buChar char="◦"/>
              <a:tabLst>
                <a:tab pos="306070" algn="l"/>
              </a:tabLst>
            </a:pPr>
            <a:r>
              <a:rPr dirty="0" sz="2200" spc="-10" b="1">
                <a:solidFill>
                  <a:srgbClr val="404040"/>
                </a:solidFill>
                <a:latin typeface="Times New Roman"/>
                <a:cs typeface="Times New Roman"/>
              </a:rPr>
              <a:t>Role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2200" spc="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Supply</a:t>
            </a:r>
            <a:r>
              <a:rPr dirty="0" sz="22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necessary</a:t>
            </a:r>
            <a:r>
              <a:rPr dirty="0" sz="22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tools,</a:t>
            </a:r>
            <a:r>
              <a:rPr dirty="0" sz="22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technologies,</a:t>
            </a:r>
            <a:r>
              <a:rPr dirty="0" sz="2200" spc="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services.</a:t>
            </a:r>
            <a:endParaRPr sz="2200">
              <a:latin typeface="Times New Roman"/>
              <a:cs typeface="Times New Roman"/>
            </a:endParaRPr>
          </a:p>
          <a:p>
            <a:pPr marL="305435" marR="10795" indent="-183515">
              <a:lnSpc>
                <a:spcPts val="2380"/>
              </a:lnSpc>
              <a:spcBef>
                <a:spcPts val="610"/>
              </a:spcBef>
              <a:buClr>
                <a:srgbClr val="E38312"/>
              </a:buClr>
              <a:buFont typeface="Calibri"/>
              <a:buChar char="◦"/>
              <a:tabLst>
                <a:tab pos="306070" algn="l"/>
              </a:tabLst>
            </a:pP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Interest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: 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They</a:t>
            </a:r>
            <a:r>
              <a:rPr dirty="0" sz="2200" spc="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dirty="0" sz="2200" spc="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interested</a:t>
            </a:r>
            <a:r>
              <a:rPr dirty="0" sz="2200" spc="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200" spc="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maintaining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symbiotic</a:t>
            </a:r>
            <a:r>
              <a:rPr dirty="0" sz="22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relationship</a:t>
            </a:r>
            <a:r>
              <a:rPr dirty="0" sz="2200" spc="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where</a:t>
            </a:r>
            <a:r>
              <a:rPr dirty="0" sz="22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their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tools</a:t>
            </a:r>
            <a:r>
              <a:rPr dirty="0" sz="22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200" spc="-5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services</a:t>
            </a:r>
            <a:r>
              <a:rPr dirty="0" sz="22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effectively</a:t>
            </a:r>
            <a:r>
              <a:rPr dirty="0" sz="2200" spc="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support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organization’s</a:t>
            </a:r>
            <a:r>
              <a:rPr dirty="0" sz="2200" spc="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r>
              <a:rPr dirty="0" sz="22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objectives.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5775" y="3106572"/>
            <a:ext cx="7103109" cy="7562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40">
                <a:latin typeface="Calibri Light"/>
                <a:cs typeface="Calibri Light"/>
              </a:rPr>
              <a:t>SDLC</a:t>
            </a:r>
            <a:r>
              <a:rPr dirty="0" sz="4800" spc="-145">
                <a:latin typeface="Calibri Light"/>
                <a:cs typeface="Calibri Light"/>
              </a:rPr>
              <a:t> </a:t>
            </a:r>
            <a:r>
              <a:rPr dirty="0" sz="4800" spc="-45">
                <a:latin typeface="Calibri Light"/>
                <a:cs typeface="Calibri Light"/>
              </a:rPr>
              <a:t>Models,</a:t>
            </a:r>
            <a:r>
              <a:rPr dirty="0" sz="4800" spc="-125">
                <a:latin typeface="Calibri Light"/>
                <a:cs typeface="Calibri Light"/>
              </a:rPr>
              <a:t> </a:t>
            </a:r>
            <a:r>
              <a:rPr dirty="0" sz="4800" spc="-30">
                <a:latin typeface="Calibri Light"/>
                <a:cs typeface="Calibri Light"/>
              </a:rPr>
              <a:t>Lean,</a:t>
            </a:r>
            <a:r>
              <a:rPr dirty="0" sz="4800" spc="-150">
                <a:latin typeface="Calibri Light"/>
                <a:cs typeface="Calibri Light"/>
              </a:rPr>
              <a:t> </a:t>
            </a:r>
            <a:r>
              <a:rPr dirty="0" sz="4800" spc="-35">
                <a:latin typeface="Calibri Light"/>
                <a:cs typeface="Calibri Light"/>
              </a:rPr>
              <a:t>ITIL,</a:t>
            </a:r>
            <a:r>
              <a:rPr dirty="0" sz="4800" spc="-114">
                <a:latin typeface="Calibri Light"/>
                <a:cs typeface="Calibri Light"/>
              </a:rPr>
              <a:t> </a:t>
            </a:r>
            <a:r>
              <a:rPr dirty="0" sz="4800" spc="-45">
                <a:latin typeface="Calibri Light"/>
                <a:cs typeface="Calibri Light"/>
              </a:rPr>
              <a:t>Agile</a:t>
            </a:r>
            <a:endParaRPr sz="4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873" y="820877"/>
            <a:ext cx="2920365" cy="7556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40">
                <a:latin typeface="Calibri Light"/>
                <a:cs typeface="Calibri Light"/>
              </a:rPr>
              <a:t>SDLC</a:t>
            </a:r>
            <a:r>
              <a:rPr dirty="0" sz="4800" spc="-195">
                <a:latin typeface="Calibri Light"/>
                <a:cs typeface="Calibri Light"/>
              </a:rPr>
              <a:t> </a:t>
            </a:r>
            <a:r>
              <a:rPr dirty="0" sz="4800" spc="-40">
                <a:latin typeface="Calibri Light"/>
                <a:cs typeface="Calibri Light"/>
              </a:rPr>
              <a:t>Model</a:t>
            </a:r>
            <a:endParaRPr sz="48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1959" y="1325880"/>
            <a:ext cx="4809744" cy="4809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15695"/>
            <a:ext cx="1175385" cy="7562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30">
                <a:latin typeface="Calibri Light"/>
                <a:cs typeface="Calibri Light"/>
              </a:rPr>
              <a:t>Lea</a:t>
            </a:r>
            <a:r>
              <a:rPr dirty="0" sz="4800" spc="-5">
                <a:latin typeface="Calibri Light"/>
                <a:cs typeface="Calibri Light"/>
              </a:rPr>
              <a:t>n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324" y="1829511"/>
            <a:ext cx="9829800" cy="188976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algn="just" marL="12700" marR="680720">
              <a:lnSpc>
                <a:spcPts val="2590"/>
              </a:lnSpc>
              <a:spcBef>
                <a:spcPts val="440"/>
              </a:spcBef>
            </a:pP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Lean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DevOps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about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delivering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outcomes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matter. 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It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combines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5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principles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Lean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with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Continuous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Delivery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service ownership of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590"/>
              </a:lnSpc>
              <a:spcBef>
                <a:spcPts val="1420"/>
              </a:spcBef>
            </a:pP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Lean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a structured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process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organizes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tasks and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allows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oversight.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Instead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400" spc="-5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5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common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stages,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 Lean</a:t>
            </a:r>
            <a:r>
              <a:rPr dirty="0" sz="2400" spc="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has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5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core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principles.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1353388"/>
            <a:ext cx="10430510" cy="474091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 marR="87630">
              <a:lnSpc>
                <a:spcPct val="80600"/>
              </a:lnSpc>
              <a:spcBef>
                <a:spcPts val="550"/>
              </a:spcBef>
            </a:pPr>
            <a:r>
              <a:rPr dirty="0" sz="1900" spc="-5" b="1">
                <a:solidFill>
                  <a:srgbClr val="404040"/>
                </a:solidFill>
                <a:latin typeface="Times New Roman"/>
                <a:cs typeface="Times New Roman"/>
              </a:rPr>
              <a:t>Define </a:t>
            </a:r>
            <a:r>
              <a:rPr dirty="0" sz="1900" spc="5" b="1">
                <a:solidFill>
                  <a:srgbClr val="404040"/>
                </a:solidFill>
                <a:latin typeface="Times New Roman"/>
                <a:cs typeface="Times New Roman"/>
              </a:rPr>
              <a:t>a value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: </a:t>
            </a:r>
            <a:r>
              <a:rPr dirty="0" sz="1900" spc="15">
                <a:solidFill>
                  <a:srgbClr val="404040"/>
                </a:solidFill>
                <a:latin typeface="Times New Roman"/>
                <a:cs typeface="Times New Roman"/>
              </a:rPr>
              <a:t>Which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activities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are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time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wasters? </a:t>
            </a:r>
            <a:r>
              <a:rPr dirty="0" sz="1900" spc="15">
                <a:solidFill>
                  <a:srgbClr val="404040"/>
                </a:solidFill>
                <a:latin typeface="Times New Roman"/>
                <a:cs typeface="Times New Roman"/>
              </a:rPr>
              <a:t>Which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ones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add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value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project?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That's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19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distinction</a:t>
            </a:r>
            <a:r>
              <a:rPr dirty="0" sz="1900" spc="-1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you</a:t>
            </a:r>
            <a:r>
              <a:rPr dirty="0" sz="19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must</a:t>
            </a:r>
            <a:r>
              <a:rPr dirty="0" sz="19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make</a:t>
            </a:r>
            <a:r>
              <a:rPr dirty="0" sz="19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here.</a:t>
            </a:r>
            <a:r>
              <a:rPr dirty="0" sz="19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Consider</a:t>
            </a:r>
            <a:r>
              <a:rPr dirty="0" sz="1900" spc="-1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your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customers.</a:t>
            </a:r>
            <a:r>
              <a:rPr dirty="0" sz="1900" spc="-1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Does</a:t>
            </a:r>
            <a:r>
              <a:rPr dirty="0" sz="19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your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effort</a:t>
            </a:r>
            <a:r>
              <a:rPr dirty="0" sz="19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provide</a:t>
            </a:r>
            <a:r>
              <a:rPr dirty="0" sz="1900" spc="-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value</a:t>
            </a:r>
            <a:r>
              <a:rPr dirty="0" sz="19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19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them,</a:t>
            </a:r>
            <a:r>
              <a:rPr dirty="0" sz="19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whether </a:t>
            </a:r>
            <a:r>
              <a:rPr dirty="0" sz="1900" spc="-459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directly</a:t>
            </a:r>
            <a:r>
              <a:rPr dirty="0" sz="1900" spc="-10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dirty="0" sz="19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indirectly?</a:t>
            </a:r>
            <a:endParaRPr sz="1900">
              <a:latin typeface="Times New Roman"/>
              <a:cs typeface="Times New Roman"/>
            </a:endParaRPr>
          </a:p>
          <a:p>
            <a:pPr marL="12700" marR="5080">
              <a:lnSpc>
                <a:spcPct val="80100"/>
              </a:lnSpc>
              <a:spcBef>
                <a:spcPts val="1380"/>
              </a:spcBef>
            </a:pPr>
            <a:r>
              <a:rPr dirty="0" sz="1900" spc="10" b="1">
                <a:solidFill>
                  <a:srgbClr val="404040"/>
                </a:solidFill>
                <a:latin typeface="Times New Roman"/>
                <a:cs typeface="Times New Roman"/>
              </a:rPr>
              <a:t>Map </a:t>
            </a:r>
            <a:r>
              <a:rPr dirty="0" sz="1900" spc="-15" b="1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1900" b="1">
                <a:solidFill>
                  <a:srgbClr val="404040"/>
                </a:solidFill>
                <a:latin typeface="Times New Roman"/>
                <a:cs typeface="Times New Roman"/>
              </a:rPr>
              <a:t>value </a:t>
            </a:r>
            <a:r>
              <a:rPr dirty="0" sz="1900" spc="-10" b="1">
                <a:solidFill>
                  <a:srgbClr val="404040"/>
                </a:solidFill>
                <a:latin typeface="Times New Roman"/>
                <a:cs typeface="Times New Roman"/>
              </a:rPr>
              <a:t>stream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: </a:t>
            </a:r>
            <a:r>
              <a:rPr dirty="0" sz="1900" spc="15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second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principle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requires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a visualization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your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customer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value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activities.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This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lets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you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keep the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project on task and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moving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forward,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especially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if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you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use an </a:t>
            </a:r>
            <a:r>
              <a:rPr dirty="0" sz="1900" spc="-20">
                <a:solidFill>
                  <a:srgbClr val="404040"/>
                </a:solidFill>
                <a:latin typeface="Times New Roman"/>
                <a:cs typeface="Times New Roman"/>
              </a:rPr>
              <a:t>Agile</a:t>
            </a:r>
            <a:r>
              <a:rPr dirty="0" u="heavy" sz="1900" spc="-20">
                <a:solidFill>
                  <a:srgbClr val="404040"/>
                </a:solidFill>
                <a:uFill>
                  <a:solidFill>
                    <a:srgbClr val="2997E2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project </a:t>
            </a:r>
            <a:r>
              <a:rPr dirty="0" sz="19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dirty="0" sz="19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style,</a:t>
            </a:r>
            <a:r>
              <a:rPr dirty="0" sz="1900" spc="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such</a:t>
            </a:r>
            <a:r>
              <a:rPr dirty="0" sz="1900" spc="-1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scrum.</a:t>
            </a:r>
            <a:r>
              <a:rPr dirty="0" sz="19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55">
                <a:solidFill>
                  <a:srgbClr val="404040"/>
                </a:solidFill>
                <a:latin typeface="Times New Roman"/>
                <a:cs typeface="Times New Roman"/>
              </a:rPr>
              <a:t>You</a:t>
            </a:r>
            <a:r>
              <a:rPr dirty="0" sz="19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dirty="0" sz="19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dirty="0" sz="19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Kanban</a:t>
            </a:r>
            <a:r>
              <a:rPr dirty="0" sz="1900" spc="-1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board,</a:t>
            </a:r>
            <a:r>
              <a:rPr dirty="0" sz="19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such</a:t>
            </a:r>
            <a:r>
              <a:rPr dirty="0" sz="19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dirty="0" sz="19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19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5">
                <a:solidFill>
                  <a:srgbClr val="404040"/>
                </a:solidFill>
                <a:latin typeface="Times New Roman"/>
                <a:cs typeface="Times New Roman"/>
              </a:rPr>
              <a:t>one</a:t>
            </a:r>
            <a:r>
              <a:rPr dirty="0" sz="19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offered</a:t>
            </a:r>
            <a:r>
              <a:rPr dirty="0" sz="19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  <a:hlinkClick r:id="rId2"/>
              </a:rPr>
              <a:t>n</a:t>
            </a:r>
            <a:r>
              <a:rPr dirty="0" sz="1900" spc="45">
                <a:solidFill>
                  <a:srgbClr val="404040"/>
                </a:solidFill>
                <a:latin typeface="Times New Roman"/>
                <a:cs typeface="Times New Roman"/>
                <a:hlinkClick r:id="rId2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Jira</a:t>
            </a:r>
            <a:r>
              <a:rPr dirty="0" sz="19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Software,</a:t>
            </a:r>
            <a:r>
              <a:rPr dirty="0" sz="19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for </a:t>
            </a:r>
            <a:r>
              <a:rPr dirty="0" sz="1900" spc="-459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this.</a:t>
            </a:r>
            <a:endParaRPr sz="1900">
              <a:latin typeface="Times New Roman"/>
              <a:cs typeface="Times New Roman"/>
            </a:endParaRPr>
          </a:p>
          <a:p>
            <a:pPr marL="12700" marR="232410">
              <a:lnSpc>
                <a:spcPct val="79800"/>
              </a:lnSpc>
              <a:spcBef>
                <a:spcPts val="1420"/>
              </a:spcBef>
            </a:pPr>
            <a:r>
              <a:rPr dirty="0" sz="1900" b="1">
                <a:solidFill>
                  <a:srgbClr val="404040"/>
                </a:solidFill>
                <a:latin typeface="Times New Roman"/>
                <a:cs typeface="Times New Roman"/>
              </a:rPr>
              <a:t>Create </a:t>
            </a:r>
            <a:r>
              <a:rPr dirty="0" sz="1900" spc="5" b="1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1900" b="1">
                <a:solidFill>
                  <a:srgbClr val="404040"/>
                </a:solidFill>
                <a:latin typeface="Times New Roman"/>
                <a:cs typeface="Times New Roman"/>
              </a:rPr>
              <a:t>flow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: </a:t>
            </a:r>
            <a:r>
              <a:rPr dirty="0" sz="1900" spc="-55">
                <a:solidFill>
                  <a:srgbClr val="404040"/>
                </a:solidFill>
                <a:latin typeface="Times New Roman"/>
                <a:cs typeface="Times New Roman"/>
              </a:rPr>
              <a:t>You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want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your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project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flow </a:t>
            </a:r>
            <a:r>
              <a:rPr dirty="0" sz="1900" spc="-20">
                <a:solidFill>
                  <a:srgbClr val="404040"/>
                </a:solidFill>
                <a:latin typeface="Times New Roman"/>
                <a:cs typeface="Times New Roman"/>
              </a:rPr>
              <a:t>seamlessly.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Any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blockage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can be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detrimental.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Keep an </a:t>
            </a:r>
            <a:r>
              <a:rPr dirty="0" sz="1900" spc="-15">
                <a:solidFill>
                  <a:srgbClr val="404040"/>
                </a:solidFill>
                <a:latin typeface="Times New Roman"/>
                <a:cs typeface="Times New Roman"/>
              </a:rPr>
              <a:t>eye </a:t>
            </a:r>
            <a:r>
              <a:rPr dirty="0" sz="1900" spc="-459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out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for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any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potential clots.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If </a:t>
            </a:r>
            <a:r>
              <a:rPr dirty="0" sz="1900" spc="15">
                <a:solidFill>
                  <a:srgbClr val="404040"/>
                </a:solidFill>
                <a:latin typeface="Times New Roman"/>
                <a:cs typeface="Times New Roman"/>
              </a:rPr>
              <a:t>one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occurs,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analyze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what caused it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1900" spc="15">
                <a:solidFill>
                  <a:srgbClr val="404040"/>
                </a:solidFill>
                <a:latin typeface="Times New Roman"/>
                <a:cs typeface="Times New Roman"/>
              </a:rPr>
              <a:t>how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to avoid it.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For example, clots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tend</a:t>
            </a:r>
            <a:r>
              <a:rPr dirty="0" sz="19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19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form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while</a:t>
            </a:r>
            <a:r>
              <a:rPr dirty="0" sz="19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awaiting</a:t>
            </a:r>
            <a:r>
              <a:rPr dirty="0" sz="1900" spc="-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stakeholder</a:t>
            </a:r>
            <a:r>
              <a:rPr dirty="0" sz="19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feedback.</a:t>
            </a:r>
            <a:r>
              <a:rPr dirty="0" sz="19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Prevent</a:t>
            </a:r>
            <a:r>
              <a:rPr dirty="0" sz="1900" spc="-1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dirty="0" sz="19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dirty="0" sz="19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limiting</a:t>
            </a:r>
            <a:r>
              <a:rPr dirty="0" sz="19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19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chunks</a:t>
            </a:r>
            <a:r>
              <a:rPr dirty="0" sz="1900" spc="-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19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work</a:t>
            </a:r>
            <a:r>
              <a:rPr dirty="0" sz="19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19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15">
                <a:solidFill>
                  <a:srgbClr val="404040"/>
                </a:solidFill>
                <a:latin typeface="Times New Roman"/>
                <a:cs typeface="Times New Roman"/>
              </a:rPr>
              <a:t>review.</a:t>
            </a:r>
            <a:endParaRPr sz="1900">
              <a:latin typeface="Times New Roman"/>
              <a:cs typeface="Times New Roman"/>
            </a:endParaRPr>
          </a:p>
          <a:p>
            <a:pPr marL="12700" marR="182880">
              <a:lnSpc>
                <a:spcPct val="79800"/>
              </a:lnSpc>
              <a:spcBef>
                <a:spcPts val="1425"/>
              </a:spcBef>
            </a:pPr>
            <a:r>
              <a:rPr dirty="0" sz="1900" spc="5" b="1">
                <a:solidFill>
                  <a:srgbClr val="404040"/>
                </a:solidFill>
                <a:latin typeface="Times New Roman"/>
                <a:cs typeface="Times New Roman"/>
              </a:rPr>
              <a:t>Establish</a:t>
            </a:r>
            <a:r>
              <a:rPr dirty="0" sz="1900" spc="-6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10" b="1">
                <a:solidFill>
                  <a:srgbClr val="404040"/>
                </a:solidFill>
                <a:latin typeface="Times New Roman"/>
                <a:cs typeface="Times New Roman"/>
              </a:rPr>
              <a:t>pull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 Shoving</a:t>
            </a:r>
            <a:r>
              <a:rPr dirty="0" sz="19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new</a:t>
            </a:r>
            <a:r>
              <a:rPr dirty="0" sz="19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work</a:t>
            </a:r>
            <a:r>
              <a:rPr dirty="0" sz="19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dirty="0" sz="19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your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team</a:t>
            </a:r>
            <a:r>
              <a:rPr dirty="0" sz="19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when</a:t>
            </a:r>
            <a:r>
              <a:rPr dirty="0" sz="19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they're</a:t>
            </a:r>
            <a:r>
              <a:rPr dirty="0" sz="19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dirty="0" sz="19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capacity</a:t>
            </a:r>
            <a:r>
              <a:rPr dirty="0" sz="1900" spc="-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dirty="0" sz="19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hinder</a:t>
            </a:r>
            <a:r>
              <a:rPr dirty="0" sz="1900" spc="-10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30">
                <a:solidFill>
                  <a:srgbClr val="404040"/>
                </a:solidFill>
                <a:latin typeface="Times New Roman"/>
                <a:cs typeface="Times New Roman"/>
              </a:rPr>
              <a:t>flow.</a:t>
            </a:r>
            <a:r>
              <a:rPr dirty="0" sz="19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Start</a:t>
            </a:r>
            <a:r>
              <a:rPr dirty="0" sz="19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new</a:t>
            </a:r>
            <a:r>
              <a:rPr dirty="0" sz="19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work </a:t>
            </a:r>
            <a:r>
              <a:rPr dirty="0" sz="1900" spc="-459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only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when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there's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demand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your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team has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time.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pull system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creates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work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queue,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meaning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team </a:t>
            </a:r>
            <a:r>
              <a:rPr dirty="0" sz="19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member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without</a:t>
            </a:r>
            <a:r>
              <a:rPr dirty="0" sz="1900" spc="-1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current</a:t>
            </a:r>
            <a:r>
              <a:rPr dirty="0" sz="19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work</a:t>
            </a:r>
            <a:r>
              <a:rPr dirty="0" sz="1900" spc="-1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dirty="0" sz="19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pull</a:t>
            </a:r>
            <a:r>
              <a:rPr dirty="0" sz="19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19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first</a:t>
            </a:r>
            <a:r>
              <a:rPr dirty="0" sz="19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high-priority</a:t>
            </a:r>
            <a:r>
              <a:rPr dirty="0" sz="1900" spc="-1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ticket</a:t>
            </a:r>
            <a:r>
              <a:rPr dirty="0" sz="19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19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focus</a:t>
            </a:r>
            <a:r>
              <a:rPr dirty="0" sz="19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on.</a:t>
            </a:r>
            <a:endParaRPr sz="1900">
              <a:latin typeface="Times New Roman"/>
              <a:cs typeface="Times New Roman"/>
            </a:endParaRPr>
          </a:p>
          <a:p>
            <a:pPr marL="12700" marR="121920">
              <a:lnSpc>
                <a:spcPct val="80100"/>
              </a:lnSpc>
              <a:spcBef>
                <a:spcPts val="1415"/>
              </a:spcBef>
            </a:pPr>
            <a:r>
              <a:rPr dirty="0" sz="1900" spc="5" b="1">
                <a:solidFill>
                  <a:srgbClr val="404040"/>
                </a:solidFill>
                <a:latin typeface="Times New Roman"/>
                <a:cs typeface="Times New Roman"/>
              </a:rPr>
              <a:t>Seek </a:t>
            </a:r>
            <a:r>
              <a:rPr dirty="0" sz="1900" spc="-5" b="1">
                <a:solidFill>
                  <a:srgbClr val="404040"/>
                </a:solidFill>
                <a:latin typeface="Times New Roman"/>
                <a:cs typeface="Times New Roman"/>
              </a:rPr>
              <a:t>perfection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: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Continuous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improvement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foundation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Lean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project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management. </a:t>
            </a:r>
            <a:r>
              <a:rPr dirty="0" sz="1900" spc="-55">
                <a:solidFill>
                  <a:srgbClr val="404040"/>
                </a:solidFill>
                <a:latin typeface="Times New Roman"/>
                <a:cs typeface="Times New Roman"/>
              </a:rPr>
              <a:t>You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your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team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should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be better than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you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were </a:t>
            </a:r>
            <a:r>
              <a:rPr dirty="0" sz="1900" spc="-15">
                <a:solidFill>
                  <a:srgbClr val="404040"/>
                </a:solidFill>
                <a:latin typeface="Times New Roman"/>
                <a:cs typeface="Times New Roman"/>
              </a:rPr>
              <a:t>yesterday.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Analyze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performance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identify opportunities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for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 improvement.</a:t>
            </a:r>
            <a:r>
              <a:rPr dirty="0" sz="1900" spc="-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Remember,</a:t>
            </a:r>
            <a:r>
              <a:rPr dirty="0" sz="19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you</a:t>
            </a:r>
            <a:r>
              <a:rPr dirty="0" sz="19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want</a:t>
            </a:r>
            <a:r>
              <a:rPr dirty="0" sz="19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 ensure</a:t>
            </a:r>
            <a:r>
              <a:rPr dirty="0" sz="1900" spc="-1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you're</a:t>
            </a:r>
            <a:r>
              <a:rPr dirty="0" sz="19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providing</a:t>
            </a:r>
            <a:r>
              <a:rPr dirty="0" sz="1900" spc="-1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customer</a:t>
            </a:r>
            <a:r>
              <a:rPr dirty="0" sz="19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value.</a:t>
            </a:r>
            <a:r>
              <a:rPr dirty="0" sz="19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dirty="0" sz="19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something</a:t>
            </a:r>
            <a:r>
              <a:rPr dirty="0" sz="1900" spc="-1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5">
                <a:solidFill>
                  <a:srgbClr val="404040"/>
                </a:solidFill>
                <a:latin typeface="Times New Roman"/>
                <a:cs typeface="Times New Roman"/>
              </a:rPr>
              <a:t>isn't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working, </a:t>
            </a:r>
            <a:r>
              <a:rPr dirty="0" sz="1900" spc="-459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examine</a:t>
            </a:r>
            <a:r>
              <a:rPr dirty="0" sz="1900" spc="-1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why</a:t>
            </a:r>
            <a:r>
              <a:rPr dirty="0" sz="19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19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-10">
                <a:solidFill>
                  <a:srgbClr val="404040"/>
                </a:solidFill>
                <a:latin typeface="Times New Roman"/>
                <a:cs typeface="Times New Roman"/>
              </a:rPr>
              <a:t>make</a:t>
            </a:r>
            <a:r>
              <a:rPr dirty="0" sz="19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>
                <a:solidFill>
                  <a:srgbClr val="404040"/>
                </a:solidFill>
                <a:latin typeface="Times New Roman"/>
                <a:cs typeface="Times New Roman"/>
              </a:rPr>
              <a:t>incremental</a:t>
            </a:r>
            <a:r>
              <a:rPr dirty="0" sz="1900" spc="-10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changes</a:t>
            </a:r>
            <a:r>
              <a:rPr dirty="0" sz="1900" spc="-10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dirty="0" sz="1900" spc="-1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dirty="0" sz="19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1900" spc="10">
                <a:solidFill>
                  <a:srgbClr val="404040"/>
                </a:solidFill>
                <a:latin typeface="Times New Roman"/>
                <a:cs typeface="Times New Roman"/>
              </a:rPr>
              <a:t>that.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3133" y="858723"/>
            <a:ext cx="439801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Calibri"/>
                <a:cs typeface="Calibri"/>
              </a:rPr>
              <a:t>DevOps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vs.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Lean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principles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5215" y="1467358"/>
            <a:ext cx="10386695" cy="4290060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algn="just" marL="12700" marR="5080">
              <a:lnSpc>
                <a:spcPct val="79800"/>
              </a:lnSpc>
              <a:spcBef>
                <a:spcPts val="630"/>
              </a:spcBef>
            </a:pP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Customer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orientation: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Both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methods 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give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importance to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customer. </a:t>
            </a:r>
            <a:r>
              <a:rPr dirty="0" sz="2200" spc="-3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Lean, 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you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choose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customer value activities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matter.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DevOps creates customer 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empathy image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mapping, </a:t>
            </a:r>
            <a:r>
              <a:rPr dirty="0" sz="2200" spc="-5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breaks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down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 business</a:t>
            </a:r>
            <a:r>
              <a:rPr dirty="0" sz="22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goals</a:t>
            </a:r>
            <a:r>
              <a:rPr dirty="0" sz="22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something</a:t>
            </a:r>
            <a:r>
              <a:rPr dirty="0" sz="22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meaningful</a:t>
            </a:r>
            <a:r>
              <a:rPr dirty="0" sz="2200" spc="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22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client.</a:t>
            </a:r>
            <a:endParaRPr sz="2200">
              <a:latin typeface="Times New Roman"/>
              <a:cs typeface="Times New Roman"/>
            </a:endParaRPr>
          </a:p>
          <a:p>
            <a:pPr algn="just" marL="12700">
              <a:lnSpc>
                <a:spcPts val="2380"/>
              </a:lnSpc>
              <a:spcBef>
                <a:spcPts val="850"/>
              </a:spcBef>
            </a:pP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Focus: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Lean</a:t>
            </a:r>
            <a:r>
              <a:rPr dirty="0" sz="22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principles</a:t>
            </a:r>
            <a:r>
              <a:rPr dirty="0" sz="22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seek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1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2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optimize</a:t>
            </a:r>
            <a:r>
              <a:rPr dirty="0" sz="2200" spc="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across</a:t>
            </a:r>
            <a:r>
              <a:rPr dirty="0" sz="2200" spc="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entire</a:t>
            </a:r>
            <a:r>
              <a:rPr dirty="0" sz="2200" spc="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project.</a:t>
            </a:r>
            <a:r>
              <a:rPr dirty="0" sz="22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r>
              <a:rPr dirty="0" sz="22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wants</a:t>
            </a:r>
            <a:r>
              <a:rPr dirty="0" sz="22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2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integrate</a:t>
            </a:r>
            <a:endParaRPr sz="2200">
              <a:latin typeface="Times New Roman"/>
              <a:cs typeface="Times New Roman"/>
            </a:endParaRPr>
          </a:p>
          <a:p>
            <a:pPr algn="just" marL="12700">
              <a:lnSpc>
                <a:spcPts val="2380"/>
              </a:lnSpc>
            </a:pP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development</a:t>
            </a:r>
            <a:r>
              <a:rPr dirty="0" sz="22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operations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through</a:t>
            </a:r>
            <a:r>
              <a:rPr dirty="0" sz="2200" spc="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cross-collaboration</a:t>
            </a:r>
            <a:r>
              <a:rPr dirty="0" sz="2200" spc="1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documentation.</a:t>
            </a:r>
            <a:endParaRPr sz="2200">
              <a:latin typeface="Times New Roman"/>
              <a:cs typeface="Times New Roman"/>
            </a:endParaRPr>
          </a:p>
          <a:p>
            <a:pPr algn="just" marL="12700" marR="6985">
              <a:lnSpc>
                <a:spcPct val="79800"/>
              </a:lnSpc>
              <a:spcBef>
                <a:spcPts val="1425"/>
              </a:spcBef>
            </a:pP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Execution vs. 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vision: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Lean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is all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about improving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execution for a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better result, 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but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DevOps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 has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loftier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 goals.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 leverages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cross-functional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teams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automation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effect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 systemic </a:t>
            </a:r>
            <a:r>
              <a:rPr dirty="0" sz="2200" spc="-5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changes in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35">
                <a:solidFill>
                  <a:srgbClr val="404040"/>
                </a:solidFill>
                <a:latin typeface="Times New Roman"/>
                <a:cs typeface="Times New Roman"/>
              </a:rPr>
              <a:t>company.</a:t>
            </a:r>
            <a:endParaRPr sz="2200">
              <a:latin typeface="Times New Roman"/>
              <a:cs typeface="Times New Roman"/>
            </a:endParaRPr>
          </a:p>
          <a:p>
            <a:pPr algn="just" marL="12700" marR="6985">
              <a:lnSpc>
                <a:spcPct val="79800"/>
              </a:lnSpc>
              <a:spcBef>
                <a:spcPts val="1425"/>
              </a:spcBef>
            </a:pP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Automation: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DevOps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is all about automation.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Lean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isn't. </a:t>
            </a:r>
            <a:r>
              <a:rPr dirty="0" sz="2200" spc="-35">
                <a:solidFill>
                  <a:srgbClr val="404040"/>
                </a:solidFill>
                <a:latin typeface="Times New Roman"/>
                <a:cs typeface="Times New Roman"/>
              </a:rPr>
              <a:t>With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automation, DevOps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employs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 tech to check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deploy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code,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run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tests, and 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pull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requests.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dirty="0" sz="2200" spc="-50">
                <a:solidFill>
                  <a:srgbClr val="404040"/>
                </a:solidFill>
                <a:latin typeface="Times New Roman"/>
                <a:cs typeface="Times New Roman"/>
              </a:rPr>
              <a:t>way,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someone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on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your 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team </a:t>
            </a:r>
            <a:r>
              <a:rPr dirty="0" sz="2200" spc="-5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won’t</a:t>
            </a:r>
            <a:r>
              <a:rPr dirty="0" sz="2200" spc="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need</a:t>
            </a:r>
            <a:r>
              <a:rPr dirty="0" sz="22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 do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dirty="0" sz="22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30">
                <a:solidFill>
                  <a:srgbClr val="404040"/>
                </a:solidFill>
                <a:latin typeface="Times New Roman"/>
                <a:cs typeface="Times New Roman"/>
              </a:rPr>
              <a:t>manually.</a:t>
            </a:r>
            <a:endParaRPr sz="2200">
              <a:latin typeface="Times New Roman"/>
              <a:cs typeface="Times New Roman"/>
            </a:endParaRPr>
          </a:p>
          <a:p>
            <a:pPr algn="just" marL="12700">
              <a:lnSpc>
                <a:spcPts val="2380"/>
              </a:lnSpc>
              <a:spcBef>
                <a:spcPts val="855"/>
              </a:spcBef>
            </a:pP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Timelines:</a:t>
            </a:r>
            <a:r>
              <a:rPr dirty="0" sz="2200" spc="1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Lean</a:t>
            </a:r>
            <a:r>
              <a:rPr dirty="0" sz="2200" spc="1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timelines</a:t>
            </a:r>
            <a:r>
              <a:rPr dirty="0" sz="2200" spc="1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center</a:t>
            </a:r>
            <a:r>
              <a:rPr dirty="0" sz="2200" spc="1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around</a:t>
            </a:r>
            <a:r>
              <a:rPr dirty="0" sz="2200" spc="204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sprints,</a:t>
            </a:r>
            <a:r>
              <a:rPr dirty="0" sz="2200" spc="1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dirty="0" sz="2200" spc="2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could</a:t>
            </a:r>
            <a:r>
              <a:rPr dirty="0" sz="2200" spc="2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stretch</a:t>
            </a:r>
            <a:r>
              <a:rPr dirty="0" sz="2200" spc="1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dirty="0" sz="2200" spc="1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months.</a:t>
            </a:r>
            <a:r>
              <a:rPr dirty="0" sz="2200" spc="1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endParaRPr sz="2200">
              <a:latin typeface="Times New Roman"/>
              <a:cs typeface="Times New Roman"/>
            </a:endParaRPr>
          </a:p>
          <a:p>
            <a:pPr algn="just" marL="12700">
              <a:lnSpc>
                <a:spcPts val="2380"/>
              </a:lnSpc>
            </a:pP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sometimes</a:t>
            </a:r>
            <a:r>
              <a:rPr dirty="0" sz="22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requires</a:t>
            </a:r>
            <a:r>
              <a:rPr dirty="0" sz="2200" spc="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delivery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dirty="0" sz="22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dirty="0" sz="22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hourly</a:t>
            </a:r>
            <a:r>
              <a:rPr dirty="0" sz="22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basis.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1016279"/>
            <a:ext cx="1014730" cy="6356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25">
                <a:latin typeface="Calibri Light"/>
                <a:cs typeface="Calibri Light"/>
              </a:rPr>
              <a:t>A</a:t>
            </a:r>
            <a:r>
              <a:rPr dirty="0" sz="4000" spc="-35">
                <a:latin typeface="Calibri Light"/>
                <a:cs typeface="Calibri Light"/>
              </a:rPr>
              <a:t>g</a:t>
            </a:r>
            <a:r>
              <a:rPr dirty="0" sz="4000" spc="-15">
                <a:latin typeface="Calibri Light"/>
                <a:cs typeface="Calibri Light"/>
              </a:rPr>
              <a:t>il</a:t>
            </a:r>
            <a:r>
              <a:rPr dirty="0" sz="4000">
                <a:latin typeface="Calibri Light"/>
                <a:cs typeface="Calibri Light"/>
              </a:rPr>
              <a:t>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4884" y="1811223"/>
            <a:ext cx="10093325" cy="199136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12700" marR="5080" indent="914400">
              <a:lnSpc>
                <a:spcPts val="3030"/>
              </a:lnSpc>
              <a:spcBef>
                <a:spcPts val="484"/>
              </a:spcBef>
            </a:pP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Agile</a:t>
            </a:r>
            <a:r>
              <a:rPr dirty="0" sz="2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04040"/>
                </a:solidFill>
                <a:latin typeface="Calibri"/>
                <a:cs typeface="Calibri"/>
              </a:rPr>
              <a:t>iterative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approach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project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management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software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development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2800" spc="6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focuses</a:t>
            </a:r>
            <a:r>
              <a:rPr dirty="0" sz="2800" spc="6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Calibri"/>
                <a:cs typeface="Calibri"/>
              </a:rPr>
              <a:t>collaboration,</a:t>
            </a:r>
            <a:r>
              <a:rPr dirty="0" sz="2800" spc="60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customer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feedback,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rapid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releases. It arose 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in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the early 2000s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from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software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development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04040"/>
                </a:solidFill>
                <a:latin typeface="Calibri"/>
                <a:cs typeface="Calibri"/>
              </a:rPr>
              <a:t>industry,</a:t>
            </a:r>
            <a:r>
              <a:rPr dirty="0" sz="28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helping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development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teams</a:t>
            </a:r>
            <a:r>
              <a:rPr dirty="0" sz="2800" spc="6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react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 and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adapt</a:t>
            </a:r>
            <a:r>
              <a:rPr dirty="0" sz="28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2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changing</a:t>
            </a:r>
            <a:r>
              <a:rPr dirty="0" sz="28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Calibri"/>
                <a:cs typeface="Calibri"/>
              </a:rPr>
              <a:t>market</a:t>
            </a:r>
            <a:r>
              <a:rPr dirty="0" sz="28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conditions</a:t>
            </a:r>
            <a:r>
              <a:rPr dirty="0" sz="2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Calibri"/>
                <a:cs typeface="Calibri"/>
              </a:rPr>
              <a:t>customer</a:t>
            </a:r>
            <a:r>
              <a:rPr dirty="0" sz="28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04040"/>
                </a:solidFill>
                <a:latin typeface="Calibri"/>
                <a:cs typeface="Calibri"/>
              </a:rPr>
              <a:t>demands.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1829511"/>
            <a:ext cx="10001250" cy="323469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40"/>
              </a:spcBef>
            </a:pP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Agile</a:t>
            </a:r>
            <a:r>
              <a:rPr dirty="0" sz="2400" spc="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emphasizes</a:t>
            </a:r>
            <a:r>
              <a:rPr dirty="0" sz="2400" spc="1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collaboration</a:t>
            </a:r>
            <a:r>
              <a:rPr dirty="0" sz="2400" spc="1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between</a:t>
            </a:r>
            <a:r>
              <a:rPr dirty="0" sz="2400" spc="1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developers</a:t>
            </a:r>
            <a:r>
              <a:rPr dirty="0" sz="2400" spc="1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1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product</a:t>
            </a:r>
            <a:r>
              <a:rPr dirty="0" sz="2400" spc="114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dirty="0" sz="2400" spc="1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— </a:t>
            </a:r>
            <a:r>
              <a:rPr dirty="0" sz="2400" spc="-5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DevOps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includes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operations</a:t>
            </a:r>
            <a:r>
              <a:rPr dirty="0" sz="24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team</a:t>
            </a:r>
            <a:endParaRPr sz="2400">
              <a:latin typeface="Times New Roman"/>
              <a:cs typeface="Times New Roman"/>
            </a:endParaRPr>
          </a:p>
          <a:p>
            <a:pPr marL="12700" marR="8255">
              <a:lnSpc>
                <a:spcPts val="2590"/>
              </a:lnSpc>
              <a:spcBef>
                <a:spcPts val="1415"/>
              </a:spcBef>
            </a:pP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Agile</a:t>
            </a:r>
            <a:r>
              <a:rPr dirty="0" sz="2400" spc="1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centers</a:t>
            </a:r>
            <a:r>
              <a:rPr dirty="0" sz="2400" spc="1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1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flow</a:t>
            </a:r>
            <a:r>
              <a:rPr dirty="0" sz="2400" spc="10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400" spc="1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dirty="0" sz="2400" spc="1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dirty="0" sz="2400" spc="1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ideation</a:t>
            </a:r>
            <a:r>
              <a:rPr dirty="0" sz="2400" spc="1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400" spc="1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code</a:t>
            </a:r>
            <a:r>
              <a:rPr dirty="0" sz="2400" spc="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completion</a:t>
            </a:r>
            <a:r>
              <a:rPr dirty="0" sz="2400" spc="1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—</a:t>
            </a:r>
            <a:r>
              <a:rPr dirty="0" sz="2400" spc="1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DevOps </a:t>
            </a:r>
            <a:r>
              <a:rPr dirty="0" sz="2400" spc="-5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extends</a:t>
            </a:r>
            <a:r>
              <a:rPr dirty="0" sz="24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focus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delivery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maintenance</a:t>
            </a:r>
            <a:endParaRPr sz="2400">
              <a:latin typeface="Times New Roman"/>
              <a:cs typeface="Times New Roman"/>
            </a:endParaRPr>
          </a:p>
          <a:p>
            <a:pPr marL="12700" marR="10160">
              <a:lnSpc>
                <a:spcPts val="2590"/>
              </a:lnSpc>
              <a:spcBef>
                <a:spcPts val="1410"/>
              </a:spcBef>
            </a:pP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Agile</a:t>
            </a:r>
            <a:r>
              <a:rPr dirty="0" sz="2400" spc="3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emphasizes</a:t>
            </a:r>
            <a:r>
              <a:rPr dirty="0" sz="2400" spc="3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iterative</a:t>
            </a:r>
            <a:r>
              <a:rPr dirty="0" sz="2400" spc="3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development</a:t>
            </a:r>
            <a:r>
              <a:rPr dirty="0" sz="2400" spc="3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3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small</a:t>
            </a:r>
            <a:r>
              <a:rPr dirty="0" sz="2400" spc="3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batches</a:t>
            </a:r>
            <a:r>
              <a:rPr dirty="0" sz="2400" spc="3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—</a:t>
            </a:r>
            <a:r>
              <a:rPr dirty="0" sz="2400" spc="3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r>
              <a:rPr dirty="0" sz="2400" spc="3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focuses </a:t>
            </a:r>
            <a:r>
              <a:rPr dirty="0" sz="2400" spc="-5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more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dirty="0" sz="24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test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delivery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automation</a:t>
            </a:r>
            <a:endParaRPr sz="2400">
              <a:latin typeface="Times New Roman"/>
              <a:cs typeface="Times New Roman"/>
            </a:endParaRPr>
          </a:p>
          <a:p>
            <a:pPr marL="12700" marR="11430">
              <a:lnSpc>
                <a:spcPts val="2590"/>
              </a:lnSpc>
              <a:spcBef>
                <a:spcPts val="1415"/>
              </a:spcBef>
              <a:tabLst>
                <a:tab pos="821690" algn="l"/>
                <a:tab pos="1521460" algn="l"/>
                <a:tab pos="2720340" algn="l"/>
                <a:tab pos="3094990" algn="l"/>
                <a:tab pos="4197350" algn="l"/>
                <a:tab pos="4961255" algn="l"/>
                <a:tab pos="5450840" algn="l"/>
                <a:tab pos="6900545" algn="l"/>
                <a:tab pos="7343775" algn="l"/>
                <a:tab pos="8478520" algn="l"/>
              </a:tabLst>
            </a:pP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l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 spc="20">
                <a:solidFill>
                  <a:srgbClr val="404040"/>
                </a:solidFill>
                <a:latin typeface="Times New Roman"/>
                <a:cs typeface="Times New Roman"/>
              </a:rPr>
              <a:t>dd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400" spc="-5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400" spc="20">
                <a:solidFill>
                  <a:srgbClr val="404040"/>
                </a:solidFill>
                <a:latin typeface="Times New Roman"/>
                <a:cs typeface="Times New Roman"/>
              </a:rPr>
              <a:t>u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400" spc="20">
                <a:solidFill>
                  <a:srgbClr val="404040"/>
                </a:solidFill>
                <a:latin typeface="Times New Roman"/>
                <a:cs typeface="Times New Roman"/>
              </a:rPr>
              <a:t>u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l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w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400" spc="2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l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—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400" spc="2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400" spc="-5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po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s 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unplanned</a:t>
            </a:r>
            <a:r>
              <a:rPr dirty="0" sz="2400" spc="-1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work</a:t>
            </a:r>
            <a:r>
              <a:rPr dirty="0" sz="2400" spc="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common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operations</a:t>
            </a:r>
            <a:r>
              <a:rPr dirty="0" sz="24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teams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1169670"/>
            <a:ext cx="58166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25">
                <a:solidFill>
                  <a:srgbClr val="404040"/>
                </a:solidFill>
                <a:latin typeface="Calibri Light"/>
                <a:cs typeface="Calibri Light"/>
              </a:rPr>
              <a:t>I</a:t>
            </a:r>
            <a:r>
              <a:rPr dirty="0" sz="3200" spc="-35">
                <a:solidFill>
                  <a:srgbClr val="404040"/>
                </a:solidFill>
                <a:latin typeface="Calibri Light"/>
                <a:cs typeface="Calibri Light"/>
              </a:rPr>
              <a:t>T</a:t>
            </a:r>
            <a:r>
              <a:rPr dirty="0" sz="3200" spc="-25">
                <a:solidFill>
                  <a:srgbClr val="404040"/>
                </a:solidFill>
                <a:latin typeface="Calibri Light"/>
                <a:cs typeface="Calibri Light"/>
              </a:rPr>
              <a:t>I</a:t>
            </a:r>
            <a:r>
              <a:rPr dirty="0" sz="3200">
                <a:solidFill>
                  <a:srgbClr val="404040"/>
                </a:solidFill>
                <a:latin typeface="Calibri Light"/>
                <a:cs typeface="Calibri Light"/>
              </a:rPr>
              <a:t>L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324" y="1829511"/>
            <a:ext cx="9999345" cy="88201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just" marL="12700" marR="5080">
              <a:lnSpc>
                <a:spcPts val="2160"/>
              </a:lnSpc>
              <a:spcBef>
                <a:spcPts val="390"/>
              </a:spcBef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ITIL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(Information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Technology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Infrastructure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Library)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 is</a:t>
            </a:r>
            <a:r>
              <a:rPr dirty="0" sz="20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20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15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2000" spc="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guidelines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5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 service </a:t>
            </a:r>
            <a:r>
              <a:rPr dirty="0" sz="20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management. 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The guidelines cover best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practices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and tried-and-true 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processes </a:t>
            </a:r>
            <a:r>
              <a:rPr dirty="0" sz="2000" spc="-15">
                <a:solidFill>
                  <a:srgbClr val="404040"/>
                </a:solidFill>
                <a:latin typeface="Calibri"/>
                <a:cs typeface="Calibri"/>
              </a:rPr>
              <a:t>for 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everything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u="heavy" sz="2000" spc="-5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incident</a:t>
            </a:r>
            <a:r>
              <a:rPr dirty="0" u="heavy" sz="2000" spc="-15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management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u="heavy" sz="200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problem</a:t>
            </a:r>
            <a:r>
              <a:rPr dirty="0" u="heavy" sz="2000" spc="-45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management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u="heavy" sz="200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change</a:t>
            </a:r>
            <a:r>
              <a:rPr dirty="0" u="heavy" sz="2000" spc="-5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00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management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3394" y="1061669"/>
            <a:ext cx="386016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5">
                <a:latin typeface="Calibri Light"/>
                <a:cs typeface="Calibri Light"/>
              </a:rPr>
              <a:t>Li</a:t>
            </a:r>
            <a:r>
              <a:rPr dirty="0" sz="4000" spc="-160">
                <a:latin typeface="Calibri Light"/>
                <a:cs typeface="Calibri Light"/>
              </a:rPr>
              <a:t>f</a:t>
            </a:r>
            <a:r>
              <a:rPr dirty="0" sz="4000" spc="-40">
                <a:latin typeface="Calibri Light"/>
                <a:cs typeface="Calibri Light"/>
              </a:rPr>
              <a:t>e</a:t>
            </a:r>
            <a:r>
              <a:rPr dirty="0" sz="4000" spc="-55">
                <a:latin typeface="Calibri Light"/>
                <a:cs typeface="Calibri Light"/>
              </a:rPr>
              <a:t>c</a:t>
            </a:r>
            <a:r>
              <a:rPr dirty="0" sz="4000" spc="-80">
                <a:latin typeface="Calibri Light"/>
                <a:cs typeface="Calibri Light"/>
              </a:rPr>
              <a:t>y</a:t>
            </a:r>
            <a:r>
              <a:rPr dirty="0" sz="4000" spc="-90">
                <a:latin typeface="Calibri Light"/>
                <a:cs typeface="Calibri Light"/>
              </a:rPr>
              <a:t>c</a:t>
            </a:r>
            <a:r>
              <a:rPr dirty="0" sz="4000" spc="-25">
                <a:latin typeface="Calibri Light"/>
                <a:cs typeface="Calibri Light"/>
              </a:rPr>
              <a:t>l</a:t>
            </a:r>
            <a:r>
              <a:rPr dirty="0" sz="4000" spc="-5">
                <a:latin typeface="Calibri Light"/>
                <a:cs typeface="Calibri Light"/>
              </a:rPr>
              <a:t>e</a:t>
            </a:r>
            <a:r>
              <a:rPr dirty="0" sz="4000" spc="-220">
                <a:latin typeface="Calibri Light"/>
                <a:cs typeface="Calibri Light"/>
              </a:rPr>
              <a:t> </a:t>
            </a:r>
            <a:r>
              <a:rPr dirty="0" sz="4000" spc="-40">
                <a:latin typeface="Calibri Light"/>
                <a:cs typeface="Calibri Light"/>
              </a:rPr>
              <a:t>o</a:t>
            </a:r>
            <a:r>
              <a:rPr dirty="0" sz="4000" spc="-5">
                <a:latin typeface="Calibri Light"/>
                <a:cs typeface="Calibri Light"/>
              </a:rPr>
              <a:t>f</a:t>
            </a:r>
            <a:r>
              <a:rPr dirty="0" sz="4000" spc="-120">
                <a:latin typeface="Calibri Light"/>
                <a:cs typeface="Calibri Light"/>
              </a:rPr>
              <a:t> </a:t>
            </a:r>
            <a:r>
              <a:rPr dirty="0" sz="4000" spc="-60">
                <a:latin typeface="Calibri Light"/>
                <a:cs typeface="Calibri Light"/>
              </a:rPr>
              <a:t>D</a:t>
            </a:r>
            <a:r>
              <a:rPr dirty="0" sz="4000" spc="-75">
                <a:latin typeface="Calibri Light"/>
                <a:cs typeface="Calibri Light"/>
              </a:rPr>
              <a:t>e</a:t>
            </a:r>
            <a:r>
              <a:rPr dirty="0" sz="4000" spc="-40">
                <a:latin typeface="Calibri Light"/>
                <a:cs typeface="Calibri Light"/>
              </a:rPr>
              <a:t>v</a:t>
            </a:r>
            <a:r>
              <a:rPr dirty="0" sz="4000" spc="-35">
                <a:latin typeface="Calibri Light"/>
                <a:cs typeface="Calibri Light"/>
              </a:rPr>
              <a:t>O</a:t>
            </a:r>
            <a:r>
              <a:rPr dirty="0" sz="4000" spc="-70">
                <a:latin typeface="Calibri Light"/>
                <a:cs typeface="Calibri Light"/>
              </a:rPr>
              <a:t>p</a:t>
            </a:r>
            <a:r>
              <a:rPr dirty="0" sz="4000" spc="-5">
                <a:latin typeface="Calibri Light"/>
                <a:cs typeface="Calibri Light"/>
              </a:rPr>
              <a:t>s</a:t>
            </a:r>
            <a:endParaRPr sz="40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2283" y="2322576"/>
            <a:ext cx="6537959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15695"/>
            <a:ext cx="4584700" cy="7562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40">
                <a:latin typeface="Calibri Light"/>
                <a:cs typeface="Calibri Light"/>
              </a:rPr>
              <a:t>Benefits</a:t>
            </a:r>
            <a:r>
              <a:rPr dirty="0" sz="4800" spc="-195">
                <a:latin typeface="Calibri Light"/>
                <a:cs typeface="Calibri Light"/>
              </a:rPr>
              <a:t> </a:t>
            </a:r>
            <a:r>
              <a:rPr dirty="0" sz="4800" spc="-35">
                <a:latin typeface="Calibri Light"/>
                <a:cs typeface="Calibri Light"/>
              </a:rPr>
              <a:t>of</a:t>
            </a:r>
            <a:r>
              <a:rPr dirty="0" sz="4800" spc="-105">
                <a:latin typeface="Calibri Light"/>
                <a:cs typeface="Calibri Light"/>
              </a:rPr>
              <a:t> </a:t>
            </a:r>
            <a:r>
              <a:rPr dirty="0" sz="4800" spc="-45">
                <a:latin typeface="Calibri Light"/>
                <a:cs typeface="Calibri Light"/>
              </a:rPr>
              <a:t>DevOps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324" y="1684233"/>
            <a:ext cx="2449830" cy="274320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Speed</a:t>
            </a:r>
            <a:endParaRPr sz="2000">
              <a:latin typeface="Calibri"/>
              <a:cs typeface="Calibri"/>
            </a:endParaRPr>
          </a:p>
          <a:p>
            <a:pPr marL="12700" marR="934085">
              <a:lnSpc>
                <a:spcPct val="148600"/>
              </a:lnSpc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Rapid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Delivery </a:t>
            </a:r>
            <a:r>
              <a:rPr dirty="0" sz="2000" spc="-4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Reliability 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Calibri"/>
                <a:cs typeface="Calibri"/>
              </a:rPr>
              <a:t>Scale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48600"/>
              </a:lnSpc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Improved</a:t>
            </a:r>
            <a:r>
              <a:rPr dirty="0" sz="20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collaboration </a:t>
            </a:r>
            <a:r>
              <a:rPr dirty="0" sz="2000" spc="-4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10">
                <a:solidFill>
                  <a:srgbClr val="404040"/>
                </a:solidFill>
                <a:latin typeface="Calibri"/>
                <a:cs typeface="Calibri"/>
              </a:rPr>
              <a:t>Security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15695"/>
            <a:ext cx="9155430" cy="7562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60">
                <a:latin typeface="Calibri Light"/>
                <a:cs typeface="Calibri Light"/>
              </a:rPr>
              <a:t>Configuration</a:t>
            </a:r>
            <a:r>
              <a:rPr dirty="0" sz="4800" spc="-135">
                <a:latin typeface="Calibri Light"/>
                <a:cs typeface="Calibri Light"/>
              </a:rPr>
              <a:t> </a:t>
            </a:r>
            <a:r>
              <a:rPr dirty="0" sz="4800" spc="-50">
                <a:latin typeface="Calibri Light"/>
                <a:cs typeface="Calibri Light"/>
              </a:rPr>
              <a:t>management</a:t>
            </a:r>
            <a:r>
              <a:rPr dirty="0" sz="4800" spc="-175">
                <a:latin typeface="Calibri Light"/>
                <a:cs typeface="Calibri Light"/>
              </a:rPr>
              <a:t> </a:t>
            </a:r>
            <a:r>
              <a:rPr dirty="0" sz="4800" spc="-35">
                <a:latin typeface="Calibri Light"/>
                <a:cs typeface="Calibri Light"/>
              </a:rPr>
              <a:t>in</a:t>
            </a:r>
            <a:r>
              <a:rPr dirty="0" sz="4800" spc="-80">
                <a:latin typeface="Calibri Light"/>
                <a:cs typeface="Calibri Light"/>
              </a:rPr>
              <a:t> </a:t>
            </a:r>
            <a:r>
              <a:rPr dirty="0" sz="4800" spc="-45">
                <a:latin typeface="Calibri Light"/>
                <a:cs typeface="Calibri Light"/>
              </a:rPr>
              <a:t>DevOps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324" y="1829511"/>
            <a:ext cx="10005060" cy="353695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just" marL="12700" marR="5080">
              <a:lnSpc>
                <a:spcPct val="90100"/>
              </a:lnSpc>
              <a:spcBef>
                <a:spcPts val="400"/>
              </a:spcBef>
            </a:pP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Configuration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occurs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when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configuration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platform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used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 spc="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automate,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monitor,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design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manage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otherwise</a:t>
            </a:r>
            <a:r>
              <a:rPr dirty="0" sz="2400" spc="5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manual</a:t>
            </a:r>
            <a:r>
              <a:rPr dirty="0" sz="2400" spc="6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configuration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processes. System-wide changes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take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place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across servers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networks,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storage,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applications,</a:t>
            </a:r>
            <a:r>
              <a:rPr dirty="0" sz="2400" spc="-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other</a:t>
            </a:r>
            <a:r>
              <a:rPr dirty="0" sz="24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managed</a:t>
            </a:r>
            <a:r>
              <a:rPr dirty="0" sz="24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systems.</a:t>
            </a:r>
            <a:endParaRPr sz="2400">
              <a:latin typeface="Times New Roman"/>
              <a:cs typeface="Times New Roman"/>
            </a:endParaRPr>
          </a:p>
          <a:p>
            <a:pPr algn="just" marL="12700" marR="11430">
              <a:lnSpc>
                <a:spcPct val="90000"/>
              </a:lnSpc>
              <a:spcBef>
                <a:spcPts val="1405"/>
              </a:spcBef>
            </a:pP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number of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tools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are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available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for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those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seeking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implement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configuration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management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their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organizations.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Puppet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has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carried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torch in pioneering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configuration management,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but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other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companies like Chef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Red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Hat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also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offer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intriguing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suites of products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enhance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configuration management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processes.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Proper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configuration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core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continuous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testing</a:t>
            </a:r>
            <a:r>
              <a:rPr dirty="0" sz="2400" spc="5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30">
                <a:solidFill>
                  <a:srgbClr val="404040"/>
                </a:solidFill>
                <a:latin typeface="Times New Roman"/>
                <a:cs typeface="Times New Roman"/>
              </a:rPr>
              <a:t>delivery,</a:t>
            </a:r>
            <a:r>
              <a:rPr dirty="0" sz="24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two</a:t>
            </a:r>
            <a:r>
              <a:rPr dirty="0" sz="2400" spc="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key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benefits</a:t>
            </a:r>
            <a:r>
              <a:rPr dirty="0" sz="24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 DevOps.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2627" y="2580208"/>
            <a:ext cx="9999345" cy="122237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just" marL="12700" marR="5080">
              <a:lnSpc>
                <a:spcPct val="90000"/>
              </a:lnSpc>
              <a:spcBef>
                <a:spcPts val="445"/>
              </a:spcBef>
            </a:pP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Configuration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management takes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 the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primary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responsibility </a:t>
            </a:r>
            <a:r>
              <a:rPr dirty="0" sz="2800" spc="10">
                <a:solidFill>
                  <a:srgbClr val="404040"/>
                </a:solidFill>
                <a:latin typeface="Times New Roman"/>
                <a:cs typeface="Times New Roman"/>
              </a:rPr>
              <a:t>for </a:t>
            </a:r>
            <a:r>
              <a:rPr dirty="0" sz="28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three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broad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categories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required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DevOps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transformation: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identification,</a:t>
            </a:r>
            <a:r>
              <a:rPr dirty="0" sz="28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control,</a:t>
            </a:r>
            <a:r>
              <a:rPr dirty="0" sz="28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8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audit</a:t>
            </a:r>
            <a:r>
              <a:rPr dirty="0" sz="28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processes.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3996" y="1126693"/>
            <a:ext cx="866330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solidFill>
                  <a:srgbClr val="000000"/>
                </a:solidFill>
                <a:latin typeface="Calibri"/>
                <a:cs typeface="Calibri"/>
              </a:rPr>
              <a:t>Components:</a:t>
            </a:r>
            <a:r>
              <a:rPr dirty="0" sz="32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000000"/>
                </a:solidFill>
                <a:latin typeface="Calibri"/>
                <a:cs typeface="Calibri"/>
              </a:rPr>
              <a:t>Configuration</a:t>
            </a:r>
            <a:r>
              <a:rPr dirty="0" sz="3200" spc="7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000000"/>
                </a:solidFill>
                <a:latin typeface="Calibri"/>
                <a:cs typeface="Calibri"/>
              </a:rPr>
              <a:t>Management</a:t>
            </a:r>
            <a:r>
              <a:rPr dirty="0" sz="32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dirty="0" sz="3200" spc="-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000000"/>
                </a:solidFill>
                <a:latin typeface="Calibri"/>
                <a:cs typeface="Calibri"/>
              </a:rPr>
              <a:t>DevOps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4034" y="1177239"/>
            <a:ext cx="10440670" cy="371538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2735"/>
              </a:lnSpc>
              <a:spcBef>
                <a:spcPts val="115"/>
              </a:spcBef>
            </a:pPr>
            <a:r>
              <a:rPr dirty="0" sz="2400" b="1">
                <a:solidFill>
                  <a:srgbClr val="404040"/>
                </a:solidFill>
                <a:latin typeface="Times New Roman"/>
                <a:cs typeface="Times New Roman"/>
              </a:rPr>
              <a:t>Identification: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35"/>
              </a:lnSpc>
            </a:pP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process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finding</a:t>
            </a:r>
            <a:r>
              <a:rPr dirty="0" sz="2400" spc="-1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cataloging</a:t>
            </a:r>
            <a:r>
              <a:rPr dirty="0" sz="24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system-wide</a:t>
            </a:r>
            <a:r>
              <a:rPr dirty="0" sz="2400" spc="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configuration</a:t>
            </a:r>
            <a:r>
              <a:rPr dirty="0" sz="24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needs.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35"/>
              </a:lnSpc>
              <a:spcBef>
                <a:spcPts val="1115"/>
              </a:spcBef>
            </a:pPr>
            <a:r>
              <a:rPr dirty="0" sz="2400" b="1">
                <a:solidFill>
                  <a:srgbClr val="404040"/>
                </a:solidFill>
                <a:latin typeface="Times New Roman"/>
                <a:cs typeface="Times New Roman"/>
              </a:rPr>
              <a:t>Control:</a:t>
            </a:r>
            <a:endParaRPr sz="2400">
              <a:latin typeface="Times New Roman"/>
              <a:cs typeface="Times New Roman"/>
            </a:endParaRPr>
          </a:p>
          <a:p>
            <a:pPr marL="12700" marR="64769">
              <a:lnSpc>
                <a:spcPct val="90100"/>
              </a:lnSpc>
              <a:spcBef>
                <a:spcPts val="145"/>
              </a:spcBef>
            </a:pP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During</a:t>
            </a:r>
            <a:r>
              <a:rPr dirty="0" sz="24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configuration</a:t>
            </a:r>
            <a:r>
              <a:rPr dirty="0" sz="2400" spc="-10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control,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dirty="0" sz="2400" spc="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see</a:t>
            </a:r>
            <a:r>
              <a:rPr dirty="0" sz="24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importance</a:t>
            </a:r>
            <a:r>
              <a:rPr dirty="0" sz="2400" spc="-1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change</a:t>
            </a:r>
            <a:r>
              <a:rPr dirty="0" sz="24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management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work. </a:t>
            </a:r>
            <a:r>
              <a:rPr dirty="0" sz="2400" spc="-5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5">
                <a:solidFill>
                  <a:srgbClr val="404040"/>
                </a:solidFill>
                <a:latin typeface="Times New Roman"/>
                <a:cs typeface="Times New Roman"/>
              </a:rPr>
              <a:t>It’s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highly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likely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configuration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needs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will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change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over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time,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configuration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control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allows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this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happen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in a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controlled way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as to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not destabilize integrations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existing</a:t>
            </a:r>
            <a:r>
              <a:rPr dirty="0" sz="24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infrastructure.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35"/>
              </a:lnSpc>
              <a:spcBef>
                <a:spcPts val="1115"/>
              </a:spcBef>
            </a:pPr>
            <a:r>
              <a:rPr dirty="0" sz="2400" spc="-5" b="1">
                <a:solidFill>
                  <a:srgbClr val="404040"/>
                </a:solidFill>
                <a:latin typeface="Times New Roman"/>
                <a:cs typeface="Times New Roman"/>
              </a:rPr>
              <a:t>Audit: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590"/>
              </a:lnSpc>
              <a:spcBef>
                <a:spcPts val="190"/>
              </a:spcBef>
            </a:pP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Like</a:t>
            </a:r>
            <a:r>
              <a:rPr dirty="0" sz="2400" spc="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most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audit</a:t>
            </a:r>
            <a:r>
              <a:rPr dirty="0" sz="2400" spc="-1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processes,</a:t>
            </a:r>
            <a:r>
              <a:rPr dirty="0" sz="24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configuration</a:t>
            </a:r>
            <a:r>
              <a:rPr dirty="0" sz="24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audit</a:t>
            </a:r>
            <a:r>
              <a:rPr dirty="0" sz="2400" spc="-1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review</a:t>
            </a:r>
            <a:r>
              <a:rPr dirty="0" sz="24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existing</a:t>
            </a:r>
            <a:r>
              <a:rPr dirty="0" sz="24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systems</a:t>
            </a:r>
            <a:r>
              <a:rPr dirty="0" sz="2400" spc="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 spc="-5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ensure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dirty="0" sz="2400" spc="-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dirty="0" sz="24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stands</a:t>
            </a:r>
            <a:r>
              <a:rPr dirty="0" sz="24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up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compliance</a:t>
            </a:r>
            <a:r>
              <a:rPr dirty="0" sz="24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regulation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validations.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293954"/>
            <a:ext cx="9618980" cy="1377950"/>
          </a:xfrm>
          <a:prstGeom prst="rect"/>
        </p:spPr>
        <p:txBody>
          <a:bodyPr wrap="square" lIns="0" tIns="123189" rIns="0" bIns="0" rtlCol="0" vert="horz">
            <a:spAutoFit/>
          </a:bodyPr>
          <a:lstStyle/>
          <a:p>
            <a:pPr marL="12700" marR="5080">
              <a:lnSpc>
                <a:spcPts val="4900"/>
              </a:lnSpc>
              <a:spcBef>
                <a:spcPts val="969"/>
              </a:spcBef>
            </a:pPr>
            <a:r>
              <a:rPr dirty="0" sz="4800" spc="-50">
                <a:latin typeface="Calibri Light"/>
                <a:cs typeface="Calibri Light"/>
              </a:rPr>
              <a:t>Continuous</a:t>
            </a:r>
            <a:r>
              <a:rPr dirty="0" sz="4800" spc="-114">
                <a:latin typeface="Calibri Light"/>
                <a:cs typeface="Calibri Light"/>
              </a:rPr>
              <a:t> </a:t>
            </a:r>
            <a:r>
              <a:rPr dirty="0" sz="4800" spc="-65">
                <a:latin typeface="Calibri Light"/>
                <a:cs typeface="Calibri Light"/>
              </a:rPr>
              <a:t>integration</a:t>
            </a:r>
            <a:r>
              <a:rPr dirty="0" sz="4800" spc="-190">
                <a:latin typeface="Calibri Light"/>
                <a:cs typeface="Calibri Light"/>
              </a:rPr>
              <a:t> </a:t>
            </a:r>
            <a:r>
              <a:rPr dirty="0" sz="4800" spc="-30">
                <a:latin typeface="Calibri Light"/>
                <a:cs typeface="Calibri Light"/>
              </a:rPr>
              <a:t>and</a:t>
            </a:r>
            <a:r>
              <a:rPr dirty="0" sz="4800" spc="-85">
                <a:latin typeface="Calibri Light"/>
                <a:cs typeface="Calibri Light"/>
              </a:rPr>
              <a:t> </a:t>
            </a:r>
            <a:r>
              <a:rPr dirty="0" sz="4800" spc="-50">
                <a:latin typeface="Calibri Light"/>
                <a:cs typeface="Calibri Light"/>
              </a:rPr>
              <a:t>Deployment </a:t>
            </a:r>
            <a:r>
              <a:rPr dirty="0" sz="4800" spc="-1070">
                <a:latin typeface="Calibri Light"/>
                <a:cs typeface="Calibri Light"/>
              </a:rPr>
              <a:t> </a:t>
            </a:r>
            <a:r>
              <a:rPr dirty="0" sz="4800" spc="-30">
                <a:latin typeface="Calibri Light"/>
                <a:cs typeface="Calibri Light"/>
              </a:rPr>
              <a:t>in</a:t>
            </a:r>
            <a:r>
              <a:rPr dirty="0" sz="4800" spc="-90">
                <a:latin typeface="Calibri Light"/>
                <a:cs typeface="Calibri Light"/>
              </a:rPr>
              <a:t> </a:t>
            </a:r>
            <a:r>
              <a:rPr dirty="0" sz="4800" spc="-55">
                <a:latin typeface="Calibri Light"/>
                <a:cs typeface="Calibri Light"/>
              </a:rPr>
              <a:t>Devops</a:t>
            </a:r>
            <a:endParaRPr sz="48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1155" y="1847088"/>
            <a:ext cx="7466076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9555" y="684733"/>
            <a:ext cx="7736840" cy="7556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45">
                <a:latin typeface="Calibri Light"/>
                <a:cs typeface="Calibri Light"/>
              </a:rPr>
              <a:t>What</a:t>
            </a:r>
            <a:r>
              <a:rPr dirty="0" sz="4800" spc="-165">
                <a:latin typeface="Calibri Light"/>
                <a:cs typeface="Calibri Light"/>
              </a:rPr>
              <a:t> </a:t>
            </a:r>
            <a:r>
              <a:rPr dirty="0" sz="4800" spc="-35">
                <a:latin typeface="Calibri Light"/>
                <a:cs typeface="Calibri Light"/>
              </a:rPr>
              <a:t>is</a:t>
            </a:r>
            <a:r>
              <a:rPr dirty="0" sz="4800" spc="-80">
                <a:latin typeface="Calibri Light"/>
                <a:cs typeface="Calibri Light"/>
              </a:rPr>
              <a:t> </a:t>
            </a:r>
            <a:r>
              <a:rPr dirty="0" sz="4800" spc="-50">
                <a:latin typeface="Calibri Light"/>
                <a:cs typeface="Calibri Light"/>
              </a:rPr>
              <a:t>Continuous</a:t>
            </a:r>
            <a:r>
              <a:rPr dirty="0" sz="4800" spc="-160">
                <a:latin typeface="Calibri Light"/>
                <a:cs typeface="Calibri Light"/>
              </a:rPr>
              <a:t> </a:t>
            </a:r>
            <a:r>
              <a:rPr dirty="0" sz="4800" spc="-60">
                <a:latin typeface="Calibri Light"/>
                <a:cs typeface="Calibri Light"/>
              </a:rPr>
              <a:t>Integration?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324" y="2411044"/>
            <a:ext cx="10003790" cy="254825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just" marL="12700" marR="9525">
              <a:lnSpc>
                <a:spcPct val="90100"/>
              </a:lnSpc>
              <a:spcBef>
                <a:spcPts val="400"/>
              </a:spcBef>
            </a:pP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Continuous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Integration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(CI)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development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practice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enables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developers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merge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their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code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changes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the central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repository.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0">
                <a:solidFill>
                  <a:srgbClr val="404040"/>
                </a:solidFill>
                <a:latin typeface="Times New Roman"/>
                <a:cs typeface="Times New Roman"/>
              </a:rPr>
              <a:t>way,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automated builds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 tests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can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be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run. The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amendments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by 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developers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validated</a:t>
            </a:r>
            <a:r>
              <a:rPr dirty="0" sz="2400" spc="-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creating</a:t>
            </a:r>
            <a:r>
              <a:rPr dirty="0" sz="24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built</a:t>
            </a:r>
            <a:r>
              <a:rPr dirty="0" sz="24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running</a:t>
            </a:r>
            <a:r>
              <a:rPr dirty="0" sz="2400" spc="-10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automated</a:t>
            </a:r>
            <a:r>
              <a:rPr dirty="0" sz="2400" spc="-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test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against</a:t>
            </a:r>
            <a:r>
              <a:rPr dirty="0" sz="24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them.</a:t>
            </a:r>
            <a:endParaRPr sz="2400">
              <a:latin typeface="Times New Roman"/>
              <a:cs typeface="Times New Roman"/>
            </a:endParaRPr>
          </a:p>
          <a:p>
            <a:pPr algn="just" marL="12700" marR="5080">
              <a:lnSpc>
                <a:spcPts val="2590"/>
              </a:lnSpc>
              <a:spcBef>
                <a:spcPts val="1445"/>
              </a:spcBef>
            </a:pP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case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Continuous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Integration,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tremendous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amount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400" spc="5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emphasis</a:t>
            </a:r>
            <a:r>
              <a:rPr dirty="0" sz="2400" spc="5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 spc="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placed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on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testing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automation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check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on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application.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This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know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if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it 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 spc="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broken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whenever</a:t>
            </a:r>
            <a:r>
              <a:rPr dirty="0" sz="2400" spc="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new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commits</a:t>
            </a:r>
            <a:r>
              <a:rPr dirty="0" sz="24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integrated</a:t>
            </a:r>
            <a:r>
              <a:rPr dirty="0" sz="24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dirty="0" sz="24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main</a:t>
            </a:r>
            <a:r>
              <a:rPr dirty="0" sz="24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branch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4991" y="2642616"/>
            <a:ext cx="5522975" cy="24277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3127" y="764489"/>
            <a:ext cx="7054850" cy="7556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45">
                <a:latin typeface="Calibri Light"/>
                <a:cs typeface="Calibri Light"/>
              </a:rPr>
              <a:t>What</a:t>
            </a:r>
            <a:r>
              <a:rPr dirty="0" sz="4800" spc="-155">
                <a:latin typeface="Calibri Light"/>
                <a:cs typeface="Calibri Light"/>
              </a:rPr>
              <a:t> </a:t>
            </a:r>
            <a:r>
              <a:rPr dirty="0" sz="4800" spc="-35">
                <a:latin typeface="Calibri Light"/>
                <a:cs typeface="Calibri Light"/>
              </a:rPr>
              <a:t>is</a:t>
            </a:r>
            <a:r>
              <a:rPr dirty="0" sz="4800" spc="-65">
                <a:latin typeface="Calibri Light"/>
                <a:cs typeface="Calibri Light"/>
              </a:rPr>
              <a:t> </a:t>
            </a:r>
            <a:r>
              <a:rPr dirty="0" sz="4800" spc="-50">
                <a:latin typeface="Calibri Light"/>
                <a:cs typeface="Calibri Light"/>
              </a:rPr>
              <a:t>Continuous</a:t>
            </a:r>
            <a:r>
              <a:rPr dirty="0" sz="4800" spc="-145">
                <a:latin typeface="Calibri Light"/>
                <a:cs typeface="Calibri Light"/>
              </a:rPr>
              <a:t> </a:t>
            </a:r>
            <a:r>
              <a:rPr dirty="0" sz="4800" spc="-40">
                <a:latin typeface="Calibri Light"/>
                <a:cs typeface="Calibri Light"/>
              </a:rPr>
              <a:t>Delivery?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7427" y="2155697"/>
            <a:ext cx="9999980" cy="367792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just" marL="12700" marR="6350">
              <a:lnSpc>
                <a:spcPct val="80000"/>
              </a:lnSpc>
              <a:spcBef>
                <a:spcPts val="685"/>
              </a:spcBef>
            </a:pP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Continuous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Delivery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(CD)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is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practice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refers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5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building,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testing,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delivering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improvements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 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software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code.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phase is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referred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to as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the extension of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Continuous Integration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phase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make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sure that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new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changes</a:t>
            </a:r>
            <a:r>
              <a:rPr dirty="0" sz="24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be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released</a:t>
            </a:r>
            <a:r>
              <a:rPr dirty="0" sz="2400" spc="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customers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quickly</a:t>
            </a:r>
            <a:r>
              <a:rPr dirty="0" sz="2400" spc="-1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substantial</a:t>
            </a:r>
            <a:r>
              <a:rPr dirty="0" sz="2400" spc="-1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manner.</a:t>
            </a:r>
            <a:endParaRPr sz="2400">
              <a:latin typeface="Times New Roman"/>
              <a:cs typeface="Times New Roman"/>
            </a:endParaRPr>
          </a:p>
          <a:p>
            <a:pPr algn="just" marL="12700" marR="6350">
              <a:lnSpc>
                <a:spcPts val="2310"/>
              </a:lnSpc>
              <a:spcBef>
                <a:spcPts val="1385"/>
              </a:spcBef>
            </a:pP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This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can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be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simplified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as,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though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you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have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automated testing,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release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process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also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automated,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 any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deployment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dirty="0" sz="2400" spc="5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occur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at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any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time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with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just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one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click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button.</a:t>
            </a:r>
            <a:endParaRPr sz="2400">
              <a:latin typeface="Times New Roman"/>
              <a:cs typeface="Times New Roman"/>
            </a:endParaRPr>
          </a:p>
          <a:p>
            <a:pPr algn="just" marL="12700" marR="5080">
              <a:lnSpc>
                <a:spcPct val="80100"/>
              </a:lnSpc>
              <a:spcBef>
                <a:spcPts val="1415"/>
              </a:spcBef>
            </a:pP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Continuous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Delivery gives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you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power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decide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whether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make the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releases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daily, </a:t>
            </a:r>
            <a:r>
              <a:rPr dirty="0" sz="2400" spc="-35">
                <a:solidFill>
                  <a:srgbClr val="404040"/>
                </a:solidFill>
                <a:latin typeface="Times New Roman"/>
                <a:cs typeface="Times New Roman"/>
              </a:rPr>
              <a:t>weekly,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or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whenever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business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requires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it. The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maximum benefits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Continuous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Delivery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can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only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be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yielded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if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they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release small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batches,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which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are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easy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troubleshoot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dirty="0" sz="24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any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glitch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occurs.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3875" y="2048255"/>
            <a:ext cx="9107424" cy="300837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770585"/>
            <a:ext cx="8063865" cy="7556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45">
                <a:latin typeface="Calibri Light"/>
                <a:cs typeface="Calibri Light"/>
              </a:rPr>
              <a:t>What</a:t>
            </a:r>
            <a:r>
              <a:rPr dirty="0" sz="4800" spc="-140">
                <a:latin typeface="Calibri Light"/>
                <a:cs typeface="Calibri Light"/>
              </a:rPr>
              <a:t> </a:t>
            </a:r>
            <a:r>
              <a:rPr dirty="0" sz="4800" spc="-30">
                <a:latin typeface="Calibri Light"/>
                <a:cs typeface="Calibri Light"/>
              </a:rPr>
              <a:t>is</a:t>
            </a:r>
            <a:r>
              <a:rPr dirty="0" sz="4800" spc="-60">
                <a:latin typeface="Calibri Light"/>
                <a:cs typeface="Calibri Light"/>
              </a:rPr>
              <a:t> </a:t>
            </a:r>
            <a:r>
              <a:rPr dirty="0" sz="4800" spc="-50">
                <a:latin typeface="Calibri Light"/>
                <a:cs typeface="Calibri Light"/>
              </a:rPr>
              <a:t>Continuous</a:t>
            </a:r>
            <a:r>
              <a:rPr dirty="0" sz="4800" spc="-135">
                <a:latin typeface="Calibri Light"/>
                <a:cs typeface="Calibri Light"/>
              </a:rPr>
              <a:t> </a:t>
            </a:r>
            <a:r>
              <a:rPr dirty="0" sz="4800" spc="-45">
                <a:latin typeface="Calibri Light"/>
                <a:cs typeface="Calibri Light"/>
              </a:rPr>
              <a:t>Deployment?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324" y="2335148"/>
            <a:ext cx="10003790" cy="320675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just" marL="12700" marR="5080">
              <a:lnSpc>
                <a:spcPct val="90100"/>
              </a:lnSpc>
              <a:spcBef>
                <a:spcPts val="395"/>
              </a:spcBef>
            </a:pP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When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the step of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Continuous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Delivery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extended,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it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results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phase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Continuous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Deployment.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Continuous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Deployment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(CD)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final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stage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pipeline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refers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 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automatic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releasing of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any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developer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changes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from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repository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-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production.</a:t>
            </a:r>
            <a:endParaRPr sz="2400">
              <a:latin typeface="Times New Roman"/>
              <a:cs typeface="Times New Roman"/>
            </a:endParaRPr>
          </a:p>
          <a:p>
            <a:pPr algn="just" marL="12700" marR="10160">
              <a:lnSpc>
                <a:spcPct val="90100"/>
              </a:lnSpc>
              <a:spcBef>
                <a:spcPts val="1405"/>
              </a:spcBef>
            </a:pP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Continuous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Deployment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ensures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dirty="0" sz="2400" spc="5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any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change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passes</a:t>
            </a:r>
            <a:r>
              <a:rPr dirty="0" sz="2400" spc="5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through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stages </a:t>
            </a:r>
            <a:r>
              <a:rPr dirty="0" sz="2400" spc="-5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 production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released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end-users. There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absolutely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no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way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other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than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any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failure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test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that may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stop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deployment of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new changes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 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output. </a:t>
            </a:r>
            <a:r>
              <a:rPr dirty="0" sz="2400" spc="-5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This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step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a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great way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speed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up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feedback loop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with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customers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free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from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human</a:t>
            </a:r>
            <a:r>
              <a:rPr dirty="0" sz="24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intervention.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80" y="2240279"/>
            <a:ext cx="1005840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830656"/>
            <a:ext cx="4075429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45"/>
              <a:t>Linux</a:t>
            </a:r>
            <a:r>
              <a:rPr dirty="0" sz="3600" spc="-95"/>
              <a:t> </a:t>
            </a:r>
            <a:r>
              <a:rPr dirty="0" sz="3600" spc="-25"/>
              <a:t>OS</a:t>
            </a:r>
            <a:r>
              <a:rPr dirty="0" sz="3600" spc="-155"/>
              <a:t> </a:t>
            </a:r>
            <a:r>
              <a:rPr dirty="0" sz="3600" spc="-45"/>
              <a:t>Introduction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52627" y="1529537"/>
            <a:ext cx="10004425" cy="506539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algn="just" marL="12700" marR="5080">
              <a:lnSpc>
                <a:spcPct val="90100"/>
              </a:lnSpc>
              <a:spcBef>
                <a:spcPts val="440"/>
              </a:spcBef>
            </a:pP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The Linux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Operating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System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type </a:t>
            </a:r>
            <a:r>
              <a:rPr dirty="0" sz="2800" spc="-2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operating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system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dirty="0" sz="2800" spc="10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8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similar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Unix,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and it is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built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upon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Linux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Kernel. The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Linux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Kernel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like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the brain </a:t>
            </a:r>
            <a:r>
              <a:rPr dirty="0" sz="2800" spc="-2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operating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system because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it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manages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how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computer interacts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with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its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hardware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resources. </a:t>
            </a:r>
            <a:r>
              <a:rPr dirty="0" sz="2800" spc="-20">
                <a:solidFill>
                  <a:srgbClr val="404040"/>
                </a:solidFill>
                <a:latin typeface="Times New Roman"/>
                <a:cs typeface="Times New Roman"/>
              </a:rPr>
              <a:t>It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makes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sure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everything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works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smoothly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800" spc="-30">
                <a:solidFill>
                  <a:srgbClr val="404040"/>
                </a:solidFill>
                <a:latin typeface="Times New Roman"/>
                <a:cs typeface="Times New Roman"/>
              </a:rPr>
              <a:t>efficiently.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But the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Linux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Kernel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alone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not enough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make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complete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operating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system. </a:t>
            </a:r>
            <a:r>
              <a:rPr dirty="0" sz="2800" spc="-10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create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full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 and</a:t>
            </a:r>
            <a:r>
              <a:rPr dirty="0" sz="28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functional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system,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Linux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Kernel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 is</a:t>
            </a:r>
            <a:r>
              <a:rPr dirty="0" sz="28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combined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800" spc="-6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collection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packages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8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utilities,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which</a:t>
            </a:r>
            <a:r>
              <a:rPr dirty="0" sz="2800" spc="6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dirty="0" sz="2800" spc="6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together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called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Linux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distributions.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These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distributions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make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 the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Linux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Operating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ready</a:t>
            </a:r>
            <a:r>
              <a:rPr dirty="0" sz="28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users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 to</a:t>
            </a:r>
            <a:r>
              <a:rPr dirty="0" sz="28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run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their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applications</a:t>
            </a:r>
            <a:r>
              <a:rPr dirty="0" sz="2800" spc="6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perform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tasks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 their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computers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securely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8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30">
                <a:solidFill>
                  <a:srgbClr val="404040"/>
                </a:solidFill>
                <a:latin typeface="Times New Roman"/>
                <a:cs typeface="Times New Roman"/>
              </a:rPr>
              <a:t>effectively.</a:t>
            </a:r>
            <a:r>
              <a:rPr dirty="0" sz="28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Linux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distributions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come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8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different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flavors,</a:t>
            </a:r>
            <a:r>
              <a:rPr dirty="0" sz="28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each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5">
                <a:solidFill>
                  <a:srgbClr val="404040"/>
                </a:solidFill>
                <a:latin typeface="Times New Roman"/>
                <a:cs typeface="Times New Roman"/>
              </a:rPr>
              <a:t>tailored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8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suit</a:t>
            </a:r>
            <a:r>
              <a:rPr dirty="0" sz="2800" spc="7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specific</a:t>
            </a:r>
            <a:r>
              <a:rPr dirty="0" sz="28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needs</a:t>
            </a:r>
            <a:r>
              <a:rPr dirty="0" sz="2800" spc="-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5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8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preferences</a:t>
            </a:r>
            <a:r>
              <a:rPr dirty="0" sz="28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800" spc="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404040"/>
                </a:solidFill>
                <a:latin typeface="Times New Roman"/>
                <a:cs typeface="Times New Roman"/>
              </a:rPr>
              <a:t>users.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3924" y="808685"/>
            <a:ext cx="4157345" cy="7556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30">
                <a:latin typeface="Calibri Light"/>
                <a:cs typeface="Calibri Light"/>
              </a:rPr>
              <a:t>L</a:t>
            </a:r>
            <a:r>
              <a:rPr dirty="0" sz="4800" spc="-20">
                <a:latin typeface="Calibri Light"/>
                <a:cs typeface="Calibri Light"/>
              </a:rPr>
              <a:t>i</a:t>
            </a:r>
            <a:r>
              <a:rPr dirty="0" sz="4800" spc="-80">
                <a:latin typeface="Calibri Light"/>
                <a:cs typeface="Calibri Light"/>
              </a:rPr>
              <a:t>n</a:t>
            </a:r>
            <a:r>
              <a:rPr dirty="0" sz="4800" spc="-120">
                <a:latin typeface="Calibri Light"/>
                <a:cs typeface="Calibri Light"/>
              </a:rPr>
              <a:t>u</a:t>
            </a:r>
            <a:r>
              <a:rPr dirty="0" sz="4800" spc="-5">
                <a:latin typeface="Calibri Light"/>
                <a:cs typeface="Calibri Light"/>
              </a:rPr>
              <a:t>x</a:t>
            </a:r>
            <a:r>
              <a:rPr dirty="0" sz="4800" spc="-245">
                <a:latin typeface="Calibri Light"/>
                <a:cs typeface="Calibri Light"/>
              </a:rPr>
              <a:t> </a:t>
            </a:r>
            <a:r>
              <a:rPr dirty="0" sz="4800" spc="-35">
                <a:latin typeface="Calibri Light"/>
                <a:cs typeface="Calibri Light"/>
              </a:rPr>
              <a:t>D</a:t>
            </a:r>
            <a:r>
              <a:rPr dirty="0" sz="4800" spc="-60">
                <a:latin typeface="Calibri Light"/>
                <a:cs typeface="Calibri Light"/>
              </a:rPr>
              <a:t>i</a:t>
            </a:r>
            <a:r>
              <a:rPr dirty="0" sz="4800" spc="-130">
                <a:latin typeface="Calibri Light"/>
                <a:cs typeface="Calibri Light"/>
              </a:rPr>
              <a:t>s</a:t>
            </a:r>
            <a:r>
              <a:rPr dirty="0" sz="4800" spc="-70">
                <a:latin typeface="Calibri Light"/>
                <a:cs typeface="Calibri Light"/>
              </a:rPr>
              <a:t>t</a:t>
            </a:r>
            <a:r>
              <a:rPr dirty="0" sz="4800" spc="-105">
                <a:latin typeface="Calibri Light"/>
                <a:cs typeface="Calibri Light"/>
              </a:rPr>
              <a:t>r</a:t>
            </a:r>
            <a:r>
              <a:rPr dirty="0" sz="4800" spc="-60">
                <a:latin typeface="Calibri Light"/>
                <a:cs typeface="Calibri Light"/>
              </a:rPr>
              <a:t>i</a:t>
            </a:r>
            <a:r>
              <a:rPr dirty="0" sz="4800" spc="-80">
                <a:latin typeface="Calibri Light"/>
                <a:cs typeface="Calibri Light"/>
              </a:rPr>
              <a:t>b</a:t>
            </a:r>
            <a:r>
              <a:rPr dirty="0" sz="4800" spc="-120">
                <a:latin typeface="Calibri Light"/>
                <a:cs typeface="Calibri Light"/>
              </a:rPr>
              <a:t>u</a:t>
            </a:r>
            <a:r>
              <a:rPr dirty="0" sz="4800" spc="-70">
                <a:latin typeface="Calibri Light"/>
                <a:cs typeface="Calibri Light"/>
              </a:rPr>
              <a:t>t</a:t>
            </a:r>
            <a:r>
              <a:rPr dirty="0" sz="4800" spc="-90">
                <a:latin typeface="Calibri Light"/>
                <a:cs typeface="Calibri Light"/>
              </a:rPr>
              <a:t>io</a:t>
            </a:r>
            <a:r>
              <a:rPr dirty="0" sz="4800" spc="-5">
                <a:latin typeface="Calibri Light"/>
                <a:cs typeface="Calibri Light"/>
              </a:rPr>
              <a:t>n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3924" y="2411044"/>
            <a:ext cx="9999345" cy="236982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just" marL="12700" marR="5080">
              <a:lnSpc>
                <a:spcPct val="90100"/>
              </a:lnSpc>
              <a:spcBef>
                <a:spcPts val="400"/>
              </a:spcBef>
            </a:pP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Linux distribution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operating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is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made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up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collection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software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based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on Linux kernel or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you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can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say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distribution contains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Linux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kernel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and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supporting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libraries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software.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you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can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get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Linux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based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operating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downloading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one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Linux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distributions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and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these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distributions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are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available for different types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devices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like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embedded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devices,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personal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computers,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etc. Around </a:t>
            </a:r>
            <a:r>
              <a:rPr dirty="0" sz="2400" spc="5" b="1">
                <a:solidFill>
                  <a:srgbClr val="404040"/>
                </a:solidFill>
                <a:latin typeface="Times New Roman"/>
                <a:cs typeface="Times New Roman"/>
              </a:rPr>
              <a:t>600 + </a:t>
            </a:r>
            <a:r>
              <a:rPr dirty="0" sz="2400" spc="-5" b="1">
                <a:solidFill>
                  <a:srgbClr val="404040"/>
                </a:solidFill>
                <a:latin typeface="Times New Roman"/>
                <a:cs typeface="Times New Roman"/>
              </a:rPr>
              <a:t>Linux Distributions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are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available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some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4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popular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Linux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distributions</a:t>
            </a:r>
            <a:r>
              <a:rPr dirty="0" sz="2400" spc="-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are: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244" y="1201252"/>
            <a:ext cx="1215390" cy="4550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8400"/>
              </a:lnSpc>
              <a:spcBef>
                <a:spcPts val="100"/>
              </a:spcBef>
            </a:pPr>
            <a:r>
              <a:rPr dirty="0" sz="2000" spc="10">
                <a:solidFill>
                  <a:srgbClr val="404040"/>
                </a:solidFill>
                <a:latin typeface="Calibri"/>
                <a:cs typeface="Calibri"/>
              </a:rPr>
              <a:t>MX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Linux 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Manjaro 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Linux 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Mint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ele</a:t>
            </a:r>
            <a:r>
              <a:rPr dirty="0" sz="2000" spc="15">
                <a:solidFill>
                  <a:srgbClr val="404040"/>
                </a:solidFill>
                <a:latin typeface="Calibri"/>
                <a:cs typeface="Calibri"/>
              </a:rPr>
              <a:t>m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2000" spc="2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y 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Ubuntu 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Debian 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 Solus </a:t>
            </a:r>
            <a:r>
              <a:rPr dirty="0" sz="20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Fedora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5">
                <a:solidFill>
                  <a:srgbClr val="404040"/>
                </a:solidFill>
                <a:latin typeface="Calibri"/>
                <a:cs typeface="Calibri"/>
              </a:rPr>
              <a:t>openSUSE </a:t>
            </a:r>
            <a:r>
              <a:rPr dirty="0" sz="20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Deepin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8224" y="703910"/>
            <a:ext cx="4912995" cy="7556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45">
                <a:latin typeface="Calibri Light"/>
                <a:cs typeface="Calibri Light"/>
              </a:rPr>
              <a:t>A</a:t>
            </a:r>
            <a:r>
              <a:rPr dirty="0" sz="4800" spc="-145">
                <a:latin typeface="Calibri Light"/>
                <a:cs typeface="Calibri Light"/>
              </a:rPr>
              <a:t>r</a:t>
            </a:r>
            <a:r>
              <a:rPr dirty="0" sz="4800" spc="-60">
                <a:latin typeface="Calibri Light"/>
                <a:cs typeface="Calibri Light"/>
              </a:rPr>
              <a:t>c</a:t>
            </a:r>
            <a:r>
              <a:rPr dirty="0" sz="4800" spc="-80">
                <a:latin typeface="Calibri Light"/>
                <a:cs typeface="Calibri Light"/>
              </a:rPr>
              <a:t>h</a:t>
            </a:r>
            <a:r>
              <a:rPr dirty="0" sz="4800" spc="-90">
                <a:latin typeface="Calibri Light"/>
                <a:cs typeface="Calibri Light"/>
              </a:rPr>
              <a:t>i</a:t>
            </a:r>
            <a:r>
              <a:rPr dirty="0" sz="4800" spc="-100">
                <a:latin typeface="Calibri Light"/>
                <a:cs typeface="Calibri Light"/>
              </a:rPr>
              <a:t>t</a:t>
            </a:r>
            <a:r>
              <a:rPr dirty="0" sz="4800" spc="-105">
                <a:latin typeface="Calibri Light"/>
                <a:cs typeface="Calibri Light"/>
              </a:rPr>
              <a:t>e</a:t>
            </a:r>
            <a:r>
              <a:rPr dirty="0" sz="4800" spc="-100">
                <a:latin typeface="Calibri Light"/>
                <a:cs typeface="Calibri Light"/>
              </a:rPr>
              <a:t>c</a:t>
            </a:r>
            <a:r>
              <a:rPr dirty="0" sz="4800" spc="-70">
                <a:latin typeface="Calibri Light"/>
                <a:cs typeface="Calibri Light"/>
              </a:rPr>
              <a:t>t</a:t>
            </a:r>
            <a:r>
              <a:rPr dirty="0" sz="4800" spc="-120">
                <a:latin typeface="Calibri Light"/>
                <a:cs typeface="Calibri Light"/>
              </a:rPr>
              <a:t>u</a:t>
            </a:r>
            <a:r>
              <a:rPr dirty="0" sz="4800" spc="-145">
                <a:latin typeface="Calibri Light"/>
                <a:cs typeface="Calibri Light"/>
              </a:rPr>
              <a:t>r</a:t>
            </a:r>
            <a:r>
              <a:rPr dirty="0" sz="4800" spc="-5">
                <a:latin typeface="Calibri Light"/>
                <a:cs typeface="Calibri Light"/>
              </a:rPr>
              <a:t>e</a:t>
            </a:r>
            <a:r>
              <a:rPr dirty="0" sz="4800" spc="-285">
                <a:latin typeface="Calibri Light"/>
                <a:cs typeface="Calibri Light"/>
              </a:rPr>
              <a:t> </a:t>
            </a:r>
            <a:r>
              <a:rPr dirty="0" sz="4800" spc="-55">
                <a:latin typeface="Calibri Light"/>
                <a:cs typeface="Calibri Light"/>
              </a:rPr>
              <a:t>o</a:t>
            </a:r>
            <a:r>
              <a:rPr dirty="0" sz="4800" spc="-5">
                <a:latin typeface="Calibri Light"/>
                <a:cs typeface="Calibri Light"/>
              </a:rPr>
              <a:t>f</a:t>
            </a:r>
            <a:r>
              <a:rPr dirty="0" sz="4800" spc="-170">
                <a:latin typeface="Calibri Light"/>
                <a:cs typeface="Calibri Light"/>
              </a:rPr>
              <a:t> </a:t>
            </a:r>
            <a:r>
              <a:rPr dirty="0" sz="4800" spc="-30">
                <a:latin typeface="Calibri Light"/>
                <a:cs typeface="Calibri Light"/>
              </a:rPr>
              <a:t>L</a:t>
            </a:r>
            <a:r>
              <a:rPr dirty="0" sz="4800" spc="-5">
                <a:latin typeface="Calibri Light"/>
                <a:cs typeface="Calibri Light"/>
              </a:rPr>
              <a:t>i</a:t>
            </a:r>
            <a:r>
              <a:rPr dirty="0" sz="4800" spc="-95">
                <a:latin typeface="Calibri Light"/>
                <a:cs typeface="Calibri Light"/>
              </a:rPr>
              <a:t>n</a:t>
            </a:r>
            <a:r>
              <a:rPr dirty="0" sz="4800" spc="-80">
                <a:latin typeface="Calibri Light"/>
                <a:cs typeface="Calibri Light"/>
              </a:rPr>
              <a:t>u</a:t>
            </a:r>
            <a:r>
              <a:rPr dirty="0" sz="4800" spc="-5">
                <a:latin typeface="Calibri Light"/>
                <a:cs typeface="Calibri Light"/>
              </a:rPr>
              <a:t>x</a:t>
            </a:r>
            <a:endParaRPr sz="48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3400" y="2322576"/>
            <a:ext cx="4023359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15695"/>
            <a:ext cx="8155305" cy="7562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50">
                <a:latin typeface="Calibri Light"/>
                <a:cs typeface="Calibri Light"/>
              </a:rPr>
              <a:t>Importance</a:t>
            </a:r>
            <a:r>
              <a:rPr dirty="0" sz="4800" spc="-190">
                <a:latin typeface="Calibri Light"/>
                <a:cs typeface="Calibri Light"/>
              </a:rPr>
              <a:t> </a:t>
            </a:r>
            <a:r>
              <a:rPr dirty="0" sz="4800" spc="-35">
                <a:latin typeface="Calibri Light"/>
                <a:cs typeface="Calibri Light"/>
              </a:rPr>
              <a:t>of</a:t>
            </a:r>
            <a:r>
              <a:rPr dirty="0" sz="4800" spc="-75">
                <a:latin typeface="Calibri Light"/>
                <a:cs typeface="Calibri Light"/>
              </a:rPr>
              <a:t> </a:t>
            </a:r>
            <a:r>
              <a:rPr dirty="0" sz="4800" spc="-40">
                <a:latin typeface="Calibri Light"/>
                <a:cs typeface="Calibri Light"/>
              </a:rPr>
              <a:t>Linux</a:t>
            </a:r>
            <a:r>
              <a:rPr dirty="0" sz="4800" spc="-105">
                <a:latin typeface="Calibri Light"/>
                <a:cs typeface="Calibri Light"/>
              </a:rPr>
              <a:t> </a:t>
            </a:r>
            <a:r>
              <a:rPr dirty="0" sz="4800" spc="-25">
                <a:latin typeface="Calibri Light"/>
                <a:cs typeface="Calibri Light"/>
              </a:rPr>
              <a:t>OS</a:t>
            </a:r>
            <a:r>
              <a:rPr dirty="0" sz="4800" spc="-95">
                <a:latin typeface="Calibri Light"/>
                <a:cs typeface="Calibri Light"/>
              </a:rPr>
              <a:t> </a:t>
            </a:r>
            <a:r>
              <a:rPr dirty="0" sz="4800" spc="-35">
                <a:latin typeface="Calibri Light"/>
                <a:cs typeface="Calibri Light"/>
              </a:rPr>
              <a:t>in</a:t>
            </a:r>
            <a:r>
              <a:rPr dirty="0" sz="4800" spc="-75">
                <a:latin typeface="Calibri Light"/>
                <a:cs typeface="Calibri Light"/>
              </a:rPr>
              <a:t> </a:t>
            </a:r>
            <a:r>
              <a:rPr dirty="0" sz="4800" spc="-45">
                <a:latin typeface="Calibri Light"/>
                <a:cs typeface="Calibri Light"/>
              </a:rPr>
              <a:t>DevOps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324" y="2020570"/>
            <a:ext cx="10000615" cy="353631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just" marL="12700" marR="5080">
              <a:lnSpc>
                <a:spcPct val="90100"/>
              </a:lnSpc>
              <a:spcBef>
                <a:spcPts val="395"/>
              </a:spcBef>
            </a:pP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world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 DevOps,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where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automation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collaboration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are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keys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success,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Linux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stands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as a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cornerstone. Linux,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open-source operating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system,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plays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pivotal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role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ecosystem,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enabling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development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operations teams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work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together 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seamlessly,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streamline processes,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deliver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high-quality</a:t>
            </a:r>
            <a:r>
              <a:rPr dirty="0" sz="2400" spc="-1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accelerated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pace.</a:t>
            </a:r>
            <a:endParaRPr sz="2400">
              <a:latin typeface="Times New Roman"/>
              <a:cs typeface="Times New Roman"/>
            </a:endParaRPr>
          </a:p>
          <a:p>
            <a:pPr algn="just" marL="12700" marR="6350">
              <a:lnSpc>
                <a:spcPct val="90100"/>
              </a:lnSpc>
              <a:spcBef>
                <a:spcPts val="1405"/>
              </a:spcBef>
            </a:pP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Stability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Reliability.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400" spc="5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DevOps,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stability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and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reliability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are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paramount. Linux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renowned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for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its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stability and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uptime,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making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it an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ideal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choice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for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hosting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critical applications and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services.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predictable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performance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Linux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helps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DevOps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teams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minimize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downtime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maintain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robust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infrastructure.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1117549"/>
            <a:ext cx="365887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20"/>
              <a:t>I</a:t>
            </a:r>
            <a:r>
              <a:rPr dirty="0" sz="3600" spc="-40"/>
              <a:t>n</a:t>
            </a:r>
            <a:r>
              <a:rPr dirty="0" sz="3600" spc="-35"/>
              <a:t>s</a:t>
            </a:r>
            <a:r>
              <a:rPr dirty="0" sz="3600" spc="-30"/>
              <a:t>t</a:t>
            </a:r>
            <a:r>
              <a:rPr dirty="0" sz="3600" spc="-55"/>
              <a:t>a</a:t>
            </a:r>
            <a:r>
              <a:rPr dirty="0" sz="3600" spc="-30"/>
              <a:t>ll</a:t>
            </a:r>
            <a:r>
              <a:rPr dirty="0" sz="3600" spc="-55"/>
              <a:t>a</a:t>
            </a:r>
            <a:r>
              <a:rPr dirty="0" sz="3600" spc="-30"/>
              <a:t>ti</a:t>
            </a:r>
            <a:r>
              <a:rPr dirty="0" sz="3600" spc="-40"/>
              <a:t>o</a:t>
            </a:r>
            <a:r>
              <a:rPr dirty="0" sz="3600"/>
              <a:t>n</a:t>
            </a:r>
            <a:r>
              <a:rPr dirty="0" sz="3600" spc="-180"/>
              <a:t> </a:t>
            </a:r>
            <a:r>
              <a:rPr dirty="0" sz="3600" spc="-40"/>
              <a:t>o</a:t>
            </a:r>
            <a:r>
              <a:rPr dirty="0" sz="3600"/>
              <a:t>f</a:t>
            </a:r>
            <a:r>
              <a:rPr dirty="0" sz="3600" spc="-114"/>
              <a:t> </a:t>
            </a:r>
            <a:r>
              <a:rPr dirty="0" sz="3600" spc="-114"/>
              <a:t>L</a:t>
            </a:r>
            <a:r>
              <a:rPr dirty="0" sz="3600" spc="-30"/>
              <a:t>i</a:t>
            </a:r>
            <a:r>
              <a:rPr dirty="0" sz="3600" spc="-40"/>
              <a:t>nu</a:t>
            </a:r>
            <a:r>
              <a:rPr dirty="0" sz="3600"/>
              <a:t>x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520"/>
              </a:spcBef>
            </a:pPr>
            <a:r>
              <a:rPr dirty="0" spc="-15"/>
              <a:t>Hardware</a:t>
            </a:r>
            <a:r>
              <a:rPr dirty="0" spc="10"/>
              <a:t> </a:t>
            </a:r>
            <a:r>
              <a:rPr dirty="0" spc="-5"/>
              <a:t>Requirements</a:t>
            </a:r>
          </a:p>
          <a:p>
            <a:pPr marL="1131570" indent="-121920">
              <a:lnSpc>
                <a:spcPct val="100000"/>
              </a:lnSpc>
              <a:spcBef>
                <a:spcPts val="530"/>
              </a:spcBef>
              <a:buSzPct val="75000"/>
              <a:buFont typeface="Calibri"/>
              <a:buChar char="•"/>
              <a:tabLst>
                <a:tab pos="1132840" algn="l"/>
              </a:tabLst>
            </a:pPr>
            <a:r>
              <a:rPr dirty="0" sz="2400" spc="10" b="0">
                <a:latin typeface="Times New Roman"/>
                <a:cs typeface="Times New Roman"/>
              </a:rPr>
              <a:t>64-bit</a:t>
            </a:r>
            <a:r>
              <a:rPr dirty="0" sz="2400" spc="-95" b="0">
                <a:latin typeface="Times New Roman"/>
                <a:cs typeface="Times New Roman"/>
              </a:rPr>
              <a:t> </a:t>
            </a:r>
            <a:r>
              <a:rPr dirty="0" sz="2400" spc="-15" b="0">
                <a:latin typeface="Times New Roman"/>
                <a:cs typeface="Times New Roman"/>
              </a:rPr>
              <a:t>processor,</a:t>
            </a:r>
            <a:r>
              <a:rPr dirty="0" sz="2400" b="0">
                <a:latin typeface="Times New Roman"/>
                <a:cs typeface="Times New Roman"/>
              </a:rPr>
              <a:t> </a:t>
            </a:r>
            <a:r>
              <a:rPr dirty="0" sz="2400" spc="10" b="0">
                <a:latin typeface="Times New Roman"/>
                <a:cs typeface="Times New Roman"/>
              </a:rPr>
              <a:t>x86-64,</a:t>
            </a:r>
            <a:r>
              <a:rPr dirty="0" sz="2400" spc="-60" b="0">
                <a:latin typeface="Times New Roman"/>
                <a:cs typeface="Times New Roman"/>
              </a:rPr>
              <a:t> </a:t>
            </a:r>
            <a:r>
              <a:rPr dirty="0" sz="2400" spc="5" b="0">
                <a:latin typeface="Times New Roman"/>
                <a:cs typeface="Times New Roman"/>
              </a:rPr>
              <a:t>2</a:t>
            </a:r>
            <a:r>
              <a:rPr dirty="0" sz="2400" spc="-15" b="0">
                <a:latin typeface="Times New Roman"/>
                <a:cs typeface="Times New Roman"/>
              </a:rPr>
              <a:t> GHz</a:t>
            </a:r>
            <a:r>
              <a:rPr dirty="0" sz="2400" spc="10" b="0">
                <a:latin typeface="Times New Roman"/>
                <a:cs typeface="Times New Roman"/>
              </a:rPr>
              <a:t> </a:t>
            </a:r>
            <a:r>
              <a:rPr dirty="0" sz="2400" spc="-5" b="0">
                <a:latin typeface="Times New Roman"/>
                <a:cs typeface="Times New Roman"/>
              </a:rPr>
              <a:t>or</a:t>
            </a:r>
            <a:r>
              <a:rPr dirty="0" sz="2400" spc="-10" b="0">
                <a:latin typeface="Times New Roman"/>
                <a:cs typeface="Times New Roman"/>
              </a:rPr>
              <a:t> </a:t>
            </a:r>
            <a:r>
              <a:rPr dirty="0" sz="2400" spc="-5" b="0">
                <a:latin typeface="Times New Roman"/>
                <a:cs typeface="Times New Roman"/>
              </a:rPr>
              <a:t>faster</a:t>
            </a:r>
            <a:endParaRPr sz="2400">
              <a:latin typeface="Times New Roman"/>
              <a:cs typeface="Times New Roman"/>
            </a:endParaRPr>
          </a:p>
          <a:p>
            <a:pPr marL="1118235" indent="-108585">
              <a:lnSpc>
                <a:spcPct val="100000"/>
              </a:lnSpc>
              <a:spcBef>
                <a:spcPts val="545"/>
              </a:spcBef>
              <a:buSzPct val="95833"/>
              <a:buChar char="•"/>
              <a:tabLst>
                <a:tab pos="1119505" algn="l"/>
              </a:tabLst>
            </a:pPr>
            <a:r>
              <a:rPr dirty="0" sz="2400" spc="-25" b="0">
                <a:latin typeface="Times New Roman"/>
                <a:cs typeface="Times New Roman"/>
              </a:rPr>
              <a:t>At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-5" b="0">
                <a:latin typeface="Times New Roman"/>
                <a:cs typeface="Times New Roman"/>
              </a:rPr>
              <a:t>least</a:t>
            </a:r>
            <a:r>
              <a:rPr dirty="0" sz="2400" spc="-25" b="0">
                <a:latin typeface="Times New Roman"/>
                <a:cs typeface="Times New Roman"/>
              </a:rPr>
              <a:t> </a:t>
            </a:r>
            <a:r>
              <a:rPr dirty="0" sz="2400" spc="5" b="0">
                <a:latin typeface="Times New Roman"/>
                <a:cs typeface="Times New Roman"/>
              </a:rPr>
              <a:t>2</a:t>
            </a:r>
            <a:r>
              <a:rPr dirty="0" sz="2400" spc="-15" b="0">
                <a:latin typeface="Times New Roman"/>
                <a:cs typeface="Times New Roman"/>
              </a:rPr>
              <a:t> </a:t>
            </a:r>
            <a:r>
              <a:rPr dirty="0" sz="2400" spc="-20" b="0">
                <a:latin typeface="Times New Roman"/>
                <a:cs typeface="Times New Roman"/>
              </a:rPr>
              <a:t>GB</a:t>
            </a:r>
            <a:r>
              <a:rPr dirty="0" sz="2400" spc="45" b="0">
                <a:latin typeface="Times New Roman"/>
                <a:cs typeface="Times New Roman"/>
              </a:rPr>
              <a:t> </a:t>
            </a:r>
            <a:r>
              <a:rPr dirty="0" sz="2400" spc="-10" b="0">
                <a:latin typeface="Times New Roman"/>
                <a:cs typeface="Times New Roman"/>
              </a:rPr>
              <a:t>free</a:t>
            </a:r>
            <a:r>
              <a:rPr dirty="0" sz="2400" spc="10" b="0">
                <a:latin typeface="Times New Roman"/>
                <a:cs typeface="Times New Roman"/>
              </a:rPr>
              <a:t> </a:t>
            </a:r>
            <a:r>
              <a:rPr dirty="0" sz="2400" spc="5" b="0">
                <a:latin typeface="Times New Roman"/>
                <a:cs typeface="Times New Roman"/>
              </a:rPr>
              <a:t>hard</a:t>
            </a:r>
            <a:r>
              <a:rPr dirty="0" sz="2400" spc="-5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drive</a:t>
            </a:r>
            <a:r>
              <a:rPr dirty="0" sz="2400" spc="-60" b="0">
                <a:latin typeface="Times New Roman"/>
                <a:cs typeface="Times New Roman"/>
              </a:rPr>
              <a:t> </a:t>
            </a:r>
            <a:r>
              <a:rPr dirty="0" sz="2400" spc="10" b="0">
                <a:latin typeface="Times New Roman"/>
                <a:cs typeface="Times New Roman"/>
              </a:rPr>
              <a:t>space</a:t>
            </a:r>
            <a:r>
              <a:rPr dirty="0" sz="2400" spc="-55" b="0">
                <a:latin typeface="Times New Roman"/>
                <a:cs typeface="Times New Roman"/>
              </a:rPr>
              <a:t> </a:t>
            </a:r>
            <a:r>
              <a:rPr dirty="0" sz="2400" spc="5" b="0">
                <a:latin typeface="Times New Roman"/>
                <a:cs typeface="Times New Roman"/>
              </a:rPr>
              <a:t>to</a:t>
            </a:r>
            <a:r>
              <a:rPr dirty="0" sz="2400" spc="-50" b="0">
                <a:latin typeface="Times New Roman"/>
                <a:cs typeface="Times New Roman"/>
              </a:rPr>
              <a:t> </a:t>
            </a:r>
            <a:r>
              <a:rPr dirty="0" sz="2400" spc="5" b="0">
                <a:latin typeface="Times New Roman"/>
                <a:cs typeface="Times New Roman"/>
              </a:rPr>
              <a:t>install</a:t>
            </a:r>
            <a:r>
              <a:rPr dirty="0" sz="2400" spc="-10" b="0">
                <a:latin typeface="Times New Roman"/>
                <a:cs typeface="Times New Roman"/>
              </a:rPr>
              <a:t> </a:t>
            </a:r>
            <a:r>
              <a:rPr dirty="0" sz="2400" spc="5" b="0">
                <a:latin typeface="Times New Roman"/>
                <a:cs typeface="Times New Roman"/>
              </a:rPr>
              <a:t>DataConnect</a:t>
            </a:r>
            <a:endParaRPr sz="2400">
              <a:latin typeface="Times New Roman"/>
              <a:cs typeface="Times New Roman"/>
            </a:endParaRPr>
          </a:p>
          <a:p>
            <a:pPr marL="1118235" indent="-108585">
              <a:lnSpc>
                <a:spcPct val="100000"/>
              </a:lnSpc>
              <a:spcBef>
                <a:spcPts val="540"/>
              </a:spcBef>
              <a:buSzPct val="95833"/>
              <a:buChar char="•"/>
              <a:tabLst>
                <a:tab pos="1119505" algn="l"/>
              </a:tabLst>
            </a:pPr>
            <a:r>
              <a:rPr dirty="0" sz="2400" spc="5" b="0">
                <a:latin typeface="Times New Roman"/>
                <a:cs typeface="Times New Roman"/>
              </a:rPr>
              <a:t>8</a:t>
            </a:r>
            <a:r>
              <a:rPr dirty="0" sz="2400" spc="-30" b="0">
                <a:latin typeface="Times New Roman"/>
                <a:cs typeface="Times New Roman"/>
              </a:rPr>
              <a:t> </a:t>
            </a:r>
            <a:r>
              <a:rPr dirty="0" sz="2400" spc="-20" b="0">
                <a:latin typeface="Times New Roman"/>
                <a:cs typeface="Times New Roman"/>
              </a:rPr>
              <a:t>GB</a:t>
            </a:r>
            <a:r>
              <a:rPr dirty="0" sz="2400" spc="3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high-speed</a:t>
            </a:r>
            <a:r>
              <a:rPr dirty="0" sz="2400" spc="-60" b="0">
                <a:latin typeface="Times New Roman"/>
                <a:cs typeface="Times New Roman"/>
              </a:rPr>
              <a:t> </a:t>
            </a:r>
            <a:r>
              <a:rPr dirty="0" sz="2400" spc="-5" b="0">
                <a:latin typeface="Times New Roman"/>
                <a:cs typeface="Times New Roman"/>
              </a:rPr>
              <a:t>RAM</a:t>
            </a:r>
            <a:endParaRPr sz="2400">
              <a:latin typeface="Times New Roman"/>
              <a:cs typeface="Times New Roman"/>
            </a:endParaRPr>
          </a:p>
          <a:p>
            <a:pPr marL="187325">
              <a:lnSpc>
                <a:spcPct val="100000"/>
              </a:lnSpc>
              <a:spcBef>
                <a:spcPts val="720"/>
              </a:spcBef>
            </a:pPr>
            <a:r>
              <a:rPr dirty="0" spc="-5"/>
              <a:t>Runtime</a:t>
            </a:r>
            <a:r>
              <a:rPr dirty="0"/>
              <a:t> </a:t>
            </a:r>
            <a:r>
              <a:rPr dirty="0" spc="-5"/>
              <a:t>Engine Requirements</a:t>
            </a:r>
          </a:p>
          <a:p>
            <a:pPr marL="187325">
              <a:lnSpc>
                <a:spcPts val="1950"/>
              </a:lnSpc>
              <a:spcBef>
                <a:spcPts val="710"/>
              </a:spcBef>
            </a:pPr>
            <a:r>
              <a:rPr dirty="0" spc="-5" b="0">
                <a:latin typeface="Calibri"/>
                <a:cs typeface="Calibri"/>
              </a:rPr>
              <a:t>In</a:t>
            </a:r>
            <a:r>
              <a:rPr dirty="0" spc="1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addition</a:t>
            </a:r>
            <a:r>
              <a:rPr dirty="0" spc="-2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to</a:t>
            </a:r>
            <a:r>
              <a:rPr dirty="0" spc="15" b="0">
                <a:latin typeface="Calibri"/>
                <a:cs typeface="Calibri"/>
              </a:rPr>
              <a:t> </a:t>
            </a:r>
            <a:r>
              <a:rPr dirty="0" spc="5" b="0">
                <a:latin typeface="Calibri"/>
                <a:cs typeface="Calibri"/>
              </a:rPr>
              <a:t>the</a:t>
            </a:r>
            <a:r>
              <a:rPr dirty="0" spc="-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minimum</a:t>
            </a:r>
            <a:r>
              <a:rPr dirty="0" spc="-3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requirements</a:t>
            </a:r>
            <a:r>
              <a:rPr dirty="0" spc="50" b="0">
                <a:latin typeface="Calibri"/>
                <a:cs typeface="Calibri"/>
              </a:rPr>
              <a:t> </a:t>
            </a:r>
            <a:r>
              <a:rPr dirty="0" spc="-15" b="0">
                <a:latin typeface="Calibri"/>
                <a:cs typeface="Calibri"/>
              </a:rPr>
              <a:t>for</a:t>
            </a:r>
            <a:r>
              <a:rPr dirty="0" spc="-5" b="0">
                <a:latin typeface="Calibri"/>
                <a:cs typeface="Calibri"/>
              </a:rPr>
              <a:t> your</a:t>
            </a:r>
            <a:r>
              <a:rPr dirty="0" spc="-10" b="0">
                <a:latin typeface="Calibri"/>
                <a:cs typeface="Calibri"/>
              </a:rPr>
              <a:t> </a:t>
            </a:r>
            <a:r>
              <a:rPr dirty="0" spc="-5" b="0">
                <a:latin typeface="Calibri"/>
                <a:cs typeface="Calibri"/>
              </a:rPr>
              <a:t>operating</a:t>
            </a:r>
            <a:r>
              <a:rPr dirty="0" spc="-20" b="0">
                <a:latin typeface="Calibri"/>
                <a:cs typeface="Calibri"/>
              </a:rPr>
              <a:t> </a:t>
            </a:r>
            <a:r>
              <a:rPr dirty="0" spc="-15" b="0">
                <a:latin typeface="Calibri"/>
                <a:cs typeface="Calibri"/>
              </a:rPr>
              <a:t>system,</a:t>
            </a:r>
            <a:r>
              <a:rPr dirty="0" spc="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each</a:t>
            </a:r>
            <a:r>
              <a:rPr dirty="0" spc="1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additional</a:t>
            </a:r>
            <a:r>
              <a:rPr dirty="0" spc="1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running</a:t>
            </a:r>
            <a:r>
              <a:rPr dirty="0" spc="10" b="0">
                <a:latin typeface="Calibri"/>
                <a:cs typeface="Calibri"/>
              </a:rPr>
              <a:t> </a:t>
            </a:r>
            <a:r>
              <a:rPr dirty="0" spc="5" b="0">
                <a:latin typeface="Calibri"/>
                <a:cs typeface="Calibri"/>
              </a:rPr>
              <a:t>Runtime</a:t>
            </a:r>
          </a:p>
          <a:p>
            <a:pPr marL="187325">
              <a:lnSpc>
                <a:spcPts val="1950"/>
              </a:lnSpc>
            </a:pPr>
            <a:r>
              <a:rPr dirty="0" spc="5" b="0">
                <a:latin typeface="Calibri"/>
                <a:cs typeface="Calibri"/>
              </a:rPr>
              <a:t>Engine</a:t>
            </a:r>
            <a:r>
              <a:rPr dirty="0" spc="-10" b="0">
                <a:latin typeface="Calibri"/>
                <a:cs typeface="Calibri"/>
              </a:rPr>
              <a:t> </a:t>
            </a:r>
            <a:r>
              <a:rPr dirty="0" spc="5" b="0">
                <a:latin typeface="Calibri"/>
                <a:cs typeface="Calibri"/>
              </a:rPr>
              <a:t>on</a:t>
            </a:r>
            <a:r>
              <a:rPr dirty="0" spc="-30" b="0">
                <a:latin typeface="Calibri"/>
                <a:cs typeface="Calibri"/>
              </a:rPr>
              <a:t> </a:t>
            </a:r>
            <a:r>
              <a:rPr dirty="0" spc="5" b="0">
                <a:latin typeface="Calibri"/>
                <a:cs typeface="Calibri"/>
              </a:rPr>
              <a:t>the</a:t>
            </a:r>
            <a:r>
              <a:rPr dirty="0" spc="-20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same</a:t>
            </a:r>
            <a:r>
              <a:rPr dirty="0" spc="-15" b="0">
                <a:latin typeface="Calibri"/>
                <a:cs typeface="Calibri"/>
              </a:rPr>
              <a:t> </a:t>
            </a:r>
            <a:r>
              <a:rPr dirty="0" b="0">
                <a:latin typeface="Calibri"/>
                <a:cs typeface="Calibri"/>
              </a:rPr>
              <a:t>machine</a:t>
            </a:r>
            <a:r>
              <a:rPr dirty="0" spc="-10" b="0">
                <a:latin typeface="Calibri"/>
                <a:cs typeface="Calibri"/>
              </a:rPr>
              <a:t> </a:t>
            </a:r>
            <a:r>
              <a:rPr dirty="0" spc="-15" b="0">
                <a:latin typeface="Calibri"/>
                <a:cs typeface="Calibri"/>
              </a:rPr>
              <a:t>requires</a:t>
            </a:r>
            <a:r>
              <a:rPr dirty="0" spc="40" b="0">
                <a:latin typeface="Calibri"/>
                <a:cs typeface="Calibri"/>
              </a:rPr>
              <a:t> </a:t>
            </a:r>
            <a:r>
              <a:rPr dirty="0" spc="5" b="0">
                <a:latin typeface="Calibri"/>
                <a:cs typeface="Calibri"/>
              </a:rPr>
              <a:t>the</a:t>
            </a:r>
            <a:r>
              <a:rPr dirty="0" spc="-15" b="0">
                <a:latin typeface="Calibri"/>
                <a:cs typeface="Calibri"/>
              </a:rPr>
              <a:t> </a:t>
            </a:r>
            <a:r>
              <a:rPr dirty="0" spc="-5" b="0">
                <a:latin typeface="Calibri"/>
                <a:cs typeface="Calibri"/>
              </a:rPr>
              <a:t>following:</a:t>
            </a:r>
          </a:p>
          <a:p>
            <a:pPr marL="1131570" indent="-121920">
              <a:lnSpc>
                <a:spcPct val="100000"/>
              </a:lnSpc>
              <a:spcBef>
                <a:spcPts val="535"/>
              </a:spcBef>
              <a:buSzPct val="75000"/>
              <a:buFont typeface="Calibri"/>
              <a:buChar char="•"/>
              <a:tabLst>
                <a:tab pos="1132840" algn="l"/>
              </a:tabLst>
            </a:pPr>
            <a:r>
              <a:rPr dirty="0" sz="2400" spc="5" b="0">
                <a:latin typeface="Times New Roman"/>
                <a:cs typeface="Times New Roman"/>
              </a:rPr>
              <a:t>2</a:t>
            </a:r>
            <a:r>
              <a:rPr dirty="0" sz="2400" spc="-25" b="0">
                <a:latin typeface="Times New Roman"/>
                <a:cs typeface="Times New Roman"/>
              </a:rPr>
              <a:t> </a:t>
            </a:r>
            <a:r>
              <a:rPr dirty="0" sz="2400" spc="-20" b="0">
                <a:latin typeface="Times New Roman"/>
                <a:cs typeface="Times New Roman"/>
              </a:rPr>
              <a:t>GB</a:t>
            </a:r>
            <a:r>
              <a:rPr dirty="0" sz="2400" spc="35" b="0">
                <a:latin typeface="Times New Roman"/>
                <a:cs typeface="Times New Roman"/>
              </a:rPr>
              <a:t> </a:t>
            </a:r>
            <a:r>
              <a:rPr dirty="0" sz="2400" spc="5" b="0">
                <a:latin typeface="Times New Roman"/>
                <a:cs typeface="Times New Roman"/>
              </a:rPr>
              <a:t>high</a:t>
            </a:r>
            <a:r>
              <a:rPr dirty="0" sz="2400" spc="-60" b="0">
                <a:latin typeface="Times New Roman"/>
                <a:cs typeface="Times New Roman"/>
              </a:rPr>
              <a:t> </a:t>
            </a:r>
            <a:r>
              <a:rPr dirty="0" sz="2400" spc="-5" b="0">
                <a:latin typeface="Times New Roman"/>
                <a:cs typeface="Times New Roman"/>
              </a:rPr>
              <a:t>speed</a:t>
            </a:r>
            <a:r>
              <a:rPr dirty="0" sz="2400" spc="-20" b="0">
                <a:latin typeface="Times New Roman"/>
                <a:cs typeface="Times New Roman"/>
              </a:rPr>
              <a:t> </a:t>
            </a:r>
            <a:r>
              <a:rPr dirty="0" sz="2400" spc="-10" b="0">
                <a:latin typeface="Times New Roman"/>
                <a:cs typeface="Times New Roman"/>
              </a:rPr>
              <a:t>RAM</a:t>
            </a:r>
            <a:endParaRPr sz="2400">
              <a:latin typeface="Times New Roman"/>
              <a:cs typeface="Times New Roman"/>
            </a:endParaRPr>
          </a:p>
          <a:p>
            <a:pPr marL="1118235" indent="-108585">
              <a:lnSpc>
                <a:spcPct val="100000"/>
              </a:lnSpc>
              <a:spcBef>
                <a:spcPts val="545"/>
              </a:spcBef>
              <a:buSzPct val="95833"/>
              <a:buChar char="•"/>
              <a:tabLst>
                <a:tab pos="1119505" algn="l"/>
              </a:tabLst>
            </a:pPr>
            <a:r>
              <a:rPr dirty="0" sz="2400" spc="15" b="0">
                <a:latin typeface="Times New Roman"/>
                <a:cs typeface="Times New Roman"/>
              </a:rPr>
              <a:t>1–2</a:t>
            </a:r>
            <a:r>
              <a:rPr dirty="0" sz="2400" spc="-55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available</a:t>
            </a:r>
            <a:r>
              <a:rPr dirty="0" sz="2400" spc="-65" b="0">
                <a:latin typeface="Times New Roman"/>
                <a:cs typeface="Times New Roman"/>
              </a:rPr>
              <a:t> </a:t>
            </a:r>
            <a:r>
              <a:rPr dirty="0" sz="2400" spc="-5" b="0">
                <a:latin typeface="Times New Roman"/>
                <a:cs typeface="Times New Roman"/>
              </a:rPr>
              <a:t>processor</a:t>
            </a:r>
            <a:r>
              <a:rPr dirty="0" sz="2400" spc="-15" b="0">
                <a:latin typeface="Times New Roman"/>
                <a:cs typeface="Times New Roman"/>
              </a:rPr>
              <a:t> </a:t>
            </a:r>
            <a:r>
              <a:rPr dirty="0" sz="2400" spc="-10" b="0">
                <a:latin typeface="Times New Roman"/>
                <a:cs typeface="Times New Roman"/>
              </a:rPr>
              <a:t>cores</a:t>
            </a:r>
            <a:endParaRPr sz="2400">
              <a:latin typeface="Times New Roman"/>
              <a:cs typeface="Times New Roman"/>
            </a:endParaRPr>
          </a:p>
          <a:p>
            <a:pPr marL="1118235" indent="-108585">
              <a:lnSpc>
                <a:spcPct val="100000"/>
              </a:lnSpc>
              <a:spcBef>
                <a:spcPts val="505"/>
              </a:spcBef>
              <a:buSzPct val="95833"/>
              <a:buChar char="•"/>
              <a:tabLst>
                <a:tab pos="1119505" algn="l"/>
              </a:tabLst>
            </a:pPr>
            <a:r>
              <a:rPr dirty="0" sz="2400" spc="10" b="0">
                <a:latin typeface="Times New Roman"/>
                <a:cs typeface="Times New Roman"/>
              </a:rPr>
              <a:t>A</a:t>
            </a:r>
            <a:r>
              <a:rPr dirty="0" sz="2400" spc="-130" b="0">
                <a:latin typeface="Times New Roman"/>
                <a:cs typeface="Times New Roman"/>
              </a:rPr>
              <a:t> </a:t>
            </a:r>
            <a:r>
              <a:rPr dirty="0" sz="2400" spc="-5" b="0">
                <a:latin typeface="Times New Roman"/>
                <a:cs typeface="Times New Roman"/>
              </a:rPr>
              <a:t>valid</a:t>
            </a:r>
            <a:r>
              <a:rPr dirty="0" sz="2400" spc="-6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engine</a:t>
            </a:r>
            <a:r>
              <a:rPr dirty="0" sz="2400" spc="-70" b="0">
                <a:latin typeface="Times New Roman"/>
                <a:cs typeface="Times New Roman"/>
              </a:rPr>
              <a:t> </a:t>
            </a:r>
            <a:r>
              <a:rPr dirty="0" sz="2400" b="0">
                <a:latin typeface="Times New Roman"/>
                <a:cs typeface="Times New Roman"/>
              </a:rPr>
              <a:t>license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15695"/>
            <a:ext cx="7268209" cy="7562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40">
                <a:latin typeface="Calibri Light"/>
                <a:cs typeface="Calibri Light"/>
              </a:rPr>
              <a:t>Linux</a:t>
            </a:r>
            <a:r>
              <a:rPr dirty="0" sz="4800" spc="-125">
                <a:latin typeface="Calibri Light"/>
                <a:cs typeface="Calibri Light"/>
              </a:rPr>
              <a:t> </a:t>
            </a:r>
            <a:r>
              <a:rPr dirty="0" sz="4800" spc="-40">
                <a:latin typeface="Calibri Light"/>
                <a:cs typeface="Calibri Light"/>
              </a:rPr>
              <a:t>basic</a:t>
            </a:r>
            <a:r>
              <a:rPr dirty="0" sz="4800" spc="-110">
                <a:latin typeface="Calibri Light"/>
                <a:cs typeface="Calibri Light"/>
              </a:rPr>
              <a:t> </a:t>
            </a:r>
            <a:r>
              <a:rPr dirty="0" sz="4800" spc="-45">
                <a:latin typeface="Calibri Light"/>
                <a:cs typeface="Calibri Light"/>
              </a:rPr>
              <a:t>commands</a:t>
            </a:r>
            <a:r>
              <a:rPr dirty="0" sz="4800" spc="-140">
                <a:latin typeface="Calibri Light"/>
                <a:cs typeface="Calibri Light"/>
              </a:rPr>
              <a:t> </a:t>
            </a:r>
            <a:r>
              <a:rPr dirty="0" sz="4800" spc="-45">
                <a:latin typeface="Calibri Light"/>
                <a:cs typeface="Calibri Light"/>
              </a:rPr>
              <a:t>utilities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324" y="1838655"/>
            <a:ext cx="15982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5660" algn="l"/>
              </a:tabLst>
            </a:pPr>
            <a:r>
              <a:rPr dirty="0" sz="1800" spc="5">
                <a:solidFill>
                  <a:srgbClr val="404040"/>
                </a:solidFill>
                <a:latin typeface="Calibri"/>
                <a:cs typeface="Calibri"/>
              </a:rPr>
              <a:t>Pw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dirty="0" sz="1800" spc="15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dirty="0" sz="1800" spc="-45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add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324" y="2113213"/>
            <a:ext cx="582295" cy="12979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54300"/>
              </a:lnSpc>
              <a:spcBef>
                <a:spcPts val="114"/>
              </a:spcBef>
            </a:pPr>
            <a:r>
              <a:rPr dirty="0" sz="1800" spc="5">
                <a:solidFill>
                  <a:srgbClr val="404040"/>
                </a:solidFill>
                <a:latin typeface="Calibri"/>
                <a:cs typeface="Calibri"/>
              </a:rPr>
              <a:t>M</a:t>
            </a:r>
            <a:r>
              <a:rPr dirty="0" sz="1800" spc="-25">
                <a:solidFill>
                  <a:srgbClr val="404040"/>
                </a:solidFill>
                <a:latin typeface="Calibri"/>
                <a:cs typeface="Calibri"/>
              </a:rPr>
              <a:t>k</a:t>
            </a:r>
            <a:r>
              <a:rPr dirty="0" sz="1800" spc="-1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dirty="0" sz="1800" spc="-2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r  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Ls </a:t>
            </a:r>
            <a:r>
              <a:rPr dirty="0" sz="18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Rm</a:t>
            </a:r>
            <a:r>
              <a:rPr dirty="0" sz="1800" spc="-1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dirty="0" sz="1800" spc="-2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9614" y="2113213"/>
            <a:ext cx="916940" cy="12979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54300"/>
              </a:lnSpc>
              <a:spcBef>
                <a:spcPts val="114"/>
              </a:spcBef>
            </a:pPr>
            <a:r>
              <a:rPr dirty="0" sz="1800" spc="5">
                <a:solidFill>
                  <a:srgbClr val="404040"/>
                </a:solidFill>
                <a:latin typeface="Calibri"/>
                <a:cs typeface="Calibri"/>
              </a:rPr>
              <a:t>passwd </a:t>
            </a:r>
            <a:r>
              <a:rPr dirty="0" sz="1800" spc="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800" spc="15">
                <a:solidFill>
                  <a:srgbClr val="404040"/>
                </a:solidFill>
                <a:latin typeface="Calibri"/>
                <a:cs typeface="Calibri"/>
              </a:rPr>
              <a:t>g</a:t>
            </a:r>
            <a:r>
              <a:rPr dirty="0" sz="1800" spc="-5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dirty="0" sz="1800" spc="-15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dirty="0" sz="1800" spc="-10">
                <a:solidFill>
                  <a:srgbClr val="404040"/>
                </a:solidFill>
                <a:latin typeface="Calibri"/>
                <a:cs typeface="Calibri"/>
              </a:rPr>
              <a:t>up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add  </a:t>
            </a:r>
            <a:r>
              <a:rPr dirty="0" sz="1800" spc="-15">
                <a:solidFill>
                  <a:srgbClr val="404040"/>
                </a:solidFill>
                <a:latin typeface="Calibri"/>
                <a:cs typeface="Calibri"/>
              </a:rPr>
              <a:t>id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324" y="3385311"/>
            <a:ext cx="572135" cy="876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5100"/>
              </a:lnSpc>
              <a:spcBef>
                <a:spcPts val="100"/>
              </a:spcBef>
            </a:pPr>
            <a:r>
              <a:rPr dirty="0" sz="1800" spc="10">
                <a:solidFill>
                  <a:srgbClr val="404040"/>
                </a:solidFill>
                <a:latin typeface="Calibri"/>
                <a:cs typeface="Calibri"/>
              </a:rPr>
              <a:t>Cd </a:t>
            </a:r>
            <a:r>
              <a:rPr dirty="0" sz="18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800" spc="-16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dirty="0" sz="1800" spc="-15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dirty="0" sz="1800" spc="-1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ch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9614" y="3385311"/>
            <a:ext cx="739140" cy="876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5100"/>
              </a:lnSpc>
              <a:spcBef>
                <a:spcPts val="100"/>
              </a:spcBef>
            </a:pPr>
            <a:r>
              <a:rPr dirty="0" sz="1800" spc="-5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dirty="0" sz="1800" spc="-1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1800" spc="5">
                <a:solidFill>
                  <a:srgbClr val="404040"/>
                </a:solidFill>
                <a:latin typeface="Calibri"/>
                <a:cs typeface="Calibri"/>
              </a:rPr>
              <a:t>m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e  </a:t>
            </a:r>
            <a:r>
              <a:rPr dirty="0" sz="1800" spc="-35">
                <a:solidFill>
                  <a:srgbClr val="404040"/>
                </a:solidFill>
                <a:latin typeface="Calibri"/>
                <a:cs typeface="Calibri"/>
              </a:rPr>
              <a:t>mv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6324" y="4236085"/>
            <a:ext cx="335280" cy="1302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5100"/>
              </a:lnSpc>
              <a:spcBef>
                <a:spcPts val="100"/>
              </a:spcBef>
            </a:pPr>
            <a:r>
              <a:rPr dirty="0" sz="1800" spc="1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dirty="0" sz="1800">
                <a:solidFill>
                  <a:srgbClr val="404040"/>
                </a:solidFill>
                <a:latin typeface="Calibri"/>
                <a:cs typeface="Calibri"/>
              </a:rPr>
              <a:t>at  </a:t>
            </a:r>
            <a:r>
              <a:rPr dirty="0" sz="1800" spc="-5">
                <a:solidFill>
                  <a:srgbClr val="404040"/>
                </a:solidFill>
                <a:latin typeface="Calibri"/>
                <a:cs typeface="Calibri"/>
              </a:rPr>
              <a:t>Rm  </a:t>
            </a:r>
            <a:r>
              <a:rPr dirty="0" sz="1800" spc="10">
                <a:solidFill>
                  <a:srgbClr val="404040"/>
                </a:solidFill>
                <a:latin typeface="Calibri"/>
                <a:cs typeface="Calibri"/>
              </a:rPr>
              <a:t>Cp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15695"/>
            <a:ext cx="7176770" cy="7562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60">
                <a:latin typeface="Calibri Light"/>
                <a:cs typeface="Calibri Light"/>
              </a:rPr>
              <a:t>Environment</a:t>
            </a:r>
            <a:r>
              <a:rPr dirty="0" sz="4800" spc="-165">
                <a:latin typeface="Calibri Light"/>
                <a:cs typeface="Calibri Light"/>
              </a:rPr>
              <a:t> </a:t>
            </a:r>
            <a:r>
              <a:rPr dirty="0" sz="4800" spc="-45">
                <a:latin typeface="Calibri Light"/>
                <a:cs typeface="Calibri Light"/>
              </a:rPr>
              <a:t>variables</a:t>
            </a:r>
            <a:r>
              <a:rPr dirty="0" sz="4800" spc="-210">
                <a:latin typeface="Calibri Light"/>
                <a:cs typeface="Calibri Light"/>
              </a:rPr>
              <a:t> </a:t>
            </a:r>
            <a:r>
              <a:rPr dirty="0" sz="4800" spc="-30">
                <a:latin typeface="Calibri Light"/>
                <a:cs typeface="Calibri Light"/>
              </a:rPr>
              <a:t>in</a:t>
            </a:r>
            <a:r>
              <a:rPr dirty="0" sz="4800" spc="-95">
                <a:latin typeface="Calibri Light"/>
                <a:cs typeface="Calibri Light"/>
              </a:rPr>
              <a:t> </a:t>
            </a:r>
            <a:r>
              <a:rPr dirty="0" sz="4800" spc="-45">
                <a:latin typeface="Calibri Light"/>
                <a:cs typeface="Calibri Light"/>
              </a:rPr>
              <a:t>linux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324" y="1829511"/>
            <a:ext cx="10000615" cy="2040889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just" marL="12700" marR="5080">
              <a:lnSpc>
                <a:spcPct val="90100"/>
              </a:lnSpc>
              <a:spcBef>
                <a:spcPts val="400"/>
              </a:spcBef>
            </a:pP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Environment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variables, often referred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ENVs, are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dynamic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values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wield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significant influence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over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behavior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 programs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processes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Linux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operating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system.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These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variables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serve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means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convey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essential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information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software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shape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how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they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interact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with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environment.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Every </a:t>
            </a:r>
            <a:r>
              <a:rPr dirty="0" sz="2400" spc="-5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Linux process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associated with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set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environment variables,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which guide its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behavior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-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interactions</a:t>
            </a:r>
            <a:r>
              <a:rPr dirty="0" sz="2400" spc="-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with other</a:t>
            </a:r>
            <a:r>
              <a:rPr dirty="0" sz="24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processes.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1811223"/>
            <a:ext cx="3313429" cy="31686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b="1">
                <a:latin typeface="Calibri"/>
                <a:cs typeface="Calibri"/>
              </a:rPr>
              <a:t>Accessing</a:t>
            </a:r>
            <a:r>
              <a:rPr dirty="0" sz="1900" spc="-10" b="1">
                <a:latin typeface="Calibri"/>
                <a:cs typeface="Calibri"/>
              </a:rPr>
              <a:t> Environment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spc="-15" b="1">
                <a:latin typeface="Calibri"/>
                <a:cs typeface="Calibri"/>
              </a:rPr>
              <a:t>Variables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4884" y="2204669"/>
            <a:ext cx="10095230" cy="273621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just" marL="12700" marR="5080" indent="914400">
              <a:lnSpc>
                <a:spcPct val="80100"/>
              </a:lnSpc>
              <a:spcBef>
                <a:spcPts val="685"/>
              </a:spcBef>
            </a:pP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Linux,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primary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conduit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for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interacting with environment variables </a:t>
            </a:r>
            <a:r>
              <a:rPr dirty="0" sz="2400" spc="1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 spc="-5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shell.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The shell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acts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as a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command-line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interpreter,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executing instructions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entered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by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35">
                <a:solidFill>
                  <a:srgbClr val="404040"/>
                </a:solidFill>
                <a:latin typeface="Times New Roman"/>
                <a:cs typeface="Times New Roman"/>
              </a:rPr>
              <a:t>user.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most prevalent shell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Linux world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Bash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shell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(Bourne</a:t>
            </a:r>
            <a:r>
              <a:rPr dirty="0" sz="2400" spc="-1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Again</a:t>
            </a:r>
            <a:r>
              <a:rPr dirty="0" sz="2400" spc="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SHell),</a:t>
            </a:r>
            <a:r>
              <a:rPr dirty="0" sz="2400" spc="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comes</a:t>
            </a:r>
            <a:r>
              <a:rPr dirty="0" sz="24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dirty="0" sz="2400" spc="-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4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default</a:t>
            </a:r>
            <a:r>
              <a:rPr dirty="0" sz="24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4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many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Linux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distributions.</a:t>
            </a:r>
            <a:endParaRPr sz="2400">
              <a:latin typeface="Times New Roman"/>
              <a:cs typeface="Times New Roman"/>
            </a:endParaRPr>
          </a:p>
          <a:p>
            <a:pPr marL="103505">
              <a:lnSpc>
                <a:spcPct val="100000"/>
              </a:lnSpc>
              <a:spcBef>
                <a:spcPts val="935"/>
              </a:spcBef>
            </a:pPr>
            <a:r>
              <a:rPr dirty="0" sz="1900" b="1">
                <a:solidFill>
                  <a:srgbClr val="404040"/>
                </a:solidFill>
                <a:latin typeface="Calibri"/>
                <a:cs typeface="Calibri"/>
              </a:rPr>
              <a:t>Scope</a:t>
            </a:r>
            <a:r>
              <a:rPr dirty="0" sz="19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900" spc="10" b="1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19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900" spc="5" b="1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dirty="0" sz="1900" spc="1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900" spc="-5" b="1">
                <a:solidFill>
                  <a:srgbClr val="404040"/>
                </a:solidFill>
                <a:latin typeface="Calibri"/>
                <a:cs typeface="Calibri"/>
              </a:rPr>
              <a:t>environment</a:t>
            </a:r>
            <a:r>
              <a:rPr dirty="0" sz="19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900" spc="-5" b="1">
                <a:solidFill>
                  <a:srgbClr val="404040"/>
                </a:solidFill>
                <a:latin typeface="Calibri"/>
                <a:cs typeface="Calibri"/>
              </a:rPr>
              <a:t>variable</a:t>
            </a:r>
            <a:endParaRPr sz="1900">
              <a:latin typeface="Calibri"/>
              <a:cs typeface="Calibri"/>
            </a:endParaRPr>
          </a:p>
          <a:p>
            <a:pPr algn="just" marL="12700" marR="11430" indent="914400">
              <a:lnSpc>
                <a:spcPct val="80000"/>
              </a:lnSpc>
              <a:spcBef>
                <a:spcPts val="1400"/>
              </a:spcBef>
            </a:pP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Understanding the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scope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an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environment variable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crucial. </a:t>
            </a:r>
            <a:r>
              <a:rPr dirty="0" sz="2400" spc="-40">
                <a:solidFill>
                  <a:srgbClr val="404040"/>
                </a:solidFill>
                <a:latin typeface="Times New Roman"/>
                <a:cs typeface="Times New Roman"/>
              </a:rPr>
              <a:t>It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dictates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where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variable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can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be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accessed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or defined, making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clear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distinction between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global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-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local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scopes.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24" y="915695"/>
            <a:ext cx="3367404" cy="75628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-25">
                <a:latin typeface="Calibri Light"/>
                <a:cs typeface="Calibri Light"/>
              </a:rPr>
              <a:t>RPM</a:t>
            </a:r>
            <a:r>
              <a:rPr dirty="0" sz="4800" spc="-165">
                <a:latin typeface="Calibri Light"/>
                <a:cs typeface="Calibri Light"/>
              </a:rPr>
              <a:t> </a:t>
            </a:r>
            <a:r>
              <a:rPr dirty="0" sz="4800" spc="-30">
                <a:latin typeface="Calibri Light"/>
                <a:cs typeface="Calibri Light"/>
              </a:rPr>
              <a:t>and</a:t>
            </a:r>
            <a:r>
              <a:rPr dirty="0" sz="4800" spc="-150">
                <a:latin typeface="Calibri Light"/>
                <a:cs typeface="Calibri Light"/>
              </a:rPr>
              <a:t> </a:t>
            </a:r>
            <a:r>
              <a:rPr dirty="0" sz="4800" spc="-110">
                <a:latin typeface="Calibri Light"/>
                <a:cs typeface="Calibri Light"/>
              </a:rPr>
              <a:t>Yum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4884" y="1829511"/>
            <a:ext cx="10092055" cy="2040889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just" marL="12700" marR="5080">
              <a:lnSpc>
                <a:spcPct val="90100"/>
              </a:lnSpc>
              <a:spcBef>
                <a:spcPts val="400"/>
              </a:spcBef>
            </a:pP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RPM is a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popular package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management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tool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in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Red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Hat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Enterprise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Linux-based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distros.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Using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RPM,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you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 can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install,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 uninstall,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and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query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individual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software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packages. Still,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it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cannot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manage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dependency resolution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like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YUM.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RPM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does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 provide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you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useful output, including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list of required packages. </a:t>
            </a:r>
            <a:r>
              <a:rPr dirty="0" sz="2400" spc="-20">
                <a:solidFill>
                  <a:srgbClr val="404040"/>
                </a:solidFill>
                <a:latin typeface="Times New Roman"/>
                <a:cs typeface="Times New Roman"/>
              </a:rPr>
              <a:t>An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RPM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package </a:t>
            </a:r>
            <a:r>
              <a:rPr dirty="0" sz="2400" spc="-5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consists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an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archive of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files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metadata. </a:t>
            </a:r>
            <a:r>
              <a:rPr dirty="0" sz="2400" spc="-5">
                <a:solidFill>
                  <a:srgbClr val="404040"/>
                </a:solidFill>
                <a:latin typeface="Times New Roman"/>
                <a:cs typeface="Times New Roman"/>
              </a:rPr>
              <a:t>Metadata includes helper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scripts, </a:t>
            </a:r>
            <a:r>
              <a:rPr dirty="0" sz="2400" spc="-15">
                <a:solidFill>
                  <a:srgbClr val="404040"/>
                </a:solidFill>
                <a:latin typeface="Times New Roman"/>
                <a:cs typeface="Times New Roman"/>
              </a:rPr>
              <a:t>file </a:t>
            </a:r>
            <a:r>
              <a:rPr dirty="0" sz="24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attributes,</a:t>
            </a:r>
            <a:r>
              <a:rPr dirty="0" sz="2400" spc="-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1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400" spc="-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404040"/>
                </a:solidFill>
                <a:latin typeface="Times New Roman"/>
                <a:cs typeface="Times New Roman"/>
              </a:rPr>
              <a:t>information</a:t>
            </a:r>
            <a:r>
              <a:rPr dirty="0" sz="2400" spc="-7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about</a:t>
            </a:r>
            <a:r>
              <a:rPr dirty="0" sz="2400" spc="-8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400" spc="5">
                <a:solidFill>
                  <a:srgbClr val="404040"/>
                </a:solidFill>
                <a:latin typeface="Times New Roman"/>
                <a:cs typeface="Times New Roman"/>
              </a:rPr>
              <a:t>packages.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804" y="798017"/>
            <a:ext cx="131699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5" b="1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dirty="0" sz="1900" spc="-5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19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900" spc="5" b="1">
                <a:solidFill>
                  <a:srgbClr val="404040"/>
                </a:solidFill>
                <a:latin typeface="Calibri"/>
                <a:cs typeface="Calibri"/>
              </a:rPr>
              <a:t>RPM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2235">
              <a:lnSpc>
                <a:spcPts val="2240"/>
              </a:lnSpc>
              <a:spcBef>
                <a:spcPts val="95"/>
              </a:spcBef>
            </a:pPr>
            <a:r>
              <a:rPr dirty="0" u="heavy" spc="1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hlinkClick r:id="rId2"/>
              </a:rPr>
              <a:t>RPM</a:t>
            </a:r>
            <a:r>
              <a:rPr dirty="0" u="heavy" spc="375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</a:rPr>
              <a:t> </a:t>
            </a:r>
            <a:r>
              <a:rPr dirty="0" spc="-5"/>
              <a:t>is</a:t>
            </a:r>
            <a:r>
              <a:rPr dirty="0" spc="400"/>
              <a:t> </a:t>
            </a:r>
            <a:r>
              <a:rPr dirty="0" spc="-5"/>
              <a:t>a</a:t>
            </a:r>
            <a:r>
              <a:rPr dirty="0" spc="385"/>
              <a:t> </a:t>
            </a:r>
            <a:r>
              <a:rPr dirty="0" spc="-5"/>
              <a:t>command-line</a:t>
            </a:r>
            <a:r>
              <a:rPr dirty="0" spc="390"/>
              <a:t> </a:t>
            </a:r>
            <a:r>
              <a:rPr dirty="0" spc="-5"/>
              <a:t>package</a:t>
            </a:r>
            <a:r>
              <a:rPr dirty="0" spc="390"/>
              <a:t> </a:t>
            </a:r>
            <a:r>
              <a:rPr dirty="0" spc="-5"/>
              <a:t>manager</a:t>
            </a:r>
            <a:r>
              <a:rPr dirty="0" spc="380"/>
              <a:t> </a:t>
            </a:r>
            <a:r>
              <a:rPr dirty="0"/>
              <a:t>developed</a:t>
            </a:r>
            <a:r>
              <a:rPr dirty="0" spc="395"/>
              <a:t> </a:t>
            </a:r>
            <a:r>
              <a:rPr dirty="0" spc="-5"/>
              <a:t>in</a:t>
            </a:r>
            <a:r>
              <a:rPr dirty="0" spc="405"/>
              <a:t> </a:t>
            </a:r>
            <a:r>
              <a:rPr dirty="0" spc="10"/>
              <a:t>1995</a:t>
            </a:r>
            <a:r>
              <a:rPr dirty="0" spc="365"/>
              <a:t> </a:t>
            </a:r>
            <a:r>
              <a:rPr dirty="0" spc="20"/>
              <a:t>by</a:t>
            </a:r>
            <a:r>
              <a:rPr dirty="0" spc="300"/>
              <a:t> </a:t>
            </a:r>
            <a:r>
              <a:rPr dirty="0"/>
              <a:t>Red</a:t>
            </a:r>
            <a:r>
              <a:rPr dirty="0" spc="440"/>
              <a:t> </a:t>
            </a:r>
            <a:r>
              <a:rPr dirty="0" spc="-15"/>
              <a:t>Hat.</a:t>
            </a:r>
            <a:r>
              <a:rPr dirty="0" spc="415"/>
              <a:t> </a:t>
            </a:r>
            <a:r>
              <a:rPr dirty="0" spc="10"/>
              <a:t>The</a:t>
            </a:r>
            <a:r>
              <a:rPr dirty="0" spc="390"/>
              <a:t> </a:t>
            </a:r>
            <a:r>
              <a:rPr dirty="0" spc="-10"/>
              <a:t>package</a:t>
            </a:r>
          </a:p>
          <a:p>
            <a:pPr marL="102235">
              <a:lnSpc>
                <a:spcPts val="1835"/>
              </a:lnSpc>
              <a:tabLst>
                <a:tab pos="1223010" algn="l"/>
                <a:tab pos="1817370" algn="l"/>
                <a:tab pos="2974975" algn="l"/>
                <a:tab pos="3349625" algn="l"/>
                <a:tab pos="4086225" algn="l"/>
                <a:tab pos="4525645" algn="l"/>
                <a:tab pos="5138420" algn="l"/>
                <a:tab pos="6428105" algn="l"/>
                <a:tab pos="7539355" algn="l"/>
                <a:tab pos="8444865" algn="l"/>
                <a:tab pos="9199880" algn="l"/>
                <a:tab pos="9547225" algn="l"/>
                <a:tab pos="10050145" algn="l"/>
              </a:tabLst>
            </a:pPr>
            <a:r>
              <a:rPr dirty="0" spc="-10"/>
              <a:t>manager	</a:t>
            </a:r>
            <a:r>
              <a:rPr dirty="0" spc="-5"/>
              <a:t>was	designed	to	work	</a:t>
            </a:r>
            <a:r>
              <a:rPr dirty="0" spc="-15"/>
              <a:t>on	</a:t>
            </a:r>
            <a:r>
              <a:rPr dirty="0" spc="-5"/>
              <a:t>Red	</a:t>
            </a:r>
            <a:r>
              <a:rPr dirty="0" spc="-10"/>
              <a:t>Hat-based	</a:t>
            </a:r>
            <a:r>
              <a:rPr dirty="0" spc="-5"/>
              <a:t>systems.	</a:t>
            </a:r>
            <a:r>
              <a:rPr dirty="0" spc="-55"/>
              <a:t>Today,	</a:t>
            </a:r>
            <a:r>
              <a:rPr dirty="0" spc="10"/>
              <a:t>RPM	</a:t>
            </a:r>
            <a:r>
              <a:rPr dirty="0" spc="-5"/>
              <a:t>is	</a:t>
            </a:r>
            <a:r>
              <a:rPr dirty="0"/>
              <a:t>the	</a:t>
            </a:r>
            <a:r>
              <a:rPr dirty="0" spc="-15"/>
              <a:t>core</a:t>
            </a:r>
          </a:p>
          <a:p>
            <a:pPr marL="102235" marR="5080">
              <a:lnSpc>
                <a:spcPct val="71000"/>
              </a:lnSpc>
              <a:spcBef>
                <a:spcPts val="365"/>
              </a:spcBef>
              <a:tabLst>
                <a:tab pos="1548130" algn="l"/>
                <a:tab pos="1986914" algn="l"/>
                <a:tab pos="2819400" algn="l"/>
                <a:tab pos="3688715" algn="l"/>
                <a:tab pos="5367020" algn="l"/>
                <a:tab pos="6629400" algn="l"/>
                <a:tab pos="7795895" algn="l"/>
                <a:tab pos="8838565" algn="l"/>
                <a:tab pos="9798685" algn="l"/>
              </a:tabLst>
            </a:pPr>
            <a:r>
              <a:rPr dirty="0" spc="-5"/>
              <a:t>c</a:t>
            </a:r>
            <a:r>
              <a:rPr dirty="0" spc="-30"/>
              <a:t>o</a:t>
            </a:r>
            <a:r>
              <a:rPr dirty="0" spc="-25"/>
              <a:t>m</a:t>
            </a:r>
            <a:r>
              <a:rPr dirty="0" spc="10"/>
              <a:t>p</a:t>
            </a:r>
            <a:r>
              <a:rPr dirty="0" spc="-25"/>
              <a:t>o</a:t>
            </a:r>
            <a:r>
              <a:rPr dirty="0" spc="10"/>
              <a:t>n</a:t>
            </a:r>
            <a:r>
              <a:rPr dirty="0" spc="-5"/>
              <a:t>e</a:t>
            </a:r>
            <a:r>
              <a:rPr dirty="0" spc="5"/>
              <a:t>n</a:t>
            </a:r>
            <a:r>
              <a:rPr dirty="0" spc="-5"/>
              <a:t>t</a:t>
            </a:r>
            <a:r>
              <a:rPr dirty="0"/>
              <a:t>	</a:t>
            </a:r>
            <a:r>
              <a:rPr dirty="0" spc="10"/>
              <a:t>o</a:t>
            </a:r>
            <a:r>
              <a:rPr dirty="0" spc="-5"/>
              <a:t>f</a:t>
            </a:r>
            <a:r>
              <a:rPr dirty="0"/>
              <a:t>	</a:t>
            </a:r>
            <a:r>
              <a:rPr dirty="0" spc="-25"/>
              <a:t>m</a:t>
            </a:r>
            <a:r>
              <a:rPr dirty="0" spc="-5"/>
              <a:t>a</a:t>
            </a:r>
            <a:r>
              <a:rPr dirty="0" spc="45"/>
              <a:t>n</a:t>
            </a:r>
            <a:r>
              <a:rPr dirty="0" spc="-5"/>
              <a:t>y</a:t>
            </a:r>
            <a:r>
              <a:rPr dirty="0"/>
              <a:t>	</a:t>
            </a:r>
            <a:r>
              <a:rPr dirty="0" spc="-50"/>
              <a:t>L</a:t>
            </a:r>
            <a:r>
              <a:rPr dirty="0" spc="-5"/>
              <a:t>i</a:t>
            </a:r>
            <a:r>
              <a:rPr dirty="0" spc="15"/>
              <a:t>n</a:t>
            </a:r>
            <a:r>
              <a:rPr dirty="0" spc="10"/>
              <a:t>u</a:t>
            </a:r>
            <a:r>
              <a:rPr dirty="0" spc="-5"/>
              <a:t>x</a:t>
            </a:r>
            <a:r>
              <a:rPr dirty="0"/>
              <a:t>	</a:t>
            </a:r>
            <a:r>
              <a:rPr dirty="0" spc="10"/>
              <a:t>d</a:t>
            </a:r>
            <a:r>
              <a:rPr dirty="0" spc="-5"/>
              <a:t>i</a:t>
            </a:r>
            <a:r>
              <a:rPr dirty="0"/>
              <a:t>s</a:t>
            </a:r>
            <a:r>
              <a:rPr dirty="0" spc="-5"/>
              <a:t>t</a:t>
            </a:r>
            <a:r>
              <a:rPr dirty="0" spc="-20"/>
              <a:t>r</a:t>
            </a:r>
            <a:r>
              <a:rPr dirty="0" spc="-5"/>
              <a:t>i</a:t>
            </a:r>
            <a:r>
              <a:rPr dirty="0" spc="10"/>
              <a:t>bu</a:t>
            </a:r>
            <a:r>
              <a:rPr dirty="0" spc="-5"/>
              <a:t>ti</a:t>
            </a:r>
            <a:r>
              <a:rPr dirty="0" spc="-25"/>
              <a:t>o</a:t>
            </a:r>
            <a:r>
              <a:rPr dirty="0" spc="10"/>
              <a:t>n</a:t>
            </a:r>
            <a:r>
              <a:rPr dirty="0"/>
              <a:t>s</a:t>
            </a:r>
            <a:r>
              <a:rPr dirty="0" spc="-5"/>
              <a:t>,</a:t>
            </a:r>
            <a:r>
              <a:rPr dirty="0"/>
              <a:t>	</a:t>
            </a:r>
            <a:r>
              <a:rPr dirty="0" spc="-5"/>
              <a:t>i</a:t>
            </a:r>
            <a:r>
              <a:rPr dirty="0" spc="10"/>
              <a:t>n</a:t>
            </a:r>
            <a:r>
              <a:rPr dirty="0" spc="-5"/>
              <a:t>cl</a:t>
            </a:r>
            <a:r>
              <a:rPr dirty="0" spc="5"/>
              <a:t>u</a:t>
            </a:r>
            <a:r>
              <a:rPr dirty="0" spc="10"/>
              <a:t>d</a:t>
            </a:r>
            <a:r>
              <a:rPr dirty="0" spc="-40"/>
              <a:t>i</a:t>
            </a:r>
            <a:r>
              <a:rPr dirty="0" spc="10"/>
              <a:t>n</a:t>
            </a:r>
            <a:r>
              <a:rPr dirty="0" spc="-5"/>
              <a:t>g</a:t>
            </a:r>
            <a:r>
              <a:rPr dirty="0"/>
              <a:t>	</a:t>
            </a:r>
            <a:r>
              <a:rPr dirty="0"/>
              <a:t>C</a:t>
            </a:r>
            <a:r>
              <a:rPr dirty="0" spc="-5"/>
              <a:t>e</a:t>
            </a:r>
            <a:r>
              <a:rPr dirty="0" spc="5"/>
              <a:t>n</a:t>
            </a:r>
            <a:r>
              <a:rPr dirty="0" spc="-5"/>
              <a:t>tOS,</a:t>
            </a:r>
            <a:r>
              <a:rPr dirty="0"/>
              <a:t>	</a:t>
            </a:r>
            <a:r>
              <a:rPr dirty="0" spc="-80"/>
              <a:t>F</a:t>
            </a:r>
            <a:r>
              <a:rPr dirty="0" spc="-5"/>
              <a:t>e</a:t>
            </a:r>
            <a:r>
              <a:rPr dirty="0" spc="5"/>
              <a:t>d</a:t>
            </a:r>
            <a:r>
              <a:rPr dirty="0" spc="10"/>
              <a:t>o</a:t>
            </a:r>
            <a:r>
              <a:rPr dirty="0" spc="-20"/>
              <a:t>r</a:t>
            </a:r>
            <a:r>
              <a:rPr dirty="0" spc="-5"/>
              <a:t>a,</a:t>
            </a:r>
            <a:r>
              <a:rPr dirty="0"/>
              <a:t>	</a:t>
            </a:r>
            <a:r>
              <a:rPr dirty="0" spc="25"/>
              <a:t>O</a:t>
            </a:r>
            <a:r>
              <a:rPr dirty="0" spc="-20"/>
              <a:t>r</a:t>
            </a:r>
            <a:r>
              <a:rPr dirty="0" spc="25"/>
              <a:t>a</a:t>
            </a:r>
            <a:r>
              <a:rPr dirty="0" spc="-5"/>
              <a:t>cle</a:t>
            </a:r>
            <a:r>
              <a:rPr dirty="0"/>
              <a:t>	</a:t>
            </a:r>
            <a:r>
              <a:rPr dirty="0" spc="-55"/>
              <a:t>L</a:t>
            </a:r>
            <a:r>
              <a:rPr dirty="0" spc="-5"/>
              <a:t>i</a:t>
            </a:r>
            <a:r>
              <a:rPr dirty="0" spc="10"/>
              <a:t>nu</a:t>
            </a:r>
            <a:r>
              <a:rPr dirty="0" spc="-25"/>
              <a:t>x</a:t>
            </a:r>
            <a:r>
              <a:rPr dirty="0" spc="-5"/>
              <a:t>,  </a:t>
            </a:r>
            <a:r>
              <a:rPr dirty="0" spc="-5"/>
              <a:t>openSUSE,</a:t>
            </a:r>
            <a:r>
              <a:rPr dirty="0" spc="10"/>
              <a:t> </a:t>
            </a:r>
            <a:r>
              <a:rPr dirty="0" spc="-10"/>
              <a:t>Mageia,</a:t>
            </a:r>
            <a:r>
              <a:rPr dirty="0" spc="15"/>
              <a:t> </a:t>
            </a:r>
            <a:r>
              <a:rPr dirty="0" spc="-5"/>
              <a:t>etc.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5804" y="2285492"/>
            <a:ext cx="10543540" cy="3622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4139">
              <a:lnSpc>
                <a:spcPts val="2240"/>
              </a:lnSpc>
              <a:spcBef>
                <a:spcPts val="95"/>
              </a:spcBef>
              <a:tabLst>
                <a:tab pos="671195" algn="l"/>
                <a:tab pos="1398270" algn="l"/>
                <a:tab pos="2450465" algn="l"/>
                <a:tab pos="3543300" algn="l"/>
                <a:tab pos="4407535" algn="l"/>
                <a:tab pos="5121275" algn="l"/>
                <a:tab pos="5473700" algn="l"/>
                <a:tab pos="6301105" algn="l"/>
                <a:tab pos="7156450" algn="l"/>
                <a:tab pos="8043545" algn="l"/>
                <a:tab pos="9150350" algn="l"/>
                <a:tab pos="9695180" algn="l"/>
              </a:tabLst>
            </a:pP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3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ac</a:t>
            </a:r>
            <a:r>
              <a:rPr dirty="0" sz="2200" spc="-30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-3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-3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al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l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ws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u</a:t>
            </a:r>
            <a:r>
              <a:rPr dirty="0" sz="2200" spc="40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qu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5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204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r>
              <a:rPr dirty="0" sz="2200" spc="5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dirty="0" sz="2200" spc="-204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tall,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up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e,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ov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  <a:p>
            <a:pPr marL="104139">
              <a:lnSpc>
                <a:spcPts val="1855"/>
              </a:lnSpc>
            </a:pP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packages.</a:t>
            </a:r>
            <a:r>
              <a:rPr dirty="0" sz="2200" spc="1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175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main</a:t>
            </a:r>
            <a:r>
              <a:rPr dirty="0" sz="2200" spc="14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downside</a:t>
            </a:r>
            <a:r>
              <a:rPr dirty="0" sz="2200" spc="14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dirty="0" sz="2200" spc="1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dirty="0" sz="2200" spc="1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dirty="0" sz="2200" spc="1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doesn't</a:t>
            </a:r>
            <a:r>
              <a:rPr dirty="0" sz="2200" spc="1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resolve</a:t>
            </a:r>
            <a:r>
              <a:rPr dirty="0" sz="2200" spc="1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package</a:t>
            </a:r>
            <a:r>
              <a:rPr dirty="0" sz="2200" spc="1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dependencies</a:t>
            </a:r>
            <a:r>
              <a:rPr dirty="0" sz="2200" spc="1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dirty="0" sz="2200" spc="1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automatic</a:t>
            </a:r>
            <a:endParaRPr sz="2200">
              <a:latin typeface="Times New Roman"/>
              <a:cs typeface="Times New Roman"/>
            </a:endParaRPr>
          </a:p>
          <a:p>
            <a:pPr marL="104139">
              <a:lnSpc>
                <a:spcPts val="2255"/>
              </a:lnSpc>
            </a:pP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package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updates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900" spc="-5" b="1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dirty="0" sz="19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19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900" spc="10" b="1">
                <a:solidFill>
                  <a:srgbClr val="404040"/>
                </a:solidFill>
                <a:latin typeface="Calibri"/>
                <a:cs typeface="Calibri"/>
              </a:rPr>
              <a:t>YUM</a:t>
            </a:r>
            <a:endParaRPr sz="1900">
              <a:latin typeface="Calibri"/>
              <a:cs typeface="Calibri"/>
            </a:endParaRPr>
          </a:p>
          <a:p>
            <a:pPr marL="104139">
              <a:lnSpc>
                <a:spcPts val="2240"/>
              </a:lnSpc>
              <a:spcBef>
                <a:spcPts val="590"/>
              </a:spcBef>
              <a:tabLst>
                <a:tab pos="895350" algn="l"/>
                <a:tab pos="1955800" algn="l"/>
                <a:tab pos="2582545" algn="l"/>
                <a:tab pos="3684904" algn="l"/>
                <a:tab pos="4979670" algn="l"/>
                <a:tab pos="5308600" algn="l"/>
                <a:tab pos="5720080" algn="l"/>
                <a:tab pos="7234555" algn="l"/>
                <a:tab pos="8039100" algn="l"/>
                <a:tab pos="9104630" algn="l"/>
              </a:tabLst>
            </a:pP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YUM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(</a:t>
            </a:r>
            <a:r>
              <a:rPr dirty="0" sz="2200" spc="-5" b="1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ellow	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Dog	</a:t>
            </a:r>
            <a:r>
              <a:rPr dirty="0" sz="2200" spc="-10" b="1">
                <a:solidFill>
                  <a:srgbClr val="404040"/>
                </a:solidFill>
                <a:latin typeface="Times New Roman"/>
                <a:cs typeface="Times New Roman"/>
              </a:rPr>
              <a:t>U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pdater,	</a:t>
            </a:r>
            <a:r>
              <a:rPr dirty="0" sz="2200" b="1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odified)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is	an	open-source	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Linux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package	management</a:t>
            </a:r>
            <a:endParaRPr sz="2200">
              <a:latin typeface="Times New Roman"/>
              <a:cs typeface="Times New Roman"/>
            </a:endParaRPr>
          </a:p>
          <a:p>
            <a:pPr marL="104139">
              <a:lnSpc>
                <a:spcPts val="1855"/>
              </a:lnSpc>
            </a:pP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application</a:t>
            </a:r>
            <a:r>
              <a:rPr dirty="0" sz="2200" spc="2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dirty="0" sz="2200" spc="254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uses</a:t>
            </a:r>
            <a:r>
              <a:rPr dirty="0" sz="2200" spc="254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254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RPM</a:t>
            </a:r>
            <a:r>
              <a:rPr dirty="0" sz="2200" spc="2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package</a:t>
            </a:r>
            <a:r>
              <a:rPr dirty="0" sz="2200" spc="29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manager.</a:t>
            </a:r>
            <a:r>
              <a:rPr dirty="0" sz="2200" spc="28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dirty="0" sz="2200" spc="30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front-end</a:t>
            </a:r>
            <a:r>
              <a:rPr dirty="0" sz="2200" spc="27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RPM</a:t>
            </a:r>
            <a:r>
              <a:rPr dirty="0" sz="2200" spc="24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tool</a:t>
            </a:r>
            <a:r>
              <a:rPr dirty="0" sz="2200" spc="2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allows</a:t>
            </a:r>
            <a:r>
              <a:rPr dirty="0" sz="2200" spc="2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users</a:t>
            </a:r>
            <a:r>
              <a:rPr dirty="0" sz="2200" spc="2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endParaRPr sz="2200">
              <a:latin typeface="Times New Roman"/>
              <a:cs typeface="Times New Roman"/>
            </a:endParaRPr>
          </a:p>
          <a:p>
            <a:pPr marL="104139">
              <a:lnSpc>
                <a:spcPts val="1855"/>
              </a:lnSpc>
            </a:pP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search</a:t>
            </a:r>
            <a:r>
              <a:rPr dirty="0" sz="2200" spc="1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official</a:t>
            </a:r>
            <a:r>
              <a:rPr dirty="0" sz="2200" spc="1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200" spc="16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third-party</a:t>
            </a:r>
            <a:r>
              <a:rPr dirty="0" sz="2200" spc="1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repositories</a:t>
            </a:r>
            <a:r>
              <a:rPr dirty="0" sz="2200" spc="1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dirty="0" sz="2200" spc="1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install,</a:t>
            </a:r>
            <a:r>
              <a:rPr dirty="0" sz="2200" spc="1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update,</a:t>
            </a:r>
            <a:r>
              <a:rPr dirty="0" sz="2200" spc="1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dirty="0" sz="2200" spc="1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remove</a:t>
            </a:r>
            <a:r>
              <a:rPr dirty="0" sz="2200" spc="1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packages</a:t>
            </a:r>
            <a:r>
              <a:rPr dirty="0" sz="2200" spc="1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dirty="0" sz="2200" spc="12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104139">
              <a:lnSpc>
                <a:spcPts val="2240"/>
              </a:lnSpc>
            </a:pP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system.</a:t>
            </a:r>
            <a:endParaRPr sz="2200">
              <a:latin typeface="Times New Roman"/>
              <a:cs typeface="Times New Roman"/>
            </a:endParaRPr>
          </a:p>
          <a:p>
            <a:pPr marL="104139">
              <a:lnSpc>
                <a:spcPts val="2255"/>
              </a:lnSpc>
              <a:spcBef>
                <a:spcPts val="600"/>
              </a:spcBef>
            </a:pP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YUM</a:t>
            </a:r>
            <a:r>
              <a:rPr dirty="0" sz="2200" spc="1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works</a:t>
            </a:r>
            <a:r>
              <a:rPr dirty="0" sz="2200" spc="1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dirty="0" sz="2200" spc="19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online</a:t>
            </a:r>
            <a:r>
              <a:rPr dirty="0" sz="2200" spc="1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repositories</a:t>
            </a:r>
            <a:r>
              <a:rPr dirty="0" sz="2200" spc="15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listed</a:t>
            </a:r>
            <a:r>
              <a:rPr dirty="0" sz="2200" spc="15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dirty="0" sz="2200" spc="1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1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 i="1">
                <a:solidFill>
                  <a:srgbClr val="404040"/>
                </a:solidFill>
                <a:latin typeface="Times New Roman"/>
                <a:cs typeface="Times New Roman"/>
              </a:rPr>
              <a:t>/etc/yum.repos.d/*.repo</a:t>
            </a:r>
            <a:r>
              <a:rPr dirty="0" sz="2200" spc="160" i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file.</a:t>
            </a:r>
            <a:r>
              <a:rPr dirty="0" sz="2200" spc="2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Additionally,</a:t>
            </a:r>
            <a:endParaRPr sz="2200">
              <a:latin typeface="Times New Roman"/>
              <a:cs typeface="Times New Roman"/>
            </a:endParaRPr>
          </a:p>
          <a:p>
            <a:pPr marL="104139">
              <a:lnSpc>
                <a:spcPts val="2255"/>
              </a:lnSpc>
            </a:pP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tool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allows</a:t>
            </a:r>
            <a:r>
              <a:rPr dirty="0" sz="2200" spc="3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users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dirty="0" sz="2200" spc="-3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add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their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Times New Roman"/>
                <a:cs typeface="Times New Roman"/>
              </a:rPr>
              <a:t>own</a:t>
            </a:r>
            <a:r>
              <a:rPr dirty="0" sz="2200" spc="4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10" i="1">
                <a:solidFill>
                  <a:srgbClr val="404040"/>
                </a:solidFill>
                <a:latin typeface="Times New Roman"/>
                <a:cs typeface="Times New Roman"/>
              </a:rPr>
              <a:t>*.repo</a:t>
            </a:r>
            <a:r>
              <a:rPr dirty="0" sz="2200" spc="-30" i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files.</a:t>
            </a:r>
            <a:endParaRPr sz="2200">
              <a:latin typeface="Times New Roman"/>
              <a:cs typeface="Times New Roman"/>
            </a:endParaRPr>
          </a:p>
          <a:p>
            <a:pPr marL="104139" marR="5080">
              <a:lnSpc>
                <a:spcPct val="69600"/>
              </a:lnSpc>
              <a:spcBef>
                <a:spcPts val="1400"/>
              </a:spcBef>
              <a:tabLst>
                <a:tab pos="1114425" algn="l"/>
                <a:tab pos="2203450" algn="l"/>
                <a:tab pos="2903220" algn="l"/>
                <a:tab pos="3698875" algn="l"/>
                <a:tab pos="4243070" algn="l"/>
                <a:tab pos="5546725" algn="l"/>
                <a:tab pos="6676390" algn="l"/>
                <a:tab pos="7371715" algn="l"/>
                <a:tab pos="8496300" algn="l"/>
                <a:tab pos="10124440" algn="l"/>
              </a:tabLst>
            </a:pP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YU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200" spc="-80">
                <a:solidFill>
                  <a:srgbClr val="404040"/>
                </a:solidFill>
                <a:latin typeface="Times New Roman"/>
                <a:cs typeface="Times New Roman"/>
              </a:rPr>
              <a:t>'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2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its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v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er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3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r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u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o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atic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upd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at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1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35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p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2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r>
              <a:rPr dirty="0" sz="2200" spc="2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-25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dirty="0" sz="220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dirty="0" sz="2200" spc="1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d  </a:t>
            </a:r>
            <a:r>
              <a:rPr dirty="0" sz="2200" spc="5">
                <a:solidFill>
                  <a:srgbClr val="404040"/>
                </a:solidFill>
                <a:latin typeface="Times New Roman"/>
                <a:cs typeface="Times New Roman"/>
              </a:rPr>
              <a:t>dependency</a:t>
            </a:r>
            <a:r>
              <a:rPr dirty="0" sz="2200" spc="-65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200" spc="-5">
                <a:solidFill>
                  <a:srgbClr val="404040"/>
                </a:solidFill>
                <a:latin typeface="Times New Roman"/>
                <a:cs typeface="Times New Roman"/>
              </a:rPr>
              <a:t>management.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2024-12-10T11:36:37Z</dcterms:created>
  <dcterms:modified xsi:type="dcterms:W3CDTF">2024-12-10T11:36:37Z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2024-01-18T00:00:00Z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2024-12-10T00:00:00Z</vt:filetime>
  </property>
</Properties>
</file>