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612E1-50BB-4D39-A947-2FA1985E3DC1}" type="datetimeFigureOut">
              <a:rPr lang="en-US" smtClean="0"/>
              <a:t>17-Sep-23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4A13E-E486-4652-91A6-C373BCC91415}" type="slidenum">
              <a:rPr lang="en-US" smtClean="0"/>
              <a:t>‹#›</a:t>
            </a:fld>
            <a:endParaRPr lang="en-US" dirty="0"/>
          </a:p>
        </p:txBody>
      </p:sp>
    </p:spTree>
    <p:extLst>
      <p:ext uri="{BB962C8B-B14F-4D97-AF65-F5344CB8AC3E}">
        <p14:creationId xmlns:p14="http://schemas.microsoft.com/office/powerpoint/2010/main" val="363107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lvl1pPr>
              <a:defRPr>
                <a:latin typeface="Cambria" pitchFamily="18" charset="0"/>
              </a:defRPr>
            </a:lvl1pPr>
          </a:lstStyle>
          <a:p>
            <a:fld id="{1D65F0D8-3483-4E75-BE56-B8181858E28A}" type="datetimeFigureOut">
              <a:rPr lang="en-US" smtClean="0"/>
              <a:pPr/>
              <a:t>17-Sep-23</a:t>
            </a:fld>
            <a:endParaRPr lang="en-US" dirty="0"/>
          </a:p>
        </p:txBody>
      </p:sp>
      <p:sp>
        <p:nvSpPr>
          <p:cNvPr id="17" name="Footer Placeholder 16"/>
          <p:cNvSpPr>
            <a:spLocks noGrp="1"/>
          </p:cNvSpPr>
          <p:nvPr>
            <p:ph type="ftr" sz="quarter" idx="11"/>
          </p:nvPr>
        </p:nvSpPr>
        <p:spPr/>
        <p:txBody>
          <a:bodyPr/>
          <a:lstStyle>
            <a:lvl1pPr>
              <a:defRPr>
                <a:latin typeface="Cambria" pitchFamily="18" charset="0"/>
              </a:defRPr>
            </a:lvl1p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48ED27E2-38FA-439A-8819-60CEBB2B9B55}" type="slidenum">
              <a:rPr lang="en-US" smtClean="0"/>
              <a:pPr/>
              <a:t>‹#›</a:t>
            </a:fld>
            <a:endParaRPr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mbria" pitchFamily="18" charset="0"/>
              </a:defRPr>
            </a:lvl1pPr>
          </a:lstStyle>
          <a:p>
            <a:r>
              <a:rPr kumimoji="0" lang="en-US" dirty="0" smtClean="0"/>
              <a:t>Click to edit Master title style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kumimoji="0" lang="en-US" dirty="0" smtClean="0"/>
              <a:t>Click to edit Master title style</a:t>
            </a:r>
            <a:endParaRPr kumimoji="0" lang="en-US" dirty="0"/>
          </a:p>
        </p:txBody>
      </p:sp>
      <p:sp>
        <p:nvSpPr>
          <p:cNvPr id="4" name="Date Placeholder 3"/>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dirty="0" smtClean="0"/>
              <a:t>Click to edit Master text styles</a:t>
            </a:r>
          </a:p>
        </p:txBody>
      </p:sp>
      <p:sp>
        <p:nvSpPr>
          <p:cNvPr id="4" name="Date Placeholder 3"/>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5" name="Footer Placeholder 4"/>
          <p:cNvSpPr>
            <a:spLocks noGrp="1"/>
          </p:cNvSpPr>
          <p:nvPr>
            <p:ph type="ftr" sz="quarter" idx="11"/>
          </p:nvPr>
        </p:nvSpPr>
        <p:spPr>
          <a:xfrm>
            <a:off x="800100" y="6172200"/>
            <a:ext cx="4000500" cy="457200"/>
          </a:xfrm>
        </p:spPr>
        <p:txBody>
          <a:bodyPr/>
          <a:lstStyle/>
          <a:p>
            <a:endParaRPr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5" name="Date Placeholder 4"/>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3" name="Date Placeholder 2"/>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6" name="Footer Placeholder 5"/>
          <p:cNvSpPr>
            <a:spLocks noGrp="1"/>
          </p:cNvSpPr>
          <p:nvPr>
            <p:ph type="ftr" sz="quarter" idx="11"/>
          </p:nvPr>
        </p:nvSpPr>
        <p:spPr>
          <a:xfrm>
            <a:off x="914400" y="6172200"/>
            <a:ext cx="3886200" cy="457200"/>
          </a:xfrm>
        </p:spPr>
        <p:txBody>
          <a:bodyPr/>
          <a:lstStyle/>
          <a:p>
            <a:endParaRPr lang="en-US" dirty="0"/>
          </a:p>
        </p:txBody>
      </p:sp>
      <p:sp>
        <p:nvSpPr>
          <p:cNvPr id="7" name="Slide Number Placeholder 6"/>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17-Sep-23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274638"/>
            <a:ext cx="7772400" cy="487362"/>
          </a:xfrm>
          <a:prstGeom prst="rect">
            <a:avLst/>
          </a:prstGeom>
          <a:solidFill>
            <a:schemeClr val="accent1">
              <a:alpha val="72000"/>
            </a:schemeClr>
          </a:solidFill>
        </p:spPr>
        <p:txBody>
          <a:bodyPr bIns="91440" anchor="b" anchorCtr="0">
            <a:no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65F0D8-3483-4E75-BE56-B8181858E28A}" type="datetimeFigureOut">
              <a:rPr lang="en-US" smtClean="0"/>
              <a:pPr/>
              <a:t>17-Sep-23</a:t>
            </a:fld>
            <a:endParaRPr lang="en-US" dirty="0"/>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48ED27E2-38FA-439A-8819-60CEBB2B9B5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2800" b="1" kern="1200">
          <a:solidFill>
            <a:schemeClr val="bg1"/>
          </a:solidFill>
          <a:latin typeface="Cambria" pitchFamily="18" charset="0"/>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Cambria" pitchFamily="18" charset="0"/>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Cambria" pitchFamily="18" charset="0"/>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Cambria" pitchFamily="18" charset="0"/>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Cambria" pitchFamily="18" charset="0"/>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Cambria" pitchFamily="18"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geeksforgeeks.org/can-override-private-methods-java/"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24000"/>
            <a:ext cx="8229600" cy="1470025"/>
          </a:xfrm>
        </p:spPr>
        <p:txBody>
          <a:bodyPr/>
          <a:lstStyle/>
          <a:p>
            <a:r>
              <a:rPr lang="en-US" b="0" dirty="0"/>
              <a:t>Java Programming</a:t>
            </a:r>
            <a:endParaRPr lang="en-US" dirty="0"/>
          </a:p>
        </p:txBody>
      </p:sp>
      <p:sp>
        <p:nvSpPr>
          <p:cNvPr id="6" name="Rectangle 5"/>
          <p:cNvSpPr/>
          <p:nvPr/>
        </p:nvSpPr>
        <p:spPr>
          <a:xfrm>
            <a:off x="381000" y="3105835"/>
            <a:ext cx="8305800" cy="1323439"/>
          </a:xfrm>
          <a:prstGeom prst="rect">
            <a:avLst/>
          </a:prstGeom>
        </p:spPr>
        <p:txBody>
          <a:bodyPr wrap="square">
            <a:spAutoFit/>
          </a:bodyPr>
          <a:lstStyle/>
          <a:p>
            <a:pPr algn="ctr"/>
            <a:r>
              <a:rPr lang="en-US" sz="4000" b="1" dirty="0"/>
              <a:t>Java Programming</a:t>
            </a:r>
            <a:r>
              <a:rPr lang="en-US" sz="4000" b="1" dirty="0" smtClean="0"/>
              <a:t/>
            </a:r>
            <a:br>
              <a:rPr lang="en-US" sz="4000" b="1" dirty="0" smtClean="0"/>
            </a:br>
            <a:r>
              <a:rPr lang="en-US" sz="4000" dirty="0"/>
              <a:t>IT-11</a:t>
            </a:r>
            <a:endParaRPr 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563562"/>
          </a:xfrm>
        </p:spPr>
        <p:txBody>
          <a:bodyPr>
            <a:noAutofit/>
          </a:bodyPr>
          <a:lstStyle/>
          <a:p>
            <a:pPr fontAlgn="base"/>
            <a:r>
              <a:rPr lang="en-US" sz="2400" dirty="0"/>
              <a:t>Inheritance in Java</a:t>
            </a:r>
          </a:p>
        </p:txBody>
      </p:sp>
      <p:sp>
        <p:nvSpPr>
          <p:cNvPr id="3" name="Content Placeholder 2"/>
          <p:cNvSpPr>
            <a:spLocks noGrp="1"/>
          </p:cNvSpPr>
          <p:nvPr>
            <p:ph sz="quarter" idx="1"/>
          </p:nvPr>
        </p:nvSpPr>
        <p:spPr>
          <a:xfrm>
            <a:off x="321860" y="1066800"/>
            <a:ext cx="8610600" cy="5562600"/>
          </a:xfrm>
        </p:spPr>
        <p:txBody>
          <a:bodyPr>
            <a:normAutofit/>
          </a:bodyPr>
          <a:lstStyle/>
          <a:p>
            <a:r>
              <a:rPr lang="en-US" b="1" dirty="0"/>
              <a:t>Inheritance in Java</a:t>
            </a:r>
            <a:r>
              <a:rPr lang="en-US" dirty="0"/>
              <a:t> is a mechanism in which one object acquires all the properties and behaviors of a parent object. </a:t>
            </a:r>
            <a:endParaRPr lang="en-US" dirty="0" smtClean="0"/>
          </a:p>
          <a:p>
            <a:r>
              <a:rPr lang="en-US" dirty="0" smtClean="0"/>
              <a:t>It </a:t>
            </a:r>
            <a:r>
              <a:rPr lang="en-US" dirty="0"/>
              <a:t>is an important part of OOPs (Object Oriented programming system).</a:t>
            </a:r>
          </a:p>
          <a:p>
            <a:r>
              <a:rPr lang="en-US" dirty="0"/>
              <a:t>The idea behind inheritance in Java is that you can create new classes that are built upon existing </a:t>
            </a:r>
            <a:r>
              <a:rPr lang="en-US" dirty="0" smtClean="0"/>
              <a:t>classes.</a:t>
            </a:r>
          </a:p>
          <a:p>
            <a:r>
              <a:rPr lang="en-US" dirty="0" smtClean="0"/>
              <a:t> </a:t>
            </a:r>
            <a:r>
              <a:rPr lang="en-US" dirty="0"/>
              <a:t>When you inherit from an existing class, you can reuse methods and fields of the parent class. Moreover, you can add new methods and fields in your current class also.</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inheritance in </a:t>
            </a:r>
            <a:r>
              <a:rPr lang="en-US" dirty="0" smtClean="0"/>
              <a:t>java</a:t>
            </a:r>
            <a:endParaRPr lang="en-US" dirty="0"/>
          </a:p>
        </p:txBody>
      </p:sp>
      <p:sp>
        <p:nvSpPr>
          <p:cNvPr id="3" name="Content Placeholder 2"/>
          <p:cNvSpPr>
            <a:spLocks noGrp="1"/>
          </p:cNvSpPr>
          <p:nvPr>
            <p:ph sz="quarter" idx="1"/>
          </p:nvPr>
        </p:nvSpPr>
        <p:spPr>
          <a:xfrm>
            <a:off x="914400" y="990600"/>
            <a:ext cx="7772400" cy="5562600"/>
          </a:xfrm>
        </p:spPr>
        <p:txBody>
          <a:bodyPr>
            <a:normAutofit fontScale="92500" lnSpcReduction="20000"/>
          </a:bodyPr>
          <a:lstStyle/>
          <a:p>
            <a:pPr fontAlgn="base">
              <a:lnSpc>
                <a:spcPct val="160000"/>
              </a:lnSpc>
            </a:pPr>
            <a:r>
              <a:rPr lang="en-US" b="1" dirty="0"/>
              <a:t>Code Reusability: </a:t>
            </a:r>
            <a:r>
              <a:rPr lang="en-US" dirty="0"/>
              <a:t>The code written in the Superclass is common to all subclasses. Child classes can directly use the parent class code.</a:t>
            </a:r>
          </a:p>
          <a:p>
            <a:pPr fontAlgn="base">
              <a:lnSpc>
                <a:spcPct val="160000"/>
              </a:lnSpc>
            </a:pPr>
            <a:r>
              <a:rPr lang="en-US" b="1" dirty="0"/>
              <a:t>Method Overriding: </a:t>
            </a:r>
            <a:r>
              <a:rPr lang="en-US" dirty="0"/>
              <a:t>Method</a:t>
            </a:r>
            <a:r>
              <a:rPr lang="en-US" u="sng" dirty="0"/>
              <a:t> </a:t>
            </a:r>
            <a:r>
              <a:rPr lang="en-US" dirty="0"/>
              <a:t>Overriding is achievable only through Inheritance. It is one of the ways by which Java achieves Run Time Polymorphism.</a:t>
            </a:r>
          </a:p>
          <a:p>
            <a:pPr fontAlgn="base">
              <a:lnSpc>
                <a:spcPct val="160000"/>
              </a:lnSpc>
            </a:pPr>
            <a:r>
              <a:rPr lang="en-US" b="1" dirty="0"/>
              <a:t>Abstraction: </a:t>
            </a:r>
            <a:r>
              <a:rPr lang="en-US" dirty="0"/>
              <a:t>The concept of abstract where we do not have to provide all details is achieved through inheritance. </a:t>
            </a:r>
            <a:r>
              <a:rPr lang="en-US" dirty="0" smtClean="0"/>
              <a:t>Abstraction</a:t>
            </a:r>
            <a:r>
              <a:rPr lang="en-US" dirty="0"/>
              <a:t> </a:t>
            </a:r>
            <a:r>
              <a:rPr lang="en-US" dirty="0" smtClean="0"/>
              <a:t>only </a:t>
            </a:r>
            <a:r>
              <a:rPr lang="en-US" dirty="0"/>
              <a:t>shows the functionality to the user.</a:t>
            </a:r>
          </a:p>
          <a:p>
            <a:pPr>
              <a:lnSpc>
                <a:spcPct val="160000"/>
              </a:lnSpc>
            </a:pPr>
            <a:endParaRPr lang="en-US" dirty="0"/>
          </a:p>
        </p:txBody>
      </p:sp>
    </p:spTree>
    <p:extLst>
      <p:ext uri="{BB962C8B-B14F-4D97-AF65-F5344CB8AC3E}">
        <p14:creationId xmlns:p14="http://schemas.microsoft.com/office/powerpoint/2010/main" val="817740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219200"/>
            <a:ext cx="7772400" cy="5257800"/>
          </a:xfrm>
        </p:spPr>
        <p:txBody>
          <a:bodyPr>
            <a:normAutofit/>
          </a:bodyPr>
          <a:lstStyle/>
          <a:p>
            <a:pPr fontAlgn="base"/>
            <a:r>
              <a:rPr lang="en-US" b="1" dirty="0"/>
              <a:t>Class: </a:t>
            </a:r>
            <a:r>
              <a:rPr lang="en-US" dirty="0"/>
              <a:t>Class is a set of objects which shares common characteristics/ behavior and common properties/ attributes. Class is not a real-world entity. It is just a template or blueprint or prototype from which objects are created</a:t>
            </a:r>
            <a:r>
              <a:rPr lang="en-US" dirty="0" smtClean="0"/>
              <a:t>.</a:t>
            </a:r>
          </a:p>
          <a:p>
            <a:pPr fontAlgn="base"/>
            <a:endParaRPr lang="en-US" dirty="0"/>
          </a:p>
          <a:p>
            <a:pPr fontAlgn="base"/>
            <a:r>
              <a:rPr lang="en-US" b="1" dirty="0"/>
              <a:t>Super Class/Parent Class: </a:t>
            </a:r>
            <a:r>
              <a:rPr lang="en-US" dirty="0"/>
              <a:t>The class whose features are inherited is known as a superclass(or a base class or a parent class</a:t>
            </a:r>
            <a:r>
              <a:rPr lang="en-US" dirty="0" smtClean="0"/>
              <a:t>).</a:t>
            </a:r>
            <a:endParaRPr lang="en-US" dirty="0"/>
          </a:p>
        </p:txBody>
      </p:sp>
      <p:sp>
        <p:nvSpPr>
          <p:cNvPr id="4" name="Title 3"/>
          <p:cNvSpPr>
            <a:spLocks noGrp="1"/>
          </p:cNvSpPr>
          <p:nvPr>
            <p:ph type="title"/>
          </p:nvPr>
        </p:nvSpPr>
        <p:spPr/>
        <p:txBody>
          <a:bodyPr/>
          <a:lstStyle/>
          <a:p>
            <a:pPr fontAlgn="base"/>
            <a:r>
              <a:rPr lang="en-US" dirty="0" smtClean="0"/>
              <a:t>Terminologies </a:t>
            </a:r>
            <a:r>
              <a:rPr lang="en-US" dirty="0"/>
              <a:t>Used in Java </a:t>
            </a:r>
            <a:r>
              <a:rPr lang="en-US" dirty="0" smtClean="0"/>
              <a:t>Inheritance</a:t>
            </a:r>
            <a:endParaRPr lang="en-US" dirty="0"/>
          </a:p>
        </p:txBody>
      </p:sp>
    </p:spTree>
    <p:extLst>
      <p:ext uri="{BB962C8B-B14F-4D97-AF65-F5344CB8AC3E}">
        <p14:creationId xmlns:p14="http://schemas.microsoft.com/office/powerpoint/2010/main" val="3343485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Terminologies Used in Java Inheritance</a:t>
            </a:r>
          </a:p>
        </p:txBody>
      </p:sp>
      <p:sp>
        <p:nvSpPr>
          <p:cNvPr id="3" name="Content Placeholder 2"/>
          <p:cNvSpPr>
            <a:spLocks noGrp="1"/>
          </p:cNvSpPr>
          <p:nvPr>
            <p:ph sz="quarter" idx="1"/>
          </p:nvPr>
        </p:nvSpPr>
        <p:spPr>
          <a:xfrm>
            <a:off x="924636" y="1066800"/>
            <a:ext cx="7772400" cy="5334000"/>
          </a:xfrm>
        </p:spPr>
        <p:txBody>
          <a:bodyPr/>
          <a:lstStyle/>
          <a:p>
            <a:pPr fontAlgn="base"/>
            <a:r>
              <a:rPr lang="en-US" b="1" dirty="0"/>
              <a:t>Sub Class/Child Class:</a:t>
            </a:r>
            <a:r>
              <a:rPr lang="en-US" dirty="0"/>
              <a:t> The class that inherits the other class is known as a subclass(or a derived class, extended class, or child class). The subclass can add its own fields and methods in addition to the superclass fields and methods</a:t>
            </a:r>
            <a:r>
              <a:rPr lang="en-US" dirty="0" smtClean="0"/>
              <a:t>.</a:t>
            </a:r>
          </a:p>
          <a:p>
            <a:pPr fontAlgn="base"/>
            <a:endParaRPr lang="en-US" dirty="0"/>
          </a:p>
          <a:p>
            <a:pPr fontAlgn="base"/>
            <a:r>
              <a:rPr lang="en-US" b="1" dirty="0"/>
              <a:t>Reusability: </a:t>
            </a:r>
            <a:r>
              <a:rPr lang="en-US" dirty="0"/>
              <a:t>Inheritance supports the concept of “reusability”, i.e. when we want to create a new class and there is already a class that includes some of the code that we want, we can derive our new class from the existing class. By doing this, we are reusing the fields and methods of the existing class.</a:t>
            </a:r>
          </a:p>
          <a:p>
            <a:endParaRPr lang="en-US" dirty="0"/>
          </a:p>
        </p:txBody>
      </p:sp>
    </p:spTree>
    <p:extLst>
      <p:ext uri="{BB962C8B-B14F-4D97-AF65-F5344CB8AC3E}">
        <p14:creationId xmlns:p14="http://schemas.microsoft.com/office/powerpoint/2010/main" val="2410674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Use Inheritance in </a:t>
            </a:r>
            <a:r>
              <a:rPr lang="en-US" dirty="0" smtClean="0"/>
              <a:t>Java</a:t>
            </a:r>
            <a:endParaRPr lang="en-US" dirty="0"/>
          </a:p>
        </p:txBody>
      </p:sp>
      <p:sp>
        <p:nvSpPr>
          <p:cNvPr id="3" name="Content Placeholder 2"/>
          <p:cNvSpPr>
            <a:spLocks noGrp="1"/>
          </p:cNvSpPr>
          <p:nvPr>
            <p:ph sz="quarter" idx="1"/>
          </p:nvPr>
        </p:nvSpPr>
        <p:spPr>
          <a:xfrm>
            <a:off x="914400" y="1143000"/>
            <a:ext cx="7772400" cy="5410200"/>
          </a:xfrm>
        </p:spPr>
        <p:txBody>
          <a:bodyPr>
            <a:normAutofit fontScale="92500" lnSpcReduction="10000"/>
          </a:bodyPr>
          <a:lstStyle/>
          <a:p>
            <a:r>
              <a:rPr lang="en-US" dirty="0"/>
              <a:t>The </a:t>
            </a:r>
            <a:r>
              <a:rPr lang="en-US" b="1" dirty="0"/>
              <a:t>extends keyword </a:t>
            </a:r>
            <a:r>
              <a:rPr lang="en-US" dirty="0"/>
              <a:t>is used for inheritance in Java. Using the extends keyword indicates you are derived from an existing class. In other words, “extends” refers to increased functionality</a:t>
            </a:r>
            <a:r>
              <a:rPr lang="en-US" dirty="0" smtClean="0"/>
              <a:t>.</a:t>
            </a:r>
          </a:p>
          <a:p>
            <a:endParaRPr lang="en-US" dirty="0"/>
          </a:p>
          <a:p>
            <a:r>
              <a:rPr lang="en-US" b="1" dirty="0"/>
              <a:t>Syntax </a:t>
            </a:r>
            <a:r>
              <a:rPr lang="en-US" b="1" dirty="0" smtClean="0"/>
              <a:t>:</a:t>
            </a:r>
          </a:p>
          <a:p>
            <a:pPr marL="320040" lvl="1" indent="0">
              <a:lnSpc>
                <a:spcPct val="150000"/>
              </a:lnSpc>
              <a:buNone/>
            </a:pPr>
            <a:r>
              <a:rPr lang="en-US" dirty="0"/>
              <a:t>class derived - class extends base - class {</a:t>
            </a:r>
          </a:p>
          <a:p>
            <a:pPr marL="320040" lvl="1" indent="0">
              <a:lnSpc>
                <a:spcPct val="150000"/>
              </a:lnSpc>
              <a:buNone/>
            </a:pPr>
            <a:r>
              <a:rPr lang="en-US" dirty="0"/>
              <a:t>    //methods and fields  </a:t>
            </a:r>
          </a:p>
          <a:p>
            <a:pPr marL="320040" lvl="1" indent="0">
              <a:lnSpc>
                <a:spcPct val="150000"/>
              </a:lnSpc>
              <a:buNone/>
            </a:pPr>
            <a:r>
              <a:rPr lang="en-US" dirty="0" smtClean="0"/>
              <a:t>}</a:t>
            </a:r>
          </a:p>
          <a:p>
            <a:pPr marL="320040" lvl="1" indent="0">
              <a:lnSpc>
                <a:spcPct val="150000"/>
              </a:lnSpc>
              <a:buNone/>
            </a:pPr>
            <a:r>
              <a:rPr lang="en-US" dirty="0"/>
              <a:t>The </a:t>
            </a:r>
            <a:r>
              <a:rPr lang="en-US" b="1" dirty="0"/>
              <a:t>extends keyword</a:t>
            </a:r>
            <a:r>
              <a:rPr lang="en-US" dirty="0"/>
              <a:t> indicates that you are making a new class that derives from an existing class. The meaning of "extends" is to increase the functionality.</a:t>
            </a:r>
          </a:p>
        </p:txBody>
      </p:sp>
    </p:spTree>
    <p:extLst>
      <p:ext uri="{BB962C8B-B14F-4D97-AF65-F5344CB8AC3E}">
        <p14:creationId xmlns:p14="http://schemas.microsoft.com/office/powerpoint/2010/main" val="2826318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Use Inheritance in Java</a:t>
            </a:r>
          </a:p>
        </p:txBody>
      </p:sp>
      <p:pic>
        <p:nvPicPr>
          <p:cNvPr id="2050" name="Picture 2" descr="Inheritance in Java"/>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514600" y="990599"/>
            <a:ext cx="3733800" cy="5631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248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Use Inheritance in Java</a:t>
            </a:r>
          </a:p>
        </p:txBody>
      </p:sp>
      <p:sp>
        <p:nvSpPr>
          <p:cNvPr id="3" name="Content Placeholder 2"/>
          <p:cNvSpPr>
            <a:spLocks noGrp="1"/>
          </p:cNvSpPr>
          <p:nvPr>
            <p:ph sz="quarter" idx="1"/>
          </p:nvPr>
        </p:nvSpPr>
        <p:spPr>
          <a:xfrm>
            <a:off x="939421" y="990600"/>
            <a:ext cx="7772400" cy="5486400"/>
          </a:xfrm>
        </p:spPr>
        <p:txBody>
          <a:bodyPr>
            <a:normAutofit/>
          </a:bodyPr>
          <a:lstStyle/>
          <a:p>
            <a:pPr>
              <a:lnSpc>
                <a:spcPct val="150000"/>
              </a:lnSpc>
            </a:pPr>
            <a:r>
              <a:rPr lang="en-US" dirty="0"/>
              <a:t>As displayed in the above figure, Programmer is the subclass and Employee is the superclass. </a:t>
            </a:r>
            <a:endParaRPr lang="en-US" dirty="0" smtClean="0"/>
          </a:p>
          <a:p>
            <a:pPr>
              <a:lnSpc>
                <a:spcPct val="150000"/>
              </a:lnSpc>
            </a:pPr>
            <a:r>
              <a:rPr lang="en-US" dirty="0" smtClean="0"/>
              <a:t>The </a:t>
            </a:r>
            <a:r>
              <a:rPr lang="en-US" dirty="0"/>
              <a:t>relationship between the two classes is </a:t>
            </a:r>
            <a:r>
              <a:rPr lang="en-US" b="1" dirty="0"/>
              <a:t>Programmer IS-A Employee</a:t>
            </a:r>
            <a:r>
              <a:rPr lang="en-US" dirty="0" smtClean="0"/>
              <a:t>.</a:t>
            </a:r>
          </a:p>
          <a:p>
            <a:pPr>
              <a:lnSpc>
                <a:spcPct val="150000"/>
              </a:lnSpc>
            </a:pPr>
            <a:r>
              <a:rPr lang="en-US" dirty="0" smtClean="0"/>
              <a:t> </a:t>
            </a:r>
            <a:r>
              <a:rPr lang="en-US" dirty="0"/>
              <a:t>It means that Programmer is a type of Employee</a:t>
            </a:r>
            <a:r>
              <a:rPr lang="en-US" dirty="0" smtClean="0"/>
              <a:t>.</a:t>
            </a:r>
          </a:p>
          <a:p>
            <a:pPr marL="274320" lvl="1" indent="0">
              <a:lnSpc>
                <a:spcPct val="160000"/>
              </a:lnSpc>
              <a:buNone/>
            </a:pPr>
            <a:r>
              <a:rPr lang="en-US" b="1" dirty="0"/>
              <a:t>class Employee {</a:t>
            </a:r>
          </a:p>
          <a:p>
            <a:pPr marL="274320" lvl="1" indent="0">
              <a:lnSpc>
                <a:spcPct val="160000"/>
              </a:lnSpc>
              <a:buNone/>
            </a:pPr>
            <a:r>
              <a:rPr lang="en-US" b="1" dirty="0"/>
              <a:t>    float salary = 40000;</a:t>
            </a:r>
          </a:p>
          <a:p>
            <a:pPr marL="274320" lvl="1" indent="0">
              <a:lnSpc>
                <a:spcPct val="160000"/>
              </a:lnSpc>
              <a:buNone/>
            </a:pPr>
            <a:r>
              <a:rPr lang="en-US" b="1" dirty="0"/>
              <a:t>}</a:t>
            </a:r>
          </a:p>
          <a:p>
            <a:pPr lvl="1">
              <a:lnSpc>
                <a:spcPct val="150000"/>
              </a:lnSpc>
            </a:pPr>
            <a:endParaRPr lang="en-US" dirty="0"/>
          </a:p>
        </p:txBody>
      </p:sp>
    </p:spTree>
    <p:extLst>
      <p:ext uri="{BB962C8B-B14F-4D97-AF65-F5344CB8AC3E}">
        <p14:creationId xmlns:p14="http://schemas.microsoft.com/office/powerpoint/2010/main" val="3738136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Use Inheritance in Java</a:t>
            </a:r>
          </a:p>
        </p:txBody>
      </p:sp>
      <p:sp>
        <p:nvSpPr>
          <p:cNvPr id="3" name="Content Placeholder 2"/>
          <p:cNvSpPr>
            <a:spLocks noGrp="1"/>
          </p:cNvSpPr>
          <p:nvPr>
            <p:ph sz="quarter" idx="1"/>
          </p:nvPr>
        </p:nvSpPr>
        <p:spPr>
          <a:xfrm>
            <a:off x="914400" y="914400"/>
            <a:ext cx="7772400" cy="5791200"/>
          </a:xfrm>
        </p:spPr>
        <p:txBody>
          <a:bodyPr>
            <a:normAutofit fontScale="92500" lnSpcReduction="20000"/>
          </a:bodyPr>
          <a:lstStyle/>
          <a:p>
            <a:pPr marL="0" indent="0">
              <a:lnSpc>
                <a:spcPct val="160000"/>
              </a:lnSpc>
              <a:buNone/>
            </a:pPr>
            <a:r>
              <a:rPr lang="en-US" dirty="0" smtClean="0"/>
              <a:t>class </a:t>
            </a:r>
            <a:r>
              <a:rPr lang="en-US" dirty="0"/>
              <a:t>Programmer extends Employee {</a:t>
            </a:r>
          </a:p>
          <a:p>
            <a:pPr marL="0" indent="0">
              <a:lnSpc>
                <a:spcPct val="160000"/>
              </a:lnSpc>
              <a:buNone/>
            </a:pPr>
            <a:r>
              <a:rPr lang="en-US" dirty="0"/>
              <a:t>    </a:t>
            </a:r>
            <a:r>
              <a:rPr lang="en-US" dirty="0" err="1"/>
              <a:t>int</a:t>
            </a:r>
            <a:r>
              <a:rPr lang="en-US" dirty="0"/>
              <a:t> bonus = 10000;</a:t>
            </a:r>
          </a:p>
          <a:p>
            <a:pPr marL="0" indent="0">
              <a:lnSpc>
                <a:spcPct val="160000"/>
              </a:lnSpc>
              <a:buNone/>
            </a:pPr>
            <a:r>
              <a:rPr lang="en-US" dirty="0"/>
              <a:t>    public static void main(String </a:t>
            </a:r>
            <a:r>
              <a:rPr lang="en-US" dirty="0" err="1"/>
              <a:t>args</a:t>
            </a:r>
            <a:r>
              <a:rPr lang="en-US" dirty="0"/>
              <a:t>[]) {</a:t>
            </a:r>
          </a:p>
          <a:p>
            <a:pPr marL="0" indent="0">
              <a:lnSpc>
                <a:spcPct val="160000"/>
              </a:lnSpc>
              <a:buNone/>
            </a:pPr>
            <a:r>
              <a:rPr lang="en-US" dirty="0"/>
              <a:t>        Programmer p = new Programmer();</a:t>
            </a:r>
          </a:p>
          <a:p>
            <a:pPr marL="0" indent="0">
              <a:lnSpc>
                <a:spcPct val="160000"/>
              </a:lnSpc>
              <a:buNone/>
            </a:pPr>
            <a:r>
              <a:rPr lang="en-US" dirty="0"/>
              <a:t>        </a:t>
            </a:r>
            <a:r>
              <a:rPr lang="en-US" dirty="0" err="1"/>
              <a:t>System.out.println</a:t>
            </a:r>
            <a:r>
              <a:rPr lang="en-US" dirty="0"/>
              <a:t>("Programmer salary is:" + </a:t>
            </a:r>
            <a:r>
              <a:rPr lang="en-US" dirty="0" err="1"/>
              <a:t>p.salary</a:t>
            </a:r>
            <a:r>
              <a:rPr lang="en-US" dirty="0"/>
              <a:t>);</a:t>
            </a:r>
          </a:p>
          <a:p>
            <a:pPr marL="0" indent="0">
              <a:lnSpc>
                <a:spcPct val="160000"/>
              </a:lnSpc>
              <a:buNone/>
            </a:pPr>
            <a:r>
              <a:rPr lang="en-US" dirty="0"/>
              <a:t>        </a:t>
            </a:r>
            <a:r>
              <a:rPr lang="en-US" dirty="0" err="1"/>
              <a:t>System.out.println</a:t>
            </a:r>
            <a:r>
              <a:rPr lang="en-US" dirty="0"/>
              <a:t>("Bonus of Programmer is:" + </a:t>
            </a:r>
            <a:r>
              <a:rPr lang="en-US" dirty="0" err="1"/>
              <a:t>p.bonus</a:t>
            </a:r>
            <a:r>
              <a:rPr lang="en-US" dirty="0"/>
              <a:t>);</a:t>
            </a:r>
          </a:p>
          <a:p>
            <a:pPr marL="0" indent="0">
              <a:lnSpc>
                <a:spcPct val="160000"/>
              </a:lnSpc>
              <a:buNone/>
            </a:pPr>
            <a:r>
              <a:rPr lang="en-US" dirty="0"/>
              <a:t>    }</a:t>
            </a:r>
          </a:p>
          <a:p>
            <a:pPr marL="0" indent="0">
              <a:lnSpc>
                <a:spcPct val="160000"/>
              </a:lnSpc>
              <a:buNone/>
            </a:pPr>
            <a:r>
              <a:rPr lang="en-US" dirty="0"/>
              <a:t>}</a:t>
            </a:r>
          </a:p>
        </p:txBody>
      </p:sp>
    </p:spTree>
    <p:extLst>
      <p:ext uri="{BB962C8B-B14F-4D97-AF65-F5344CB8AC3E}">
        <p14:creationId xmlns:p14="http://schemas.microsoft.com/office/powerpoint/2010/main" val="2826550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a:t>
            </a:r>
            <a:r>
              <a:rPr lang="en-US" dirty="0" smtClean="0"/>
              <a:t>Types</a:t>
            </a:r>
            <a:endParaRPr lang="en-US" dirty="0"/>
          </a:p>
        </p:txBody>
      </p:sp>
      <p:sp>
        <p:nvSpPr>
          <p:cNvPr id="3" name="Content Placeholder 2"/>
          <p:cNvSpPr>
            <a:spLocks noGrp="1"/>
          </p:cNvSpPr>
          <p:nvPr>
            <p:ph sz="quarter" idx="1"/>
          </p:nvPr>
        </p:nvSpPr>
        <p:spPr>
          <a:xfrm>
            <a:off x="914400" y="990600"/>
            <a:ext cx="7772400" cy="4572000"/>
          </a:xfrm>
        </p:spPr>
        <p:txBody>
          <a:bodyPr/>
          <a:lstStyle/>
          <a:p>
            <a:r>
              <a:rPr lang="en-US" dirty="0"/>
              <a:t>Below are the different types of inheritance which are supported by Java</a:t>
            </a:r>
            <a:r>
              <a:rPr lang="en-US" dirty="0" smtClean="0"/>
              <a:t>.</a:t>
            </a:r>
          </a:p>
          <a:p>
            <a:endParaRPr lang="en-US" dirty="0" smtClean="0"/>
          </a:p>
          <a:p>
            <a:pPr lvl="1" fontAlgn="base"/>
            <a:r>
              <a:rPr lang="en-US" dirty="0"/>
              <a:t>Single Inheritance</a:t>
            </a:r>
          </a:p>
          <a:p>
            <a:pPr lvl="1" fontAlgn="base"/>
            <a:r>
              <a:rPr lang="en-US" dirty="0"/>
              <a:t>Multilevel Inheritance</a:t>
            </a:r>
          </a:p>
          <a:p>
            <a:pPr lvl="1" fontAlgn="base"/>
            <a:r>
              <a:rPr lang="en-US" dirty="0"/>
              <a:t>Hierarchical Inheritance</a:t>
            </a:r>
          </a:p>
          <a:p>
            <a:pPr lvl="1" fontAlgn="base"/>
            <a:r>
              <a:rPr lang="en-US" dirty="0"/>
              <a:t>Multiple Inheritance</a:t>
            </a:r>
          </a:p>
          <a:p>
            <a:pPr lvl="1" fontAlgn="base"/>
            <a:r>
              <a:rPr lang="en-US" dirty="0"/>
              <a:t>Hybrid Inheritance</a:t>
            </a:r>
          </a:p>
          <a:p>
            <a:pPr lvl="1"/>
            <a:endParaRPr lang="en-US" dirty="0"/>
          </a:p>
        </p:txBody>
      </p:sp>
    </p:spTree>
    <p:extLst>
      <p:ext uri="{BB962C8B-B14F-4D97-AF65-F5344CB8AC3E}">
        <p14:creationId xmlns:p14="http://schemas.microsoft.com/office/powerpoint/2010/main" val="871845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Types</a:t>
            </a:r>
          </a:p>
        </p:txBody>
      </p:sp>
      <p:sp>
        <p:nvSpPr>
          <p:cNvPr id="3" name="Content Placeholder 2"/>
          <p:cNvSpPr>
            <a:spLocks noGrp="1"/>
          </p:cNvSpPr>
          <p:nvPr>
            <p:ph sz="quarter" idx="1"/>
          </p:nvPr>
        </p:nvSpPr>
        <p:spPr>
          <a:xfrm>
            <a:off x="914400" y="1143000"/>
            <a:ext cx="7772400" cy="4572000"/>
          </a:xfrm>
        </p:spPr>
        <p:txBody>
          <a:bodyPr/>
          <a:lstStyle/>
          <a:p>
            <a:r>
              <a:rPr lang="en-US" b="1" dirty="0"/>
              <a:t>Single Inheritance</a:t>
            </a:r>
          </a:p>
          <a:p>
            <a:pPr lvl="1" fontAlgn="base"/>
            <a:r>
              <a:rPr lang="en-US" dirty="0"/>
              <a:t>In single inheritance, subclasses inherit the features of one superclass. In the image below, class A serves as a base class for the derived class B.</a:t>
            </a:r>
          </a:p>
          <a:p>
            <a:pPr marL="0" indent="0">
              <a:buNone/>
            </a:pPr>
            <a:r>
              <a:rPr lang="en-US" dirty="0"/>
              <a:t/>
            </a:r>
            <a:br>
              <a:rPr lang="en-US" dirty="0"/>
            </a:br>
            <a:endParaRPr lang="en-US" dirty="0"/>
          </a:p>
        </p:txBody>
      </p:sp>
      <p:pic>
        <p:nvPicPr>
          <p:cNvPr id="3074" name="Picture 2" descr="Single inherit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743200"/>
            <a:ext cx="6286500" cy="3133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057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Types</a:t>
            </a:r>
          </a:p>
        </p:txBody>
      </p:sp>
      <p:sp>
        <p:nvSpPr>
          <p:cNvPr id="3" name="Content Placeholder 2"/>
          <p:cNvSpPr>
            <a:spLocks noGrp="1"/>
          </p:cNvSpPr>
          <p:nvPr>
            <p:ph sz="quarter" idx="1"/>
          </p:nvPr>
        </p:nvSpPr>
        <p:spPr>
          <a:xfrm>
            <a:off x="914400" y="914400"/>
            <a:ext cx="7772400" cy="4572000"/>
          </a:xfrm>
        </p:spPr>
        <p:txBody>
          <a:bodyPr/>
          <a:lstStyle/>
          <a:p>
            <a:r>
              <a:rPr lang="en-US" dirty="0"/>
              <a:t>In Multilevel Inheritance, a derived class will be inheriting a base class, and as well as the derived class also acts as the base class for other classes. In the below image, class A serves as a base class for the derived class B, which in turn serves as a base class for the derived class C.</a:t>
            </a:r>
          </a:p>
        </p:txBody>
      </p:sp>
      <p:pic>
        <p:nvPicPr>
          <p:cNvPr id="4098" name="Picture 2" descr="Multilevel Inherit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505200"/>
            <a:ext cx="6286500" cy="3133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568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Types</a:t>
            </a:r>
          </a:p>
        </p:txBody>
      </p:sp>
      <p:sp>
        <p:nvSpPr>
          <p:cNvPr id="3" name="Content Placeholder 2"/>
          <p:cNvSpPr>
            <a:spLocks noGrp="1"/>
          </p:cNvSpPr>
          <p:nvPr>
            <p:ph sz="quarter" idx="1"/>
          </p:nvPr>
        </p:nvSpPr>
        <p:spPr>
          <a:xfrm>
            <a:off x="879143" y="990600"/>
            <a:ext cx="7772400" cy="5715000"/>
          </a:xfrm>
        </p:spPr>
        <p:txBody>
          <a:bodyPr>
            <a:normAutofit fontScale="77500" lnSpcReduction="20000"/>
          </a:bodyPr>
          <a:lstStyle/>
          <a:p>
            <a:pPr marL="0" indent="0">
              <a:buNone/>
            </a:pPr>
            <a:r>
              <a:rPr lang="en-US" dirty="0"/>
              <a:t>// Java program to illustrate the</a:t>
            </a:r>
          </a:p>
          <a:p>
            <a:pPr marL="0" indent="0">
              <a:buNone/>
            </a:pPr>
            <a:r>
              <a:rPr lang="en-US" dirty="0"/>
              <a:t>// concept of Multilevel inheritance</a:t>
            </a:r>
          </a:p>
          <a:p>
            <a:pPr marL="0" indent="0">
              <a:buNone/>
            </a:pPr>
            <a:r>
              <a:rPr lang="en-US" dirty="0"/>
              <a:t>import java.io.*;</a:t>
            </a:r>
          </a:p>
          <a:p>
            <a:pPr marL="0" indent="0">
              <a:buNone/>
            </a:pPr>
            <a:r>
              <a:rPr lang="en-US" dirty="0"/>
              <a:t>import </a:t>
            </a:r>
            <a:r>
              <a:rPr lang="en-US" dirty="0" err="1"/>
              <a:t>java.lang</a:t>
            </a:r>
            <a:r>
              <a:rPr lang="en-US" dirty="0"/>
              <a:t>.*;</a:t>
            </a:r>
          </a:p>
          <a:p>
            <a:pPr marL="0" indent="0">
              <a:buNone/>
            </a:pPr>
            <a:r>
              <a:rPr lang="en-US" dirty="0"/>
              <a:t>import </a:t>
            </a:r>
            <a:r>
              <a:rPr lang="en-US" dirty="0" err="1"/>
              <a:t>java.util</a:t>
            </a:r>
            <a:r>
              <a:rPr lang="en-US" dirty="0"/>
              <a:t>.*;</a:t>
            </a:r>
          </a:p>
          <a:p>
            <a:pPr marL="0" indent="0">
              <a:buNone/>
            </a:pPr>
            <a:endParaRPr lang="en-US" dirty="0"/>
          </a:p>
          <a:p>
            <a:pPr marL="0" indent="0">
              <a:buNone/>
            </a:pPr>
            <a:r>
              <a:rPr lang="en-US" dirty="0"/>
              <a:t>class </a:t>
            </a:r>
            <a:r>
              <a:rPr lang="en-US" dirty="0" smtClean="0"/>
              <a:t>One </a:t>
            </a:r>
            <a:r>
              <a:rPr lang="en-US" dirty="0"/>
              <a:t>{</a:t>
            </a:r>
          </a:p>
          <a:p>
            <a:pPr marL="0" indent="0">
              <a:buNone/>
            </a:pPr>
            <a:r>
              <a:rPr lang="en-US" dirty="0"/>
              <a:t>    public void </a:t>
            </a:r>
            <a:r>
              <a:rPr lang="en-US" dirty="0" err="1"/>
              <a:t>print_one</a:t>
            </a:r>
            <a:r>
              <a:rPr lang="en-US" dirty="0"/>
              <a:t>() {</a:t>
            </a:r>
          </a:p>
          <a:p>
            <a:pPr marL="0" indent="0">
              <a:buNone/>
            </a:pPr>
            <a:r>
              <a:rPr lang="en-US" dirty="0"/>
              <a:t>        </a:t>
            </a:r>
            <a:r>
              <a:rPr lang="en-US" dirty="0" err="1"/>
              <a:t>System.out.println</a:t>
            </a:r>
            <a:r>
              <a:rPr lang="en-US" dirty="0"/>
              <a:t>("one");</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a:t>
            </a:r>
            <a:r>
              <a:rPr lang="en-US" dirty="0" smtClean="0"/>
              <a:t>Two </a:t>
            </a:r>
            <a:r>
              <a:rPr lang="en-US" dirty="0"/>
              <a:t>extends </a:t>
            </a:r>
            <a:r>
              <a:rPr lang="en-US" dirty="0" smtClean="0"/>
              <a:t>One </a:t>
            </a:r>
            <a:r>
              <a:rPr lang="en-US" dirty="0"/>
              <a:t>{</a:t>
            </a:r>
          </a:p>
          <a:p>
            <a:pPr marL="0" indent="0">
              <a:buNone/>
            </a:pPr>
            <a:r>
              <a:rPr lang="en-US" dirty="0"/>
              <a:t>    public void </a:t>
            </a:r>
            <a:r>
              <a:rPr lang="en-US" dirty="0" err="1"/>
              <a:t>print_two</a:t>
            </a:r>
            <a:r>
              <a:rPr lang="en-US" dirty="0"/>
              <a:t>() {</a:t>
            </a:r>
          </a:p>
          <a:p>
            <a:pPr marL="0" indent="0">
              <a:buNone/>
            </a:pPr>
            <a:r>
              <a:rPr lang="en-US" dirty="0"/>
              <a:t>        </a:t>
            </a:r>
            <a:r>
              <a:rPr lang="en-US" dirty="0" err="1"/>
              <a:t>System.out.println</a:t>
            </a:r>
            <a:r>
              <a:rPr lang="en-US" dirty="0"/>
              <a:t>("two");</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192408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Types</a:t>
            </a:r>
          </a:p>
        </p:txBody>
      </p:sp>
      <p:sp>
        <p:nvSpPr>
          <p:cNvPr id="3" name="Content Placeholder 2"/>
          <p:cNvSpPr>
            <a:spLocks noGrp="1"/>
          </p:cNvSpPr>
          <p:nvPr>
            <p:ph sz="quarter" idx="1"/>
          </p:nvPr>
        </p:nvSpPr>
        <p:spPr>
          <a:xfrm>
            <a:off x="884830" y="990600"/>
            <a:ext cx="7772400" cy="5638800"/>
          </a:xfrm>
        </p:spPr>
        <p:txBody>
          <a:bodyPr>
            <a:normAutofit fontScale="85000" lnSpcReduction="20000"/>
          </a:bodyPr>
          <a:lstStyle/>
          <a:p>
            <a:pPr marL="0" indent="0">
              <a:buNone/>
            </a:pPr>
            <a:r>
              <a:rPr lang="en-US" dirty="0"/>
              <a:t>class </a:t>
            </a:r>
            <a:r>
              <a:rPr lang="en-US" dirty="0" smtClean="0"/>
              <a:t>Three </a:t>
            </a:r>
            <a:r>
              <a:rPr lang="en-US" dirty="0"/>
              <a:t>extends </a:t>
            </a:r>
            <a:r>
              <a:rPr lang="en-US" dirty="0" smtClean="0"/>
              <a:t>Two </a:t>
            </a:r>
            <a:r>
              <a:rPr lang="en-US" dirty="0"/>
              <a:t>{</a:t>
            </a:r>
          </a:p>
          <a:p>
            <a:pPr marL="0" indent="0">
              <a:buNone/>
            </a:pPr>
            <a:r>
              <a:rPr lang="en-US" dirty="0"/>
              <a:t>    public void </a:t>
            </a:r>
            <a:r>
              <a:rPr lang="en-US" dirty="0" err="1"/>
              <a:t>print_three</a:t>
            </a:r>
            <a:r>
              <a:rPr lang="en-US" dirty="0"/>
              <a:t>() {</a:t>
            </a:r>
          </a:p>
          <a:p>
            <a:pPr marL="0" indent="0">
              <a:buNone/>
            </a:pPr>
            <a:r>
              <a:rPr lang="en-US" dirty="0"/>
              <a:t>        </a:t>
            </a:r>
            <a:r>
              <a:rPr lang="en-US" dirty="0" err="1"/>
              <a:t>System.out.println</a:t>
            </a:r>
            <a:r>
              <a:rPr lang="en-US" dirty="0"/>
              <a:t>("three");</a:t>
            </a:r>
          </a:p>
          <a:p>
            <a:pPr marL="0" indent="0">
              <a:buNone/>
            </a:pPr>
            <a:r>
              <a:rPr lang="en-US" dirty="0"/>
              <a:t>    }</a:t>
            </a:r>
          </a:p>
          <a:p>
            <a:pPr marL="0" indent="0">
              <a:buNone/>
            </a:pPr>
            <a:r>
              <a:rPr lang="en-US" dirty="0"/>
              <a:t>}</a:t>
            </a:r>
          </a:p>
          <a:p>
            <a:pPr marL="0" indent="0">
              <a:buNone/>
            </a:pPr>
            <a:endParaRPr lang="en-US" dirty="0"/>
          </a:p>
          <a:p>
            <a:pPr marL="0" indent="0">
              <a:buNone/>
            </a:pPr>
            <a:r>
              <a:rPr lang="en-US" dirty="0"/>
              <a:t>// </a:t>
            </a:r>
            <a:r>
              <a:rPr lang="en-US" dirty="0" err="1"/>
              <a:t>Drived</a:t>
            </a:r>
            <a:r>
              <a:rPr lang="en-US" dirty="0"/>
              <a:t> class</a:t>
            </a:r>
          </a:p>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a:t>
            </a:r>
            <a:r>
              <a:rPr lang="en-US" dirty="0" smtClean="0"/>
              <a:t>Three </a:t>
            </a:r>
            <a:r>
              <a:rPr lang="en-US" dirty="0"/>
              <a:t>g = new </a:t>
            </a:r>
            <a:r>
              <a:rPr lang="en-US" dirty="0" smtClean="0"/>
              <a:t>Three</a:t>
            </a:r>
            <a:r>
              <a:rPr lang="en-US" dirty="0"/>
              <a:t>();</a:t>
            </a:r>
          </a:p>
          <a:p>
            <a:pPr marL="0" indent="0">
              <a:buNone/>
            </a:pPr>
            <a:r>
              <a:rPr lang="en-US" dirty="0"/>
              <a:t>        </a:t>
            </a:r>
            <a:r>
              <a:rPr lang="en-US" dirty="0" err="1"/>
              <a:t>g.print_one</a:t>
            </a:r>
            <a:r>
              <a:rPr lang="en-US" dirty="0"/>
              <a:t>();</a:t>
            </a:r>
          </a:p>
          <a:p>
            <a:pPr marL="0" indent="0">
              <a:buNone/>
            </a:pPr>
            <a:r>
              <a:rPr lang="en-US" dirty="0"/>
              <a:t>        </a:t>
            </a:r>
            <a:r>
              <a:rPr lang="en-US" dirty="0" err="1"/>
              <a:t>g.print_two</a:t>
            </a:r>
            <a:r>
              <a:rPr lang="en-US" dirty="0"/>
              <a:t>();</a:t>
            </a:r>
          </a:p>
          <a:p>
            <a:pPr marL="0" indent="0">
              <a:buNone/>
            </a:pPr>
            <a:r>
              <a:rPr lang="en-US" dirty="0"/>
              <a:t>        </a:t>
            </a:r>
            <a:r>
              <a:rPr lang="en-US" dirty="0" err="1"/>
              <a:t>g.print_three</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4001827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Types</a:t>
            </a:r>
          </a:p>
        </p:txBody>
      </p:sp>
      <p:sp>
        <p:nvSpPr>
          <p:cNvPr id="3" name="Content Placeholder 2"/>
          <p:cNvSpPr>
            <a:spLocks noGrp="1"/>
          </p:cNvSpPr>
          <p:nvPr>
            <p:ph sz="quarter" idx="1"/>
          </p:nvPr>
        </p:nvSpPr>
        <p:spPr>
          <a:xfrm>
            <a:off x="914400" y="990600"/>
            <a:ext cx="7772400" cy="4572000"/>
          </a:xfrm>
        </p:spPr>
        <p:txBody>
          <a:bodyPr/>
          <a:lstStyle/>
          <a:p>
            <a:r>
              <a:rPr lang="en-US" b="1" dirty="0"/>
              <a:t>Hierarchical Inheritance</a:t>
            </a:r>
          </a:p>
          <a:p>
            <a:pPr lvl="1"/>
            <a:r>
              <a:rPr lang="en-US" dirty="0"/>
              <a:t>In Hierarchical Inheritance, one class serves as a superclass (base class) for more than one subclass. In the below image, class A serves as a base class for the derived classes B, C, and D.</a:t>
            </a:r>
          </a:p>
        </p:txBody>
      </p:sp>
      <p:pic>
        <p:nvPicPr>
          <p:cNvPr id="5122" name="Picture 2" descr="Hierarchical-Inheritance-in-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428999"/>
            <a:ext cx="3810000" cy="3313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645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Types</a:t>
            </a:r>
          </a:p>
        </p:txBody>
      </p:sp>
      <p:sp>
        <p:nvSpPr>
          <p:cNvPr id="3" name="Content Placeholder 2"/>
          <p:cNvSpPr>
            <a:spLocks noGrp="1"/>
          </p:cNvSpPr>
          <p:nvPr>
            <p:ph sz="quarter" idx="1"/>
          </p:nvPr>
        </p:nvSpPr>
        <p:spPr>
          <a:xfrm>
            <a:off x="914400" y="914400"/>
            <a:ext cx="7772400" cy="5715000"/>
          </a:xfrm>
        </p:spPr>
        <p:txBody>
          <a:bodyPr>
            <a:normAutofit fontScale="92500" lnSpcReduction="10000"/>
          </a:bodyPr>
          <a:lstStyle/>
          <a:p>
            <a:pPr marL="0" indent="0">
              <a:buNone/>
            </a:pPr>
            <a:r>
              <a:rPr lang="en-US" dirty="0"/>
              <a:t>// Java program to illustrate the</a:t>
            </a:r>
          </a:p>
          <a:p>
            <a:pPr marL="0" indent="0">
              <a:buNone/>
            </a:pPr>
            <a:r>
              <a:rPr lang="en-US" dirty="0"/>
              <a:t>// concept of Hierarchical inheritance</a:t>
            </a:r>
          </a:p>
          <a:p>
            <a:pPr marL="0" indent="0">
              <a:buNone/>
            </a:pPr>
            <a:endParaRPr lang="en-US" dirty="0"/>
          </a:p>
          <a:p>
            <a:pPr marL="0" indent="0">
              <a:buNone/>
            </a:pPr>
            <a:r>
              <a:rPr lang="en-US" dirty="0"/>
              <a:t>class A {</a:t>
            </a:r>
          </a:p>
          <a:p>
            <a:pPr marL="0" indent="0">
              <a:buNone/>
            </a:pPr>
            <a:r>
              <a:rPr lang="en-US" dirty="0"/>
              <a:t>    public void </a:t>
            </a:r>
            <a:r>
              <a:rPr lang="en-US" dirty="0" err="1"/>
              <a:t>print_A</a:t>
            </a:r>
            <a:r>
              <a:rPr lang="en-US" dirty="0"/>
              <a:t>() {</a:t>
            </a:r>
          </a:p>
          <a:p>
            <a:pPr marL="0" indent="0">
              <a:buNone/>
            </a:pPr>
            <a:r>
              <a:rPr lang="en-US" dirty="0"/>
              <a:t>        </a:t>
            </a:r>
            <a:r>
              <a:rPr lang="en-US" dirty="0" err="1"/>
              <a:t>System.out.println</a:t>
            </a:r>
            <a:r>
              <a:rPr lang="en-US" dirty="0"/>
              <a:t>("Class A");</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B extends A {</a:t>
            </a:r>
          </a:p>
          <a:p>
            <a:pPr marL="0" indent="0">
              <a:buNone/>
            </a:pPr>
            <a:r>
              <a:rPr lang="en-US" dirty="0"/>
              <a:t>    public void </a:t>
            </a:r>
            <a:r>
              <a:rPr lang="en-US" dirty="0" err="1"/>
              <a:t>print_B</a:t>
            </a:r>
            <a:r>
              <a:rPr lang="en-US" dirty="0"/>
              <a:t>() {</a:t>
            </a:r>
          </a:p>
          <a:p>
            <a:pPr marL="0" indent="0">
              <a:buNone/>
            </a:pPr>
            <a:r>
              <a:rPr lang="en-US" dirty="0"/>
              <a:t>        </a:t>
            </a:r>
            <a:r>
              <a:rPr lang="en-US" dirty="0" err="1"/>
              <a:t>System.out.println</a:t>
            </a:r>
            <a:r>
              <a:rPr lang="en-US" dirty="0"/>
              <a:t>("Class B");</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41088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Types</a:t>
            </a:r>
          </a:p>
        </p:txBody>
      </p:sp>
      <p:sp>
        <p:nvSpPr>
          <p:cNvPr id="3" name="Content Placeholder 2"/>
          <p:cNvSpPr>
            <a:spLocks noGrp="1"/>
          </p:cNvSpPr>
          <p:nvPr>
            <p:ph sz="quarter" idx="1"/>
          </p:nvPr>
        </p:nvSpPr>
        <p:spPr>
          <a:xfrm>
            <a:off x="914400" y="990600"/>
            <a:ext cx="7772400" cy="5562600"/>
          </a:xfrm>
        </p:spPr>
        <p:txBody>
          <a:bodyPr>
            <a:normAutofit/>
          </a:bodyPr>
          <a:lstStyle/>
          <a:p>
            <a:pPr marL="0" indent="0">
              <a:buNone/>
            </a:pPr>
            <a:r>
              <a:rPr lang="en-US" dirty="0"/>
              <a:t>class C extends A {</a:t>
            </a:r>
          </a:p>
          <a:p>
            <a:pPr marL="0" indent="0">
              <a:buNone/>
            </a:pPr>
            <a:r>
              <a:rPr lang="en-US" dirty="0"/>
              <a:t>    public void </a:t>
            </a:r>
            <a:r>
              <a:rPr lang="en-US" dirty="0" err="1"/>
              <a:t>print_C</a:t>
            </a:r>
            <a:r>
              <a:rPr lang="en-US" dirty="0"/>
              <a:t>() {</a:t>
            </a:r>
          </a:p>
          <a:p>
            <a:pPr marL="0" indent="0">
              <a:buNone/>
            </a:pPr>
            <a:r>
              <a:rPr lang="en-US" dirty="0"/>
              <a:t>        </a:t>
            </a:r>
            <a:r>
              <a:rPr lang="en-US" dirty="0" err="1"/>
              <a:t>System.out.println</a:t>
            </a:r>
            <a:r>
              <a:rPr lang="en-US" dirty="0"/>
              <a:t>("Class C");</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D extends A {</a:t>
            </a:r>
          </a:p>
          <a:p>
            <a:pPr marL="0" indent="0">
              <a:buNone/>
            </a:pPr>
            <a:r>
              <a:rPr lang="en-US" dirty="0"/>
              <a:t>    public void </a:t>
            </a:r>
            <a:r>
              <a:rPr lang="en-US" dirty="0" err="1"/>
              <a:t>print_D</a:t>
            </a:r>
            <a:r>
              <a:rPr lang="en-US" dirty="0"/>
              <a:t>() {</a:t>
            </a:r>
          </a:p>
          <a:p>
            <a:pPr marL="0" indent="0">
              <a:buNone/>
            </a:pPr>
            <a:r>
              <a:rPr lang="en-US" dirty="0"/>
              <a:t>        </a:t>
            </a:r>
            <a:r>
              <a:rPr lang="en-US" dirty="0" err="1"/>
              <a:t>System.out.println</a:t>
            </a:r>
            <a:r>
              <a:rPr lang="en-US" dirty="0"/>
              <a:t>("Class D");</a:t>
            </a:r>
          </a:p>
          <a:p>
            <a:pPr marL="0" indent="0">
              <a:buNone/>
            </a:pPr>
            <a:r>
              <a:rPr lang="en-US" dirty="0"/>
              <a:t>    }</a:t>
            </a:r>
          </a:p>
          <a:p>
            <a:pPr marL="0" indent="0">
              <a:buNone/>
            </a:pPr>
            <a:r>
              <a:rPr lang="en-US" dirty="0"/>
              <a:t>}</a:t>
            </a:r>
          </a:p>
          <a:p>
            <a:pPr marL="0" indent="0">
              <a:buNone/>
            </a:pPr>
            <a:endParaRPr lang="en-US" dirty="0"/>
          </a:p>
          <a:p>
            <a:endParaRPr lang="en-US" dirty="0"/>
          </a:p>
        </p:txBody>
      </p:sp>
    </p:spTree>
    <p:extLst>
      <p:ext uri="{BB962C8B-B14F-4D97-AF65-F5344CB8AC3E}">
        <p14:creationId xmlns:p14="http://schemas.microsoft.com/office/powerpoint/2010/main" val="3327786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Types</a:t>
            </a:r>
          </a:p>
        </p:txBody>
      </p:sp>
      <p:sp>
        <p:nvSpPr>
          <p:cNvPr id="3" name="Content Placeholder 2"/>
          <p:cNvSpPr>
            <a:spLocks noGrp="1"/>
          </p:cNvSpPr>
          <p:nvPr>
            <p:ph sz="quarter" idx="1"/>
          </p:nvPr>
        </p:nvSpPr>
        <p:spPr>
          <a:xfrm>
            <a:off x="914400" y="1066800"/>
            <a:ext cx="7772400" cy="5562600"/>
          </a:xfrm>
        </p:spPr>
        <p:txBody>
          <a:bodyPr>
            <a:normAutofit fontScale="85000" lnSpcReduction="20000"/>
          </a:bodyPr>
          <a:lstStyle/>
          <a:p>
            <a:pPr marL="0" indent="0">
              <a:buNone/>
            </a:pPr>
            <a:r>
              <a:rPr lang="en-US" dirty="0"/>
              <a:t>// Driver Class</a:t>
            </a:r>
          </a:p>
          <a:p>
            <a:pPr marL="0" indent="0">
              <a:buNone/>
            </a:pPr>
            <a:r>
              <a:rPr lang="en-US" dirty="0"/>
              <a:t>public class Test {</a:t>
            </a:r>
          </a:p>
          <a:p>
            <a:pPr marL="0" indent="0">
              <a:buNone/>
            </a:pPr>
            <a:r>
              <a:rPr lang="en-US" dirty="0"/>
              <a:t>    public static void main(String[] </a:t>
            </a:r>
            <a:r>
              <a:rPr lang="en-US" dirty="0" err="1"/>
              <a:t>args</a:t>
            </a:r>
            <a:r>
              <a:rPr lang="en-US" dirty="0"/>
              <a:t>) {</a:t>
            </a:r>
          </a:p>
          <a:p>
            <a:pPr marL="0" indent="0">
              <a:buNone/>
            </a:pPr>
            <a:r>
              <a:rPr lang="en-US" dirty="0"/>
              <a:t>        B </a:t>
            </a:r>
            <a:r>
              <a:rPr lang="en-US" dirty="0" err="1"/>
              <a:t>obj_B</a:t>
            </a:r>
            <a:r>
              <a:rPr lang="en-US" dirty="0"/>
              <a:t> = new B();</a:t>
            </a:r>
          </a:p>
          <a:p>
            <a:pPr marL="0" indent="0">
              <a:buNone/>
            </a:pPr>
            <a:r>
              <a:rPr lang="en-US" dirty="0"/>
              <a:t>        </a:t>
            </a:r>
            <a:r>
              <a:rPr lang="en-US" dirty="0" err="1"/>
              <a:t>obj_B.print_A</a:t>
            </a:r>
            <a:r>
              <a:rPr lang="en-US" dirty="0"/>
              <a:t>();</a:t>
            </a:r>
          </a:p>
          <a:p>
            <a:pPr marL="0" indent="0">
              <a:buNone/>
            </a:pPr>
            <a:r>
              <a:rPr lang="en-US" dirty="0"/>
              <a:t>        </a:t>
            </a:r>
            <a:r>
              <a:rPr lang="en-US" dirty="0" err="1"/>
              <a:t>obj_B.print_B</a:t>
            </a:r>
            <a:r>
              <a:rPr lang="en-US" dirty="0"/>
              <a:t>();</a:t>
            </a:r>
          </a:p>
          <a:p>
            <a:pPr marL="0" indent="0">
              <a:buNone/>
            </a:pPr>
            <a:endParaRPr lang="en-US" dirty="0"/>
          </a:p>
          <a:p>
            <a:pPr marL="0" indent="0">
              <a:buNone/>
            </a:pPr>
            <a:r>
              <a:rPr lang="en-US" dirty="0"/>
              <a:t>        C </a:t>
            </a:r>
            <a:r>
              <a:rPr lang="en-US" dirty="0" err="1"/>
              <a:t>obj_C</a:t>
            </a:r>
            <a:r>
              <a:rPr lang="en-US" dirty="0"/>
              <a:t> = new C();</a:t>
            </a:r>
          </a:p>
          <a:p>
            <a:pPr marL="0" indent="0">
              <a:buNone/>
            </a:pPr>
            <a:r>
              <a:rPr lang="en-US" dirty="0"/>
              <a:t>        </a:t>
            </a:r>
            <a:r>
              <a:rPr lang="en-US" dirty="0" err="1"/>
              <a:t>obj_C.print_A</a:t>
            </a:r>
            <a:r>
              <a:rPr lang="en-US" dirty="0"/>
              <a:t>();</a:t>
            </a:r>
          </a:p>
          <a:p>
            <a:pPr marL="0" indent="0">
              <a:buNone/>
            </a:pPr>
            <a:r>
              <a:rPr lang="en-US" dirty="0"/>
              <a:t>        </a:t>
            </a:r>
            <a:r>
              <a:rPr lang="en-US" dirty="0" err="1"/>
              <a:t>obj_C.print_C</a:t>
            </a:r>
            <a:r>
              <a:rPr lang="en-US" dirty="0"/>
              <a:t>();</a:t>
            </a:r>
          </a:p>
          <a:p>
            <a:pPr marL="0" indent="0">
              <a:buNone/>
            </a:pPr>
            <a:endParaRPr lang="en-US" dirty="0"/>
          </a:p>
          <a:p>
            <a:pPr marL="0" indent="0">
              <a:buNone/>
            </a:pPr>
            <a:r>
              <a:rPr lang="en-US" dirty="0"/>
              <a:t>        D </a:t>
            </a:r>
            <a:r>
              <a:rPr lang="en-US" dirty="0" err="1"/>
              <a:t>obj_D</a:t>
            </a:r>
            <a:r>
              <a:rPr lang="en-US" dirty="0"/>
              <a:t> = new D();</a:t>
            </a:r>
          </a:p>
          <a:p>
            <a:pPr marL="0" indent="0">
              <a:buNone/>
            </a:pPr>
            <a:r>
              <a:rPr lang="en-US" dirty="0"/>
              <a:t>        </a:t>
            </a:r>
            <a:r>
              <a:rPr lang="en-US" dirty="0" err="1"/>
              <a:t>obj_D.print_A</a:t>
            </a:r>
            <a:r>
              <a:rPr lang="en-US" dirty="0"/>
              <a:t>();</a:t>
            </a:r>
          </a:p>
          <a:p>
            <a:pPr marL="0" indent="0">
              <a:buNone/>
            </a:pPr>
            <a:r>
              <a:rPr lang="en-US" dirty="0"/>
              <a:t>        </a:t>
            </a:r>
            <a:r>
              <a:rPr lang="en-US" dirty="0" err="1"/>
              <a:t>obj_D.print_D</a:t>
            </a:r>
            <a:r>
              <a:rPr lang="en-US" dirty="0"/>
              <a:t>();</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4259964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Inheritance Types</a:t>
            </a:r>
          </a:p>
        </p:txBody>
      </p:sp>
      <p:sp>
        <p:nvSpPr>
          <p:cNvPr id="3" name="Content Placeholder 2"/>
          <p:cNvSpPr>
            <a:spLocks noGrp="1"/>
          </p:cNvSpPr>
          <p:nvPr>
            <p:ph sz="quarter" idx="1"/>
          </p:nvPr>
        </p:nvSpPr>
        <p:spPr>
          <a:xfrm>
            <a:off x="914400" y="990600"/>
            <a:ext cx="7772400" cy="5486400"/>
          </a:xfrm>
        </p:spPr>
        <p:txBody>
          <a:bodyPr/>
          <a:lstStyle/>
          <a:p>
            <a:r>
              <a:rPr lang="en-US" b="1" dirty="0"/>
              <a:t>Why multiple inheritance is not supported in java</a:t>
            </a:r>
            <a:r>
              <a:rPr lang="en-US" b="1" dirty="0" smtClean="0"/>
              <a:t>?</a:t>
            </a:r>
          </a:p>
          <a:p>
            <a:pPr lvl="1">
              <a:lnSpc>
                <a:spcPct val="150000"/>
              </a:lnSpc>
            </a:pPr>
            <a:r>
              <a:rPr lang="en-US" dirty="0"/>
              <a:t>To reduce the complexity and simplify the language, multiple inheritance is not supported in java.</a:t>
            </a:r>
          </a:p>
          <a:p>
            <a:pPr lvl="1">
              <a:lnSpc>
                <a:spcPct val="150000"/>
              </a:lnSpc>
            </a:pPr>
            <a:r>
              <a:rPr lang="en-US" dirty="0"/>
              <a:t>Consider a scenario where A, B, and C are three classes. The C class inherits A and B classes. If A and B classes have the same method and you call it from child class object, there will be ambiguity to call the method of A or B class.</a:t>
            </a:r>
          </a:p>
          <a:p>
            <a:pPr lvl="2">
              <a:lnSpc>
                <a:spcPct val="150000"/>
              </a:lnSpc>
            </a:pPr>
            <a:endParaRPr lang="en-US" dirty="0"/>
          </a:p>
        </p:txBody>
      </p:sp>
    </p:spTree>
    <p:extLst>
      <p:ext uri="{BB962C8B-B14F-4D97-AF65-F5344CB8AC3E}">
        <p14:creationId xmlns:p14="http://schemas.microsoft.com/office/powerpoint/2010/main" val="388719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Inheritance in Java</a:t>
            </a:r>
            <a:r>
              <a:rPr lang="en-US" dirty="0" smtClean="0"/>
              <a:t>:</a:t>
            </a:r>
            <a:endParaRPr lang="en-US" dirty="0"/>
          </a:p>
        </p:txBody>
      </p:sp>
      <p:sp>
        <p:nvSpPr>
          <p:cNvPr id="3" name="Content Placeholder 2"/>
          <p:cNvSpPr>
            <a:spLocks noGrp="1"/>
          </p:cNvSpPr>
          <p:nvPr>
            <p:ph sz="quarter" idx="1"/>
          </p:nvPr>
        </p:nvSpPr>
        <p:spPr>
          <a:xfrm>
            <a:off x="914400" y="990600"/>
            <a:ext cx="7772400" cy="5334000"/>
          </a:xfrm>
        </p:spPr>
        <p:txBody>
          <a:bodyPr/>
          <a:lstStyle/>
          <a:p>
            <a:pPr fontAlgn="base"/>
            <a:r>
              <a:rPr lang="en-US" b="1" dirty="0"/>
              <a:t>Code Reusability: </a:t>
            </a:r>
            <a:r>
              <a:rPr lang="en-US" dirty="0"/>
              <a:t>Inheritance allows for code reuse and reduces the amount of code that needs to be written. The subclass can reuse the properties and methods of the superclass, reducing duplication of code</a:t>
            </a:r>
            <a:r>
              <a:rPr lang="en-US" dirty="0" smtClean="0"/>
              <a:t>.</a:t>
            </a:r>
          </a:p>
          <a:p>
            <a:pPr fontAlgn="base"/>
            <a:endParaRPr lang="en-US" dirty="0"/>
          </a:p>
          <a:p>
            <a:pPr fontAlgn="base"/>
            <a:r>
              <a:rPr lang="en-US" b="1" dirty="0"/>
              <a:t>Abstraction: </a:t>
            </a:r>
            <a:r>
              <a:rPr lang="en-US" dirty="0"/>
              <a:t>Inheritance allows for the creation of abstract classes that define a common interface for a group of related classes. This promotes abstraction and encapsulation, making the code easier to maintain and extend.</a:t>
            </a:r>
          </a:p>
          <a:p>
            <a:endParaRPr lang="en-US" dirty="0"/>
          </a:p>
        </p:txBody>
      </p:sp>
    </p:spTree>
    <p:extLst>
      <p:ext uri="{BB962C8B-B14F-4D97-AF65-F5344CB8AC3E}">
        <p14:creationId xmlns:p14="http://schemas.microsoft.com/office/powerpoint/2010/main" val="1124743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Inheritance in Java:</a:t>
            </a:r>
          </a:p>
        </p:txBody>
      </p:sp>
      <p:sp>
        <p:nvSpPr>
          <p:cNvPr id="3" name="Content Placeholder 2"/>
          <p:cNvSpPr>
            <a:spLocks noGrp="1"/>
          </p:cNvSpPr>
          <p:nvPr>
            <p:ph sz="quarter" idx="1"/>
          </p:nvPr>
        </p:nvSpPr>
        <p:spPr>
          <a:xfrm>
            <a:off x="914400" y="990600"/>
            <a:ext cx="7772400" cy="5486400"/>
          </a:xfrm>
        </p:spPr>
        <p:txBody>
          <a:bodyPr/>
          <a:lstStyle/>
          <a:p>
            <a:pPr fontAlgn="base"/>
            <a:r>
              <a:rPr lang="en-US" b="1" dirty="0"/>
              <a:t>Class Hierarchy: </a:t>
            </a:r>
            <a:r>
              <a:rPr lang="en-US" dirty="0"/>
              <a:t>Inheritance allows for the creation of a class hierarchy, which can be used to model real-world objects and their relationships</a:t>
            </a:r>
            <a:r>
              <a:rPr lang="en-US" dirty="0" smtClean="0"/>
              <a:t>.</a:t>
            </a:r>
          </a:p>
          <a:p>
            <a:pPr fontAlgn="base"/>
            <a:endParaRPr lang="en-US" dirty="0"/>
          </a:p>
          <a:p>
            <a:pPr fontAlgn="base"/>
            <a:r>
              <a:rPr lang="en-US" b="1" dirty="0"/>
              <a:t>Polymorphism:</a:t>
            </a:r>
            <a:r>
              <a:rPr lang="en-US" dirty="0"/>
              <a:t> Inheritance allows for polymorphism, which is the ability of an object to take on multiple forms. Subclasses can override the methods of the superclass, which allows them to change their behavior in different ways.</a:t>
            </a:r>
          </a:p>
          <a:p>
            <a:pPr lvl="1"/>
            <a:endParaRPr lang="en-US" dirty="0"/>
          </a:p>
        </p:txBody>
      </p:sp>
    </p:spTree>
    <p:extLst>
      <p:ext uri="{BB962C8B-B14F-4D97-AF65-F5344CB8AC3E}">
        <p14:creationId xmlns:p14="http://schemas.microsoft.com/office/powerpoint/2010/main" val="2055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 of Constructors in inheritance</a:t>
            </a:r>
            <a:endParaRPr lang="en-US" dirty="0"/>
          </a:p>
        </p:txBody>
      </p:sp>
      <p:sp>
        <p:nvSpPr>
          <p:cNvPr id="3" name="Content Placeholder 2"/>
          <p:cNvSpPr>
            <a:spLocks noGrp="1"/>
          </p:cNvSpPr>
          <p:nvPr>
            <p:ph sz="quarter" idx="1"/>
          </p:nvPr>
        </p:nvSpPr>
        <p:spPr>
          <a:xfrm>
            <a:off x="939421" y="990600"/>
            <a:ext cx="7772400" cy="5562600"/>
          </a:xfrm>
        </p:spPr>
        <p:txBody>
          <a:bodyPr>
            <a:normAutofit/>
          </a:bodyPr>
          <a:lstStyle/>
          <a:p>
            <a:pPr>
              <a:lnSpc>
                <a:spcPct val="150000"/>
              </a:lnSpc>
            </a:pPr>
            <a:r>
              <a:rPr lang="en-US" dirty="0"/>
              <a:t>While implementing inheritance in a Java program, every class has its own constructor. </a:t>
            </a:r>
            <a:endParaRPr lang="en-US" dirty="0" smtClean="0"/>
          </a:p>
          <a:p>
            <a:pPr>
              <a:lnSpc>
                <a:spcPct val="150000"/>
              </a:lnSpc>
            </a:pPr>
            <a:r>
              <a:rPr lang="en-US" dirty="0" smtClean="0"/>
              <a:t>Therefore </a:t>
            </a:r>
            <a:r>
              <a:rPr lang="en-US" dirty="0"/>
              <a:t>the execution of the constructors starts after the object initialization. </a:t>
            </a:r>
            <a:endParaRPr lang="en-US" dirty="0" smtClean="0"/>
          </a:p>
          <a:p>
            <a:pPr>
              <a:lnSpc>
                <a:spcPct val="150000"/>
              </a:lnSpc>
            </a:pPr>
            <a:r>
              <a:rPr lang="en-US" dirty="0" smtClean="0"/>
              <a:t>It </a:t>
            </a:r>
            <a:r>
              <a:rPr lang="en-US" dirty="0"/>
              <a:t>follows a certain sequence according to the class hierarchy</a:t>
            </a:r>
            <a:r>
              <a:rPr lang="en-US" dirty="0" smtClean="0"/>
              <a:t>.</a:t>
            </a:r>
          </a:p>
          <a:p>
            <a:pPr>
              <a:lnSpc>
                <a:spcPct val="150000"/>
              </a:lnSpc>
            </a:pPr>
            <a:r>
              <a:rPr lang="en-US" dirty="0" smtClean="0"/>
              <a:t> </a:t>
            </a:r>
            <a:r>
              <a:rPr lang="en-US" dirty="0"/>
              <a:t>There can be different orders of execution depending on the type of inheritance.</a:t>
            </a:r>
          </a:p>
        </p:txBody>
      </p:sp>
    </p:spTree>
    <p:extLst>
      <p:ext uri="{BB962C8B-B14F-4D97-AF65-F5344CB8AC3E}">
        <p14:creationId xmlns:p14="http://schemas.microsoft.com/office/powerpoint/2010/main" val="117718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a:xfrm>
            <a:off x="685800" y="914400"/>
            <a:ext cx="8153400" cy="5715000"/>
          </a:xfrm>
        </p:spPr>
        <p:txBody>
          <a:bodyPr>
            <a:normAutofit fontScale="92500" lnSpcReduction="10000"/>
          </a:bodyPr>
          <a:lstStyle/>
          <a:p>
            <a:r>
              <a:rPr lang="en-US" dirty="0"/>
              <a:t>Different ways of the order of constructor execution in </a:t>
            </a:r>
            <a:r>
              <a:rPr lang="en-US" dirty="0" smtClean="0"/>
              <a:t>Java</a:t>
            </a:r>
          </a:p>
          <a:p>
            <a:pPr lvl="1"/>
            <a:r>
              <a:rPr lang="en-US" dirty="0"/>
              <a:t>In </a:t>
            </a:r>
            <a:r>
              <a:rPr lang="en-US" b="1" dirty="0"/>
              <a:t>single level inheritance</a:t>
            </a:r>
            <a:r>
              <a:rPr lang="en-US" dirty="0"/>
              <a:t>, the constructor of the base class is executed first</a:t>
            </a:r>
            <a:r>
              <a:rPr lang="en-US" dirty="0" smtClean="0"/>
              <a:t>.</a:t>
            </a:r>
          </a:p>
          <a:p>
            <a:pPr lvl="1"/>
            <a:endParaRPr lang="en-US" dirty="0" smtClean="0"/>
          </a:p>
          <a:p>
            <a:pPr marL="0" indent="0">
              <a:buNone/>
            </a:pPr>
            <a:r>
              <a:rPr lang="en-US" dirty="0"/>
              <a:t>/* Parent Class */  </a:t>
            </a:r>
          </a:p>
          <a:p>
            <a:pPr marL="0" indent="0">
              <a:buNone/>
            </a:pPr>
            <a:r>
              <a:rPr lang="en-US" b="1" dirty="0"/>
              <a:t>class</a:t>
            </a:r>
            <a:r>
              <a:rPr lang="en-US" dirty="0"/>
              <a:t> </a:t>
            </a:r>
            <a:r>
              <a:rPr lang="en-US" dirty="0" err="1"/>
              <a:t>ParentClass</a:t>
            </a:r>
            <a:r>
              <a:rPr lang="en-US" dirty="0"/>
              <a:t>   </a:t>
            </a:r>
          </a:p>
          <a:p>
            <a:pPr marL="0" indent="0">
              <a:buNone/>
            </a:pPr>
            <a:r>
              <a:rPr lang="en-US" dirty="0"/>
              <a:t>{  </a:t>
            </a:r>
          </a:p>
          <a:p>
            <a:pPr marL="0" indent="0">
              <a:buNone/>
            </a:pPr>
            <a:r>
              <a:rPr lang="en-US" dirty="0"/>
              <a:t>    /* Constructor */     </a:t>
            </a:r>
          </a:p>
          <a:p>
            <a:pPr marL="0" indent="0">
              <a:buNone/>
            </a:pPr>
            <a:r>
              <a:rPr lang="en-US" dirty="0"/>
              <a:t>    </a:t>
            </a:r>
            <a:r>
              <a:rPr lang="en-US" dirty="0" err="1"/>
              <a:t>ParentClass</a:t>
            </a:r>
            <a:r>
              <a:rPr lang="en-US" dirty="0"/>
              <a:t>()  </a:t>
            </a:r>
          </a:p>
          <a:p>
            <a:pPr marL="0" indent="0">
              <a:buNone/>
            </a:pPr>
            <a:r>
              <a:rPr lang="en-US" dirty="0"/>
              <a:t>    {  </a:t>
            </a:r>
          </a:p>
          <a:p>
            <a:pPr marL="0" indent="0">
              <a:buNone/>
            </a:pPr>
            <a:r>
              <a:rPr lang="en-US" dirty="0"/>
              <a:t>        </a:t>
            </a:r>
            <a:r>
              <a:rPr lang="en-US" dirty="0" err="1"/>
              <a:t>System.out.println</a:t>
            </a:r>
            <a:r>
              <a:rPr lang="en-US" dirty="0"/>
              <a:t>("</a:t>
            </a:r>
            <a:r>
              <a:rPr lang="en-US" dirty="0" err="1"/>
              <a:t>ParentClass</a:t>
            </a:r>
            <a:r>
              <a:rPr lang="en-US" dirty="0"/>
              <a:t> constructor executed.");  </a:t>
            </a:r>
          </a:p>
          <a:p>
            <a:pPr marL="0" indent="0">
              <a:buNone/>
            </a:pPr>
            <a:r>
              <a:rPr lang="en-US" dirty="0"/>
              <a:t>    }  </a:t>
            </a:r>
          </a:p>
          <a:p>
            <a:pPr marL="0" indent="0">
              <a:buNone/>
            </a:pPr>
            <a:r>
              <a:rPr lang="en-US" dirty="0"/>
              <a:t>}  </a:t>
            </a:r>
          </a:p>
          <a:p>
            <a:pPr marL="594360" lvl="2" indent="0">
              <a:buNone/>
            </a:pPr>
            <a:endParaRPr lang="en-US" dirty="0"/>
          </a:p>
        </p:txBody>
      </p:sp>
    </p:spTree>
    <p:extLst>
      <p:ext uri="{BB962C8B-B14F-4D97-AF65-F5344CB8AC3E}">
        <p14:creationId xmlns:p14="http://schemas.microsoft.com/office/powerpoint/2010/main" val="13881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a:xfrm>
            <a:off x="914400" y="990600"/>
            <a:ext cx="7772400" cy="5562600"/>
          </a:xfrm>
        </p:spPr>
        <p:txBody>
          <a:bodyPr>
            <a:normAutofit/>
          </a:bodyPr>
          <a:lstStyle/>
          <a:p>
            <a:pPr marL="0" indent="0">
              <a:buNone/>
            </a:pPr>
            <a:r>
              <a:rPr lang="en-US" dirty="0"/>
              <a:t>/* Child Class */  </a:t>
            </a:r>
          </a:p>
          <a:p>
            <a:pPr marL="0" indent="0">
              <a:buNone/>
            </a:pPr>
            <a:r>
              <a:rPr lang="en-US" b="1" dirty="0"/>
              <a:t>class</a:t>
            </a:r>
            <a:r>
              <a:rPr lang="en-US" dirty="0"/>
              <a:t> </a:t>
            </a:r>
            <a:r>
              <a:rPr lang="en-US" dirty="0" err="1"/>
              <a:t>ChildClass</a:t>
            </a:r>
            <a:r>
              <a:rPr lang="en-US" dirty="0"/>
              <a:t> </a:t>
            </a:r>
            <a:r>
              <a:rPr lang="en-US" b="1" dirty="0"/>
              <a:t>extends</a:t>
            </a:r>
            <a:r>
              <a:rPr lang="en-US" dirty="0"/>
              <a:t> </a:t>
            </a:r>
            <a:r>
              <a:rPr lang="en-US" dirty="0" err="1"/>
              <a:t>ParentClass</a:t>
            </a:r>
            <a:r>
              <a:rPr lang="en-US" dirty="0"/>
              <a:t>   </a:t>
            </a:r>
          </a:p>
          <a:p>
            <a:pPr marL="0" indent="0">
              <a:buNone/>
            </a:pPr>
            <a:r>
              <a:rPr lang="en-US" dirty="0"/>
              <a:t>{  </a:t>
            </a:r>
          </a:p>
          <a:p>
            <a:pPr marL="0" indent="0">
              <a:buNone/>
            </a:pPr>
            <a:r>
              <a:rPr lang="en-US" dirty="0"/>
              <a:t>    /* Constructor */  </a:t>
            </a:r>
          </a:p>
          <a:p>
            <a:pPr marL="0" indent="0">
              <a:buNone/>
            </a:pPr>
            <a:r>
              <a:rPr lang="en-US" dirty="0"/>
              <a:t>    </a:t>
            </a:r>
            <a:r>
              <a:rPr lang="en-US" dirty="0" err="1"/>
              <a:t>ChildClass</a:t>
            </a:r>
            <a:r>
              <a:rPr lang="en-US" dirty="0"/>
              <a:t>()  </a:t>
            </a:r>
          </a:p>
          <a:p>
            <a:pPr marL="0" indent="0">
              <a:buNone/>
            </a:pPr>
            <a:r>
              <a:rPr lang="en-US" dirty="0"/>
              <a:t>    {  </a:t>
            </a:r>
          </a:p>
          <a:p>
            <a:pPr marL="0" indent="0">
              <a:buNone/>
            </a:pPr>
            <a:r>
              <a:rPr lang="en-US" dirty="0"/>
              <a:t>        </a:t>
            </a:r>
            <a:r>
              <a:rPr lang="en-US" dirty="0" err="1"/>
              <a:t>System.out.println</a:t>
            </a:r>
            <a:r>
              <a:rPr lang="en-US" dirty="0"/>
              <a:t>("</a:t>
            </a:r>
            <a:r>
              <a:rPr lang="en-US" dirty="0" err="1"/>
              <a:t>ChildClass</a:t>
            </a:r>
            <a:r>
              <a:rPr lang="en-US" dirty="0"/>
              <a:t> constructor executed.");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1426399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a:xfrm>
            <a:off x="914400" y="1066800"/>
            <a:ext cx="7772400" cy="5486400"/>
          </a:xfrm>
        </p:spPr>
        <p:txBody>
          <a:bodyPr>
            <a:normAutofit/>
          </a:bodyPr>
          <a:lstStyle/>
          <a:p>
            <a:pPr marL="0" indent="0">
              <a:buNone/>
            </a:pPr>
            <a:r>
              <a:rPr lang="en-US" b="1" dirty="0"/>
              <a:t>public</a:t>
            </a:r>
            <a:r>
              <a:rPr lang="en-US" dirty="0"/>
              <a:t> </a:t>
            </a:r>
            <a:r>
              <a:rPr lang="en-US" b="1" dirty="0"/>
              <a:t>class</a:t>
            </a:r>
            <a:r>
              <a:rPr lang="en-US" dirty="0"/>
              <a:t> OrderofExecution1  </a:t>
            </a:r>
          </a:p>
          <a:p>
            <a:pPr marL="0" indent="0">
              <a:buNone/>
            </a:pPr>
            <a:r>
              <a:rPr lang="en-US" dirty="0"/>
              <a:t>{  </a:t>
            </a:r>
          </a:p>
          <a:p>
            <a:pPr marL="0" indent="0">
              <a:buNone/>
            </a:pPr>
            <a:r>
              <a:rPr lang="en-US" dirty="0"/>
              <a:t>    /* Driver Code */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a:t>
            </a:r>
            <a:r>
              <a:rPr lang="en-US" dirty="0"/>
              <a:t>[])   </a:t>
            </a:r>
          </a:p>
          <a:p>
            <a:pPr marL="0" indent="0">
              <a:buNone/>
            </a:pPr>
            <a:r>
              <a:rPr lang="en-US" dirty="0"/>
              <a:t>    {  </a:t>
            </a:r>
          </a:p>
          <a:p>
            <a:pPr marL="0" indent="0">
              <a:buNone/>
            </a:pPr>
            <a:r>
              <a:rPr lang="en-US" dirty="0"/>
              <a:t>        /* Create instance of </a:t>
            </a:r>
            <a:r>
              <a:rPr lang="en-US" dirty="0" err="1"/>
              <a:t>ChildClass</a:t>
            </a:r>
            <a:r>
              <a:rPr lang="en-US" dirty="0"/>
              <a:t> */  </a:t>
            </a:r>
          </a:p>
          <a:p>
            <a:pPr marL="0" indent="0">
              <a:buNone/>
            </a:pPr>
            <a:r>
              <a:rPr lang="en-US" dirty="0"/>
              <a:t>        </a:t>
            </a:r>
            <a:r>
              <a:rPr lang="en-US" dirty="0" err="1"/>
              <a:t>System.out.println</a:t>
            </a:r>
            <a:r>
              <a:rPr lang="en-US" dirty="0"/>
              <a:t>("Order of constructor execution...");  </a:t>
            </a:r>
          </a:p>
          <a:p>
            <a:pPr marL="0" indent="0">
              <a:buNone/>
            </a:pPr>
            <a:r>
              <a:rPr lang="en-US" dirty="0"/>
              <a:t>        </a:t>
            </a:r>
            <a:r>
              <a:rPr lang="en-US" b="1" dirty="0"/>
              <a:t>new</a:t>
            </a:r>
            <a:r>
              <a:rPr lang="en-US" dirty="0"/>
              <a:t> </a:t>
            </a:r>
            <a:r>
              <a:rPr lang="en-US" dirty="0" err="1"/>
              <a:t>ChildClass</a:t>
            </a:r>
            <a:r>
              <a:rPr lang="en-US" dirty="0"/>
              <a:t>();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2573259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p:txBody>
          <a:bodyPr/>
          <a:lstStyle/>
          <a:p>
            <a:r>
              <a:rPr lang="en-US" dirty="0" smtClean="0"/>
              <a:t>Output :</a:t>
            </a:r>
          </a:p>
          <a:p>
            <a:pPr lvl="1"/>
            <a:r>
              <a:rPr lang="en-US" dirty="0"/>
              <a:t>Order of constructor execution...</a:t>
            </a:r>
          </a:p>
          <a:p>
            <a:pPr lvl="1"/>
            <a:r>
              <a:rPr lang="en-US" dirty="0" err="1" smtClean="0"/>
              <a:t>ParentClass</a:t>
            </a:r>
            <a:r>
              <a:rPr lang="en-US" dirty="0" smtClean="0"/>
              <a:t> </a:t>
            </a:r>
            <a:r>
              <a:rPr lang="en-US" dirty="0"/>
              <a:t>constructor executed.</a:t>
            </a:r>
          </a:p>
          <a:p>
            <a:pPr lvl="1"/>
            <a:r>
              <a:rPr lang="en-US" dirty="0" err="1"/>
              <a:t>ChildClass</a:t>
            </a:r>
            <a:r>
              <a:rPr lang="en-US" dirty="0"/>
              <a:t> constructor executed</a:t>
            </a:r>
            <a:r>
              <a:rPr lang="en-US" dirty="0" smtClean="0"/>
              <a:t>.</a:t>
            </a:r>
          </a:p>
          <a:p>
            <a:pPr lvl="1"/>
            <a:endParaRPr lang="en-US" dirty="0"/>
          </a:p>
          <a:p>
            <a:pPr lvl="1"/>
            <a:r>
              <a:rPr lang="en-US" dirty="0"/>
              <a:t>In the above code, after creating an instance of </a:t>
            </a:r>
            <a:r>
              <a:rPr lang="en-US" b="1" i="1" dirty="0" err="1"/>
              <a:t>ChildClass</a:t>
            </a:r>
            <a:r>
              <a:rPr lang="en-US" dirty="0"/>
              <a:t> the </a:t>
            </a:r>
            <a:r>
              <a:rPr lang="en-US" b="1" i="1" dirty="0" err="1"/>
              <a:t>ParentClass</a:t>
            </a:r>
            <a:r>
              <a:rPr lang="en-US" dirty="0"/>
              <a:t> constructor is invoked first and then the </a:t>
            </a:r>
            <a:r>
              <a:rPr lang="en-US" b="1" i="1" dirty="0" err="1"/>
              <a:t>ChildClass</a:t>
            </a:r>
            <a:r>
              <a:rPr lang="en-US" b="1" i="1" dirty="0"/>
              <a:t>.</a:t>
            </a:r>
            <a:endParaRPr lang="en-US" dirty="0"/>
          </a:p>
        </p:txBody>
      </p:sp>
    </p:spTree>
    <p:extLst>
      <p:ext uri="{BB962C8B-B14F-4D97-AF65-F5344CB8AC3E}">
        <p14:creationId xmlns:p14="http://schemas.microsoft.com/office/powerpoint/2010/main" val="2339304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a:xfrm>
            <a:off x="914400" y="990600"/>
            <a:ext cx="7772400" cy="5334000"/>
          </a:xfrm>
        </p:spPr>
        <p:txBody>
          <a:bodyPr>
            <a:normAutofit fontScale="92500" lnSpcReduction="20000"/>
          </a:bodyPr>
          <a:lstStyle/>
          <a:p>
            <a:r>
              <a:rPr lang="en-US" dirty="0"/>
              <a:t>Order of execution of constructor in </a:t>
            </a:r>
            <a:r>
              <a:rPr lang="en-US" b="1" dirty="0"/>
              <a:t>Multilevel</a:t>
            </a:r>
            <a:r>
              <a:rPr lang="en-US" dirty="0"/>
              <a:t> </a:t>
            </a:r>
            <a:r>
              <a:rPr lang="en-US" b="1" dirty="0"/>
              <a:t>inheritance</a:t>
            </a:r>
          </a:p>
          <a:p>
            <a:r>
              <a:rPr lang="en-US" dirty="0" smtClean="0"/>
              <a:t>In multilevel inheritance, all the upper class constructors are executed when an instance of bottom most child class is created.</a:t>
            </a:r>
          </a:p>
          <a:p>
            <a:endParaRPr lang="en-US" dirty="0"/>
          </a:p>
          <a:p>
            <a:pPr marL="0" indent="0">
              <a:buNone/>
            </a:pPr>
            <a:r>
              <a:rPr lang="en-US" b="1" dirty="0"/>
              <a:t>class</a:t>
            </a:r>
            <a:r>
              <a:rPr lang="en-US" dirty="0"/>
              <a:t> College   </a:t>
            </a:r>
          </a:p>
          <a:p>
            <a:pPr marL="0" indent="0">
              <a:buNone/>
            </a:pPr>
            <a:r>
              <a:rPr lang="en-US" dirty="0"/>
              <a:t>{  </a:t>
            </a:r>
          </a:p>
          <a:p>
            <a:pPr marL="0" indent="0">
              <a:buNone/>
            </a:pPr>
            <a:r>
              <a:rPr lang="en-US" dirty="0"/>
              <a:t>    /* Constructor */  </a:t>
            </a:r>
          </a:p>
          <a:p>
            <a:pPr marL="0" indent="0">
              <a:buNone/>
            </a:pPr>
            <a:r>
              <a:rPr lang="en-US" dirty="0"/>
              <a:t>    College()  </a:t>
            </a:r>
          </a:p>
          <a:p>
            <a:pPr marL="0" indent="0">
              <a:buNone/>
            </a:pPr>
            <a:r>
              <a:rPr lang="en-US" dirty="0"/>
              <a:t>    {  </a:t>
            </a:r>
          </a:p>
          <a:p>
            <a:pPr marL="0" indent="0">
              <a:buNone/>
            </a:pPr>
            <a:r>
              <a:rPr lang="en-US" dirty="0"/>
              <a:t>        </a:t>
            </a:r>
            <a:r>
              <a:rPr lang="en-US" dirty="0" err="1"/>
              <a:t>System.out.println</a:t>
            </a:r>
            <a:r>
              <a:rPr lang="en-US" dirty="0"/>
              <a:t>("College constructor executed");  </a:t>
            </a:r>
          </a:p>
          <a:p>
            <a:pPr marL="0" indent="0">
              <a:buNone/>
            </a:pPr>
            <a:r>
              <a:rPr lang="en-US" dirty="0"/>
              <a:t>    }  </a:t>
            </a:r>
          </a:p>
          <a:p>
            <a:pPr marL="0" indent="0">
              <a:buNone/>
            </a:pPr>
            <a:r>
              <a:rPr lang="en-US" dirty="0"/>
              <a:t>}  </a:t>
            </a:r>
          </a:p>
          <a:p>
            <a:endParaRPr lang="en-US" dirty="0"/>
          </a:p>
        </p:txBody>
      </p:sp>
    </p:spTree>
    <p:extLst>
      <p:ext uri="{BB962C8B-B14F-4D97-AF65-F5344CB8AC3E}">
        <p14:creationId xmlns:p14="http://schemas.microsoft.com/office/powerpoint/2010/main" val="2293827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p:txBody>
          <a:bodyPr/>
          <a:lstStyle/>
          <a:p>
            <a:pPr marL="0" indent="0">
              <a:buNone/>
            </a:pPr>
            <a:r>
              <a:rPr lang="en-US" b="1" dirty="0"/>
              <a:t>class</a:t>
            </a:r>
            <a:r>
              <a:rPr lang="en-US" dirty="0"/>
              <a:t> Department </a:t>
            </a:r>
            <a:r>
              <a:rPr lang="en-US" b="1" dirty="0"/>
              <a:t>extends</a:t>
            </a:r>
            <a:r>
              <a:rPr lang="en-US" dirty="0"/>
              <a:t> College   </a:t>
            </a:r>
          </a:p>
          <a:p>
            <a:pPr marL="0" indent="0">
              <a:buNone/>
            </a:pPr>
            <a:r>
              <a:rPr lang="en-US" dirty="0"/>
              <a:t>{  </a:t>
            </a:r>
          </a:p>
          <a:p>
            <a:pPr marL="0" indent="0">
              <a:buNone/>
            </a:pPr>
            <a:r>
              <a:rPr lang="en-US" dirty="0"/>
              <a:t>    /* Constructor */  </a:t>
            </a:r>
          </a:p>
          <a:p>
            <a:pPr marL="0" indent="0">
              <a:buNone/>
            </a:pPr>
            <a:r>
              <a:rPr lang="en-US" dirty="0"/>
              <a:t>    Department()  </a:t>
            </a:r>
          </a:p>
          <a:p>
            <a:pPr marL="0" indent="0">
              <a:buNone/>
            </a:pPr>
            <a:r>
              <a:rPr lang="en-US" dirty="0"/>
              <a:t>    {  </a:t>
            </a:r>
          </a:p>
          <a:p>
            <a:pPr marL="0" indent="0">
              <a:buNone/>
            </a:pPr>
            <a:r>
              <a:rPr lang="en-US" dirty="0"/>
              <a:t>        </a:t>
            </a:r>
            <a:r>
              <a:rPr lang="en-US" dirty="0" err="1"/>
              <a:t>System.out.println</a:t>
            </a:r>
            <a:r>
              <a:rPr lang="en-US" dirty="0"/>
              <a:t>("Department constructor executed");  </a:t>
            </a:r>
          </a:p>
          <a:p>
            <a:pPr marL="0" indent="0">
              <a:buNone/>
            </a:pPr>
            <a:r>
              <a:rPr lang="en-US" dirty="0"/>
              <a:t>    }  </a:t>
            </a:r>
          </a:p>
          <a:p>
            <a:pPr marL="0" indent="0">
              <a:buNone/>
            </a:pPr>
            <a:r>
              <a:rPr lang="en-US" dirty="0"/>
              <a:t>}  </a:t>
            </a:r>
          </a:p>
          <a:p>
            <a:endParaRPr lang="en-US" dirty="0"/>
          </a:p>
        </p:txBody>
      </p:sp>
    </p:spTree>
    <p:extLst>
      <p:ext uri="{BB962C8B-B14F-4D97-AF65-F5344CB8AC3E}">
        <p14:creationId xmlns:p14="http://schemas.microsoft.com/office/powerpoint/2010/main" val="3332454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p:txBody>
          <a:bodyPr/>
          <a:lstStyle/>
          <a:p>
            <a:pPr marL="0" indent="0">
              <a:buNone/>
            </a:pPr>
            <a:r>
              <a:rPr lang="en-US" b="1" dirty="0"/>
              <a:t>class</a:t>
            </a:r>
            <a:r>
              <a:rPr lang="en-US" dirty="0"/>
              <a:t> Student </a:t>
            </a:r>
            <a:r>
              <a:rPr lang="en-US" b="1" dirty="0"/>
              <a:t>extends</a:t>
            </a:r>
            <a:r>
              <a:rPr lang="en-US" dirty="0"/>
              <a:t> Department   </a:t>
            </a:r>
          </a:p>
          <a:p>
            <a:pPr marL="0" indent="0">
              <a:buNone/>
            </a:pPr>
            <a:r>
              <a:rPr lang="en-US" dirty="0"/>
              <a:t>{  </a:t>
            </a:r>
          </a:p>
          <a:p>
            <a:pPr marL="0" indent="0">
              <a:buNone/>
            </a:pPr>
            <a:r>
              <a:rPr lang="en-US" dirty="0"/>
              <a:t>    /* Constructor */  </a:t>
            </a:r>
          </a:p>
          <a:p>
            <a:pPr marL="0" indent="0">
              <a:buNone/>
            </a:pPr>
            <a:r>
              <a:rPr lang="en-US" dirty="0"/>
              <a:t>    Student()  </a:t>
            </a:r>
          </a:p>
          <a:p>
            <a:pPr marL="0" indent="0">
              <a:buNone/>
            </a:pPr>
            <a:r>
              <a:rPr lang="en-US" dirty="0"/>
              <a:t>    {  </a:t>
            </a:r>
          </a:p>
          <a:p>
            <a:pPr marL="0" indent="0">
              <a:buNone/>
            </a:pPr>
            <a:r>
              <a:rPr lang="en-US" dirty="0"/>
              <a:t>    </a:t>
            </a:r>
            <a:r>
              <a:rPr lang="en-US" dirty="0" err="1"/>
              <a:t>System.out.println</a:t>
            </a:r>
            <a:r>
              <a:rPr lang="en-US" dirty="0"/>
              <a:t>("Student constructor executed");  </a:t>
            </a:r>
          </a:p>
          <a:p>
            <a:pPr marL="0" indent="0">
              <a:buNone/>
            </a:pPr>
            <a:r>
              <a:rPr lang="en-US" dirty="0"/>
              <a:t>    }  </a:t>
            </a:r>
          </a:p>
          <a:p>
            <a:pPr marL="0" indent="0">
              <a:buNone/>
            </a:pPr>
            <a:r>
              <a:rPr lang="en-US" dirty="0"/>
              <a:t>}  </a:t>
            </a:r>
          </a:p>
          <a:p>
            <a:endParaRPr lang="en-US" dirty="0"/>
          </a:p>
        </p:txBody>
      </p:sp>
    </p:spTree>
    <p:extLst>
      <p:ext uri="{BB962C8B-B14F-4D97-AF65-F5344CB8AC3E}">
        <p14:creationId xmlns:p14="http://schemas.microsoft.com/office/powerpoint/2010/main" val="1428376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a:xfrm>
            <a:off x="914400" y="990600"/>
            <a:ext cx="7772400" cy="5562600"/>
          </a:xfrm>
        </p:spPr>
        <p:txBody>
          <a:bodyPr>
            <a:normAutofit/>
          </a:bodyPr>
          <a:lstStyle/>
          <a:p>
            <a:pPr marL="0" indent="0">
              <a:buNone/>
            </a:pPr>
            <a:r>
              <a:rPr lang="en-US" b="1" dirty="0"/>
              <a:t>public</a:t>
            </a:r>
            <a:r>
              <a:rPr lang="en-US" dirty="0"/>
              <a:t> </a:t>
            </a:r>
            <a:r>
              <a:rPr lang="en-US" b="1" dirty="0"/>
              <a:t>class</a:t>
            </a:r>
            <a:r>
              <a:rPr lang="en-US" dirty="0"/>
              <a:t> OrderofExecution2   </a:t>
            </a:r>
          </a:p>
          <a:p>
            <a:pPr marL="0" indent="0">
              <a:buNone/>
            </a:pPr>
            <a:r>
              <a:rPr lang="en-US" dirty="0"/>
              <a:t>{  </a:t>
            </a:r>
          </a:p>
          <a:p>
            <a:pPr marL="0" indent="0">
              <a:buNone/>
            </a:pPr>
            <a:r>
              <a:rPr lang="en-US" dirty="0"/>
              <a:t>        /* Driver Code */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a:t>
            </a:r>
            <a:r>
              <a:rPr lang="en-US" dirty="0"/>
              <a:t>[])   </a:t>
            </a:r>
          </a:p>
          <a:p>
            <a:pPr marL="0" indent="0">
              <a:buNone/>
            </a:pPr>
            <a:r>
              <a:rPr lang="en-US" dirty="0"/>
              <a:t>    {  </a:t>
            </a:r>
          </a:p>
          <a:p>
            <a:pPr marL="0" indent="0">
              <a:buNone/>
            </a:pPr>
            <a:r>
              <a:rPr lang="en-US" dirty="0"/>
              <a:t>        /* Create instance of Student class */  </a:t>
            </a:r>
          </a:p>
          <a:p>
            <a:pPr marL="0" indent="0">
              <a:buNone/>
            </a:pPr>
            <a:r>
              <a:rPr lang="en-US" dirty="0"/>
              <a:t>        </a:t>
            </a:r>
            <a:r>
              <a:rPr lang="en-US" dirty="0" err="1"/>
              <a:t>System.out.println</a:t>
            </a:r>
            <a:r>
              <a:rPr lang="en-US" dirty="0"/>
              <a:t>("Order of constructor execution in Multilevel inheritance...");  </a:t>
            </a:r>
          </a:p>
          <a:p>
            <a:pPr marL="0" indent="0">
              <a:buNone/>
            </a:pPr>
            <a:r>
              <a:rPr lang="en-US" dirty="0"/>
              <a:t>        </a:t>
            </a:r>
            <a:r>
              <a:rPr lang="en-US" b="1" dirty="0"/>
              <a:t>new</a:t>
            </a:r>
            <a:r>
              <a:rPr lang="en-US" dirty="0"/>
              <a:t> Student();    </a:t>
            </a:r>
          </a:p>
          <a:p>
            <a:pPr marL="0" indent="0">
              <a:buNone/>
            </a:pPr>
            <a:r>
              <a:rPr lang="en-US" dirty="0"/>
              <a:t>    }  </a:t>
            </a:r>
          </a:p>
          <a:p>
            <a:pPr marL="0" indent="0">
              <a:buNone/>
            </a:pPr>
            <a:r>
              <a:rPr lang="en-US" dirty="0"/>
              <a:t>}  </a:t>
            </a:r>
          </a:p>
          <a:p>
            <a:endParaRPr lang="en-US" dirty="0"/>
          </a:p>
        </p:txBody>
      </p:sp>
    </p:spTree>
    <p:extLst>
      <p:ext uri="{BB962C8B-B14F-4D97-AF65-F5344CB8AC3E}">
        <p14:creationId xmlns:p14="http://schemas.microsoft.com/office/powerpoint/2010/main" val="3395773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a:xfrm>
            <a:off x="917812" y="990600"/>
            <a:ext cx="7772400" cy="5562600"/>
          </a:xfrm>
        </p:spPr>
        <p:txBody>
          <a:bodyPr>
            <a:normAutofit/>
          </a:bodyPr>
          <a:lstStyle/>
          <a:p>
            <a:pPr marL="0" indent="0">
              <a:buNone/>
            </a:pPr>
            <a:r>
              <a:rPr lang="en-US" dirty="0" smtClean="0"/>
              <a:t>Output:</a:t>
            </a:r>
          </a:p>
          <a:p>
            <a:pPr marL="0" indent="0">
              <a:buNone/>
            </a:pPr>
            <a:endParaRPr lang="en-US" dirty="0" smtClean="0"/>
          </a:p>
          <a:p>
            <a:pPr marL="0" indent="0">
              <a:buNone/>
            </a:pPr>
            <a:r>
              <a:rPr lang="en-US" dirty="0" smtClean="0"/>
              <a:t>Order </a:t>
            </a:r>
            <a:r>
              <a:rPr lang="en-US" dirty="0"/>
              <a:t>of constructor execution in Multilevel inheritance...</a:t>
            </a:r>
          </a:p>
          <a:p>
            <a:pPr marL="0" indent="0">
              <a:buNone/>
            </a:pPr>
            <a:r>
              <a:rPr lang="en-US" dirty="0"/>
              <a:t>    College constructor executed</a:t>
            </a:r>
          </a:p>
          <a:p>
            <a:pPr marL="0" indent="0">
              <a:buNone/>
            </a:pPr>
            <a:r>
              <a:rPr lang="en-US" dirty="0"/>
              <a:t>Department constructor executed</a:t>
            </a:r>
          </a:p>
          <a:p>
            <a:pPr marL="0" indent="0">
              <a:buNone/>
            </a:pPr>
            <a:r>
              <a:rPr lang="en-US" dirty="0"/>
              <a:t>Student constructor </a:t>
            </a:r>
            <a:r>
              <a:rPr lang="en-US" dirty="0" smtClean="0"/>
              <a:t>executed</a:t>
            </a:r>
          </a:p>
          <a:p>
            <a:pPr marL="0" indent="0">
              <a:buNone/>
            </a:pPr>
            <a:endParaRPr lang="en-US" dirty="0"/>
          </a:p>
          <a:p>
            <a:pPr marL="0" indent="0">
              <a:buNone/>
            </a:pPr>
            <a:r>
              <a:rPr lang="en-US" dirty="0"/>
              <a:t>In the above code, an instance of </a:t>
            </a:r>
            <a:r>
              <a:rPr lang="en-US" b="1" i="1" dirty="0"/>
              <a:t>Student</a:t>
            </a:r>
            <a:r>
              <a:rPr lang="en-US" dirty="0"/>
              <a:t> class is created and it invokes the constructors of </a:t>
            </a:r>
            <a:r>
              <a:rPr lang="en-US" b="1" i="1" dirty="0"/>
              <a:t>College, Department</a:t>
            </a:r>
            <a:r>
              <a:rPr lang="en-US" dirty="0"/>
              <a:t> and </a:t>
            </a:r>
            <a:r>
              <a:rPr lang="en-US" b="1" i="1" dirty="0"/>
              <a:t>Student</a:t>
            </a:r>
            <a:r>
              <a:rPr lang="en-US" dirty="0"/>
              <a:t> accordingly.</a:t>
            </a:r>
          </a:p>
        </p:txBody>
      </p:sp>
    </p:spTree>
    <p:extLst>
      <p:ext uri="{BB962C8B-B14F-4D97-AF65-F5344CB8AC3E}">
        <p14:creationId xmlns:p14="http://schemas.microsoft.com/office/powerpoint/2010/main" val="481607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a:xfrm>
            <a:off x="946245" y="990600"/>
            <a:ext cx="7772400" cy="4572000"/>
          </a:xfrm>
        </p:spPr>
        <p:txBody>
          <a:bodyPr/>
          <a:lstStyle/>
          <a:p>
            <a:r>
              <a:rPr lang="en-US" dirty="0" smtClean="0"/>
              <a:t>Calling </a:t>
            </a:r>
            <a:r>
              <a:rPr lang="en-US" dirty="0"/>
              <a:t>same class constructor using </a:t>
            </a:r>
            <a:r>
              <a:rPr lang="en-US" b="1" dirty="0"/>
              <a:t>this</a:t>
            </a:r>
            <a:r>
              <a:rPr lang="en-US" dirty="0"/>
              <a:t> </a:t>
            </a:r>
            <a:r>
              <a:rPr lang="en-US" dirty="0" smtClean="0"/>
              <a:t>keyword</a:t>
            </a:r>
          </a:p>
          <a:p>
            <a:r>
              <a:rPr lang="en-US" dirty="0"/>
              <a:t>Here, inheritance is not implemented. But there can be multiple constructors of a single class and those constructors can be accessed using </a:t>
            </a:r>
            <a:r>
              <a:rPr lang="en-US" b="1" dirty="0"/>
              <a:t>this</a:t>
            </a:r>
            <a:r>
              <a:rPr lang="en-US" dirty="0"/>
              <a:t> keyword.</a:t>
            </a:r>
          </a:p>
        </p:txBody>
      </p:sp>
    </p:spTree>
    <p:extLst>
      <p:ext uri="{BB962C8B-B14F-4D97-AF65-F5344CB8AC3E}">
        <p14:creationId xmlns:p14="http://schemas.microsoft.com/office/powerpoint/2010/main" val="6417333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a:xfrm>
            <a:off x="914400" y="1066800"/>
            <a:ext cx="7772400" cy="5486400"/>
          </a:xfrm>
        </p:spPr>
        <p:txBody>
          <a:bodyPr>
            <a:normAutofit/>
          </a:bodyPr>
          <a:lstStyle/>
          <a:p>
            <a:pPr marL="0" indent="0">
              <a:lnSpc>
                <a:spcPct val="170000"/>
              </a:lnSpc>
              <a:buNone/>
            </a:pPr>
            <a:r>
              <a:rPr lang="en-US" dirty="0"/>
              <a:t>public class OrderofExecution3 {</a:t>
            </a:r>
          </a:p>
          <a:p>
            <a:pPr marL="0" indent="0">
              <a:lnSpc>
                <a:spcPct val="170000"/>
              </a:lnSpc>
              <a:buNone/>
            </a:pPr>
            <a:r>
              <a:rPr lang="en-US" dirty="0"/>
              <a:t>    /* Default constructor */</a:t>
            </a:r>
          </a:p>
          <a:p>
            <a:pPr marL="0" indent="0">
              <a:lnSpc>
                <a:spcPct val="170000"/>
              </a:lnSpc>
              <a:buNone/>
            </a:pPr>
            <a:r>
              <a:rPr lang="en-US" dirty="0"/>
              <a:t>    OrderofExecution3() {</a:t>
            </a:r>
          </a:p>
          <a:p>
            <a:pPr marL="0" indent="0">
              <a:lnSpc>
                <a:spcPct val="170000"/>
              </a:lnSpc>
              <a:buNone/>
            </a:pPr>
            <a:r>
              <a:rPr lang="en-US" dirty="0"/>
              <a:t>        this("</a:t>
            </a:r>
            <a:r>
              <a:rPr lang="en-US" dirty="0" err="1"/>
              <a:t>CallParam</a:t>
            </a:r>
            <a:r>
              <a:rPr lang="en-US" dirty="0"/>
              <a:t>");</a:t>
            </a:r>
          </a:p>
          <a:p>
            <a:pPr marL="0" indent="0">
              <a:lnSpc>
                <a:spcPct val="170000"/>
              </a:lnSpc>
              <a:buNone/>
            </a:pPr>
            <a:r>
              <a:rPr lang="en-US" dirty="0"/>
              <a:t>        </a:t>
            </a:r>
            <a:r>
              <a:rPr lang="en-US" dirty="0" err="1"/>
              <a:t>System.out.println</a:t>
            </a:r>
            <a:r>
              <a:rPr lang="en-US" dirty="0"/>
              <a:t>("Default constructor executed.");</a:t>
            </a:r>
          </a:p>
          <a:p>
            <a:pPr marL="0" indent="0">
              <a:lnSpc>
                <a:spcPct val="170000"/>
              </a:lnSpc>
              <a:buNone/>
            </a:pPr>
            <a:r>
              <a:rPr lang="en-US" dirty="0"/>
              <a:t>    </a:t>
            </a:r>
            <a:r>
              <a:rPr lang="en-US" dirty="0" smtClean="0"/>
              <a:t>}</a:t>
            </a:r>
            <a:endParaRPr lang="en-US" dirty="0"/>
          </a:p>
        </p:txBody>
      </p:sp>
    </p:spTree>
    <p:extLst>
      <p:ext uri="{BB962C8B-B14F-4D97-AF65-F5344CB8AC3E}">
        <p14:creationId xmlns:p14="http://schemas.microsoft.com/office/powerpoint/2010/main" val="33420514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Constructors in inheritance</a:t>
            </a:r>
          </a:p>
        </p:txBody>
      </p:sp>
      <p:sp>
        <p:nvSpPr>
          <p:cNvPr id="3" name="Content Placeholder 2"/>
          <p:cNvSpPr>
            <a:spLocks noGrp="1"/>
          </p:cNvSpPr>
          <p:nvPr>
            <p:ph sz="quarter" idx="1"/>
          </p:nvPr>
        </p:nvSpPr>
        <p:spPr>
          <a:xfrm>
            <a:off x="914400" y="914400"/>
            <a:ext cx="7772400" cy="5715000"/>
          </a:xfrm>
        </p:spPr>
        <p:txBody>
          <a:bodyPr>
            <a:normAutofit fontScale="70000" lnSpcReduction="20000"/>
          </a:bodyPr>
          <a:lstStyle/>
          <a:p>
            <a:pPr marL="0" indent="0">
              <a:lnSpc>
                <a:spcPct val="170000"/>
              </a:lnSpc>
              <a:buNone/>
            </a:pPr>
            <a:r>
              <a:rPr lang="en-US" dirty="0"/>
              <a:t> /* Parameterized constructor */</a:t>
            </a:r>
          </a:p>
          <a:p>
            <a:pPr marL="0" indent="0">
              <a:lnSpc>
                <a:spcPct val="170000"/>
              </a:lnSpc>
              <a:buNone/>
            </a:pPr>
            <a:r>
              <a:rPr lang="en-US" dirty="0"/>
              <a:t>    OrderofExecution3(String </a:t>
            </a:r>
            <a:r>
              <a:rPr lang="en-US" dirty="0" err="1"/>
              <a:t>str</a:t>
            </a:r>
            <a:r>
              <a:rPr lang="en-US" dirty="0"/>
              <a:t>) {</a:t>
            </a:r>
          </a:p>
          <a:p>
            <a:pPr marL="0" indent="0">
              <a:lnSpc>
                <a:spcPct val="170000"/>
              </a:lnSpc>
              <a:buNone/>
            </a:pPr>
            <a:r>
              <a:rPr lang="en-US" dirty="0"/>
              <a:t>        </a:t>
            </a:r>
            <a:r>
              <a:rPr lang="en-US" dirty="0" err="1"/>
              <a:t>System.out.println</a:t>
            </a:r>
            <a:r>
              <a:rPr lang="en-US" dirty="0"/>
              <a:t>("Parameterized constructor executed.");</a:t>
            </a:r>
          </a:p>
          <a:p>
            <a:pPr marL="0" indent="0">
              <a:lnSpc>
                <a:spcPct val="170000"/>
              </a:lnSpc>
              <a:buNone/>
            </a:pPr>
            <a:r>
              <a:rPr lang="en-US" dirty="0"/>
              <a:t>    }</a:t>
            </a:r>
          </a:p>
          <a:p>
            <a:pPr marL="0" indent="0">
              <a:lnSpc>
                <a:spcPct val="170000"/>
              </a:lnSpc>
              <a:buNone/>
            </a:pPr>
            <a:r>
              <a:rPr lang="en-US" dirty="0"/>
              <a:t>    /* Driver Code */</a:t>
            </a:r>
          </a:p>
          <a:p>
            <a:pPr marL="0" indent="0">
              <a:lnSpc>
                <a:spcPct val="170000"/>
              </a:lnSpc>
              <a:buNone/>
            </a:pPr>
            <a:r>
              <a:rPr lang="en-US" dirty="0"/>
              <a:t>    public static void main(String </a:t>
            </a:r>
            <a:r>
              <a:rPr lang="en-US" dirty="0" err="1"/>
              <a:t>ar</a:t>
            </a:r>
            <a:r>
              <a:rPr lang="en-US" dirty="0"/>
              <a:t>[]) {</a:t>
            </a:r>
          </a:p>
          <a:p>
            <a:pPr marL="0" indent="0">
              <a:lnSpc>
                <a:spcPct val="170000"/>
              </a:lnSpc>
              <a:buNone/>
            </a:pPr>
            <a:r>
              <a:rPr lang="en-US" dirty="0"/>
              <a:t>        /* Create instance of the class */</a:t>
            </a:r>
          </a:p>
          <a:p>
            <a:pPr marL="0" indent="0">
              <a:lnSpc>
                <a:spcPct val="170000"/>
              </a:lnSpc>
              <a:buNone/>
            </a:pPr>
            <a:r>
              <a:rPr lang="en-US" dirty="0"/>
              <a:t>        </a:t>
            </a:r>
            <a:r>
              <a:rPr lang="en-US" dirty="0" err="1"/>
              <a:t>System.out.println</a:t>
            </a:r>
            <a:r>
              <a:rPr lang="en-US" dirty="0"/>
              <a:t>("Order of constructor execution...");</a:t>
            </a:r>
          </a:p>
          <a:p>
            <a:pPr marL="0" indent="0">
              <a:lnSpc>
                <a:spcPct val="170000"/>
              </a:lnSpc>
              <a:buNone/>
            </a:pPr>
            <a:r>
              <a:rPr lang="en-US" dirty="0"/>
              <a:t>        OrderofExecution3 </a:t>
            </a:r>
            <a:r>
              <a:rPr lang="en-US" dirty="0" err="1"/>
              <a:t>obj</a:t>
            </a:r>
            <a:r>
              <a:rPr lang="en-US" dirty="0"/>
              <a:t> = new OrderofExecution3();</a:t>
            </a:r>
          </a:p>
          <a:p>
            <a:pPr marL="0" indent="0">
              <a:lnSpc>
                <a:spcPct val="170000"/>
              </a:lnSpc>
              <a:buNone/>
            </a:pPr>
            <a:r>
              <a:rPr lang="en-US" dirty="0"/>
              <a:t>    }</a:t>
            </a:r>
          </a:p>
          <a:p>
            <a:pPr marL="0" indent="0">
              <a:lnSpc>
                <a:spcPct val="170000"/>
              </a:lnSpc>
              <a:buNone/>
            </a:pPr>
            <a:r>
              <a:rPr lang="en-US" dirty="0"/>
              <a:t>}</a:t>
            </a:r>
          </a:p>
        </p:txBody>
      </p:sp>
    </p:spTree>
    <p:extLst>
      <p:ext uri="{BB962C8B-B14F-4D97-AF65-F5344CB8AC3E}">
        <p14:creationId xmlns:p14="http://schemas.microsoft.com/office/powerpoint/2010/main" val="1260741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914400" y="914400"/>
            <a:ext cx="7772400" cy="4572000"/>
          </a:xfrm>
        </p:spPr>
        <p:txBody>
          <a:bodyPr/>
          <a:lstStyle/>
          <a:p>
            <a:r>
              <a:rPr lang="en-US" dirty="0" smtClean="0"/>
              <a:t>Output :</a:t>
            </a:r>
          </a:p>
          <a:p>
            <a:pPr lvl="1"/>
            <a:r>
              <a:rPr lang="en-US" dirty="0"/>
              <a:t>Order of constructor execution...</a:t>
            </a:r>
          </a:p>
          <a:p>
            <a:pPr lvl="1"/>
            <a:r>
              <a:rPr lang="en-US" dirty="0" smtClean="0"/>
              <a:t>Parameterized </a:t>
            </a:r>
            <a:r>
              <a:rPr lang="en-US" dirty="0"/>
              <a:t>constructor executed.</a:t>
            </a:r>
          </a:p>
          <a:p>
            <a:pPr lvl="1"/>
            <a:r>
              <a:rPr lang="en-US" dirty="0"/>
              <a:t>Default constructor executed</a:t>
            </a:r>
            <a:r>
              <a:rPr lang="en-US" dirty="0" smtClean="0"/>
              <a:t>.</a:t>
            </a:r>
          </a:p>
          <a:p>
            <a:pPr lvl="1"/>
            <a:endParaRPr lang="en-US" dirty="0"/>
          </a:p>
          <a:p>
            <a:r>
              <a:rPr lang="en-US" dirty="0"/>
              <a:t>In the above code, the parameterized constructor is called first even when the default constructor is called while object creation. It happens because </a:t>
            </a:r>
            <a:r>
              <a:rPr lang="en-US" b="1" i="1" dirty="0"/>
              <a:t>this</a:t>
            </a:r>
            <a:r>
              <a:rPr lang="en-US" dirty="0"/>
              <a:t> keyword is used as the first line of the default constructor.</a:t>
            </a:r>
          </a:p>
        </p:txBody>
      </p:sp>
    </p:spTree>
    <p:extLst>
      <p:ext uri="{BB962C8B-B14F-4D97-AF65-F5344CB8AC3E}">
        <p14:creationId xmlns:p14="http://schemas.microsoft.com/office/powerpoint/2010/main" val="1407444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Super Keyword in Inheritance</a:t>
            </a:r>
            <a:endParaRPr lang="en-US" dirty="0"/>
          </a:p>
        </p:txBody>
      </p:sp>
      <p:sp>
        <p:nvSpPr>
          <p:cNvPr id="3" name="Content Placeholder 2"/>
          <p:cNvSpPr>
            <a:spLocks noGrp="1"/>
          </p:cNvSpPr>
          <p:nvPr>
            <p:ph sz="quarter" idx="1"/>
          </p:nvPr>
        </p:nvSpPr>
        <p:spPr>
          <a:xfrm>
            <a:off x="914400" y="990600"/>
            <a:ext cx="7772400" cy="4572000"/>
          </a:xfrm>
        </p:spPr>
        <p:txBody>
          <a:bodyPr/>
          <a:lstStyle/>
          <a:p>
            <a:r>
              <a:rPr lang="en-US" b="1" dirty="0"/>
              <a:t>Calling superclass constructor using super keyword</a:t>
            </a:r>
          </a:p>
          <a:p>
            <a:r>
              <a:rPr lang="en-US" dirty="0"/>
              <a:t>A child class constructor or method can access the base class constructor or method using the super keyword.</a:t>
            </a:r>
          </a:p>
        </p:txBody>
      </p:sp>
    </p:spTree>
    <p:extLst>
      <p:ext uri="{BB962C8B-B14F-4D97-AF65-F5344CB8AC3E}">
        <p14:creationId xmlns:p14="http://schemas.microsoft.com/office/powerpoint/2010/main" val="3865056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 Keyword in Inheritance</a:t>
            </a:r>
          </a:p>
        </p:txBody>
      </p:sp>
      <p:sp>
        <p:nvSpPr>
          <p:cNvPr id="3" name="Content Placeholder 2"/>
          <p:cNvSpPr>
            <a:spLocks noGrp="1"/>
          </p:cNvSpPr>
          <p:nvPr>
            <p:ph sz="quarter" idx="1"/>
          </p:nvPr>
        </p:nvSpPr>
        <p:spPr>
          <a:xfrm>
            <a:off x="914400" y="914400"/>
            <a:ext cx="7772400" cy="5410200"/>
          </a:xfrm>
        </p:spPr>
        <p:txBody>
          <a:bodyPr>
            <a:normAutofit fontScale="77500" lnSpcReduction="20000"/>
          </a:bodyPr>
          <a:lstStyle/>
          <a:p>
            <a:pPr marL="0" indent="0">
              <a:buNone/>
            </a:pPr>
            <a:r>
              <a:rPr lang="en-US" dirty="0"/>
              <a:t>/* Parent Class */</a:t>
            </a:r>
          </a:p>
          <a:p>
            <a:pPr marL="0" indent="0">
              <a:buNone/>
            </a:pPr>
            <a:r>
              <a:rPr lang="en-US" dirty="0"/>
              <a:t>class </a:t>
            </a:r>
            <a:r>
              <a:rPr lang="en-US" dirty="0" err="1"/>
              <a:t>ParentClass</a:t>
            </a:r>
            <a:r>
              <a:rPr lang="en-US" dirty="0"/>
              <a:t> {</a:t>
            </a:r>
          </a:p>
          <a:p>
            <a:pPr marL="0" indent="0">
              <a:buNone/>
            </a:pPr>
            <a:r>
              <a:rPr lang="en-US" dirty="0"/>
              <a:t>    </a:t>
            </a:r>
            <a:r>
              <a:rPr lang="en-US" dirty="0" err="1"/>
              <a:t>int</a:t>
            </a:r>
            <a:r>
              <a:rPr lang="en-US" dirty="0"/>
              <a:t> a;</a:t>
            </a:r>
          </a:p>
          <a:p>
            <a:pPr marL="0" indent="0">
              <a:buNone/>
            </a:pPr>
            <a:r>
              <a:rPr lang="en-US" dirty="0"/>
              <a:t>    </a:t>
            </a:r>
            <a:r>
              <a:rPr lang="en-US" dirty="0" err="1"/>
              <a:t>ParentClass</a:t>
            </a:r>
            <a:r>
              <a:rPr lang="en-US" dirty="0"/>
              <a:t>(</a:t>
            </a:r>
            <a:r>
              <a:rPr lang="en-US" dirty="0" err="1"/>
              <a:t>int</a:t>
            </a:r>
            <a:r>
              <a:rPr lang="en-US" dirty="0"/>
              <a:t> x) {</a:t>
            </a:r>
          </a:p>
          <a:p>
            <a:pPr marL="0" indent="0">
              <a:buNone/>
            </a:pPr>
            <a:r>
              <a:rPr lang="en-US" dirty="0"/>
              <a:t>        a = x;</a:t>
            </a:r>
          </a:p>
          <a:p>
            <a:pPr marL="0" indent="0">
              <a:buNone/>
            </a:pPr>
            <a:r>
              <a:rPr lang="en-US" dirty="0"/>
              <a:t>    }</a:t>
            </a:r>
          </a:p>
          <a:p>
            <a:pPr marL="0" indent="0">
              <a:buNone/>
            </a:pPr>
            <a:r>
              <a:rPr lang="en-US" dirty="0"/>
              <a:t>}</a:t>
            </a:r>
          </a:p>
          <a:p>
            <a:pPr marL="0" indent="0">
              <a:buNone/>
            </a:pPr>
            <a:endParaRPr lang="en-US" dirty="0"/>
          </a:p>
          <a:p>
            <a:pPr marL="0" indent="0">
              <a:buNone/>
            </a:pPr>
            <a:r>
              <a:rPr lang="en-US" dirty="0"/>
              <a:t>/* Child Class */</a:t>
            </a:r>
          </a:p>
          <a:p>
            <a:pPr marL="0" indent="0">
              <a:buNone/>
            </a:pPr>
            <a:r>
              <a:rPr lang="en-US" dirty="0"/>
              <a:t>class </a:t>
            </a:r>
            <a:r>
              <a:rPr lang="en-US" dirty="0" err="1"/>
              <a:t>ChildClass</a:t>
            </a:r>
            <a:r>
              <a:rPr lang="en-US" dirty="0"/>
              <a:t> extends </a:t>
            </a:r>
            <a:r>
              <a:rPr lang="en-US" dirty="0" err="1"/>
              <a:t>ParentClass</a:t>
            </a:r>
            <a:r>
              <a:rPr lang="en-US" dirty="0"/>
              <a:t> {</a:t>
            </a:r>
          </a:p>
          <a:p>
            <a:pPr marL="0" indent="0">
              <a:buNone/>
            </a:pPr>
            <a:r>
              <a:rPr lang="en-US" dirty="0"/>
              <a:t>    </a:t>
            </a:r>
            <a:r>
              <a:rPr lang="en-US" dirty="0" err="1"/>
              <a:t>int</a:t>
            </a:r>
            <a:r>
              <a:rPr lang="en-US" dirty="0"/>
              <a:t> b;</a:t>
            </a:r>
          </a:p>
          <a:p>
            <a:pPr marL="0" indent="0">
              <a:buNone/>
            </a:pPr>
            <a:r>
              <a:rPr lang="en-US" dirty="0"/>
              <a:t>    </a:t>
            </a:r>
            <a:r>
              <a:rPr lang="en-US" dirty="0" err="1"/>
              <a:t>ChildClass</a:t>
            </a:r>
            <a:r>
              <a:rPr lang="en-US" dirty="0"/>
              <a:t>(</a:t>
            </a:r>
            <a:r>
              <a:rPr lang="en-US" dirty="0" err="1"/>
              <a:t>int</a:t>
            </a:r>
            <a:r>
              <a:rPr lang="en-US" dirty="0"/>
              <a:t> x, </a:t>
            </a:r>
            <a:r>
              <a:rPr lang="en-US" dirty="0" err="1"/>
              <a:t>int</a:t>
            </a:r>
            <a:r>
              <a:rPr lang="en-US" dirty="0"/>
              <a:t> y) {</a:t>
            </a:r>
          </a:p>
          <a:p>
            <a:pPr marL="0" indent="0">
              <a:buNone/>
            </a:pPr>
            <a:r>
              <a:rPr lang="en-US" dirty="0"/>
              <a:t>        /* Accessing </a:t>
            </a:r>
            <a:r>
              <a:rPr lang="en-US" dirty="0" err="1"/>
              <a:t>ParentClass</a:t>
            </a:r>
            <a:r>
              <a:rPr lang="en-US" dirty="0"/>
              <a:t> Constructor */</a:t>
            </a:r>
          </a:p>
          <a:p>
            <a:pPr marL="0" indent="0">
              <a:buNone/>
            </a:pPr>
            <a:r>
              <a:rPr lang="en-US" dirty="0"/>
              <a:t>        super(x);</a:t>
            </a:r>
          </a:p>
          <a:p>
            <a:pPr marL="0" indent="0">
              <a:buNone/>
            </a:pPr>
            <a:r>
              <a:rPr lang="en-US" dirty="0"/>
              <a:t>        b = y;</a:t>
            </a:r>
          </a:p>
          <a:p>
            <a:pPr marL="0" indent="0">
              <a:buNone/>
            </a:pPr>
            <a:r>
              <a:rPr lang="en-US" dirty="0"/>
              <a:t>    </a:t>
            </a:r>
            <a:r>
              <a:rPr lang="en-US" dirty="0" smtClean="0"/>
              <a:t>}</a:t>
            </a:r>
            <a:endParaRPr lang="en-US" dirty="0"/>
          </a:p>
        </p:txBody>
      </p:sp>
    </p:spTree>
    <p:extLst>
      <p:ext uri="{BB962C8B-B14F-4D97-AF65-F5344CB8AC3E}">
        <p14:creationId xmlns:p14="http://schemas.microsoft.com/office/powerpoint/2010/main" val="27204319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 Keyword in Inheritance</a:t>
            </a:r>
          </a:p>
        </p:txBody>
      </p:sp>
      <p:sp>
        <p:nvSpPr>
          <p:cNvPr id="3" name="Content Placeholder 2"/>
          <p:cNvSpPr>
            <a:spLocks noGrp="1"/>
          </p:cNvSpPr>
          <p:nvPr>
            <p:ph sz="quarter" idx="1"/>
          </p:nvPr>
        </p:nvSpPr>
        <p:spPr>
          <a:xfrm>
            <a:off x="914400" y="990600"/>
            <a:ext cx="7772400" cy="4572000"/>
          </a:xfrm>
        </p:spPr>
        <p:txBody>
          <a:bodyPr>
            <a:normAutofit fontScale="77500" lnSpcReduction="20000"/>
          </a:bodyPr>
          <a:lstStyle/>
          <a:p>
            <a:pPr marL="0" indent="0">
              <a:buNone/>
            </a:pPr>
            <a:r>
              <a:rPr lang="en-US" dirty="0"/>
              <a:t> /* Method to show value of a and b */</a:t>
            </a:r>
          </a:p>
          <a:p>
            <a:pPr marL="0" indent="0">
              <a:buNone/>
            </a:pPr>
            <a:r>
              <a:rPr lang="en-US" dirty="0"/>
              <a:t>    void Show() {</a:t>
            </a:r>
          </a:p>
          <a:p>
            <a:pPr marL="0" indent="0">
              <a:buNone/>
            </a:pPr>
            <a:r>
              <a:rPr lang="en-US" dirty="0"/>
              <a:t>        </a:t>
            </a:r>
            <a:r>
              <a:rPr lang="en-US" dirty="0" err="1"/>
              <a:t>System.out.println</a:t>
            </a:r>
            <a:r>
              <a:rPr lang="en-US" dirty="0"/>
              <a:t>("Value of a : " + a + "\</a:t>
            </a:r>
            <a:r>
              <a:rPr lang="en-US" dirty="0" err="1"/>
              <a:t>nValue</a:t>
            </a:r>
            <a:r>
              <a:rPr lang="en-US" dirty="0"/>
              <a:t> of b : " + b);</a:t>
            </a:r>
          </a:p>
          <a:p>
            <a:pPr marL="0" indent="0">
              <a:buNone/>
            </a:pPr>
            <a:r>
              <a:rPr lang="en-US" dirty="0"/>
              <a:t>    }</a:t>
            </a:r>
          </a:p>
          <a:p>
            <a:pPr marL="0" indent="0">
              <a:buNone/>
            </a:pPr>
            <a:r>
              <a:rPr lang="en-US" dirty="0"/>
              <a:t>}</a:t>
            </a:r>
          </a:p>
          <a:p>
            <a:pPr marL="0" indent="0">
              <a:buNone/>
            </a:pPr>
            <a:endParaRPr lang="en-US" dirty="0"/>
          </a:p>
          <a:p>
            <a:pPr marL="0" indent="0">
              <a:buNone/>
            </a:pPr>
            <a:r>
              <a:rPr lang="en-US" dirty="0"/>
              <a:t>public class OrderofExecution4 {</a:t>
            </a:r>
          </a:p>
          <a:p>
            <a:pPr marL="0" indent="0">
              <a:buNone/>
            </a:pPr>
            <a:r>
              <a:rPr lang="en-US" dirty="0"/>
              <a:t>    /* Driver Code */</a:t>
            </a:r>
          </a:p>
          <a:p>
            <a:pPr marL="0" indent="0">
              <a:buNone/>
            </a:pPr>
            <a:r>
              <a:rPr lang="en-US" dirty="0"/>
              <a:t>    public static void main(String </a:t>
            </a:r>
            <a:r>
              <a:rPr lang="en-US" dirty="0" err="1"/>
              <a:t>ar</a:t>
            </a:r>
            <a:r>
              <a:rPr lang="en-US" dirty="0"/>
              <a:t>[]) {</a:t>
            </a:r>
          </a:p>
          <a:p>
            <a:pPr marL="0" indent="0">
              <a:buNone/>
            </a:pPr>
            <a:r>
              <a:rPr lang="en-US" dirty="0"/>
              <a:t>        </a:t>
            </a:r>
            <a:r>
              <a:rPr lang="en-US" dirty="0" err="1"/>
              <a:t>System.out.println</a:t>
            </a:r>
            <a:r>
              <a:rPr lang="en-US" dirty="0"/>
              <a:t>("Order of constructor execution...");</a:t>
            </a:r>
          </a:p>
          <a:p>
            <a:pPr marL="0" indent="0">
              <a:buNone/>
            </a:pPr>
            <a:r>
              <a:rPr lang="en-US" dirty="0"/>
              <a:t>        </a:t>
            </a:r>
            <a:r>
              <a:rPr lang="en-US" dirty="0" err="1"/>
              <a:t>ChildClass</a:t>
            </a:r>
            <a:r>
              <a:rPr lang="en-US" dirty="0"/>
              <a:t> d = new </a:t>
            </a:r>
            <a:r>
              <a:rPr lang="en-US" dirty="0" err="1"/>
              <a:t>ChildClass</a:t>
            </a:r>
            <a:r>
              <a:rPr lang="en-US" dirty="0"/>
              <a:t>(79, 89);</a:t>
            </a:r>
          </a:p>
          <a:p>
            <a:pPr marL="0" indent="0">
              <a:buNone/>
            </a:pPr>
            <a:r>
              <a:rPr lang="en-US" dirty="0"/>
              <a:t>        </a:t>
            </a:r>
            <a:r>
              <a:rPr lang="en-US" dirty="0" err="1"/>
              <a:t>d.Show</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791955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 Keyword in Inheritance</a:t>
            </a:r>
          </a:p>
        </p:txBody>
      </p:sp>
      <p:sp>
        <p:nvSpPr>
          <p:cNvPr id="3" name="Content Placeholder 2"/>
          <p:cNvSpPr>
            <a:spLocks noGrp="1"/>
          </p:cNvSpPr>
          <p:nvPr>
            <p:ph sz="quarter" idx="1"/>
          </p:nvPr>
        </p:nvSpPr>
        <p:spPr>
          <a:xfrm>
            <a:off x="914400" y="990600"/>
            <a:ext cx="7772400" cy="4572000"/>
          </a:xfrm>
        </p:spPr>
        <p:txBody>
          <a:bodyPr/>
          <a:lstStyle/>
          <a:p>
            <a:r>
              <a:rPr lang="en-US" dirty="0" smtClean="0"/>
              <a:t>Output:</a:t>
            </a:r>
          </a:p>
          <a:p>
            <a:pPr marL="320040" lvl="1" indent="0">
              <a:buNone/>
            </a:pPr>
            <a:r>
              <a:rPr lang="en-US" dirty="0"/>
              <a:t>Order of constructor execution...</a:t>
            </a:r>
          </a:p>
          <a:p>
            <a:pPr marL="320040" lvl="1" indent="0">
              <a:buNone/>
            </a:pPr>
            <a:r>
              <a:rPr lang="en-US" dirty="0" smtClean="0"/>
              <a:t>Value </a:t>
            </a:r>
            <a:r>
              <a:rPr lang="en-US" dirty="0"/>
              <a:t>of a: 79</a:t>
            </a:r>
          </a:p>
          <a:p>
            <a:pPr marL="320040" lvl="1" indent="0">
              <a:buNone/>
            </a:pPr>
            <a:r>
              <a:rPr lang="en-US" dirty="0"/>
              <a:t>Value of b: </a:t>
            </a:r>
            <a:r>
              <a:rPr lang="en-US" dirty="0" smtClean="0"/>
              <a:t>89</a:t>
            </a:r>
          </a:p>
          <a:p>
            <a:pPr marL="320040" lvl="1" indent="0">
              <a:buNone/>
            </a:pPr>
            <a:endParaRPr lang="en-US" dirty="0"/>
          </a:p>
          <a:p>
            <a:pPr marL="320040" lvl="1" indent="0">
              <a:buNone/>
            </a:pPr>
            <a:endParaRPr lang="en-US" dirty="0" smtClean="0"/>
          </a:p>
          <a:p>
            <a:pPr marL="320040" lvl="1" indent="0">
              <a:buNone/>
            </a:pPr>
            <a:r>
              <a:rPr lang="en-US" dirty="0"/>
              <a:t>In the above code, the </a:t>
            </a:r>
            <a:r>
              <a:rPr lang="en-US" b="1" i="1" dirty="0" err="1"/>
              <a:t>ChildClass</a:t>
            </a:r>
            <a:r>
              <a:rPr lang="en-US" dirty="0"/>
              <a:t> calls the </a:t>
            </a:r>
            <a:r>
              <a:rPr lang="en-US" b="1" i="1" dirty="0" err="1"/>
              <a:t>ParentClass</a:t>
            </a:r>
            <a:r>
              <a:rPr lang="en-US" dirty="0"/>
              <a:t> constructor using a </a:t>
            </a:r>
            <a:r>
              <a:rPr lang="en-US" b="1" i="1" dirty="0"/>
              <a:t>super</a:t>
            </a:r>
            <a:r>
              <a:rPr lang="en-US" dirty="0"/>
              <a:t> keyword that determines the order of execution of constructors.</a:t>
            </a:r>
          </a:p>
        </p:txBody>
      </p:sp>
    </p:spTree>
    <p:extLst>
      <p:ext uri="{BB962C8B-B14F-4D97-AF65-F5344CB8AC3E}">
        <p14:creationId xmlns:p14="http://schemas.microsoft.com/office/powerpoint/2010/main" val="2762829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Overriding in Java</a:t>
            </a:r>
          </a:p>
        </p:txBody>
      </p:sp>
      <p:sp>
        <p:nvSpPr>
          <p:cNvPr id="3" name="Content Placeholder 2"/>
          <p:cNvSpPr>
            <a:spLocks noGrp="1"/>
          </p:cNvSpPr>
          <p:nvPr>
            <p:ph sz="quarter" idx="1"/>
          </p:nvPr>
        </p:nvSpPr>
        <p:spPr>
          <a:xfrm>
            <a:off x="914400" y="1143000"/>
            <a:ext cx="7772400" cy="5334000"/>
          </a:xfrm>
        </p:spPr>
        <p:txBody>
          <a:bodyPr/>
          <a:lstStyle/>
          <a:p>
            <a:r>
              <a:rPr lang="en-US" dirty="0" smtClean="0"/>
              <a:t>In </a:t>
            </a:r>
            <a:r>
              <a:rPr lang="en-US" dirty="0"/>
              <a:t>Java, Overriding is a feature that allows a subclass or child class to provide a specific implementation of a method that is already provided by one of its super-classes or parent classes</a:t>
            </a:r>
            <a:r>
              <a:rPr lang="en-US" dirty="0" smtClean="0"/>
              <a:t>.</a:t>
            </a:r>
          </a:p>
          <a:p>
            <a:r>
              <a:rPr lang="en-US" dirty="0" smtClean="0"/>
              <a:t> </a:t>
            </a:r>
            <a:r>
              <a:rPr lang="en-US" dirty="0"/>
              <a:t>When a method in a subclass has the same name, the same parameters or signature, and the same return type(or sub-type) as a method in its super-class, then the method in the subclass is said to </a:t>
            </a:r>
            <a:r>
              <a:rPr lang="en-US" b="1" i="1" dirty="0"/>
              <a:t>override</a:t>
            </a:r>
            <a:r>
              <a:rPr lang="en-US" dirty="0"/>
              <a:t> the method in the super-class.</a:t>
            </a:r>
            <a:endParaRPr lang="en-US" dirty="0"/>
          </a:p>
        </p:txBody>
      </p:sp>
    </p:spTree>
    <p:extLst>
      <p:ext uri="{BB962C8B-B14F-4D97-AF65-F5344CB8AC3E}">
        <p14:creationId xmlns:p14="http://schemas.microsoft.com/office/powerpoint/2010/main" val="25761384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Overriding in Java</a:t>
            </a:r>
          </a:p>
        </p:txBody>
      </p:sp>
      <p:sp>
        <p:nvSpPr>
          <p:cNvPr id="3" name="Content Placeholder 2"/>
          <p:cNvSpPr>
            <a:spLocks noGrp="1"/>
          </p:cNvSpPr>
          <p:nvPr>
            <p:ph sz="quarter" idx="1"/>
          </p:nvPr>
        </p:nvSpPr>
        <p:spPr>
          <a:xfrm>
            <a:off x="914400" y="1066800"/>
            <a:ext cx="7772400" cy="4572000"/>
          </a:xfrm>
        </p:spPr>
        <p:txBody>
          <a:bodyPr/>
          <a:lstStyle/>
          <a:p>
            <a:r>
              <a:rPr lang="en-US" dirty="0"/>
              <a:t>Method overriding is one of the ways by which Java achieves Run Time Polymorphism. </a:t>
            </a:r>
            <a:endParaRPr lang="en-US" dirty="0" smtClean="0"/>
          </a:p>
          <a:p>
            <a:r>
              <a:rPr lang="en-US" dirty="0" smtClean="0"/>
              <a:t>The </a:t>
            </a:r>
            <a:r>
              <a:rPr lang="en-US" dirty="0"/>
              <a:t>version of a method that is executed will be determined by the object that is used to invoke it. </a:t>
            </a:r>
            <a:endParaRPr lang="en-US" dirty="0" smtClean="0"/>
          </a:p>
          <a:p>
            <a:r>
              <a:rPr lang="en-US" dirty="0" smtClean="0"/>
              <a:t>If </a:t>
            </a:r>
            <a:r>
              <a:rPr lang="en-US" dirty="0"/>
              <a:t>an object of a parent class is used to invoke the method, then the version in the parent class will be executed, but if an object of the subclass is used to invoke the method, then the version in the child class will be executed. </a:t>
            </a:r>
            <a:endParaRPr lang="en-US" dirty="0"/>
          </a:p>
        </p:txBody>
      </p:sp>
    </p:spTree>
    <p:extLst>
      <p:ext uri="{BB962C8B-B14F-4D97-AF65-F5344CB8AC3E}">
        <p14:creationId xmlns:p14="http://schemas.microsoft.com/office/powerpoint/2010/main" val="3937642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Overriding in </a:t>
            </a:r>
            <a:r>
              <a:rPr lang="en-US" dirty="0" smtClean="0"/>
              <a:t>Java</a:t>
            </a:r>
            <a:endParaRPr lang="en-US" dirty="0"/>
          </a:p>
        </p:txBody>
      </p:sp>
      <p:sp>
        <p:nvSpPr>
          <p:cNvPr id="3" name="Content Placeholder 2"/>
          <p:cNvSpPr>
            <a:spLocks noGrp="1"/>
          </p:cNvSpPr>
          <p:nvPr>
            <p:ph sz="quarter" idx="1"/>
          </p:nvPr>
        </p:nvSpPr>
        <p:spPr>
          <a:xfrm>
            <a:off x="914400" y="990600"/>
            <a:ext cx="7772400" cy="5562600"/>
          </a:xfrm>
        </p:spPr>
        <p:txBody>
          <a:bodyPr>
            <a:normAutofit fontScale="92500" lnSpcReduction="20000"/>
          </a:bodyPr>
          <a:lstStyle/>
          <a:p>
            <a:pPr marL="0" indent="0">
              <a:buNone/>
            </a:pPr>
            <a:r>
              <a:rPr lang="en-US" dirty="0" smtClean="0"/>
              <a:t>// </a:t>
            </a:r>
            <a:r>
              <a:rPr lang="en-US" dirty="0"/>
              <a:t>Base Class</a:t>
            </a:r>
          </a:p>
          <a:p>
            <a:pPr marL="0" indent="0">
              <a:buNone/>
            </a:pPr>
            <a:r>
              <a:rPr lang="en-US" dirty="0"/>
              <a:t>class Parent {</a:t>
            </a:r>
          </a:p>
          <a:p>
            <a:pPr marL="0" indent="0">
              <a:buNone/>
            </a:pPr>
            <a:r>
              <a:rPr lang="en-US" dirty="0"/>
              <a:t>    void show() {</a:t>
            </a:r>
          </a:p>
          <a:p>
            <a:pPr marL="0" indent="0">
              <a:buNone/>
            </a:pPr>
            <a:r>
              <a:rPr lang="en-US" dirty="0"/>
              <a:t>        </a:t>
            </a:r>
            <a:r>
              <a:rPr lang="en-US" dirty="0" err="1"/>
              <a:t>System.out.println</a:t>
            </a:r>
            <a:r>
              <a:rPr lang="en-US" dirty="0"/>
              <a:t>("Parent's show()");</a:t>
            </a:r>
          </a:p>
          <a:p>
            <a:pPr marL="0" indent="0">
              <a:buNone/>
            </a:pPr>
            <a:r>
              <a:rPr lang="en-US" dirty="0"/>
              <a:t>    }</a:t>
            </a:r>
          </a:p>
          <a:p>
            <a:pPr marL="0" indent="0">
              <a:buNone/>
            </a:pPr>
            <a:r>
              <a:rPr lang="en-US" dirty="0"/>
              <a:t>}</a:t>
            </a:r>
          </a:p>
          <a:p>
            <a:pPr marL="0" indent="0">
              <a:buNone/>
            </a:pPr>
            <a:endParaRPr lang="en-US" dirty="0"/>
          </a:p>
          <a:p>
            <a:pPr marL="0" indent="0">
              <a:buNone/>
            </a:pPr>
            <a:r>
              <a:rPr lang="en-US" dirty="0"/>
              <a:t>// Inherited class</a:t>
            </a:r>
          </a:p>
          <a:p>
            <a:pPr marL="0" indent="0">
              <a:buNone/>
            </a:pPr>
            <a:r>
              <a:rPr lang="en-US" dirty="0"/>
              <a:t>class Child extends Parent {</a:t>
            </a:r>
          </a:p>
          <a:p>
            <a:pPr marL="0" indent="0">
              <a:buNone/>
            </a:pPr>
            <a:r>
              <a:rPr lang="en-US" dirty="0"/>
              <a:t>    // This method overrides show() of Parent</a:t>
            </a:r>
          </a:p>
          <a:p>
            <a:pPr marL="0" indent="0">
              <a:buNone/>
            </a:pPr>
            <a:r>
              <a:rPr lang="en-US" dirty="0"/>
              <a:t>    @Override void show() {</a:t>
            </a:r>
          </a:p>
          <a:p>
            <a:pPr marL="0" indent="0">
              <a:buNone/>
            </a:pPr>
            <a:r>
              <a:rPr lang="en-US" dirty="0"/>
              <a:t>        </a:t>
            </a:r>
            <a:r>
              <a:rPr lang="en-US" dirty="0" err="1"/>
              <a:t>System.out.println</a:t>
            </a:r>
            <a:r>
              <a:rPr lang="en-US" dirty="0"/>
              <a:t>("Child's show</a:t>
            </a:r>
            <a:r>
              <a:rPr lang="en-US" dirty="0" smtClean="0"/>
              <a:t>()");</a:t>
            </a:r>
          </a:p>
          <a:p>
            <a:pPr marL="0" indent="0">
              <a:buNone/>
            </a:pPr>
            <a:r>
              <a:rPr lang="en-US" dirty="0" smtClean="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5636084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Overriding in Java</a:t>
            </a:r>
          </a:p>
        </p:txBody>
      </p:sp>
      <p:sp>
        <p:nvSpPr>
          <p:cNvPr id="3" name="Content Placeholder 2"/>
          <p:cNvSpPr>
            <a:spLocks noGrp="1"/>
          </p:cNvSpPr>
          <p:nvPr>
            <p:ph sz="quarter" idx="1"/>
          </p:nvPr>
        </p:nvSpPr>
        <p:spPr>
          <a:xfrm>
            <a:off x="930322" y="1066800"/>
            <a:ext cx="7772400" cy="5410200"/>
          </a:xfrm>
        </p:spPr>
        <p:txBody>
          <a:bodyPr>
            <a:normAutofit/>
          </a:bodyPr>
          <a:lstStyle/>
          <a:p>
            <a:pPr marL="0" indent="0">
              <a:buNone/>
            </a:pPr>
            <a:r>
              <a:rPr lang="en-US" dirty="0"/>
              <a:t>// Driver class</a:t>
            </a:r>
          </a:p>
          <a:p>
            <a:pPr marL="0" indent="0">
              <a:buNone/>
            </a:pPr>
            <a:r>
              <a:rPr lang="en-US" dirty="0"/>
              <a:t>class Main {</a:t>
            </a:r>
          </a:p>
          <a:p>
            <a:pPr marL="0" indent="0">
              <a:buNone/>
            </a:pPr>
            <a:r>
              <a:rPr lang="en-US" dirty="0"/>
              <a:t>    public static void main(String[] </a:t>
            </a:r>
            <a:r>
              <a:rPr lang="en-US" dirty="0" err="1"/>
              <a:t>args</a:t>
            </a:r>
            <a:r>
              <a:rPr lang="en-US" dirty="0"/>
              <a:t>) {</a:t>
            </a:r>
          </a:p>
          <a:p>
            <a:pPr marL="0" indent="0">
              <a:buNone/>
            </a:pPr>
            <a:r>
              <a:rPr lang="en-US" dirty="0"/>
              <a:t> </a:t>
            </a:r>
            <a:r>
              <a:rPr lang="en-US" dirty="0" smtClean="0"/>
              <a:t>      Parent </a:t>
            </a:r>
            <a:r>
              <a:rPr lang="en-US" dirty="0"/>
              <a:t>obj1 = new Parent();</a:t>
            </a:r>
          </a:p>
          <a:p>
            <a:pPr marL="0" indent="0">
              <a:buNone/>
            </a:pPr>
            <a:r>
              <a:rPr lang="en-US" dirty="0"/>
              <a:t>        obj1.show();</a:t>
            </a:r>
          </a:p>
          <a:p>
            <a:pPr marL="594360" lvl="2" indent="0">
              <a:buNone/>
            </a:pPr>
            <a:r>
              <a:rPr lang="en-US" dirty="0" smtClean="0"/>
              <a:t>	</a:t>
            </a:r>
          </a:p>
          <a:p>
            <a:pPr marL="594360" lvl="2" indent="0">
              <a:buNone/>
            </a:pPr>
            <a:r>
              <a:rPr lang="en-US" dirty="0" smtClean="0"/>
              <a:t>Parent </a:t>
            </a:r>
            <a:r>
              <a:rPr lang="en-US" dirty="0"/>
              <a:t>obj2 = new Child();</a:t>
            </a:r>
          </a:p>
          <a:p>
            <a:pPr marL="0" indent="0">
              <a:buNone/>
            </a:pPr>
            <a:r>
              <a:rPr lang="en-US" dirty="0"/>
              <a:t>        obj2.show();</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248806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a:t>
            </a:r>
            <a:r>
              <a:rPr lang="en-US" dirty="0" smtClean="0"/>
              <a:t>overriding</a:t>
            </a:r>
            <a:endParaRPr lang="en-US" dirty="0"/>
          </a:p>
        </p:txBody>
      </p:sp>
      <p:sp>
        <p:nvSpPr>
          <p:cNvPr id="3" name="Content Placeholder 2"/>
          <p:cNvSpPr>
            <a:spLocks noGrp="1"/>
          </p:cNvSpPr>
          <p:nvPr>
            <p:ph sz="quarter" idx="1"/>
          </p:nvPr>
        </p:nvSpPr>
        <p:spPr>
          <a:xfrm>
            <a:off x="914400" y="1066800"/>
            <a:ext cx="7772400" cy="4572000"/>
          </a:xfrm>
        </p:spPr>
        <p:txBody>
          <a:bodyPr/>
          <a:lstStyle/>
          <a:p>
            <a:r>
              <a:rPr lang="en-US" b="1" dirty="0"/>
              <a:t>Overriding and Access Modifiers</a:t>
            </a:r>
          </a:p>
          <a:p>
            <a:pPr lvl="1">
              <a:lnSpc>
                <a:spcPct val="150000"/>
              </a:lnSpc>
            </a:pPr>
            <a:r>
              <a:rPr lang="en-US" dirty="0" smtClean="0"/>
              <a:t>The</a:t>
            </a:r>
            <a:r>
              <a:rPr lang="en-US" dirty="0"/>
              <a:t> access modifier for an overriding method can allow more, but not less, access than the overridden method. For example, a protected instance method in the superclass can be made public, but not private, in the subclass. </a:t>
            </a:r>
            <a:endParaRPr lang="en-US" dirty="0" smtClean="0"/>
          </a:p>
          <a:p>
            <a:pPr lvl="1">
              <a:lnSpc>
                <a:spcPct val="150000"/>
              </a:lnSpc>
            </a:pPr>
            <a:r>
              <a:rPr lang="en-US" dirty="0" smtClean="0"/>
              <a:t>Doing </a:t>
            </a:r>
            <a:r>
              <a:rPr lang="en-US" dirty="0"/>
              <a:t>so will generate a compile-time error. </a:t>
            </a:r>
            <a:endParaRPr lang="en-US" dirty="0"/>
          </a:p>
        </p:txBody>
      </p:sp>
    </p:spTree>
    <p:extLst>
      <p:ext uri="{BB962C8B-B14F-4D97-AF65-F5344CB8AC3E}">
        <p14:creationId xmlns:p14="http://schemas.microsoft.com/office/powerpoint/2010/main" val="35014677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1066800"/>
            <a:ext cx="7772400" cy="5334000"/>
          </a:xfrm>
        </p:spPr>
        <p:txBody>
          <a:bodyPr>
            <a:normAutofit/>
          </a:bodyPr>
          <a:lstStyle/>
          <a:p>
            <a:pPr marL="0" indent="0">
              <a:buNone/>
            </a:pPr>
            <a:r>
              <a:rPr lang="en-US" dirty="0"/>
              <a:t>class Parent {</a:t>
            </a:r>
          </a:p>
          <a:p>
            <a:pPr marL="0" indent="0">
              <a:buNone/>
            </a:pPr>
            <a:r>
              <a:rPr lang="en-US" dirty="0"/>
              <a:t>    // private methods are not overridden</a:t>
            </a:r>
          </a:p>
          <a:p>
            <a:pPr marL="0" indent="0">
              <a:buNone/>
            </a:pPr>
            <a:r>
              <a:rPr lang="en-US" dirty="0"/>
              <a:t>    private void m1() {</a:t>
            </a:r>
          </a:p>
          <a:p>
            <a:pPr marL="0" indent="0">
              <a:buNone/>
            </a:pPr>
            <a:r>
              <a:rPr lang="en-US" dirty="0"/>
              <a:t>        </a:t>
            </a:r>
            <a:r>
              <a:rPr lang="en-US" dirty="0" err="1"/>
              <a:t>System.out.println</a:t>
            </a:r>
            <a:r>
              <a:rPr lang="en-US" dirty="0"/>
              <a:t>("From parent m1()");</a:t>
            </a:r>
          </a:p>
          <a:p>
            <a:pPr marL="0" indent="0">
              <a:buNone/>
            </a:pPr>
            <a:r>
              <a:rPr lang="en-US" dirty="0"/>
              <a:t>    }</a:t>
            </a:r>
          </a:p>
          <a:p>
            <a:pPr marL="0" indent="0">
              <a:buNone/>
            </a:pPr>
            <a:endParaRPr lang="en-US" dirty="0"/>
          </a:p>
          <a:p>
            <a:pPr marL="0" indent="0">
              <a:buNone/>
            </a:pPr>
            <a:r>
              <a:rPr lang="en-US" dirty="0"/>
              <a:t>    protected void m2() {</a:t>
            </a:r>
          </a:p>
          <a:p>
            <a:pPr marL="0" indent="0">
              <a:buNone/>
            </a:pPr>
            <a:r>
              <a:rPr lang="en-US" dirty="0"/>
              <a:t>        </a:t>
            </a:r>
            <a:r>
              <a:rPr lang="en-US" dirty="0" err="1"/>
              <a:t>System.out.println</a:t>
            </a:r>
            <a:r>
              <a:rPr lang="en-US" dirty="0"/>
              <a:t>("From parent m2()");</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1036856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990600"/>
            <a:ext cx="7772400" cy="5562600"/>
          </a:xfrm>
        </p:spPr>
        <p:txBody>
          <a:bodyPr>
            <a:normAutofit/>
          </a:bodyPr>
          <a:lstStyle/>
          <a:p>
            <a:pPr marL="0" indent="0">
              <a:buNone/>
            </a:pPr>
            <a:r>
              <a:rPr lang="en-US" dirty="0"/>
              <a:t>class Child extends Parent {</a:t>
            </a:r>
          </a:p>
          <a:p>
            <a:pPr marL="0" indent="0">
              <a:buNone/>
            </a:pPr>
            <a:r>
              <a:rPr lang="en-US" dirty="0"/>
              <a:t> </a:t>
            </a:r>
            <a:r>
              <a:rPr lang="en-US" dirty="0" smtClean="0"/>
              <a:t>    private </a:t>
            </a:r>
            <a:r>
              <a:rPr lang="en-US" dirty="0"/>
              <a:t>void m1() {</a:t>
            </a:r>
          </a:p>
          <a:p>
            <a:pPr marL="0" indent="0">
              <a:buNone/>
            </a:pPr>
            <a:r>
              <a:rPr lang="en-US" dirty="0"/>
              <a:t>        </a:t>
            </a:r>
            <a:r>
              <a:rPr lang="en-US" dirty="0" err="1"/>
              <a:t>System.out.println</a:t>
            </a:r>
            <a:r>
              <a:rPr lang="en-US" dirty="0"/>
              <a:t>("From child m1()");</a:t>
            </a:r>
          </a:p>
          <a:p>
            <a:pPr marL="0" indent="0">
              <a:buNone/>
            </a:pPr>
            <a:r>
              <a:rPr lang="en-US" dirty="0"/>
              <a:t>    }</a:t>
            </a:r>
          </a:p>
          <a:p>
            <a:pPr marL="0" indent="0">
              <a:buNone/>
            </a:pPr>
            <a:endParaRPr lang="en-US" dirty="0"/>
          </a:p>
          <a:p>
            <a:pPr marL="0" indent="0">
              <a:buNone/>
            </a:pPr>
            <a:r>
              <a:rPr lang="en-US" dirty="0"/>
              <a:t>    // overriding method</a:t>
            </a:r>
          </a:p>
          <a:p>
            <a:pPr marL="0" indent="0">
              <a:buNone/>
            </a:pPr>
            <a:r>
              <a:rPr lang="en-US" dirty="0"/>
              <a:t>    // with more accessibility</a:t>
            </a:r>
          </a:p>
          <a:p>
            <a:pPr marL="0" indent="0">
              <a:buNone/>
            </a:pPr>
            <a:r>
              <a:rPr lang="en-US" dirty="0"/>
              <a:t>    @Override public void m2() {</a:t>
            </a:r>
          </a:p>
          <a:p>
            <a:pPr marL="0" indent="0">
              <a:buNone/>
            </a:pPr>
            <a:r>
              <a:rPr lang="en-US" dirty="0"/>
              <a:t>        </a:t>
            </a:r>
            <a:r>
              <a:rPr lang="en-US" dirty="0" err="1"/>
              <a:t>System.out.println</a:t>
            </a:r>
            <a:r>
              <a:rPr lang="en-US" dirty="0"/>
              <a:t>("From child m2()");</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4156883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sz="quarter" idx="1"/>
          </p:nvPr>
        </p:nvSpPr>
        <p:spPr>
          <a:xfrm>
            <a:off x="914400" y="1219200"/>
            <a:ext cx="7772400" cy="4572000"/>
          </a:xfrm>
        </p:spPr>
        <p:txBody>
          <a:bodyPr/>
          <a:lstStyle/>
          <a:p>
            <a:pPr marL="0" indent="0">
              <a:buNone/>
            </a:pPr>
            <a:r>
              <a:rPr lang="en-US" dirty="0"/>
              <a:t>// Driver class</a:t>
            </a:r>
          </a:p>
          <a:p>
            <a:pPr marL="0" indent="0">
              <a:buNone/>
            </a:pPr>
            <a:r>
              <a:rPr lang="en-US" dirty="0"/>
              <a:t>class Main {</a:t>
            </a:r>
          </a:p>
          <a:p>
            <a:pPr marL="0" indent="0">
              <a:buNone/>
            </a:pPr>
            <a:r>
              <a:rPr lang="en-US" dirty="0"/>
              <a:t>    public static void main(String[] </a:t>
            </a:r>
            <a:r>
              <a:rPr lang="en-US" dirty="0" err="1"/>
              <a:t>args</a:t>
            </a:r>
            <a:r>
              <a:rPr lang="en-US" dirty="0"/>
              <a:t>) {</a:t>
            </a:r>
          </a:p>
          <a:p>
            <a:pPr marL="0" indent="0">
              <a:buNone/>
            </a:pPr>
            <a:r>
              <a:rPr lang="en-US" dirty="0"/>
              <a:t>        Parent obj1 = new Parent();</a:t>
            </a:r>
          </a:p>
          <a:p>
            <a:pPr marL="0" indent="0">
              <a:buNone/>
            </a:pPr>
            <a:r>
              <a:rPr lang="en-US" dirty="0"/>
              <a:t>        obj1.m2();</a:t>
            </a:r>
          </a:p>
          <a:p>
            <a:pPr marL="0" indent="0">
              <a:buNone/>
            </a:pPr>
            <a:r>
              <a:rPr lang="en-US" dirty="0"/>
              <a:t>        Parent obj2 = new Child();</a:t>
            </a:r>
          </a:p>
          <a:p>
            <a:pPr marL="0" indent="0">
              <a:buNone/>
            </a:pPr>
            <a:r>
              <a:rPr lang="en-US" dirty="0"/>
              <a:t>        obj2.m2();</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945237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sz="quarter" idx="1"/>
          </p:nvPr>
        </p:nvSpPr>
        <p:spPr>
          <a:xfrm>
            <a:off x="914400" y="1066800"/>
            <a:ext cx="7772400" cy="4572000"/>
          </a:xfrm>
        </p:spPr>
        <p:txBody>
          <a:bodyPr/>
          <a:lstStyle/>
          <a:p>
            <a:r>
              <a:rPr lang="en-US" dirty="0"/>
              <a:t>From parent m2()</a:t>
            </a:r>
          </a:p>
          <a:p>
            <a:r>
              <a:rPr lang="en-US" dirty="0"/>
              <a:t>From child m2()</a:t>
            </a:r>
          </a:p>
        </p:txBody>
      </p:sp>
    </p:spTree>
    <p:extLst>
      <p:ext uri="{BB962C8B-B14F-4D97-AF65-F5344CB8AC3E}">
        <p14:creationId xmlns:p14="http://schemas.microsoft.com/office/powerpoint/2010/main" val="2182312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1143000"/>
            <a:ext cx="7772400" cy="5486400"/>
          </a:xfrm>
        </p:spPr>
        <p:txBody>
          <a:bodyPr>
            <a:normAutofit/>
          </a:bodyPr>
          <a:lstStyle/>
          <a:p>
            <a:r>
              <a:rPr lang="en-US" b="1" dirty="0"/>
              <a:t>Final methods can not be overridden</a:t>
            </a:r>
          </a:p>
          <a:p>
            <a:pPr lvl="1"/>
            <a:r>
              <a:rPr lang="en-US" dirty="0"/>
              <a:t>If we don’t want a method to be overridden, we </a:t>
            </a:r>
            <a:r>
              <a:rPr lang="en-US" dirty="0" smtClean="0"/>
              <a:t>declare </a:t>
            </a:r>
            <a:r>
              <a:rPr lang="en-US" dirty="0"/>
              <a:t>it as final</a:t>
            </a:r>
            <a:r>
              <a:rPr lang="en-US" dirty="0" smtClean="0"/>
              <a:t>.</a:t>
            </a:r>
          </a:p>
          <a:p>
            <a:pPr marL="320040" lvl="1" indent="0">
              <a:buNone/>
            </a:pPr>
            <a:endParaRPr lang="en-US" dirty="0"/>
          </a:p>
          <a:p>
            <a:pPr marL="320040" lvl="1" indent="0">
              <a:buNone/>
            </a:pPr>
            <a:r>
              <a:rPr lang="en-US" dirty="0"/>
              <a:t>class Parent {</a:t>
            </a:r>
          </a:p>
          <a:p>
            <a:pPr marL="320040" lvl="1" indent="0">
              <a:buNone/>
            </a:pPr>
            <a:r>
              <a:rPr lang="en-US" dirty="0"/>
              <a:t>    // Can't be overridden</a:t>
            </a:r>
          </a:p>
          <a:p>
            <a:pPr marL="320040" lvl="1" indent="0">
              <a:buNone/>
            </a:pPr>
            <a:r>
              <a:rPr lang="en-US" dirty="0"/>
              <a:t>    final void show() {}</a:t>
            </a:r>
          </a:p>
          <a:p>
            <a:pPr marL="320040" lvl="1" indent="0">
              <a:buNone/>
            </a:pPr>
            <a:r>
              <a:rPr lang="en-US" dirty="0"/>
              <a:t>}</a:t>
            </a:r>
          </a:p>
          <a:p>
            <a:pPr marL="320040" lvl="1" indent="0">
              <a:buNone/>
            </a:pPr>
            <a:endParaRPr lang="en-US" dirty="0"/>
          </a:p>
          <a:p>
            <a:pPr marL="320040" lvl="1" indent="0">
              <a:buNone/>
            </a:pPr>
            <a:r>
              <a:rPr lang="en-US" dirty="0"/>
              <a:t>class Child extends Parent {</a:t>
            </a:r>
          </a:p>
          <a:p>
            <a:pPr marL="320040" lvl="1" indent="0">
              <a:buNone/>
            </a:pPr>
            <a:r>
              <a:rPr lang="en-US" dirty="0"/>
              <a:t>    // This would produce error</a:t>
            </a:r>
          </a:p>
          <a:p>
            <a:pPr marL="320040" lvl="1" indent="0">
              <a:buNone/>
            </a:pPr>
            <a:r>
              <a:rPr lang="en-US" dirty="0"/>
              <a:t>    void show() {}</a:t>
            </a:r>
          </a:p>
          <a:p>
            <a:pPr marL="320040" lvl="1" indent="0">
              <a:buNone/>
            </a:pPr>
            <a:r>
              <a:rPr lang="en-US" dirty="0"/>
              <a:t>}</a:t>
            </a:r>
          </a:p>
        </p:txBody>
      </p:sp>
    </p:spTree>
    <p:extLst>
      <p:ext uri="{BB962C8B-B14F-4D97-AF65-F5344CB8AC3E}">
        <p14:creationId xmlns:p14="http://schemas.microsoft.com/office/powerpoint/2010/main" val="29564283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30322" y="1066800"/>
            <a:ext cx="7772400" cy="5638800"/>
          </a:xfrm>
        </p:spPr>
        <p:txBody>
          <a:bodyPr>
            <a:normAutofit fontScale="85000" lnSpcReduction="20000"/>
          </a:bodyPr>
          <a:lstStyle/>
          <a:p>
            <a:r>
              <a:rPr lang="en-US" b="1" dirty="0"/>
              <a:t>Static methods can not be overridden</a:t>
            </a:r>
          </a:p>
          <a:p>
            <a:pPr lvl="1"/>
            <a:r>
              <a:rPr lang="en-US" dirty="0"/>
              <a:t>When you define a static method with the same signature as a static method in the base class, it is known as method hiding</a:t>
            </a:r>
            <a:r>
              <a:rPr lang="en-US" dirty="0" smtClean="0"/>
              <a:t>.</a:t>
            </a:r>
          </a:p>
          <a:p>
            <a:pPr lvl="1"/>
            <a:endParaRPr lang="en-US" dirty="0"/>
          </a:p>
          <a:p>
            <a:pPr marL="320040" lvl="1" indent="0">
              <a:buNone/>
            </a:pPr>
            <a:r>
              <a:rPr lang="en-US" dirty="0"/>
              <a:t>class Parent {</a:t>
            </a:r>
          </a:p>
          <a:p>
            <a:pPr marL="320040" lvl="1" indent="0">
              <a:buNone/>
            </a:pPr>
            <a:r>
              <a:rPr lang="en-US" dirty="0"/>
              <a:t>    // Static method in base class</a:t>
            </a:r>
          </a:p>
          <a:p>
            <a:pPr marL="320040" lvl="1" indent="0">
              <a:buNone/>
            </a:pPr>
            <a:r>
              <a:rPr lang="en-US" dirty="0"/>
              <a:t>    // which will be hidden in subclass</a:t>
            </a:r>
          </a:p>
          <a:p>
            <a:pPr marL="320040" lvl="1" indent="0">
              <a:buNone/>
            </a:pPr>
            <a:r>
              <a:rPr lang="en-US" dirty="0"/>
              <a:t>    static void m1() {</a:t>
            </a:r>
          </a:p>
          <a:p>
            <a:pPr marL="320040" lvl="1" indent="0">
              <a:buNone/>
            </a:pPr>
            <a:r>
              <a:rPr lang="en-US" dirty="0"/>
              <a:t>        </a:t>
            </a:r>
            <a:r>
              <a:rPr lang="en-US" dirty="0" err="1"/>
              <a:t>System.out.println</a:t>
            </a:r>
            <a:r>
              <a:rPr lang="en-US" dirty="0"/>
              <a:t>("From parent " +</a:t>
            </a:r>
          </a:p>
          <a:p>
            <a:pPr marL="320040" lvl="1" indent="0">
              <a:buNone/>
            </a:pPr>
            <a:r>
              <a:rPr lang="en-US" dirty="0"/>
              <a:t>            "static m1()");</a:t>
            </a:r>
          </a:p>
          <a:p>
            <a:pPr marL="320040" lvl="1" indent="0">
              <a:buNone/>
            </a:pPr>
            <a:r>
              <a:rPr lang="en-US" dirty="0"/>
              <a:t>    }</a:t>
            </a:r>
          </a:p>
          <a:p>
            <a:pPr marL="320040" lvl="1" indent="0">
              <a:buNone/>
            </a:pPr>
            <a:endParaRPr lang="en-US" dirty="0"/>
          </a:p>
          <a:p>
            <a:pPr marL="320040" lvl="1" indent="0">
              <a:buNone/>
            </a:pPr>
            <a:r>
              <a:rPr lang="en-US" dirty="0" smtClean="0"/>
              <a:t>void </a:t>
            </a:r>
            <a:r>
              <a:rPr lang="en-US" dirty="0"/>
              <a:t>m2() {</a:t>
            </a:r>
          </a:p>
          <a:p>
            <a:pPr marL="320040" lvl="1" indent="0">
              <a:buNone/>
            </a:pPr>
            <a:r>
              <a:rPr lang="en-US" dirty="0"/>
              <a:t>        </a:t>
            </a:r>
            <a:r>
              <a:rPr lang="en-US" dirty="0" err="1"/>
              <a:t>System.out.println</a:t>
            </a:r>
            <a:r>
              <a:rPr lang="en-US" dirty="0"/>
              <a:t>(</a:t>
            </a:r>
          </a:p>
          <a:p>
            <a:pPr marL="320040" lvl="1" indent="0">
              <a:buNone/>
            </a:pPr>
            <a:r>
              <a:rPr lang="en-US" dirty="0"/>
              <a:t>            "From parent " +</a:t>
            </a:r>
          </a:p>
          <a:p>
            <a:pPr marL="320040" lvl="1" indent="0">
              <a:buNone/>
            </a:pPr>
            <a:r>
              <a:rPr lang="en-US" dirty="0"/>
              <a:t>            "non - static(instance) m2() ");</a:t>
            </a:r>
          </a:p>
          <a:p>
            <a:pPr marL="320040" lvl="1" indent="0">
              <a:buNone/>
            </a:pPr>
            <a:r>
              <a:rPr lang="en-US" dirty="0"/>
              <a:t>    }</a:t>
            </a:r>
          </a:p>
          <a:p>
            <a:pPr marL="320040" lvl="1" indent="0">
              <a:buNone/>
            </a:pPr>
            <a:r>
              <a:rPr lang="en-US" dirty="0"/>
              <a:t>}</a:t>
            </a:r>
          </a:p>
          <a:p>
            <a:pPr lvl="1"/>
            <a:endParaRPr lang="en-US" dirty="0"/>
          </a:p>
        </p:txBody>
      </p:sp>
    </p:spTree>
    <p:extLst>
      <p:ext uri="{BB962C8B-B14F-4D97-AF65-F5344CB8AC3E}">
        <p14:creationId xmlns:p14="http://schemas.microsoft.com/office/powerpoint/2010/main" val="4233353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1066800"/>
            <a:ext cx="7772400" cy="5562600"/>
          </a:xfrm>
        </p:spPr>
        <p:txBody>
          <a:bodyPr>
            <a:normAutofit fontScale="92500" lnSpcReduction="10000"/>
          </a:bodyPr>
          <a:lstStyle/>
          <a:p>
            <a:pPr marL="0" indent="0">
              <a:buNone/>
            </a:pPr>
            <a:r>
              <a:rPr lang="en-US" dirty="0"/>
              <a:t>class Child extends Parent {</a:t>
            </a:r>
          </a:p>
          <a:p>
            <a:pPr marL="0" indent="0">
              <a:buNone/>
            </a:pPr>
            <a:r>
              <a:rPr lang="en-US" dirty="0"/>
              <a:t>    // This method hides m1() in Parent</a:t>
            </a:r>
          </a:p>
          <a:p>
            <a:pPr marL="0" indent="0">
              <a:buNone/>
            </a:pPr>
            <a:r>
              <a:rPr lang="en-US" dirty="0"/>
              <a:t>    static void m1() {</a:t>
            </a:r>
          </a:p>
          <a:p>
            <a:pPr marL="0" indent="0">
              <a:buNone/>
            </a:pPr>
            <a:r>
              <a:rPr lang="en-US" dirty="0"/>
              <a:t>        </a:t>
            </a:r>
            <a:r>
              <a:rPr lang="en-US" dirty="0" err="1"/>
              <a:t>System.out.println</a:t>
            </a:r>
            <a:r>
              <a:rPr lang="en-US" dirty="0"/>
              <a:t>("From child static m1()");</a:t>
            </a:r>
          </a:p>
          <a:p>
            <a:pPr marL="0" indent="0">
              <a:buNone/>
            </a:pPr>
            <a:r>
              <a:rPr lang="en-US" dirty="0"/>
              <a:t>    }</a:t>
            </a:r>
          </a:p>
          <a:p>
            <a:pPr marL="0" indent="0">
              <a:buNone/>
            </a:pPr>
            <a:endParaRPr lang="en-US" dirty="0"/>
          </a:p>
          <a:p>
            <a:pPr marL="0" indent="0">
              <a:buNone/>
            </a:pPr>
            <a:r>
              <a:rPr lang="en-US" dirty="0"/>
              <a:t>    // This method overrides m2() in Parent</a:t>
            </a:r>
          </a:p>
          <a:p>
            <a:pPr marL="0" indent="0">
              <a:buNone/>
            </a:pPr>
            <a:r>
              <a:rPr lang="en-US" dirty="0"/>
              <a:t>    @Override public void m2() {</a:t>
            </a:r>
          </a:p>
          <a:p>
            <a:pPr marL="0" indent="0">
              <a:buNone/>
            </a:pPr>
            <a:r>
              <a:rPr lang="en-US" dirty="0"/>
              <a:t>        </a:t>
            </a:r>
            <a:r>
              <a:rPr lang="en-US" dirty="0" err="1"/>
              <a:t>System.out.println</a:t>
            </a:r>
            <a:r>
              <a:rPr lang="en-US" dirty="0"/>
              <a:t>(</a:t>
            </a:r>
          </a:p>
          <a:p>
            <a:pPr marL="0" indent="0">
              <a:buNone/>
            </a:pPr>
            <a:r>
              <a:rPr lang="en-US" dirty="0"/>
              <a:t>            "From child " +</a:t>
            </a:r>
          </a:p>
          <a:p>
            <a:pPr marL="0" indent="0">
              <a:buNone/>
            </a:pPr>
            <a:r>
              <a:rPr lang="en-US" dirty="0"/>
              <a:t>            "non - static(instance) m2()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5211032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990600"/>
            <a:ext cx="7772400" cy="5638800"/>
          </a:xfrm>
        </p:spPr>
        <p:txBody>
          <a:bodyPr>
            <a:normAutofit fontScale="77500" lnSpcReduction="20000"/>
          </a:bodyPr>
          <a:lstStyle/>
          <a:p>
            <a:pPr marL="0" indent="0">
              <a:buNone/>
            </a:pPr>
            <a:r>
              <a:rPr lang="en-US" dirty="0"/>
              <a:t>// Driver class</a:t>
            </a:r>
          </a:p>
          <a:p>
            <a:pPr marL="0" indent="0">
              <a:buNone/>
            </a:pPr>
            <a:r>
              <a:rPr lang="en-US" dirty="0"/>
              <a:t>class Main {</a:t>
            </a:r>
          </a:p>
          <a:p>
            <a:pPr marL="0" indent="0">
              <a:buNone/>
            </a:pPr>
            <a:r>
              <a:rPr lang="en-US" dirty="0"/>
              <a:t>    public static void main(String[] </a:t>
            </a:r>
            <a:r>
              <a:rPr lang="en-US" dirty="0" err="1"/>
              <a:t>args</a:t>
            </a:r>
            <a:r>
              <a:rPr lang="en-US" dirty="0"/>
              <a:t>) {</a:t>
            </a:r>
          </a:p>
          <a:p>
            <a:pPr marL="0" indent="0">
              <a:buNone/>
            </a:pPr>
            <a:r>
              <a:rPr lang="en-US" dirty="0"/>
              <a:t>        Parent obj1 = new Child();</a:t>
            </a:r>
          </a:p>
          <a:p>
            <a:pPr marL="0" indent="0">
              <a:buNone/>
            </a:pPr>
            <a:endParaRPr lang="en-US" dirty="0"/>
          </a:p>
          <a:p>
            <a:pPr marL="0" indent="0">
              <a:buNone/>
            </a:pPr>
            <a:r>
              <a:rPr lang="en-US" dirty="0"/>
              <a:t>        // As per overriding rules this</a:t>
            </a:r>
          </a:p>
          <a:p>
            <a:pPr marL="0" indent="0">
              <a:buNone/>
            </a:pPr>
            <a:r>
              <a:rPr lang="en-US" dirty="0"/>
              <a:t>        // should call to class Child static</a:t>
            </a:r>
          </a:p>
          <a:p>
            <a:pPr marL="0" indent="0">
              <a:buNone/>
            </a:pPr>
            <a:r>
              <a:rPr lang="en-US" dirty="0"/>
              <a:t>        // overridden method. Since static</a:t>
            </a:r>
          </a:p>
          <a:p>
            <a:pPr marL="0" indent="0">
              <a:buNone/>
            </a:pPr>
            <a:r>
              <a:rPr lang="en-US" dirty="0"/>
              <a:t>        // method can not be overridden, it</a:t>
            </a:r>
          </a:p>
          <a:p>
            <a:pPr marL="0" indent="0">
              <a:buNone/>
            </a:pPr>
            <a:r>
              <a:rPr lang="en-US" dirty="0"/>
              <a:t>        // calls Parent's m1()</a:t>
            </a:r>
          </a:p>
          <a:p>
            <a:pPr marL="0" indent="0">
              <a:buNone/>
            </a:pPr>
            <a:r>
              <a:rPr lang="en-US" dirty="0"/>
              <a:t>        obj1.m1();</a:t>
            </a:r>
          </a:p>
          <a:p>
            <a:pPr marL="0" indent="0">
              <a:buNone/>
            </a:pPr>
            <a:endParaRPr lang="en-US" dirty="0"/>
          </a:p>
          <a:p>
            <a:pPr marL="0" indent="0">
              <a:buNone/>
            </a:pPr>
            <a:r>
              <a:rPr lang="en-US" dirty="0"/>
              <a:t>        // Here overriding works</a:t>
            </a:r>
          </a:p>
          <a:p>
            <a:pPr marL="0" indent="0">
              <a:buNone/>
            </a:pPr>
            <a:r>
              <a:rPr lang="en-US" dirty="0"/>
              <a:t>        // and Child's m2() is called</a:t>
            </a:r>
          </a:p>
          <a:p>
            <a:pPr marL="0" indent="0">
              <a:buNone/>
            </a:pPr>
            <a:r>
              <a:rPr lang="en-US" dirty="0"/>
              <a:t>        obj1.m2();</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2747728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1066800"/>
            <a:ext cx="7772400" cy="4572000"/>
          </a:xfrm>
        </p:spPr>
        <p:txBody>
          <a:bodyPr/>
          <a:lstStyle/>
          <a:p>
            <a:r>
              <a:rPr lang="en-US" dirty="0" smtClean="0"/>
              <a:t>Output:</a:t>
            </a:r>
          </a:p>
          <a:p>
            <a:pPr lvl="1"/>
            <a:r>
              <a:rPr lang="en-US" dirty="0" smtClean="0"/>
              <a:t>From </a:t>
            </a:r>
            <a:r>
              <a:rPr lang="en-US" dirty="0"/>
              <a:t>parent static m1()</a:t>
            </a:r>
          </a:p>
          <a:p>
            <a:pPr lvl="1"/>
            <a:r>
              <a:rPr lang="en-US" dirty="0"/>
              <a:t>From child non - static(instance) m2()</a:t>
            </a:r>
          </a:p>
        </p:txBody>
      </p:sp>
    </p:spTree>
    <p:extLst>
      <p:ext uri="{BB962C8B-B14F-4D97-AF65-F5344CB8AC3E}">
        <p14:creationId xmlns:p14="http://schemas.microsoft.com/office/powerpoint/2010/main" val="12159364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990600"/>
            <a:ext cx="7772400" cy="5562600"/>
          </a:xfrm>
        </p:spPr>
        <p:txBody>
          <a:bodyPr>
            <a:normAutofit fontScale="92500" lnSpcReduction="20000"/>
          </a:bodyPr>
          <a:lstStyle/>
          <a:p>
            <a:r>
              <a:rPr lang="en-US" b="1" dirty="0"/>
              <a:t>Private methods can not be overridden</a:t>
            </a:r>
          </a:p>
          <a:p>
            <a:pPr lvl="1"/>
            <a:r>
              <a:rPr lang="en-US" dirty="0"/>
              <a:t>Private methods</a:t>
            </a:r>
            <a:r>
              <a:rPr lang="en-US" u="sng" dirty="0">
                <a:hlinkClick r:id="rId2"/>
              </a:rPr>
              <a:t> </a:t>
            </a:r>
            <a:r>
              <a:rPr lang="en-US" dirty="0"/>
              <a:t>cannot be overridden as they are bonded during compile time. Therefore we can’t even override private </a:t>
            </a:r>
            <a:r>
              <a:rPr lang="en-US" dirty="0" smtClean="0"/>
              <a:t>methods </a:t>
            </a:r>
            <a:r>
              <a:rPr lang="en-US" dirty="0"/>
              <a:t>in a subclass</a:t>
            </a:r>
            <a:r>
              <a:rPr lang="en-US" dirty="0" smtClean="0"/>
              <a:t>.</a:t>
            </a:r>
          </a:p>
          <a:p>
            <a:pPr lvl="1"/>
            <a:endParaRPr lang="en-US" dirty="0"/>
          </a:p>
          <a:p>
            <a:pPr marL="320040" lvl="1" indent="0">
              <a:buNone/>
            </a:pPr>
            <a:r>
              <a:rPr lang="en-US" dirty="0"/>
              <a:t>class </a:t>
            </a:r>
            <a:r>
              <a:rPr lang="en-US" dirty="0" err="1"/>
              <a:t>SuperClass</a:t>
            </a:r>
            <a:r>
              <a:rPr lang="en-US" dirty="0"/>
              <a:t> {</a:t>
            </a:r>
          </a:p>
          <a:p>
            <a:pPr marL="320040" lvl="1" indent="0">
              <a:buNone/>
            </a:pPr>
            <a:r>
              <a:rPr lang="en-US" dirty="0"/>
              <a:t>    private void </a:t>
            </a:r>
            <a:r>
              <a:rPr lang="en-US" dirty="0" err="1"/>
              <a:t>privateMethod</a:t>
            </a:r>
            <a:r>
              <a:rPr lang="en-US" dirty="0"/>
              <a:t>() {</a:t>
            </a:r>
          </a:p>
          <a:p>
            <a:pPr marL="320040" lvl="1" indent="0">
              <a:buNone/>
            </a:pPr>
            <a:r>
              <a:rPr lang="en-US" dirty="0"/>
              <a:t>        </a:t>
            </a:r>
            <a:r>
              <a:rPr lang="en-US" dirty="0" err="1"/>
              <a:t>System.out.println</a:t>
            </a:r>
            <a:r>
              <a:rPr lang="en-US" dirty="0"/>
              <a:t>(</a:t>
            </a:r>
          </a:p>
          <a:p>
            <a:pPr marL="320040" lvl="1" indent="0">
              <a:buNone/>
            </a:pPr>
            <a:r>
              <a:rPr lang="en-US" dirty="0"/>
              <a:t>            "This is a private method in </a:t>
            </a:r>
            <a:r>
              <a:rPr lang="en-US" dirty="0" err="1"/>
              <a:t>SuperClass</a:t>
            </a:r>
            <a:r>
              <a:rPr lang="en-US" dirty="0"/>
              <a:t>");</a:t>
            </a:r>
          </a:p>
          <a:p>
            <a:pPr marL="320040" lvl="1" indent="0">
              <a:buNone/>
            </a:pPr>
            <a:r>
              <a:rPr lang="en-US" dirty="0"/>
              <a:t>    }</a:t>
            </a:r>
          </a:p>
          <a:p>
            <a:pPr marL="320040" lvl="1" indent="0">
              <a:buNone/>
            </a:pPr>
            <a:endParaRPr lang="en-US" dirty="0"/>
          </a:p>
          <a:p>
            <a:pPr marL="320040" lvl="1" indent="0">
              <a:buNone/>
            </a:pPr>
            <a:r>
              <a:rPr lang="en-US" dirty="0"/>
              <a:t>    public void </a:t>
            </a:r>
            <a:r>
              <a:rPr lang="en-US" dirty="0" err="1"/>
              <a:t>publicMethod</a:t>
            </a:r>
            <a:r>
              <a:rPr lang="en-US" dirty="0"/>
              <a:t>() {</a:t>
            </a:r>
          </a:p>
          <a:p>
            <a:pPr marL="320040" lvl="1" indent="0">
              <a:buNone/>
            </a:pPr>
            <a:r>
              <a:rPr lang="en-US" dirty="0"/>
              <a:t>        </a:t>
            </a:r>
            <a:r>
              <a:rPr lang="en-US" dirty="0" err="1"/>
              <a:t>System.out.println</a:t>
            </a:r>
            <a:r>
              <a:rPr lang="en-US" dirty="0"/>
              <a:t>(</a:t>
            </a:r>
          </a:p>
          <a:p>
            <a:pPr marL="320040" lvl="1" indent="0">
              <a:buNone/>
            </a:pPr>
            <a:r>
              <a:rPr lang="en-US" dirty="0"/>
              <a:t>            "This is a public method in </a:t>
            </a:r>
            <a:r>
              <a:rPr lang="en-US" dirty="0" err="1"/>
              <a:t>SuperClass</a:t>
            </a:r>
            <a:r>
              <a:rPr lang="en-US" dirty="0"/>
              <a:t>");</a:t>
            </a:r>
          </a:p>
          <a:p>
            <a:pPr marL="320040" lvl="1" indent="0">
              <a:buNone/>
            </a:pPr>
            <a:r>
              <a:rPr lang="en-US" dirty="0"/>
              <a:t>        </a:t>
            </a:r>
            <a:r>
              <a:rPr lang="en-US" dirty="0" err="1"/>
              <a:t>privateMethod</a:t>
            </a:r>
            <a:r>
              <a:rPr lang="en-US" dirty="0"/>
              <a:t>();</a:t>
            </a:r>
          </a:p>
          <a:p>
            <a:pPr marL="320040" lvl="1" indent="0">
              <a:buNone/>
            </a:pPr>
            <a:r>
              <a:rPr lang="en-US" dirty="0"/>
              <a:t>    }</a:t>
            </a:r>
          </a:p>
          <a:p>
            <a:pPr marL="320040" lvl="1" indent="0">
              <a:buNone/>
            </a:pPr>
            <a:r>
              <a:rPr lang="en-US" dirty="0"/>
              <a:t>}</a:t>
            </a:r>
          </a:p>
        </p:txBody>
      </p:sp>
    </p:spTree>
    <p:extLst>
      <p:ext uri="{BB962C8B-B14F-4D97-AF65-F5344CB8AC3E}">
        <p14:creationId xmlns:p14="http://schemas.microsoft.com/office/powerpoint/2010/main" val="36039099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990600"/>
            <a:ext cx="7772400" cy="5638800"/>
          </a:xfrm>
        </p:spPr>
        <p:txBody>
          <a:bodyPr>
            <a:normAutofit fontScale="85000" lnSpcReduction="20000"/>
          </a:bodyPr>
          <a:lstStyle/>
          <a:p>
            <a:pPr marL="0" indent="0">
              <a:buNone/>
            </a:pPr>
            <a:r>
              <a:rPr lang="en-US" dirty="0"/>
              <a:t>class </a:t>
            </a:r>
            <a:r>
              <a:rPr lang="en-US" dirty="0" err="1"/>
              <a:t>SubClass</a:t>
            </a:r>
            <a:r>
              <a:rPr lang="en-US" dirty="0"/>
              <a:t> extends </a:t>
            </a:r>
            <a:r>
              <a:rPr lang="en-US" dirty="0" err="1"/>
              <a:t>SuperClass</a:t>
            </a:r>
            <a:r>
              <a:rPr lang="en-US" dirty="0"/>
              <a:t> {</a:t>
            </a:r>
          </a:p>
          <a:p>
            <a:pPr marL="0" indent="0">
              <a:buNone/>
            </a:pPr>
            <a:r>
              <a:rPr lang="en-US" dirty="0"/>
              <a:t>    </a:t>
            </a:r>
            <a:r>
              <a:rPr lang="en-US" sz="1600" dirty="0"/>
              <a:t>// This is a new method with the same name as the</a:t>
            </a:r>
          </a:p>
          <a:p>
            <a:pPr marL="0" indent="0">
              <a:buNone/>
            </a:pPr>
            <a:r>
              <a:rPr lang="en-US" sz="1600" dirty="0"/>
              <a:t>    // private method in </a:t>
            </a:r>
            <a:r>
              <a:rPr lang="en-US" sz="1600" dirty="0" err="1"/>
              <a:t>SuperClass</a:t>
            </a:r>
            <a:endParaRPr lang="en-US" sz="1600" dirty="0"/>
          </a:p>
          <a:p>
            <a:pPr marL="0" indent="0">
              <a:buNone/>
            </a:pPr>
            <a:r>
              <a:rPr lang="en-US" dirty="0"/>
              <a:t>    private void </a:t>
            </a:r>
            <a:r>
              <a:rPr lang="en-US" dirty="0" err="1"/>
              <a:t>privateMethod</a:t>
            </a:r>
            <a:r>
              <a:rPr lang="en-US" dirty="0"/>
              <a:t>() {</a:t>
            </a:r>
          </a:p>
          <a:p>
            <a:pPr marL="0" indent="0">
              <a:buNone/>
            </a:pPr>
            <a:r>
              <a:rPr lang="en-US" dirty="0"/>
              <a:t>        </a:t>
            </a:r>
            <a:r>
              <a:rPr lang="en-US" dirty="0" err="1"/>
              <a:t>System.out.println</a:t>
            </a:r>
            <a:r>
              <a:rPr lang="en-US" dirty="0"/>
              <a:t>(</a:t>
            </a:r>
          </a:p>
          <a:p>
            <a:pPr marL="0" indent="0">
              <a:buNone/>
            </a:pPr>
            <a:r>
              <a:rPr lang="en-US" dirty="0"/>
              <a:t>            "This is a private method in </a:t>
            </a:r>
            <a:r>
              <a:rPr lang="en-US" dirty="0" err="1"/>
              <a:t>SubClass</a:t>
            </a:r>
            <a:r>
              <a:rPr lang="en-US" dirty="0"/>
              <a:t>");</a:t>
            </a:r>
          </a:p>
          <a:p>
            <a:pPr marL="0" indent="0">
              <a:buNone/>
            </a:pPr>
            <a:r>
              <a:rPr lang="en-US" dirty="0"/>
              <a:t>    }</a:t>
            </a:r>
          </a:p>
          <a:p>
            <a:pPr marL="0" indent="0">
              <a:buNone/>
            </a:pPr>
            <a:endParaRPr lang="en-US" dirty="0"/>
          </a:p>
          <a:p>
            <a:pPr marL="0" indent="0">
              <a:buNone/>
            </a:pPr>
            <a:r>
              <a:rPr lang="en-US" sz="1900" dirty="0"/>
              <a:t>    // This method overrides the public method in </a:t>
            </a:r>
            <a:r>
              <a:rPr lang="en-US" sz="1900" dirty="0" err="1"/>
              <a:t>SuperClass</a:t>
            </a:r>
            <a:endParaRPr lang="en-US" dirty="0"/>
          </a:p>
          <a:p>
            <a:pPr marL="0" indent="0">
              <a:buNone/>
            </a:pPr>
            <a:r>
              <a:rPr lang="en-US" dirty="0"/>
              <a:t>    public void </a:t>
            </a:r>
            <a:r>
              <a:rPr lang="en-US" dirty="0" err="1"/>
              <a:t>publicMethod</a:t>
            </a:r>
            <a:r>
              <a:rPr lang="en-US" dirty="0"/>
              <a:t>() {</a:t>
            </a:r>
          </a:p>
          <a:p>
            <a:pPr marL="0" indent="0">
              <a:buNone/>
            </a:pPr>
            <a:r>
              <a:rPr lang="en-US" dirty="0"/>
              <a:t>        </a:t>
            </a:r>
            <a:r>
              <a:rPr lang="en-US" dirty="0" err="1"/>
              <a:t>System.out.println</a:t>
            </a:r>
            <a:r>
              <a:rPr lang="en-US" dirty="0"/>
              <a:t>(</a:t>
            </a:r>
          </a:p>
          <a:p>
            <a:pPr marL="0" indent="0">
              <a:buNone/>
            </a:pPr>
            <a:r>
              <a:rPr lang="en-US" dirty="0"/>
              <a:t>            "This is a public method in </a:t>
            </a:r>
            <a:r>
              <a:rPr lang="en-US" dirty="0" err="1"/>
              <a:t>SubClass</a:t>
            </a:r>
            <a:r>
              <a:rPr lang="en-US" dirty="0"/>
              <a:t>");</a:t>
            </a:r>
          </a:p>
          <a:p>
            <a:pPr marL="0" indent="0">
              <a:buNone/>
            </a:pPr>
            <a:r>
              <a:rPr lang="en-US" dirty="0"/>
              <a:t>        </a:t>
            </a:r>
            <a:r>
              <a:rPr lang="en-US" dirty="0" err="1"/>
              <a:t>privateMethod</a:t>
            </a:r>
            <a:r>
              <a:rPr lang="en-US" dirty="0"/>
              <a:t>(); </a:t>
            </a:r>
            <a:r>
              <a:rPr lang="en-US" sz="1900" dirty="0"/>
              <a:t>// calls the private method in</a:t>
            </a:r>
          </a:p>
          <a:p>
            <a:pPr marL="0" indent="0">
              <a:buNone/>
            </a:pPr>
            <a:r>
              <a:rPr lang="en-US" sz="1900" dirty="0"/>
              <a:t>        // </a:t>
            </a:r>
            <a:r>
              <a:rPr lang="en-US" sz="1900" dirty="0" err="1"/>
              <a:t>SubClass</a:t>
            </a:r>
            <a:r>
              <a:rPr lang="en-US" sz="1900" dirty="0"/>
              <a:t>, not </a:t>
            </a:r>
            <a:r>
              <a:rPr lang="en-US" sz="1900" dirty="0" err="1"/>
              <a:t>SuperClass</a:t>
            </a:r>
            <a:endParaRPr lang="en-US" sz="1900" dirty="0"/>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12463435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990600"/>
            <a:ext cx="7772400" cy="5638800"/>
          </a:xfrm>
        </p:spPr>
        <p:txBody>
          <a:bodyPr>
            <a:normAutofit fontScale="77500" lnSpcReduction="20000"/>
          </a:bodyPr>
          <a:lstStyle/>
          <a:p>
            <a:pPr marL="0" indent="0">
              <a:buNone/>
            </a:pPr>
            <a:r>
              <a:rPr lang="en-US" dirty="0"/>
              <a:t>public class Test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SuperClass</a:t>
            </a:r>
            <a:r>
              <a:rPr lang="en-US" dirty="0"/>
              <a:t> obj1 = new </a:t>
            </a:r>
            <a:r>
              <a:rPr lang="en-US" dirty="0" err="1"/>
              <a:t>SuperClass</a:t>
            </a:r>
            <a:r>
              <a:rPr lang="en-US" dirty="0"/>
              <a:t>();</a:t>
            </a:r>
          </a:p>
          <a:p>
            <a:pPr marL="0" indent="0">
              <a:buNone/>
            </a:pPr>
            <a:r>
              <a:rPr lang="en-US" dirty="0"/>
              <a:t>        obj1.publicMethod(); </a:t>
            </a:r>
            <a:r>
              <a:rPr lang="en-US" sz="1700" dirty="0"/>
              <a:t>// calls the public method in</a:t>
            </a:r>
          </a:p>
          <a:p>
            <a:pPr marL="0" indent="0">
              <a:buNone/>
            </a:pPr>
            <a:r>
              <a:rPr lang="en-US" sz="1700" dirty="0"/>
              <a:t>        // </a:t>
            </a:r>
            <a:r>
              <a:rPr lang="en-US" sz="1700" dirty="0" err="1"/>
              <a:t>SuperClass</a:t>
            </a:r>
            <a:endParaRPr lang="en-US" sz="1700" dirty="0"/>
          </a:p>
          <a:p>
            <a:pPr marL="0" indent="0">
              <a:buNone/>
            </a:pPr>
            <a:endParaRPr lang="en-US" dirty="0"/>
          </a:p>
          <a:p>
            <a:pPr marL="0" indent="0">
              <a:buNone/>
            </a:pPr>
            <a:r>
              <a:rPr lang="en-US" dirty="0"/>
              <a:t>        </a:t>
            </a:r>
            <a:r>
              <a:rPr lang="en-US" dirty="0" err="1"/>
              <a:t>SubClass</a:t>
            </a:r>
            <a:r>
              <a:rPr lang="en-US" dirty="0"/>
              <a:t> obj2 = new </a:t>
            </a:r>
            <a:r>
              <a:rPr lang="en-US" dirty="0" err="1"/>
              <a:t>SubClass</a:t>
            </a:r>
            <a:r>
              <a:rPr lang="en-US" dirty="0"/>
              <a:t>();</a:t>
            </a:r>
          </a:p>
          <a:p>
            <a:pPr marL="0" indent="0">
              <a:buNone/>
            </a:pPr>
            <a:r>
              <a:rPr lang="en-US" dirty="0"/>
              <a:t>        obj2.publicMethod(); </a:t>
            </a:r>
            <a:r>
              <a:rPr lang="en-US" sz="1700" dirty="0"/>
              <a:t>// calls the overridden public</a:t>
            </a:r>
          </a:p>
          <a:p>
            <a:pPr marL="0" indent="0">
              <a:buNone/>
            </a:pPr>
            <a:r>
              <a:rPr lang="en-US" sz="1700" dirty="0"/>
              <a:t>        // method in </a:t>
            </a:r>
            <a:r>
              <a:rPr lang="en-US" sz="1700" dirty="0" err="1"/>
              <a:t>SubClass</a:t>
            </a:r>
            <a:endParaRPr lang="en-US" sz="1700" dirty="0"/>
          </a:p>
          <a:p>
            <a:pPr marL="0" indent="0">
              <a:buNone/>
            </a:pPr>
            <a:r>
              <a:rPr lang="en-US" dirty="0"/>
              <a:t>    }</a:t>
            </a:r>
          </a:p>
          <a:p>
            <a:pPr marL="0" indent="0">
              <a:buNone/>
            </a:pPr>
            <a:r>
              <a:rPr lang="en-US" dirty="0" smtClean="0"/>
              <a:t>}</a:t>
            </a:r>
          </a:p>
          <a:p>
            <a:pPr marL="0" indent="0">
              <a:buNone/>
            </a:pPr>
            <a:endParaRPr lang="en-US" dirty="0"/>
          </a:p>
          <a:p>
            <a:pPr marL="0" indent="0">
              <a:buNone/>
            </a:pPr>
            <a:r>
              <a:rPr lang="en-US" dirty="0" smtClean="0"/>
              <a:t>Output:</a:t>
            </a:r>
          </a:p>
          <a:p>
            <a:pPr marL="0" indent="0">
              <a:buNone/>
            </a:pPr>
            <a:r>
              <a:rPr lang="en-US" dirty="0"/>
              <a:t>	This is a public method in </a:t>
            </a:r>
            <a:r>
              <a:rPr lang="en-US" dirty="0" err="1"/>
              <a:t>SuperClass</a:t>
            </a:r>
            <a:endParaRPr lang="en-US" dirty="0"/>
          </a:p>
          <a:p>
            <a:pPr marL="0" indent="0">
              <a:buNone/>
            </a:pPr>
            <a:r>
              <a:rPr lang="en-US" dirty="0" smtClean="0"/>
              <a:t>	This </a:t>
            </a:r>
            <a:r>
              <a:rPr lang="en-US" dirty="0"/>
              <a:t>is a private method in </a:t>
            </a:r>
            <a:r>
              <a:rPr lang="en-US" dirty="0" err="1"/>
              <a:t>SuperClass</a:t>
            </a:r>
            <a:endParaRPr lang="en-US" dirty="0"/>
          </a:p>
          <a:p>
            <a:pPr marL="0" indent="0">
              <a:buNone/>
            </a:pPr>
            <a:r>
              <a:rPr lang="en-US" dirty="0" smtClean="0"/>
              <a:t>	This </a:t>
            </a:r>
            <a:r>
              <a:rPr lang="en-US" dirty="0"/>
              <a:t>is a public method in </a:t>
            </a:r>
            <a:r>
              <a:rPr lang="en-US" dirty="0" err="1"/>
              <a:t>SubClass</a:t>
            </a:r>
            <a:endParaRPr lang="en-US" dirty="0"/>
          </a:p>
          <a:p>
            <a:pPr marL="0" indent="0">
              <a:buNone/>
            </a:pPr>
            <a:r>
              <a:rPr lang="en-US" dirty="0" smtClean="0"/>
              <a:t>	This </a:t>
            </a:r>
            <a:r>
              <a:rPr lang="en-US" dirty="0"/>
              <a:t>is a private method in </a:t>
            </a:r>
            <a:r>
              <a:rPr lang="en-US" dirty="0" err="1"/>
              <a:t>SubClass</a:t>
            </a:r>
            <a:endParaRPr lang="en-US" dirty="0"/>
          </a:p>
        </p:txBody>
      </p:sp>
    </p:spTree>
    <p:extLst>
      <p:ext uri="{BB962C8B-B14F-4D97-AF65-F5344CB8AC3E}">
        <p14:creationId xmlns:p14="http://schemas.microsoft.com/office/powerpoint/2010/main" val="4567784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990600"/>
            <a:ext cx="7772400" cy="5562600"/>
          </a:xfrm>
        </p:spPr>
        <p:txBody>
          <a:bodyPr/>
          <a:lstStyle/>
          <a:p>
            <a:r>
              <a:rPr lang="en-US" b="1" dirty="0"/>
              <a:t>The overriding method must have the same return type </a:t>
            </a:r>
          </a:p>
          <a:p>
            <a:pPr lvl="1"/>
            <a:r>
              <a:rPr lang="en-US" dirty="0"/>
              <a:t>From Java 5.0 onwards it is possible to have different return types for an overriding method in the child class, but the child’s return type should be a sub-type of the parent’s return type. This phenomenon is known as the </a:t>
            </a:r>
            <a:r>
              <a:rPr lang="en-US" b="1" dirty="0"/>
              <a:t>covariant return type</a:t>
            </a:r>
            <a:r>
              <a:rPr lang="en-US" dirty="0"/>
              <a:t>.</a:t>
            </a:r>
            <a:endParaRPr lang="en-US" dirty="0"/>
          </a:p>
        </p:txBody>
      </p:sp>
    </p:spTree>
    <p:extLst>
      <p:ext uri="{BB962C8B-B14F-4D97-AF65-F5344CB8AC3E}">
        <p14:creationId xmlns:p14="http://schemas.microsoft.com/office/powerpoint/2010/main" val="15084728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990600"/>
            <a:ext cx="7772400" cy="5562600"/>
          </a:xfrm>
        </p:spPr>
        <p:txBody>
          <a:bodyPr>
            <a:normAutofit fontScale="85000" lnSpcReduction="20000"/>
          </a:bodyPr>
          <a:lstStyle/>
          <a:p>
            <a:pPr marL="0" indent="0">
              <a:buNone/>
            </a:pPr>
            <a:r>
              <a:rPr lang="en-US" dirty="0"/>
              <a:t>class </a:t>
            </a:r>
            <a:r>
              <a:rPr lang="en-US" dirty="0" err="1"/>
              <a:t>SuperClass</a:t>
            </a:r>
            <a:r>
              <a:rPr lang="en-US" dirty="0"/>
              <a:t> {</a:t>
            </a:r>
          </a:p>
          <a:p>
            <a:pPr marL="0" indent="0">
              <a:buNone/>
            </a:pPr>
            <a:r>
              <a:rPr lang="en-US" dirty="0"/>
              <a:t>    public Object method() {</a:t>
            </a:r>
          </a:p>
          <a:p>
            <a:pPr marL="0" indent="0">
              <a:buNone/>
            </a:pPr>
            <a:r>
              <a:rPr lang="en-US" dirty="0"/>
              <a:t>        </a:t>
            </a:r>
            <a:r>
              <a:rPr lang="en-US" dirty="0" err="1"/>
              <a:t>System.out.println</a:t>
            </a:r>
            <a:r>
              <a:rPr lang="en-US" dirty="0"/>
              <a:t>(</a:t>
            </a:r>
          </a:p>
          <a:p>
            <a:pPr marL="0" indent="0">
              <a:buNone/>
            </a:pPr>
            <a:r>
              <a:rPr lang="en-US" dirty="0"/>
              <a:t>            "This is the method in </a:t>
            </a:r>
            <a:r>
              <a:rPr lang="en-US" dirty="0" err="1"/>
              <a:t>SuperClass</a:t>
            </a:r>
            <a:r>
              <a:rPr lang="en-US" dirty="0"/>
              <a:t>");</a:t>
            </a:r>
          </a:p>
          <a:p>
            <a:pPr marL="0" indent="0">
              <a:buNone/>
            </a:pPr>
            <a:r>
              <a:rPr lang="en-US" dirty="0"/>
              <a:t>        return new Object();</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a:t>
            </a:r>
            <a:r>
              <a:rPr lang="en-US" dirty="0" err="1"/>
              <a:t>SubClass</a:t>
            </a:r>
            <a:r>
              <a:rPr lang="en-US" dirty="0"/>
              <a:t> extends </a:t>
            </a:r>
            <a:r>
              <a:rPr lang="en-US" dirty="0" err="1"/>
              <a:t>SuperClass</a:t>
            </a:r>
            <a:r>
              <a:rPr lang="en-US" dirty="0"/>
              <a:t> {</a:t>
            </a:r>
          </a:p>
          <a:p>
            <a:pPr marL="0" indent="0">
              <a:buNone/>
            </a:pPr>
            <a:r>
              <a:rPr lang="en-US" dirty="0"/>
              <a:t>    public String method() {</a:t>
            </a:r>
          </a:p>
          <a:p>
            <a:pPr marL="0" indent="0">
              <a:buNone/>
            </a:pPr>
            <a:r>
              <a:rPr lang="en-US" dirty="0"/>
              <a:t>        </a:t>
            </a:r>
            <a:r>
              <a:rPr lang="en-US" dirty="0" err="1"/>
              <a:t>System.out.println</a:t>
            </a:r>
            <a:r>
              <a:rPr lang="en-US" dirty="0"/>
              <a:t>(</a:t>
            </a:r>
          </a:p>
          <a:p>
            <a:pPr marL="0" indent="0">
              <a:buNone/>
            </a:pPr>
            <a:r>
              <a:rPr lang="en-US" dirty="0"/>
              <a:t>            "This is the method in </a:t>
            </a:r>
            <a:r>
              <a:rPr lang="en-US" dirty="0" err="1"/>
              <a:t>SubClass</a:t>
            </a:r>
            <a:r>
              <a:rPr lang="en-US" dirty="0"/>
              <a:t>");</a:t>
            </a:r>
          </a:p>
          <a:p>
            <a:pPr marL="0" indent="0">
              <a:buNone/>
            </a:pPr>
            <a:r>
              <a:rPr lang="en-US" dirty="0"/>
              <a:t>        return "Hello, World!";</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4314779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1066800"/>
            <a:ext cx="7772400" cy="5562600"/>
          </a:xfrm>
        </p:spPr>
        <p:txBody>
          <a:bodyPr>
            <a:normAutofit lnSpcReduction="10000"/>
          </a:bodyPr>
          <a:lstStyle/>
          <a:p>
            <a:pPr marL="0" indent="0">
              <a:buNone/>
            </a:pPr>
            <a:r>
              <a:rPr lang="en-US" dirty="0"/>
              <a:t> public static void main(String[] </a:t>
            </a:r>
            <a:r>
              <a:rPr lang="en-US" dirty="0" err="1"/>
              <a:t>args</a:t>
            </a:r>
            <a:r>
              <a:rPr lang="en-US" dirty="0"/>
              <a:t>) {</a:t>
            </a:r>
          </a:p>
          <a:p>
            <a:pPr marL="0" indent="0">
              <a:buNone/>
            </a:pPr>
            <a:r>
              <a:rPr lang="en-US" dirty="0"/>
              <a:t>        </a:t>
            </a:r>
            <a:r>
              <a:rPr lang="en-US" dirty="0" err="1"/>
              <a:t>SuperClass</a:t>
            </a:r>
            <a:r>
              <a:rPr lang="en-US" dirty="0"/>
              <a:t> obj1 = new </a:t>
            </a:r>
            <a:r>
              <a:rPr lang="en-US" dirty="0" err="1"/>
              <a:t>SuperClass</a:t>
            </a:r>
            <a:r>
              <a:rPr lang="en-US" dirty="0"/>
              <a:t>();</a:t>
            </a:r>
          </a:p>
          <a:p>
            <a:pPr marL="0" indent="0">
              <a:buNone/>
            </a:pPr>
            <a:r>
              <a:rPr lang="en-US" dirty="0"/>
              <a:t>        obj1.method();</a:t>
            </a:r>
          </a:p>
          <a:p>
            <a:pPr marL="0" indent="0">
              <a:buNone/>
            </a:pPr>
            <a:endParaRPr lang="en-US" dirty="0"/>
          </a:p>
          <a:p>
            <a:pPr marL="0" indent="0">
              <a:buNone/>
            </a:pPr>
            <a:r>
              <a:rPr lang="en-US" dirty="0"/>
              <a:t>        </a:t>
            </a:r>
            <a:r>
              <a:rPr lang="en-US" dirty="0" err="1"/>
              <a:t>SubClass</a:t>
            </a:r>
            <a:r>
              <a:rPr lang="en-US" dirty="0"/>
              <a:t> obj2 = new </a:t>
            </a:r>
            <a:r>
              <a:rPr lang="en-US" dirty="0" err="1"/>
              <a:t>SubClass</a:t>
            </a:r>
            <a:r>
              <a:rPr lang="en-US" dirty="0"/>
              <a:t>();</a:t>
            </a:r>
          </a:p>
          <a:p>
            <a:pPr marL="0" indent="0">
              <a:buNone/>
            </a:pPr>
            <a:r>
              <a:rPr lang="en-US" dirty="0"/>
              <a:t>        obj2.method();</a:t>
            </a:r>
          </a:p>
          <a:p>
            <a:pPr marL="0" indent="0">
              <a:buNone/>
            </a:pPr>
            <a:r>
              <a:rPr lang="en-US" dirty="0"/>
              <a:t>    }</a:t>
            </a:r>
          </a:p>
          <a:p>
            <a:pPr marL="0" indent="0">
              <a:buNone/>
            </a:pPr>
            <a:r>
              <a:rPr lang="en-US" dirty="0" smtClean="0"/>
              <a:t>}</a:t>
            </a:r>
          </a:p>
          <a:p>
            <a:pPr marL="0" indent="0">
              <a:buNone/>
            </a:pPr>
            <a:endParaRPr lang="en-US" dirty="0" smtClean="0"/>
          </a:p>
          <a:p>
            <a:r>
              <a:rPr lang="en-US" dirty="0" smtClean="0"/>
              <a:t>Output:</a:t>
            </a:r>
          </a:p>
          <a:p>
            <a:pPr lvl="1"/>
            <a:r>
              <a:rPr lang="en-US" dirty="0"/>
              <a:t>This is the method in </a:t>
            </a:r>
            <a:r>
              <a:rPr lang="en-US" dirty="0" err="1"/>
              <a:t>SuperClass</a:t>
            </a:r>
            <a:endParaRPr lang="en-US" dirty="0"/>
          </a:p>
          <a:p>
            <a:pPr lvl="1"/>
            <a:r>
              <a:rPr lang="en-US" dirty="0"/>
              <a:t>This is the method in </a:t>
            </a:r>
            <a:r>
              <a:rPr lang="en-US" dirty="0" err="1"/>
              <a:t>SubClass</a:t>
            </a:r>
            <a:endParaRPr lang="en-US" dirty="0"/>
          </a:p>
        </p:txBody>
      </p:sp>
    </p:spTree>
    <p:extLst>
      <p:ext uri="{BB962C8B-B14F-4D97-AF65-F5344CB8AC3E}">
        <p14:creationId xmlns:p14="http://schemas.microsoft.com/office/powerpoint/2010/main" val="6815419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990600"/>
            <a:ext cx="7772400" cy="4572000"/>
          </a:xfrm>
        </p:spPr>
        <p:txBody>
          <a:bodyPr/>
          <a:lstStyle/>
          <a:p>
            <a:r>
              <a:rPr lang="en-US" b="1" dirty="0"/>
              <a:t>Invoking overridden method from sub-class</a:t>
            </a:r>
          </a:p>
          <a:p>
            <a:pPr lvl="1"/>
            <a:r>
              <a:rPr lang="en-US" dirty="0"/>
              <a:t>We can call the parent class method in the overriding method using the </a:t>
            </a:r>
            <a:r>
              <a:rPr lang="en-US" b="1" dirty="0"/>
              <a:t>super keyword. </a:t>
            </a:r>
            <a:endParaRPr lang="en-US" b="1" dirty="0" smtClean="0"/>
          </a:p>
          <a:p>
            <a:pPr lvl="1"/>
            <a:endParaRPr lang="en-US" b="1" dirty="0" smtClean="0"/>
          </a:p>
          <a:p>
            <a:pPr marL="320040" lvl="1" indent="0">
              <a:buNone/>
            </a:pPr>
            <a:r>
              <a:rPr lang="en-US" dirty="0"/>
              <a:t>// Base Class</a:t>
            </a:r>
          </a:p>
          <a:p>
            <a:pPr marL="320040" lvl="1" indent="0">
              <a:buNone/>
            </a:pPr>
            <a:r>
              <a:rPr lang="en-US" dirty="0"/>
              <a:t>class Parent {</a:t>
            </a:r>
          </a:p>
          <a:p>
            <a:pPr marL="320040" lvl="1" indent="0">
              <a:buNone/>
            </a:pPr>
            <a:r>
              <a:rPr lang="en-US" dirty="0"/>
              <a:t>    void show() {</a:t>
            </a:r>
          </a:p>
          <a:p>
            <a:pPr marL="320040" lvl="1" indent="0">
              <a:buNone/>
            </a:pPr>
            <a:r>
              <a:rPr lang="en-US" dirty="0"/>
              <a:t>        </a:t>
            </a:r>
            <a:r>
              <a:rPr lang="en-US" dirty="0" err="1"/>
              <a:t>System.out.println</a:t>
            </a:r>
            <a:r>
              <a:rPr lang="en-US" dirty="0"/>
              <a:t>("Parent's show()");</a:t>
            </a:r>
          </a:p>
          <a:p>
            <a:pPr marL="320040" lvl="1" indent="0">
              <a:buNone/>
            </a:pPr>
            <a:r>
              <a:rPr lang="en-US" dirty="0"/>
              <a:t>    }</a:t>
            </a:r>
          </a:p>
          <a:p>
            <a:pPr marL="320040" lvl="1" indent="0">
              <a:buNone/>
            </a:pPr>
            <a:r>
              <a:rPr lang="en-US" dirty="0"/>
              <a:t>}</a:t>
            </a:r>
          </a:p>
        </p:txBody>
      </p:sp>
    </p:spTree>
    <p:extLst>
      <p:ext uri="{BB962C8B-B14F-4D97-AF65-F5344CB8AC3E}">
        <p14:creationId xmlns:p14="http://schemas.microsoft.com/office/powerpoint/2010/main" val="35157776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method overriding</a:t>
            </a:r>
          </a:p>
        </p:txBody>
      </p:sp>
      <p:sp>
        <p:nvSpPr>
          <p:cNvPr id="3" name="Content Placeholder 2"/>
          <p:cNvSpPr>
            <a:spLocks noGrp="1"/>
          </p:cNvSpPr>
          <p:nvPr>
            <p:ph sz="quarter" idx="1"/>
          </p:nvPr>
        </p:nvSpPr>
        <p:spPr>
          <a:xfrm>
            <a:off x="914400" y="914400"/>
            <a:ext cx="7772400" cy="5791200"/>
          </a:xfrm>
        </p:spPr>
        <p:txBody>
          <a:bodyPr>
            <a:normAutofit fontScale="85000" lnSpcReduction="20000"/>
          </a:bodyPr>
          <a:lstStyle/>
          <a:p>
            <a:pPr marL="0" indent="0">
              <a:buNone/>
            </a:pPr>
            <a:r>
              <a:rPr lang="en-US" dirty="0"/>
              <a:t>// Inherited class</a:t>
            </a:r>
          </a:p>
          <a:p>
            <a:pPr marL="0" indent="0">
              <a:buNone/>
            </a:pPr>
            <a:r>
              <a:rPr lang="en-US" dirty="0"/>
              <a:t>class Child extends Parent {</a:t>
            </a:r>
          </a:p>
          <a:p>
            <a:pPr marL="0" indent="0">
              <a:buNone/>
            </a:pPr>
            <a:r>
              <a:rPr lang="en-US" dirty="0"/>
              <a:t>    // This method overrides show() of Parent</a:t>
            </a:r>
          </a:p>
          <a:p>
            <a:pPr marL="0" indent="0">
              <a:buNone/>
            </a:pPr>
            <a:r>
              <a:rPr lang="en-US" dirty="0"/>
              <a:t>    @Override void show() {</a:t>
            </a:r>
          </a:p>
          <a:p>
            <a:pPr marL="0" indent="0">
              <a:buNone/>
            </a:pPr>
            <a:r>
              <a:rPr lang="en-US" dirty="0"/>
              <a:t>        </a:t>
            </a:r>
            <a:r>
              <a:rPr lang="en-US" dirty="0" err="1"/>
              <a:t>super.show</a:t>
            </a:r>
            <a:r>
              <a:rPr lang="en-US" dirty="0"/>
              <a:t>();</a:t>
            </a:r>
          </a:p>
          <a:p>
            <a:pPr marL="0" indent="0">
              <a:buNone/>
            </a:pPr>
            <a:r>
              <a:rPr lang="en-US" dirty="0"/>
              <a:t>        </a:t>
            </a:r>
            <a:r>
              <a:rPr lang="en-US" dirty="0" err="1"/>
              <a:t>System.out.println</a:t>
            </a:r>
            <a:r>
              <a:rPr lang="en-US" dirty="0"/>
              <a:t>("Child's show()");</a:t>
            </a:r>
          </a:p>
          <a:p>
            <a:pPr marL="0" indent="0">
              <a:buNone/>
            </a:pPr>
            <a:r>
              <a:rPr lang="en-US" dirty="0"/>
              <a:t>    }</a:t>
            </a:r>
          </a:p>
          <a:p>
            <a:pPr marL="0" indent="0">
              <a:buNone/>
            </a:pPr>
            <a:r>
              <a:rPr lang="en-US" dirty="0"/>
              <a:t>}</a:t>
            </a:r>
          </a:p>
          <a:p>
            <a:pPr marL="0" indent="0">
              <a:buNone/>
            </a:pPr>
            <a:endParaRPr lang="en-US" dirty="0"/>
          </a:p>
          <a:p>
            <a:pPr marL="0" indent="0">
              <a:buNone/>
            </a:pPr>
            <a:r>
              <a:rPr lang="en-US" dirty="0"/>
              <a:t>// Driver class</a:t>
            </a:r>
          </a:p>
          <a:p>
            <a:pPr marL="0" indent="0">
              <a:buNone/>
            </a:pPr>
            <a:r>
              <a:rPr lang="en-US" dirty="0"/>
              <a:t>class Main {</a:t>
            </a:r>
          </a:p>
          <a:p>
            <a:pPr marL="0" indent="0">
              <a:buNone/>
            </a:pPr>
            <a:r>
              <a:rPr lang="en-US" dirty="0"/>
              <a:t>    public static void main(String[] </a:t>
            </a:r>
            <a:r>
              <a:rPr lang="en-US" dirty="0" err="1"/>
              <a:t>args</a:t>
            </a:r>
            <a:r>
              <a:rPr lang="en-US" dirty="0"/>
              <a:t>) {</a:t>
            </a:r>
          </a:p>
          <a:p>
            <a:pPr marL="0" indent="0">
              <a:buNone/>
            </a:pPr>
            <a:r>
              <a:rPr lang="en-US" dirty="0"/>
              <a:t>        Parent </a:t>
            </a:r>
            <a:r>
              <a:rPr lang="en-US" dirty="0" err="1"/>
              <a:t>obj</a:t>
            </a:r>
            <a:r>
              <a:rPr lang="en-US" dirty="0"/>
              <a:t> = new Child();</a:t>
            </a:r>
          </a:p>
          <a:p>
            <a:pPr marL="0" indent="0">
              <a:buNone/>
            </a:pPr>
            <a:r>
              <a:rPr lang="en-US" dirty="0"/>
              <a:t>        </a:t>
            </a:r>
            <a:r>
              <a:rPr lang="en-US" dirty="0" err="1"/>
              <a:t>obj.show</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4843994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sz="quarter" idx="1"/>
          </p:nvPr>
        </p:nvSpPr>
        <p:spPr/>
        <p:txBody>
          <a:bodyPr/>
          <a:lstStyle/>
          <a:p>
            <a:r>
              <a:rPr lang="en-US" dirty="0"/>
              <a:t>Parent 's show()</a:t>
            </a:r>
          </a:p>
          <a:p>
            <a:r>
              <a:rPr lang="en-US" dirty="0"/>
              <a:t>Child 's show()</a:t>
            </a:r>
          </a:p>
        </p:txBody>
      </p:sp>
    </p:spTree>
    <p:extLst>
      <p:ext uri="{BB962C8B-B14F-4D97-AF65-F5344CB8AC3E}">
        <p14:creationId xmlns:p14="http://schemas.microsoft.com/office/powerpoint/2010/main" val="34558848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1367</TotalTime>
  <Words>2365</Words>
  <Application>Microsoft Office PowerPoint</Application>
  <PresentationFormat>On-screen Show (4:3)</PresentationFormat>
  <Paragraphs>571</Paragraphs>
  <Slides>62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Arial</vt:lpstr>
      <vt:lpstr>Calibri</vt:lpstr>
      <vt:lpstr>Cambria</vt:lpstr>
      <vt:lpstr>Franklin Gothic Book</vt:lpstr>
      <vt:lpstr>Perpetua</vt:lpstr>
      <vt:lpstr>Wingdings 2</vt:lpstr>
      <vt:lpstr>Equity</vt:lpstr>
      <vt:lpstr>Java Programming</vt:lpstr>
      <vt:lpstr>Inheritance in Java</vt:lpstr>
      <vt:lpstr>Why use inheritance in java</vt:lpstr>
      <vt:lpstr>Terminologies Used in Java Inheritance</vt:lpstr>
      <vt:lpstr>Terminologies Used in Java Inheritance</vt:lpstr>
      <vt:lpstr>How to Use Inheritance in Java</vt:lpstr>
      <vt:lpstr>How to Use Inheritance in Java</vt:lpstr>
      <vt:lpstr>How to Use Inheritance in Java</vt:lpstr>
      <vt:lpstr>How to Use Inheritance in Java</vt:lpstr>
      <vt:lpstr>Java Inheritance Types</vt:lpstr>
      <vt:lpstr>Java Inheritance Types</vt:lpstr>
      <vt:lpstr>Java Inheritance Types</vt:lpstr>
      <vt:lpstr>Java Inheritance Types</vt:lpstr>
      <vt:lpstr>Java Inheritance Types</vt:lpstr>
      <vt:lpstr>Java Inheritance Types</vt:lpstr>
      <vt:lpstr>Java Inheritance Types</vt:lpstr>
      <vt:lpstr>Java Inheritance Types</vt:lpstr>
      <vt:lpstr>Java Inheritance Types</vt:lpstr>
      <vt:lpstr>Java Inheritance Types</vt:lpstr>
      <vt:lpstr>Advantages Of Inheritance in Java:</vt:lpstr>
      <vt:lpstr>Advantages Of Inheritance in Java:</vt:lpstr>
      <vt:lpstr>Role of Constructors in inheritance</vt:lpstr>
      <vt:lpstr>Role of Constructors in inheritance</vt:lpstr>
      <vt:lpstr>Role of Constructors in inheritance</vt:lpstr>
      <vt:lpstr>Role of Constructors in inheritance</vt:lpstr>
      <vt:lpstr>Role of Constructors in inheritance</vt:lpstr>
      <vt:lpstr>Role of Constructors in inheritance</vt:lpstr>
      <vt:lpstr>Role of Constructors in inheritance</vt:lpstr>
      <vt:lpstr>Role of Constructors in inheritance</vt:lpstr>
      <vt:lpstr>Role of Constructors in inheritance</vt:lpstr>
      <vt:lpstr>Role of Constructors in inheritance</vt:lpstr>
      <vt:lpstr>Role of Constructors in inheritance</vt:lpstr>
      <vt:lpstr>Role of Constructors in inheritance</vt:lpstr>
      <vt:lpstr>Role of Constructors in inheritance</vt:lpstr>
      <vt:lpstr>PowerPoint Presentation</vt:lpstr>
      <vt:lpstr>Super Keyword in Inheritance</vt:lpstr>
      <vt:lpstr>Super Keyword in Inheritance</vt:lpstr>
      <vt:lpstr>Super Keyword in Inheritance</vt:lpstr>
      <vt:lpstr>Super Keyword in Inheritance</vt:lpstr>
      <vt:lpstr>Overriding in Java</vt:lpstr>
      <vt:lpstr>Overriding in Java</vt:lpstr>
      <vt:lpstr>Example of Overriding in Java</vt:lpstr>
      <vt:lpstr>Example of Overriding in Java</vt:lpstr>
      <vt:lpstr>Rules for method overriding</vt:lpstr>
      <vt:lpstr>Example</vt:lpstr>
      <vt:lpstr>Example</vt:lpstr>
      <vt:lpstr>Example</vt:lpstr>
      <vt:lpstr>Output</vt:lpstr>
      <vt:lpstr>Rules for method overriding</vt:lpstr>
      <vt:lpstr>Rules for method overriding</vt:lpstr>
      <vt:lpstr>Rules for method overriding</vt:lpstr>
      <vt:lpstr>Rules for method overriding</vt:lpstr>
      <vt:lpstr>Rules for method overriding</vt:lpstr>
      <vt:lpstr>Rules for method overriding</vt:lpstr>
      <vt:lpstr>Rules for method overriding</vt:lpstr>
      <vt:lpstr>Rules for method overriding</vt:lpstr>
      <vt:lpstr>Rules for method overriding</vt:lpstr>
      <vt:lpstr>Rules for method overriding</vt:lpstr>
      <vt:lpstr>Rules for method overriding</vt:lpstr>
      <vt:lpstr>Rules for method overriding</vt:lpstr>
      <vt:lpstr>Rules for method overriding</vt:lpstr>
      <vt:lpstr>Output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creator>Lab2-01</dc:creator>
  <cp:lastModifiedBy>TUSHAR KATHANE</cp:lastModifiedBy>
  <cp:revision>550</cp:revision>
  <dcterms:created xsi:type="dcterms:W3CDTF">2017-12-14T08:59:32Z</dcterms:created>
  <dcterms:modified xsi:type="dcterms:W3CDTF">2023-09-17T18:28:12Z</dcterms:modified>
</cp:coreProperties>
</file>